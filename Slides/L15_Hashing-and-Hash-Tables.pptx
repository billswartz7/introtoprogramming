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8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4660"/>
  </p:normalViewPr>
  <p:slideViewPr>
    <p:cSldViewPr snapToGrid="0" showGuides="1">
      <p:cViewPr varScale="1">
        <p:scale>
          <a:sx n="97" d="100"/>
          <a:sy n="97" d="100"/>
        </p:scale>
        <p:origin x="2148" y="78"/>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Title slide. Last lecture we learned to measure cost. Today we use that vocabulary to build the data structure that gets a lookup down to constant time, and we see what it costs us in return.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98234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O(1) average looks impossible after last lecture. The trick is that we stop searching altogether and start computing the address instead.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08878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same oil pressure sender from the variables and structs lectures. The readings are the same 12-bit ADC counts; what is new is that we want to reach them by name.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82274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If the key already IS a small integer, there is nothing to invent: make the key the index. One multiply and one add, exactly as in the arrays lecture. O(1), no cleverness required.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17176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Point at the space column. Direct addressing is O(1) time but O(key range) space, and the key range is almost never the number of keys.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70229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Do not search for the slot - compute it. The hash function turns any key into a bucket number, and we go straight there. This one picture is the whole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96296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Stress the two arrows. The first must always hold, or lookup breaks. The second is only a hope, and the rest of the lecture is about what happens when the hope fails.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63156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Fast matters: a hash that takes longer than a binary search has defeated its own purpose. Cryptographic hashes such as SHA-256 have wonderful avalanche and are far too slow 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88780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Remind them that % on a negative int in C gives a negative result, so cast to unsigned before the modulus or the index goes out of bounds.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80543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Powers of two are tempting because the compiler turns % into a mask. That mask is exactly the problem: any structure in the high bits of the key disappears. If you must use a power of two, mix the key first.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76118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Ask the class what is wrong before showing the second pair. Addition is commutative, so position information is lost. A 10-character string maxes out near 1270 no matter how big the table is.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01139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 * 33 is (h &lt;&lt; 5) + h, so it is two cheap instructions. The multiply shifts earlier characters left, so the same letters in a different order land somewhere else. Cast to unsigned char because char may be signed.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87442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Both constants are chosen, not magic: 16777619 is the 32-bit FNV prime. Order matters - FNV-1a XORs first and multiplies second, which mixes better than FNV-1 does.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37550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ties straight back to the padding we found with x/16xb in the structs lecture. memcmp and a byte-wise hash both read the padding, and padding is whatever was in memory. Same reason you never memcmp two structs to test equality.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17160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language on the next slides enforces this by convention, not by the compiler. When a student says the key is in the map but get returns nothing, this rule is broken nine times out of ten.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64289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Say it plainly: you cannot design collisions away, only manage them. Any function from a large set to a small set must map some pair together.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07992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Students expect collisions to start when the table is half full. They start at the square root of the table size. With a thousand buckets, about forty keys give you even odds.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95628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 unordered_map is required by the standard to use chaining. Rust HashMap uses open addressing. We will build the chaining version by hand because it is easier to see.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94728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bucket array holds pointers, not data. Lookup hashes to a bucket and then walks a short list, comparing keys. Short is the whole point - if the lists get long the table has degenerated into a linked list.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710546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Named the way we name things in this course: entry_t for the type, tableG for the global. The struct is self-referential through struct entry *next, exactly the linked list from the structs lecture. 101 is prime.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8455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Insert at the head of the list: O(1), no walk. strdup copies the key because the caller may reuse the buffer. Note this version allows duplicate keys - a real one looks first.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995752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hash picks the bucket, strcmp confirms the key. The hash alone is never proof - two different keys can share a bucket. Returning a pointer lets the caller update the value in place;  pointer &lt;= &amp;( e-&gt;value ).</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05679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entry per bucket. If the computed slot is taken, walk forward until an empty slot turns up. Lookup repeats the same walk and stops at the first empty slot, which is why deletion needs care.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576869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modulus makes the walk wrap around the end of the table. This loop is why the table must never be completely full - a full table loops forever.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87483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Clustering is the price of linear probing. In exchange you get cache locality - the probe walks consecutive memory - which on real hardware often wins anyway.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197187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Double hashing has the best spread and the worst cache behavior, since it jumps around memory. Rust uses a variant called Robin Hood / SwissTable probing that keeps locality.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74310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classic open-addressing bug. Chaining has no such problem - you unlink the node and free it. If you ever write your own table, write the delete test first.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080769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Alpha, not n, is what determines the cost. A table with a million entries and two million buckets is faster than one with ten entries in eight buckets.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546130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Chaining still works at alpha above 1 - it just gets slower in proportion. That is the nice property: it degrades gently instead of falling off a cliff.</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837114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These are the classic Knuth results, assuming uniform hashing. Walk down the last column and watch it explode: at 95 percent full an unsuccessful lookup touches two hundred slots. This table is why the rule below exists.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75886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Emphasize that you cannot copy the entries across - k % 101 and k % 211 are different buckets. Every entry must be hashed again. C++ calls this rehash, Rust calls it resize.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091953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Exactly the same amortized argument as push_back on a vector from the complexity lecture. Any single insert may be slow; the average over a run of inserts is constant.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340168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why "O(1) average" is always stated with average. The worst case is real, and on the next slide we see that an attacker can cause it on purpose.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249025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real class of denial-of-service attacks against web servers around 2011, against query parameters parsed into hash maps. Rust chose a randomly seeded SipHash-1-3 as its default for this reason, and takes a small speed penalty for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347485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line to memorize. Average O(1) for the three operations that matter, O(n) space, and a worst case you avoid by choosing a decent hash and keeping alpha low.</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53830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trade is explicit: a hash table buys constant-time lookup by giving up ordering. If you need keys in sorted order, or ranges, or a nearest match, a tree is the right structure even though its lookup is slower.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974603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Tie this back to the space column from last lecture. On a microcontroller the constant is what matters: thirty percent waste plus two pointers per entry can be more RAM than the data itself.</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273117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hsearch is in POSIX but you get exactly one table per process and you cannot delete - almost nobody uses it. uthash is the usual answer for a small project.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635706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uthash is a set of macros that turn any struct into a hash table entry by adding one field. No allocation policy is imposed, which is why embedded projects like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206201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Added in C++11. The name says what it is: a map whose keys are not in order. The older std::map is a balanced tree and is ordered.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005245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favourite source of confusion. operator[] must return a reference, so it has to create the entry when the key is missing. Use find or contains for a read-only question.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491425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Structured bindings, from the functions lecture, make iteration readable. reserve is the one-line optimization: if you know roughly how many entries are coming, ask for the buckets up front and no rehash ever runs.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47800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insert returns a pair: an iterator and a bool that is false when the key was already there. That one call is the whole duplicate-detection algorithm we timed last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183857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Default to unordered_map when you only need lookup. Reach for map when you need to walk the keys in order, or find ranges. For very small tables the tree often wins anyway, because hashing a string costs more than a few comparisons.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488458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Two things are required and the compiler only complains about one of them. Without operator== the map cannot confirm a match, and without std::hash it cannot find the bucket. Remember the golden rule: equal keys must hash equal.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264409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HashMap is not in the prelude, so the use line is required. get returns Option, the enum from the enums lecture - there is no way to read a missing key by accident, which is the C++ operator[] trap closed at compile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858656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idiom to memorize. entry looks the key up once and hands back a place to write, whether or not the key was there. In C++ this is two lookups, or one awkward call to try_emplace. Walk through the star: entry gives a reference, so we add through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521936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or_insert takes a value that is built whether or not it is used. or_insert_with takes a closure and only calls it on a miss - it matters when the default is expensive.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27237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structure as HashMap with the value type removed. Note the return value is a plain bool here, not a pair.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159535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line does what the C++ slide needed a template specialization for. And because both are derived from the same fields, the golden rule cannot be broken by accident. Eq is required as well as PartialEq - that is the compiler asking you to promise the type has no NaN-like value.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875758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very satisfying compile error to show live. And it is the right advice anyway: our sensor lecture said keep the integer counts and convert to psi at the edges. This is another reason why.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223560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Because the seed is random, two runs of the same program print in different orders. Students report this as a bug. It is the hash-flooding defence showing through. C++ unordered_map order is unspecified too, it just happens to be stable within a build.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018971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rare case where the safe default is the slow one, and Rust says so in the documentation. If keys come from a network, keep SipHash. If they come from your own code, FxHash can be two or three times faster.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374854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Read across the first row: the real difference is that C gives you nothing and expects you to know how the structure works, which is why we built one.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546458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average-versus-worst distinction finally goes away. This is the one situation where a hash table beats every other structure with no asterisk attached.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957060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Perfect means no two keys collide. Minimal means the table has exactly as many slots as keys - no wasted space, alpha exactly 1.0, and still no collisions. Minimal perfect hashing is what the tools on the next slides generate.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008388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That last line is the whole cost. A perfect hash is not a data structure you insert into; it is a function generated for one specific list of keys.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629632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time the C compiler reads an identifier it must decide whether it is int, return, while, or a name you invented. That question is asked millions of times per build, so the lookup is worth generating perfectly.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924971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gperf is a GNU tool that ships with most toolchains. You give it the key list; it searches for a hash function with no collisions on exactly those keys. It is how GCC itself recognizes its own keywords.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635678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Look at what it found: it does not even read the whole string. Length, first character, last character - for this key set that is enough to separate them. That is what the search was for.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83252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Important and easy to miss. The function is perfect only on the key set it was built from. Anything else is free to land anywhere, so the generated code confirms with a strcmp before it says yes.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503249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Fredman, Komlos and Szemeredi, 1984. The surprise is the last line: squaring each bucket sounds wasteful, but the buckets are tiny and the expected total comes out linear. It is the theoretical proof that O(1) worst case is achievable.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636468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phf means perfect hash function. The macro runs during the build, from the build lecture, so the table is a constant in the binary - no allocation, no startup cost, and on a microcontroller it lives in flash instead of RAM.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304486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frozen library gives C++ what phf gives Rust. The pattern is the same everywhere: fixed keys, table computed during the build.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94140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Read the last row first. A perfect hash cannot take a new key, so use it only where the key list ships with the program.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097696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Let them answer with the array first: scan the list of known commands for each entry, which is O(n * k). Then show the same job with a hash table.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14903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trap from earlier becomes the feature here: a missing command is created with value 0 and then incremented to 1. Two lines for the whole count.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69007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algorithm, and the entry call is the direct equivalent of the C++ operator[] increment - except it says out loud that it is inserting a default.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6793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comparison is the point. The algorithm is identical; the difference is how much of the structure the language gives you. Every one of them is O(n) in the length of the log.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566710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Put real numbers on it, as we did last lecture. And note the hash version keeps working when a new command appears, while the array version needs the list updated.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297493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Better than any print statement: set a breakpoint after the insert and walk the bucket. If a bucket has ten entries in a table of 101 with 20 keys, the hash function is the problem and you can see it directly.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476224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 the sensor board, a linear scan of eight command strings beats hashing them - the hash itself costs more than eight strcmp calls on short strings. Measure before you assume.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1360734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decision table. Most of the time the answer really is a hash map, but the exceptions are worth recognizing on sight.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747612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first one is the nastiest, because nothing complains. The entry is still in the table, still reachable by iteration, and permanently unreachable by lookup. Rust prevents it by not lending you a mutable reference to a key.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657851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Summary. The one sentence to leave with: a hash table trades ordering and a little memory for constant-time lookup, and the load factor is the dial that controls the trade.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5816523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Lab exercise. Suggested: finish the chaining table in C and add delete; then count word frequencies in a text file three ways - linear scan, your C table, and std::unordered_map - and time all three. Finally run gperf on the command list and compare.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975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Hashing and Hash Tables</a:t>
            </a:r>
            <a:endParaRPr lang="en-US" sz="44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Where We Left Off</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4846320" algn="l"/>
              </a:tabLst>
            </a:pPr>
            <a:r>
              <a:rPr sz="2500" b="0">
                <a:latin typeface="Cambria"/>
              </a:rPr>
              <a:t>Finding one item among  n :</a:t>
            </a:r>
          </a:p>
          <a:p>
            <a:pPr>
              <a:tabLst>
                <a:tab pos="4846320" algn="l"/>
              </a:tabLst>
            </a:pPr>
            <a:r>
              <a:rPr sz="2500">
                <a:latin typeface="Cambria"/>
              </a:rPr>
              <a:t> </a:t>
            </a:r>
          </a:p>
          <a:p>
            <a:pPr>
              <a:tabLst>
                <a:tab pos="4846320" algn="l"/>
              </a:tabLst>
            </a:pPr>
            <a:r>
              <a:rPr sz="2500" b="0">
                <a:latin typeface="Cambria"/>
              </a:rPr>
              <a:t>Unsorted array, linear search	O ( n )</a:t>
            </a:r>
          </a:p>
          <a:p>
            <a:pPr>
              <a:tabLst>
                <a:tab pos="4846320" algn="l"/>
              </a:tabLst>
            </a:pPr>
            <a:r>
              <a:rPr sz="2500" b="0">
                <a:latin typeface="Cambria"/>
              </a:rPr>
              <a:t>Sorted array, binary search	O ( log n )</a:t>
            </a:r>
          </a:p>
          <a:p>
            <a:pPr>
              <a:tabLst>
                <a:tab pos="4846320" algn="l"/>
              </a:tabLst>
            </a:pPr>
            <a:r>
              <a:rPr sz="2500">
                <a:latin typeface="Cambria"/>
              </a:rPr>
              <a:t> </a:t>
            </a:r>
          </a:p>
          <a:p>
            <a:pPr>
              <a:tabLst>
                <a:tab pos="4846320" algn="l"/>
              </a:tabLst>
            </a:pPr>
            <a:r>
              <a:rPr sz="2500" b="0">
                <a:latin typeface="Cambria"/>
              </a:rPr>
              <a:t>Today we get to	</a:t>
            </a:r>
            <a:r>
              <a:rPr sz="2500" b="1">
                <a:latin typeface="Cambria"/>
              </a:rPr>
              <a:t>O ( 1 )</a:t>
            </a:r>
            <a:r>
              <a:rPr sz="2500" b="0">
                <a:latin typeface="Cambria"/>
              </a:rPr>
              <a:t>  average</a:t>
            </a:r>
          </a:p>
          <a:p>
            <a:pPr>
              <a:tabLst>
                <a:tab pos="4846320" algn="l"/>
              </a:tabLst>
            </a:pPr>
            <a:r>
              <a:rPr sz="2500">
                <a:latin typeface="Cambria"/>
              </a:rPr>
              <a:t> </a:t>
            </a:r>
          </a:p>
          <a:p>
            <a:pPr>
              <a:tabLst>
                <a:tab pos="4846320" algn="l"/>
              </a:tabLst>
            </a:pPr>
            <a:r>
              <a:rPr sz="2500" b="0">
                <a:latin typeface="Cambria"/>
              </a:rPr>
              <a:t>Constant time  -  independent of  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Problem</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3017520" algn="l"/>
              </a:tabLst>
            </a:pPr>
            <a:r>
              <a:rPr sz="2400" b="0">
                <a:latin typeface="Cambria"/>
              </a:rPr>
              <a:t>Our sensor readings have </a:t>
            </a:r>
            <a:r>
              <a:rPr sz="2400" b="1">
                <a:latin typeface="Cambria"/>
              </a:rPr>
              <a:t>names</a:t>
            </a:r>
            <a:r>
              <a:rPr sz="2400" b="0">
                <a:latin typeface="Cambria"/>
              </a:rPr>
              <a:t>, not numbers:</a:t>
            </a:r>
          </a:p>
          <a:p>
            <a:pPr>
              <a:tabLst>
                <a:tab pos="548640" algn="l"/>
                <a:tab pos="3017520" algn="l"/>
              </a:tabLst>
            </a:pPr>
            <a:r>
              <a:rPr sz="2400">
                <a:latin typeface="Cambria"/>
              </a:rPr>
              <a:t> </a:t>
            </a:r>
          </a:p>
          <a:p>
            <a:pPr>
              <a:tabLst>
                <a:tab pos="548640" algn="l"/>
                <a:tab pos="3017520" algn="l"/>
              </a:tabLst>
            </a:pPr>
            <a:r>
              <a:rPr sz="2400" b="0">
                <a:latin typeface="Cambria"/>
              </a:rPr>
              <a:t>	"oil_pressure"	1456 counts</a:t>
            </a:r>
          </a:p>
          <a:p>
            <a:pPr>
              <a:tabLst>
                <a:tab pos="548640" algn="l"/>
                <a:tab pos="3017520" algn="l"/>
              </a:tabLst>
            </a:pPr>
            <a:r>
              <a:rPr sz="2400" b="0">
                <a:latin typeface="Cambria"/>
              </a:rPr>
              <a:t>	"coolant_temp"	2011 counts</a:t>
            </a:r>
          </a:p>
          <a:p>
            <a:pPr>
              <a:tabLst>
                <a:tab pos="548640" algn="l"/>
                <a:tab pos="3017520" algn="l"/>
              </a:tabLst>
            </a:pPr>
            <a:r>
              <a:rPr sz="2400" b="0">
                <a:latin typeface="Cambria"/>
              </a:rPr>
              <a:t>	"fuel_level"	903 counts</a:t>
            </a:r>
          </a:p>
          <a:p>
            <a:pPr>
              <a:tabLst>
                <a:tab pos="548640" algn="l"/>
                <a:tab pos="3017520" algn="l"/>
              </a:tabLst>
            </a:pPr>
            <a:r>
              <a:rPr sz="2400">
                <a:latin typeface="Cambria"/>
              </a:rPr>
              <a:t> </a:t>
            </a:r>
          </a:p>
          <a:p>
            <a:pPr>
              <a:tabLst>
                <a:tab pos="548640" algn="l"/>
                <a:tab pos="3017520" algn="l"/>
              </a:tabLst>
            </a:pPr>
            <a:r>
              <a:rPr sz="2400" b="0">
                <a:latin typeface="Cambria"/>
              </a:rPr>
              <a:t>Given the name, find the reading</a:t>
            </a:r>
          </a:p>
          <a:p>
            <a:pPr>
              <a:tabLst>
                <a:tab pos="548640" algn="l"/>
                <a:tab pos="3017520" algn="l"/>
              </a:tabLst>
            </a:pPr>
            <a:r>
              <a:rPr sz="2400">
                <a:latin typeface="Cambria"/>
              </a:rPr>
              <a:t> </a:t>
            </a:r>
          </a:p>
          <a:p>
            <a:pPr>
              <a:tabLst>
                <a:tab pos="548640" algn="l"/>
                <a:tab pos="3017520" algn="l"/>
              </a:tabLst>
            </a:pPr>
            <a:r>
              <a:rPr sz="2400" b="0">
                <a:latin typeface="Cambria"/>
              </a:rPr>
              <a:t>But an array index is a </a:t>
            </a:r>
            <a:r>
              <a:rPr sz="2400" b="1">
                <a:latin typeface="Cambria"/>
              </a:rPr>
              <a:t>number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Direct Addressing</a:t>
            </a:r>
            <a:endParaRPr lang="en-US" sz="4400" b="0" u="none" strike="noStrike" dirty="0">
              <a:solidFill>
                <a:srgbClr val="000000"/>
              </a:solidFill>
              <a:effectLst/>
              <a:uFillTx/>
              <a:latin typeface="Arial"/>
            </a:endParaRPr>
          </a:p>
        </p:txBody>
      </p:sp>
      <p:sp>
        <p:nvSpPr>
          <p:cNvPr id="388" name="Rectangle 387"/>
          <p:cNvSpPr/>
          <p:nvPr/>
        </p:nvSpPr>
        <p:spPr>
          <a:xfrm>
            <a:off x="96012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902</a:t>
            </a:r>
          </a:p>
        </p:txBody>
      </p:sp>
      <p:sp>
        <p:nvSpPr>
          <p:cNvPr id="389" name="TextBox 388"/>
          <p:cNvSpPr txBox="1"/>
          <p:nvPr/>
        </p:nvSpPr>
        <p:spPr>
          <a:xfrm>
            <a:off x="960120" y="4050791"/>
            <a:ext cx="1005840" cy="310896"/>
          </a:xfrm>
          <a:prstGeom prst="rect">
            <a:avLst/>
          </a:prstGeom>
          <a:noFill/>
        </p:spPr>
        <p:txBody>
          <a:bodyPr wrap="square" lIns="0" tIns="0" rIns="0" bIns="0">
            <a:spAutoFit/>
          </a:bodyPr>
          <a:lstStyle/>
          <a:p>
            <a:pPr algn="ctr"/>
            <a:r>
              <a:rPr sz="1500" b="1" i="0">
                <a:solidFill>
                  <a:srgbClr val="000000"/>
                </a:solidFill>
                <a:latin typeface="Cambria"/>
              </a:rPr>
              <a:t>0</a:t>
            </a:r>
          </a:p>
        </p:txBody>
      </p:sp>
      <p:sp>
        <p:nvSpPr>
          <p:cNvPr id="390" name="Rectangle 389"/>
          <p:cNvSpPr/>
          <p:nvPr/>
        </p:nvSpPr>
        <p:spPr>
          <a:xfrm>
            <a:off x="196596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1456</a:t>
            </a:r>
          </a:p>
        </p:txBody>
      </p:sp>
      <p:sp>
        <p:nvSpPr>
          <p:cNvPr id="391" name="TextBox 390"/>
          <p:cNvSpPr txBox="1"/>
          <p:nvPr/>
        </p:nvSpPr>
        <p:spPr>
          <a:xfrm>
            <a:off x="1965960" y="4050791"/>
            <a:ext cx="1005840" cy="310896"/>
          </a:xfrm>
          <a:prstGeom prst="rect">
            <a:avLst/>
          </a:prstGeom>
          <a:noFill/>
        </p:spPr>
        <p:txBody>
          <a:bodyPr wrap="square" lIns="0" tIns="0" rIns="0" bIns="0">
            <a:spAutoFit/>
          </a:bodyPr>
          <a:lstStyle/>
          <a:p>
            <a:pPr algn="ctr"/>
            <a:r>
              <a:rPr sz="1500" b="1" i="0">
                <a:solidFill>
                  <a:srgbClr val="000000"/>
                </a:solidFill>
                <a:latin typeface="Cambria"/>
              </a:rPr>
              <a:t>1</a:t>
            </a:r>
          </a:p>
        </p:txBody>
      </p:sp>
      <p:sp>
        <p:nvSpPr>
          <p:cNvPr id="392" name="Rectangle 391"/>
          <p:cNvSpPr/>
          <p:nvPr/>
        </p:nvSpPr>
        <p:spPr>
          <a:xfrm>
            <a:off x="297180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2011</a:t>
            </a:r>
          </a:p>
        </p:txBody>
      </p:sp>
      <p:sp>
        <p:nvSpPr>
          <p:cNvPr id="393" name="TextBox 392"/>
          <p:cNvSpPr txBox="1"/>
          <p:nvPr/>
        </p:nvSpPr>
        <p:spPr>
          <a:xfrm>
            <a:off x="2971800" y="4050791"/>
            <a:ext cx="1005840" cy="310896"/>
          </a:xfrm>
          <a:prstGeom prst="rect">
            <a:avLst/>
          </a:prstGeom>
          <a:noFill/>
        </p:spPr>
        <p:txBody>
          <a:bodyPr wrap="square" lIns="0" tIns="0" rIns="0" bIns="0">
            <a:spAutoFit/>
          </a:bodyPr>
          <a:lstStyle/>
          <a:p>
            <a:pPr algn="ctr"/>
            <a:r>
              <a:rPr sz="1500" b="1" i="0">
                <a:solidFill>
                  <a:srgbClr val="000000"/>
                </a:solidFill>
                <a:latin typeface="Cambria"/>
              </a:rPr>
              <a:t>2</a:t>
            </a:r>
          </a:p>
        </p:txBody>
      </p:sp>
      <p:sp>
        <p:nvSpPr>
          <p:cNvPr id="394" name="Rectangle 393"/>
          <p:cNvSpPr/>
          <p:nvPr/>
        </p:nvSpPr>
        <p:spPr>
          <a:xfrm>
            <a:off x="397764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77</a:t>
            </a:r>
          </a:p>
        </p:txBody>
      </p:sp>
      <p:sp>
        <p:nvSpPr>
          <p:cNvPr id="395" name="TextBox 394"/>
          <p:cNvSpPr txBox="1"/>
          <p:nvPr/>
        </p:nvSpPr>
        <p:spPr>
          <a:xfrm>
            <a:off x="3977640" y="4050791"/>
            <a:ext cx="1005840" cy="310896"/>
          </a:xfrm>
          <a:prstGeom prst="rect">
            <a:avLst/>
          </a:prstGeom>
          <a:noFill/>
        </p:spPr>
        <p:txBody>
          <a:bodyPr wrap="square" lIns="0" tIns="0" rIns="0" bIns="0">
            <a:spAutoFit/>
          </a:bodyPr>
          <a:lstStyle/>
          <a:p>
            <a:pPr algn="ctr"/>
            <a:r>
              <a:rPr sz="1500" b="1" i="0">
                <a:solidFill>
                  <a:srgbClr val="000000"/>
                </a:solidFill>
                <a:latin typeface="Cambria"/>
              </a:rPr>
              <a:t>3</a:t>
            </a:r>
          </a:p>
        </p:txBody>
      </p:sp>
      <p:sp>
        <p:nvSpPr>
          <p:cNvPr id="396" name="Rectangle 395"/>
          <p:cNvSpPr/>
          <p:nvPr/>
        </p:nvSpPr>
        <p:spPr>
          <a:xfrm>
            <a:off x="498348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1180</a:t>
            </a:r>
          </a:p>
        </p:txBody>
      </p:sp>
      <p:sp>
        <p:nvSpPr>
          <p:cNvPr id="397" name="TextBox 396"/>
          <p:cNvSpPr txBox="1"/>
          <p:nvPr/>
        </p:nvSpPr>
        <p:spPr>
          <a:xfrm>
            <a:off x="4983480" y="4050791"/>
            <a:ext cx="1005840" cy="310896"/>
          </a:xfrm>
          <a:prstGeom prst="rect">
            <a:avLst/>
          </a:prstGeom>
          <a:noFill/>
        </p:spPr>
        <p:txBody>
          <a:bodyPr wrap="square" lIns="0" tIns="0" rIns="0" bIns="0">
            <a:spAutoFit/>
          </a:bodyPr>
          <a:lstStyle/>
          <a:p>
            <a:pPr algn="ctr"/>
            <a:r>
              <a:rPr sz="1500" b="1" i="0">
                <a:solidFill>
                  <a:srgbClr val="000000"/>
                </a:solidFill>
                <a:latin typeface="Cambria"/>
              </a:rPr>
              <a:t>4</a:t>
            </a:r>
          </a:p>
        </p:txBody>
      </p:sp>
      <p:sp>
        <p:nvSpPr>
          <p:cNvPr id="398" name="Rectangle 397"/>
          <p:cNvSpPr/>
          <p:nvPr/>
        </p:nvSpPr>
        <p:spPr>
          <a:xfrm>
            <a:off x="598932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640</a:t>
            </a:r>
          </a:p>
        </p:txBody>
      </p:sp>
      <p:sp>
        <p:nvSpPr>
          <p:cNvPr id="399" name="TextBox 398"/>
          <p:cNvSpPr txBox="1"/>
          <p:nvPr/>
        </p:nvSpPr>
        <p:spPr>
          <a:xfrm>
            <a:off x="5989320" y="4050791"/>
            <a:ext cx="1005840" cy="310896"/>
          </a:xfrm>
          <a:prstGeom prst="rect">
            <a:avLst/>
          </a:prstGeom>
          <a:noFill/>
        </p:spPr>
        <p:txBody>
          <a:bodyPr wrap="square" lIns="0" tIns="0" rIns="0" bIns="0">
            <a:spAutoFit/>
          </a:bodyPr>
          <a:lstStyle/>
          <a:p>
            <a:pPr algn="ctr"/>
            <a:r>
              <a:rPr sz="1500" b="1" i="0">
                <a:solidFill>
                  <a:srgbClr val="000000"/>
                </a:solidFill>
                <a:latin typeface="Cambria"/>
              </a:rPr>
              <a:t>5</a:t>
            </a:r>
          </a:p>
        </p:txBody>
      </p:sp>
      <p:sp>
        <p:nvSpPr>
          <p:cNvPr id="400" name="Rectangle 399"/>
          <p:cNvSpPr/>
          <p:nvPr/>
        </p:nvSpPr>
        <p:spPr>
          <a:xfrm>
            <a:off x="699516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318</a:t>
            </a:r>
          </a:p>
        </p:txBody>
      </p:sp>
      <p:sp>
        <p:nvSpPr>
          <p:cNvPr id="401" name="TextBox 400"/>
          <p:cNvSpPr txBox="1"/>
          <p:nvPr/>
        </p:nvSpPr>
        <p:spPr>
          <a:xfrm>
            <a:off x="6995160" y="4050791"/>
            <a:ext cx="1005840" cy="310896"/>
          </a:xfrm>
          <a:prstGeom prst="rect">
            <a:avLst/>
          </a:prstGeom>
          <a:noFill/>
        </p:spPr>
        <p:txBody>
          <a:bodyPr wrap="square" lIns="0" tIns="0" rIns="0" bIns="0">
            <a:spAutoFit/>
          </a:bodyPr>
          <a:lstStyle/>
          <a:p>
            <a:pPr algn="ctr"/>
            <a:r>
              <a:rPr sz="1500" b="1" i="0">
                <a:solidFill>
                  <a:srgbClr val="000000"/>
                </a:solidFill>
                <a:latin typeface="Cambria"/>
              </a:rPr>
              <a:t>6</a:t>
            </a:r>
          </a:p>
        </p:txBody>
      </p:sp>
      <p:sp>
        <p:nvSpPr>
          <p:cNvPr id="402" name="Rectangle 401"/>
          <p:cNvSpPr/>
          <p:nvPr/>
        </p:nvSpPr>
        <p:spPr>
          <a:xfrm>
            <a:off x="8001000" y="3246120"/>
            <a:ext cx="1005840" cy="71323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2044</a:t>
            </a:r>
          </a:p>
        </p:txBody>
      </p:sp>
      <p:sp>
        <p:nvSpPr>
          <p:cNvPr id="403" name="TextBox 402"/>
          <p:cNvSpPr txBox="1"/>
          <p:nvPr/>
        </p:nvSpPr>
        <p:spPr>
          <a:xfrm>
            <a:off x="8001000" y="4050791"/>
            <a:ext cx="1005840" cy="310896"/>
          </a:xfrm>
          <a:prstGeom prst="rect">
            <a:avLst/>
          </a:prstGeom>
          <a:noFill/>
        </p:spPr>
        <p:txBody>
          <a:bodyPr wrap="square" lIns="0" tIns="0" rIns="0" bIns="0">
            <a:spAutoFit/>
          </a:bodyPr>
          <a:lstStyle/>
          <a:p>
            <a:pPr algn="ctr"/>
            <a:r>
              <a:rPr sz="1500" b="1" i="0">
                <a:solidFill>
                  <a:srgbClr val="000000"/>
                </a:solidFill>
                <a:latin typeface="Cambria"/>
              </a:rPr>
              <a:t>7</a:t>
            </a:r>
          </a:p>
        </p:txBody>
      </p:sp>
      <p:sp>
        <p:nvSpPr>
          <p:cNvPr id="404" name="TextBox 403"/>
          <p:cNvSpPr txBox="1"/>
          <p:nvPr/>
        </p:nvSpPr>
        <p:spPr>
          <a:xfrm>
            <a:off x="667512" y="2286000"/>
            <a:ext cx="8778240" cy="310896"/>
          </a:xfrm>
          <a:prstGeom prst="rect">
            <a:avLst/>
          </a:prstGeom>
          <a:noFill/>
        </p:spPr>
        <p:txBody>
          <a:bodyPr wrap="square" lIns="0" tIns="0" rIns="0" bIns="0">
            <a:spAutoFit/>
          </a:bodyPr>
          <a:lstStyle/>
          <a:p>
            <a:pPr algn="l"/>
            <a:r>
              <a:rPr sz="2000" b="1" i="0">
                <a:solidFill>
                  <a:srgbClr val="000000"/>
                </a:solidFill>
                <a:latin typeface="Cambria"/>
              </a:rPr>
              <a:t>Sensor ID is already a small integer:</a:t>
            </a:r>
          </a:p>
        </p:txBody>
      </p:sp>
      <p:sp>
        <p:nvSpPr>
          <p:cNvPr id="405" name="TextBox 404"/>
          <p:cNvSpPr txBox="1"/>
          <p:nvPr/>
        </p:nvSpPr>
        <p:spPr>
          <a:xfrm>
            <a:off x="667512" y="2679191"/>
            <a:ext cx="8778240" cy="310896"/>
          </a:xfrm>
          <a:prstGeom prst="rect">
            <a:avLst/>
          </a:prstGeom>
          <a:noFill/>
        </p:spPr>
        <p:txBody>
          <a:bodyPr wrap="square" lIns="0" tIns="0" rIns="0" bIns="0">
            <a:spAutoFit/>
          </a:bodyPr>
          <a:lstStyle/>
          <a:p>
            <a:pPr algn="l"/>
            <a:r>
              <a:rPr sz="2000" b="0" i="0">
                <a:solidFill>
                  <a:srgbClr val="000000"/>
                </a:solidFill>
                <a:latin typeface="Cambria"/>
              </a:rPr>
              <a:t>readings [ 3 ]   is the reading for sensor 3</a:t>
            </a:r>
          </a:p>
        </p:txBody>
      </p:sp>
      <p:cxnSp>
        <p:nvCxnSpPr>
          <p:cNvPr id="406" name="Connector 405"/>
          <p:cNvCxnSpPr/>
          <p:nvPr/>
        </p:nvCxnSpPr>
        <p:spPr>
          <a:xfrm>
            <a:off x="4480560" y="3044951"/>
            <a:ext cx="0" cy="182881"/>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7" name="TextBox 406"/>
          <p:cNvSpPr txBox="1"/>
          <p:nvPr/>
        </p:nvSpPr>
        <p:spPr>
          <a:xfrm>
            <a:off x="667512" y="4645152"/>
            <a:ext cx="8778240" cy="310896"/>
          </a:xfrm>
          <a:prstGeom prst="rect">
            <a:avLst/>
          </a:prstGeom>
          <a:noFill/>
        </p:spPr>
        <p:txBody>
          <a:bodyPr wrap="square" lIns="0" tIns="0" rIns="0" bIns="0">
            <a:spAutoFit/>
          </a:bodyPr>
          <a:lstStyle/>
          <a:p>
            <a:pPr algn="l"/>
            <a:r>
              <a:rPr sz="1900" b="0" i="1">
                <a:solidFill>
                  <a:srgbClr val="000000"/>
                </a:solidFill>
                <a:latin typeface="Cambria"/>
              </a:rPr>
              <a:t>No hashing needed  -  the key IS the index,  O ( 1 )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Why Direct Addressing Fails</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737360" algn="l"/>
              </a:tabLst>
            </a:pPr>
            <a:r>
              <a:rPr sz="2400" b="0">
                <a:latin typeface="Cambria"/>
              </a:rPr>
              <a:t>Keys are usually not small integers:</a:t>
            </a:r>
          </a:p>
          <a:p>
            <a:pPr>
              <a:tabLst>
                <a:tab pos="548640" algn="l"/>
                <a:tab pos="1737360" algn="l"/>
              </a:tabLst>
            </a:pPr>
            <a:r>
              <a:rPr sz="2400">
                <a:latin typeface="Cambria"/>
              </a:rPr>
              <a:t> </a:t>
            </a:r>
          </a:p>
          <a:p>
            <a:pPr>
              <a:tabLst>
                <a:tab pos="548640" algn="l"/>
                <a:tab pos="1737360" algn="l"/>
              </a:tabLst>
            </a:pPr>
            <a:r>
              <a:rPr sz="2400" b="1">
                <a:latin typeface="Cambria"/>
              </a:rPr>
              <a:t>Strings</a:t>
            </a:r>
            <a:r>
              <a:rPr sz="2400" b="0">
                <a:latin typeface="Cambria"/>
              </a:rPr>
              <a:t>	"oil_pressure"  is not an index</a:t>
            </a:r>
          </a:p>
          <a:p>
            <a:pPr>
              <a:tabLst>
                <a:tab pos="548640" algn="l"/>
                <a:tab pos="1737360" algn="l"/>
              </a:tabLst>
            </a:pPr>
            <a:r>
              <a:rPr sz="2400">
                <a:latin typeface="Cambria"/>
              </a:rPr>
              <a:t> </a:t>
            </a:r>
          </a:p>
          <a:p>
            <a:pPr>
              <a:tabLst>
                <a:tab pos="548640" algn="l"/>
                <a:tab pos="1737360" algn="l"/>
              </a:tabLst>
            </a:pPr>
            <a:r>
              <a:rPr sz="2400" b="1">
                <a:latin typeface="Cambria"/>
              </a:rPr>
              <a:t>Sparse</a:t>
            </a:r>
            <a:r>
              <a:rPr sz="2400" b="0">
                <a:latin typeface="Cambria"/>
              </a:rPr>
              <a:t>	sensor IDs 1001, 5544, 90210</a:t>
            </a:r>
          </a:p>
          <a:p>
            <a:pPr>
              <a:tabLst>
                <a:tab pos="548640" algn="l"/>
                <a:tab pos="1737360" algn="l"/>
              </a:tabLst>
            </a:pPr>
            <a:r>
              <a:rPr sz="2400" b="0">
                <a:latin typeface="Cambria"/>
              </a:rPr>
              <a:t>		three entries, 90,211 slots</a:t>
            </a:r>
          </a:p>
          <a:p>
            <a:pPr>
              <a:tabLst>
                <a:tab pos="548640" algn="l"/>
                <a:tab pos="1737360" algn="l"/>
              </a:tabLst>
            </a:pPr>
            <a:r>
              <a:rPr sz="2400">
                <a:latin typeface="Cambria"/>
              </a:rPr>
              <a:t> </a:t>
            </a:r>
          </a:p>
          <a:p>
            <a:pPr>
              <a:tabLst>
                <a:tab pos="548640" algn="l"/>
                <a:tab pos="1737360" algn="l"/>
              </a:tabLst>
            </a:pPr>
            <a:r>
              <a:rPr sz="2400" b="1">
                <a:latin typeface="Cambria"/>
              </a:rPr>
              <a:t>Wide</a:t>
            </a:r>
            <a:r>
              <a:rPr sz="2400" b="0">
                <a:latin typeface="Cambria"/>
              </a:rPr>
              <a:t>	a 32-bit ID needs 4 billion slots</a:t>
            </a:r>
          </a:p>
          <a:p>
            <a:pPr>
              <a:tabLst>
                <a:tab pos="548640" algn="l"/>
                <a:tab pos="1737360" algn="l"/>
              </a:tabLst>
            </a:pPr>
            <a:r>
              <a:rPr sz="2400">
                <a:latin typeface="Cambria"/>
              </a:rPr>
              <a:t> </a:t>
            </a:r>
          </a:p>
          <a:p>
            <a:pPr>
              <a:tabLst>
                <a:tab pos="548640" algn="l"/>
                <a:tab pos="1737360" algn="l"/>
              </a:tabLst>
            </a:pPr>
            <a:r>
              <a:rPr sz="2400" b="0">
                <a:latin typeface="Cambria"/>
              </a:rPr>
              <a:t>We need a way to </a:t>
            </a:r>
            <a:r>
              <a:rPr sz="2400" b="1">
                <a:latin typeface="Cambria"/>
              </a:rPr>
              <a:t>shrink</a:t>
            </a:r>
            <a:r>
              <a:rPr sz="2400" b="0">
                <a:latin typeface="Cambria"/>
              </a:rPr>
              <a:t> a key to an index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Hashing Idea</a:t>
            </a:r>
            <a:endParaRPr lang="en-US" sz="4400" b="0" u="none" strike="noStrike" dirty="0">
              <a:solidFill>
                <a:srgbClr val="000000"/>
              </a:solidFill>
              <a:effectLst/>
              <a:uFillTx/>
              <a:latin typeface="Arial"/>
            </a:endParaRPr>
          </a:p>
        </p:txBody>
      </p:sp>
      <p:sp>
        <p:nvSpPr>
          <p:cNvPr id="388" name="Rectangle 387"/>
          <p:cNvSpPr/>
          <p:nvPr/>
        </p:nvSpPr>
        <p:spPr>
          <a:xfrm>
            <a:off x="7452360" y="21031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0</a:t>
            </a:r>
          </a:p>
        </p:txBody>
      </p:sp>
      <p:sp>
        <p:nvSpPr>
          <p:cNvPr id="389" name="Rectangle 388"/>
          <p:cNvSpPr/>
          <p:nvPr/>
        </p:nvSpPr>
        <p:spPr>
          <a:xfrm>
            <a:off x="7955279" y="21031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90" name="Rectangle 389"/>
          <p:cNvSpPr/>
          <p:nvPr/>
        </p:nvSpPr>
        <p:spPr>
          <a:xfrm>
            <a:off x="7452360" y="25603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1</a:t>
            </a:r>
          </a:p>
        </p:txBody>
      </p:sp>
      <p:sp>
        <p:nvSpPr>
          <p:cNvPr id="391" name="Rectangle 390"/>
          <p:cNvSpPr/>
          <p:nvPr/>
        </p:nvSpPr>
        <p:spPr>
          <a:xfrm>
            <a:off x="7955279" y="25603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92" name="Rectangle 391"/>
          <p:cNvSpPr/>
          <p:nvPr/>
        </p:nvSpPr>
        <p:spPr>
          <a:xfrm>
            <a:off x="7452360" y="30175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2</a:t>
            </a:r>
          </a:p>
        </p:txBody>
      </p:sp>
      <p:sp>
        <p:nvSpPr>
          <p:cNvPr id="393" name="Rectangle 392"/>
          <p:cNvSpPr/>
          <p:nvPr/>
        </p:nvSpPr>
        <p:spPr>
          <a:xfrm>
            <a:off x="7955279" y="30175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94" name="Rectangle 393"/>
          <p:cNvSpPr/>
          <p:nvPr/>
        </p:nvSpPr>
        <p:spPr>
          <a:xfrm>
            <a:off x="7452360" y="34747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3</a:t>
            </a:r>
          </a:p>
        </p:txBody>
      </p:sp>
      <p:sp>
        <p:nvSpPr>
          <p:cNvPr id="395" name="Rectangle 394"/>
          <p:cNvSpPr/>
          <p:nvPr/>
        </p:nvSpPr>
        <p:spPr>
          <a:xfrm>
            <a:off x="7955279" y="34747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96" name="Rectangle 395"/>
          <p:cNvSpPr/>
          <p:nvPr/>
        </p:nvSpPr>
        <p:spPr>
          <a:xfrm>
            <a:off x="7452360" y="39319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4</a:t>
            </a:r>
          </a:p>
        </p:txBody>
      </p:sp>
      <p:sp>
        <p:nvSpPr>
          <p:cNvPr id="397" name="Rectangle 396"/>
          <p:cNvSpPr/>
          <p:nvPr/>
        </p:nvSpPr>
        <p:spPr>
          <a:xfrm>
            <a:off x="7955279" y="3931920"/>
            <a:ext cx="1508760"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0">
                <a:solidFill>
                  <a:srgbClr val="000000"/>
                </a:solidFill>
                <a:latin typeface="Cambria"/>
              </a:rPr>
              <a:t>1456</a:t>
            </a:r>
          </a:p>
        </p:txBody>
      </p:sp>
      <p:sp>
        <p:nvSpPr>
          <p:cNvPr id="398" name="Rectangle 397"/>
          <p:cNvSpPr/>
          <p:nvPr/>
        </p:nvSpPr>
        <p:spPr>
          <a:xfrm>
            <a:off x="7452360" y="43891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5</a:t>
            </a:r>
          </a:p>
        </p:txBody>
      </p:sp>
      <p:sp>
        <p:nvSpPr>
          <p:cNvPr id="399" name="Rectangle 398"/>
          <p:cNvSpPr/>
          <p:nvPr/>
        </p:nvSpPr>
        <p:spPr>
          <a:xfrm>
            <a:off x="7955279" y="43891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00" name="Rectangle 399"/>
          <p:cNvSpPr/>
          <p:nvPr/>
        </p:nvSpPr>
        <p:spPr>
          <a:xfrm>
            <a:off x="7452360" y="48463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6</a:t>
            </a:r>
          </a:p>
        </p:txBody>
      </p:sp>
      <p:sp>
        <p:nvSpPr>
          <p:cNvPr id="401" name="Rectangle 400"/>
          <p:cNvSpPr/>
          <p:nvPr/>
        </p:nvSpPr>
        <p:spPr>
          <a:xfrm>
            <a:off x="7955279" y="48463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02" name="Rectangle 401"/>
          <p:cNvSpPr/>
          <p:nvPr/>
        </p:nvSpPr>
        <p:spPr>
          <a:xfrm>
            <a:off x="7452360" y="5303520"/>
            <a:ext cx="502920" cy="45720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1">
                <a:solidFill>
                  <a:srgbClr val="000000"/>
                </a:solidFill>
                <a:latin typeface="Cambria"/>
              </a:rPr>
              <a:t>7</a:t>
            </a:r>
          </a:p>
        </p:txBody>
      </p:sp>
      <p:sp>
        <p:nvSpPr>
          <p:cNvPr id="403" name="Rectangle 402"/>
          <p:cNvSpPr/>
          <p:nvPr/>
        </p:nvSpPr>
        <p:spPr>
          <a:xfrm>
            <a:off x="7955279" y="5303520"/>
            <a:ext cx="1508760"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404" name="TextBox 403"/>
          <p:cNvSpPr txBox="1"/>
          <p:nvPr/>
        </p:nvSpPr>
        <p:spPr>
          <a:xfrm>
            <a:off x="7452360" y="1700784"/>
            <a:ext cx="2011680" cy="310896"/>
          </a:xfrm>
          <a:prstGeom prst="rect">
            <a:avLst/>
          </a:prstGeom>
          <a:noFill/>
        </p:spPr>
        <p:txBody>
          <a:bodyPr wrap="square" lIns="0" tIns="0" rIns="0" bIns="0">
            <a:spAutoFit/>
          </a:bodyPr>
          <a:lstStyle/>
          <a:p>
            <a:pPr algn="ctr"/>
            <a:r>
              <a:rPr sz="1500" b="1" i="0">
                <a:solidFill>
                  <a:srgbClr val="000000"/>
                </a:solidFill>
                <a:latin typeface="Cambria"/>
              </a:rPr>
              <a:t>the table</a:t>
            </a:r>
          </a:p>
        </p:txBody>
      </p:sp>
      <p:sp>
        <p:nvSpPr>
          <p:cNvPr id="405" name="Rounded Rectangle 404"/>
          <p:cNvSpPr/>
          <p:nvPr/>
        </p:nvSpPr>
        <p:spPr>
          <a:xfrm>
            <a:off x="594360" y="3749039"/>
            <a:ext cx="2148840" cy="822960"/>
          </a:xfrm>
          <a:prstGeom prst="round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600" b="1">
                <a:solidFill>
                  <a:srgbClr val="000000"/>
                </a:solidFill>
                <a:latin typeface="Cambria"/>
              </a:rPr>
              <a:t>"oil_pressure"</a:t>
            </a:r>
          </a:p>
        </p:txBody>
      </p:sp>
      <p:cxnSp>
        <p:nvCxnSpPr>
          <p:cNvPr id="406" name="Connector 405"/>
          <p:cNvCxnSpPr/>
          <p:nvPr/>
        </p:nvCxnSpPr>
        <p:spPr>
          <a:xfrm>
            <a:off x="2788920" y="4160520"/>
            <a:ext cx="365760"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7" name="Rounded Rectangle 406"/>
          <p:cNvSpPr/>
          <p:nvPr/>
        </p:nvSpPr>
        <p:spPr>
          <a:xfrm>
            <a:off x="3200400" y="3749039"/>
            <a:ext cx="1737360" cy="822960"/>
          </a:xfrm>
          <a:prstGeom prst="roundRect">
            <a:avLst/>
          </a:prstGeom>
          <a:no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600" b="1">
                <a:solidFill>
                  <a:srgbClr val="000000"/>
                </a:solidFill>
                <a:latin typeface="Cambria"/>
              </a:rPr>
              <a:t>h ( key )</a:t>
            </a:r>
          </a:p>
        </p:txBody>
      </p:sp>
      <p:cxnSp>
        <p:nvCxnSpPr>
          <p:cNvPr id="408" name="Connector 407"/>
          <p:cNvCxnSpPr/>
          <p:nvPr/>
        </p:nvCxnSpPr>
        <p:spPr>
          <a:xfrm>
            <a:off x="4983480" y="4160520"/>
            <a:ext cx="365760"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9" name="Rounded Rectangle 408"/>
          <p:cNvSpPr/>
          <p:nvPr/>
        </p:nvSpPr>
        <p:spPr>
          <a:xfrm>
            <a:off x="5394960" y="3749039"/>
            <a:ext cx="1600200" cy="822960"/>
          </a:xfrm>
          <a:prstGeom prst="round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600" b="1">
                <a:solidFill>
                  <a:srgbClr val="000000"/>
                </a:solidFill>
                <a:latin typeface="Cambria"/>
              </a:rPr>
              <a:t>index  4</a:t>
            </a:r>
          </a:p>
        </p:txBody>
      </p:sp>
      <p:cxnSp>
        <p:nvCxnSpPr>
          <p:cNvPr id="410" name="Connector 409"/>
          <p:cNvCxnSpPr/>
          <p:nvPr/>
        </p:nvCxnSpPr>
        <p:spPr>
          <a:xfrm>
            <a:off x="7040880" y="4160520"/>
            <a:ext cx="365760"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1" name="TextBox 410"/>
          <p:cNvSpPr txBox="1"/>
          <p:nvPr/>
        </p:nvSpPr>
        <p:spPr>
          <a:xfrm>
            <a:off x="3200400" y="4663440"/>
            <a:ext cx="1737360" cy="310896"/>
          </a:xfrm>
          <a:prstGeom prst="rect">
            <a:avLst/>
          </a:prstGeom>
          <a:noFill/>
        </p:spPr>
        <p:txBody>
          <a:bodyPr wrap="square" lIns="0" tIns="0" rIns="0" bIns="0">
            <a:spAutoFit/>
          </a:bodyPr>
          <a:lstStyle/>
          <a:p>
            <a:pPr algn="ctr"/>
            <a:r>
              <a:rPr sz="1400" b="0" i="1">
                <a:solidFill>
                  <a:srgbClr val="000000"/>
                </a:solidFill>
                <a:latin typeface="Cambria"/>
              </a:rPr>
              <a:t>hash function</a:t>
            </a:r>
          </a:p>
        </p:txBody>
      </p:sp>
      <p:sp>
        <p:nvSpPr>
          <p:cNvPr id="412" name="TextBox 411"/>
          <p:cNvSpPr txBox="1"/>
          <p:nvPr/>
        </p:nvSpPr>
        <p:spPr>
          <a:xfrm>
            <a:off x="667512" y="5989320"/>
            <a:ext cx="8778240" cy="310896"/>
          </a:xfrm>
          <a:prstGeom prst="rect">
            <a:avLst/>
          </a:prstGeom>
          <a:noFill/>
        </p:spPr>
        <p:txBody>
          <a:bodyPr wrap="square" lIns="0" tIns="0" rIns="0" bIns="0">
            <a:spAutoFit/>
          </a:bodyPr>
          <a:lstStyle/>
          <a:p>
            <a:pPr algn="ctr"/>
            <a:r>
              <a:rPr sz="2000" b="0" i="0">
                <a:solidFill>
                  <a:srgbClr val="000000"/>
                </a:solidFill>
                <a:latin typeface="Cambria"/>
              </a:rPr>
              <a:t>We do not search for the slot  -  we </a:t>
            </a:r>
            <a:r>
              <a:rPr sz="2000" b="1" i="0">
                <a:solidFill>
                  <a:srgbClr val="000000"/>
                </a:solidFill>
                <a:latin typeface="Cambria"/>
              </a:rPr>
              <a:t>compute</a:t>
            </a:r>
            <a:r>
              <a:rPr sz="2000" b="0" i="0">
                <a:solidFill>
                  <a:srgbClr val="000000"/>
                </a:solidFill>
                <a:latin typeface="Cambria"/>
              </a:rPr>
              <a:t>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a Hash Function Is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A function that maps a key to an integer:</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	h :  key  →  0 .. m-1</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m  is the number of </a:t>
            </a:r>
            <a:r>
              <a:rPr sz="2400" b="1">
                <a:latin typeface="Cambria"/>
              </a:rPr>
              <a:t>buckets</a:t>
            </a:r>
            <a:r>
              <a:rPr sz="2400" b="0">
                <a:latin typeface="Cambria"/>
              </a:rPr>
              <a:t> in the table</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Same key  →  </a:t>
            </a:r>
            <a:r>
              <a:rPr sz="2400" b="1">
                <a:latin typeface="Cambria"/>
              </a:rPr>
              <a:t>always</a:t>
            </a:r>
            <a:r>
              <a:rPr sz="2400" b="0">
                <a:latin typeface="Cambria"/>
              </a:rPr>
              <a:t> the same bucket</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Different keys  →  </a:t>
            </a:r>
            <a:r>
              <a:rPr sz="2400" b="1">
                <a:latin typeface="Cambria"/>
              </a:rPr>
              <a:t>usually</a:t>
            </a:r>
            <a:r>
              <a:rPr sz="2400" b="0">
                <a:latin typeface="Cambria"/>
              </a:rPr>
              <a:t> different buckets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Properties of a Good Hash Function</a:t>
            </a:r>
            <a:endParaRPr lang="en-US" sz="36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194560" algn="l"/>
              </a:tabLst>
            </a:pPr>
            <a:r>
              <a:rPr sz="2400" b="1">
                <a:latin typeface="Cambria"/>
              </a:rPr>
              <a:t>Deterministic</a:t>
            </a:r>
            <a:r>
              <a:rPr sz="2400" b="0">
                <a:latin typeface="Cambria"/>
              </a:rPr>
              <a:t>	same input, same output</a:t>
            </a:r>
          </a:p>
          <a:p>
            <a:pPr>
              <a:tabLst>
                <a:tab pos="548640" algn="l"/>
                <a:tab pos="2194560" algn="l"/>
              </a:tabLst>
            </a:pPr>
            <a:r>
              <a:rPr sz="2400">
                <a:latin typeface="Cambria"/>
              </a:rPr>
              <a:t> </a:t>
            </a:r>
          </a:p>
          <a:p>
            <a:pPr>
              <a:tabLst>
                <a:tab pos="548640" algn="l"/>
                <a:tab pos="2194560" algn="l"/>
              </a:tabLst>
            </a:pPr>
            <a:r>
              <a:rPr sz="2400" b="1">
                <a:latin typeface="Cambria"/>
              </a:rPr>
              <a:t>Fast</a:t>
            </a:r>
            <a:r>
              <a:rPr sz="2400" b="0">
                <a:latin typeface="Cambria"/>
              </a:rPr>
              <a:t>	cheaper than the search it replaces</a:t>
            </a:r>
          </a:p>
          <a:p>
            <a:pPr>
              <a:tabLst>
                <a:tab pos="548640" algn="l"/>
                <a:tab pos="2194560" algn="l"/>
              </a:tabLst>
            </a:pPr>
            <a:r>
              <a:rPr sz="2400">
                <a:latin typeface="Cambria"/>
              </a:rPr>
              <a:t> </a:t>
            </a:r>
          </a:p>
          <a:p>
            <a:pPr>
              <a:tabLst>
                <a:tab pos="548640" algn="l"/>
                <a:tab pos="2194560" algn="l"/>
              </a:tabLst>
            </a:pPr>
            <a:r>
              <a:rPr sz="2400" b="1">
                <a:latin typeface="Cambria"/>
              </a:rPr>
              <a:t>Uniform</a:t>
            </a:r>
            <a:r>
              <a:rPr sz="2400" b="0">
                <a:latin typeface="Cambria"/>
              </a:rPr>
              <a:t>	spreads keys evenly over  m</a:t>
            </a:r>
          </a:p>
          <a:p>
            <a:pPr>
              <a:tabLst>
                <a:tab pos="548640" algn="l"/>
                <a:tab pos="2194560" algn="l"/>
              </a:tabLst>
            </a:pPr>
            <a:r>
              <a:rPr sz="2400">
                <a:latin typeface="Cambria"/>
              </a:rPr>
              <a:t> </a:t>
            </a:r>
          </a:p>
          <a:p>
            <a:pPr>
              <a:tabLst>
                <a:tab pos="548640" algn="l"/>
                <a:tab pos="2194560" algn="l"/>
              </a:tabLst>
            </a:pPr>
            <a:r>
              <a:rPr sz="2400" b="1">
                <a:latin typeface="Cambria"/>
              </a:rPr>
              <a:t>Avalanche</a:t>
            </a:r>
            <a:r>
              <a:rPr sz="2400" b="0">
                <a:latin typeface="Cambria"/>
              </a:rPr>
              <a:t>	one bit in changes many bits out</a:t>
            </a:r>
          </a:p>
          <a:p>
            <a:pPr>
              <a:tabLst>
                <a:tab pos="548640" algn="l"/>
                <a:tab pos="2194560" algn="l"/>
              </a:tabLst>
            </a:pPr>
            <a:r>
              <a:rPr sz="2400">
                <a:latin typeface="Cambria"/>
              </a:rPr>
              <a:t> </a:t>
            </a:r>
          </a:p>
          <a:p>
            <a:pPr>
              <a:tabLst>
                <a:tab pos="548640" algn="l"/>
                <a:tab pos="2194560" algn="l"/>
              </a:tabLst>
            </a:pPr>
            <a:r>
              <a:rPr sz="2400" b="0">
                <a:latin typeface="Cambria"/>
              </a:rPr>
              <a:t>It is </a:t>
            </a:r>
            <a:r>
              <a:rPr sz="2400" b="1">
                <a:latin typeface="Cambria"/>
              </a:rPr>
              <a:t>not</a:t>
            </a:r>
            <a:r>
              <a:rPr sz="2400" b="0">
                <a:latin typeface="Cambria"/>
              </a:rPr>
              <a:t> encryption and </a:t>
            </a:r>
            <a:r>
              <a:rPr sz="2400" b="1">
                <a:latin typeface="Cambria"/>
              </a:rPr>
              <a:t>not</a:t>
            </a:r>
            <a:r>
              <a:rPr sz="2400" b="0">
                <a:latin typeface="Cambria"/>
              </a:rPr>
              <a:t> a checksum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Division Method</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The simplest useful hash:</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	index  =  k  %  m</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k  is the key as an integer,</a:t>
            </a:r>
          </a:p>
          <a:p>
            <a:pPr>
              <a:tabLst>
                <a:tab pos="548640" algn="l"/>
                <a:tab pos="1097280" algn="l"/>
                <a:tab pos="1645920" algn="l"/>
                <a:tab pos="2194560" algn="l"/>
              </a:tabLst>
            </a:pPr>
            <a:r>
              <a:rPr sz="2400" b="0">
                <a:latin typeface="Cambria"/>
              </a:rPr>
              <a:t>m  is the table size</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One instruction, always in range</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Everything depends on the choice of  </a:t>
            </a:r>
            <a:r>
              <a:rPr sz="2400" b="1">
                <a:latin typeface="Cambria"/>
              </a:rPr>
              <a:t>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Why  m  Should Be Prime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011680" algn="l"/>
              </a:tabLst>
            </a:pPr>
            <a:r>
              <a:rPr sz="2400" b="0">
                <a:latin typeface="Cambria"/>
              </a:rPr>
              <a:t>If  m = 16,  then  k % 16  keeps only the</a:t>
            </a:r>
          </a:p>
          <a:p>
            <a:pPr>
              <a:tabLst>
                <a:tab pos="548640" algn="l"/>
                <a:tab pos="2011680" algn="l"/>
              </a:tabLst>
            </a:pPr>
            <a:r>
              <a:rPr sz="2400" b="0">
                <a:latin typeface="Cambria"/>
              </a:rPr>
              <a:t>low </a:t>
            </a:r>
            <a:r>
              <a:rPr sz="2400" b="1">
                <a:latin typeface="Cambria"/>
              </a:rPr>
              <a:t>4 bits</a:t>
            </a:r>
            <a:r>
              <a:rPr sz="2400" b="0">
                <a:latin typeface="Cambria"/>
              </a:rPr>
              <a:t>  -  the rest of the key is thrown away</a:t>
            </a:r>
          </a:p>
          <a:p>
            <a:pPr>
              <a:tabLst>
                <a:tab pos="548640" algn="l"/>
                <a:tab pos="2011680" algn="l"/>
              </a:tabLst>
            </a:pPr>
            <a:r>
              <a:rPr sz="2400">
                <a:latin typeface="Cambria"/>
              </a:rPr>
              <a:t> </a:t>
            </a:r>
          </a:p>
          <a:p>
            <a:pPr>
              <a:tabLst>
                <a:tab pos="548640" algn="l"/>
                <a:tab pos="2011680" algn="l"/>
              </a:tabLst>
            </a:pPr>
            <a:r>
              <a:rPr sz="2400" b="0">
                <a:latin typeface="Cambria"/>
              </a:rPr>
              <a:t>	0x1234	→  4</a:t>
            </a:r>
          </a:p>
          <a:p>
            <a:pPr>
              <a:tabLst>
                <a:tab pos="548640" algn="l"/>
                <a:tab pos="2011680" algn="l"/>
              </a:tabLst>
            </a:pPr>
            <a:r>
              <a:rPr sz="2400" b="0">
                <a:latin typeface="Cambria"/>
              </a:rPr>
              <a:t>	0xABC4	→  4</a:t>
            </a:r>
          </a:p>
          <a:p>
            <a:pPr>
              <a:tabLst>
                <a:tab pos="548640" algn="l"/>
                <a:tab pos="2011680" algn="l"/>
              </a:tabLst>
            </a:pPr>
            <a:r>
              <a:rPr sz="2400" b="0">
                <a:latin typeface="Cambria"/>
              </a:rPr>
              <a:t>	0x0004	→  4</a:t>
            </a:r>
          </a:p>
          <a:p>
            <a:pPr>
              <a:tabLst>
                <a:tab pos="548640" algn="l"/>
                <a:tab pos="2011680" algn="l"/>
              </a:tabLst>
            </a:pPr>
            <a:r>
              <a:rPr sz="2400">
                <a:latin typeface="Cambria"/>
              </a:rPr>
              <a:t> </a:t>
            </a:r>
          </a:p>
          <a:p>
            <a:pPr>
              <a:tabLst>
                <a:tab pos="548640" algn="l"/>
                <a:tab pos="2011680" algn="l"/>
              </a:tabLst>
            </a:pPr>
            <a:r>
              <a:rPr sz="2400" b="0">
                <a:latin typeface="Cambria"/>
              </a:rPr>
              <a:t>A </a:t>
            </a:r>
            <a:r>
              <a:rPr sz="2400" b="1">
                <a:latin typeface="Cambria"/>
              </a:rPr>
              <a:t>prime</a:t>
            </a:r>
            <a:r>
              <a:rPr sz="2400" b="0">
                <a:latin typeface="Cambria"/>
              </a:rPr>
              <a:t>  m  makes every bit of  k  matter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Hashing Strings:  First Attempt</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Add up the characters:</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	unsigned h = 0 ;</a:t>
            </a:r>
          </a:p>
          <a:p>
            <a:pPr>
              <a:tabLst>
                <a:tab pos="548640" algn="l"/>
                <a:tab pos="1097280" algn="l"/>
                <a:tab pos="1645920" algn="l"/>
                <a:tab pos="2194560" algn="l"/>
              </a:tabLst>
            </a:pPr>
            <a:r>
              <a:rPr sz="2300" b="0">
                <a:latin typeface="Cambria"/>
              </a:rPr>
              <a:t>	while ( *s )  h += *s++ ;</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"ab"  →  97 + 98  =  195</a:t>
            </a:r>
          </a:p>
          <a:p>
            <a:pPr>
              <a:tabLst>
                <a:tab pos="548640" algn="l"/>
                <a:tab pos="1097280" algn="l"/>
                <a:tab pos="1645920" algn="l"/>
                <a:tab pos="2194560" algn="l"/>
              </a:tabLst>
            </a:pPr>
            <a:r>
              <a:rPr sz="2300" b="0">
                <a:latin typeface="Cambria"/>
              </a:rPr>
              <a:t>"ba"  →  98 + 97  =  195</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Every </a:t>
            </a:r>
            <a:r>
              <a:rPr sz="2300" b="1">
                <a:latin typeface="Cambria"/>
              </a:rPr>
              <a:t>anagram</a:t>
            </a:r>
            <a:r>
              <a:rPr sz="2300" b="0">
                <a:latin typeface="Cambria"/>
              </a:rPr>
              <a:t> collides, and the range is tiny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djb2:  A Better String Hash</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200" b="0">
                <a:latin typeface="Cambria"/>
              </a:rPr>
              <a:t>unsigned long hash ( const char *s ) {</a:t>
            </a:r>
          </a:p>
          <a:p>
            <a:pPr>
              <a:tabLst>
                <a:tab pos="548640" algn="l"/>
                <a:tab pos="1097280" algn="l"/>
                <a:tab pos="1645920" algn="l"/>
                <a:tab pos="2194560" algn="l"/>
              </a:tabLst>
            </a:pPr>
            <a:r>
              <a:rPr sz="2200" b="0">
                <a:latin typeface="Cambria"/>
              </a:rPr>
              <a:t>	unsigned long h = 5381 ;</a:t>
            </a:r>
          </a:p>
          <a:p>
            <a:pPr>
              <a:tabLst>
                <a:tab pos="548640" algn="l"/>
                <a:tab pos="1097280" algn="l"/>
                <a:tab pos="1645920" algn="l"/>
                <a:tab pos="2194560" algn="l"/>
              </a:tabLst>
            </a:pPr>
            <a:r>
              <a:rPr sz="2200" b="0">
                <a:latin typeface="Cambria"/>
              </a:rPr>
              <a:t>	while ( *s )</a:t>
            </a:r>
          </a:p>
          <a:p>
            <a:pPr>
              <a:tabLst>
                <a:tab pos="548640" algn="l"/>
                <a:tab pos="1097280" algn="l"/>
                <a:tab pos="1645920" algn="l"/>
                <a:tab pos="2194560" algn="l"/>
              </a:tabLst>
            </a:pPr>
            <a:r>
              <a:rPr sz="2200" b="0">
                <a:latin typeface="Cambria"/>
              </a:rPr>
              <a:t>		h = h * 33 + ( unsigned char ) *s++ ;</a:t>
            </a:r>
          </a:p>
          <a:p>
            <a:pPr>
              <a:tabLst>
                <a:tab pos="548640" algn="l"/>
                <a:tab pos="1097280" algn="l"/>
                <a:tab pos="1645920" algn="l"/>
                <a:tab pos="2194560" algn="l"/>
              </a:tabLst>
            </a:pPr>
            <a:r>
              <a:rPr sz="2200" b="0">
                <a:latin typeface="Cambria"/>
              </a:rPr>
              <a:t>	return h ;</a:t>
            </a:r>
          </a:p>
          <a:p>
            <a:pPr>
              <a:tabLst>
                <a:tab pos="548640" algn="l"/>
                <a:tab pos="1097280" algn="l"/>
                <a:tab pos="1645920" algn="l"/>
                <a:tab pos="2194560" algn="l"/>
              </a:tabLst>
            </a:pPr>
            <a:r>
              <a:rPr sz="2200" b="0">
                <a:latin typeface="Cambria"/>
              </a:rPr>
              <a:t>}</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Multiplying </a:t>
            </a:r>
            <a:r>
              <a:rPr sz="2200" b="1">
                <a:latin typeface="Cambria"/>
              </a:rPr>
              <a:t>carries position into the value</a:t>
            </a:r>
          </a:p>
          <a:p>
            <a:pPr>
              <a:tabLst>
                <a:tab pos="548640" algn="l"/>
                <a:tab pos="1097280" algn="l"/>
                <a:tab pos="1645920" algn="l"/>
                <a:tab pos="2194560" algn="l"/>
              </a:tabLst>
            </a:pPr>
            <a:r>
              <a:rPr sz="2200" b="0">
                <a:latin typeface="Cambria"/>
              </a:rPr>
              <a:t>now  "ab"  and  "ba"  differ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FNV-1a:  Another Good Choice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100" b="0">
                <a:latin typeface="Cambria"/>
              </a:rPr>
              <a:t>unsigned hash ( const char *s ) {</a:t>
            </a:r>
          </a:p>
          <a:p>
            <a:pPr>
              <a:tabLst>
                <a:tab pos="548640" algn="l"/>
                <a:tab pos="1097280" algn="l"/>
                <a:tab pos="1645920" algn="l"/>
                <a:tab pos="2194560" algn="l"/>
              </a:tabLst>
            </a:pPr>
            <a:r>
              <a:rPr sz="2100" b="0">
                <a:latin typeface="Cambria"/>
              </a:rPr>
              <a:t>	unsigned h = 2166136261u ;</a:t>
            </a:r>
          </a:p>
          <a:p>
            <a:pPr>
              <a:tabLst>
                <a:tab pos="548640" algn="l"/>
                <a:tab pos="1097280" algn="l"/>
                <a:tab pos="1645920" algn="l"/>
                <a:tab pos="2194560" algn="l"/>
              </a:tabLst>
            </a:pPr>
            <a:r>
              <a:rPr sz="2100" b="0">
                <a:latin typeface="Cambria"/>
              </a:rPr>
              <a:t>	while ( *s ) {</a:t>
            </a:r>
          </a:p>
          <a:p>
            <a:pPr>
              <a:tabLst>
                <a:tab pos="548640" algn="l"/>
                <a:tab pos="1097280" algn="l"/>
                <a:tab pos="1645920" algn="l"/>
                <a:tab pos="2194560" algn="l"/>
              </a:tabLst>
            </a:pPr>
            <a:r>
              <a:rPr sz="2100" b="0">
                <a:latin typeface="Cambria"/>
              </a:rPr>
              <a:t>		h ^= ( unsigned char ) *s++ ;</a:t>
            </a:r>
          </a:p>
          <a:p>
            <a:pPr>
              <a:tabLst>
                <a:tab pos="548640" algn="l"/>
                <a:tab pos="1097280" algn="l"/>
                <a:tab pos="1645920" algn="l"/>
                <a:tab pos="2194560" algn="l"/>
              </a:tabLst>
            </a:pPr>
            <a:r>
              <a:rPr sz="2100" b="0">
                <a:latin typeface="Cambria"/>
              </a:rPr>
              <a:t>		h *= 16777619u ;</a:t>
            </a:r>
          </a:p>
          <a:p>
            <a:pPr>
              <a:tabLst>
                <a:tab pos="548640" algn="l"/>
                <a:tab pos="1097280" algn="l"/>
                <a:tab pos="1645920" algn="l"/>
                <a:tab pos="2194560" algn="l"/>
              </a:tabLst>
            </a:pPr>
            <a:r>
              <a:rPr sz="2100" b="0">
                <a:latin typeface="Cambria"/>
              </a:rPr>
              <a:t>	}</a:t>
            </a:r>
          </a:p>
          <a:p>
            <a:pPr>
              <a:tabLst>
                <a:tab pos="548640" algn="l"/>
                <a:tab pos="1097280" algn="l"/>
                <a:tab pos="1645920" algn="l"/>
                <a:tab pos="2194560" algn="l"/>
              </a:tabLst>
            </a:pPr>
            <a:r>
              <a:rPr sz="2100" b="0">
                <a:latin typeface="Cambria"/>
              </a:rPr>
              <a:t>	return h ;</a:t>
            </a:r>
          </a:p>
          <a:p>
            <a:pPr>
              <a:tabLst>
                <a:tab pos="548640" algn="l"/>
                <a:tab pos="1097280" algn="l"/>
                <a:tab pos="1645920" algn="l"/>
                <a:tab pos="2194560" algn="l"/>
              </a:tabLst>
            </a:pPr>
            <a:r>
              <a:rPr sz="2100" b="0">
                <a:latin typeface="Cambria"/>
              </a:rPr>
              <a:t>}</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XOR then multiply  -  better avalanche than djb2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Hashing a Struct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Hash exactly the fields you </a:t>
            </a:r>
            <a:r>
              <a:rPr sz="2300" b="1">
                <a:latin typeface="Cambria"/>
              </a:rPr>
              <a:t>compare</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	h = hash ( s.adc_counts ) ;</a:t>
            </a:r>
          </a:p>
          <a:p>
            <a:pPr>
              <a:tabLst>
                <a:tab pos="548640" algn="l"/>
                <a:tab pos="1097280" algn="l"/>
                <a:tab pos="1645920" algn="l"/>
                <a:tab pos="2194560" algn="l"/>
              </a:tabLst>
            </a:pPr>
            <a:r>
              <a:rPr sz="2300" b="0">
                <a:latin typeface="Cambria"/>
              </a:rPr>
              <a:t>	h = h * 33 + hash ( s.timestamp_ms ) ;</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Never hash the raw bytes of a struct:</a:t>
            </a:r>
          </a:p>
          <a:p>
            <a:pPr>
              <a:tabLst>
                <a:tab pos="548640" algn="l"/>
                <a:tab pos="1097280" algn="l"/>
                <a:tab pos="1645920" algn="l"/>
                <a:tab pos="2194560" algn="l"/>
              </a:tabLst>
            </a:pPr>
            <a:r>
              <a:rPr sz="2300" b="0">
                <a:latin typeface="Cambria"/>
              </a:rPr>
              <a:t>	</a:t>
            </a:r>
            <a:r>
              <a:rPr sz="2300" b="1">
                <a:latin typeface="Cambria"/>
              </a:rPr>
              <a:t>padding bytes are uninitialized</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Two equal structs would hash differently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Golden Rule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097280" algn="l"/>
              </a:tabLst>
            </a:pPr>
            <a:r>
              <a:rPr sz="2600">
                <a:latin typeface="Cambria"/>
              </a:rPr>
              <a:t> </a:t>
            </a:r>
          </a:p>
          <a:p>
            <a:pPr>
              <a:tabLst>
                <a:tab pos="1097280" algn="l"/>
              </a:tabLst>
            </a:pPr>
            <a:r>
              <a:rPr sz="2600" b="0">
                <a:latin typeface="Cambria"/>
              </a:rPr>
              <a:t>If	a  ==  b</a:t>
            </a:r>
          </a:p>
          <a:p>
            <a:pPr>
              <a:tabLst>
                <a:tab pos="1097280" algn="l"/>
              </a:tabLst>
            </a:pPr>
            <a:r>
              <a:rPr sz="2600">
                <a:latin typeface="Cambria"/>
              </a:rPr>
              <a:t> </a:t>
            </a:r>
          </a:p>
          <a:p>
            <a:pPr>
              <a:tabLst>
                <a:tab pos="1097280" algn="l"/>
              </a:tabLst>
            </a:pPr>
            <a:r>
              <a:rPr sz="2600" b="0">
                <a:latin typeface="Cambria"/>
              </a:rPr>
              <a:t>then	h ( a )  ==  h ( b )</a:t>
            </a:r>
          </a:p>
          <a:p>
            <a:pPr>
              <a:tabLst>
                <a:tab pos="1097280" algn="l"/>
              </a:tabLst>
            </a:pPr>
            <a:r>
              <a:rPr sz="2600">
                <a:latin typeface="Cambria"/>
              </a:rPr>
              <a:t> </a:t>
            </a:r>
          </a:p>
          <a:p>
            <a:pPr>
              <a:tabLst>
                <a:tab pos="1097280" algn="l"/>
              </a:tabLst>
            </a:pPr>
            <a:r>
              <a:rPr sz="2600">
                <a:latin typeface="Cambria"/>
              </a:rPr>
              <a:t> </a:t>
            </a:r>
          </a:p>
          <a:p>
            <a:pPr>
              <a:tabLst>
                <a:tab pos="1097280" algn="l"/>
              </a:tabLst>
            </a:pPr>
            <a:r>
              <a:rPr sz="2600" b="0">
                <a:latin typeface="Cambria"/>
              </a:rPr>
              <a:t>Equality and hashing must </a:t>
            </a:r>
            <a:r>
              <a:rPr sz="2600" b="1">
                <a:latin typeface="Cambria"/>
              </a:rPr>
              <a:t>agree</a:t>
            </a:r>
          </a:p>
          <a:p>
            <a:pPr>
              <a:tabLst>
                <a:tab pos="1097280" algn="l"/>
              </a:tabLst>
            </a:pPr>
            <a:r>
              <a:rPr sz="2600">
                <a:latin typeface="Cambria"/>
              </a:rPr>
              <a:t> </a:t>
            </a:r>
          </a:p>
          <a:p>
            <a:pPr>
              <a:tabLst>
                <a:tab pos="1097280" algn="l"/>
              </a:tabLst>
            </a:pPr>
            <a:r>
              <a:rPr sz="2600" b="0">
                <a:latin typeface="Cambria"/>
              </a:rPr>
              <a:t>Break this and lookups silently fail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Collisions Are Unavoidable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Keys:  billions of possible strings</a:t>
            </a:r>
          </a:p>
          <a:p>
            <a:pPr>
              <a:tabLst>
                <a:tab pos="548640" algn="l"/>
                <a:tab pos="1097280" algn="l"/>
                <a:tab pos="1645920" algn="l"/>
                <a:tab pos="2194560" algn="l"/>
              </a:tabLst>
            </a:pPr>
            <a:r>
              <a:rPr sz="2400" b="0">
                <a:latin typeface="Cambria"/>
              </a:rPr>
              <a:t>Buckets:  maybe 101</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1">
                <a:latin typeface="Cambria"/>
              </a:rPr>
              <a:t>Pigeonhole principle</a:t>
            </a:r>
          </a:p>
          <a:p>
            <a:pPr>
              <a:tabLst>
                <a:tab pos="548640" algn="l"/>
                <a:tab pos="1097280" algn="l"/>
                <a:tab pos="1645920" algn="l"/>
                <a:tab pos="2194560" algn="l"/>
              </a:tabLst>
            </a:pPr>
            <a:r>
              <a:rPr sz="2400" b="0">
                <a:latin typeface="Cambria"/>
              </a:rPr>
              <a:t>	more pigeons than holes</a:t>
            </a:r>
          </a:p>
          <a:p>
            <a:pPr>
              <a:tabLst>
                <a:tab pos="548640" algn="l"/>
                <a:tab pos="1097280" algn="l"/>
                <a:tab pos="1645920" algn="l"/>
                <a:tab pos="2194560" algn="l"/>
              </a:tabLst>
            </a:pPr>
            <a:r>
              <a:rPr sz="2400" b="0">
                <a:latin typeface="Cambria"/>
              </a:rPr>
              <a:t>	→  some hole has two pigeons</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A collision is </a:t>
            </a:r>
            <a:r>
              <a:rPr sz="2400" b="1">
                <a:latin typeface="Cambria"/>
              </a:rPr>
              <a:t>not</a:t>
            </a:r>
            <a:r>
              <a:rPr sz="2400" b="0">
                <a:latin typeface="Cambria"/>
              </a:rPr>
              <a:t> a bug</a:t>
            </a:r>
          </a:p>
          <a:p>
            <a:pPr>
              <a:tabLst>
                <a:tab pos="548640" algn="l"/>
                <a:tab pos="1097280" algn="l"/>
                <a:tab pos="1645920" algn="l"/>
                <a:tab pos="2194560" algn="l"/>
              </a:tabLst>
            </a:pPr>
            <a:r>
              <a:rPr sz="2400" b="0">
                <a:latin typeface="Cambria"/>
              </a:rPr>
              <a:t>Handling it badly 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Worse Than You Expect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The </a:t>
            </a:r>
            <a:r>
              <a:rPr sz="2400" b="1">
                <a:latin typeface="Cambria"/>
              </a:rPr>
              <a:t>birthday paradox</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23 people in a room:</a:t>
            </a:r>
          </a:p>
          <a:p>
            <a:pPr>
              <a:tabLst>
                <a:tab pos="548640" algn="l"/>
                <a:tab pos="1097280" algn="l"/>
                <a:tab pos="1645920" algn="l"/>
                <a:tab pos="2194560" algn="l"/>
              </a:tabLst>
            </a:pPr>
            <a:r>
              <a:rPr sz="2400" b="0">
                <a:latin typeface="Cambria"/>
              </a:rPr>
              <a:t>	about a </a:t>
            </a:r>
            <a:r>
              <a:rPr sz="2400" b="1">
                <a:latin typeface="Cambria"/>
              </a:rPr>
              <a:t>50%</a:t>
            </a:r>
            <a:r>
              <a:rPr sz="2400" b="0">
                <a:latin typeface="Cambria"/>
              </a:rPr>
              <a:t> chance two share a birthday</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Put  √m  keys in  m  buckets:</a:t>
            </a:r>
          </a:p>
          <a:p>
            <a:pPr>
              <a:tabLst>
                <a:tab pos="548640" algn="l"/>
                <a:tab pos="1097280" algn="l"/>
                <a:tab pos="1645920" algn="l"/>
                <a:tab pos="2194560" algn="l"/>
              </a:tabLst>
            </a:pPr>
            <a:r>
              <a:rPr sz="2400" b="0">
                <a:latin typeface="Cambria"/>
              </a:rPr>
              <a:t>	a collision is already likely</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365 buckets, 23 keys  -  plan for collisions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Two Ways to Handle Collisions</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500" b="1">
                <a:latin typeface="Cambria"/>
              </a:rPr>
              <a:t>Separate chaining</a:t>
            </a:r>
          </a:p>
          <a:p>
            <a:pPr>
              <a:tabLst>
                <a:tab pos="548640" algn="l"/>
                <a:tab pos="1097280" algn="l"/>
                <a:tab pos="1645920" algn="l"/>
                <a:tab pos="2194560" algn="l"/>
              </a:tabLst>
            </a:pPr>
            <a:r>
              <a:rPr sz="2500" b="0">
                <a:latin typeface="Cambria"/>
              </a:rPr>
              <a:t>	each bucket holds a </a:t>
            </a:r>
            <a:r>
              <a:rPr sz="2500" b="1">
                <a:latin typeface="Cambria"/>
              </a:rPr>
              <a:t>list</a:t>
            </a:r>
            <a:r>
              <a:rPr sz="2500" b="0">
                <a:latin typeface="Cambria"/>
              </a:rPr>
              <a:t> of entries</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1">
                <a:latin typeface="Cambria"/>
              </a:rPr>
              <a:t>Open addressing</a:t>
            </a:r>
          </a:p>
          <a:p>
            <a:pPr>
              <a:tabLst>
                <a:tab pos="548640" algn="l"/>
                <a:tab pos="1097280" algn="l"/>
                <a:tab pos="1645920" algn="l"/>
                <a:tab pos="2194560" algn="l"/>
              </a:tabLst>
            </a:pPr>
            <a:r>
              <a:rPr sz="2500" b="0">
                <a:latin typeface="Cambria"/>
              </a:rPr>
              <a:t>	one entry per bucket;  if full,</a:t>
            </a:r>
          </a:p>
          <a:p>
            <a:pPr>
              <a:tabLst>
                <a:tab pos="548640" algn="l"/>
                <a:tab pos="1097280" algn="l"/>
                <a:tab pos="1645920" algn="l"/>
                <a:tab pos="2194560" algn="l"/>
              </a:tabLst>
            </a:pPr>
            <a:r>
              <a:rPr sz="2500" b="0">
                <a:latin typeface="Cambria"/>
              </a:rPr>
              <a:t>	go look in another bucket</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Every real hash table picks one of these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Separate Chaining</a:t>
            </a:r>
            <a:endParaRPr lang="en-US" sz="4400" b="0" u="none" strike="noStrike" dirty="0">
              <a:solidFill>
                <a:srgbClr val="000000"/>
              </a:solidFill>
              <a:effectLst/>
              <a:uFillTx/>
              <a:latin typeface="Arial"/>
            </a:endParaRPr>
          </a:p>
        </p:txBody>
      </p:sp>
      <p:sp>
        <p:nvSpPr>
          <p:cNvPr id="388" name="Rectangle 387"/>
          <p:cNvSpPr/>
          <p:nvPr/>
        </p:nvSpPr>
        <p:spPr>
          <a:xfrm>
            <a:off x="868680" y="2194560"/>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0</a:t>
            </a:r>
          </a:p>
        </p:txBody>
      </p:sp>
      <p:sp>
        <p:nvSpPr>
          <p:cNvPr id="389" name="Rectangle 388"/>
          <p:cNvSpPr/>
          <p:nvPr/>
        </p:nvSpPr>
        <p:spPr>
          <a:xfrm>
            <a:off x="1417320" y="2194560"/>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300" b="0">
                <a:solidFill>
                  <a:srgbClr val="000000"/>
                </a:solidFill>
                <a:latin typeface="Cambria"/>
              </a:rPr>
              <a:t>NULL</a:t>
            </a:r>
          </a:p>
        </p:txBody>
      </p:sp>
      <p:sp>
        <p:nvSpPr>
          <p:cNvPr id="390" name="Rectangle 389"/>
          <p:cNvSpPr/>
          <p:nvPr/>
        </p:nvSpPr>
        <p:spPr>
          <a:xfrm>
            <a:off x="868680" y="2724912"/>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1</a:t>
            </a:r>
          </a:p>
        </p:txBody>
      </p:sp>
      <p:sp>
        <p:nvSpPr>
          <p:cNvPr id="391" name="Rectangle 390"/>
          <p:cNvSpPr/>
          <p:nvPr/>
        </p:nvSpPr>
        <p:spPr>
          <a:xfrm>
            <a:off x="1417320" y="2724912"/>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cxnSp>
        <p:nvCxnSpPr>
          <p:cNvPr id="392" name="Connector 391"/>
          <p:cNvCxnSpPr/>
          <p:nvPr/>
        </p:nvCxnSpPr>
        <p:spPr>
          <a:xfrm>
            <a:off x="2395728" y="2990088"/>
            <a:ext cx="384048"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3" name="Rectangle 392"/>
          <p:cNvSpPr/>
          <p:nvPr/>
        </p:nvSpPr>
        <p:spPr>
          <a:xfrm>
            <a:off x="2798064" y="2761488"/>
            <a:ext cx="1691640" cy="457199"/>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0">
                <a:solidFill>
                  <a:srgbClr val="000000"/>
                </a:solidFill>
                <a:latin typeface="Cambria"/>
              </a:rPr>
              <a:t>fuel_level</a:t>
            </a:r>
          </a:p>
        </p:txBody>
      </p:sp>
      <p:cxnSp>
        <p:nvCxnSpPr>
          <p:cNvPr id="394" name="Connector 393"/>
          <p:cNvCxnSpPr/>
          <p:nvPr/>
        </p:nvCxnSpPr>
        <p:spPr>
          <a:xfrm>
            <a:off x="4507992" y="2990088"/>
            <a:ext cx="201168" cy="0"/>
          </a:xfrm>
          <a:prstGeom prst="line">
            <a:avLst/>
          </a:prstGeom>
          <a:ln w="19050">
            <a:solidFill>
              <a:srgbClr val="1F4E79"/>
            </a:solidFill>
          </a:ln>
        </p:spPr>
        <p:style>
          <a:lnRef idx="2">
            <a:schemeClr val="accent1"/>
          </a:lnRef>
          <a:fillRef idx="0">
            <a:schemeClr val="accent1"/>
          </a:fillRef>
          <a:effectRef idx="1">
            <a:schemeClr val="accent1"/>
          </a:effectRef>
          <a:fontRef idx="minor">
            <a:schemeClr val="tx1"/>
          </a:fontRef>
        </p:style>
      </p:cxnSp>
      <p:sp>
        <p:nvSpPr>
          <p:cNvPr id="395" name="TextBox 394"/>
          <p:cNvSpPr txBox="1"/>
          <p:nvPr/>
        </p:nvSpPr>
        <p:spPr>
          <a:xfrm>
            <a:off x="4745736" y="2834640"/>
            <a:ext cx="822960" cy="310896"/>
          </a:xfrm>
          <a:prstGeom prst="rect">
            <a:avLst/>
          </a:prstGeom>
          <a:noFill/>
        </p:spPr>
        <p:txBody>
          <a:bodyPr wrap="square" lIns="0" tIns="0" rIns="0" bIns="0">
            <a:spAutoFit/>
          </a:bodyPr>
          <a:lstStyle/>
          <a:p>
            <a:pPr algn="l"/>
            <a:r>
              <a:rPr sz="1200" b="0" i="1">
                <a:solidFill>
                  <a:srgbClr val="000000"/>
                </a:solidFill>
                <a:latin typeface="Cambria"/>
              </a:rPr>
              <a:t>NULL</a:t>
            </a:r>
          </a:p>
        </p:txBody>
      </p:sp>
      <p:sp>
        <p:nvSpPr>
          <p:cNvPr id="396" name="Rectangle 395"/>
          <p:cNvSpPr/>
          <p:nvPr/>
        </p:nvSpPr>
        <p:spPr>
          <a:xfrm>
            <a:off x="868680" y="3255263"/>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2</a:t>
            </a:r>
          </a:p>
        </p:txBody>
      </p:sp>
      <p:sp>
        <p:nvSpPr>
          <p:cNvPr id="397" name="Rectangle 396"/>
          <p:cNvSpPr/>
          <p:nvPr/>
        </p:nvSpPr>
        <p:spPr>
          <a:xfrm>
            <a:off x="1417320" y="3255263"/>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300" b="0">
                <a:solidFill>
                  <a:srgbClr val="000000"/>
                </a:solidFill>
                <a:latin typeface="Cambria"/>
              </a:rPr>
              <a:t>NULL</a:t>
            </a:r>
          </a:p>
        </p:txBody>
      </p:sp>
      <p:sp>
        <p:nvSpPr>
          <p:cNvPr id="398" name="Rectangle 397"/>
          <p:cNvSpPr/>
          <p:nvPr/>
        </p:nvSpPr>
        <p:spPr>
          <a:xfrm>
            <a:off x="868680" y="3785615"/>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3</a:t>
            </a:r>
          </a:p>
        </p:txBody>
      </p:sp>
      <p:sp>
        <p:nvSpPr>
          <p:cNvPr id="399" name="Rectangle 398"/>
          <p:cNvSpPr/>
          <p:nvPr/>
        </p:nvSpPr>
        <p:spPr>
          <a:xfrm>
            <a:off x="1417320" y="3785615"/>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cxnSp>
        <p:nvCxnSpPr>
          <p:cNvPr id="400" name="Connector 399"/>
          <p:cNvCxnSpPr/>
          <p:nvPr/>
        </p:nvCxnSpPr>
        <p:spPr>
          <a:xfrm>
            <a:off x="2395728" y="4050791"/>
            <a:ext cx="384048"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1" name="Rectangle 400"/>
          <p:cNvSpPr/>
          <p:nvPr/>
        </p:nvSpPr>
        <p:spPr>
          <a:xfrm>
            <a:off x="2798064" y="3822191"/>
            <a:ext cx="1691640" cy="457199"/>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0">
                <a:solidFill>
                  <a:srgbClr val="000000"/>
                </a:solidFill>
                <a:latin typeface="Cambria"/>
              </a:rPr>
              <a:t>oil_pressure</a:t>
            </a:r>
          </a:p>
        </p:txBody>
      </p:sp>
      <p:cxnSp>
        <p:nvCxnSpPr>
          <p:cNvPr id="402" name="Connector 401"/>
          <p:cNvCxnSpPr/>
          <p:nvPr/>
        </p:nvCxnSpPr>
        <p:spPr>
          <a:xfrm>
            <a:off x="4507992" y="4050791"/>
            <a:ext cx="384048"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3" name="Rectangle 402"/>
          <p:cNvSpPr/>
          <p:nvPr/>
        </p:nvSpPr>
        <p:spPr>
          <a:xfrm>
            <a:off x="4910328" y="3822191"/>
            <a:ext cx="1691640" cy="457199"/>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0">
                <a:solidFill>
                  <a:srgbClr val="000000"/>
                </a:solidFill>
                <a:latin typeface="Cambria"/>
              </a:rPr>
              <a:t>rpm</a:t>
            </a:r>
          </a:p>
        </p:txBody>
      </p:sp>
      <p:cxnSp>
        <p:nvCxnSpPr>
          <p:cNvPr id="404" name="Connector 403"/>
          <p:cNvCxnSpPr/>
          <p:nvPr/>
        </p:nvCxnSpPr>
        <p:spPr>
          <a:xfrm>
            <a:off x="6620256" y="4050791"/>
            <a:ext cx="201168" cy="0"/>
          </a:xfrm>
          <a:prstGeom prst="line">
            <a:avLst/>
          </a:prstGeom>
          <a:ln w="19050">
            <a:solidFill>
              <a:srgbClr val="1F4E79"/>
            </a:solidFill>
          </a:ln>
        </p:spPr>
        <p:style>
          <a:lnRef idx="2">
            <a:schemeClr val="accent1"/>
          </a:lnRef>
          <a:fillRef idx="0">
            <a:schemeClr val="accent1"/>
          </a:fillRef>
          <a:effectRef idx="1">
            <a:schemeClr val="accent1"/>
          </a:effectRef>
          <a:fontRef idx="minor">
            <a:schemeClr val="tx1"/>
          </a:fontRef>
        </p:style>
      </p:cxnSp>
      <p:sp>
        <p:nvSpPr>
          <p:cNvPr id="405" name="TextBox 404"/>
          <p:cNvSpPr txBox="1"/>
          <p:nvPr/>
        </p:nvSpPr>
        <p:spPr>
          <a:xfrm>
            <a:off x="6858000" y="3895344"/>
            <a:ext cx="822960" cy="310896"/>
          </a:xfrm>
          <a:prstGeom prst="rect">
            <a:avLst/>
          </a:prstGeom>
          <a:noFill/>
        </p:spPr>
        <p:txBody>
          <a:bodyPr wrap="square" lIns="0" tIns="0" rIns="0" bIns="0">
            <a:spAutoFit/>
          </a:bodyPr>
          <a:lstStyle/>
          <a:p>
            <a:pPr algn="l"/>
            <a:r>
              <a:rPr sz="1200" b="0" i="1">
                <a:solidFill>
                  <a:srgbClr val="000000"/>
                </a:solidFill>
                <a:latin typeface="Cambria"/>
              </a:rPr>
              <a:t>NULL</a:t>
            </a:r>
          </a:p>
        </p:txBody>
      </p:sp>
      <p:sp>
        <p:nvSpPr>
          <p:cNvPr id="406" name="Rectangle 405"/>
          <p:cNvSpPr/>
          <p:nvPr/>
        </p:nvSpPr>
        <p:spPr>
          <a:xfrm>
            <a:off x="868680" y="4315968"/>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4</a:t>
            </a:r>
          </a:p>
        </p:txBody>
      </p:sp>
      <p:sp>
        <p:nvSpPr>
          <p:cNvPr id="407" name="Rectangle 406"/>
          <p:cNvSpPr/>
          <p:nvPr/>
        </p:nvSpPr>
        <p:spPr>
          <a:xfrm>
            <a:off x="1417320" y="4315968"/>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300" b="0">
                <a:solidFill>
                  <a:srgbClr val="000000"/>
                </a:solidFill>
                <a:latin typeface="Cambria"/>
              </a:rPr>
              <a:t>NULL</a:t>
            </a:r>
          </a:p>
        </p:txBody>
      </p:sp>
      <p:sp>
        <p:nvSpPr>
          <p:cNvPr id="408" name="Rectangle 407"/>
          <p:cNvSpPr/>
          <p:nvPr/>
        </p:nvSpPr>
        <p:spPr>
          <a:xfrm>
            <a:off x="868680" y="4846320"/>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5</a:t>
            </a:r>
          </a:p>
        </p:txBody>
      </p:sp>
      <p:sp>
        <p:nvSpPr>
          <p:cNvPr id="409" name="Rectangle 408"/>
          <p:cNvSpPr/>
          <p:nvPr/>
        </p:nvSpPr>
        <p:spPr>
          <a:xfrm>
            <a:off x="1417320" y="4846320"/>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cxnSp>
        <p:nvCxnSpPr>
          <p:cNvPr id="410" name="Connector 409"/>
          <p:cNvCxnSpPr/>
          <p:nvPr/>
        </p:nvCxnSpPr>
        <p:spPr>
          <a:xfrm>
            <a:off x="2395728" y="5111496"/>
            <a:ext cx="384048"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1" name="Rectangle 410"/>
          <p:cNvSpPr/>
          <p:nvPr/>
        </p:nvSpPr>
        <p:spPr>
          <a:xfrm>
            <a:off x="2798064" y="4882896"/>
            <a:ext cx="1691640" cy="457199"/>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400" b="0">
                <a:solidFill>
                  <a:srgbClr val="000000"/>
                </a:solidFill>
                <a:latin typeface="Cambria"/>
              </a:rPr>
              <a:t>coolant_temp</a:t>
            </a:r>
          </a:p>
        </p:txBody>
      </p:sp>
      <p:cxnSp>
        <p:nvCxnSpPr>
          <p:cNvPr id="412" name="Connector 411"/>
          <p:cNvCxnSpPr/>
          <p:nvPr/>
        </p:nvCxnSpPr>
        <p:spPr>
          <a:xfrm>
            <a:off x="4507992" y="5111496"/>
            <a:ext cx="201168" cy="0"/>
          </a:xfrm>
          <a:prstGeom prst="line">
            <a:avLst/>
          </a:prstGeom>
          <a:ln w="19050">
            <a:solidFill>
              <a:srgbClr val="1F4E79"/>
            </a:solidFill>
          </a:ln>
        </p:spPr>
        <p:style>
          <a:lnRef idx="2">
            <a:schemeClr val="accent1"/>
          </a:lnRef>
          <a:fillRef idx="0">
            <a:schemeClr val="accent1"/>
          </a:fillRef>
          <a:effectRef idx="1">
            <a:schemeClr val="accent1"/>
          </a:effectRef>
          <a:fontRef idx="minor">
            <a:schemeClr val="tx1"/>
          </a:fontRef>
        </p:style>
      </p:cxnSp>
      <p:sp>
        <p:nvSpPr>
          <p:cNvPr id="413" name="TextBox 412"/>
          <p:cNvSpPr txBox="1"/>
          <p:nvPr/>
        </p:nvSpPr>
        <p:spPr>
          <a:xfrm>
            <a:off x="4745736" y="4956048"/>
            <a:ext cx="822960" cy="310896"/>
          </a:xfrm>
          <a:prstGeom prst="rect">
            <a:avLst/>
          </a:prstGeom>
          <a:noFill/>
        </p:spPr>
        <p:txBody>
          <a:bodyPr wrap="square" lIns="0" tIns="0" rIns="0" bIns="0">
            <a:spAutoFit/>
          </a:bodyPr>
          <a:lstStyle/>
          <a:p>
            <a:pPr algn="l"/>
            <a:r>
              <a:rPr sz="1200" b="0" i="1">
                <a:solidFill>
                  <a:srgbClr val="000000"/>
                </a:solidFill>
                <a:latin typeface="Cambria"/>
              </a:rPr>
              <a:t>NULL</a:t>
            </a:r>
          </a:p>
        </p:txBody>
      </p:sp>
      <p:sp>
        <p:nvSpPr>
          <p:cNvPr id="414" name="Rectangle 413"/>
          <p:cNvSpPr/>
          <p:nvPr/>
        </p:nvSpPr>
        <p:spPr>
          <a:xfrm>
            <a:off x="868680" y="5376671"/>
            <a:ext cx="548640" cy="53035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6</a:t>
            </a:r>
          </a:p>
        </p:txBody>
      </p:sp>
      <p:sp>
        <p:nvSpPr>
          <p:cNvPr id="415" name="Rectangle 414"/>
          <p:cNvSpPr/>
          <p:nvPr/>
        </p:nvSpPr>
        <p:spPr>
          <a:xfrm>
            <a:off x="1417320" y="5376671"/>
            <a:ext cx="960120" cy="53035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300" b="0">
                <a:solidFill>
                  <a:srgbClr val="000000"/>
                </a:solidFill>
                <a:latin typeface="Cambria"/>
              </a:rPr>
              <a:t>NULL</a:t>
            </a:r>
          </a:p>
        </p:txBody>
      </p:sp>
      <p:sp>
        <p:nvSpPr>
          <p:cNvPr id="416" name="TextBox 415"/>
          <p:cNvSpPr txBox="1"/>
          <p:nvPr/>
        </p:nvSpPr>
        <p:spPr>
          <a:xfrm>
            <a:off x="868680" y="1847088"/>
            <a:ext cx="1508760" cy="310896"/>
          </a:xfrm>
          <a:prstGeom prst="rect">
            <a:avLst/>
          </a:prstGeom>
          <a:noFill/>
        </p:spPr>
        <p:txBody>
          <a:bodyPr wrap="square" lIns="0" tIns="0" rIns="0" bIns="0">
            <a:spAutoFit/>
          </a:bodyPr>
          <a:lstStyle/>
          <a:p>
            <a:pPr algn="ctr"/>
            <a:r>
              <a:rPr sz="1500" b="1" i="0">
                <a:solidFill>
                  <a:srgbClr val="000000"/>
                </a:solidFill>
                <a:latin typeface="Cambria"/>
              </a:rPr>
              <a:t>bucket</a:t>
            </a:r>
          </a:p>
        </p:txBody>
      </p:sp>
      <p:sp>
        <p:nvSpPr>
          <p:cNvPr id="417" name="TextBox 416"/>
          <p:cNvSpPr txBox="1"/>
          <p:nvPr/>
        </p:nvSpPr>
        <p:spPr>
          <a:xfrm>
            <a:off x="667512" y="6089903"/>
            <a:ext cx="8778240" cy="310896"/>
          </a:xfrm>
          <a:prstGeom prst="rect">
            <a:avLst/>
          </a:prstGeom>
          <a:noFill/>
        </p:spPr>
        <p:txBody>
          <a:bodyPr wrap="square" lIns="0" tIns="0" rIns="0" bIns="0">
            <a:spAutoFit/>
          </a:bodyPr>
          <a:lstStyle/>
          <a:p>
            <a:pPr algn="l"/>
            <a:r>
              <a:rPr sz="1900" b="0" i="0">
                <a:solidFill>
                  <a:srgbClr val="000000"/>
                </a:solidFill>
                <a:latin typeface="Cambria"/>
              </a:rPr>
              <a:t>Each bucket holds a </a:t>
            </a:r>
            <a:r>
              <a:rPr sz="1900" b="1" i="0">
                <a:solidFill>
                  <a:srgbClr val="000000"/>
                </a:solidFill>
                <a:latin typeface="Cambria"/>
              </a:rPr>
              <a:t>list</a:t>
            </a:r>
            <a:r>
              <a:rPr sz="1900" b="0" i="0">
                <a:solidFill>
                  <a:srgbClr val="000000"/>
                </a:solidFill>
                <a:latin typeface="Cambria"/>
              </a:rPr>
              <a:t> of every key that hashed there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Chaining in C:  The Entry</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011680" algn="l"/>
              </a:tabLst>
            </a:pPr>
            <a:r>
              <a:rPr sz="2200" b="0">
                <a:latin typeface="Cambria"/>
              </a:rPr>
              <a:t>#define TABLE_SIZE	101</a:t>
            </a:r>
          </a:p>
          <a:p>
            <a:pPr>
              <a:tabLst>
                <a:tab pos="548640" algn="l"/>
                <a:tab pos="2011680" algn="l"/>
              </a:tabLst>
            </a:pPr>
            <a:r>
              <a:rPr sz="2200">
                <a:latin typeface="Cambria"/>
              </a:rPr>
              <a:t> </a:t>
            </a:r>
          </a:p>
          <a:p>
            <a:pPr>
              <a:tabLst>
                <a:tab pos="548640" algn="l"/>
                <a:tab pos="2011680" algn="l"/>
              </a:tabLst>
            </a:pPr>
            <a:r>
              <a:rPr sz="2200" b="0">
                <a:latin typeface="Cambria"/>
              </a:rPr>
              <a:t>typedef struct entry {</a:t>
            </a:r>
          </a:p>
          <a:p>
            <a:pPr>
              <a:tabLst>
                <a:tab pos="548640" algn="l"/>
                <a:tab pos="2011680" algn="l"/>
              </a:tabLst>
            </a:pPr>
            <a:r>
              <a:rPr sz="2200" b="0">
                <a:latin typeface="Cambria"/>
              </a:rPr>
              <a:t>	char	*key ;</a:t>
            </a:r>
          </a:p>
          <a:p>
            <a:pPr>
              <a:tabLst>
                <a:tab pos="548640" algn="l"/>
                <a:tab pos="2011680" algn="l"/>
              </a:tabLst>
            </a:pPr>
            <a:r>
              <a:rPr sz="2200" b="0">
                <a:latin typeface="Cambria"/>
              </a:rPr>
              <a:t>	int	value ;</a:t>
            </a:r>
          </a:p>
          <a:p>
            <a:pPr>
              <a:tabLst>
                <a:tab pos="548640" algn="l"/>
                <a:tab pos="2011680" algn="l"/>
              </a:tabLst>
            </a:pPr>
            <a:r>
              <a:rPr sz="2200" b="0">
                <a:latin typeface="Cambria"/>
              </a:rPr>
              <a:t>	struct entry	*next ;</a:t>
            </a:r>
          </a:p>
          <a:p>
            <a:pPr>
              <a:tabLst>
                <a:tab pos="548640" algn="l"/>
                <a:tab pos="2011680" algn="l"/>
              </a:tabLst>
            </a:pPr>
            <a:r>
              <a:rPr sz="2200" b="0">
                <a:latin typeface="Cambria"/>
              </a:rPr>
              <a:t>} entry_t ;</a:t>
            </a:r>
          </a:p>
          <a:p>
            <a:pPr>
              <a:tabLst>
                <a:tab pos="548640" algn="l"/>
                <a:tab pos="2011680" algn="l"/>
              </a:tabLst>
            </a:pPr>
            <a:r>
              <a:rPr sz="2200">
                <a:latin typeface="Cambria"/>
              </a:rPr>
              <a:t> </a:t>
            </a:r>
          </a:p>
          <a:p>
            <a:pPr>
              <a:tabLst>
                <a:tab pos="548640" algn="l"/>
                <a:tab pos="2011680" algn="l"/>
              </a:tabLst>
            </a:pPr>
            <a:r>
              <a:rPr sz="2200" b="0">
                <a:latin typeface="Cambria"/>
              </a:rPr>
              <a:t>entry_t *tableG [ TABLE_SIZE ]  =  { NULL }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Chaining in C:  Insert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651760" algn="l"/>
              </a:tabLst>
            </a:pPr>
            <a:r>
              <a:rPr sz="2100" b="0">
                <a:latin typeface="Cambria"/>
              </a:rPr>
              <a:t>void insert ( const char *key, int value ) {</a:t>
            </a:r>
          </a:p>
          <a:p>
            <a:pPr>
              <a:tabLst>
                <a:tab pos="548640" algn="l"/>
                <a:tab pos="2651760" algn="l"/>
              </a:tabLst>
            </a:pPr>
            <a:r>
              <a:rPr sz="2100" b="0">
                <a:latin typeface="Cambria"/>
              </a:rPr>
              <a:t>	unsigned idx = hash ( key ) % TABLE_SIZE ;</a:t>
            </a:r>
          </a:p>
          <a:p>
            <a:pPr>
              <a:tabLst>
                <a:tab pos="548640" algn="l"/>
                <a:tab pos="2651760" algn="l"/>
              </a:tabLst>
            </a:pPr>
            <a:r>
              <a:rPr sz="2100">
                <a:latin typeface="Cambria"/>
              </a:rPr>
              <a:t> </a:t>
            </a:r>
          </a:p>
          <a:p>
            <a:pPr>
              <a:tabLst>
                <a:tab pos="548640" algn="l"/>
                <a:tab pos="2651760" algn="l"/>
              </a:tabLst>
            </a:pPr>
            <a:r>
              <a:rPr sz="2100" b="0">
                <a:latin typeface="Cambria"/>
              </a:rPr>
              <a:t>	entry_t *e = malloc ( sizeof ( entry_t ) ) ;</a:t>
            </a:r>
          </a:p>
          <a:p>
            <a:pPr>
              <a:tabLst>
                <a:tab pos="548640" algn="l"/>
                <a:tab pos="2651760" algn="l"/>
              </a:tabLst>
            </a:pPr>
            <a:r>
              <a:rPr sz="2100" b="0">
                <a:latin typeface="Cambria"/>
              </a:rPr>
              <a:t>	e-&gt;key	= strdup ( key ) ;</a:t>
            </a:r>
          </a:p>
          <a:p>
            <a:pPr>
              <a:tabLst>
                <a:tab pos="548640" algn="l"/>
                <a:tab pos="2651760" algn="l"/>
              </a:tabLst>
            </a:pPr>
            <a:r>
              <a:rPr sz="2100" b="0">
                <a:latin typeface="Cambria"/>
              </a:rPr>
              <a:t>	e-&gt;value	= value ;</a:t>
            </a:r>
          </a:p>
          <a:p>
            <a:pPr>
              <a:tabLst>
                <a:tab pos="548640" algn="l"/>
                <a:tab pos="2651760" algn="l"/>
              </a:tabLst>
            </a:pPr>
            <a:r>
              <a:rPr sz="2100" b="0">
                <a:latin typeface="Cambria"/>
              </a:rPr>
              <a:t>	e-&gt;next	= tableG [ idx ] ;</a:t>
            </a:r>
          </a:p>
          <a:p>
            <a:pPr>
              <a:tabLst>
                <a:tab pos="548640" algn="l"/>
                <a:tab pos="2651760" algn="l"/>
              </a:tabLst>
            </a:pPr>
            <a:r>
              <a:rPr sz="2100" b="0">
                <a:latin typeface="Cambria"/>
              </a:rPr>
              <a:t>	tableG [ idx ] = e ;</a:t>
            </a:r>
          </a:p>
          <a:p>
            <a:pPr>
              <a:tabLst>
                <a:tab pos="548640" algn="l"/>
                <a:tab pos="2651760" algn="l"/>
              </a:tabLst>
            </a:pPr>
            <a:r>
              <a:rPr sz="2100" b="0">
                <a:latin typeface="Cambria"/>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Chaining in C:  Lookup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4572000" algn="l"/>
              </a:tabLst>
            </a:pPr>
            <a:r>
              <a:rPr sz="2000" b="0">
                <a:latin typeface="Cambria"/>
              </a:rPr>
              <a:t>int *lookup ( const char *key ) {</a:t>
            </a:r>
          </a:p>
          <a:p>
            <a:pPr>
              <a:tabLst>
                <a:tab pos="548640" algn="l"/>
                <a:tab pos="1097280" algn="l"/>
                <a:tab pos="1645920" algn="l"/>
                <a:tab pos="4572000" algn="l"/>
              </a:tabLst>
            </a:pPr>
            <a:r>
              <a:rPr sz="2000" b="0">
                <a:latin typeface="Cambria"/>
              </a:rPr>
              <a:t>	unsigned idx = hash ( key ) % TABLE_SIZE ;</a:t>
            </a:r>
          </a:p>
          <a:p>
            <a:pPr>
              <a:tabLst>
                <a:tab pos="548640" algn="l"/>
                <a:tab pos="1097280" algn="l"/>
                <a:tab pos="1645920" algn="l"/>
                <a:tab pos="4572000" algn="l"/>
              </a:tabLst>
            </a:pPr>
            <a:r>
              <a:rPr sz="2000">
                <a:latin typeface="Cambria"/>
              </a:rPr>
              <a:t> </a:t>
            </a:r>
          </a:p>
          <a:p>
            <a:pPr>
              <a:tabLst>
                <a:tab pos="548640" algn="l"/>
                <a:tab pos="1097280" algn="l"/>
                <a:tab pos="1645920" algn="l"/>
                <a:tab pos="4572000" algn="l"/>
              </a:tabLst>
            </a:pPr>
            <a:r>
              <a:rPr sz="2000" b="0">
                <a:latin typeface="Cambria"/>
              </a:rPr>
              <a:t>	for ( entry_t *e = tableG [ idx ] ;  e ;  e = e-&gt;next )</a:t>
            </a:r>
          </a:p>
          <a:p>
            <a:pPr>
              <a:tabLst>
                <a:tab pos="548640" algn="l"/>
                <a:tab pos="1097280" algn="l"/>
                <a:tab pos="1645920" algn="l"/>
                <a:tab pos="4572000" algn="l"/>
              </a:tabLst>
            </a:pPr>
            <a:r>
              <a:rPr sz="2000" b="0">
                <a:latin typeface="Cambria"/>
              </a:rPr>
              <a:t>		if ( strcmp ( e-&gt;key, key ) == 0 )</a:t>
            </a:r>
          </a:p>
          <a:p>
            <a:pPr>
              <a:tabLst>
                <a:tab pos="548640" algn="l"/>
                <a:tab pos="1097280" algn="l"/>
                <a:tab pos="1645920" algn="l"/>
                <a:tab pos="4572000" algn="l"/>
              </a:tabLst>
            </a:pPr>
            <a:r>
              <a:rPr sz="2000" b="0">
                <a:latin typeface="Cambria"/>
              </a:rPr>
              <a:t>			return &amp;( e-&gt;value ) ;</a:t>
            </a:r>
          </a:p>
          <a:p>
            <a:pPr>
              <a:tabLst>
                <a:tab pos="548640" algn="l"/>
                <a:tab pos="1097280" algn="l"/>
                <a:tab pos="1645920" algn="l"/>
                <a:tab pos="4572000" algn="l"/>
              </a:tabLst>
            </a:pPr>
            <a:r>
              <a:rPr sz="2000">
                <a:latin typeface="Cambria"/>
              </a:rPr>
              <a:t> </a:t>
            </a:r>
          </a:p>
          <a:p>
            <a:pPr>
              <a:tabLst>
                <a:tab pos="548640" algn="l"/>
                <a:tab pos="1097280" algn="l"/>
                <a:tab pos="1645920" algn="l"/>
                <a:tab pos="4572000" algn="l"/>
              </a:tabLst>
            </a:pPr>
            <a:r>
              <a:rPr sz="2000" b="0">
                <a:latin typeface="Cambria"/>
              </a:rPr>
              <a:t>	return NULL ;	/* not found */</a:t>
            </a:r>
          </a:p>
          <a:p>
            <a:pPr>
              <a:tabLst>
                <a:tab pos="548640" algn="l"/>
                <a:tab pos="1097280" algn="l"/>
                <a:tab pos="1645920" algn="l"/>
                <a:tab pos="4572000" algn="l"/>
              </a:tabLst>
            </a:pPr>
            <a:r>
              <a:rPr sz="2000" b="0">
                <a:latin typeface="Cambria"/>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Open Addressing:  Linear Probing</a:t>
            </a:r>
            <a:endParaRPr lang="en-US" sz="4000" b="0" u="none" strike="noStrike" dirty="0">
              <a:solidFill>
                <a:srgbClr val="000000"/>
              </a:solidFill>
              <a:effectLst/>
              <a:uFillTx/>
              <a:latin typeface="Arial"/>
            </a:endParaRPr>
          </a:p>
        </p:txBody>
      </p:sp>
      <p:sp>
        <p:nvSpPr>
          <p:cNvPr id="388" name="Rectangle 387"/>
          <p:cNvSpPr/>
          <p:nvPr/>
        </p:nvSpPr>
        <p:spPr>
          <a:xfrm>
            <a:off x="960120" y="3017520"/>
            <a:ext cx="10058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a:t>
            </a:r>
          </a:p>
        </p:txBody>
      </p:sp>
      <p:sp>
        <p:nvSpPr>
          <p:cNvPr id="389" name="TextBox 388"/>
          <p:cNvSpPr txBox="1"/>
          <p:nvPr/>
        </p:nvSpPr>
        <p:spPr>
          <a:xfrm>
            <a:off x="960120" y="3840479"/>
            <a:ext cx="1005840" cy="310896"/>
          </a:xfrm>
          <a:prstGeom prst="rect">
            <a:avLst/>
          </a:prstGeom>
          <a:noFill/>
        </p:spPr>
        <p:txBody>
          <a:bodyPr wrap="square" lIns="0" tIns="0" rIns="0" bIns="0">
            <a:spAutoFit/>
          </a:bodyPr>
          <a:lstStyle/>
          <a:p>
            <a:pPr algn="ctr"/>
            <a:r>
              <a:rPr sz="1500" b="1" i="0">
                <a:solidFill>
                  <a:srgbClr val="000000"/>
                </a:solidFill>
                <a:latin typeface="Cambria"/>
              </a:rPr>
              <a:t>0</a:t>
            </a:r>
          </a:p>
        </p:txBody>
      </p:sp>
      <p:sp>
        <p:nvSpPr>
          <p:cNvPr id="390" name="Rectangle 389"/>
          <p:cNvSpPr/>
          <p:nvPr/>
        </p:nvSpPr>
        <p:spPr>
          <a:xfrm>
            <a:off x="1965960" y="3017520"/>
            <a:ext cx="100584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rpm</a:t>
            </a:r>
          </a:p>
        </p:txBody>
      </p:sp>
      <p:sp>
        <p:nvSpPr>
          <p:cNvPr id="391" name="TextBox 390"/>
          <p:cNvSpPr txBox="1"/>
          <p:nvPr/>
        </p:nvSpPr>
        <p:spPr>
          <a:xfrm>
            <a:off x="1965960" y="3840479"/>
            <a:ext cx="1005840" cy="310896"/>
          </a:xfrm>
          <a:prstGeom prst="rect">
            <a:avLst/>
          </a:prstGeom>
          <a:noFill/>
        </p:spPr>
        <p:txBody>
          <a:bodyPr wrap="square" lIns="0" tIns="0" rIns="0" bIns="0">
            <a:spAutoFit/>
          </a:bodyPr>
          <a:lstStyle/>
          <a:p>
            <a:pPr algn="ctr"/>
            <a:r>
              <a:rPr sz="1500" b="1" i="0">
                <a:solidFill>
                  <a:srgbClr val="000000"/>
                </a:solidFill>
                <a:latin typeface="Cambria"/>
              </a:rPr>
              <a:t>1</a:t>
            </a:r>
          </a:p>
        </p:txBody>
      </p:sp>
      <p:sp>
        <p:nvSpPr>
          <p:cNvPr id="392" name="Rectangle 391"/>
          <p:cNvSpPr/>
          <p:nvPr/>
        </p:nvSpPr>
        <p:spPr>
          <a:xfrm>
            <a:off x="2971800" y="3017520"/>
            <a:ext cx="10058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a:t>
            </a:r>
          </a:p>
        </p:txBody>
      </p:sp>
      <p:sp>
        <p:nvSpPr>
          <p:cNvPr id="393" name="TextBox 392"/>
          <p:cNvSpPr txBox="1"/>
          <p:nvPr/>
        </p:nvSpPr>
        <p:spPr>
          <a:xfrm>
            <a:off x="2971800" y="3840479"/>
            <a:ext cx="1005840" cy="310896"/>
          </a:xfrm>
          <a:prstGeom prst="rect">
            <a:avLst/>
          </a:prstGeom>
          <a:noFill/>
        </p:spPr>
        <p:txBody>
          <a:bodyPr wrap="square" lIns="0" tIns="0" rIns="0" bIns="0">
            <a:spAutoFit/>
          </a:bodyPr>
          <a:lstStyle/>
          <a:p>
            <a:pPr algn="ctr"/>
            <a:r>
              <a:rPr sz="1500" b="1" i="0">
                <a:solidFill>
                  <a:srgbClr val="000000"/>
                </a:solidFill>
                <a:latin typeface="Cambria"/>
              </a:rPr>
              <a:t>2</a:t>
            </a:r>
          </a:p>
        </p:txBody>
      </p:sp>
      <p:sp>
        <p:nvSpPr>
          <p:cNvPr id="394" name="Rectangle 393"/>
          <p:cNvSpPr/>
          <p:nvPr/>
        </p:nvSpPr>
        <p:spPr>
          <a:xfrm>
            <a:off x="3977640" y="3017520"/>
            <a:ext cx="100584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oil</a:t>
            </a:r>
          </a:p>
        </p:txBody>
      </p:sp>
      <p:sp>
        <p:nvSpPr>
          <p:cNvPr id="395" name="TextBox 394"/>
          <p:cNvSpPr txBox="1"/>
          <p:nvPr/>
        </p:nvSpPr>
        <p:spPr>
          <a:xfrm>
            <a:off x="3977640" y="3840479"/>
            <a:ext cx="1005840" cy="310896"/>
          </a:xfrm>
          <a:prstGeom prst="rect">
            <a:avLst/>
          </a:prstGeom>
          <a:noFill/>
        </p:spPr>
        <p:txBody>
          <a:bodyPr wrap="square" lIns="0" tIns="0" rIns="0" bIns="0">
            <a:spAutoFit/>
          </a:bodyPr>
          <a:lstStyle/>
          <a:p>
            <a:pPr algn="ctr"/>
            <a:r>
              <a:rPr sz="1500" b="1" i="0">
                <a:solidFill>
                  <a:srgbClr val="000000"/>
                </a:solidFill>
                <a:latin typeface="Cambria"/>
              </a:rPr>
              <a:t>3</a:t>
            </a:r>
          </a:p>
        </p:txBody>
      </p:sp>
      <p:sp>
        <p:nvSpPr>
          <p:cNvPr id="396" name="Rectangle 395"/>
          <p:cNvSpPr/>
          <p:nvPr/>
        </p:nvSpPr>
        <p:spPr>
          <a:xfrm>
            <a:off x="4983480" y="3017520"/>
            <a:ext cx="100584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fuel</a:t>
            </a:r>
          </a:p>
        </p:txBody>
      </p:sp>
      <p:sp>
        <p:nvSpPr>
          <p:cNvPr id="397" name="TextBox 396"/>
          <p:cNvSpPr txBox="1"/>
          <p:nvPr/>
        </p:nvSpPr>
        <p:spPr>
          <a:xfrm>
            <a:off x="4983480" y="3840479"/>
            <a:ext cx="1005840" cy="310896"/>
          </a:xfrm>
          <a:prstGeom prst="rect">
            <a:avLst/>
          </a:prstGeom>
          <a:noFill/>
        </p:spPr>
        <p:txBody>
          <a:bodyPr wrap="square" lIns="0" tIns="0" rIns="0" bIns="0">
            <a:spAutoFit/>
          </a:bodyPr>
          <a:lstStyle/>
          <a:p>
            <a:pPr algn="ctr"/>
            <a:r>
              <a:rPr sz="1500" b="1" i="0">
                <a:solidFill>
                  <a:srgbClr val="000000"/>
                </a:solidFill>
                <a:latin typeface="Cambria"/>
              </a:rPr>
              <a:t>4</a:t>
            </a:r>
          </a:p>
        </p:txBody>
      </p:sp>
      <p:sp>
        <p:nvSpPr>
          <p:cNvPr id="398" name="Rectangle 397"/>
          <p:cNvSpPr/>
          <p:nvPr/>
        </p:nvSpPr>
        <p:spPr>
          <a:xfrm>
            <a:off x="5989320" y="3017520"/>
            <a:ext cx="100584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temp</a:t>
            </a:r>
          </a:p>
        </p:txBody>
      </p:sp>
      <p:sp>
        <p:nvSpPr>
          <p:cNvPr id="399" name="TextBox 398"/>
          <p:cNvSpPr txBox="1"/>
          <p:nvPr/>
        </p:nvSpPr>
        <p:spPr>
          <a:xfrm>
            <a:off x="5989320" y="3840479"/>
            <a:ext cx="1005840" cy="310896"/>
          </a:xfrm>
          <a:prstGeom prst="rect">
            <a:avLst/>
          </a:prstGeom>
          <a:noFill/>
        </p:spPr>
        <p:txBody>
          <a:bodyPr wrap="square" lIns="0" tIns="0" rIns="0" bIns="0">
            <a:spAutoFit/>
          </a:bodyPr>
          <a:lstStyle/>
          <a:p>
            <a:pPr algn="ctr"/>
            <a:r>
              <a:rPr sz="1500" b="1" i="0">
                <a:solidFill>
                  <a:srgbClr val="000000"/>
                </a:solidFill>
                <a:latin typeface="Cambria"/>
              </a:rPr>
              <a:t>5</a:t>
            </a:r>
          </a:p>
        </p:txBody>
      </p:sp>
      <p:sp>
        <p:nvSpPr>
          <p:cNvPr id="400" name="Rectangle 399"/>
          <p:cNvSpPr/>
          <p:nvPr/>
        </p:nvSpPr>
        <p:spPr>
          <a:xfrm>
            <a:off x="6995160" y="3017520"/>
            <a:ext cx="10058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a:t>
            </a:r>
          </a:p>
        </p:txBody>
      </p:sp>
      <p:sp>
        <p:nvSpPr>
          <p:cNvPr id="401" name="TextBox 400"/>
          <p:cNvSpPr txBox="1"/>
          <p:nvPr/>
        </p:nvSpPr>
        <p:spPr>
          <a:xfrm>
            <a:off x="6995160" y="3840479"/>
            <a:ext cx="1005840" cy="310896"/>
          </a:xfrm>
          <a:prstGeom prst="rect">
            <a:avLst/>
          </a:prstGeom>
          <a:noFill/>
        </p:spPr>
        <p:txBody>
          <a:bodyPr wrap="square" lIns="0" tIns="0" rIns="0" bIns="0">
            <a:spAutoFit/>
          </a:bodyPr>
          <a:lstStyle/>
          <a:p>
            <a:pPr algn="ctr"/>
            <a:r>
              <a:rPr sz="1500" b="1" i="0">
                <a:solidFill>
                  <a:srgbClr val="000000"/>
                </a:solidFill>
                <a:latin typeface="Cambria"/>
              </a:rPr>
              <a:t>6</a:t>
            </a:r>
          </a:p>
        </p:txBody>
      </p:sp>
      <p:sp>
        <p:nvSpPr>
          <p:cNvPr id="402" name="Rectangle 401"/>
          <p:cNvSpPr/>
          <p:nvPr/>
        </p:nvSpPr>
        <p:spPr>
          <a:xfrm>
            <a:off x="8001000" y="3017520"/>
            <a:ext cx="100584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a:t>
            </a:r>
          </a:p>
        </p:txBody>
      </p:sp>
      <p:sp>
        <p:nvSpPr>
          <p:cNvPr id="403" name="TextBox 402"/>
          <p:cNvSpPr txBox="1"/>
          <p:nvPr/>
        </p:nvSpPr>
        <p:spPr>
          <a:xfrm>
            <a:off x="8001000" y="3840479"/>
            <a:ext cx="1005840" cy="310896"/>
          </a:xfrm>
          <a:prstGeom prst="rect">
            <a:avLst/>
          </a:prstGeom>
          <a:noFill/>
        </p:spPr>
        <p:txBody>
          <a:bodyPr wrap="square" lIns="0" tIns="0" rIns="0" bIns="0">
            <a:spAutoFit/>
          </a:bodyPr>
          <a:lstStyle/>
          <a:p>
            <a:pPr algn="ctr"/>
            <a:r>
              <a:rPr sz="1500" b="1" i="0">
                <a:solidFill>
                  <a:srgbClr val="000000"/>
                </a:solidFill>
                <a:latin typeface="Cambria"/>
              </a:rPr>
              <a:t>7</a:t>
            </a:r>
          </a:p>
        </p:txBody>
      </p:sp>
      <p:cxnSp>
        <p:nvCxnSpPr>
          <p:cNvPr id="404" name="Connector 403"/>
          <p:cNvCxnSpPr/>
          <p:nvPr/>
        </p:nvCxnSpPr>
        <p:spPr>
          <a:xfrm>
            <a:off x="4480560" y="2816351"/>
            <a:ext cx="1005840"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5486400" y="2816351"/>
            <a:ext cx="1005840"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6492240" y="2816351"/>
            <a:ext cx="1005840" cy="0"/>
          </a:xfrm>
          <a:prstGeom prst="line">
            <a:avLst/>
          </a:prstGeom>
          <a:ln w="22225">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7" name="TextBox 406"/>
          <p:cNvSpPr txBox="1"/>
          <p:nvPr/>
        </p:nvSpPr>
        <p:spPr>
          <a:xfrm>
            <a:off x="667512" y="2148840"/>
            <a:ext cx="8778240" cy="310896"/>
          </a:xfrm>
          <a:prstGeom prst="rect">
            <a:avLst/>
          </a:prstGeom>
          <a:noFill/>
        </p:spPr>
        <p:txBody>
          <a:bodyPr wrap="square" lIns="0" tIns="0" rIns="0" bIns="0">
            <a:spAutoFit/>
          </a:bodyPr>
          <a:lstStyle/>
          <a:p>
            <a:pPr algn="l"/>
            <a:r>
              <a:rPr sz="2100" b="1" i="0">
                <a:solidFill>
                  <a:srgbClr val="000000"/>
                </a:solidFill>
                <a:latin typeface="Cambria"/>
              </a:rPr>
              <a:t>h ( "speed" )  =  3,  but slot 3 is taken</a:t>
            </a:r>
          </a:p>
        </p:txBody>
      </p:sp>
      <p:sp>
        <p:nvSpPr>
          <p:cNvPr id="408" name="TextBox 407"/>
          <p:cNvSpPr txBox="1"/>
          <p:nvPr/>
        </p:nvSpPr>
        <p:spPr>
          <a:xfrm>
            <a:off x="667512" y="4407407"/>
            <a:ext cx="8778240" cy="310896"/>
          </a:xfrm>
          <a:prstGeom prst="rect">
            <a:avLst/>
          </a:prstGeom>
          <a:noFill/>
        </p:spPr>
        <p:txBody>
          <a:bodyPr wrap="square" lIns="0" tIns="0" rIns="0" bIns="0">
            <a:spAutoFit/>
          </a:bodyPr>
          <a:lstStyle/>
          <a:p>
            <a:pPr algn="l"/>
            <a:r>
              <a:rPr sz="2000" b="0" i="0">
                <a:solidFill>
                  <a:srgbClr val="000000"/>
                </a:solidFill>
                <a:latin typeface="Cambria"/>
              </a:rPr>
              <a:t>Try 3, 4, 5, 6 ...  take the </a:t>
            </a:r>
            <a:r>
              <a:rPr sz="2000" b="1" i="0">
                <a:solidFill>
                  <a:srgbClr val="000000"/>
                </a:solidFill>
                <a:latin typeface="Cambria"/>
              </a:rPr>
              <a:t>first empty slot</a:t>
            </a:r>
          </a:p>
        </p:txBody>
      </p:sp>
      <p:sp>
        <p:nvSpPr>
          <p:cNvPr id="409" name="TextBox 408"/>
          <p:cNvSpPr txBox="1"/>
          <p:nvPr/>
        </p:nvSpPr>
        <p:spPr>
          <a:xfrm>
            <a:off x="667512" y="4809744"/>
            <a:ext cx="8778240" cy="310896"/>
          </a:xfrm>
          <a:prstGeom prst="rect">
            <a:avLst/>
          </a:prstGeom>
          <a:noFill/>
        </p:spPr>
        <p:txBody>
          <a:bodyPr wrap="square" lIns="0" tIns="0" rIns="0" bIns="0">
            <a:spAutoFit/>
          </a:bodyPr>
          <a:lstStyle/>
          <a:p>
            <a:pPr algn="l"/>
            <a:r>
              <a:rPr sz="1800" b="0" i="1">
                <a:solidFill>
                  <a:srgbClr val="000000"/>
                </a:solidFill>
                <a:latin typeface="Cambria"/>
              </a:rPr>
              <a:t>Lookup repeats the same walk and stops at the first empty slot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Linear Probing in Code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4114800" algn="l"/>
              </a:tabLst>
            </a:pPr>
            <a:r>
              <a:rPr sz="2000" b="0">
                <a:latin typeface="Cambria"/>
              </a:rPr>
              <a:t>unsigned idx = hash ( key ) % m ;</a:t>
            </a:r>
          </a:p>
          <a:p>
            <a:pPr>
              <a:tabLst>
                <a:tab pos="548640" algn="l"/>
                <a:tab pos="1097280" algn="l"/>
                <a:tab pos="4114800" algn="l"/>
              </a:tabLst>
            </a:pPr>
            <a:r>
              <a:rPr sz="2000">
                <a:latin typeface="Cambria"/>
              </a:rPr>
              <a:t> </a:t>
            </a:r>
          </a:p>
          <a:p>
            <a:pPr>
              <a:tabLst>
                <a:tab pos="548640" algn="l"/>
                <a:tab pos="1097280" algn="l"/>
                <a:tab pos="4114800" algn="l"/>
              </a:tabLst>
            </a:pPr>
            <a:r>
              <a:rPr sz="2000" b="0">
                <a:latin typeface="Cambria"/>
              </a:rPr>
              <a:t>while ( table [ idx ].used ) {</a:t>
            </a:r>
          </a:p>
          <a:p>
            <a:pPr>
              <a:tabLst>
                <a:tab pos="548640" algn="l"/>
                <a:tab pos="1097280" algn="l"/>
                <a:tab pos="4114800" algn="l"/>
              </a:tabLst>
            </a:pPr>
            <a:r>
              <a:rPr sz="2000" b="0">
                <a:latin typeface="Cambria"/>
              </a:rPr>
              <a:t>	if ( strcmp ( table [ idx ].key, key ) == 0 )</a:t>
            </a:r>
          </a:p>
          <a:p>
            <a:pPr>
              <a:tabLst>
                <a:tab pos="548640" algn="l"/>
                <a:tab pos="1097280" algn="l"/>
                <a:tab pos="4114800" algn="l"/>
              </a:tabLst>
            </a:pPr>
            <a:r>
              <a:rPr sz="2000" b="0">
                <a:latin typeface="Cambria"/>
              </a:rPr>
              <a:t>		return idx ;	/* found */</a:t>
            </a:r>
          </a:p>
          <a:p>
            <a:pPr>
              <a:tabLst>
                <a:tab pos="548640" algn="l"/>
                <a:tab pos="1097280" algn="l"/>
                <a:tab pos="4114800" algn="l"/>
              </a:tabLst>
            </a:pPr>
            <a:r>
              <a:rPr sz="2000" b="0">
                <a:latin typeface="Cambria"/>
              </a:rPr>
              <a:t>	idx = ( idx + 1 ) % m ;	/* next slot */</a:t>
            </a:r>
          </a:p>
          <a:p>
            <a:pPr>
              <a:tabLst>
                <a:tab pos="548640" algn="l"/>
                <a:tab pos="1097280" algn="l"/>
                <a:tab pos="4114800" algn="l"/>
              </a:tabLst>
            </a:pPr>
            <a:r>
              <a:rPr sz="2000" b="0">
                <a:latin typeface="Cambria"/>
              </a:rPr>
              <a:t>}</a:t>
            </a:r>
          </a:p>
          <a:p>
            <a:pPr>
              <a:tabLst>
                <a:tab pos="548640" algn="l"/>
                <a:tab pos="1097280" algn="l"/>
                <a:tab pos="4114800" algn="l"/>
              </a:tabLst>
            </a:pPr>
            <a:r>
              <a:rPr sz="2000">
                <a:latin typeface="Cambria"/>
              </a:rPr>
              <a:t> </a:t>
            </a:r>
          </a:p>
          <a:p>
            <a:pPr>
              <a:tabLst>
                <a:tab pos="548640" algn="l"/>
                <a:tab pos="1097280" algn="l"/>
                <a:tab pos="4114800" algn="l"/>
              </a:tabLst>
            </a:pPr>
            <a:r>
              <a:rPr sz="2000" b="0">
                <a:latin typeface="Cambria"/>
              </a:rPr>
              <a:t>return NOT_FOUND ;	/* hit an empty slot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Primary Clustering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Linear probing makes runs of full slots</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A long run gets </a:t>
            </a:r>
            <a:r>
              <a:rPr sz="2400" b="1">
                <a:latin typeface="Cambria"/>
              </a:rPr>
              <a:t>longer</a:t>
            </a:r>
            <a:r>
              <a:rPr sz="2400" b="0">
                <a:latin typeface="Cambria"/>
              </a:rPr>
              <a:t>:</a:t>
            </a:r>
          </a:p>
          <a:p>
            <a:pPr>
              <a:tabLst>
                <a:tab pos="548640" algn="l"/>
                <a:tab pos="1097280" algn="l"/>
                <a:tab pos="1645920" algn="l"/>
                <a:tab pos="2194560" algn="l"/>
              </a:tabLst>
            </a:pPr>
            <a:r>
              <a:rPr sz="2400" b="0">
                <a:latin typeface="Cambria"/>
              </a:rPr>
              <a:t>	any key landing in it walks to the end</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Two clusters that touch become one big one</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Cost grows much faster than  n  does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Quadratic and Double Hashing</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011680" algn="l"/>
              </a:tabLst>
            </a:pPr>
            <a:r>
              <a:rPr sz="2300" b="1">
                <a:latin typeface="Cambria"/>
              </a:rPr>
              <a:t>Linear</a:t>
            </a:r>
            <a:r>
              <a:rPr sz="2300" b="0">
                <a:latin typeface="Cambria"/>
              </a:rPr>
              <a:t>	idx + 1,  idx + 2,  idx + 3 ...</a:t>
            </a:r>
          </a:p>
          <a:p>
            <a:pPr>
              <a:tabLst>
                <a:tab pos="548640" algn="l"/>
                <a:tab pos="2011680" algn="l"/>
              </a:tabLst>
            </a:pPr>
            <a:r>
              <a:rPr sz="2300">
                <a:latin typeface="Cambria"/>
              </a:rPr>
              <a:t> </a:t>
            </a:r>
          </a:p>
          <a:p>
            <a:pPr>
              <a:tabLst>
                <a:tab pos="548640" algn="l"/>
                <a:tab pos="2011680" algn="l"/>
              </a:tabLst>
            </a:pPr>
            <a:r>
              <a:rPr sz="2300" b="1">
                <a:latin typeface="Cambria"/>
              </a:rPr>
              <a:t>Quadratic</a:t>
            </a:r>
            <a:r>
              <a:rPr sz="2300" b="0">
                <a:latin typeface="Cambria"/>
              </a:rPr>
              <a:t>	idx + 1,  idx + 4,  idx + 9 ...</a:t>
            </a:r>
          </a:p>
          <a:p>
            <a:pPr>
              <a:tabLst>
                <a:tab pos="548640" algn="l"/>
                <a:tab pos="2011680" algn="l"/>
              </a:tabLst>
            </a:pPr>
            <a:r>
              <a:rPr sz="2300" b="0">
                <a:latin typeface="Cambria"/>
              </a:rPr>
              <a:t>		breaks up clusters</a:t>
            </a:r>
          </a:p>
          <a:p>
            <a:pPr>
              <a:tabLst>
                <a:tab pos="548640" algn="l"/>
                <a:tab pos="2011680" algn="l"/>
              </a:tabLst>
            </a:pPr>
            <a:r>
              <a:rPr sz="2300">
                <a:latin typeface="Cambria"/>
              </a:rPr>
              <a:t> </a:t>
            </a:r>
          </a:p>
          <a:p>
            <a:pPr>
              <a:tabLst>
                <a:tab pos="548640" algn="l"/>
                <a:tab pos="2011680" algn="l"/>
              </a:tabLst>
            </a:pPr>
            <a:r>
              <a:rPr sz="2300" b="1">
                <a:latin typeface="Cambria"/>
              </a:rPr>
              <a:t>Double</a:t>
            </a:r>
            <a:r>
              <a:rPr sz="2300" b="0">
                <a:latin typeface="Cambria"/>
              </a:rPr>
              <a:t>	idx + 1·h2 ( k ),  idx + 2·h2 ( k ) ...</a:t>
            </a:r>
          </a:p>
          <a:p>
            <a:pPr>
              <a:tabLst>
                <a:tab pos="548640" algn="l"/>
                <a:tab pos="2011680" algn="l"/>
              </a:tabLst>
            </a:pPr>
            <a:r>
              <a:rPr sz="2300" b="0">
                <a:latin typeface="Cambria"/>
              </a:rPr>
              <a:t>		each key gets its own step size</a:t>
            </a:r>
          </a:p>
          <a:p>
            <a:pPr>
              <a:tabLst>
                <a:tab pos="548640" algn="l"/>
                <a:tab pos="2011680" algn="l"/>
              </a:tabLst>
            </a:pPr>
            <a:r>
              <a:rPr sz="2300">
                <a:latin typeface="Cambria"/>
              </a:rPr>
              <a:t> </a:t>
            </a:r>
          </a:p>
          <a:p>
            <a:pPr>
              <a:tabLst>
                <a:tab pos="548640" algn="l"/>
                <a:tab pos="2011680" algn="l"/>
              </a:tabLst>
            </a:pPr>
            <a:r>
              <a:rPr sz="2300" b="0">
                <a:latin typeface="Cambria"/>
              </a:rPr>
              <a:t>h2  must never return 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Deletion and Tombstones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Open addressing cannot just empty a slot</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Lookup stops at the first </a:t>
            </a:r>
            <a:r>
              <a:rPr sz="2300" b="1">
                <a:latin typeface="Cambria"/>
              </a:rPr>
              <a:t>empty</a:t>
            </a:r>
            <a:r>
              <a:rPr sz="2300" b="0">
                <a:latin typeface="Cambria"/>
              </a:rPr>
              <a:t> slot,</a:t>
            </a:r>
          </a:p>
          <a:p>
            <a:pPr>
              <a:tabLst>
                <a:tab pos="548640" algn="l"/>
                <a:tab pos="1097280" algn="l"/>
                <a:tab pos="1645920" algn="l"/>
                <a:tab pos="2194560" algn="l"/>
              </a:tabLst>
            </a:pPr>
            <a:r>
              <a:rPr sz="2300" b="0">
                <a:latin typeface="Cambria"/>
              </a:rPr>
              <a:t>so an emptied slot </a:t>
            </a:r>
            <a:r>
              <a:rPr sz="2300" b="1">
                <a:latin typeface="Cambria"/>
              </a:rPr>
              <a:t>hides</a:t>
            </a:r>
            <a:r>
              <a:rPr sz="2300" b="0">
                <a:latin typeface="Cambria"/>
              </a:rPr>
              <a:t> everything behind it</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Mark it </a:t>
            </a:r>
            <a:r>
              <a:rPr sz="2300" b="1">
                <a:latin typeface="Cambria"/>
              </a:rPr>
              <a:t>DELETED</a:t>
            </a:r>
            <a:r>
              <a:rPr sz="2300" b="0">
                <a:latin typeface="Cambria"/>
              </a:rPr>
              <a:t> instead  -  a </a:t>
            </a:r>
            <a:r>
              <a:rPr sz="2300" b="1">
                <a:latin typeface="Cambria"/>
              </a:rPr>
              <a:t>tombstone</a:t>
            </a:r>
          </a:p>
          <a:p>
            <a:pPr>
              <a:tabLst>
                <a:tab pos="548640" algn="l"/>
                <a:tab pos="1097280" algn="l"/>
                <a:tab pos="1645920" algn="l"/>
                <a:tab pos="2194560" algn="l"/>
              </a:tabLst>
            </a:pPr>
            <a:r>
              <a:rPr sz="2300" b="0">
                <a:latin typeface="Cambria"/>
              </a:rPr>
              <a:t>	probing walks past it</a:t>
            </a:r>
          </a:p>
          <a:p>
            <a:pPr>
              <a:tabLst>
                <a:tab pos="548640" algn="l"/>
                <a:tab pos="1097280" algn="l"/>
                <a:tab pos="1645920" algn="l"/>
                <a:tab pos="2194560" algn="l"/>
              </a:tabLst>
            </a:pPr>
            <a:r>
              <a:rPr sz="2300" b="0">
                <a:latin typeface="Cambria"/>
              </a:rPr>
              <a:t>	insert may reuse it</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Too many tombstones  →  rebuild the table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Load Factor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280160" algn="l"/>
              </a:tabLst>
            </a:pPr>
            <a:r>
              <a:rPr sz="2400">
                <a:latin typeface="Cambria"/>
              </a:rPr>
              <a:t> </a:t>
            </a:r>
          </a:p>
          <a:p>
            <a:pPr>
              <a:tabLst>
                <a:tab pos="1280160" algn="l"/>
              </a:tabLst>
            </a:pPr>
            <a:r>
              <a:rPr sz="2400" b="0">
                <a:latin typeface="Cambria"/>
              </a:rPr>
              <a:t>	α  =  n / m</a:t>
            </a:r>
          </a:p>
          <a:p>
            <a:pPr>
              <a:tabLst>
                <a:tab pos="1280160" algn="l"/>
              </a:tabLst>
            </a:pPr>
            <a:r>
              <a:rPr sz="2400">
                <a:latin typeface="Cambria"/>
              </a:rPr>
              <a:t> </a:t>
            </a:r>
          </a:p>
          <a:p>
            <a:pPr>
              <a:tabLst>
                <a:tab pos="1280160" algn="l"/>
              </a:tabLst>
            </a:pPr>
            <a:r>
              <a:rPr sz="2400" b="0">
                <a:latin typeface="Cambria"/>
              </a:rPr>
              <a:t>n  =  entries stored</a:t>
            </a:r>
          </a:p>
          <a:p>
            <a:pPr>
              <a:tabLst>
                <a:tab pos="1280160" algn="l"/>
              </a:tabLst>
            </a:pPr>
            <a:r>
              <a:rPr sz="2400" b="0">
                <a:latin typeface="Cambria"/>
              </a:rPr>
              <a:t>m  =  buckets available</a:t>
            </a:r>
          </a:p>
          <a:p>
            <a:pPr>
              <a:tabLst>
                <a:tab pos="1280160" algn="l"/>
              </a:tabLst>
            </a:pPr>
            <a:r>
              <a:rPr sz="2400">
                <a:latin typeface="Cambria"/>
              </a:rPr>
              <a:t> </a:t>
            </a:r>
          </a:p>
          <a:p>
            <a:pPr>
              <a:tabLst>
                <a:tab pos="1280160" algn="l"/>
              </a:tabLst>
            </a:pPr>
            <a:r>
              <a:rPr sz="2400" b="0">
                <a:latin typeface="Cambria"/>
              </a:rPr>
              <a:t>α = 0.5	half full</a:t>
            </a:r>
          </a:p>
          <a:p>
            <a:pPr>
              <a:tabLst>
                <a:tab pos="1280160" algn="l"/>
              </a:tabLst>
            </a:pPr>
            <a:r>
              <a:rPr sz="2400" b="0">
                <a:latin typeface="Cambria"/>
              </a:rPr>
              <a:t>α = 1.0	as many entries as buckets</a:t>
            </a:r>
          </a:p>
          <a:p>
            <a:pPr>
              <a:tabLst>
                <a:tab pos="1280160" algn="l"/>
              </a:tabLst>
            </a:pPr>
            <a:r>
              <a:rPr sz="2400">
                <a:latin typeface="Cambria"/>
              </a:rPr>
              <a:t> </a:t>
            </a:r>
          </a:p>
          <a:p>
            <a:pPr>
              <a:tabLst>
                <a:tab pos="1280160" algn="l"/>
              </a:tabLst>
            </a:pPr>
            <a:r>
              <a:rPr sz="2400" b="1">
                <a:latin typeface="Cambria"/>
              </a:rPr>
              <a:t>α  is the one number that predicts speed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Cost of Chaining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3566160" algn="l"/>
              </a:tabLst>
            </a:pPr>
            <a:r>
              <a:rPr sz="2400" b="0">
                <a:latin typeface="Cambria"/>
              </a:rPr>
              <a:t>Average list length  =  </a:t>
            </a:r>
            <a:r>
              <a:rPr sz="2400" b="1">
                <a:latin typeface="Cambria"/>
              </a:rPr>
              <a:t>α</a:t>
            </a:r>
          </a:p>
          <a:p>
            <a:pPr>
              <a:tabLst>
                <a:tab pos="3566160" algn="l"/>
              </a:tabLst>
            </a:pPr>
            <a:r>
              <a:rPr sz="2400">
                <a:latin typeface="Cambria"/>
              </a:rPr>
              <a:t> </a:t>
            </a:r>
          </a:p>
          <a:p>
            <a:pPr>
              <a:tabLst>
                <a:tab pos="3566160" algn="l"/>
              </a:tabLst>
            </a:pPr>
            <a:r>
              <a:rPr sz="2400" b="0">
                <a:latin typeface="Cambria"/>
              </a:rPr>
              <a:t>Successful lookup	≈  1 + α/2   comparisons</a:t>
            </a:r>
          </a:p>
          <a:p>
            <a:pPr>
              <a:tabLst>
                <a:tab pos="3566160" algn="l"/>
              </a:tabLst>
            </a:pPr>
            <a:r>
              <a:rPr sz="2400" b="0">
                <a:latin typeface="Cambria"/>
              </a:rPr>
              <a:t>Unsuccessful lookup	≈  1 + α   comparisons</a:t>
            </a:r>
          </a:p>
          <a:p>
            <a:pPr>
              <a:tabLst>
                <a:tab pos="3566160" algn="l"/>
              </a:tabLst>
            </a:pPr>
            <a:r>
              <a:rPr sz="2400">
                <a:latin typeface="Cambria"/>
              </a:rPr>
              <a:t> </a:t>
            </a:r>
          </a:p>
          <a:p>
            <a:pPr>
              <a:tabLst>
                <a:tab pos="3566160" algn="l"/>
              </a:tabLst>
            </a:pPr>
            <a:r>
              <a:rPr sz="2400" b="0">
                <a:latin typeface="Cambria"/>
              </a:rPr>
              <a:t>Both are	</a:t>
            </a:r>
            <a:r>
              <a:rPr sz="2400" b="1">
                <a:latin typeface="Cambria"/>
              </a:rPr>
              <a:t>O ( 1 + α )</a:t>
            </a:r>
          </a:p>
          <a:p>
            <a:pPr>
              <a:tabLst>
                <a:tab pos="3566160" algn="l"/>
              </a:tabLst>
            </a:pPr>
            <a:r>
              <a:rPr sz="2400">
                <a:latin typeface="Cambria"/>
              </a:rPr>
              <a:t> </a:t>
            </a:r>
          </a:p>
          <a:p>
            <a:pPr>
              <a:tabLst>
                <a:tab pos="3566160" algn="l"/>
              </a:tabLst>
            </a:pPr>
            <a:r>
              <a:rPr sz="2400" b="0">
                <a:latin typeface="Cambria"/>
              </a:rPr>
              <a:t>Keep  α  bounded and this is  </a:t>
            </a:r>
            <a:r>
              <a:rPr sz="2400" b="1">
                <a:latin typeface="Cambria"/>
              </a:rPr>
              <a:t>O ( 1 )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Cost of Linear Probing</a:t>
            </a:r>
            <a:endParaRPr lang="en-US" sz="4400" b="0" u="none" strike="noStrike" dirty="0">
              <a:solidFill>
                <a:srgbClr val="000000"/>
              </a:solidFill>
              <a:effectLst/>
              <a:uFillTx/>
              <a:latin typeface="Arial"/>
            </a:endParaRPr>
          </a:p>
        </p:txBody>
      </p:sp>
      <p:sp>
        <p:nvSpPr>
          <p:cNvPr id="388" name="Rectangle 387"/>
          <p:cNvSpPr/>
          <p:nvPr/>
        </p:nvSpPr>
        <p:spPr>
          <a:xfrm>
            <a:off x="1051560" y="2103120"/>
            <a:ext cx="137160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α</a:t>
            </a:r>
          </a:p>
        </p:txBody>
      </p:sp>
      <p:sp>
        <p:nvSpPr>
          <p:cNvPr id="389" name="Rectangle 388"/>
          <p:cNvSpPr/>
          <p:nvPr/>
        </p:nvSpPr>
        <p:spPr>
          <a:xfrm>
            <a:off x="2423160" y="2103120"/>
            <a:ext cx="201168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Chaining</a:t>
            </a:r>
          </a:p>
        </p:txBody>
      </p:sp>
      <p:sp>
        <p:nvSpPr>
          <p:cNvPr id="390" name="Rectangle 389"/>
          <p:cNvSpPr/>
          <p:nvPr/>
        </p:nvSpPr>
        <p:spPr>
          <a:xfrm>
            <a:off x="4434840" y="2103120"/>
            <a:ext cx="228600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Probing:  hit</a:t>
            </a:r>
          </a:p>
        </p:txBody>
      </p:sp>
      <p:sp>
        <p:nvSpPr>
          <p:cNvPr id="391" name="Rectangle 390"/>
          <p:cNvSpPr/>
          <p:nvPr/>
        </p:nvSpPr>
        <p:spPr>
          <a:xfrm>
            <a:off x="6720840" y="2103120"/>
            <a:ext cx="228600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Probing:  miss</a:t>
            </a:r>
          </a:p>
        </p:txBody>
      </p:sp>
      <p:sp>
        <p:nvSpPr>
          <p:cNvPr id="392" name="Rectangle 391"/>
          <p:cNvSpPr/>
          <p:nvPr/>
        </p:nvSpPr>
        <p:spPr>
          <a:xfrm>
            <a:off x="1051560" y="2706624"/>
            <a:ext cx="137160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0.25</a:t>
            </a:r>
          </a:p>
        </p:txBody>
      </p:sp>
      <p:sp>
        <p:nvSpPr>
          <p:cNvPr id="393" name="Rectangle 392"/>
          <p:cNvSpPr/>
          <p:nvPr/>
        </p:nvSpPr>
        <p:spPr>
          <a:xfrm>
            <a:off x="2423160" y="2706624"/>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1.25</a:t>
            </a:r>
          </a:p>
        </p:txBody>
      </p:sp>
      <p:sp>
        <p:nvSpPr>
          <p:cNvPr id="394" name="Rectangle 393"/>
          <p:cNvSpPr/>
          <p:nvPr/>
        </p:nvSpPr>
        <p:spPr>
          <a:xfrm>
            <a:off x="4434840" y="2706624"/>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1.2</a:t>
            </a:r>
          </a:p>
        </p:txBody>
      </p:sp>
      <p:sp>
        <p:nvSpPr>
          <p:cNvPr id="395" name="Rectangle 394"/>
          <p:cNvSpPr/>
          <p:nvPr/>
        </p:nvSpPr>
        <p:spPr>
          <a:xfrm>
            <a:off x="6720840" y="2706624"/>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1.4</a:t>
            </a:r>
          </a:p>
        </p:txBody>
      </p:sp>
      <p:sp>
        <p:nvSpPr>
          <p:cNvPr id="396" name="Rectangle 395"/>
          <p:cNvSpPr/>
          <p:nvPr/>
        </p:nvSpPr>
        <p:spPr>
          <a:xfrm>
            <a:off x="1051560" y="3310128"/>
            <a:ext cx="137160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0.50</a:t>
            </a:r>
          </a:p>
        </p:txBody>
      </p:sp>
      <p:sp>
        <p:nvSpPr>
          <p:cNvPr id="397" name="Rectangle 396"/>
          <p:cNvSpPr/>
          <p:nvPr/>
        </p:nvSpPr>
        <p:spPr>
          <a:xfrm>
            <a:off x="2423160" y="3310128"/>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1.50</a:t>
            </a:r>
          </a:p>
        </p:txBody>
      </p:sp>
      <p:sp>
        <p:nvSpPr>
          <p:cNvPr id="398" name="Rectangle 397"/>
          <p:cNvSpPr/>
          <p:nvPr/>
        </p:nvSpPr>
        <p:spPr>
          <a:xfrm>
            <a:off x="4434840" y="3310128"/>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1.5</a:t>
            </a:r>
          </a:p>
        </p:txBody>
      </p:sp>
      <p:sp>
        <p:nvSpPr>
          <p:cNvPr id="399" name="Rectangle 398"/>
          <p:cNvSpPr/>
          <p:nvPr/>
        </p:nvSpPr>
        <p:spPr>
          <a:xfrm>
            <a:off x="6720840" y="3310128"/>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2.5</a:t>
            </a:r>
          </a:p>
        </p:txBody>
      </p:sp>
      <p:sp>
        <p:nvSpPr>
          <p:cNvPr id="400" name="Rectangle 399"/>
          <p:cNvSpPr/>
          <p:nvPr/>
        </p:nvSpPr>
        <p:spPr>
          <a:xfrm>
            <a:off x="1051560" y="3913631"/>
            <a:ext cx="137160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0.75</a:t>
            </a:r>
          </a:p>
        </p:txBody>
      </p:sp>
      <p:sp>
        <p:nvSpPr>
          <p:cNvPr id="401" name="Rectangle 400"/>
          <p:cNvSpPr/>
          <p:nvPr/>
        </p:nvSpPr>
        <p:spPr>
          <a:xfrm>
            <a:off x="2423160" y="3913631"/>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1.75</a:t>
            </a:r>
          </a:p>
        </p:txBody>
      </p:sp>
      <p:sp>
        <p:nvSpPr>
          <p:cNvPr id="402" name="Rectangle 401"/>
          <p:cNvSpPr/>
          <p:nvPr/>
        </p:nvSpPr>
        <p:spPr>
          <a:xfrm>
            <a:off x="4434840" y="3913631"/>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2.5</a:t>
            </a:r>
          </a:p>
        </p:txBody>
      </p:sp>
      <p:sp>
        <p:nvSpPr>
          <p:cNvPr id="403" name="Rectangle 402"/>
          <p:cNvSpPr/>
          <p:nvPr/>
        </p:nvSpPr>
        <p:spPr>
          <a:xfrm>
            <a:off x="6720840" y="3913631"/>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8.5</a:t>
            </a:r>
          </a:p>
        </p:txBody>
      </p:sp>
      <p:sp>
        <p:nvSpPr>
          <p:cNvPr id="404" name="Rectangle 403"/>
          <p:cNvSpPr/>
          <p:nvPr/>
        </p:nvSpPr>
        <p:spPr>
          <a:xfrm>
            <a:off x="1051560" y="4517136"/>
            <a:ext cx="137160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0.90</a:t>
            </a:r>
          </a:p>
        </p:txBody>
      </p:sp>
      <p:sp>
        <p:nvSpPr>
          <p:cNvPr id="405" name="Rectangle 404"/>
          <p:cNvSpPr/>
          <p:nvPr/>
        </p:nvSpPr>
        <p:spPr>
          <a:xfrm>
            <a:off x="2423160" y="4517136"/>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1.90</a:t>
            </a:r>
          </a:p>
        </p:txBody>
      </p:sp>
      <p:sp>
        <p:nvSpPr>
          <p:cNvPr id="406" name="Rectangle 405"/>
          <p:cNvSpPr/>
          <p:nvPr/>
        </p:nvSpPr>
        <p:spPr>
          <a:xfrm>
            <a:off x="4434840" y="4517136"/>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5.5</a:t>
            </a:r>
          </a:p>
        </p:txBody>
      </p:sp>
      <p:sp>
        <p:nvSpPr>
          <p:cNvPr id="407" name="Rectangle 406"/>
          <p:cNvSpPr/>
          <p:nvPr/>
        </p:nvSpPr>
        <p:spPr>
          <a:xfrm>
            <a:off x="6720840" y="4517136"/>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50.5</a:t>
            </a:r>
          </a:p>
        </p:txBody>
      </p:sp>
      <p:sp>
        <p:nvSpPr>
          <p:cNvPr id="408" name="Rectangle 407"/>
          <p:cNvSpPr/>
          <p:nvPr/>
        </p:nvSpPr>
        <p:spPr>
          <a:xfrm>
            <a:off x="1051560" y="5120640"/>
            <a:ext cx="137160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0.95</a:t>
            </a:r>
          </a:p>
        </p:txBody>
      </p:sp>
      <p:sp>
        <p:nvSpPr>
          <p:cNvPr id="409" name="Rectangle 408"/>
          <p:cNvSpPr/>
          <p:nvPr/>
        </p:nvSpPr>
        <p:spPr>
          <a:xfrm>
            <a:off x="2423160" y="5120640"/>
            <a:ext cx="201168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1.95</a:t>
            </a:r>
          </a:p>
        </p:txBody>
      </p:sp>
      <p:sp>
        <p:nvSpPr>
          <p:cNvPr id="410" name="Rectangle 409"/>
          <p:cNvSpPr/>
          <p:nvPr/>
        </p:nvSpPr>
        <p:spPr>
          <a:xfrm>
            <a:off x="4434840" y="5120640"/>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10.5</a:t>
            </a:r>
          </a:p>
        </p:txBody>
      </p:sp>
      <p:sp>
        <p:nvSpPr>
          <p:cNvPr id="411" name="Rectangle 410"/>
          <p:cNvSpPr/>
          <p:nvPr/>
        </p:nvSpPr>
        <p:spPr>
          <a:xfrm>
            <a:off x="6720840" y="5120640"/>
            <a:ext cx="22860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200.5</a:t>
            </a:r>
          </a:p>
        </p:txBody>
      </p:sp>
      <p:sp>
        <p:nvSpPr>
          <p:cNvPr id="412" name="TextBox 411"/>
          <p:cNvSpPr txBox="1"/>
          <p:nvPr/>
        </p:nvSpPr>
        <p:spPr>
          <a:xfrm>
            <a:off x="667512" y="6035040"/>
            <a:ext cx="8778240" cy="310896"/>
          </a:xfrm>
          <a:prstGeom prst="rect">
            <a:avLst/>
          </a:prstGeom>
          <a:noFill/>
        </p:spPr>
        <p:txBody>
          <a:bodyPr wrap="square" lIns="0" tIns="0" rIns="0" bIns="0">
            <a:spAutoFit/>
          </a:bodyPr>
          <a:lstStyle/>
          <a:p>
            <a:pPr algn="l"/>
            <a:r>
              <a:rPr sz="1900" b="0" i="1">
                <a:solidFill>
                  <a:srgbClr val="000000"/>
                </a:solidFill>
                <a:latin typeface="Cambria"/>
              </a:rPr>
              <a:t>Average slots touched per lookup</a:t>
            </a:r>
          </a:p>
        </p:txBody>
      </p:sp>
      <p:sp>
        <p:nvSpPr>
          <p:cNvPr id="413" name="TextBox 412"/>
          <p:cNvSpPr txBox="1"/>
          <p:nvPr/>
        </p:nvSpPr>
        <p:spPr>
          <a:xfrm>
            <a:off x="667512" y="6400800"/>
            <a:ext cx="8778240" cy="310896"/>
          </a:xfrm>
          <a:prstGeom prst="rect">
            <a:avLst/>
          </a:prstGeom>
          <a:noFill/>
        </p:spPr>
        <p:txBody>
          <a:bodyPr wrap="square" lIns="0" tIns="0" rIns="0" bIns="0">
            <a:spAutoFit/>
          </a:bodyPr>
          <a:lstStyle/>
          <a:p>
            <a:pPr algn="l"/>
            <a:r>
              <a:rPr sz="1900" b="1" i="0">
                <a:solidFill>
                  <a:srgbClr val="000000"/>
                </a:solidFill>
                <a:latin typeface="Cambria"/>
              </a:rPr>
              <a:t>Linear probing falls apart as the table fills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Practical Rule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280160" algn="l"/>
              </a:tabLst>
            </a:pPr>
            <a:r>
              <a:rPr sz="2400">
                <a:latin typeface="Cambria"/>
              </a:rPr>
              <a:t> </a:t>
            </a:r>
          </a:p>
          <a:p>
            <a:pPr>
              <a:tabLst>
                <a:tab pos="1280160" algn="l"/>
              </a:tabLst>
            </a:pPr>
            <a:r>
              <a:rPr sz="2400" b="0">
                <a:latin typeface="Cambria"/>
              </a:rPr>
              <a:t>Keep	</a:t>
            </a:r>
            <a:r>
              <a:rPr sz="2400" b="1">
                <a:latin typeface="Cambria"/>
              </a:rPr>
              <a:t>α  ≤  0.7</a:t>
            </a:r>
          </a:p>
          <a:p>
            <a:pPr>
              <a:tabLst>
                <a:tab pos="1280160" algn="l"/>
              </a:tabLst>
            </a:pPr>
            <a:r>
              <a:rPr sz="2400">
                <a:latin typeface="Cambria"/>
              </a:rPr>
              <a:t> </a:t>
            </a:r>
          </a:p>
          <a:p>
            <a:pPr>
              <a:tabLst>
                <a:tab pos="1280160" algn="l"/>
              </a:tabLst>
            </a:pPr>
            <a:r>
              <a:rPr sz="2400" b="0">
                <a:latin typeface="Cambria"/>
              </a:rPr>
              <a:t>When the table passes that point:</a:t>
            </a:r>
          </a:p>
          <a:p>
            <a:pPr>
              <a:tabLst>
                <a:tab pos="1280160" algn="l"/>
              </a:tabLst>
            </a:pPr>
            <a:r>
              <a:rPr sz="2400" b="0">
                <a:latin typeface="Cambria"/>
              </a:rPr>
              <a:t>	allocate a </a:t>
            </a:r>
            <a:r>
              <a:rPr sz="2400" b="1">
                <a:latin typeface="Cambria"/>
              </a:rPr>
              <a:t>bigger</a:t>
            </a:r>
            <a:r>
              <a:rPr sz="2400" b="0">
                <a:latin typeface="Cambria"/>
              </a:rPr>
              <a:t> table  ( usually 2× )</a:t>
            </a:r>
          </a:p>
          <a:p>
            <a:pPr>
              <a:tabLst>
                <a:tab pos="1280160" algn="l"/>
              </a:tabLst>
            </a:pPr>
            <a:r>
              <a:rPr sz="2400" b="0">
                <a:latin typeface="Cambria"/>
              </a:rPr>
              <a:t>	</a:t>
            </a:r>
            <a:r>
              <a:rPr sz="2400" b="1">
                <a:latin typeface="Cambria"/>
              </a:rPr>
              <a:t>rehash</a:t>
            </a:r>
            <a:r>
              <a:rPr sz="2400" b="0">
                <a:latin typeface="Cambria"/>
              </a:rPr>
              <a:t> every entry into it</a:t>
            </a:r>
          </a:p>
          <a:p>
            <a:pPr>
              <a:tabLst>
                <a:tab pos="1280160" algn="l"/>
              </a:tabLst>
            </a:pPr>
            <a:r>
              <a:rPr sz="2400" b="0">
                <a:latin typeface="Cambria"/>
              </a:rPr>
              <a:t>	free the old table</a:t>
            </a:r>
          </a:p>
          <a:p>
            <a:pPr>
              <a:tabLst>
                <a:tab pos="1280160" algn="l"/>
              </a:tabLst>
            </a:pPr>
            <a:r>
              <a:rPr sz="2400">
                <a:latin typeface="Cambria"/>
              </a:rPr>
              <a:t> </a:t>
            </a:r>
          </a:p>
          <a:p>
            <a:pPr>
              <a:tabLst>
                <a:tab pos="1280160" algn="l"/>
              </a:tabLst>
            </a:pPr>
            <a:r>
              <a:rPr sz="2400" b="0">
                <a:latin typeface="Cambria"/>
              </a:rPr>
              <a:t>The new  m  changes every index</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Rehashing Is  O ( n )  -  Once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One rehash costs  O ( n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But it doubles the capacity, so it happens</a:t>
            </a:r>
          </a:p>
          <a:p>
            <a:pPr>
              <a:tabLst>
                <a:tab pos="548640" algn="l"/>
                <a:tab pos="1097280" algn="l"/>
                <a:tab pos="1645920" algn="l"/>
                <a:tab pos="2194560" algn="l"/>
              </a:tabLst>
            </a:pPr>
            <a:r>
              <a:rPr sz="2400" b="0">
                <a:latin typeface="Cambria"/>
              </a:rPr>
              <a:t>less and less often:</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	grow at 8, 16, 32, 64, 128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Total cost of  n  inserts  =  </a:t>
            </a:r>
            <a:r>
              <a:rPr sz="2400" b="1">
                <a:latin typeface="Cambria"/>
              </a:rPr>
              <a:t>O ( n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Each insert is  </a:t>
            </a:r>
            <a:r>
              <a:rPr sz="2400" b="1">
                <a:latin typeface="Cambria"/>
              </a:rPr>
              <a:t>O ( 1 )  amortized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Worst Case Is  O ( n )</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737360" algn="l"/>
              </a:tabLst>
            </a:pPr>
            <a:r>
              <a:rPr sz="2400" b="0">
                <a:latin typeface="Cambria"/>
              </a:rPr>
              <a:t>If every key hashes to the </a:t>
            </a:r>
            <a:r>
              <a:rPr sz="2400" b="1">
                <a:latin typeface="Cambria"/>
              </a:rPr>
              <a:t>same</a:t>
            </a:r>
            <a:r>
              <a:rPr sz="2400" b="0">
                <a:latin typeface="Cambria"/>
              </a:rPr>
              <a:t> bucket:</a:t>
            </a:r>
          </a:p>
          <a:p>
            <a:pPr>
              <a:tabLst>
                <a:tab pos="548640" algn="l"/>
                <a:tab pos="1737360" algn="l"/>
              </a:tabLst>
            </a:pPr>
            <a:r>
              <a:rPr sz="2400">
                <a:latin typeface="Cambria"/>
              </a:rPr>
              <a:t> </a:t>
            </a:r>
          </a:p>
          <a:p>
            <a:pPr>
              <a:tabLst>
                <a:tab pos="548640" algn="l"/>
                <a:tab pos="1737360" algn="l"/>
              </a:tabLst>
            </a:pPr>
            <a:r>
              <a:rPr sz="2400" b="0">
                <a:latin typeface="Cambria"/>
              </a:rPr>
              <a:t>	chaining	→  one long linked list</a:t>
            </a:r>
          </a:p>
          <a:p>
            <a:pPr>
              <a:tabLst>
                <a:tab pos="548640" algn="l"/>
                <a:tab pos="1737360" algn="l"/>
              </a:tabLst>
            </a:pPr>
            <a:r>
              <a:rPr sz="2400" b="0">
                <a:latin typeface="Cambria"/>
              </a:rPr>
              <a:t>	probing	→  one long walk</a:t>
            </a:r>
          </a:p>
          <a:p>
            <a:pPr>
              <a:tabLst>
                <a:tab pos="548640" algn="l"/>
                <a:tab pos="1737360" algn="l"/>
              </a:tabLst>
            </a:pPr>
            <a:r>
              <a:rPr sz="2400">
                <a:latin typeface="Cambria"/>
              </a:rPr>
              <a:t> </a:t>
            </a:r>
          </a:p>
          <a:p>
            <a:pPr>
              <a:tabLst>
                <a:tab pos="548640" algn="l"/>
                <a:tab pos="1737360" algn="l"/>
              </a:tabLst>
            </a:pPr>
            <a:r>
              <a:rPr sz="2400" b="0">
                <a:latin typeface="Cambria"/>
              </a:rPr>
              <a:t>Lookup becomes  </a:t>
            </a:r>
            <a:r>
              <a:rPr sz="2400" b="1">
                <a:latin typeface="Cambria"/>
              </a:rPr>
              <a:t>O ( n )</a:t>
            </a:r>
          </a:p>
          <a:p>
            <a:pPr>
              <a:tabLst>
                <a:tab pos="548640" algn="l"/>
                <a:tab pos="1737360" algn="l"/>
              </a:tabLst>
            </a:pPr>
            <a:r>
              <a:rPr sz="2400">
                <a:latin typeface="Cambria"/>
              </a:rPr>
              <a:t> </a:t>
            </a:r>
          </a:p>
          <a:p>
            <a:pPr>
              <a:tabLst>
                <a:tab pos="548640" algn="l"/>
                <a:tab pos="1737360" algn="l"/>
              </a:tabLst>
            </a:pPr>
            <a:r>
              <a:rPr sz="2400" b="0">
                <a:latin typeface="Cambria"/>
              </a:rPr>
              <a:t>A bad hash function turns a hash table</a:t>
            </a:r>
          </a:p>
          <a:p>
            <a:pPr>
              <a:tabLst>
                <a:tab pos="548640" algn="l"/>
                <a:tab pos="1737360" algn="l"/>
              </a:tabLst>
            </a:pPr>
            <a:r>
              <a:rPr sz="2400" b="0">
                <a:latin typeface="Cambria"/>
              </a:rPr>
              <a:t>into a linked list with extra steps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Hash Flooding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An attacker who knows  h  can craft keys</a:t>
            </a:r>
          </a:p>
          <a:p>
            <a:pPr>
              <a:tabLst>
                <a:tab pos="548640" algn="l"/>
                <a:tab pos="1097280" algn="l"/>
                <a:tab pos="1645920" algn="l"/>
                <a:tab pos="2194560" algn="l"/>
              </a:tabLst>
            </a:pPr>
            <a:r>
              <a:rPr sz="2300" b="0">
                <a:latin typeface="Cambria"/>
              </a:rPr>
              <a:t>that </a:t>
            </a:r>
            <a:r>
              <a:rPr sz="2300" b="1">
                <a:latin typeface="Cambria"/>
              </a:rPr>
              <a:t>all</a:t>
            </a:r>
            <a:r>
              <a:rPr sz="2300" b="0">
                <a:latin typeface="Cambria"/>
              </a:rPr>
              <a:t> land in one bucket</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n  requests  →  O ( n² )  work  →  server stalls</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The defence:  a </a:t>
            </a:r>
            <a:r>
              <a:rPr sz="2300" b="1">
                <a:latin typeface="Cambria"/>
              </a:rPr>
              <a:t>random seed</a:t>
            </a:r>
            <a:r>
              <a:rPr sz="2300" b="0">
                <a:latin typeface="Cambria"/>
              </a:rPr>
              <a:t> per process</a:t>
            </a:r>
          </a:p>
          <a:p>
            <a:pPr>
              <a:tabLst>
                <a:tab pos="548640" algn="l"/>
                <a:tab pos="1097280" algn="l"/>
                <a:tab pos="1645920" algn="l"/>
                <a:tab pos="2194560" algn="l"/>
              </a:tabLst>
            </a:pPr>
            <a:r>
              <a:rPr sz="2300" b="0">
                <a:latin typeface="Cambria"/>
              </a:rPr>
              <a:t>	same key hashes differently each run</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Rust does this by default;  C++ does not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Complexity Summary</a:t>
            </a:r>
            <a:endParaRPr lang="en-US" sz="4400" b="0" u="none" strike="noStrike" dirty="0">
              <a:solidFill>
                <a:srgbClr val="000000"/>
              </a:solidFill>
              <a:effectLst/>
              <a:uFillTx/>
              <a:latin typeface="Arial"/>
            </a:endParaRPr>
          </a:p>
        </p:txBody>
      </p:sp>
      <p:sp>
        <p:nvSpPr>
          <p:cNvPr id="388" name="Rectangle 387"/>
          <p:cNvSpPr/>
          <p:nvPr/>
        </p:nvSpPr>
        <p:spPr>
          <a:xfrm>
            <a:off x="1234440" y="2148840"/>
            <a:ext cx="3108960" cy="64008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Operation</a:t>
            </a:r>
          </a:p>
        </p:txBody>
      </p:sp>
      <p:sp>
        <p:nvSpPr>
          <p:cNvPr id="389" name="Rectangle 388"/>
          <p:cNvSpPr/>
          <p:nvPr/>
        </p:nvSpPr>
        <p:spPr>
          <a:xfrm>
            <a:off x="4343400" y="2148840"/>
            <a:ext cx="2377440" cy="64008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Average</a:t>
            </a:r>
          </a:p>
        </p:txBody>
      </p:sp>
      <p:sp>
        <p:nvSpPr>
          <p:cNvPr id="390" name="Rectangle 389"/>
          <p:cNvSpPr/>
          <p:nvPr/>
        </p:nvSpPr>
        <p:spPr>
          <a:xfrm>
            <a:off x="6720840" y="2148840"/>
            <a:ext cx="2377440" cy="64008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Worst case</a:t>
            </a:r>
          </a:p>
        </p:txBody>
      </p:sp>
      <p:sp>
        <p:nvSpPr>
          <p:cNvPr id="391" name="Rectangle 390"/>
          <p:cNvSpPr/>
          <p:nvPr/>
        </p:nvSpPr>
        <p:spPr>
          <a:xfrm>
            <a:off x="1234440" y="2788920"/>
            <a:ext cx="310896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Insert</a:t>
            </a:r>
          </a:p>
        </p:txBody>
      </p:sp>
      <p:sp>
        <p:nvSpPr>
          <p:cNvPr id="392" name="Rectangle 391"/>
          <p:cNvSpPr/>
          <p:nvPr/>
        </p:nvSpPr>
        <p:spPr>
          <a:xfrm>
            <a:off x="4343400" y="278892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( 1 )</a:t>
            </a:r>
          </a:p>
        </p:txBody>
      </p:sp>
      <p:sp>
        <p:nvSpPr>
          <p:cNvPr id="393" name="Rectangle 392"/>
          <p:cNvSpPr/>
          <p:nvPr/>
        </p:nvSpPr>
        <p:spPr>
          <a:xfrm>
            <a:off x="6720840" y="278892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a:t>
            </a:r>
          </a:p>
        </p:txBody>
      </p:sp>
      <p:sp>
        <p:nvSpPr>
          <p:cNvPr id="394" name="Rectangle 393"/>
          <p:cNvSpPr/>
          <p:nvPr/>
        </p:nvSpPr>
        <p:spPr>
          <a:xfrm>
            <a:off x="1234440" y="3429000"/>
            <a:ext cx="310896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Lookup</a:t>
            </a:r>
          </a:p>
        </p:txBody>
      </p:sp>
      <p:sp>
        <p:nvSpPr>
          <p:cNvPr id="395" name="Rectangle 394"/>
          <p:cNvSpPr/>
          <p:nvPr/>
        </p:nvSpPr>
        <p:spPr>
          <a:xfrm>
            <a:off x="4343400" y="342900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( 1 )</a:t>
            </a:r>
          </a:p>
        </p:txBody>
      </p:sp>
      <p:sp>
        <p:nvSpPr>
          <p:cNvPr id="396" name="Rectangle 395"/>
          <p:cNvSpPr/>
          <p:nvPr/>
        </p:nvSpPr>
        <p:spPr>
          <a:xfrm>
            <a:off x="6720840" y="342900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a:t>
            </a:r>
          </a:p>
        </p:txBody>
      </p:sp>
      <p:sp>
        <p:nvSpPr>
          <p:cNvPr id="397" name="Rectangle 396"/>
          <p:cNvSpPr/>
          <p:nvPr/>
        </p:nvSpPr>
        <p:spPr>
          <a:xfrm>
            <a:off x="1234440" y="4069079"/>
            <a:ext cx="310896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Delete</a:t>
            </a:r>
          </a:p>
        </p:txBody>
      </p:sp>
      <p:sp>
        <p:nvSpPr>
          <p:cNvPr id="398" name="Rectangle 397"/>
          <p:cNvSpPr/>
          <p:nvPr/>
        </p:nvSpPr>
        <p:spPr>
          <a:xfrm>
            <a:off x="4343400" y="4069079"/>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( 1 )</a:t>
            </a:r>
          </a:p>
        </p:txBody>
      </p:sp>
      <p:sp>
        <p:nvSpPr>
          <p:cNvPr id="399" name="Rectangle 398"/>
          <p:cNvSpPr/>
          <p:nvPr/>
        </p:nvSpPr>
        <p:spPr>
          <a:xfrm>
            <a:off x="6720840" y="4069079"/>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a:t>
            </a:r>
          </a:p>
        </p:txBody>
      </p:sp>
      <p:sp>
        <p:nvSpPr>
          <p:cNvPr id="400" name="Rectangle 399"/>
          <p:cNvSpPr/>
          <p:nvPr/>
        </p:nvSpPr>
        <p:spPr>
          <a:xfrm>
            <a:off x="1234440" y="4709160"/>
            <a:ext cx="310896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Visit every entry</a:t>
            </a:r>
          </a:p>
        </p:txBody>
      </p:sp>
      <p:sp>
        <p:nvSpPr>
          <p:cNvPr id="401" name="Rectangle 400"/>
          <p:cNvSpPr/>
          <p:nvPr/>
        </p:nvSpPr>
        <p:spPr>
          <a:xfrm>
            <a:off x="4343400" y="470916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 m )</a:t>
            </a:r>
          </a:p>
        </p:txBody>
      </p:sp>
      <p:sp>
        <p:nvSpPr>
          <p:cNvPr id="402" name="Rectangle 401"/>
          <p:cNvSpPr/>
          <p:nvPr/>
        </p:nvSpPr>
        <p:spPr>
          <a:xfrm>
            <a:off x="6720840" y="470916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 m )</a:t>
            </a:r>
          </a:p>
        </p:txBody>
      </p:sp>
      <p:sp>
        <p:nvSpPr>
          <p:cNvPr id="403" name="Rectangle 402"/>
          <p:cNvSpPr/>
          <p:nvPr/>
        </p:nvSpPr>
        <p:spPr>
          <a:xfrm>
            <a:off x="1234440" y="5349240"/>
            <a:ext cx="3108960" cy="6400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Space</a:t>
            </a:r>
          </a:p>
        </p:txBody>
      </p:sp>
      <p:sp>
        <p:nvSpPr>
          <p:cNvPr id="404" name="Rectangle 403"/>
          <p:cNvSpPr/>
          <p:nvPr/>
        </p:nvSpPr>
        <p:spPr>
          <a:xfrm>
            <a:off x="4343400" y="534924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a:t>
            </a:r>
          </a:p>
        </p:txBody>
      </p:sp>
      <p:sp>
        <p:nvSpPr>
          <p:cNvPr id="405" name="Rectangle 404"/>
          <p:cNvSpPr/>
          <p:nvPr/>
        </p:nvSpPr>
        <p:spPr>
          <a:xfrm>
            <a:off x="6720840" y="5349240"/>
            <a:ext cx="2377440" cy="64008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0">
                <a:solidFill>
                  <a:srgbClr val="000000"/>
                </a:solidFill>
                <a:latin typeface="Cambria"/>
              </a:rPr>
              <a:t>O ( n )</a:t>
            </a:r>
          </a:p>
        </p:txBody>
      </p:sp>
      <p:sp>
        <p:nvSpPr>
          <p:cNvPr id="406" name="TextBox 405"/>
          <p:cNvSpPr txBox="1"/>
          <p:nvPr/>
        </p:nvSpPr>
        <p:spPr>
          <a:xfrm>
            <a:off x="667512" y="6263640"/>
            <a:ext cx="8778240" cy="310896"/>
          </a:xfrm>
          <a:prstGeom prst="rect">
            <a:avLst/>
          </a:prstGeom>
          <a:noFill/>
        </p:spPr>
        <p:txBody>
          <a:bodyPr wrap="square" lIns="0" tIns="0" rIns="0" bIns="0">
            <a:spAutoFit/>
          </a:bodyPr>
          <a:lstStyle/>
          <a:p>
            <a:pPr algn="l"/>
            <a:r>
              <a:rPr sz="1900" b="0" i="1">
                <a:solidFill>
                  <a:srgbClr val="000000"/>
                </a:solidFill>
                <a:latin typeface="Cambria"/>
              </a:rPr>
              <a:t>Average assumes a good hash and  α  kept small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Compared With What We Know</a:t>
            </a:r>
            <a:endParaRPr lang="en-US" sz="4400" b="0" u="none" strike="noStrike" dirty="0">
              <a:solidFill>
                <a:srgbClr val="000000"/>
              </a:solidFill>
              <a:effectLst/>
              <a:uFillTx/>
              <a:latin typeface="Arial"/>
            </a:endParaRPr>
          </a:p>
        </p:txBody>
      </p:sp>
      <p:sp>
        <p:nvSpPr>
          <p:cNvPr id="388" name="Rectangle 387"/>
          <p:cNvSpPr/>
          <p:nvPr/>
        </p:nvSpPr>
        <p:spPr>
          <a:xfrm>
            <a:off x="731520" y="2240280"/>
            <a:ext cx="256032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Structure</a:t>
            </a:r>
          </a:p>
        </p:txBody>
      </p:sp>
      <p:sp>
        <p:nvSpPr>
          <p:cNvPr id="389" name="Rectangle 388"/>
          <p:cNvSpPr/>
          <p:nvPr/>
        </p:nvSpPr>
        <p:spPr>
          <a:xfrm>
            <a:off x="3291839" y="2240280"/>
            <a:ext cx="210312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Lookup</a:t>
            </a:r>
          </a:p>
        </p:txBody>
      </p:sp>
      <p:sp>
        <p:nvSpPr>
          <p:cNvPr id="390" name="Rectangle 389"/>
          <p:cNvSpPr/>
          <p:nvPr/>
        </p:nvSpPr>
        <p:spPr>
          <a:xfrm>
            <a:off x="5394959" y="2240280"/>
            <a:ext cx="201168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Sorted order</a:t>
            </a:r>
          </a:p>
        </p:txBody>
      </p:sp>
      <p:sp>
        <p:nvSpPr>
          <p:cNvPr id="391" name="Rectangle 390"/>
          <p:cNvSpPr/>
          <p:nvPr/>
        </p:nvSpPr>
        <p:spPr>
          <a:xfrm>
            <a:off x="7406640" y="2240280"/>
            <a:ext cx="2194560" cy="73152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Extra memory</a:t>
            </a:r>
          </a:p>
        </p:txBody>
      </p:sp>
      <p:sp>
        <p:nvSpPr>
          <p:cNvPr id="392" name="Rectangle 391"/>
          <p:cNvSpPr/>
          <p:nvPr/>
        </p:nvSpPr>
        <p:spPr>
          <a:xfrm>
            <a:off x="731520" y="2971800"/>
            <a:ext cx="256032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Unsorted array</a:t>
            </a:r>
          </a:p>
        </p:txBody>
      </p:sp>
      <p:sp>
        <p:nvSpPr>
          <p:cNvPr id="393" name="Rectangle 392"/>
          <p:cNvSpPr/>
          <p:nvPr/>
        </p:nvSpPr>
        <p:spPr>
          <a:xfrm>
            <a:off x="3291839" y="2971800"/>
            <a:ext cx="210312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n )</a:t>
            </a:r>
          </a:p>
        </p:txBody>
      </p:sp>
      <p:sp>
        <p:nvSpPr>
          <p:cNvPr id="394" name="Rectangle 393"/>
          <p:cNvSpPr/>
          <p:nvPr/>
        </p:nvSpPr>
        <p:spPr>
          <a:xfrm>
            <a:off x="5394959" y="2971800"/>
            <a:ext cx="20116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a:t>
            </a:r>
          </a:p>
        </p:txBody>
      </p:sp>
      <p:sp>
        <p:nvSpPr>
          <p:cNvPr id="395" name="Rectangle 394"/>
          <p:cNvSpPr/>
          <p:nvPr/>
        </p:nvSpPr>
        <p:spPr>
          <a:xfrm>
            <a:off x="7406640" y="2971800"/>
            <a:ext cx="219456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none</a:t>
            </a:r>
          </a:p>
        </p:txBody>
      </p:sp>
      <p:sp>
        <p:nvSpPr>
          <p:cNvPr id="396" name="Rectangle 395"/>
          <p:cNvSpPr/>
          <p:nvPr/>
        </p:nvSpPr>
        <p:spPr>
          <a:xfrm>
            <a:off x="731520" y="3703320"/>
            <a:ext cx="256032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Sorted array</a:t>
            </a:r>
          </a:p>
        </p:txBody>
      </p:sp>
      <p:sp>
        <p:nvSpPr>
          <p:cNvPr id="397" name="Rectangle 396"/>
          <p:cNvSpPr/>
          <p:nvPr/>
        </p:nvSpPr>
        <p:spPr>
          <a:xfrm>
            <a:off x="3291839" y="3703320"/>
            <a:ext cx="210312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log n )</a:t>
            </a:r>
          </a:p>
        </p:txBody>
      </p:sp>
      <p:sp>
        <p:nvSpPr>
          <p:cNvPr id="398" name="Rectangle 397"/>
          <p:cNvSpPr/>
          <p:nvPr/>
        </p:nvSpPr>
        <p:spPr>
          <a:xfrm>
            <a:off x="5394959" y="3703320"/>
            <a:ext cx="20116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yes</a:t>
            </a:r>
          </a:p>
        </p:txBody>
      </p:sp>
      <p:sp>
        <p:nvSpPr>
          <p:cNvPr id="399" name="Rectangle 398"/>
          <p:cNvSpPr/>
          <p:nvPr/>
        </p:nvSpPr>
        <p:spPr>
          <a:xfrm>
            <a:off x="7406640" y="3703320"/>
            <a:ext cx="219456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none</a:t>
            </a:r>
          </a:p>
        </p:txBody>
      </p:sp>
      <p:sp>
        <p:nvSpPr>
          <p:cNvPr id="400" name="Rectangle 399"/>
          <p:cNvSpPr/>
          <p:nvPr/>
        </p:nvSpPr>
        <p:spPr>
          <a:xfrm>
            <a:off x="731520" y="4434840"/>
            <a:ext cx="256032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Balanced tree</a:t>
            </a:r>
          </a:p>
        </p:txBody>
      </p:sp>
      <p:sp>
        <p:nvSpPr>
          <p:cNvPr id="401" name="Rectangle 400"/>
          <p:cNvSpPr/>
          <p:nvPr/>
        </p:nvSpPr>
        <p:spPr>
          <a:xfrm>
            <a:off x="3291839" y="4434840"/>
            <a:ext cx="210312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log n )</a:t>
            </a:r>
          </a:p>
        </p:txBody>
      </p:sp>
      <p:sp>
        <p:nvSpPr>
          <p:cNvPr id="402" name="Rectangle 401"/>
          <p:cNvSpPr/>
          <p:nvPr/>
        </p:nvSpPr>
        <p:spPr>
          <a:xfrm>
            <a:off x="5394959" y="4434840"/>
            <a:ext cx="20116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yes</a:t>
            </a:r>
          </a:p>
        </p:txBody>
      </p:sp>
      <p:sp>
        <p:nvSpPr>
          <p:cNvPr id="403" name="Rectangle 402"/>
          <p:cNvSpPr/>
          <p:nvPr/>
        </p:nvSpPr>
        <p:spPr>
          <a:xfrm>
            <a:off x="7406640" y="4434840"/>
            <a:ext cx="219456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pointers</a:t>
            </a:r>
          </a:p>
        </p:txBody>
      </p:sp>
      <p:sp>
        <p:nvSpPr>
          <p:cNvPr id="404" name="Rectangle 403"/>
          <p:cNvSpPr/>
          <p:nvPr/>
        </p:nvSpPr>
        <p:spPr>
          <a:xfrm>
            <a:off x="731520" y="5166360"/>
            <a:ext cx="2560320" cy="73152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Hash table</a:t>
            </a:r>
          </a:p>
        </p:txBody>
      </p:sp>
      <p:sp>
        <p:nvSpPr>
          <p:cNvPr id="405" name="Rectangle 404"/>
          <p:cNvSpPr/>
          <p:nvPr/>
        </p:nvSpPr>
        <p:spPr>
          <a:xfrm>
            <a:off x="3291839" y="5166360"/>
            <a:ext cx="210312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( 1 )  avg</a:t>
            </a:r>
          </a:p>
        </p:txBody>
      </p:sp>
      <p:sp>
        <p:nvSpPr>
          <p:cNvPr id="406" name="Rectangle 405"/>
          <p:cNvSpPr/>
          <p:nvPr/>
        </p:nvSpPr>
        <p:spPr>
          <a:xfrm>
            <a:off x="5394959" y="5166360"/>
            <a:ext cx="201168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a:t>
            </a:r>
          </a:p>
        </p:txBody>
      </p:sp>
      <p:sp>
        <p:nvSpPr>
          <p:cNvPr id="407" name="Rectangle 406"/>
          <p:cNvSpPr/>
          <p:nvPr/>
        </p:nvSpPr>
        <p:spPr>
          <a:xfrm>
            <a:off x="7406640" y="5166360"/>
            <a:ext cx="2194560" cy="73152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empty buckets</a:t>
            </a:r>
          </a:p>
        </p:txBody>
      </p:sp>
      <p:sp>
        <p:nvSpPr>
          <p:cNvPr id="408" name="TextBox 407"/>
          <p:cNvSpPr txBox="1"/>
          <p:nvPr/>
        </p:nvSpPr>
        <p:spPr>
          <a:xfrm>
            <a:off x="667512" y="6108192"/>
            <a:ext cx="8778240" cy="310896"/>
          </a:xfrm>
          <a:prstGeom prst="rect">
            <a:avLst/>
          </a:prstGeom>
          <a:noFill/>
        </p:spPr>
        <p:txBody>
          <a:bodyPr wrap="square" lIns="0" tIns="0" rIns="0" bIns="0">
            <a:spAutoFit/>
          </a:bodyPr>
          <a:lstStyle/>
          <a:p>
            <a:pPr algn="l"/>
            <a:r>
              <a:rPr sz="2000" b="0" i="0">
                <a:solidFill>
                  <a:srgbClr val="000000"/>
                </a:solidFill>
                <a:latin typeface="Cambria"/>
              </a:rPr>
              <a:t>A hash table trades </a:t>
            </a:r>
            <a:r>
              <a:rPr sz="2000" b="1" i="0">
                <a:solidFill>
                  <a:srgbClr val="000000"/>
                </a:solidFill>
                <a:latin typeface="Cambria"/>
              </a:rPr>
              <a:t>ordering</a:t>
            </a:r>
            <a:r>
              <a:rPr sz="2000" b="0" i="0">
                <a:solidFill>
                  <a:srgbClr val="000000"/>
                </a:solidFill>
                <a:latin typeface="Cambria"/>
              </a:rPr>
              <a:t> for </a:t>
            </a:r>
            <a:r>
              <a:rPr sz="2000" b="1" i="0">
                <a:solidFill>
                  <a:srgbClr val="000000"/>
                </a:solidFill>
                <a:latin typeface="Cambria"/>
              </a:rPr>
              <a:t>speed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Space Complexity</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011680" algn="l"/>
              </a:tabLst>
            </a:pPr>
            <a:r>
              <a:rPr sz="2200" b="0">
                <a:latin typeface="Cambria"/>
              </a:rPr>
              <a:t>A hash table stores  n  entries in  m  buckets</a:t>
            </a:r>
          </a:p>
          <a:p>
            <a:pPr>
              <a:tabLst>
                <a:tab pos="548640" algn="l"/>
                <a:tab pos="2011680" algn="l"/>
              </a:tabLst>
            </a:pPr>
            <a:r>
              <a:rPr sz="2200">
                <a:latin typeface="Cambria"/>
              </a:rPr>
              <a:t> </a:t>
            </a:r>
          </a:p>
          <a:p>
            <a:pPr>
              <a:tabLst>
                <a:tab pos="548640" algn="l"/>
                <a:tab pos="2011680" algn="l"/>
              </a:tabLst>
            </a:pPr>
            <a:r>
              <a:rPr sz="2200" b="0">
                <a:latin typeface="Cambria"/>
              </a:rPr>
              <a:t>	m  &gt;  n  always  ( we keep α ≤ 0.7 )</a:t>
            </a:r>
          </a:p>
          <a:p>
            <a:pPr>
              <a:tabLst>
                <a:tab pos="548640" algn="l"/>
                <a:tab pos="2011680" algn="l"/>
              </a:tabLst>
            </a:pPr>
            <a:r>
              <a:rPr sz="2200">
                <a:latin typeface="Cambria"/>
              </a:rPr>
              <a:t> </a:t>
            </a:r>
          </a:p>
          <a:p>
            <a:pPr>
              <a:tabLst>
                <a:tab pos="548640" algn="l"/>
                <a:tab pos="2011680" algn="l"/>
              </a:tabLst>
            </a:pPr>
            <a:r>
              <a:rPr sz="2200" b="1">
                <a:latin typeface="Cambria"/>
              </a:rPr>
              <a:t>Chaining</a:t>
            </a:r>
            <a:r>
              <a:rPr sz="2200" b="0">
                <a:latin typeface="Cambria"/>
              </a:rPr>
              <a:t>	n entries + m pointers + n next pointers</a:t>
            </a:r>
          </a:p>
          <a:p>
            <a:pPr>
              <a:tabLst>
                <a:tab pos="548640" algn="l"/>
                <a:tab pos="2011680" algn="l"/>
              </a:tabLst>
            </a:pPr>
            <a:r>
              <a:rPr sz="2200" b="1">
                <a:latin typeface="Cambria"/>
              </a:rPr>
              <a:t>Probing</a:t>
            </a:r>
            <a:r>
              <a:rPr sz="2200" b="0">
                <a:latin typeface="Cambria"/>
              </a:rPr>
              <a:t>	m slots, about 30% of them empty</a:t>
            </a:r>
          </a:p>
          <a:p>
            <a:pPr>
              <a:tabLst>
                <a:tab pos="548640" algn="l"/>
                <a:tab pos="2011680" algn="l"/>
              </a:tabLst>
            </a:pPr>
            <a:r>
              <a:rPr sz="2200">
                <a:latin typeface="Cambria"/>
              </a:rPr>
              <a:t> </a:t>
            </a:r>
          </a:p>
          <a:p>
            <a:pPr>
              <a:tabLst>
                <a:tab pos="548640" algn="l"/>
                <a:tab pos="2011680" algn="l"/>
              </a:tabLst>
            </a:pPr>
            <a:r>
              <a:rPr sz="2200" b="0">
                <a:latin typeface="Cambria"/>
              </a:rPr>
              <a:t>Still  </a:t>
            </a:r>
            <a:r>
              <a:rPr sz="2200" b="1">
                <a:latin typeface="Cambria"/>
              </a:rPr>
              <a:t>O ( n )</a:t>
            </a:r>
            <a:r>
              <a:rPr sz="2200" b="0">
                <a:latin typeface="Cambria"/>
              </a:rPr>
              <a:t>  -  but with a real constant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Hash Tables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737360" algn="l"/>
              </a:tabLst>
            </a:pPr>
            <a:r>
              <a:rPr sz="2200" b="0">
                <a:latin typeface="Cambria"/>
              </a:rPr>
              <a:t>The C standard library has </a:t>
            </a:r>
            <a:r>
              <a:rPr sz="2200" b="1">
                <a:latin typeface="Cambria"/>
              </a:rPr>
              <a:t>no</a:t>
            </a:r>
            <a:r>
              <a:rPr sz="2200" b="0">
                <a:latin typeface="Cambria"/>
              </a:rPr>
              <a:t> hash table</a:t>
            </a:r>
          </a:p>
          <a:p>
            <a:pPr>
              <a:tabLst>
                <a:tab pos="548640" algn="l"/>
                <a:tab pos="1737360" algn="l"/>
              </a:tabLst>
            </a:pPr>
            <a:r>
              <a:rPr sz="2200">
                <a:latin typeface="Cambria"/>
              </a:rPr>
              <a:t> </a:t>
            </a:r>
          </a:p>
          <a:p>
            <a:pPr>
              <a:tabLst>
                <a:tab pos="548640" algn="l"/>
                <a:tab pos="1737360" algn="l"/>
              </a:tabLst>
            </a:pPr>
            <a:r>
              <a:rPr sz="2200" b="0">
                <a:latin typeface="Cambria"/>
              </a:rPr>
              <a:t>Your choices:</a:t>
            </a:r>
          </a:p>
          <a:p>
            <a:pPr>
              <a:tabLst>
                <a:tab pos="548640" algn="l"/>
                <a:tab pos="1737360" algn="l"/>
              </a:tabLst>
            </a:pPr>
            <a:r>
              <a:rPr sz="2200" b="0">
                <a:latin typeface="Cambria"/>
              </a:rPr>
              <a:t>	</a:t>
            </a:r>
            <a:r>
              <a:rPr sz="2200" b="1">
                <a:latin typeface="Cambria"/>
              </a:rPr>
              <a:t>write one</a:t>
            </a:r>
            <a:r>
              <a:rPr sz="2200" b="0">
                <a:latin typeface="Cambria"/>
              </a:rPr>
              <a:t>  ( we just did )</a:t>
            </a:r>
          </a:p>
          <a:p>
            <a:pPr>
              <a:tabLst>
                <a:tab pos="548640" algn="l"/>
                <a:tab pos="1737360" algn="l"/>
              </a:tabLst>
            </a:pPr>
            <a:r>
              <a:rPr sz="2200" b="0">
                <a:latin typeface="Cambria"/>
              </a:rPr>
              <a:t>	</a:t>
            </a:r>
            <a:r>
              <a:rPr sz="2200" b="1">
                <a:latin typeface="Cambria"/>
              </a:rPr>
              <a:t>uthash</a:t>
            </a:r>
            <a:r>
              <a:rPr sz="2200" b="0">
                <a:latin typeface="Cambria"/>
              </a:rPr>
              <a:t>	header-only macros</a:t>
            </a:r>
          </a:p>
          <a:p>
            <a:pPr>
              <a:tabLst>
                <a:tab pos="548640" algn="l"/>
                <a:tab pos="1737360" algn="l"/>
              </a:tabLst>
            </a:pPr>
            <a:r>
              <a:rPr sz="2200" b="0">
                <a:latin typeface="Cambria"/>
              </a:rPr>
              <a:t>	</a:t>
            </a:r>
            <a:r>
              <a:rPr sz="2200" b="1">
                <a:latin typeface="Cambria"/>
              </a:rPr>
              <a:t>GLib</a:t>
            </a:r>
            <a:r>
              <a:rPr sz="2200" b="0">
                <a:latin typeface="Cambria"/>
              </a:rPr>
              <a:t>	GHashTable</a:t>
            </a:r>
          </a:p>
          <a:p>
            <a:pPr>
              <a:tabLst>
                <a:tab pos="548640" algn="l"/>
                <a:tab pos="1737360" algn="l"/>
              </a:tabLst>
            </a:pPr>
            <a:r>
              <a:rPr sz="2200" b="0">
                <a:latin typeface="Cambria"/>
              </a:rPr>
              <a:t>	</a:t>
            </a:r>
            <a:r>
              <a:rPr sz="2200" b="1">
                <a:latin typeface="Cambria"/>
              </a:rPr>
              <a:t>POSIX</a:t>
            </a:r>
            <a:r>
              <a:rPr sz="2200" b="0">
                <a:latin typeface="Cambria"/>
              </a:rPr>
              <a:t>	hcreate / hsearch  ( one table only )</a:t>
            </a:r>
          </a:p>
          <a:p>
            <a:pPr>
              <a:tabLst>
                <a:tab pos="548640" algn="l"/>
                <a:tab pos="1737360" algn="l"/>
              </a:tabLst>
            </a:pPr>
            <a:r>
              <a:rPr sz="2200">
                <a:latin typeface="Cambria"/>
              </a:rPr>
              <a:t> </a:t>
            </a:r>
          </a:p>
          <a:p>
            <a:pPr>
              <a:tabLst>
                <a:tab pos="548640" algn="l"/>
                <a:tab pos="1737360" algn="l"/>
              </a:tabLst>
            </a:pPr>
            <a:r>
              <a:rPr sz="2200" b="0">
                <a:latin typeface="Cambria"/>
              </a:rPr>
              <a:t>This is why C programmers know how these work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uthash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103120" algn="l"/>
                <a:tab pos="4297680" algn="l"/>
              </a:tabLst>
            </a:pPr>
            <a:r>
              <a:rPr sz="1900" b="0">
                <a:latin typeface="Cambria"/>
              </a:rPr>
              <a:t>#include "uthash.h"</a:t>
            </a:r>
          </a:p>
          <a:p>
            <a:pPr>
              <a:tabLst>
                <a:tab pos="548640" algn="l"/>
                <a:tab pos="2103120" algn="l"/>
                <a:tab pos="4297680" algn="l"/>
              </a:tabLst>
            </a:pPr>
            <a:r>
              <a:rPr sz="1900">
                <a:latin typeface="Cambria"/>
              </a:rPr>
              <a:t> </a:t>
            </a:r>
          </a:p>
          <a:p>
            <a:pPr>
              <a:tabLst>
                <a:tab pos="548640" algn="l"/>
                <a:tab pos="2103120" algn="l"/>
                <a:tab pos="4297680" algn="l"/>
              </a:tabLst>
            </a:pPr>
            <a:r>
              <a:rPr sz="1900" b="0">
                <a:latin typeface="Cambria"/>
              </a:rPr>
              <a:t>typedef struct reading {</a:t>
            </a:r>
          </a:p>
          <a:p>
            <a:pPr>
              <a:tabLst>
                <a:tab pos="548640" algn="l"/>
                <a:tab pos="2103120" algn="l"/>
                <a:tab pos="4297680" algn="l"/>
              </a:tabLst>
            </a:pPr>
            <a:r>
              <a:rPr sz="1900" b="0">
                <a:latin typeface="Cambria"/>
              </a:rPr>
              <a:t>	char	name [ 32 ] ;	/* the key */</a:t>
            </a:r>
          </a:p>
          <a:p>
            <a:pPr>
              <a:tabLst>
                <a:tab pos="548640" algn="l"/>
                <a:tab pos="2103120" algn="l"/>
                <a:tab pos="4297680" algn="l"/>
              </a:tabLst>
            </a:pPr>
            <a:r>
              <a:rPr sz="1900" b="0">
                <a:latin typeface="Cambria"/>
              </a:rPr>
              <a:t>	int	counts ;</a:t>
            </a:r>
          </a:p>
          <a:p>
            <a:pPr>
              <a:tabLst>
                <a:tab pos="548640" algn="l"/>
                <a:tab pos="2103120" algn="l"/>
                <a:tab pos="4297680" algn="l"/>
              </a:tabLst>
            </a:pPr>
            <a:r>
              <a:rPr sz="1900" b="0">
                <a:latin typeface="Cambria"/>
              </a:rPr>
              <a:t>	UT_hash_handle  hh ;	/* bookkeeping */</a:t>
            </a:r>
          </a:p>
          <a:p>
            <a:pPr>
              <a:tabLst>
                <a:tab pos="548640" algn="l"/>
                <a:tab pos="2103120" algn="l"/>
                <a:tab pos="4297680" algn="l"/>
              </a:tabLst>
            </a:pPr>
            <a:r>
              <a:rPr sz="1900" b="0">
                <a:latin typeface="Cambria"/>
              </a:rPr>
              <a:t>} reading_t ;</a:t>
            </a:r>
          </a:p>
          <a:p>
            <a:pPr>
              <a:tabLst>
                <a:tab pos="548640" algn="l"/>
                <a:tab pos="2103120" algn="l"/>
                <a:tab pos="4297680" algn="l"/>
              </a:tabLst>
            </a:pPr>
            <a:r>
              <a:rPr sz="1900">
                <a:latin typeface="Cambria"/>
              </a:rPr>
              <a:t> </a:t>
            </a:r>
          </a:p>
          <a:p>
            <a:pPr>
              <a:tabLst>
                <a:tab pos="548640" algn="l"/>
                <a:tab pos="2103120" algn="l"/>
                <a:tab pos="4297680" algn="l"/>
              </a:tabLst>
            </a:pPr>
            <a:r>
              <a:rPr sz="1900" b="0">
                <a:latin typeface="Cambria"/>
              </a:rPr>
              <a:t>reading_t *readingsG = NULL ;</a:t>
            </a:r>
          </a:p>
          <a:p>
            <a:pPr>
              <a:tabLst>
                <a:tab pos="548640" algn="l"/>
                <a:tab pos="2103120" algn="l"/>
                <a:tab pos="4297680" algn="l"/>
              </a:tabLst>
            </a:pPr>
            <a:r>
              <a:rPr sz="1900" b="0">
                <a:latin typeface="Cambria"/>
              </a:rPr>
              <a:t>HASH_ADD_STR ( readingsG, name, r ) ;</a:t>
            </a:r>
          </a:p>
          <a:p>
            <a:pPr>
              <a:tabLst>
                <a:tab pos="548640" algn="l"/>
                <a:tab pos="2103120" algn="l"/>
                <a:tab pos="4297680" algn="l"/>
              </a:tabLst>
            </a:pPr>
            <a:r>
              <a:rPr sz="1900" b="0">
                <a:latin typeface="Cambria"/>
              </a:rPr>
              <a:t>HASH_FIND_STR ( readingsG, "oil_pressure", r )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  std::unordered_map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100" b="0">
                <a:latin typeface="Cambria"/>
              </a:rPr>
              <a:t>#include &lt;unordered_map&gt;</a:t>
            </a:r>
          </a:p>
          <a:p>
            <a:pPr>
              <a:tabLst>
                <a:tab pos="548640" algn="l"/>
                <a:tab pos="1097280" algn="l"/>
                <a:tab pos="1645920" algn="l"/>
                <a:tab pos="2194560" algn="l"/>
              </a:tabLst>
            </a:pPr>
            <a:r>
              <a:rPr sz="2100" b="0">
                <a:latin typeface="Cambria"/>
              </a:rPr>
              <a:t>#include &lt;string&gt;</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std::unordered_map &lt; std::string, int &gt;  readings ;</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readings [ "oil_pressure" ]  =  1456 ;</a:t>
            </a:r>
          </a:p>
          <a:p>
            <a:pPr>
              <a:tabLst>
                <a:tab pos="548640" algn="l"/>
                <a:tab pos="1097280" algn="l"/>
                <a:tab pos="1645920" algn="l"/>
                <a:tab pos="2194560" algn="l"/>
              </a:tabLst>
            </a:pPr>
            <a:r>
              <a:rPr sz="2100" b="0">
                <a:latin typeface="Cambria"/>
              </a:rPr>
              <a:t>readings [ "coolant_temp" ]  =  2011 ;</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int c = readings [ "oil_pressure" ]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  The  [ ]  Trap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371600" algn="l"/>
              </a:tabLst>
            </a:pPr>
            <a:r>
              <a:rPr sz="2000" b="0">
                <a:latin typeface="Cambria"/>
              </a:rPr>
              <a:t>if ( readings [ "rpm" ] == 0 )   ...</a:t>
            </a:r>
          </a:p>
          <a:p>
            <a:pPr>
              <a:tabLst>
                <a:tab pos="548640" algn="l"/>
                <a:tab pos="1371600" algn="l"/>
              </a:tabLst>
            </a:pPr>
            <a:r>
              <a:rPr sz="2000">
                <a:latin typeface="Cambria"/>
              </a:rPr>
              <a:t> </a:t>
            </a:r>
          </a:p>
          <a:p>
            <a:pPr>
              <a:tabLst>
                <a:tab pos="548640" algn="l"/>
                <a:tab pos="1371600" algn="l"/>
              </a:tabLst>
            </a:pPr>
            <a:r>
              <a:rPr sz="2000" b="0">
                <a:latin typeface="Cambria"/>
              </a:rPr>
              <a:t>This </a:t>
            </a:r>
            <a:r>
              <a:rPr sz="2000" b="1">
                <a:latin typeface="Cambria"/>
              </a:rPr>
              <a:t>inserts</a:t>
            </a:r>
            <a:r>
              <a:rPr sz="2000" b="0">
                <a:latin typeface="Cambria"/>
              </a:rPr>
              <a:t>  "rpm"  with value 0</a:t>
            </a:r>
          </a:p>
          <a:p>
            <a:pPr>
              <a:tabLst>
                <a:tab pos="548640" algn="l"/>
                <a:tab pos="1371600" algn="l"/>
              </a:tabLst>
            </a:pPr>
            <a:r>
              <a:rPr sz="2000">
                <a:latin typeface="Cambria"/>
              </a:rPr>
              <a:t> </a:t>
            </a:r>
          </a:p>
          <a:p>
            <a:pPr>
              <a:tabLst>
                <a:tab pos="548640" algn="l"/>
                <a:tab pos="1371600" algn="l"/>
              </a:tabLst>
            </a:pPr>
            <a:r>
              <a:rPr sz="2000" b="0">
                <a:latin typeface="Cambria"/>
              </a:rPr>
              <a:t>To look without inserting:</a:t>
            </a:r>
          </a:p>
          <a:p>
            <a:pPr>
              <a:tabLst>
                <a:tab pos="548640" algn="l"/>
                <a:tab pos="1371600" algn="l"/>
              </a:tabLst>
            </a:pPr>
            <a:r>
              <a:rPr sz="2000" b="0">
                <a:latin typeface="Cambria"/>
              </a:rPr>
              <a:t>	if ( readings.count ( "rpm" ) )  ...</a:t>
            </a:r>
          </a:p>
          <a:p>
            <a:pPr>
              <a:tabLst>
                <a:tab pos="548640" algn="l"/>
                <a:tab pos="1371600" algn="l"/>
              </a:tabLst>
            </a:pPr>
            <a:r>
              <a:rPr sz="2000" b="0">
                <a:latin typeface="Cambria"/>
              </a:rPr>
              <a:t>	auto it = readings.find ( "rpm" ) ;</a:t>
            </a:r>
          </a:p>
          <a:p>
            <a:pPr>
              <a:tabLst>
                <a:tab pos="548640" algn="l"/>
                <a:tab pos="1371600" algn="l"/>
              </a:tabLst>
            </a:pPr>
            <a:r>
              <a:rPr sz="2000" b="0">
                <a:latin typeface="Cambria"/>
              </a:rPr>
              <a:t>	if ( it != readings.end ( ) )  use ( it-&gt;second ) ;</a:t>
            </a:r>
          </a:p>
          <a:p>
            <a:pPr>
              <a:tabLst>
                <a:tab pos="548640" algn="l"/>
                <a:tab pos="1371600" algn="l"/>
              </a:tabLst>
            </a:pPr>
            <a:r>
              <a:rPr sz="2000">
                <a:latin typeface="Cambria"/>
              </a:rPr>
              <a:t> </a:t>
            </a:r>
          </a:p>
          <a:p>
            <a:pPr>
              <a:tabLst>
                <a:tab pos="548640" algn="l"/>
                <a:tab pos="1371600" algn="l"/>
              </a:tabLst>
            </a:pPr>
            <a:r>
              <a:rPr sz="2000" b="0">
                <a:latin typeface="Cambria"/>
              </a:rPr>
              <a:t>C++20:	if ( readings.contains ( "rpm" ) )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C++:  Iterating and Erasing</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3931920" algn="l"/>
              </a:tabLst>
            </a:pPr>
            <a:r>
              <a:rPr sz="2000" b="0">
                <a:latin typeface="Cambria"/>
              </a:rPr>
              <a:t>for ( const auto &amp; [ name, counts ] : readings )</a:t>
            </a:r>
          </a:p>
          <a:p>
            <a:pPr>
              <a:tabLst>
                <a:tab pos="548640" algn="l"/>
                <a:tab pos="3931920" algn="l"/>
              </a:tabLst>
            </a:pPr>
            <a:r>
              <a:rPr sz="2000" b="0">
                <a:latin typeface="Cambria"/>
              </a:rPr>
              <a:t>	std::cout &lt;&lt; name &lt;&lt; " = " &lt;&lt; counts &lt;&lt; "\n" ;</a:t>
            </a:r>
          </a:p>
          <a:p>
            <a:pPr>
              <a:tabLst>
                <a:tab pos="548640" algn="l"/>
                <a:tab pos="3931920" algn="l"/>
              </a:tabLst>
            </a:pPr>
            <a:r>
              <a:rPr sz="2000">
                <a:latin typeface="Cambria"/>
              </a:rPr>
              <a:t> </a:t>
            </a:r>
          </a:p>
          <a:p>
            <a:pPr>
              <a:tabLst>
                <a:tab pos="548640" algn="l"/>
                <a:tab pos="3931920" algn="l"/>
              </a:tabLst>
            </a:pPr>
            <a:r>
              <a:rPr sz="2000" b="0">
                <a:latin typeface="Cambria"/>
              </a:rPr>
              <a:t>readings.erase ( "fuel_level" ) ;</a:t>
            </a:r>
          </a:p>
          <a:p>
            <a:pPr>
              <a:tabLst>
                <a:tab pos="548640" algn="l"/>
                <a:tab pos="3931920" algn="l"/>
              </a:tabLst>
            </a:pPr>
            <a:r>
              <a:rPr sz="2000">
                <a:latin typeface="Cambria"/>
              </a:rPr>
              <a:t> </a:t>
            </a:r>
          </a:p>
          <a:p>
            <a:pPr>
              <a:tabLst>
                <a:tab pos="548640" algn="l"/>
                <a:tab pos="3931920" algn="l"/>
              </a:tabLst>
            </a:pPr>
            <a:r>
              <a:rPr sz="2000" b="0">
                <a:latin typeface="Cambria"/>
              </a:rPr>
              <a:t>readings.reserve ( 1000 ) ;	/* avoid rehashing */</a:t>
            </a:r>
          </a:p>
          <a:p>
            <a:pPr>
              <a:tabLst>
                <a:tab pos="548640" algn="l"/>
                <a:tab pos="3931920" algn="l"/>
              </a:tabLst>
            </a:pPr>
            <a:r>
              <a:rPr sz="2000">
                <a:latin typeface="Cambria"/>
              </a:rPr>
              <a:t> </a:t>
            </a:r>
          </a:p>
          <a:p>
            <a:pPr>
              <a:tabLst>
                <a:tab pos="548640" algn="l"/>
                <a:tab pos="3931920" algn="l"/>
              </a:tabLst>
            </a:pPr>
            <a:r>
              <a:rPr sz="2000" b="0">
                <a:latin typeface="Cambria"/>
              </a:rPr>
              <a:t>readings.load_factor ( ) ;	/* current α */</a:t>
            </a:r>
          </a:p>
          <a:p>
            <a:pPr>
              <a:tabLst>
                <a:tab pos="548640" algn="l"/>
                <a:tab pos="3931920" algn="l"/>
              </a:tabLst>
            </a:pPr>
            <a:r>
              <a:rPr sz="2000" b="0">
                <a:latin typeface="Cambria"/>
              </a:rPr>
              <a:t>readings.max_load_factor ( 0.75f )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  std::unordered_set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#include &lt;unordered_set&gt;</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std::unordered_set &lt; int &gt;  seen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if ( ! seen.insert ( id ).second )</a:t>
            </a:r>
          </a:p>
          <a:p>
            <a:pPr>
              <a:tabLst>
                <a:tab pos="548640" algn="l"/>
                <a:tab pos="1097280" algn="l"/>
                <a:tab pos="1645920" algn="l"/>
                <a:tab pos="2194560" algn="l"/>
              </a:tabLst>
            </a:pPr>
            <a:r>
              <a:rPr sz="2000" b="0">
                <a:latin typeface="Cambria"/>
              </a:rPr>
              <a:t>	std::cout &lt;&lt; "duplicate id\n"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A map with keys and no values</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This is the  O ( n )  duplicate finder from last lecture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C++:  map  vs  unordered_map</a:t>
            </a:r>
            <a:endParaRPr lang="en-US" sz="4000" b="0" u="none" strike="noStrike" dirty="0">
              <a:solidFill>
                <a:srgbClr val="000000"/>
              </a:solidFill>
              <a:effectLst/>
              <a:uFillTx/>
              <a:latin typeface="Arial"/>
            </a:endParaRPr>
          </a:p>
        </p:txBody>
      </p:sp>
      <p:sp>
        <p:nvSpPr>
          <p:cNvPr id="388" name="Rectangle 387"/>
          <p:cNvSpPr/>
          <p:nvPr/>
        </p:nvSpPr>
        <p:spPr>
          <a:xfrm>
            <a:off x="777240" y="2103120"/>
            <a:ext cx="210312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89" name="Rectangle 388"/>
          <p:cNvSpPr/>
          <p:nvPr/>
        </p:nvSpPr>
        <p:spPr>
          <a:xfrm>
            <a:off x="2880360" y="2103120"/>
            <a:ext cx="292608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std::map</a:t>
            </a:r>
          </a:p>
        </p:txBody>
      </p:sp>
      <p:sp>
        <p:nvSpPr>
          <p:cNvPr id="390" name="Rectangle 389"/>
          <p:cNvSpPr/>
          <p:nvPr/>
        </p:nvSpPr>
        <p:spPr>
          <a:xfrm>
            <a:off x="5806440" y="2103120"/>
            <a:ext cx="329184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std::unordered_map</a:t>
            </a:r>
          </a:p>
        </p:txBody>
      </p:sp>
      <p:sp>
        <p:nvSpPr>
          <p:cNvPr id="391" name="Rectangle 390"/>
          <p:cNvSpPr/>
          <p:nvPr/>
        </p:nvSpPr>
        <p:spPr>
          <a:xfrm>
            <a:off x="777240" y="2761487"/>
            <a:ext cx="210312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Structure</a:t>
            </a:r>
          </a:p>
        </p:txBody>
      </p:sp>
      <p:sp>
        <p:nvSpPr>
          <p:cNvPr id="392" name="Rectangle 391"/>
          <p:cNvSpPr/>
          <p:nvPr/>
        </p:nvSpPr>
        <p:spPr>
          <a:xfrm>
            <a:off x="2880360" y="2761487"/>
            <a:ext cx="29260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balanced tree</a:t>
            </a:r>
          </a:p>
        </p:txBody>
      </p:sp>
      <p:sp>
        <p:nvSpPr>
          <p:cNvPr id="393" name="Rectangle 392"/>
          <p:cNvSpPr/>
          <p:nvPr/>
        </p:nvSpPr>
        <p:spPr>
          <a:xfrm>
            <a:off x="5806440" y="2761487"/>
            <a:ext cx="32918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hash table</a:t>
            </a:r>
          </a:p>
        </p:txBody>
      </p:sp>
      <p:sp>
        <p:nvSpPr>
          <p:cNvPr id="394" name="Rectangle 393"/>
          <p:cNvSpPr/>
          <p:nvPr/>
        </p:nvSpPr>
        <p:spPr>
          <a:xfrm>
            <a:off x="777240" y="3419856"/>
            <a:ext cx="210312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Lookup</a:t>
            </a:r>
          </a:p>
        </p:txBody>
      </p:sp>
      <p:sp>
        <p:nvSpPr>
          <p:cNvPr id="395" name="Rectangle 394"/>
          <p:cNvSpPr/>
          <p:nvPr/>
        </p:nvSpPr>
        <p:spPr>
          <a:xfrm>
            <a:off x="2880360" y="3419856"/>
            <a:ext cx="29260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log n )</a:t>
            </a:r>
          </a:p>
        </p:txBody>
      </p:sp>
      <p:sp>
        <p:nvSpPr>
          <p:cNvPr id="396" name="Rectangle 395"/>
          <p:cNvSpPr/>
          <p:nvPr/>
        </p:nvSpPr>
        <p:spPr>
          <a:xfrm>
            <a:off x="5806440" y="3419856"/>
            <a:ext cx="32918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( 1 )  average</a:t>
            </a:r>
          </a:p>
        </p:txBody>
      </p:sp>
      <p:sp>
        <p:nvSpPr>
          <p:cNvPr id="397" name="Rectangle 396"/>
          <p:cNvSpPr/>
          <p:nvPr/>
        </p:nvSpPr>
        <p:spPr>
          <a:xfrm>
            <a:off x="777240" y="4078224"/>
            <a:ext cx="210312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Order</a:t>
            </a:r>
          </a:p>
        </p:txBody>
      </p:sp>
      <p:sp>
        <p:nvSpPr>
          <p:cNvPr id="398" name="Rectangle 397"/>
          <p:cNvSpPr/>
          <p:nvPr/>
        </p:nvSpPr>
        <p:spPr>
          <a:xfrm>
            <a:off x="2880360" y="4078224"/>
            <a:ext cx="29260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sorted by key</a:t>
            </a:r>
          </a:p>
        </p:txBody>
      </p:sp>
      <p:sp>
        <p:nvSpPr>
          <p:cNvPr id="399" name="Rectangle 398"/>
          <p:cNvSpPr/>
          <p:nvPr/>
        </p:nvSpPr>
        <p:spPr>
          <a:xfrm>
            <a:off x="5806440" y="4078224"/>
            <a:ext cx="32918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unspecified</a:t>
            </a:r>
          </a:p>
        </p:txBody>
      </p:sp>
      <p:sp>
        <p:nvSpPr>
          <p:cNvPr id="400" name="Rectangle 399"/>
          <p:cNvSpPr/>
          <p:nvPr/>
        </p:nvSpPr>
        <p:spPr>
          <a:xfrm>
            <a:off x="777240" y="4736592"/>
            <a:ext cx="210312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Key needs</a:t>
            </a:r>
          </a:p>
        </p:txBody>
      </p:sp>
      <p:sp>
        <p:nvSpPr>
          <p:cNvPr id="401" name="Rectangle 400"/>
          <p:cNvSpPr/>
          <p:nvPr/>
        </p:nvSpPr>
        <p:spPr>
          <a:xfrm>
            <a:off x="2880360" y="4736592"/>
            <a:ext cx="29260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operator &lt;</a:t>
            </a:r>
          </a:p>
        </p:txBody>
      </p:sp>
      <p:sp>
        <p:nvSpPr>
          <p:cNvPr id="402" name="Rectangle 401"/>
          <p:cNvSpPr/>
          <p:nvPr/>
        </p:nvSpPr>
        <p:spPr>
          <a:xfrm>
            <a:off x="5806440" y="4736592"/>
            <a:ext cx="32918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std::hash  +  ==</a:t>
            </a:r>
          </a:p>
        </p:txBody>
      </p:sp>
      <p:sp>
        <p:nvSpPr>
          <p:cNvPr id="403" name="Rectangle 402"/>
          <p:cNvSpPr/>
          <p:nvPr/>
        </p:nvSpPr>
        <p:spPr>
          <a:xfrm>
            <a:off x="777240" y="5394959"/>
            <a:ext cx="210312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Rust name</a:t>
            </a:r>
          </a:p>
        </p:txBody>
      </p:sp>
      <p:sp>
        <p:nvSpPr>
          <p:cNvPr id="404" name="Rectangle 403"/>
          <p:cNvSpPr/>
          <p:nvPr/>
        </p:nvSpPr>
        <p:spPr>
          <a:xfrm>
            <a:off x="2880360" y="5394959"/>
            <a:ext cx="29260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BTreeMap</a:t>
            </a:r>
          </a:p>
        </p:txBody>
      </p:sp>
      <p:sp>
        <p:nvSpPr>
          <p:cNvPr id="405" name="Rectangle 404"/>
          <p:cNvSpPr/>
          <p:nvPr/>
        </p:nvSpPr>
        <p:spPr>
          <a:xfrm>
            <a:off x="5806440" y="5394959"/>
            <a:ext cx="32918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HashMap</a:t>
            </a:r>
          </a:p>
        </p:txBody>
      </p:sp>
      <p:sp>
        <p:nvSpPr>
          <p:cNvPr id="406" name="TextBox 405"/>
          <p:cNvSpPr txBox="1"/>
          <p:nvPr/>
        </p:nvSpPr>
        <p:spPr>
          <a:xfrm>
            <a:off x="777240" y="6263640"/>
            <a:ext cx="8778240" cy="310896"/>
          </a:xfrm>
          <a:prstGeom prst="rect">
            <a:avLst/>
          </a:prstGeom>
          <a:noFill/>
        </p:spPr>
        <p:txBody>
          <a:bodyPr wrap="square" lIns="0" tIns="0" rIns="0" bIns="0">
            <a:spAutoFit/>
          </a:bodyPr>
          <a:lstStyle/>
          <a:p>
            <a:pPr algn="l"/>
            <a:r>
              <a:rPr sz="2000" b="0" i="0">
                <a:solidFill>
                  <a:srgbClr val="000000"/>
                </a:solidFill>
                <a:latin typeface="Cambria"/>
              </a:rPr>
              <a:t>Need keys in order?  Use the tree.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C++:  Hashing Your Own Type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1900" b="0">
                <a:latin typeface="Cambria"/>
              </a:rPr>
              <a:t>struct key_t { int sensor ;  int channel ; } ;</a:t>
            </a:r>
          </a:p>
          <a:p>
            <a:pPr>
              <a:tabLst>
                <a:tab pos="548640" algn="l"/>
                <a:tab pos="1097280" algn="l"/>
                <a:tab pos="1645920" algn="l"/>
                <a:tab pos="2194560" algn="l"/>
              </a:tabLst>
            </a:pPr>
            <a:r>
              <a:rPr sz="1900">
                <a:latin typeface="Cambria"/>
              </a:rPr>
              <a:t> </a:t>
            </a:r>
          </a:p>
          <a:p>
            <a:pPr>
              <a:tabLst>
                <a:tab pos="548640" algn="l"/>
                <a:tab pos="1097280" algn="l"/>
                <a:tab pos="1645920" algn="l"/>
                <a:tab pos="2194560" algn="l"/>
              </a:tabLst>
            </a:pPr>
            <a:r>
              <a:rPr sz="1900" b="0">
                <a:latin typeface="Cambria"/>
              </a:rPr>
              <a:t>template &lt; &gt;  struct std::hash &lt; key_t &gt; {</a:t>
            </a:r>
          </a:p>
          <a:p>
            <a:pPr>
              <a:tabLst>
                <a:tab pos="548640" algn="l"/>
                <a:tab pos="1097280" algn="l"/>
                <a:tab pos="1645920" algn="l"/>
                <a:tab pos="2194560" algn="l"/>
              </a:tabLst>
            </a:pPr>
            <a:r>
              <a:rPr sz="1900" b="0">
                <a:latin typeface="Cambria"/>
              </a:rPr>
              <a:t>	size_t operator ( ) ( const key_t &amp; k ) const {</a:t>
            </a:r>
          </a:p>
          <a:p>
            <a:pPr>
              <a:tabLst>
                <a:tab pos="548640" algn="l"/>
                <a:tab pos="1097280" algn="l"/>
                <a:tab pos="1645920" algn="l"/>
                <a:tab pos="2194560" algn="l"/>
              </a:tabLst>
            </a:pPr>
            <a:r>
              <a:rPr sz="1900" b="0">
                <a:latin typeface="Cambria"/>
              </a:rPr>
              <a:t>		return std::hash&lt;int&gt;{} ( k.sensor ) * 33</a:t>
            </a:r>
          </a:p>
          <a:p>
            <a:pPr>
              <a:tabLst>
                <a:tab pos="548640" algn="l"/>
                <a:tab pos="1097280" algn="l"/>
                <a:tab pos="1645920" algn="l"/>
                <a:tab pos="2194560" algn="l"/>
              </a:tabLst>
            </a:pPr>
            <a:r>
              <a:rPr sz="1900" b="0">
                <a:latin typeface="Cambria"/>
              </a:rPr>
              <a:t>		     ^ std::hash&lt;int&gt;{} ( k.channel ) ;</a:t>
            </a:r>
          </a:p>
          <a:p>
            <a:pPr>
              <a:tabLst>
                <a:tab pos="548640" algn="l"/>
                <a:tab pos="1097280" algn="l"/>
                <a:tab pos="1645920" algn="l"/>
                <a:tab pos="2194560" algn="l"/>
              </a:tabLst>
            </a:pPr>
            <a:r>
              <a:rPr sz="1900" b="0">
                <a:latin typeface="Cambria"/>
              </a:rPr>
              <a:t>	}</a:t>
            </a:r>
          </a:p>
          <a:p>
            <a:pPr>
              <a:tabLst>
                <a:tab pos="548640" algn="l"/>
                <a:tab pos="1097280" algn="l"/>
                <a:tab pos="1645920" algn="l"/>
                <a:tab pos="2194560" algn="l"/>
              </a:tabLst>
            </a:pPr>
            <a:r>
              <a:rPr sz="1900" b="0">
                <a:latin typeface="Cambria"/>
              </a:rPr>
              <a:t>} ;</a:t>
            </a:r>
          </a:p>
          <a:p>
            <a:pPr>
              <a:tabLst>
                <a:tab pos="548640" algn="l"/>
                <a:tab pos="1097280" algn="l"/>
                <a:tab pos="1645920" algn="l"/>
                <a:tab pos="2194560" algn="l"/>
              </a:tabLst>
            </a:pPr>
            <a:r>
              <a:rPr sz="1900">
                <a:latin typeface="Cambria"/>
              </a:rPr>
              <a:t> </a:t>
            </a:r>
          </a:p>
          <a:p>
            <a:pPr>
              <a:tabLst>
                <a:tab pos="548640" algn="l"/>
                <a:tab pos="1097280" algn="l"/>
                <a:tab pos="1645920" algn="l"/>
                <a:tab pos="2194560" algn="l"/>
              </a:tabLst>
            </a:pPr>
            <a:r>
              <a:rPr sz="1900" b="0">
                <a:latin typeface="Cambria"/>
              </a:rPr>
              <a:t>You must also supply  </a:t>
            </a:r>
            <a:r>
              <a:rPr sz="1900" b="1">
                <a:latin typeface="Cambria"/>
              </a:rPr>
              <a:t>operator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HashMap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use std::collections::HashMap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let mut readings : HashMap &lt; String, u16 &gt;  =  HashMap::new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readings.insert ( "oil_pressure".to_string ( ), 1456 )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if let Some ( c ) = readings.get ( "oil_pressure" ) {</a:t>
            </a:r>
          </a:p>
          <a:p>
            <a:pPr>
              <a:tabLst>
                <a:tab pos="548640" algn="l"/>
                <a:tab pos="1097280" algn="l"/>
                <a:tab pos="1645920" algn="l"/>
                <a:tab pos="2194560" algn="l"/>
              </a:tabLst>
            </a:pPr>
            <a:r>
              <a:rPr sz="2000" b="0">
                <a:latin typeface="Cambria"/>
              </a:rPr>
              <a:t>	println! ( "{} counts", c ) ;</a:t>
            </a:r>
          </a:p>
          <a:p>
            <a:pPr>
              <a:tabLst>
                <a:tab pos="548640" algn="l"/>
                <a:tab pos="1097280" algn="l"/>
                <a:tab pos="1645920" algn="l"/>
                <a:tab pos="2194560" algn="l"/>
              </a:tabLst>
            </a:pPr>
            <a:r>
              <a:rPr sz="2000" b="0">
                <a:latin typeface="Cambria"/>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The  entry  API</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Count how many times each command arrives:</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let mut counts : HashMap &lt; &amp; str, u32 &gt;  =  HashMap::new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for cmd in log.iter ( ) {</a:t>
            </a:r>
          </a:p>
          <a:p>
            <a:pPr>
              <a:tabLst>
                <a:tab pos="548640" algn="l"/>
                <a:tab pos="1097280" algn="l"/>
                <a:tab pos="1645920" algn="l"/>
                <a:tab pos="2194560" algn="l"/>
              </a:tabLst>
            </a:pPr>
            <a:r>
              <a:rPr sz="2000" b="0">
                <a:latin typeface="Cambria"/>
              </a:rPr>
              <a:t>	*counts.entry ( cmd ).or_insert ( 0 )  +=  1 ;</a:t>
            </a:r>
          </a:p>
          <a:p>
            <a:pPr>
              <a:tabLst>
                <a:tab pos="548640" algn="l"/>
                <a:tab pos="1097280" algn="l"/>
                <a:tab pos="1645920" algn="l"/>
                <a:tab pos="2194560" algn="l"/>
              </a:tabLst>
            </a:pPr>
            <a:r>
              <a:rPr sz="2000" b="0">
                <a:latin typeface="Cambria"/>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Other  entry  Forms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map.entry ( k ).or_insert_with ( Vec::new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map.entry ( k ).or_default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map.entry ( k ).and_modify ( |v| *v += 1 )</a:t>
            </a:r>
          </a:p>
          <a:p>
            <a:pPr>
              <a:tabLst>
                <a:tab pos="548640" algn="l"/>
                <a:tab pos="1097280" algn="l"/>
                <a:tab pos="1645920" algn="l"/>
                <a:tab pos="2194560" algn="l"/>
              </a:tabLst>
            </a:pPr>
            <a:r>
              <a:rPr sz="2000" b="0">
                <a:latin typeface="Cambria"/>
              </a:rPr>
              <a:t>	.or_insert ( 1 )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or_insert_with  builds the value </a:t>
            </a:r>
            <a:r>
              <a:rPr sz="2000" b="1">
                <a:latin typeface="Cambria"/>
              </a:rPr>
              <a:t>only if needed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HashSet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use std::collections::HashSet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let mut seen : HashSet &lt; u32 &gt;  =  HashSet::new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if ! seen.insert ( id ) {</a:t>
            </a:r>
          </a:p>
          <a:p>
            <a:pPr>
              <a:tabLst>
                <a:tab pos="548640" algn="l"/>
                <a:tab pos="1097280" algn="l"/>
                <a:tab pos="1645920" algn="l"/>
                <a:tab pos="2194560" algn="l"/>
              </a:tabLst>
            </a:pPr>
            <a:r>
              <a:rPr sz="2000" b="0">
                <a:latin typeface="Cambria"/>
              </a:rPr>
              <a:t>	println! ( "duplicate {}", id ) ;</a:t>
            </a:r>
          </a:p>
          <a:p>
            <a:pPr>
              <a:tabLst>
                <a:tab pos="548640" algn="l"/>
                <a:tab pos="1097280" algn="l"/>
                <a:tab pos="1645920" algn="l"/>
                <a:tab pos="2194560" algn="l"/>
              </a:tabLst>
            </a:pPr>
            <a:r>
              <a:rPr sz="2000" b="0">
                <a:latin typeface="Cambria"/>
              </a:rPr>
              <a:t>}</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insert returns  </a:t>
            </a:r>
            <a:r>
              <a:rPr sz="2000" b="1">
                <a:latin typeface="Cambria"/>
              </a:rPr>
              <a:t>true</a:t>
            </a:r>
            <a:r>
              <a:rPr sz="2000" b="0">
                <a:latin typeface="Cambria"/>
              </a:rPr>
              <a:t>  if the value was new</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Deriving  Hash</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100" b="0">
                <a:latin typeface="Cambria"/>
              </a:rPr>
              <a:t>#[ derive ( Hash, PartialEq, Eq ) ]</a:t>
            </a:r>
          </a:p>
          <a:p>
            <a:pPr>
              <a:tabLst>
                <a:tab pos="548640" algn="l"/>
                <a:tab pos="1097280" algn="l"/>
                <a:tab pos="1645920" algn="l"/>
                <a:tab pos="2194560" algn="l"/>
              </a:tabLst>
            </a:pPr>
            <a:r>
              <a:rPr sz="2100" b="0">
                <a:latin typeface="Cambria"/>
              </a:rPr>
              <a:t>struct Key {</a:t>
            </a:r>
          </a:p>
          <a:p>
            <a:pPr>
              <a:tabLst>
                <a:tab pos="548640" algn="l"/>
                <a:tab pos="1097280" algn="l"/>
                <a:tab pos="1645920" algn="l"/>
                <a:tab pos="2194560" algn="l"/>
              </a:tabLst>
            </a:pPr>
            <a:r>
              <a:rPr sz="2100" b="0">
                <a:latin typeface="Cambria"/>
              </a:rPr>
              <a:t>	sensor : u8,</a:t>
            </a:r>
          </a:p>
          <a:p>
            <a:pPr>
              <a:tabLst>
                <a:tab pos="548640" algn="l"/>
                <a:tab pos="1097280" algn="l"/>
                <a:tab pos="1645920" algn="l"/>
                <a:tab pos="2194560" algn="l"/>
              </a:tabLst>
            </a:pPr>
            <a:r>
              <a:rPr sz="2100" b="0">
                <a:latin typeface="Cambria"/>
              </a:rPr>
              <a:t>	channel : u8,</a:t>
            </a:r>
          </a:p>
          <a:p>
            <a:pPr>
              <a:tabLst>
                <a:tab pos="548640" algn="l"/>
                <a:tab pos="1097280" algn="l"/>
                <a:tab pos="1645920" algn="l"/>
                <a:tab pos="2194560" algn="l"/>
              </a:tabLst>
            </a:pPr>
            <a:r>
              <a:rPr sz="2100" b="0">
                <a:latin typeface="Cambria"/>
              </a:rPr>
              <a:t>}</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Now  Key  can be a </a:t>
            </a:r>
            <a:r>
              <a:rPr sz="2100" b="1">
                <a:latin typeface="Cambria"/>
              </a:rPr>
              <a:t>key</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The compiler writes both, and they </a:t>
            </a:r>
            <a:r>
              <a:rPr sz="2100" b="1">
                <a:latin typeface="Cambria"/>
              </a:rPr>
              <a:t>agree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Rust:  Why  f32  Cannot Be a Key</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200" b="0">
                <a:latin typeface="Cambria"/>
              </a:rPr>
              <a:t>f32  and  f64  do </a:t>
            </a:r>
            <a:r>
              <a:rPr sz="2200" b="1">
                <a:latin typeface="Cambria"/>
              </a:rPr>
              <a:t>not</a:t>
            </a:r>
            <a:r>
              <a:rPr sz="2200" b="0">
                <a:latin typeface="Cambria"/>
              </a:rPr>
              <a:t> implement  Eq</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NaN  !=  NaN</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A key that is not equal to itself can never</a:t>
            </a:r>
          </a:p>
          <a:p>
            <a:pPr>
              <a:tabLst>
                <a:tab pos="548640" algn="l"/>
                <a:tab pos="1097280" algn="l"/>
                <a:tab pos="1645920" algn="l"/>
                <a:tab pos="2194560" algn="l"/>
              </a:tabLst>
            </a:pPr>
            <a:r>
              <a:rPr sz="2200" b="0">
                <a:latin typeface="Cambria"/>
              </a:rPr>
              <a:t>be found again</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Store the </a:t>
            </a:r>
            <a:r>
              <a:rPr sz="2200" b="1">
                <a:latin typeface="Cambria"/>
              </a:rPr>
              <a:t>raw counts</a:t>
            </a:r>
            <a:r>
              <a:rPr sz="2200" b="0">
                <a:latin typeface="Cambria"/>
              </a:rPr>
              <a:t>, not the psi</a:t>
            </a:r>
          </a:p>
          <a:p>
            <a:pPr>
              <a:tabLst>
                <a:tab pos="548640" algn="l"/>
                <a:tab pos="1097280" algn="l"/>
                <a:tab pos="1645920" algn="l"/>
                <a:tab pos="2194560" algn="l"/>
              </a:tabLst>
            </a:pPr>
            <a:r>
              <a:rPr sz="2200" b="0">
                <a:latin typeface="Cambria"/>
              </a:rPr>
              <a:t>	u16 is a key;  f32 is not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Iteration Order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560320" algn="l"/>
              </a:tabLst>
            </a:pPr>
            <a:r>
              <a:rPr sz="2100" b="0">
                <a:latin typeface="Cambria"/>
              </a:rPr>
              <a:t>for ( name, counts ) in &amp;readings {</a:t>
            </a:r>
          </a:p>
          <a:p>
            <a:pPr>
              <a:tabLst>
                <a:tab pos="548640" algn="l"/>
                <a:tab pos="2560320" algn="l"/>
              </a:tabLst>
            </a:pPr>
            <a:r>
              <a:rPr sz="2100" b="0">
                <a:latin typeface="Cambria"/>
              </a:rPr>
              <a:t>	println! ( "{}: {}", name, counts ) ;</a:t>
            </a:r>
          </a:p>
          <a:p>
            <a:pPr>
              <a:tabLst>
                <a:tab pos="548640" algn="l"/>
                <a:tab pos="2560320" algn="l"/>
              </a:tabLst>
            </a:pPr>
            <a:r>
              <a:rPr sz="2100" b="0">
                <a:latin typeface="Cambria"/>
              </a:rPr>
              <a:t>}</a:t>
            </a:r>
          </a:p>
          <a:p>
            <a:pPr>
              <a:tabLst>
                <a:tab pos="548640" algn="l"/>
                <a:tab pos="2560320" algn="l"/>
              </a:tabLst>
            </a:pPr>
            <a:r>
              <a:rPr sz="2100">
                <a:latin typeface="Cambria"/>
              </a:rPr>
              <a:t> </a:t>
            </a:r>
          </a:p>
          <a:p>
            <a:pPr>
              <a:tabLst>
                <a:tab pos="548640" algn="l"/>
                <a:tab pos="2560320" algn="l"/>
              </a:tabLst>
            </a:pPr>
            <a:r>
              <a:rPr sz="2100" b="0">
                <a:latin typeface="Cambria"/>
              </a:rPr>
              <a:t>The order is </a:t>
            </a:r>
            <a:r>
              <a:rPr sz="2100" b="1">
                <a:latin typeface="Cambria"/>
              </a:rPr>
              <a:t>not defined</a:t>
            </a:r>
          </a:p>
          <a:p>
            <a:pPr>
              <a:tabLst>
                <a:tab pos="548640" algn="l"/>
                <a:tab pos="2560320" algn="l"/>
              </a:tabLst>
            </a:pPr>
            <a:r>
              <a:rPr sz="2100" b="0">
                <a:latin typeface="Cambria"/>
              </a:rPr>
              <a:t>and changes between runs</a:t>
            </a:r>
          </a:p>
          <a:p>
            <a:pPr>
              <a:tabLst>
                <a:tab pos="548640" algn="l"/>
                <a:tab pos="2560320" algn="l"/>
              </a:tabLst>
            </a:pPr>
            <a:r>
              <a:rPr sz="2100">
                <a:latin typeface="Cambria"/>
              </a:rPr>
              <a:t> </a:t>
            </a:r>
          </a:p>
          <a:p>
            <a:pPr>
              <a:tabLst>
                <a:tab pos="548640" algn="l"/>
                <a:tab pos="2560320" algn="l"/>
              </a:tabLst>
            </a:pPr>
            <a:r>
              <a:rPr sz="2100" b="0">
                <a:latin typeface="Cambria"/>
              </a:rPr>
              <a:t>Need order?	use  </a:t>
            </a:r>
            <a:r>
              <a:rPr sz="2100" b="1">
                <a:latin typeface="Cambria"/>
              </a:rPr>
              <a:t>BTreeMap</a:t>
            </a:r>
          </a:p>
          <a:p>
            <a:pPr>
              <a:tabLst>
                <a:tab pos="548640" algn="l"/>
                <a:tab pos="2560320" algn="l"/>
              </a:tabLst>
            </a:pPr>
            <a:r>
              <a:rPr sz="2100" b="0">
                <a:latin typeface="Cambria"/>
              </a:rPr>
              <a:t>	or collect and sort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Choosing a Hasher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100" b="0">
                <a:latin typeface="Cambria"/>
              </a:rPr>
              <a:t>Default:  </a:t>
            </a:r>
            <a:r>
              <a:rPr sz="2100" b="1">
                <a:latin typeface="Cambria"/>
              </a:rPr>
              <a:t>SipHash 1-3</a:t>
            </a:r>
            <a:r>
              <a:rPr sz="2100" b="0">
                <a:latin typeface="Cambria"/>
              </a:rPr>
              <a:t>  with a random seed</a:t>
            </a:r>
          </a:p>
          <a:p>
            <a:pPr>
              <a:tabLst>
                <a:tab pos="548640" algn="l"/>
                <a:tab pos="1097280" algn="l"/>
                <a:tab pos="1645920" algn="l"/>
                <a:tab pos="2194560" algn="l"/>
              </a:tabLst>
            </a:pPr>
            <a:r>
              <a:rPr sz="2100" b="0">
                <a:latin typeface="Cambria"/>
              </a:rPr>
              <a:t>	safe against hash flooding</a:t>
            </a:r>
          </a:p>
          <a:p>
            <a:pPr>
              <a:tabLst>
                <a:tab pos="548640" algn="l"/>
                <a:tab pos="1097280" algn="l"/>
                <a:tab pos="1645920" algn="l"/>
                <a:tab pos="2194560" algn="l"/>
              </a:tabLst>
            </a:pPr>
            <a:r>
              <a:rPr sz="2100" b="0">
                <a:latin typeface="Cambria"/>
              </a:rPr>
              <a:t>	not the fastest</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For trusted, internal keys:</a:t>
            </a:r>
          </a:p>
          <a:p>
            <a:pPr>
              <a:tabLst>
                <a:tab pos="548640" algn="l"/>
                <a:tab pos="1097280" algn="l"/>
                <a:tab pos="1645920" algn="l"/>
                <a:tab pos="2194560" algn="l"/>
              </a:tabLst>
            </a:pPr>
            <a:r>
              <a:rPr sz="2100" b="0">
                <a:latin typeface="Cambria"/>
              </a:rPr>
              <a:t>	use rustc_hash::FxHashMap ;</a:t>
            </a:r>
          </a:p>
          <a:p>
            <a:pPr>
              <a:tabLst>
                <a:tab pos="548640" algn="l"/>
                <a:tab pos="1097280" algn="l"/>
                <a:tab pos="1645920" algn="l"/>
                <a:tab pos="2194560" algn="l"/>
              </a:tabLst>
            </a:pPr>
            <a:r>
              <a:rPr sz="2100" b="0">
                <a:latin typeface="Cambria"/>
              </a:rPr>
              <a:t>	use ahash::AHashMap ;</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Same API, different speed/safety trade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Three Languages</a:t>
            </a:r>
            <a:endParaRPr lang="en-US" sz="4400" b="0" u="none" strike="noStrike" dirty="0">
              <a:solidFill>
                <a:srgbClr val="000000"/>
              </a:solidFill>
              <a:effectLst/>
              <a:uFillTx/>
              <a:latin typeface="Arial"/>
            </a:endParaRPr>
          </a:p>
        </p:txBody>
      </p:sp>
      <p:sp>
        <p:nvSpPr>
          <p:cNvPr id="388" name="Rectangle 387"/>
          <p:cNvSpPr/>
          <p:nvPr/>
        </p:nvSpPr>
        <p:spPr>
          <a:xfrm>
            <a:off x="685800" y="2011680"/>
            <a:ext cx="2011680" cy="56692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89" name="Rectangle 388"/>
          <p:cNvSpPr/>
          <p:nvPr/>
        </p:nvSpPr>
        <p:spPr>
          <a:xfrm>
            <a:off x="2697480" y="2011680"/>
            <a:ext cx="1828800" cy="56692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C</a:t>
            </a:r>
          </a:p>
        </p:txBody>
      </p:sp>
      <p:sp>
        <p:nvSpPr>
          <p:cNvPr id="390" name="Rectangle 389"/>
          <p:cNvSpPr/>
          <p:nvPr/>
        </p:nvSpPr>
        <p:spPr>
          <a:xfrm>
            <a:off x="4526280" y="2011680"/>
            <a:ext cx="2560320" cy="56692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C++</a:t>
            </a:r>
          </a:p>
        </p:txBody>
      </p:sp>
      <p:sp>
        <p:nvSpPr>
          <p:cNvPr id="391" name="Rectangle 390"/>
          <p:cNvSpPr/>
          <p:nvPr/>
        </p:nvSpPr>
        <p:spPr>
          <a:xfrm>
            <a:off x="7086600" y="2011680"/>
            <a:ext cx="2377440" cy="56692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Rust</a:t>
            </a:r>
          </a:p>
        </p:txBody>
      </p:sp>
      <p:sp>
        <p:nvSpPr>
          <p:cNvPr id="392" name="Rectangle 391"/>
          <p:cNvSpPr/>
          <p:nvPr/>
        </p:nvSpPr>
        <p:spPr>
          <a:xfrm>
            <a:off x="685800" y="2578608"/>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Hash map</a:t>
            </a:r>
          </a:p>
        </p:txBody>
      </p:sp>
      <p:sp>
        <p:nvSpPr>
          <p:cNvPr id="393" name="Rectangle 392"/>
          <p:cNvSpPr/>
          <p:nvPr/>
        </p:nvSpPr>
        <p:spPr>
          <a:xfrm>
            <a:off x="2697480" y="2578608"/>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none</a:t>
            </a:r>
          </a:p>
        </p:txBody>
      </p:sp>
      <p:sp>
        <p:nvSpPr>
          <p:cNvPr id="394" name="Rectangle 393"/>
          <p:cNvSpPr/>
          <p:nvPr/>
        </p:nvSpPr>
        <p:spPr>
          <a:xfrm>
            <a:off x="4526280" y="2578608"/>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unordered_map</a:t>
            </a:r>
          </a:p>
        </p:txBody>
      </p:sp>
      <p:sp>
        <p:nvSpPr>
          <p:cNvPr id="395" name="Rectangle 394"/>
          <p:cNvSpPr/>
          <p:nvPr/>
        </p:nvSpPr>
        <p:spPr>
          <a:xfrm>
            <a:off x="7086600" y="2578608"/>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HashMap</a:t>
            </a:r>
          </a:p>
        </p:txBody>
      </p:sp>
      <p:sp>
        <p:nvSpPr>
          <p:cNvPr id="396" name="Rectangle 395"/>
          <p:cNvSpPr/>
          <p:nvPr/>
        </p:nvSpPr>
        <p:spPr>
          <a:xfrm>
            <a:off x="685800" y="3145536"/>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Hash set</a:t>
            </a:r>
          </a:p>
        </p:txBody>
      </p:sp>
      <p:sp>
        <p:nvSpPr>
          <p:cNvPr id="397" name="Rectangle 396"/>
          <p:cNvSpPr/>
          <p:nvPr/>
        </p:nvSpPr>
        <p:spPr>
          <a:xfrm>
            <a:off x="2697480" y="3145536"/>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none</a:t>
            </a:r>
          </a:p>
        </p:txBody>
      </p:sp>
      <p:sp>
        <p:nvSpPr>
          <p:cNvPr id="398" name="Rectangle 397"/>
          <p:cNvSpPr/>
          <p:nvPr/>
        </p:nvSpPr>
        <p:spPr>
          <a:xfrm>
            <a:off x="4526280" y="3145536"/>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unordered_set</a:t>
            </a:r>
          </a:p>
        </p:txBody>
      </p:sp>
      <p:sp>
        <p:nvSpPr>
          <p:cNvPr id="399" name="Rectangle 398"/>
          <p:cNvSpPr/>
          <p:nvPr/>
        </p:nvSpPr>
        <p:spPr>
          <a:xfrm>
            <a:off x="7086600" y="3145536"/>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HashSet</a:t>
            </a:r>
          </a:p>
        </p:txBody>
      </p:sp>
      <p:sp>
        <p:nvSpPr>
          <p:cNvPr id="400" name="Rectangle 399"/>
          <p:cNvSpPr/>
          <p:nvPr/>
        </p:nvSpPr>
        <p:spPr>
          <a:xfrm>
            <a:off x="685800" y="3712464"/>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Collisions</a:t>
            </a:r>
          </a:p>
        </p:txBody>
      </p:sp>
      <p:sp>
        <p:nvSpPr>
          <p:cNvPr id="401" name="Rectangle 400"/>
          <p:cNvSpPr/>
          <p:nvPr/>
        </p:nvSpPr>
        <p:spPr>
          <a:xfrm>
            <a:off x="2697480" y="3712464"/>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you choose</a:t>
            </a:r>
          </a:p>
        </p:txBody>
      </p:sp>
      <p:sp>
        <p:nvSpPr>
          <p:cNvPr id="402" name="Rectangle 401"/>
          <p:cNvSpPr/>
          <p:nvPr/>
        </p:nvSpPr>
        <p:spPr>
          <a:xfrm>
            <a:off x="4526280" y="3712464"/>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chaining</a:t>
            </a:r>
          </a:p>
        </p:txBody>
      </p:sp>
      <p:sp>
        <p:nvSpPr>
          <p:cNvPr id="403" name="Rectangle 402"/>
          <p:cNvSpPr/>
          <p:nvPr/>
        </p:nvSpPr>
        <p:spPr>
          <a:xfrm>
            <a:off x="7086600" y="3712464"/>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open addressing</a:t>
            </a:r>
          </a:p>
        </p:txBody>
      </p:sp>
      <p:sp>
        <p:nvSpPr>
          <p:cNvPr id="404" name="Rectangle 403"/>
          <p:cNvSpPr/>
          <p:nvPr/>
        </p:nvSpPr>
        <p:spPr>
          <a:xfrm>
            <a:off x="685800" y="4279392"/>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Default hash</a:t>
            </a:r>
          </a:p>
        </p:txBody>
      </p:sp>
      <p:sp>
        <p:nvSpPr>
          <p:cNvPr id="405" name="Rectangle 404"/>
          <p:cNvSpPr/>
          <p:nvPr/>
        </p:nvSpPr>
        <p:spPr>
          <a:xfrm>
            <a:off x="2697480" y="4279392"/>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you write it</a:t>
            </a:r>
          </a:p>
        </p:txBody>
      </p:sp>
      <p:sp>
        <p:nvSpPr>
          <p:cNvPr id="406" name="Rectangle 405"/>
          <p:cNvSpPr/>
          <p:nvPr/>
        </p:nvSpPr>
        <p:spPr>
          <a:xfrm>
            <a:off x="4526280" y="4279392"/>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std::hash</a:t>
            </a:r>
          </a:p>
        </p:txBody>
      </p:sp>
      <p:sp>
        <p:nvSpPr>
          <p:cNvPr id="407" name="Rectangle 406"/>
          <p:cNvSpPr/>
          <p:nvPr/>
        </p:nvSpPr>
        <p:spPr>
          <a:xfrm>
            <a:off x="7086600" y="4279392"/>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SipHash 1-3</a:t>
            </a:r>
          </a:p>
        </p:txBody>
      </p:sp>
      <p:sp>
        <p:nvSpPr>
          <p:cNvPr id="408" name="Rectangle 407"/>
          <p:cNvSpPr/>
          <p:nvPr/>
        </p:nvSpPr>
        <p:spPr>
          <a:xfrm>
            <a:off x="685800" y="4846320"/>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Random seed</a:t>
            </a:r>
          </a:p>
        </p:txBody>
      </p:sp>
      <p:sp>
        <p:nvSpPr>
          <p:cNvPr id="409" name="Rectangle 408"/>
          <p:cNvSpPr/>
          <p:nvPr/>
        </p:nvSpPr>
        <p:spPr>
          <a:xfrm>
            <a:off x="2697480" y="4846320"/>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no</a:t>
            </a:r>
          </a:p>
        </p:txBody>
      </p:sp>
      <p:sp>
        <p:nvSpPr>
          <p:cNvPr id="410" name="Rectangle 409"/>
          <p:cNvSpPr/>
          <p:nvPr/>
        </p:nvSpPr>
        <p:spPr>
          <a:xfrm>
            <a:off x="4526280" y="4846320"/>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no</a:t>
            </a:r>
          </a:p>
        </p:txBody>
      </p:sp>
      <p:sp>
        <p:nvSpPr>
          <p:cNvPr id="411" name="Rectangle 410"/>
          <p:cNvSpPr/>
          <p:nvPr/>
        </p:nvSpPr>
        <p:spPr>
          <a:xfrm>
            <a:off x="7086600" y="4846320"/>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yes</a:t>
            </a:r>
          </a:p>
        </p:txBody>
      </p:sp>
      <p:sp>
        <p:nvSpPr>
          <p:cNvPr id="412" name="Rectangle 411"/>
          <p:cNvSpPr/>
          <p:nvPr/>
        </p:nvSpPr>
        <p:spPr>
          <a:xfrm>
            <a:off x="685800" y="5413248"/>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Ordered map</a:t>
            </a:r>
          </a:p>
        </p:txBody>
      </p:sp>
      <p:sp>
        <p:nvSpPr>
          <p:cNvPr id="413" name="Rectangle 412"/>
          <p:cNvSpPr/>
          <p:nvPr/>
        </p:nvSpPr>
        <p:spPr>
          <a:xfrm>
            <a:off x="2697480" y="5413248"/>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none</a:t>
            </a:r>
          </a:p>
        </p:txBody>
      </p:sp>
      <p:sp>
        <p:nvSpPr>
          <p:cNvPr id="414" name="Rectangle 413"/>
          <p:cNvSpPr/>
          <p:nvPr/>
        </p:nvSpPr>
        <p:spPr>
          <a:xfrm>
            <a:off x="4526280" y="5413248"/>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std::map</a:t>
            </a:r>
          </a:p>
        </p:txBody>
      </p:sp>
      <p:sp>
        <p:nvSpPr>
          <p:cNvPr id="415" name="Rectangle 414"/>
          <p:cNvSpPr/>
          <p:nvPr/>
        </p:nvSpPr>
        <p:spPr>
          <a:xfrm>
            <a:off x="7086600" y="5413248"/>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BTreeMap</a:t>
            </a:r>
          </a:p>
        </p:txBody>
      </p:sp>
      <p:sp>
        <p:nvSpPr>
          <p:cNvPr id="416" name="Rectangle 415"/>
          <p:cNvSpPr/>
          <p:nvPr/>
        </p:nvSpPr>
        <p:spPr>
          <a:xfrm>
            <a:off x="685800" y="5980176"/>
            <a:ext cx="2011680"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Perfect hash</a:t>
            </a:r>
          </a:p>
        </p:txBody>
      </p:sp>
      <p:sp>
        <p:nvSpPr>
          <p:cNvPr id="417" name="Rectangle 416"/>
          <p:cNvSpPr/>
          <p:nvPr/>
        </p:nvSpPr>
        <p:spPr>
          <a:xfrm>
            <a:off x="2697480" y="5980176"/>
            <a:ext cx="182880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gperf</a:t>
            </a:r>
          </a:p>
        </p:txBody>
      </p:sp>
      <p:sp>
        <p:nvSpPr>
          <p:cNvPr id="418" name="Rectangle 417"/>
          <p:cNvSpPr/>
          <p:nvPr/>
        </p:nvSpPr>
        <p:spPr>
          <a:xfrm>
            <a:off x="4526280" y="5980176"/>
            <a:ext cx="256032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gperf / frozen</a:t>
            </a:r>
          </a:p>
        </p:txBody>
      </p:sp>
      <p:sp>
        <p:nvSpPr>
          <p:cNvPr id="419" name="Rectangle 418"/>
          <p:cNvSpPr/>
          <p:nvPr/>
        </p:nvSpPr>
        <p:spPr>
          <a:xfrm>
            <a:off x="7086600" y="5980176"/>
            <a:ext cx="2377440"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0">
                <a:solidFill>
                  <a:srgbClr val="000000"/>
                </a:solidFill>
                <a:latin typeface="Cambria"/>
              </a:rPr>
              <a:t>phf crate</a:t>
            </a:r>
          </a:p>
        </p:txBody>
      </p:sp>
      <p:sp>
        <p:nvSpPr>
          <p:cNvPr id="420" name="TextBox 419"/>
          <p:cNvSpPr txBox="1"/>
          <p:nvPr/>
        </p:nvSpPr>
        <p:spPr>
          <a:xfrm>
            <a:off x="685800" y="6729984"/>
            <a:ext cx="8778240" cy="310896"/>
          </a:xfrm>
          <a:prstGeom prst="rect">
            <a:avLst/>
          </a:prstGeom>
          <a:noFill/>
        </p:spPr>
        <p:txBody>
          <a:bodyPr wrap="square" lIns="0" tIns="0" rIns="0" bIns="0">
            <a:spAutoFit/>
          </a:bodyPr>
          <a:lstStyle/>
          <a:p>
            <a:pPr algn="l"/>
            <a:r>
              <a:rPr sz="1900" b="0" i="1">
                <a:solidFill>
                  <a:srgbClr val="000000"/>
                </a:solidFill>
                <a:latin typeface="Cambria"/>
              </a:rPr>
              <a:t>C gives you nothing  -  which is why we built 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Perfect Hashing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What if the set of keys is </a:t>
            </a:r>
            <a:r>
              <a:rPr sz="2300" b="1">
                <a:latin typeface="Cambria"/>
              </a:rPr>
              <a:t>known in advance</a:t>
            </a:r>
            <a:r>
              <a:rPr sz="2300" b="0">
                <a:latin typeface="Cambria"/>
              </a:rPr>
              <a:t>?</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Reserved words, opcodes, command names,</a:t>
            </a:r>
          </a:p>
          <a:p>
            <a:pPr>
              <a:tabLst>
                <a:tab pos="548640" algn="l"/>
                <a:tab pos="1097280" algn="l"/>
                <a:tab pos="1645920" algn="l"/>
                <a:tab pos="2194560" algn="l"/>
              </a:tabLst>
            </a:pPr>
            <a:r>
              <a:rPr sz="2300" b="0">
                <a:latin typeface="Cambria"/>
              </a:rPr>
              <a:t>HTTP headers, CSS properties</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Then we can build a hash function with</a:t>
            </a:r>
          </a:p>
          <a:p>
            <a:pPr>
              <a:tabLst>
                <a:tab pos="548640" algn="l"/>
                <a:tab pos="1097280" algn="l"/>
                <a:tab pos="1645920" algn="l"/>
                <a:tab pos="2194560" algn="l"/>
              </a:tabLst>
            </a:pPr>
            <a:r>
              <a:rPr sz="2300" b="1">
                <a:latin typeface="Cambria"/>
              </a:rPr>
              <a:t>no collisions at all</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Lookup becomes  </a:t>
            </a:r>
            <a:r>
              <a:rPr sz="2300" b="1">
                <a:latin typeface="Cambria"/>
              </a:rPr>
              <a:t>O ( 1 )  worst case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Perfect and Minimal</a:t>
            </a:r>
            <a:endParaRPr lang="en-US" sz="4400" b="0" u="none" strike="noStrike" dirty="0">
              <a:solidFill>
                <a:srgbClr val="000000"/>
              </a:solidFill>
              <a:effectLst/>
              <a:uFillTx/>
              <a:latin typeface="Arial"/>
            </a:endParaRPr>
          </a:p>
        </p:txBody>
      </p:sp>
      <p:sp>
        <p:nvSpPr>
          <p:cNvPr id="388" name="Rectangle 387"/>
          <p:cNvSpPr/>
          <p:nvPr/>
        </p:nvSpPr>
        <p:spPr>
          <a:xfrm>
            <a:off x="1188720" y="2697480"/>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"START"</a:t>
            </a:r>
          </a:p>
        </p:txBody>
      </p:sp>
      <p:sp>
        <p:nvSpPr>
          <p:cNvPr id="389" name="TextBox 388"/>
          <p:cNvSpPr txBox="1"/>
          <p:nvPr/>
        </p:nvSpPr>
        <p:spPr>
          <a:xfrm>
            <a:off x="5193792" y="2825496"/>
            <a:ext cx="457200" cy="310896"/>
          </a:xfrm>
          <a:prstGeom prst="rect">
            <a:avLst/>
          </a:prstGeom>
          <a:noFill/>
        </p:spPr>
        <p:txBody>
          <a:bodyPr wrap="square" lIns="0" tIns="0" rIns="0" bIns="0">
            <a:spAutoFit/>
          </a:bodyPr>
          <a:lstStyle/>
          <a:p>
            <a:pPr algn="r"/>
            <a:r>
              <a:rPr sz="1600" b="1" i="0">
                <a:solidFill>
                  <a:srgbClr val="000000"/>
                </a:solidFill>
                <a:latin typeface="Cambria"/>
              </a:rPr>
              <a:t>0</a:t>
            </a:r>
          </a:p>
        </p:txBody>
      </p:sp>
      <p:sp>
        <p:nvSpPr>
          <p:cNvPr id="390" name="Rectangle 389"/>
          <p:cNvSpPr/>
          <p:nvPr/>
        </p:nvSpPr>
        <p:spPr>
          <a:xfrm>
            <a:off x="5760720" y="2697480"/>
            <a:ext cx="21031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Cmd::Start</a:t>
            </a:r>
          </a:p>
        </p:txBody>
      </p:sp>
      <p:cxnSp>
        <p:nvCxnSpPr>
          <p:cNvPr id="391" name="Connector 390"/>
          <p:cNvCxnSpPr/>
          <p:nvPr/>
        </p:nvCxnSpPr>
        <p:spPr>
          <a:xfrm>
            <a:off x="3200400" y="2999232"/>
            <a:ext cx="1920240"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2" name="Rectangle 391"/>
          <p:cNvSpPr/>
          <p:nvPr/>
        </p:nvSpPr>
        <p:spPr>
          <a:xfrm>
            <a:off x="1188720" y="3630168"/>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"STOP"</a:t>
            </a:r>
          </a:p>
        </p:txBody>
      </p:sp>
      <p:sp>
        <p:nvSpPr>
          <p:cNvPr id="393" name="TextBox 392"/>
          <p:cNvSpPr txBox="1"/>
          <p:nvPr/>
        </p:nvSpPr>
        <p:spPr>
          <a:xfrm>
            <a:off x="5193792" y="3758184"/>
            <a:ext cx="457200" cy="310896"/>
          </a:xfrm>
          <a:prstGeom prst="rect">
            <a:avLst/>
          </a:prstGeom>
          <a:noFill/>
        </p:spPr>
        <p:txBody>
          <a:bodyPr wrap="square" lIns="0" tIns="0" rIns="0" bIns="0">
            <a:spAutoFit/>
          </a:bodyPr>
          <a:lstStyle/>
          <a:p>
            <a:pPr algn="r"/>
            <a:r>
              <a:rPr sz="1600" b="1" i="0">
                <a:solidFill>
                  <a:srgbClr val="000000"/>
                </a:solidFill>
                <a:latin typeface="Cambria"/>
              </a:rPr>
              <a:t>1</a:t>
            </a:r>
          </a:p>
        </p:txBody>
      </p:sp>
      <p:sp>
        <p:nvSpPr>
          <p:cNvPr id="394" name="Rectangle 393"/>
          <p:cNvSpPr/>
          <p:nvPr/>
        </p:nvSpPr>
        <p:spPr>
          <a:xfrm>
            <a:off x="5760720" y="3630168"/>
            <a:ext cx="21031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Cmd::Stop</a:t>
            </a:r>
          </a:p>
        </p:txBody>
      </p:sp>
      <p:cxnSp>
        <p:nvCxnSpPr>
          <p:cNvPr id="395" name="Connector 394"/>
          <p:cNvCxnSpPr/>
          <p:nvPr/>
        </p:nvCxnSpPr>
        <p:spPr>
          <a:xfrm>
            <a:off x="3200400" y="3931920"/>
            <a:ext cx="1920240"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6" name="Rectangle 395"/>
          <p:cNvSpPr/>
          <p:nvPr/>
        </p:nvSpPr>
        <p:spPr>
          <a:xfrm>
            <a:off x="1188720" y="4562856"/>
            <a:ext cx="192024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"STATUS"</a:t>
            </a:r>
          </a:p>
        </p:txBody>
      </p:sp>
      <p:sp>
        <p:nvSpPr>
          <p:cNvPr id="397" name="TextBox 396"/>
          <p:cNvSpPr txBox="1"/>
          <p:nvPr/>
        </p:nvSpPr>
        <p:spPr>
          <a:xfrm>
            <a:off x="5193792" y="4690872"/>
            <a:ext cx="457200" cy="310896"/>
          </a:xfrm>
          <a:prstGeom prst="rect">
            <a:avLst/>
          </a:prstGeom>
          <a:noFill/>
        </p:spPr>
        <p:txBody>
          <a:bodyPr wrap="square" lIns="0" tIns="0" rIns="0" bIns="0">
            <a:spAutoFit/>
          </a:bodyPr>
          <a:lstStyle/>
          <a:p>
            <a:pPr algn="r"/>
            <a:r>
              <a:rPr sz="1600" b="1" i="0">
                <a:solidFill>
                  <a:srgbClr val="000000"/>
                </a:solidFill>
                <a:latin typeface="Cambria"/>
              </a:rPr>
              <a:t>2</a:t>
            </a:r>
          </a:p>
        </p:txBody>
      </p:sp>
      <p:sp>
        <p:nvSpPr>
          <p:cNvPr id="398" name="Rectangle 397"/>
          <p:cNvSpPr/>
          <p:nvPr/>
        </p:nvSpPr>
        <p:spPr>
          <a:xfrm>
            <a:off x="5760720" y="4562856"/>
            <a:ext cx="210312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Cmd::Status</a:t>
            </a:r>
          </a:p>
        </p:txBody>
      </p:sp>
      <p:cxnSp>
        <p:nvCxnSpPr>
          <p:cNvPr id="399" name="Connector 398"/>
          <p:cNvCxnSpPr/>
          <p:nvPr/>
        </p:nvCxnSpPr>
        <p:spPr>
          <a:xfrm>
            <a:off x="3200400" y="4864608"/>
            <a:ext cx="1920240"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1188720" y="2295144"/>
            <a:ext cx="1920240" cy="310896"/>
          </a:xfrm>
          <a:prstGeom prst="rect">
            <a:avLst/>
          </a:prstGeom>
          <a:noFill/>
        </p:spPr>
        <p:txBody>
          <a:bodyPr wrap="square" lIns="0" tIns="0" rIns="0" bIns="0">
            <a:spAutoFit/>
          </a:bodyPr>
          <a:lstStyle/>
          <a:p>
            <a:pPr algn="ctr"/>
            <a:r>
              <a:rPr sz="1500" b="1" i="0">
                <a:solidFill>
                  <a:srgbClr val="000000"/>
                </a:solidFill>
                <a:latin typeface="Cambria"/>
              </a:rPr>
              <a:t>keys</a:t>
            </a:r>
          </a:p>
        </p:txBody>
      </p:sp>
      <p:sp>
        <p:nvSpPr>
          <p:cNvPr id="401" name="TextBox 400"/>
          <p:cNvSpPr txBox="1"/>
          <p:nvPr/>
        </p:nvSpPr>
        <p:spPr>
          <a:xfrm>
            <a:off x="5760720" y="2295144"/>
            <a:ext cx="2103120" cy="310896"/>
          </a:xfrm>
          <a:prstGeom prst="rect">
            <a:avLst/>
          </a:prstGeom>
          <a:noFill/>
        </p:spPr>
        <p:txBody>
          <a:bodyPr wrap="square" lIns="0" tIns="0" rIns="0" bIns="0">
            <a:spAutoFit/>
          </a:bodyPr>
          <a:lstStyle/>
          <a:p>
            <a:pPr algn="ctr"/>
            <a:r>
              <a:rPr sz="1500" b="1" i="0">
                <a:solidFill>
                  <a:srgbClr val="000000"/>
                </a:solidFill>
                <a:latin typeface="Cambria"/>
              </a:rPr>
              <a:t>3 slots, 3 keys</a:t>
            </a:r>
          </a:p>
        </p:txBody>
      </p:sp>
      <p:sp>
        <p:nvSpPr>
          <p:cNvPr id="402" name="TextBox 401"/>
          <p:cNvSpPr txBox="1"/>
          <p:nvPr/>
        </p:nvSpPr>
        <p:spPr>
          <a:xfrm>
            <a:off x="667512" y="5806440"/>
            <a:ext cx="8778240" cy="310896"/>
          </a:xfrm>
          <a:prstGeom prst="rect">
            <a:avLst/>
          </a:prstGeom>
          <a:noFill/>
        </p:spPr>
        <p:txBody>
          <a:bodyPr wrap="square" lIns="0" tIns="0" rIns="0" bIns="0">
            <a:spAutoFit/>
          </a:bodyPr>
          <a:lstStyle/>
          <a:p>
            <a:pPr algn="l"/>
            <a:r>
              <a:rPr sz="1900" b="1" i="0">
                <a:solidFill>
                  <a:srgbClr val="000000"/>
                </a:solidFill>
                <a:latin typeface="Cambria"/>
              </a:rPr>
              <a:t>No collisions.</a:t>
            </a:r>
            <a:r>
              <a:rPr sz="1900" b="0" i="0">
                <a:solidFill>
                  <a:srgbClr val="000000"/>
                </a:solidFill>
                <a:latin typeface="Cambria"/>
              </a:rPr>
              <a:t>   Three keys, three slots  -  </a:t>
            </a:r>
            <a:r>
              <a:rPr sz="1900" b="1" i="0">
                <a:solidFill>
                  <a:srgbClr val="000000"/>
                </a:solidFill>
                <a:latin typeface="Cambria"/>
              </a:rPr>
              <a:t>minimal</a:t>
            </a:r>
            <a:r>
              <a:rPr sz="1900" b="0" i="0">
                <a:solidFill>
                  <a:srgbClr val="000000"/>
                </a:solidFill>
                <a:latin typeface="Cambria"/>
              </a:rPr>
              <a:t> perfect hashing</a:t>
            </a:r>
          </a:p>
        </p:txBody>
      </p:sp>
      <p:sp>
        <p:nvSpPr>
          <p:cNvPr id="403" name="TextBox 402"/>
          <p:cNvSpPr txBox="1"/>
          <p:nvPr/>
        </p:nvSpPr>
        <p:spPr>
          <a:xfrm>
            <a:off x="667512" y="6217920"/>
            <a:ext cx="8778240" cy="310896"/>
          </a:xfrm>
          <a:prstGeom prst="rect">
            <a:avLst/>
          </a:prstGeom>
          <a:noFill/>
        </p:spPr>
        <p:txBody>
          <a:bodyPr wrap="square" lIns="0" tIns="0" rIns="0" bIns="0">
            <a:spAutoFit/>
          </a:bodyPr>
          <a:lstStyle/>
          <a:p>
            <a:pPr algn="l"/>
            <a:r>
              <a:rPr sz="1900" b="0" i="1">
                <a:solidFill>
                  <a:srgbClr val="000000"/>
                </a:solidFill>
                <a:latin typeface="Cambria"/>
              </a:rPr>
              <a:t>O ( 1 )  worst case, not just average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Two Conditions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468880" algn="l"/>
              </a:tabLst>
            </a:pPr>
            <a:r>
              <a:rPr sz="2200" b="1">
                <a:latin typeface="Cambria"/>
              </a:rPr>
              <a:t>Perfect</a:t>
            </a:r>
            <a:r>
              <a:rPr sz="2200" b="0">
                <a:latin typeface="Cambria"/>
              </a:rPr>
              <a:t>	no two keys collide</a:t>
            </a:r>
          </a:p>
          <a:p>
            <a:pPr>
              <a:tabLst>
                <a:tab pos="548640" algn="l"/>
                <a:tab pos="2468880" algn="l"/>
              </a:tabLst>
            </a:pPr>
            <a:r>
              <a:rPr sz="2200" b="0">
                <a:latin typeface="Cambria"/>
              </a:rPr>
              <a:t>		m  ≥  n</a:t>
            </a:r>
          </a:p>
          <a:p>
            <a:pPr>
              <a:tabLst>
                <a:tab pos="548640" algn="l"/>
                <a:tab pos="2468880" algn="l"/>
              </a:tabLst>
            </a:pPr>
            <a:r>
              <a:rPr sz="2200">
                <a:latin typeface="Cambria"/>
              </a:rPr>
              <a:t> </a:t>
            </a:r>
          </a:p>
          <a:p>
            <a:pPr>
              <a:tabLst>
                <a:tab pos="548640" algn="l"/>
                <a:tab pos="2468880" algn="l"/>
              </a:tabLst>
            </a:pPr>
            <a:r>
              <a:rPr sz="2200" b="1">
                <a:latin typeface="Cambria"/>
              </a:rPr>
              <a:t>Minimal perfect</a:t>
            </a:r>
            <a:r>
              <a:rPr sz="2200" b="0">
                <a:latin typeface="Cambria"/>
              </a:rPr>
              <a:t>	perfect, and  m  =  n</a:t>
            </a:r>
          </a:p>
          <a:p>
            <a:pPr>
              <a:tabLst>
                <a:tab pos="548640" algn="l"/>
                <a:tab pos="2468880" algn="l"/>
              </a:tabLst>
            </a:pPr>
            <a:r>
              <a:rPr sz="2200" b="0">
                <a:latin typeface="Cambria"/>
              </a:rPr>
              <a:t>		every slot used,  α = 1.0</a:t>
            </a:r>
          </a:p>
          <a:p>
            <a:pPr>
              <a:tabLst>
                <a:tab pos="548640" algn="l"/>
                <a:tab pos="2468880" algn="l"/>
              </a:tabLst>
            </a:pPr>
            <a:r>
              <a:rPr sz="2200">
                <a:latin typeface="Cambria"/>
              </a:rPr>
              <a:t> </a:t>
            </a:r>
          </a:p>
          <a:p>
            <a:pPr>
              <a:tabLst>
                <a:tab pos="548640" algn="l"/>
                <a:tab pos="2468880" algn="l"/>
              </a:tabLst>
            </a:pPr>
            <a:r>
              <a:rPr sz="2200" b="0">
                <a:latin typeface="Cambria"/>
              </a:rPr>
              <a:t>Both require the key set to be </a:t>
            </a:r>
            <a:r>
              <a:rPr sz="2200" b="1">
                <a:latin typeface="Cambria"/>
              </a:rPr>
              <a:t>fixed</a:t>
            </a:r>
          </a:p>
          <a:p>
            <a:pPr>
              <a:tabLst>
                <a:tab pos="548640" algn="l"/>
                <a:tab pos="2468880" algn="l"/>
              </a:tabLst>
            </a:pPr>
            <a:r>
              <a:rPr sz="2200">
                <a:latin typeface="Cambria"/>
              </a:rPr>
              <a:t> </a:t>
            </a:r>
          </a:p>
          <a:p>
            <a:pPr>
              <a:tabLst>
                <a:tab pos="548640" algn="l"/>
                <a:tab pos="2468880" algn="l"/>
              </a:tabLst>
            </a:pPr>
            <a:r>
              <a:rPr sz="2200" b="0">
                <a:latin typeface="Cambria"/>
              </a:rPr>
              <a:t>Add one key  →  build a new function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Where Perfect Hashing Is Used</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103120" algn="l"/>
              </a:tabLst>
            </a:pPr>
            <a:r>
              <a:rPr sz="2300" b="1">
                <a:latin typeface="Cambria"/>
              </a:rPr>
              <a:t>Compilers</a:t>
            </a:r>
            <a:r>
              <a:rPr sz="2300" b="0">
                <a:latin typeface="Cambria"/>
              </a:rPr>
              <a:t>	is this word a keyword?</a:t>
            </a:r>
          </a:p>
          <a:p>
            <a:pPr>
              <a:tabLst>
                <a:tab pos="548640" algn="l"/>
                <a:tab pos="2103120" algn="l"/>
              </a:tabLst>
            </a:pPr>
            <a:r>
              <a:rPr sz="2300">
                <a:latin typeface="Cambria"/>
              </a:rPr>
              <a:t> </a:t>
            </a:r>
          </a:p>
          <a:p>
            <a:pPr>
              <a:tabLst>
                <a:tab pos="548640" algn="l"/>
                <a:tab pos="2103120" algn="l"/>
              </a:tabLst>
            </a:pPr>
            <a:r>
              <a:rPr sz="2300" b="1">
                <a:latin typeface="Cambria"/>
              </a:rPr>
              <a:t>Assemblers</a:t>
            </a:r>
            <a:r>
              <a:rPr sz="2300" b="0">
                <a:latin typeface="Cambria"/>
              </a:rPr>
              <a:t>	instruction mnemonics</a:t>
            </a:r>
          </a:p>
          <a:p>
            <a:pPr>
              <a:tabLst>
                <a:tab pos="548640" algn="l"/>
                <a:tab pos="2103120" algn="l"/>
              </a:tabLst>
            </a:pPr>
            <a:r>
              <a:rPr sz="2300">
                <a:latin typeface="Cambria"/>
              </a:rPr>
              <a:t> </a:t>
            </a:r>
          </a:p>
          <a:p>
            <a:pPr>
              <a:tabLst>
                <a:tab pos="548640" algn="l"/>
                <a:tab pos="2103120" algn="l"/>
              </a:tabLst>
            </a:pPr>
            <a:r>
              <a:rPr sz="2300" b="1">
                <a:latin typeface="Cambria"/>
              </a:rPr>
              <a:t>Web servers</a:t>
            </a:r>
            <a:r>
              <a:rPr sz="2300" b="0">
                <a:latin typeface="Cambria"/>
              </a:rPr>
              <a:t>	HTTP header names</a:t>
            </a:r>
          </a:p>
          <a:p>
            <a:pPr>
              <a:tabLst>
                <a:tab pos="548640" algn="l"/>
                <a:tab pos="2103120" algn="l"/>
              </a:tabLst>
            </a:pPr>
            <a:r>
              <a:rPr sz="2300">
                <a:latin typeface="Cambria"/>
              </a:rPr>
              <a:t> </a:t>
            </a:r>
          </a:p>
          <a:p>
            <a:pPr>
              <a:tabLst>
                <a:tab pos="548640" algn="l"/>
                <a:tab pos="2103120" algn="l"/>
              </a:tabLst>
            </a:pPr>
            <a:r>
              <a:rPr sz="2300" b="1">
                <a:latin typeface="Cambria"/>
              </a:rPr>
              <a:t>Firmware</a:t>
            </a:r>
            <a:r>
              <a:rPr sz="2300" b="0">
                <a:latin typeface="Cambria"/>
              </a:rPr>
              <a:t>	command tables in flash</a:t>
            </a:r>
          </a:p>
          <a:p>
            <a:pPr>
              <a:tabLst>
                <a:tab pos="548640" algn="l"/>
                <a:tab pos="2103120" algn="l"/>
              </a:tabLst>
            </a:pPr>
            <a:r>
              <a:rPr sz="2300">
                <a:latin typeface="Cambria"/>
              </a:rPr>
              <a:t> </a:t>
            </a:r>
          </a:p>
          <a:p>
            <a:pPr>
              <a:tabLst>
                <a:tab pos="548640" algn="l"/>
                <a:tab pos="2103120" algn="l"/>
              </a:tabLst>
            </a:pPr>
            <a:r>
              <a:rPr sz="2300" b="0">
                <a:latin typeface="Cambria"/>
              </a:rPr>
              <a:t>Small fixed sets, looked up constantly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gperf:  Generating a Perfect Hash</a:t>
            </a:r>
            <a:endParaRPr lang="en-US" sz="36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194560" algn="l"/>
              </a:tabLst>
            </a:pPr>
            <a:r>
              <a:rPr sz="2000" b="0">
                <a:latin typeface="Cambria"/>
              </a:rPr>
              <a:t>Our three commands from the enums lecture:</a:t>
            </a:r>
          </a:p>
          <a:p>
            <a:pPr>
              <a:tabLst>
                <a:tab pos="548640" algn="l"/>
                <a:tab pos="2194560" algn="l"/>
              </a:tabLst>
            </a:pPr>
            <a:r>
              <a:rPr sz="2000">
                <a:latin typeface="Cambria"/>
              </a:rPr>
              <a:t> </a:t>
            </a:r>
          </a:p>
          <a:p>
            <a:pPr>
              <a:tabLst>
                <a:tab pos="548640" algn="l"/>
                <a:tab pos="2194560" algn="l"/>
              </a:tabLst>
            </a:pPr>
            <a:r>
              <a:rPr sz="2000" b="0">
                <a:latin typeface="Cambria"/>
              </a:rPr>
              <a:t>%{</a:t>
            </a:r>
          </a:p>
          <a:p>
            <a:pPr>
              <a:tabLst>
                <a:tab pos="548640" algn="l"/>
                <a:tab pos="2194560" algn="l"/>
              </a:tabLst>
            </a:pPr>
            <a:r>
              <a:rPr sz="2000" b="0">
                <a:latin typeface="Cambria"/>
              </a:rPr>
              <a:t>#include "commands.h"</a:t>
            </a:r>
          </a:p>
          <a:p>
            <a:pPr>
              <a:tabLst>
                <a:tab pos="548640" algn="l"/>
                <a:tab pos="2194560" algn="l"/>
              </a:tabLst>
            </a:pPr>
            <a:r>
              <a:rPr sz="2000" b="0">
                <a:latin typeface="Cambria"/>
              </a:rPr>
              <a:t>%}</a:t>
            </a:r>
          </a:p>
          <a:p>
            <a:pPr>
              <a:tabLst>
                <a:tab pos="548640" algn="l"/>
                <a:tab pos="2194560" algn="l"/>
              </a:tabLst>
            </a:pPr>
            <a:r>
              <a:rPr sz="2000" b="0">
                <a:latin typeface="Cambria"/>
              </a:rPr>
              <a:t>%%</a:t>
            </a:r>
          </a:p>
          <a:p>
            <a:pPr>
              <a:tabLst>
                <a:tab pos="548640" algn="l"/>
                <a:tab pos="2194560" algn="l"/>
              </a:tabLst>
            </a:pPr>
            <a:r>
              <a:rPr sz="2000" b="0">
                <a:latin typeface="Cambria"/>
              </a:rPr>
              <a:t>START,	CMD_START</a:t>
            </a:r>
          </a:p>
          <a:p>
            <a:pPr>
              <a:tabLst>
                <a:tab pos="548640" algn="l"/>
                <a:tab pos="2194560" algn="l"/>
              </a:tabLst>
            </a:pPr>
            <a:r>
              <a:rPr sz="2000" b="0">
                <a:latin typeface="Cambria"/>
              </a:rPr>
              <a:t>STOP,	CMD_STOP</a:t>
            </a:r>
          </a:p>
          <a:p>
            <a:pPr>
              <a:tabLst>
                <a:tab pos="548640" algn="l"/>
                <a:tab pos="2194560" algn="l"/>
              </a:tabLst>
            </a:pPr>
            <a:r>
              <a:rPr sz="2000" b="0">
                <a:latin typeface="Cambria"/>
              </a:rPr>
              <a:t>STATUS,	CMD_STATUS</a:t>
            </a:r>
          </a:p>
          <a:p>
            <a:pPr>
              <a:tabLst>
                <a:tab pos="548640" algn="l"/>
                <a:tab pos="2194560" algn="l"/>
              </a:tabLst>
            </a:pPr>
            <a:r>
              <a:rPr sz="2000" b="0">
                <a:latin typeface="Cambria"/>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gperf:  What It Generates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1900" b="0">
                <a:latin typeface="Cambria"/>
              </a:rPr>
              <a:t>$ gperf -t commands.gperf  &gt;  commands.c</a:t>
            </a:r>
          </a:p>
          <a:p>
            <a:pPr>
              <a:tabLst>
                <a:tab pos="548640" algn="l"/>
                <a:tab pos="1097280" algn="l"/>
                <a:tab pos="1645920" algn="l"/>
                <a:tab pos="2194560" algn="l"/>
              </a:tabLst>
            </a:pPr>
            <a:r>
              <a:rPr sz="1900">
                <a:latin typeface="Cambria"/>
              </a:rPr>
              <a:t> </a:t>
            </a:r>
          </a:p>
          <a:p>
            <a:pPr>
              <a:tabLst>
                <a:tab pos="548640" algn="l"/>
                <a:tab pos="1097280" algn="l"/>
                <a:tab pos="1645920" algn="l"/>
                <a:tab pos="2194560" algn="l"/>
              </a:tabLst>
            </a:pPr>
            <a:r>
              <a:rPr sz="1900" b="0">
                <a:latin typeface="Cambria"/>
              </a:rPr>
              <a:t>static unsigned hash ( const char *s, size_t len )</a:t>
            </a:r>
          </a:p>
          <a:p>
            <a:pPr>
              <a:tabLst>
                <a:tab pos="548640" algn="l"/>
                <a:tab pos="1097280" algn="l"/>
                <a:tab pos="1645920" algn="l"/>
                <a:tab pos="2194560" algn="l"/>
              </a:tabLst>
            </a:pPr>
            <a:r>
              <a:rPr sz="1900" b="0">
                <a:latin typeface="Cambria"/>
              </a:rPr>
              <a:t>{</a:t>
            </a:r>
          </a:p>
          <a:p>
            <a:pPr>
              <a:tabLst>
                <a:tab pos="548640" algn="l"/>
                <a:tab pos="1097280" algn="l"/>
                <a:tab pos="1645920" algn="l"/>
                <a:tab pos="2194560" algn="l"/>
              </a:tabLst>
            </a:pPr>
            <a:r>
              <a:rPr sz="1900" b="0">
                <a:latin typeface="Cambria"/>
              </a:rPr>
              <a:t>	static const unsigned char asso [ ] = { ... } ;</a:t>
            </a:r>
          </a:p>
          <a:p>
            <a:pPr>
              <a:tabLst>
                <a:tab pos="548640" algn="l"/>
                <a:tab pos="1097280" algn="l"/>
                <a:tab pos="1645920" algn="l"/>
                <a:tab pos="2194560" algn="l"/>
              </a:tabLst>
            </a:pPr>
            <a:r>
              <a:rPr sz="1900" b="0">
                <a:latin typeface="Cambria"/>
              </a:rPr>
              <a:t>	return len + asso [ s [ 0 ] ] + asso [ s [ len-1 ] ] ;</a:t>
            </a:r>
          </a:p>
          <a:p>
            <a:pPr>
              <a:tabLst>
                <a:tab pos="548640" algn="l"/>
                <a:tab pos="1097280" algn="l"/>
                <a:tab pos="1645920" algn="l"/>
                <a:tab pos="2194560" algn="l"/>
              </a:tabLst>
            </a:pPr>
            <a:r>
              <a:rPr sz="1900" b="0">
                <a:latin typeface="Cambria"/>
              </a:rPr>
              <a:t>}</a:t>
            </a:r>
          </a:p>
          <a:p>
            <a:pPr>
              <a:tabLst>
                <a:tab pos="548640" algn="l"/>
                <a:tab pos="1097280" algn="l"/>
                <a:tab pos="1645920" algn="l"/>
                <a:tab pos="2194560" algn="l"/>
              </a:tabLst>
            </a:pPr>
            <a:r>
              <a:rPr sz="1900">
                <a:latin typeface="Cambria"/>
              </a:rPr>
              <a:t> </a:t>
            </a:r>
          </a:p>
          <a:p>
            <a:pPr>
              <a:tabLst>
                <a:tab pos="548640" algn="l"/>
                <a:tab pos="1097280" algn="l"/>
                <a:tab pos="1645920" algn="l"/>
                <a:tab pos="2194560" algn="l"/>
              </a:tabLst>
            </a:pPr>
            <a:r>
              <a:rPr sz="1900" b="0">
                <a:latin typeface="Cambria"/>
              </a:rPr>
              <a:t>Two table lookups and two adds  -  </a:t>
            </a:r>
            <a:r>
              <a:rPr sz="1900" b="1">
                <a:latin typeface="Cambria"/>
              </a:rPr>
              <a:t>no loop</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gperf:  Using the Result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const cmd_t *c = in_word_set ( buf, strlen ( buf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if ( c != NULL )</a:t>
            </a:r>
          </a:p>
          <a:p>
            <a:pPr>
              <a:tabLst>
                <a:tab pos="548640" algn="l"/>
                <a:tab pos="1097280" algn="l"/>
                <a:tab pos="1645920" algn="l"/>
                <a:tab pos="2194560" algn="l"/>
              </a:tabLst>
            </a:pPr>
            <a:r>
              <a:rPr sz="2000" b="0">
                <a:latin typeface="Cambria"/>
              </a:rPr>
              <a:t>	dispatch ( c-&gt;code ) ;</a:t>
            </a:r>
          </a:p>
          <a:p>
            <a:pPr>
              <a:tabLst>
                <a:tab pos="548640" algn="l"/>
                <a:tab pos="1097280" algn="l"/>
                <a:tab pos="1645920" algn="l"/>
                <a:tab pos="2194560" algn="l"/>
              </a:tabLst>
            </a:pPr>
            <a:r>
              <a:rPr sz="2000" b="0">
                <a:latin typeface="Cambria"/>
              </a:rPr>
              <a:t>else</a:t>
            </a:r>
          </a:p>
          <a:p>
            <a:pPr>
              <a:tabLst>
                <a:tab pos="548640" algn="l"/>
                <a:tab pos="1097280" algn="l"/>
                <a:tab pos="1645920" algn="l"/>
                <a:tab pos="2194560" algn="l"/>
              </a:tabLst>
            </a:pPr>
            <a:r>
              <a:rPr sz="2000" b="0">
                <a:latin typeface="Cambria"/>
              </a:rPr>
              <a:t>	report ( ERR_UNKNOWN_COMMAND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You </a:t>
            </a:r>
            <a:r>
              <a:rPr sz="2000" b="1">
                <a:latin typeface="Cambria"/>
              </a:rPr>
              <a:t>still</a:t>
            </a:r>
            <a:r>
              <a:rPr sz="2000" b="0">
                <a:latin typeface="Cambria"/>
              </a:rPr>
              <a:t> compare the string once</a:t>
            </a:r>
          </a:p>
          <a:p>
            <a:pPr>
              <a:tabLst>
                <a:tab pos="548640" algn="l"/>
                <a:tab pos="1097280" algn="l"/>
                <a:tab pos="1645920" algn="l"/>
                <a:tab pos="2194560" algn="l"/>
              </a:tabLst>
            </a:pPr>
            <a:r>
              <a:rPr sz="2000" b="0">
                <a:latin typeface="Cambria"/>
              </a:rPr>
              <a:t>	an unknown word can hash to a valid slot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FKS:  Perfect Hashing in Theory</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645920" algn="l"/>
              </a:tabLst>
            </a:pPr>
            <a:r>
              <a:rPr sz="2100" b="0">
                <a:latin typeface="Cambria"/>
              </a:rPr>
              <a:t>Two levels:</a:t>
            </a:r>
          </a:p>
          <a:p>
            <a:pPr>
              <a:tabLst>
                <a:tab pos="548640" algn="l"/>
                <a:tab pos="1645920" algn="l"/>
              </a:tabLst>
            </a:pPr>
            <a:r>
              <a:rPr sz="2100">
                <a:latin typeface="Cambria"/>
              </a:rPr>
              <a:t> </a:t>
            </a:r>
          </a:p>
          <a:p>
            <a:pPr>
              <a:tabLst>
                <a:tab pos="548640" algn="l"/>
                <a:tab pos="1645920" algn="l"/>
              </a:tabLst>
            </a:pPr>
            <a:r>
              <a:rPr sz="2100" b="0">
                <a:latin typeface="Cambria"/>
              </a:rPr>
              <a:t>	</a:t>
            </a:r>
            <a:r>
              <a:rPr sz="2100" b="1">
                <a:latin typeface="Cambria"/>
              </a:rPr>
              <a:t>Level 1</a:t>
            </a:r>
            <a:r>
              <a:rPr sz="2100" b="0">
                <a:latin typeface="Cambria"/>
              </a:rPr>
              <a:t>	hash  n  keys into  n  buckets</a:t>
            </a:r>
          </a:p>
          <a:p>
            <a:pPr>
              <a:tabLst>
                <a:tab pos="548640" algn="l"/>
                <a:tab pos="1645920" algn="l"/>
              </a:tabLst>
            </a:pPr>
            <a:r>
              <a:rPr sz="2100" b="0">
                <a:latin typeface="Cambria"/>
              </a:rPr>
              <a:t>	</a:t>
            </a:r>
            <a:r>
              <a:rPr sz="2100" b="1">
                <a:latin typeface="Cambria"/>
              </a:rPr>
              <a:t>Level 2</a:t>
            </a:r>
            <a:r>
              <a:rPr sz="2100" b="0">
                <a:latin typeface="Cambria"/>
              </a:rPr>
              <a:t>	bucket with  k  keys gets its own</a:t>
            </a:r>
          </a:p>
          <a:p>
            <a:pPr>
              <a:tabLst>
                <a:tab pos="548640" algn="l"/>
                <a:tab pos="1645920" algn="l"/>
              </a:tabLst>
            </a:pPr>
            <a:r>
              <a:rPr sz="2100" b="0">
                <a:latin typeface="Cambria"/>
              </a:rPr>
              <a:t>		table of  k²  slots</a:t>
            </a:r>
          </a:p>
          <a:p>
            <a:pPr>
              <a:tabLst>
                <a:tab pos="548640" algn="l"/>
                <a:tab pos="1645920" algn="l"/>
              </a:tabLst>
            </a:pPr>
            <a:r>
              <a:rPr sz="2100">
                <a:latin typeface="Cambria"/>
              </a:rPr>
              <a:t> </a:t>
            </a:r>
          </a:p>
          <a:p>
            <a:pPr>
              <a:tabLst>
                <a:tab pos="548640" algn="l"/>
                <a:tab pos="1645920" algn="l"/>
              </a:tabLst>
            </a:pPr>
            <a:r>
              <a:rPr sz="2100" b="0">
                <a:latin typeface="Cambria"/>
              </a:rPr>
              <a:t>k² slots  →  a collision-free  h  is easy to find</a:t>
            </a:r>
          </a:p>
          <a:p>
            <a:pPr>
              <a:tabLst>
                <a:tab pos="548640" algn="l"/>
                <a:tab pos="1645920" algn="l"/>
              </a:tabLst>
            </a:pPr>
            <a:r>
              <a:rPr sz="2100">
                <a:latin typeface="Cambria"/>
              </a:rPr>
              <a:t> </a:t>
            </a:r>
          </a:p>
          <a:p>
            <a:pPr>
              <a:tabLst>
                <a:tab pos="548640" algn="l"/>
                <a:tab pos="1645920" algn="l"/>
              </a:tabLst>
            </a:pPr>
            <a:r>
              <a:rPr sz="2100" b="0">
                <a:latin typeface="Cambria"/>
              </a:rPr>
              <a:t>Total space is still  </a:t>
            </a:r>
            <a:r>
              <a:rPr sz="2100" b="1">
                <a:latin typeface="Cambria"/>
              </a:rPr>
              <a:t>O ( n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the  phf  crate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2651760" algn="l"/>
              </a:tabLst>
            </a:pPr>
            <a:r>
              <a:rPr sz="1900" b="0">
                <a:latin typeface="Cambria"/>
              </a:rPr>
              <a:t>use phf::phf_map ;</a:t>
            </a:r>
          </a:p>
          <a:p>
            <a:pPr>
              <a:tabLst>
                <a:tab pos="548640" algn="l"/>
                <a:tab pos="1097280" algn="l"/>
                <a:tab pos="2651760" algn="l"/>
              </a:tabLst>
            </a:pPr>
            <a:r>
              <a:rPr sz="1900">
                <a:latin typeface="Cambria"/>
              </a:rPr>
              <a:t> </a:t>
            </a:r>
          </a:p>
          <a:p>
            <a:pPr>
              <a:tabLst>
                <a:tab pos="548640" algn="l"/>
                <a:tab pos="1097280" algn="l"/>
                <a:tab pos="2651760" algn="l"/>
              </a:tabLst>
            </a:pPr>
            <a:r>
              <a:rPr sz="1900" b="0">
                <a:latin typeface="Cambria"/>
              </a:rPr>
              <a:t>static CMDS : phf::Map &lt; &amp; 'static str, Cmd &gt;  =  phf_map! {</a:t>
            </a:r>
          </a:p>
          <a:p>
            <a:pPr>
              <a:tabLst>
                <a:tab pos="548640" algn="l"/>
                <a:tab pos="1097280" algn="l"/>
                <a:tab pos="2651760" algn="l"/>
              </a:tabLst>
            </a:pPr>
            <a:r>
              <a:rPr sz="1900" b="0">
                <a:latin typeface="Cambria"/>
              </a:rPr>
              <a:t>		"START"	=&gt;  Cmd::Start,</a:t>
            </a:r>
          </a:p>
          <a:p>
            <a:pPr>
              <a:tabLst>
                <a:tab pos="548640" algn="l"/>
                <a:tab pos="1097280" algn="l"/>
                <a:tab pos="2651760" algn="l"/>
              </a:tabLst>
            </a:pPr>
            <a:r>
              <a:rPr sz="1900" b="0">
                <a:latin typeface="Cambria"/>
              </a:rPr>
              <a:t>		"STOP"	=&gt;  Cmd::Stop,</a:t>
            </a:r>
          </a:p>
          <a:p>
            <a:pPr>
              <a:tabLst>
                <a:tab pos="548640" algn="l"/>
                <a:tab pos="1097280" algn="l"/>
                <a:tab pos="2651760" algn="l"/>
              </a:tabLst>
            </a:pPr>
            <a:r>
              <a:rPr sz="1900" b="0">
                <a:latin typeface="Cambria"/>
              </a:rPr>
              <a:t>		"STATUS"	=&gt;  Cmd::Status,</a:t>
            </a:r>
          </a:p>
          <a:p>
            <a:pPr>
              <a:tabLst>
                <a:tab pos="548640" algn="l"/>
                <a:tab pos="1097280" algn="l"/>
                <a:tab pos="2651760" algn="l"/>
              </a:tabLst>
            </a:pPr>
            <a:r>
              <a:rPr sz="1900" b="0">
                <a:latin typeface="Cambria"/>
              </a:rPr>
              <a:t>	} ;</a:t>
            </a:r>
          </a:p>
          <a:p>
            <a:pPr>
              <a:tabLst>
                <a:tab pos="548640" algn="l"/>
                <a:tab pos="1097280" algn="l"/>
                <a:tab pos="2651760" algn="l"/>
              </a:tabLst>
            </a:pPr>
            <a:r>
              <a:rPr sz="1900">
                <a:latin typeface="Cambria"/>
              </a:rPr>
              <a:t> </a:t>
            </a:r>
          </a:p>
          <a:p>
            <a:pPr>
              <a:tabLst>
                <a:tab pos="548640" algn="l"/>
                <a:tab pos="1097280" algn="l"/>
                <a:tab pos="2651760" algn="l"/>
              </a:tabLst>
            </a:pPr>
            <a:r>
              <a:rPr sz="1900" b="0">
                <a:latin typeface="Cambria"/>
              </a:rPr>
              <a:t>Built at </a:t>
            </a:r>
            <a:r>
              <a:rPr sz="1900" b="1">
                <a:latin typeface="Cambria"/>
              </a:rPr>
              <a:t>compile time</a:t>
            </a:r>
            <a:r>
              <a:rPr sz="1900" b="0">
                <a:latin typeface="Cambria"/>
              </a:rPr>
              <a:t>, stored in </a:t>
            </a:r>
            <a:r>
              <a:rPr sz="1900" b="1">
                <a:latin typeface="Cambria"/>
              </a:rPr>
              <a:t>flash</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  Perfect Hashing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103120" algn="l"/>
              </a:tabLst>
            </a:pPr>
            <a:r>
              <a:rPr sz="2000" b="0">
                <a:latin typeface="Cambria"/>
              </a:rPr>
              <a:t>No standard tool, but the same options:</a:t>
            </a:r>
          </a:p>
          <a:p>
            <a:pPr>
              <a:tabLst>
                <a:tab pos="548640" algn="l"/>
                <a:tab pos="2103120" algn="l"/>
              </a:tabLst>
            </a:pPr>
            <a:r>
              <a:rPr sz="2000">
                <a:latin typeface="Cambria"/>
              </a:rPr>
              <a:t> </a:t>
            </a:r>
          </a:p>
          <a:p>
            <a:pPr>
              <a:tabLst>
                <a:tab pos="548640" algn="l"/>
                <a:tab pos="2103120" algn="l"/>
              </a:tabLst>
            </a:pPr>
            <a:r>
              <a:rPr sz="2000" b="0">
                <a:latin typeface="Cambria"/>
              </a:rPr>
              <a:t>	</a:t>
            </a:r>
            <a:r>
              <a:rPr sz="2000" b="1">
                <a:latin typeface="Cambria"/>
              </a:rPr>
              <a:t>gperf</a:t>
            </a:r>
            <a:r>
              <a:rPr sz="2000" b="0">
                <a:latin typeface="Cambria"/>
              </a:rPr>
              <a:t>	works on C++ too</a:t>
            </a:r>
          </a:p>
          <a:p>
            <a:pPr>
              <a:tabLst>
                <a:tab pos="548640" algn="l"/>
                <a:tab pos="2103120" algn="l"/>
              </a:tabLst>
            </a:pPr>
            <a:r>
              <a:rPr sz="2000" b="0">
                <a:latin typeface="Cambria"/>
              </a:rPr>
              <a:t>	</a:t>
            </a:r>
            <a:r>
              <a:rPr sz="2000" b="1">
                <a:latin typeface="Cambria"/>
              </a:rPr>
              <a:t>frozen</a:t>
            </a:r>
            <a:r>
              <a:rPr sz="2000" b="0">
                <a:latin typeface="Cambria"/>
              </a:rPr>
              <a:t>	constexpr maps, header-only</a:t>
            </a:r>
          </a:p>
          <a:p>
            <a:pPr>
              <a:tabLst>
                <a:tab pos="548640" algn="l"/>
                <a:tab pos="2103120" algn="l"/>
              </a:tabLst>
            </a:pPr>
            <a:r>
              <a:rPr sz="2000" b="0">
                <a:latin typeface="Cambria"/>
              </a:rPr>
              <a:t>	</a:t>
            </a:r>
            <a:r>
              <a:rPr sz="2000" b="1">
                <a:latin typeface="Cambria"/>
              </a:rPr>
              <a:t>constexpr</a:t>
            </a:r>
            <a:r>
              <a:rPr sz="2000" b="0">
                <a:latin typeface="Cambria"/>
              </a:rPr>
              <a:t>	build your own at compile time</a:t>
            </a:r>
          </a:p>
          <a:p>
            <a:pPr>
              <a:tabLst>
                <a:tab pos="548640" algn="l"/>
                <a:tab pos="2103120" algn="l"/>
              </a:tabLst>
            </a:pPr>
            <a:r>
              <a:rPr sz="2000">
                <a:latin typeface="Cambria"/>
              </a:rPr>
              <a:t> </a:t>
            </a:r>
          </a:p>
          <a:p>
            <a:pPr>
              <a:tabLst>
                <a:tab pos="548640" algn="l"/>
                <a:tab pos="2103120" algn="l"/>
              </a:tabLst>
            </a:pPr>
            <a:r>
              <a:rPr sz="2000" b="0">
                <a:latin typeface="Cambria"/>
              </a:rPr>
              <a:t>constexpr frozen::unordered_map &lt; ... &gt; cmds = {</a:t>
            </a:r>
          </a:p>
          <a:p>
            <a:pPr>
              <a:tabLst>
                <a:tab pos="548640" algn="l"/>
                <a:tab pos="2103120" algn="l"/>
              </a:tabLst>
            </a:pPr>
            <a:r>
              <a:rPr sz="2000" b="0">
                <a:latin typeface="Cambria"/>
              </a:rPr>
              <a:t>	{ "START", Cmd::Start },  ...  }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Perfect vs Ordinary</a:t>
            </a:r>
            <a:endParaRPr lang="en-US" sz="4400" b="0" u="none" strike="noStrike" dirty="0">
              <a:solidFill>
                <a:srgbClr val="000000"/>
              </a:solidFill>
              <a:effectLst/>
              <a:uFillTx/>
              <a:latin typeface="Arial"/>
            </a:endParaRPr>
          </a:p>
        </p:txBody>
      </p:sp>
      <p:sp>
        <p:nvSpPr>
          <p:cNvPr id="388" name="Rectangle 387"/>
          <p:cNvSpPr/>
          <p:nvPr/>
        </p:nvSpPr>
        <p:spPr>
          <a:xfrm>
            <a:off x="777240" y="2057400"/>
            <a:ext cx="201168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89" name="Rectangle 388"/>
          <p:cNvSpPr/>
          <p:nvPr/>
        </p:nvSpPr>
        <p:spPr>
          <a:xfrm>
            <a:off x="2788920" y="2057400"/>
            <a:ext cx="3108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Ordinary hash</a:t>
            </a:r>
          </a:p>
        </p:txBody>
      </p:sp>
      <p:sp>
        <p:nvSpPr>
          <p:cNvPr id="390" name="Rectangle 389"/>
          <p:cNvSpPr/>
          <p:nvPr/>
        </p:nvSpPr>
        <p:spPr>
          <a:xfrm>
            <a:off x="5897880" y="2057400"/>
            <a:ext cx="320040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Perfect hash</a:t>
            </a:r>
          </a:p>
        </p:txBody>
      </p:sp>
      <p:sp>
        <p:nvSpPr>
          <p:cNvPr id="391" name="Rectangle 390"/>
          <p:cNvSpPr/>
          <p:nvPr/>
        </p:nvSpPr>
        <p:spPr>
          <a:xfrm>
            <a:off x="777240" y="2660904"/>
            <a:ext cx="201168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Key set</a:t>
            </a:r>
          </a:p>
        </p:txBody>
      </p:sp>
      <p:sp>
        <p:nvSpPr>
          <p:cNvPr id="392" name="Rectangle 391"/>
          <p:cNvSpPr/>
          <p:nvPr/>
        </p:nvSpPr>
        <p:spPr>
          <a:xfrm>
            <a:off x="2788920" y="2660904"/>
            <a:ext cx="3108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unknown, grows</a:t>
            </a:r>
          </a:p>
        </p:txBody>
      </p:sp>
      <p:sp>
        <p:nvSpPr>
          <p:cNvPr id="393" name="Rectangle 392"/>
          <p:cNvSpPr/>
          <p:nvPr/>
        </p:nvSpPr>
        <p:spPr>
          <a:xfrm>
            <a:off x="5897880" y="2660904"/>
            <a:ext cx="32004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fixed, known</a:t>
            </a:r>
          </a:p>
        </p:txBody>
      </p:sp>
      <p:sp>
        <p:nvSpPr>
          <p:cNvPr id="394" name="Rectangle 393"/>
          <p:cNvSpPr/>
          <p:nvPr/>
        </p:nvSpPr>
        <p:spPr>
          <a:xfrm>
            <a:off x="777240" y="3264408"/>
            <a:ext cx="201168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Collisions</a:t>
            </a:r>
          </a:p>
        </p:txBody>
      </p:sp>
      <p:sp>
        <p:nvSpPr>
          <p:cNvPr id="395" name="Rectangle 394"/>
          <p:cNvSpPr/>
          <p:nvPr/>
        </p:nvSpPr>
        <p:spPr>
          <a:xfrm>
            <a:off x="2788920" y="3264408"/>
            <a:ext cx="3108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expected</a:t>
            </a:r>
          </a:p>
        </p:txBody>
      </p:sp>
      <p:sp>
        <p:nvSpPr>
          <p:cNvPr id="396" name="Rectangle 395"/>
          <p:cNvSpPr/>
          <p:nvPr/>
        </p:nvSpPr>
        <p:spPr>
          <a:xfrm>
            <a:off x="5897880" y="3264408"/>
            <a:ext cx="32004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none</a:t>
            </a:r>
          </a:p>
        </p:txBody>
      </p:sp>
      <p:sp>
        <p:nvSpPr>
          <p:cNvPr id="397" name="Rectangle 396"/>
          <p:cNvSpPr/>
          <p:nvPr/>
        </p:nvSpPr>
        <p:spPr>
          <a:xfrm>
            <a:off x="777240" y="3867912"/>
            <a:ext cx="201168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Lookup</a:t>
            </a:r>
          </a:p>
        </p:txBody>
      </p:sp>
      <p:sp>
        <p:nvSpPr>
          <p:cNvPr id="398" name="Rectangle 397"/>
          <p:cNvSpPr/>
          <p:nvPr/>
        </p:nvSpPr>
        <p:spPr>
          <a:xfrm>
            <a:off x="2788920" y="3867912"/>
            <a:ext cx="3108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( 1 )  average</a:t>
            </a:r>
          </a:p>
        </p:txBody>
      </p:sp>
      <p:sp>
        <p:nvSpPr>
          <p:cNvPr id="399" name="Rectangle 398"/>
          <p:cNvSpPr/>
          <p:nvPr/>
        </p:nvSpPr>
        <p:spPr>
          <a:xfrm>
            <a:off x="5897880" y="3867912"/>
            <a:ext cx="32004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O ( 1 )  worst case</a:t>
            </a:r>
          </a:p>
        </p:txBody>
      </p:sp>
      <p:sp>
        <p:nvSpPr>
          <p:cNvPr id="400" name="Rectangle 399"/>
          <p:cNvSpPr/>
          <p:nvPr/>
        </p:nvSpPr>
        <p:spPr>
          <a:xfrm>
            <a:off x="777240" y="4471416"/>
            <a:ext cx="201168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Built</a:t>
            </a:r>
          </a:p>
        </p:txBody>
      </p:sp>
      <p:sp>
        <p:nvSpPr>
          <p:cNvPr id="401" name="Rectangle 400"/>
          <p:cNvSpPr/>
          <p:nvPr/>
        </p:nvSpPr>
        <p:spPr>
          <a:xfrm>
            <a:off x="2788920" y="4471416"/>
            <a:ext cx="3108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at run time</a:t>
            </a:r>
          </a:p>
        </p:txBody>
      </p:sp>
      <p:sp>
        <p:nvSpPr>
          <p:cNvPr id="402" name="Rectangle 401"/>
          <p:cNvSpPr/>
          <p:nvPr/>
        </p:nvSpPr>
        <p:spPr>
          <a:xfrm>
            <a:off x="5897880" y="4471416"/>
            <a:ext cx="32004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at build time</a:t>
            </a:r>
          </a:p>
        </p:txBody>
      </p:sp>
      <p:sp>
        <p:nvSpPr>
          <p:cNvPr id="403" name="Rectangle 402"/>
          <p:cNvSpPr/>
          <p:nvPr/>
        </p:nvSpPr>
        <p:spPr>
          <a:xfrm>
            <a:off x="777240" y="5074920"/>
            <a:ext cx="201168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Add a key</a:t>
            </a:r>
          </a:p>
        </p:txBody>
      </p:sp>
      <p:sp>
        <p:nvSpPr>
          <p:cNvPr id="404" name="Rectangle 403"/>
          <p:cNvSpPr/>
          <p:nvPr/>
        </p:nvSpPr>
        <p:spPr>
          <a:xfrm>
            <a:off x="2788920" y="5074920"/>
            <a:ext cx="3108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just insert</a:t>
            </a:r>
          </a:p>
        </p:txBody>
      </p:sp>
      <p:sp>
        <p:nvSpPr>
          <p:cNvPr id="405" name="Rectangle 404"/>
          <p:cNvSpPr/>
          <p:nvPr/>
        </p:nvSpPr>
        <p:spPr>
          <a:xfrm>
            <a:off x="5897880" y="5074920"/>
            <a:ext cx="32004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regenerate</a:t>
            </a:r>
          </a:p>
        </p:txBody>
      </p:sp>
      <p:sp>
        <p:nvSpPr>
          <p:cNvPr id="406" name="Rectangle 405"/>
          <p:cNvSpPr/>
          <p:nvPr/>
        </p:nvSpPr>
        <p:spPr>
          <a:xfrm>
            <a:off x="777240" y="5678424"/>
            <a:ext cx="201168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Memory</a:t>
            </a:r>
          </a:p>
        </p:txBody>
      </p:sp>
      <p:sp>
        <p:nvSpPr>
          <p:cNvPr id="407" name="Rectangle 406"/>
          <p:cNvSpPr/>
          <p:nvPr/>
        </p:nvSpPr>
        <p:spPr>
          <a:xfrm>
            <a:off x="2788920" y="5678424"/>
            <a:ext cx="3108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α ≤ 0.7,  30% spare</a:t>
            </a:r>
          </a:p>
        </p:txBody>
      </p:sp>
      <p:sp>
        <p:nvSpPr>
          <p:cNvPr id="408" name="Rectangle 407"/>
          <p:cNvSpPr/>
          <p:nvPr/>
        </p:nvSpPr>
        <p:spPr>
          <a:xfrm>
            <a:off x="5897880" y="5678424"/>
            <a:ext cx="320040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exactly  n  slots</a:t>
            </a:r>
          </a:p>
        </p:txBody>
      </p:sp>
      <p:sp>
        <p:nvSpPr>
          <p:cNvPr id="409" name="TextBox 408"/>
          <p:cNvSpPr txBox="1"/>
          <p:nvPr/>
        </p:nvSpPr>
        <p:spPr>
          <a:xfrm>
            <a:off x="777240" y="6473952"/>
            <a:ext cx="8778240" cy="310896"/>
          </a:xfrm>
          <a:prstGeom prst="rect">
            <a:avLst/>
          </a:prstGeom>
          <a:noFill/>
        </p:spPr>
        <p:txBody>
          <a:bodyPr wrap="square" lIns="0" tIns="0" rIns="0" bIns="0">
            <a:spAutoFit/>
          </a:bodyPr>
          <a:lstStyle/>
          <a:p>
            <a:pPr algn="l"/>
            <a:r>
              <a:rPr sz="1900" b="0" i="0">
                <a:solidFill>
                  <a:srgbClr val="000000"/>
                </a:solidFill>
                <a:latin typeface="Cambria"/>
              </a:rPr>
              <a:t>Use a perfect hash when the keys ship </a:t>
            </a:r>
            <a:r>
              <a:rPr sz="1900" b="1" i="0">
                <a:solidFill>
                  <a:srgbClr val="000000"/>
                </a:solidFill>
                <a:latin typeface="Cambria"/>
              </a:rPr>
              <a:t>with the program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Worked Example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Lst>
            </a:pPr>
            <a:r>
              <a:rPr sz="2200">
                <a:latin typeface="Cambria"/>
              </a:rPr>
              <a:t> </a:t>
            </a:r>
          </a:p>
          <a:p>
            <a:pPr>
              <a:tabLst>
                <a:tab pos="548640" algn="l"/>
              </a:tabLst>
            </a:pPr>
            <a:r>
              <a:rPr sz="2200" b="0">
                <a:latin typeface="Cambria"/>
              </a:rPr>
              <a:t>A log of commands arrives from the ESP32:</a:t>
            </a:r>
          </a:p>
          <a:p>
            <a:pPr>
              <a:tabLst>
                <a:tab pos="548640" algn="l"/>
              </a:tabLst>
            </a:pPr>
            <a:r>
              <a:rPr sz="2200">
                <a:latin typeface="Cambria"/>
              </a:rPr>
              <a:t> </a:t>
            </a:r>
          </a:p>
          <a:p>
            <a:pPr>
              <a:tabLst>
                <a:tab pos="548640" algn="l"/>
              </a:tabLst>
            </a:pPr>
            <a:r>
              <a:rPr sz="2200" b="0">
                <a:latin typeface="Cambria"/>
              </a:rPr>
              <a:t>	STATUS  START  STATUS  READ  START  STATUS</a:t>
            </a:r>
          </a:p>
          <a:p>
            <a:pPr>
              <a:tabLst>
                <a:tab pos="548640" algn="l"/>
              </a:tabLst>
            </a:pPr>
            <a:r>
              <a:rPr sz="2200">
                <a:latin typeface="Cambria"/>
              </a:rPr>
              <a:t> </a:t>
            </a:r>
          </a:p>
          <a:p>
            <a:pPr>
              <a:tabLst>
                <a:tab pos="548640" algn="l"/>
              </a:tabLst>
            </a:pPr>
            <a:r>
              <a:rPr sz="2200" b="0">
                <a:latin typeface="Cambria"/>
              </a:rPr>
              <a:t>Count how many times each one appeared</a:t>
            </a:r>
          </a:p>
          <a:p>
            <a:pPr>
              <a:tabLst>
                <a:tab pos="548640" algn="l"/>
              </a:tabLst>
            </a:pPr>
            <a:r>
              <a:rPr sz="2200">
                <a:latin typeface="Cambria"/>
              </a:rPr>
              <a:t> </a:t>
            </a:r>
          </a:p>
          <a:p>
            <a:pPr>
              <a:tabLst>
                <a:tab pos="548640" algn="l"/>
              </a:tabLst>
            </a:pPr>
            <a:r>
              <a:rPr sz="2200" b="0">
                <a:latin typeface="Cambria"/>
              </a:rPr>
              <a:t>How would you do it with an </a:t>
            </a:r>
            <a:r>
              <a:rPr sz="2200" b="1">
                <a:latin typeface="Cambria"/>
              </a:rPr>
              <a:t>array</a:t>
            </a:r>
            <a:r>
              <a:rPr sz="2200" b="0">
                <a:latin typeface="Cambria"/>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Example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std::unordered_map &lt; std::string, int &gt;  counts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for ( const std::string &amp; cmd : log )</a:t>
            </a:r>
          </a:p>
          <a:p>
            <a:pPr>
              <a:tabLst>
                <a:tab pos="548640" algn="l"/>
                <a:tab pos="1097280" algn="l"/>
                <a:tab pos="1645920" algn="l"/>
                <a:tab pos="2194560" algn="l"/>
              </a:tabLst>
            </a:pPr>
            <a:r>
              <a:rPr sz="2000" b="0">
                <a:latin typeface="Cambria"/>
              </a:rPr>
              <a:t>	counts [ cmd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for ( const auto &amp; [ cmd, n ] : counts )</a:t>
            </a:r>
          </a:p>
          <a:p>
            <a:pPr>
              <a:tabLst>
                <a:tab pos="548640" algn="l"/>
                <a:tab pos="1097280" algn="l"/>
                <a:tab pos="1645920" algn="l"/>
                <a:tab pos="2194560" algn="l"/>
              </a:tabLst>
            </a:pPr>
            <a:r>
              <a:rPr sz="2000" b="0">
                <a:latin typeface="Cambria"/>
              </a:rPr>
              <a:t>	std::cout &lt;&lt; cmd &lt;&lt; " " &lt;&lt; n &lt;&lt; "\n"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Here  </a:t>
            </a:r>
            <a:r>
              <a:rPr sz="2000" b="1">
                <a:latin typeface="Cambria"/>
              </a:rPr>
              <a:t>[ ]  inserting  0  is exactly what we want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Example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000" b="0">
                <a:latin typeface="Cambria"/>
              </a:rPr>
              <a:t>let mut counts : HashMap &lt; &amp; str, u32 &gt;  =  HashMap::new ( ) ;</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for cmd in log.iter ( ) {</a:t>
            </a:r>
          </a:p>
          <a:p>
            <a:pPr>
              <a:tabLst>
                <a:tab pos="548640" algn="l"/>
                <a:tab pos="1097280" algn="l"/>
                <a:tab pos="1645920" algn="l"/>
                <a:tab pos="2194560" algn="l"/>
              </a:tabLst>
            </a:pPr>
            <a:r>
              <a:rPr sz="2000" b="0">
                <a:latin typeface="Cambria"/>
              </a:rPr>
              <a:t>	*counts.entry ( cmd ).or_insert ( 0 )  +=  1 ;</a:t>
            </a:r>
          </a:p>
          <a:p>
            <a:pPr>
              <a:tabLst>
                <a:tab pos="548640" algn="l"/>
                <a:tab pos="1097280" algn="l"/>
                <a:tab pos="1645920" algn="l"/>
                <a:tab pos="2194560" algn="l"/>
              </a:tabLst>
            </a:pPr>
            <a:r>
              <a:rPr sz="2000" b="0">
                <a:latin typeface="Cambria"/>
              </a:rPr>
              <a:t>}</a:t>
            </a:r>
          </a:p>
          <a:p>
            <a:pPr>
              <a:tabLst>
                <a:tab pos="548640" algn="l"/>
                <a:tab pos="1097280" algn="l"/>
                <a:tab pos="1645920" algn="l"/>
                <a:tab pos="2194560" algn="l"/>
              </a:tabLst>
            </a:pPr>
            <a:r>
              <a:rPr sz="2000">
                <a:latin typeface="Cambria"/>
              </a:rPr>
              <a:t> </a:t>
            </a:r>
          </a:p>
          <a:p>
            <a:pPr>
              <a:tabLst>
                <a:tab pos="548640" algn="l"/>
                <a:tab pos="1097280" algn="l"/>
                <a:tab pos="1645920" algn="l"/>
                <a:tab pos="2194560" algn="l"/>
              </a:tabLst>
            </a:pPr>
            <a:r>
              <a:rPr sz="2000" b="0">
                <a:latin typeface="Cambria"/>
              </a:rPr>
              <a:t>for ( cmd, n ) in &amp;counts {</a:t>
            </a:r>
          </a:p>
          <a:p>
            <a:pPr>
              <a:tabLst>
                <a:tab pos="548640" algn="l"/>
                <a:tab pos="1097280" algn="l"/>
                <a:tab pos="1645920" algn="l"/>
                <a:tab pos="2194560" algn="l"/>
              </a:tabLst>
            </a:pPr>
            <a:r>
              <a:rPr sz="2000" b="0">
                <a:latin typeface="Cambria"/>
              </a:rPr>
              <a:t>	println! ( "{} {}", cmd, n ) ;</a:t>
            </a:r>
          </a:p>
          <a:p>
            <a:pPr>
              <a:tabLst>
                <a:tab pos="548640" algn="l"/>
                <a:tab pos="1097280" algn="l"/>
                <a:tab pos="1645920" algn="l"/>
                <a:tab pos="2194560" algn="l"/>
              </a:tabLst>
            </a:pPr>
            <a:r>
              <a:rPr sz="2000" b="0">
                <a:latin typeface="Cambria"/>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Example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926080" algn="l"/>
              </a:tabLst>
            </a:pPr>
            <a:r>
              <a:rPr sz="2000" b="0">
                <a:latin typeface="Cambria"/>
              </a:rPr>
              <a:t>for ( int i = 0 ;  i &lt; n_log ;  i++ ) {</a:t>
            </a:r>
          </a:p>
          <a:p>
            <a:pPr>
              <a:tabLst>
                <a:tab pos="548640" algn="l"/>
                <a:tab pos="2926080" algn="l"/>
              </a:tabLst>
            </a:pPr>
            <a:r>
              <a:rPr sz="2000" b="0">
                <a:latin typeface="Cambria"/>
              </a:rPr>
              <a:t>	int *p = lookup ( log [ i ] ) ;</a:t>
            </a:r>
          </a:p>
          <a:p>
            <a:pPr>
              <a:tabLst>
                <a:tab pos="548640" algn="l"/>
                <a:tab pos="2926080" algn="l"/>
              </a:tabLst>
            </a:pPr>
            <a:r>
              <a:rPr sz="2000" b="0">
                <a:latin typeface="Cambria"/>
              </a:rPr>
              <a:t>	if ( p )	*p += 1 ;</a:t>
            </a:r>
          </a:p>
          <a:p>
            <a:pPr>
              <a:tabLst>
                <a:tab pos="548640" algn="l"/>
                <a:tab pos="2926080" algn="l"/>
              </a:tabLst>
            </a:pPr>
            <a:r>
              <a:rPr sz="2000" b="0">
                <a:latin typeface="Cambria"/>
              </a:rPr>
              <a:t>	else	insert ( log [ i ], 1 ) ;</a:t>
            </a:r>
          </a:p>
          <a:p>
            <a:pPr>
              <a:tabLst>
                <a:tab pos="548640" algn="l"/>
                <a:tab pos="2926080" algn="l"/>
              </a:tabLst>
            </a:pPr>
            <a:r>
              <a:rPr sz="2000" b="0">
                <a:latin typeface="Cambria"/>
              </a:rPr>
              <a:t>}</a:t>
            </a:r>
          </a:p>
          <a:p>
            <a:pPr>
              <a:tabLst>
                <a:tab pos="548640" algn="l"/>
                <a:tab pos="2926080" algn="l"/>
              </a:tabLst>
            </a:pPr>
            <a:r>
              <a:rPr sz="2000">
                <a:latin typeface="Cambria"/>
              </a:rPr>
              <a:t> </a:t>
            </a:r>
          </a:p>
          <a:p>
            <a:pPr>
              <a:tabLst>
                <a:tab pos="548640" algn="l"/>
                <a:tab pos="2926080" algn="l"/>
              </a:tabLst>
            </a:pPr>
            <a:r>
              <a:rPr sz="2000" b="0">
                <a:latin typeface="Cambria"/>
              </a:rPr>
              <a:t>Our own table from earlier</a:t>
            </a:r>
          </a:p>
          <a:p>
            <a:pPr>
              <a:tabLst>
                <a:tab pos="548640" algn="l"/>
                <a:tab pos="2926080" algn="l"/>
              </a:tabLst>
            </a:pPr>
            <a:r>
              <a:rPr sz="2000">
                <a:latin typeface="Cambria"/>
              </a:rPr>
              <a:t> </a:t>
            </a:r>
          </a:p>
          <a:p>
            <a:pPr>
              <a:tabLst>
                <a:tab pos="548640" algn="l"/>
                <a:tab pos="2926080" algn="l"/>
              </a:tabLst>
            </a:pPr>
            <a:r>
              <a:rPr sz="2000" b="0">
                <a:latin typeface="Cambria"/>
              </a:rPr>
              <a:t>Two lines in C++, seven in C, plus the table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Complexity of the Example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651760" algn="l"/>
              </a:tabLst>
            </a:pPr>
            <a:r>
              <a:rPr sz="2200" b="0">
                <a:latin typeface="Cambria"/>
              </a:rPr>
              <a:t>Array scan	O ( n · k )</a:t>
            </a:r>
          </a:p>
          <a:p>
            <a:pPr>
              <a:tabLst>
                <a:tab pos="548640" algn="l"/>
                <a:tab pos="2651760" algn="l"/>
              </a:tabLst>
            </a:pPr>
            <a:r>
              <a:rPr sz="2200" b="0">
                <a:latin typeface="Cambria"/>
              </a:rPr>
              <a:t>		n log entries, k known commands</a:t>
            </a:r>
          </a:p>
          <a:p>
            <a:pPr>
              <a:tabLst>
                <a:tab pos="548640" algn="l"/>
                <a:tab pos="2651760" algn="l"/>
              </a:tabLst>
            </a:pPr>
            <a:r>
              <a:rPr sz="2200">
                <a:latin typeface="Cambria"/>
              </a:rPr>
              <a:t> </a:t>
            </a:r>
          </a:p>
          <a:p>
            <a:pPr>
              <a:tabLst>
                <a:tab pos="548640" algn="l"/>
                <a:tab pos="2651760" algn="l"/>
              </a:tabLst>
            </a:pPr>
            <a:r>
              <a:rPr sz="2200" b="0">
                <a:latin typeface="Cambria"/>
              </a:rPr>
              <a:t>Hash table	</a:t>
            </a:r>
            <a:r>
              <a:rPr sz="2200" b="1">
                <a:latin typeface="Cambria"/>
              </a:rPr>
              <a:t>O ( n )</a:t>
            </a:r>
            <a:r>
              <a:rPr sz="2200" b="0">
                <a:latin typeface="Cambria"/>
              </a:rPr>
              <a:t>  average</a:t>
            </a:r>
          </a:p>
          <a:p>
            <a:pPr>
              <a:tabLst>
                <a:tab pos="548640" algn="l"/>
                <a:tab pos="2651760" algn="l"/>
              </a:tabLst>
            </a:pPr>
            <a:r>
              <a:rPr sz="2200">
                <a:latin typeface="Cambria"/>
              </a:rPr>
              <a:t> </a:t>
            </a:r>
          </a:p>
          <a:p>
            <a:pPr>
              <a:tabLst>
                <a:tab pos="548640" algn="l"/>
                <a:tab pos="2651760" algn="l"/>
              </a:tabLst>
            </a:pPr>
            <a:r>
              <a:rPr sz="2200" b="0">
                <a:latin typeface="Cambria"/>
              </a:rPr>
              <a:t>Sort then count	O ( n log n )</a:t>
            </a:r>
          </a:p>
          <a:p>
            <a:pPr>
              <a:tabLst>
                <a:tab pos="548640" algn="l"/>
                <a:tab pos="2651760" algn="l"/>
              </a:tabLst>
            </a:pPr>
            <a:r>
              <a:rPr sz="2200">
                <a:latin typeface="Cambria"/>
              </a:rPr>
              <a:t> </a:t>
            </a:r>
          </a:p>
          <a:p>
            <a:pPr>
              <a:tabLst>
                <a:tab pos="548640" algn="l"/>
                <a:tab pos="2651760" algn="l"/>
              </a:tabLst>
            </a:pPr>
            <a:r>
              <a:rPr sz="2200" b="0">
                <a:latin typeface="Cambria"/>
              </a:rPr>
              <a:t>For  n = 100,000  and  k = 20:</a:t>
            </a:r>
          </a:p>
          <a:p>
            <a:pPr>
              <a:tabLst>
                <a:tab pos="548640" algn="l"/>
                <a:tab pos="2651760" algn="l"/>
              </a:tabLst>
            </a:pPr>
            <a:r>
              <a:rPr sz="2200" b="0">
                <a:latin typeface="Cambria"/>
              </a:rPr>
              <a:t>	2 million compares  vs  100,000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Seeing a Hash Table in the Debugger</a:t>
            </a:r>
            <a:endParaRPr lang="en-US" sz="36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560320" algn="l"/>
              </a:tabLst>
            </a:pPr>
            <a:r>
              <a:rPr sz="2000" b="0">
                <a:latin typeface="Cambria"/>
              </a:rPr>
              <a:t>Our C table is just an array of pointers:</a:t>
            </a:r>
          </a:p>
          <a:p>
            <a:pPr>
              <a:tabLst>
                <a:tab pos="548640" algn="l"/>
                <a:tab pos="2560320" algn="l"/>
              </a:tabLst>
            </a:pPr>
            <a:r>
              <a:rPr sz="2000">
                <a:latin typeface="Cambria"/>
              </a:rPr>
              <a:t> </a:t>
            </a:r>
          </a:p>
          <a:p>
            <a:pPr>
              <a:tabLst>
                <a:tab pos="548640" algn="l"/>
                <a:tab pos="2560320" algn="l"/>
              </a:tabLst>
            </a:pPr>
            <a:r>
              <a:rPr sz="2000" b="0">
                <a:latin typeface="Cambria"/>
              </a:rPr>
              <a:t>	(gdb) p tableG [ 42 ]</a:t>
            </a:r>
          </a:p>
          <a:p>
            <a:pPr>
              <a:tabLst>
                <a:tab pos="548640" algn="l"/>
                <a:tab pos="2560320" algn="l"/>
              </a:tabLst>
            </a:pPr>
            <a:r>
              <a:rPr sz="2000" b="0">
                <a:latin typeface="Cambria"/>
              </a:rPr>
              <a:t>	(gdb) p *tableG [ 42 ]</a:t>
            </a:r>
          </a:p>
          <a:p>
            <a:pPr>
              <a:tabLst>
                <a:tab pos="548640" algn="l"/>
                <a:tab pos="2560320" algn="l"/>
              </a:tabLst>
            </a:pPr>
            <a:r>
              <a:rPr sz="2000" b="0">
                <a:latin typeface="Cambria"/>
              </a:rPr>
              <a:t>	(gdb) p *tableG [ 42 ]-&gt;next</a:t>
            </a:r>
          </a:p>
          <a:p>
            <a:pPr>
              <a:tabLst>
                <a:tab pos="548640" algn="l"/>
                <a:tab pos="2560320" algn="l"/>
              </a:tabLst>
            </a:pPr>
            <a:r>
              <a:rPr sz="2000">
                <a:latin typeface="Cambria"/>
              </a:rPr>
              <a:t> </a:t>
            </a:r>
          </a:p>
          <a:p>
            <a:pPr>
              <a:tabLst>
                <a:tab pos="548640" algn="l"/>
                <a:tab pos="2560320" algn="l"/>
              </a:tabLst>
            </a:pPr>
            <a:r>
              <a:rPr sz="2000" b="0">
                <a:latin typeface="Cambria"/>
              </a:rPr>
              <a:t>Walk the chain and you can </a:t>
            </a:r>
            <a:r>
              <a:rPr sz="2000" b="1">
                <a:latin typeface="Cambria"/>
              </a:rPr>
              <a:t>see</a:t>
            </a:r>
            <a:r>
              <a:rPr sz="2000" b="0">
                <a:latin typeface="Cambria"/>
              </a:rPr>
              <a:t> the collision</a:t>
            </a:r>
          </a:p>
          <a:p>
            <a:pPr>
              <a:tabLst>
                <a:tab pos="548640" algn="l"/>
                <a:tab pos="2560320" algn="l"/>
              </a:tabLst>
            </a:pPr>
            <a:r>
              <a:rPr sz="2000">
                <a:latin typeface="Cambria"/>
              </a:rPr>
              <a:t> </a:t>
            </a:r>
          </a:p>
          <a:p>
            <a:pPr>
              <a:tabLst>
                <a:tab pos="548640" algn="l"/>
                <a:tab pos="2560320" algn="l"/>
              </a:tabLst>
            </a:pPr>
            <a:r>
              <a:rPr sz="2000" b="0">
                <a:latin typeface="Cambria"/>
              </a:rPr>
              <a:t>C++ and Rust:	p readings.size ( )</a:t>
            </a:r>
          </a:p>
          <a:p>
            <a:pPr>
              <a:tabLst>
                <a:tab pos="548640" algn="l"/>
                <a:tab pos="2560320" algn="l"/>
              </a:tabLst>
            </a:pPr>
            <a:r>
              <a:rPr sz="2000" b="0">
                <a:latin typeface="Cambria"/>
              </a:rPr>
              <a:t>		p readings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Hash Tables on a Microcontroller</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468880" algn="l"/>
              </a:tabLst>
            </a:pPr>
            <a:r>
              <a:rPr sz="2100" b="0">
                <a:latin typeface="Cambria"/>
              </a:rPr>
              <a:t>Ask before you reach for one:</a:t>
            </a:r>
          </a:p>
          <a:p>
            <a:pPr>
              <a:tabLst>
                <a:tab pos="548640" algn="l"/>
                <a:tab pos="2468880" algn="l"/>
              </a:tabLst>
            </a:pPr>
            <a:r>
              <a:rPr sz="2100">
                <a:latin typeface="Cambria"/>
              </a:rPr>
              <a:t> </a:t>
            </a:r>
          </a:p>
          <a:p>
            <a:pPr>
              <a:tabLst>
                <a:tab pos="548640" algn="l"/>
                <a:tab pos="2468880" algn="l"/>
              </a:tabLst>
            </a:pPr>
            <a:r>
              <a:rPr sz="2100" b="1">
                <a:latin typeface="Cambria"/>
              </a:rPr>
              <a:t>How many keys?</a:t>
            </a:r>
            <a:r>
              <a:rPr sz="2100" b="0">
                <a:latin typeface="Cambria"/>
              </a:rPr>
              <a:t>	under 10  →  a linear scan wins</a:t>
            </a:r>
          </a:p>
          <a:p>
            <a:pPr>
              <a:tabLst>
                <a:tab pos="548640" algn="l"/>
                <a:tab pos="2468880" algn="l"/>
              </a:tabLst>
            </a:pPr>
            <a:r>
              <a:rPr sz="2100">
                <a:latin typeface="Cambria"/>
              </a:rPr>
              <a:t> </a:t>
            </a:r>
          </a:p>
          <a:p>
            <a:pPr>
              <a:tabLst>
                <a:tab pos="548640" algn="l"/>
                <a:tab pos="2468880" algn="l"/>
              </a:tabLst>
            </a:pPr>
            <a:r>
              <a:rPr sz="2100" b="1">
                <a:latin typeface="Cambria"/>
              </a:rPr>
              <a:t>Fixed keys?</a:t>
            </a:r>
            <a:r>
              <a:rPr sz="2100" b="0">
                <a:latin typeface="Cambria"/>
              </a:rPr>
              <a:t>	→  perfect hash in flash</a:t>
            </a:r>
          </a:p>
          <a:p>
            <a:pPr>
              <a:tabLst>
                <a:tab pos="548640" algn="l"/>
                <a:tab pos="2468880" algn="l"/>
              </a:tabLst>
            </a:pPr>
            <a:r>
              <a:rPr sz="2100">
                <a:latin typeface="Cambria"/>
              </a:rPr>
              <a:t> </a:t>
            </a:r>
          </a:p>
          <a:p>
            <a:pPr>
              <a:tabLst>
                <a:tab pos="548640" algn="l"/>
                <a:tab pos="2468880" algn="l"/>
              </a:tabLst>
            </a:pPr>
            <a:r>
              <a:rPr sz="2100" b="1">
                <a:latin typeface="Cambria"/>
              </a:rPr>
              <a:t>Is there a heap?</a:t>
            </a:r>
            <a:r>
              <a:rPr sz="2100" b="0">
                <a:latin typeface="Cambria"/>
              </a:rPr>
              <a:t>	chaining calls malloc</a:t>
            </a:r>
          </a:p>
          <a:p>
            <a:pPr>
              <a:tabLst>
                <a:tab pos="548640" algn="l"/>
                <a:tab pos="2468880" algn="l"/>
              </a:tabLst>
            </a:pPr>
            <a:r>
              <a:rPr sz="2100">
                <a:latin typeface="Cambria"/>
              </a:rPr>
              <a:t> </a:t>
            </a:r>
          </a:p>
          <a:p>
            <a:pPr>
              <a:tabLst>
                <a:tab pos="548640" algn="l"/>
                <a:tab pos="2468880" algn="l"/>
              </a:tabLst>
            </a:pPr>
            <a:r>
              <a:rPr sz="2100" b="0">
                <a:latin typeface="Cambria"/>
              </a:rPr>
              <a:t>An ESP32-S3 has RAM measured in </a:t>
            </a:r>
            <a:r>
              <a:rPr sz="2100" b="1">
                <a:latin typeface="Cambria"/>
              </a:rPr>
              <a:t>kilobytes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Choosing a Structure</a:t>
            </a:r>
            <a:endParaRPr lang="en-US" sz="4400" b="0" u="none" strike="noStrike" dirty="0">
              <a:solidFill>
                <a:srgbClr val="000000"/>
              </a:solidFill>
              <a:effectLst/>
              <a:uFillTx/>
              <a:latin typeface="Arial"/>
            </a:endParaRPr>
          </a:p>
        </p:txBody>
      </p:sp>
      <p:sp>
        <p:nvSpPr>
          <p:cNvPr id="388" name="Rectangle 387"/>
          <p:cNvSpPr/>
          <p:nvPr/>
        </p:nvSpPr>
        <p:spPr>
          <a:xfrm>
            <a:off x="1097280" y="2011680"/>
            <a:ext cx="3840480" cy="585216"/>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If you need ...</a:t>
            </a:r>
          </a:p>
        </p:txBody>
      </p:sp>
      <p:sp>
        <p:nvSpPr>
          <p:cNvPr id="389" name="Rectangle 388"/>
          <p:cNvSpPr/>
          <p:nvPr/>
        </p:nvSpPr>
        <p:spPr>
          <a:xfrm>
            <a:off x="4937760" y="2011680"/>
            <a:ext cx="3657600" cy="585216"/>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Use</a:t>
            </a:r>
          </a:p>
        </p:txBody>
      </p:sp>
      <p:sp>
        <p:nvSpPr>
          <p:cNvPr id="390" name="Rectangle 389"/>
          <p:cNvSpPr/>
          <p:nvPr/>
        </p:nvSpPr>
        <p:spPr>
          <a:xfrm>
            <a:off x="1097280" y="2596896"/>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Key is a small integer</a:t>
            </a:r>
          </a:p>
        </p:txBody>
      </p:sp>
      <p:sp>
        <p:nvSpPr>
          <p:cNvPr id="391" name="Rectangle 390"/>
          <p:cNvSpPr/>
          <p:nvPr/>
        </p:nvSpPr>
        <p:spPr>
          <a:xfrm>
            <a:off x="4937760" y="2596896"/>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plain array</a:t>
            </a:r>
          </a:p>
        </p:txBody>
      </p:sp>
      <p:sp>
        <p:nvSpPr>
          <p:cNvPr id="392" name="Rectangle 391"/>
          <p:cNvSpPr/>
          <p:nvPr/>
        </p:nvSpPr>
        <p:spPr>
          <a:xfrm>
            <a:off x="1097280" y="3182112"/>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Fewer than about 10 keys</a:t>
            </a:r>
          </a:p>
        </p:txBody>
      </p:sp>
      <p:sp>
        <p:nvSpPr>
          <p:cNvPr id="393" name="Rectangle 392"/>
          <p:cNvSpPr/>
          <p:nvPr/>
        </p:nvSpPr>
        <p:spPr>
          <a:xfrm>
            <a:off x="4937760" y="3182112"/>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linear scan</a:t>
            </a:r>
          </a:p>
        </p:txBody>
      </p:sp>
      <p:sp>
        <p:nvSpPr>
          <p:cNvPr id="394" name="Rectangle 393"/>
          <p:cNvSpPr/>
          <p:nvPr/>
        </p:nvSpPr>
        <p:spPr>
          <a:xfrm>
            <a:off x="1097280" y="3767328"/>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Fixed keys, known at build</a:t>
            </a:r>
          </a:p>
        </p:txBody>
      </p:sp>
      <p:sp>
        <p:nvSpPr>
          <p:cNvPr id="395" name="Rectangle 394"/>
          <p:cNvSpPr/>
          <p:nvPr/>
        </p:nvSpPr>
        <p:spPr>
          <a:xfrm>
            <a:off x="4937760" y="3767328"/>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perfect hash</a:t>
            </a:r>
          </a:p>
        </p:txBody>
      </p:sp>
      <p:sp>
        <p:nvSpPr>
          <p:cNvPr id="396" name="Rectangle 395"/>
          <p:cNvSpPr/>
          <p:nvPr/>
        </p:nvSpPr>
        <p:spPr>
          <a:xfrm>
            <a:off x="1097280" y="4352544"/>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Fast lookup by any key</a:t>
            </a:r>
          </a:p>
        </p:txBody>
      </p:sp>
      <p:sp>
        <p:nvSpPr>
          <p:cNvPr id="397" name="Rectangle 396"/>
          <p:cNvSpPr/>
          <p:nvPr/>
        </p:nvSpPr>
        <p:spPr>
          <a:xfrm>
            <a:off x="4937760" y="4352544"/>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hash table</a:t>
            </a:r>
          </a:p>
        </p:txBody>
      </p:sp>
      <p:sp>
        <p:nvSpPr>
          <p:cNvPr id="398" name="Rectangle 397"/>
          <p:cNvSpPr/>
          <p:nvPr/>
        </p:nvSpPr>
        <p:spPr>
          <a:xfrm>
            <a:off x="1097280" y="4937760"/>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Keys in sorted order</a:t>
            </a:r>
          </a:p>
        </p:txBody>
      </p:sp>
      <p:sp>
        <p:nvSpPr>
          <p:cNvPr id="399" name="Rectangle 398"/>
          <p:cNvSpPr/>
          <p:nvPr/>
        </p:nvSpPr>
        <p:spPr>
          <a:xfrm>
            <a:off x="4937760" y="4937760"/>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tree:  map or BTreeMap</a:t>
            </a:r>
          </a:p>
        </p:txBody>
      </p:sp>
      <p:sp>
        <p:nvSpPr>
          <p:cNvPr id="400" name="Rectangle 399"/>
          <p:cNvSpPr/>
          <p:nvPr/>
        </p:nvSpPr>
        <p:spPr>
          <a:xfrm>
            <a:off x="1097280" y="5522976"/>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Ranges or nearest match</a:t>
            </a:r>
          </a:p>
        </p:txBody>
      </p:sp>
      <p:sp>
        <p:nvSpPr>
          <p:cNvPr id="401" name="Rectangle 400"/>
          <p:cNvSpPr/>
          <p:nvPr/>
        </p:nvSpPr>
        <p:spPr>
          <a:xfrm>
            <a:off x="4937760" y="5522976"/>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tree</a:t>
            </a:r>
          </a:p>
        </p:txBody>
      </p:sp>
      <p:sp>
        <p:nvSpPr>
          <p:cNvPr id="402" name="Rectangle 401"/>
          <p:cNvSpPr/>
          <p:nvPr/>
        </p:nvSpPr>
        <p:spPr>
          <a:xfrm>
            <a:off x="1097280" y="6108192"/>
            <a:ext cx="384048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Membership only</a:t>
            </a:r>
          </a:p>
        </p:txBody>
      </p:sp>
      <p:sp>
        <p:nvSpPr>
          <p:cNvPr id="403" name="Rectangle 402"/>
          <p:cNvSpPr/>
          <p:nvPr/>
        </p:nvSpPr>
        <p:spPr>
          <a:xfrm>
            <a:off x="4937760" y="6108192"/>
            <a:ext cx="3657600" cy="585216"/>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 hash set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Common Mistakes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200" b="0">
                <a:latin typeface="Cambria"/>
              </a:rPr>
              <a:t>Changing a key </a:t>
            </a:r>
            <a:r>
              <a:rPr sz="2200" b="1">
                <a:latin typeface="Cambria"/>
              </a:rPr>
              <a:t>after</a:t>
            </a:r>
            <a:r>
              <a:rPr sz="2200" b="0">
                <a:latin typeface="Cambria"/>
              </a:rPr>
              <a:t> it is inserted</a:t>
            </a:r>
          </a:p>
          <a:p>
            <a:pPr>
              <a:tabLst>
                <a:tab pos="548640" algn="l"/>
                <a:tab pos="1097280" algn="l"/>
                <a:tab pos="1645920" algn="l"/>
                <a:tab pos="2194560" algn="l"/>
              </a:tabLst>
            </a:pPr>
            <a:r>
              <a:rPr sz="2200" b="0">
                <a:latin typeface="Cambria"/>
              </a:rPr>
              <a:t>	the entry is now in the wrong bucket</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Hashing and comparing </a:t>
            </a:r>
            <a:r>
              <a:rPr sz="2200" b="1">
                <a:latin typeface="Cambria"/>
              </a:rPr>
              <a:t>different</a:t>
            </a:r>
            <a:r>
              <a:rPr sz="2200" b="0">
                <a:latin typeface="Cambria"/>
              </a:rPr>
              <a:t> fields</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Using  </a:t>
            </a:r>
            <a:r>
              <a:rPr sz="2200" b="1">
                <a:latin typeface="Cambria"/>
              </a:rPr>
              <a:t>[ ]</a:t>
            </a:r>
            <a:r>
              <a:rPr sz="2200" b="0">
                <a:latin typeface="Cambria"/>
              </a:rPr>
              <a:t>  in C++ to test for a key</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Letting  α  reach 1.0 with open addressing</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Assuming the iteration order means anything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We Can Now Do</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1">
                <a:latin typeface="Cambria"/>
              </a:rPr>
              <a:t>Compute</a:t>
            </a:r>
            <a:r>
              <a:rPr sz="2400" b="0">
                <a:latin typeface="Cambria"/>
              </a:rPr>
              <a:t> a bucket instead of searching</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1">
                <a:latin typeface="Cambria"/>
              </a:rPr>
              <a:t>Choose</a:t>
            </a:r>
            <a:r>
              <a:rPr sz="2400" b="0">
                <a:latin typeface="Cambria"/>
              </a:rPr>
              <a:t> a hash function and a table size</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1">
                <a:latin typeface="Cambria"/>
              </a:rPr>
              <a:t>Handle</a:t>
            </a:r>
            <a:r>
              <a:rPr sz="2400" b="0">
                <a:latin typeface="Cambria"/>
              </a:rPr>
              <a:t> collisions by chaining or probing</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1">
                <a:latin typeface="Cambria"/>
              </a:rPr>
              <a:t>Predict</a:t>
            </a:r>
            <a:r>
              <a:rPr sz="2400" b="0">
                <a:latin typeface="Cambria"/>
              </a:rPr>
              <a:t> cost from the load factor  α</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1">
                <a:latin typeface="Cambria"/>
              </a:rPr>
              <a:t>Generate</a:t>
            </a:r>
            <a:r>
              <a:rPr sz="2400" b="0">
                <a:latin typeface="Cambria"/>
              </a:rPr>
              <a:t> a perfect hash for fixed keys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Let's practice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800">
                <a:latin typeface="Cambria"/>
              </a:rPr>
              <a:t> </a:t>
            </a:r>
          </a:p>
          <a:p>
            <a:pPr>
              <a:tabLst>
                <a:tab pos="548640" algn="l"/>
                <a:tab pos="1097280" algn="l"/>
                <a:tab pos="1645920" algn="l"/>
                <a:tab pos="2194560" algn="l"/>
              </a:tabLst>
            </a:pPr>
            <a:r>
              <a:rPr sz="2800" b="0">
                <a:latin typeface="Cambria"/>
              </a:rPr>
              <a:t>Exercise:  Using </a:t>
            </a:r>
            <a:r>
              <a:rPr sz="2800" b="1">
                <a:latin typeface="Cambria"/>
              </a:rPr>
              <a:t>hashpractice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57837</TotalTime>
  <Words>4781</Words>
  <Application>Microsoft Office PowerPoint</Application>
  <PresentationFormat>Custom</PresentationFormat>
  <Paragraphs>954</Paragraphs>
  <Slides>76</Slides>
  <Notes>76</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76</vt:i4>
      </vt:variant>
    </vt:vector>
  </HeadingPairs>
  <TitlesOfParts>
    <vt:vector size="89" baseType="lpstr">
      <vt:lpstr>ＭＳ Ｐゴシック</vt:lpstr>
      <vt:lpstr>Arial</vt:lpstr>
      <vt:lpstr>Calibri</vt:lpstr>
      <vt:lpstr>Cambria</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540</cp:revision>
  <dcterms:created xsi:type="dcterms:W3CDTF">2013-08-28T11:36:20Z</dcterms:created>
  <dcterms:modified xsi:type="dcterms:W3CDTF">2026-09-23T03:15:32Z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