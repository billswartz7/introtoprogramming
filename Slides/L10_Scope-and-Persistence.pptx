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8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332" r:id="rId19"/>
    <p:sldId id="331" r:id="rId20"/>
    <p:sldId id="271" r:id="rId21"/>
    <p:sldId id="272" r:id="rId22"/>
    <p:sldId id="333" r:id="rId23"/>
    <p:sldId id="273" r:id="rId24"/>
    <p:sldId id="274" r:id="rId25"/>
    <p:sldId id="334" r:id="rId26"/>
    <p:sldId id="275" r:id="rId27"/>
    <p:sldId id="33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30"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60"/>
  </p:normalViewPr>
  <p:slideViewPr>
    <p:cSldViewPr snapToGrid="0" showGuides="1">
      <p:cViewPr varScale="1">
        <p:scale>
          <a:sx n="97" d="100"/>
          <a:sy n="97" d="100"/>
        </p:scale>
        <p:origin x="2148" y="78"/>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Title slide. Every variable so far has had a name, a type and an address. Today: who can see that name, and how long the address stays valid.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72702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Quick review, pointing at things students have already seen happen without an explanation.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5408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whole lecture hangs on keeping these two apart. A variable can be invisible but still alive (a local static), or visible but already dead (a dangling pointer).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60436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Callback to lecture one: a symbol is a name for an address. Scope decides where the compiler will let you use that name.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13537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Lexical means you can determine scope by reading the code, without running it. All three of our languages are lexically scoped.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6662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pair of braces opens a new scope: a function body, a loop body, an if, or a bare block.</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615702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Rust has no top-level let: a module-level variable must be a static or a const. The G suffix is our naming convention, so globals stand out when reading code.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70634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Same rule in all three languages. The parameter names are visible from the opening brace.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64158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Each comment lists every name visible at that point. Note that p itself is visible inside p - which is what makes recursion possible.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75170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bare inner block creates a scope of its own: count exists only inside it. (If this file included stdlib.h, the name qsort would collide with the library function.)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236912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Local variables follow exactly the same brace rule. One difference is on the next slide: Rust items such as functions and statics are visible everywhere in their module.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524414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This is why C needs prototypes and Rust does not, as we saw in the functions lecture.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42414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In C and C++, redeclaring x in the same scope is an error. Shadowing is legal but easy to misread - compile C with -Wshadow to catch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00813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Callback to the loops lecture. Each iteration of the body is a fresh entry into the body's scope, so a variable declared inside the body is re-created every pass.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37990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Transition from scope (names) to persistence (memory).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93373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This is the slide to remember. The same bytes are described twice, for two different readers. The linker reads sections while it is building the program; the kernel reads segments while it is loading it. Neither one needs the other table.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87935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abstract picture from "Two Views", now with the real section names in it. Walk down the column: the two grey tables at the top and bottom are the two views, and everything between them is the program. Point out that only the middle group is loaded, and that .bss is in the list even though it contributes no bytes to the file.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78346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classic 32-bit Linux layout. Your program is loaded near the bottom: text, then data and BSS. The heap grows up; the stack grows down from near the top.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42498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BSS stands for Block Started by Symbol. "Uninitialized" is a misnomer: the OS zero-fills it at load time, so the object file only needs to record its size, not its contents.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85395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classic 32-bit Linux layout. Your program is loaded near the bottom: text, then data and BSS. The heap grows up; the stack grows down from near the top.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73071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Callback to the call stack diagram in the functions lecture.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098111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x86 frame layout. Arguments sit above the return address at positive offsets from the frame pointer; locals sit below it at negative offsets. Every call builds one of these.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37273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classic 32-bit Linux layout. Your program is loaded near the bottom: text, then data and BSS. The heap grows up; the stack grows down from near the top.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3768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heap is the only region whose lifetime you control directly. That is its power and its danger.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79179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classic 32-bit Linux layout. Your program is loaded near the bottom: text, then data and BSS. The heap grows up; the stack grows down from near the top.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279049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buf itself is a local pointer on the stack; the 400 bytes it points to are on the heap. The pointer dies at the closing brace, but the memory does not.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12225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new pairs with delete, new[] with delete[]. Modern C++ rarely writes either: vector and unique_ptr free the memory in their destructors when they go out of scope.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03500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Here scope and persistence meet: in Rust (and modern C++), the lifetime of heap memory is tied to the scope of the variable that owns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467147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These are among the most common security bugs in C programs. Tools such as valgrind and -fsanitize=address find them at run time.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025180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Every local variable we have written so far has been an automatic variable.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691329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Reading an uninitialized local is undefined behavior. It often "works" in testing and fails in the field. -Wall catches many cases.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111941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Rust's definite-initialization check turns a run-time mystery into a compile error.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903126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Also called static storage duration. How far the NAME reaches is a separate question - its scope.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420887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This is the map for the next section. All three live the whole program; they differ only in who can see the name.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741155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stepL starts at 0 (data segment) and keeps its value from one call to the next. The L suffix marks a local static. Same syntax in 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055090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Students expect countL to reset to 0 each call. It does not: the initializer runs once. In C++ a local static is initialized on first use, and that is thread safe since C++11.</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178762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Rust allows a static inside a function, but a plain mutable static needs unsafe to touch. An atomic is the safe choice. fetch_add returns the old value, hence the + 1.</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08331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 declaration makes a promise to the compiler: something with this name and type exists somewhere.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050986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 definition keeps the promise. Every declaration needs exactly one definition somewhere in the program.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208378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prototype is all a caller needs: name, parameter types, return type.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593523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Functions are extern by default in C and C++. Writing it anyway makes the intent obvious. C++ calls the one-definition requirement the One Definition Rule.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0448580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definition is compiled into instructions in the text segment; the name access_data is the address of the first one.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450346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For variables, extern is required: without it, the line would be a definition and allocate memory.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7898159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pair to the previous slide: one file defines, every other file declares with extern.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15436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Callback to the header-and-source split in the functions lecture.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997307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 module plays the role of a C file plus its header. use is how a name from another module enters the current scope.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389783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Defined outside every function, so it is persistent and visible to every function that follows it in this file.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0140303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Usually the extern line lives in a header that every file includes, so all files agree on the type.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0383643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namespace does not change lifetime, only the name. The :: is the same scope operator as sample::to_kpa in the functions lecture.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555799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Rust makes the hazard visible. Immutable statics and const are fine without unsafe; for shared mutable state, prefer an atomic or a Mutex.</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4544818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Ordering is about how threads see each other's writes - a topic for later. Relaxed is fine for a simple counter. On embedded Rust, use core::sync::atomic instead of std.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325370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Pose the question and let students guess before the next slide. The S suffix marks a file static.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635391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lifetime as a global, smaller scope. The word static means "persistent" inside a function but "private to this file" outside one - an unfortunate double meaning in 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685202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An unnamed namespace can hold types and functions as well as variables, and avoids the overloaded meaning of static.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896306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Rust reverses C's default: in C everything is global unless you say static; in Rust everything is private unless you say pub.</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6861346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hides the function from the linker: other object files cannot call it, and its name cannot collide with theirs.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610034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Good practice: every helper that is not part of the file's public interface should be static.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0882660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Rust's pub(crate) is a middle ground with no direct C equivalent.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08792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word crate is Rust-specific. Think of it as a whole C project - many files - that the compiler sees as one piece.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9576723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Two persistent variables, same lifetime, different scope. Predict the output before the run slide.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699715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countG here is the same variable as in main.c. resetS here is a completely separate variable that happens to share the name.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500635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Excerpt from nm on macOS. Uppercase letters are global symbols, lowercase are local to the file. Newer gcc (10 and later) defaults to -fno-common, so countG shows as B (BSS) instead of 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720542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two resetS symbols have different addresses. This is the whole difference between global and file static, visible in the executable.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390576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side effect is a change to state outside the function. Globals make side effects possible from anywhere, which makes programs harder to reason about.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024157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MIPS assembly from the original example. A local could stay in a register across the call; the global must go back to memory. Putting everything in one file is a poor fix - use locals, parameters, and const.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572265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pub on COUNT_G makes it the shared global; each RESET_S is private to its own module. Imports of AtomicI32 omitted to fit the slide.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01290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volatile is about the compiler, not the hardware: it forces a real memory access every time the source says so.</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654977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Case 3 needs more than volatile in modern C and C++ - see the threads slide later.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1690149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From the compiler's point of view the loop body does nothing, so reading the same address again is wasted work. Only the hardware knows better.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1147293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Read the declaration right to left: my_reg is a pointer to a volatile uint8_t. The pointer itself never changes.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787516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interrupt routine is never called from main, so the compiler cannot see that it changes the flag. The interrupt keyword is compiler-specific.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0023119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 single bool read and written whole is safe here. A multi-byte value changed by an interrupt can still be torn - read half old, half new.</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0135331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Rust puts volatility on the access, not the variable. In practice you use the peripheral access crate generated for your chip, which does this inside safe methods.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3308710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Acquire and Release pair up so that anything the interrupt wrote before setting the flag is visible to main after it sees the flag.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882549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volatile is for hardware. Atomics are for sharing between threads and tasks. A preview of the concurrency material later in the course.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284176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Photograph slide. The first four rows are about names and the data segment and stack; the last row is the heap, where lifetime is set by the program.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3547971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Photograph slide. Note how Rust's defaults are the safe choice: private unless pub, no mutable global without unsafe or an atomic.</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4899465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naming suffixes make scope visible at every use, which is exactly where you need to know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81294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Summary. Every variable in the course so far can now be placed: its scope, its lifetime, and where its bytes live.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9968717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Lab exercise. Suggested: build the main.c and mysub.c example, run nm on each object and on the executable, and find the one countG and the two resetS; then write count_calls in all three languages.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78904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Scope and Persistence</a:t>
            </a:r>
            <a:endParaRPr lang="en-US" sz="44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Where We Left Off</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970318"/>
          </a:xfrm>
          <a:prstGeom prst="rect">
            <a:avLst/>
          </a:prstGeom>
          <a:noFill/>
        </p:spPr>
        <p:txBody>
          <a:bodyPr wrap="square">
            <a:spAutoFit/>
          </a:bodyPr>
          <a:lstStyle/>
          <a:p>
            <a:pPr>
              <a:tabLst>
                <a:tab pos="548640" algn="l"/>
                <a:tab pos="1097280" algn="l"/>
                <a:tab pos="1645920" algn="l"/>
                <a:tab pos="2194560" algn="l"/>
              </a:tabLst>
            </a:pPr>
            <a:r>
              <a:rPr sz="2800" b="1" dirty="0">
                <a:latin typeface="Cambria"/>
              </a:rPr>
              <a:t>Functions</a:t>
            </a:r>
            <a:r>
              <a:rPr sz="2800" b="0" dirty="0">
                <a:latin typeface="Cambria"/>
              </a:rPr>
              <a:t> have parameters and local variables</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1" dirty="0">
                <a:latin typeface="Cambria"/>
              </a:rPr>
              <a:t>Loops</a:t>
            </a:r>
            <a:r>
              <a:rPr sz="2800" b="0" dirty="0">
                <a:latin typeface="Cambria"/>
              </a:rPr>
              <a:t> declare loop variables like  </a:t>
            </a:r>
            <a:r>
              <a:rPr sz="2800" b="0" dirty="0" err="1">
                <a:latin typeface="Cambria"/>
              </a:rPr>
              <a:t>i</a:t>
            </a:r>
            <a:endParaRPr sz="2800" b="0" dirty="0">
              <a:latin typeface="Cambria"/>
            </a:endParaRP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Some names vanish at the closing brace</a:t>
            </a:r>
          </a:p>
          <a:p>
            <a:pPr>
              <a:tabLst>
                <a:tab pos="548640" algn="l"/>
                <a:tab pos="1097280" algn="l"/>
                <a:tab pos="1645920" algn="l"/>
                <a:tab pos="2194560" algn="l"/>
              </a:tabLst>
            </a:pPr>
            <a:endParaRPr lang="en-US" sz="2800" b="0" dirty="0" smtClean="0">
              <a:latin typeface="Cambria"/>
            </a:endParaRPr>
          </a:p>
          <a:p>
            <a:pPr>
              <a:tabLst>
                <a:tab pos="548640" algn="l"/>
                <a:tab pos="1097280" algn="l"/>
                <a:tab pos="1645920" algn="l"/>
                <a:tab pos="2194560" algn="l"/>
              </a:tabLst>
            </a:pPr>
            <a:r>
              <a:rPr sz="2800" b="0" dirty="0" smtClean="0">
                <a:latin typeface="Cambria"/>
              </a:rPr>
              <a:t>Some </a:t>
            </a:r>
            <a:r>
              <a:rPr sz="2800" b="0" dirty="0">
                <a:latin typeface="Cambria"/>
              </a:rPr>
              <a:t>values survive between calls</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Today:  the rules behind both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Two Questions for Every Variable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600" b="1" dirty="0">
                <a:latin typeface="Cambria"/>
              </a:rPr>
              <a:t>Scope</a:t>
            </a:r>
            <a:r>
              <a:rPr sz="2600" b="0" dirty="0">
                <a:latin typeface="Cambria"/>
              </a:rPr>
              <a:t>:  where can the </a:t>
            </a:r>
            <a:r>
              <a:rPr sz="2600" b="1" dirty="0">
                <a:latin typeface="Cambria"/>
              </a:rPr>
              <a:t>name</a:t>
            </a:r>
            <a:r>
              <a:rPr sz="2600" b="0" dirty="0">
                <a:latin typeface="Cambria"/>
              </a:rPr>
              <a:t> be used?</a:t>
            </a:r>
          </a:p>
          <a:p>
            <a:pPr>
              <a:tabLst>
                <a:tab pos="548640" algn="l"/>
                <a:tab pos="1097280" algn="l"/>
                <a:tab pos="1645920" algn="l"/>
                <a:tab pos="2194560" algn="l"/>
              </a:tabLst>
            </a:pPr>
            <a:r>
              <a:rPr sz="2600" b="0" dirty="0">
                <a:latin typeface="Cambria"/>
              </a:rPr>
              <a:t>	a property of the source code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1" dirty="0">
                <a:latin typeface="Cambria"/>
              </a:rPr>
              <a:t>Persistence</a:t>
            </a:r>
            <a:r>
              <a:rPr sz="2600" b="0" dirty="0">
                <a:latin typeface="Cambria"/>
              </a:rPr>
              <a:t>:  how long does the </a:t>
            </a:r>
            <a:r>
              <a:rPr sz="2600" b="1" dirty="0">
                <a:latin typeface="Cambria"/>
              </a:rPr>
              <a:t>memory</a:t>
            </a:r>
            <a:r>
              <a:rPr sz="2600" b="0" dirty="0">
                <a:latin typeface="Cambria"/>
              </a:rPr>
              <a:t> exist?</a:t>
            </a:r>
          </a:p>
          <a:p>
            <a:pPr>
              <a:tabLst>
                <a:tab pos="548640" algn="l"/>
                <a:tab pos="1097280" algn="l"/>
                <a:tab pos="1645920" algn="l"/>
                <a:tab pos="2194560" algn="l"/>
              </a:tabLst>
            </a:pPr>
            <a:r>
              <a:rPr sz="2600" b="0" dirty="0">
                <a:latin typeface="Cambria"/>
              </a:rPr>
              <a:t>	a property of the running program</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Also called </a:t>
            </a:r>
            <a:r>
              <a:rPr sz="2600" b="1" dirty="0">
                <a:latin typeface="Cambria"/>
              </a:rPr>
              <a:t>visibility</a:t>
            </a:r>
            <a:r>
              <a:rPr sz="2600" b="0" dirty="0">
                <a:latin typeface="Cambria"/>
              </a:rPr>
              <a:t> and </a:t>
            </a:r>
            <a:r>
              <a:rPr sz="2600" b="1" dirty="0">
                <a:latin typeface="Cambria"/>
              </a:rPr>
              <a:t>lifetime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Names Are Addresses</a:t>
            </a:r>
            <a:endParaRPr lang="en-US" sz="4400" b="0" u="none" strike="noStrike" dirty="0">
              <a:solidFill>
                <a:srgbClr val="000000"/>
              </a:solidFill>
              <a:effectLst/>
              <a:uFillTx/>
              <a:latin typeface="Arial"/>
            </a:endParaRPr>
          </a:p>
        </p:txBody>
      </p:sp>
      <p:sp>
        <p:nvSpPr>
          <p:cNvPr id="388" name="TextBox 387"/>
          <p:cNvSpPr txBox="1"/>
          <p:nvPr/>
        </p:nvSpPr>
        <p:spPr>
          <a:xfrm>
            <a:off x="589872" y="2008936"/>
            <a:ext cx="8878593" cy="2893100"/>
          </a:xfrm>
          <a:prstGeom prst="rect">
            <a:avLst/>
          </a:prstGeom>
          <a:noFill/>
        </p:spPr>
        <p:txBody>
          <a:bodyPr wrap="square">
            <a:spAutoFit/>
          </a:bodyPr>
          <a:lstStyle/>
          <a:p>
            <a:pPr>
              <a:tabLst>
                <a:tab pos="548640" algn="l"/>
                <a:tab pos="1097280" algn="l"/>
                <a:tab pos="1645920" algn="l"/>
                <a:tab pos="2194560" algn="l"/>
              </a:tabLst>
            </a:pPr>
            <a:r>
              <a:rPr sz="2600" b="0" dirty="0">
                <a:latin typeface="Cambria"/>
              </a:rPr>
              <a:t>A </a:t>
            </a:r>
            <a:r>
              <a:rPr sz="2600" b="1" dirty="0">
                <a:latin typeface="Cambria"/>
              </a:rPr>
              <a:t>variable</a:t>
            </a:r>
            <a:r>
              <a:rPr sz="2600" b="0" dirty="0">
                <a:latin typeface="Cambria"/>
              </a:rPr>
              <a:t> is a symbolic name for an </a:t>
            </a:r>
            <a:r>
              <a:rPr sz="2600" b="0" dirty="0" smtClean="0">
                <a:latin typeface="Cambria"/>
              </a:rPr>
              <a:t>address</a:t>
            </a:r>
            <a:r>
              <a:rPr lang="en-US" sz="2600" b="0" dirty="0" smtClean="0">
                <a:latin typeface="Cambria"/>
              </a:rPr>
              <a:t> </a:t>
            </a:r>
            <a:r>
              <a:rPr sz="2600" b="0" dirty="0" smtClean="0">
                <a:latin typeface="Cambria"/>
              </a:rPr>
              <a:t>in </a:t>
            </a:r>
            <a:r>
              <a:rPr sz="2600" b="0" dirty="0">
                <a:latin typeface="Cambria"/>
              </a:rPr>
              <a:t>the </a:t>
            </a:r>
            <a:r>
              <a:rPr sz="2600" b="1" dirty="0">
                <a:latin typeface="Cambria"/>
              </a:rPr>
              <a:t>data</a:t>
            </a:r>
            <a:r>
              <a:rPr sz="2600" b="0" dirty="0">
                <a:latin typeface="Cambria"/>
              </a:rPr>
              <a:t> section of the program</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A </a:t>
            </a:r>
            <a:r>
              <a:rPr sz="2600" b="1" dirty="0">
                <a:latin typeface="Cambria"/>
              </a:rPr>
              <a:t>function</a:t>
            </a:r>
            <a:r>
              <a:rPr sz="2600" b="0" dirty="0">
                <a:latin typeface="Cambria"/>
              </a:rPr>
              <a:t> is a symbolic name for an </a:t>
            </a:r>
            <a:r>
              <a:rPr sz="2600" b="0" dirty="0" smtClean="0">
                <a:latin typeface="Cambria"/>
              </a:rPr>
              <a:t>address</a:t>
            </a:r>
            <a:r>
              <a:rPr lang="en-US" sz="2600" b="0" dirty="0" smtClean="0">
                <a:latin typeface="Cambria"/>
              </a:rPr>
              <a:t> </a:t>
            </a:r>
            <a:r>
              <a:rPr sz="2600" b="0" dirty="0" smtClean="0">
                <a:latin typeface="Cambria"/>
              </a:rPr>
              <a:t>in the</a:t>
            </a:r>
            <a:r>
              <a:rPr lang="en-US" sz="2600" dirty="0">
                <a:latin typeface="Cambria"/>
              </a:rPr>
              <a:t> </a:t>
            </a:r>
            <a:r>
              <a:rPr sz="2600" b="1" dirty="0" smtClean="0">
                <a:latin typeface="Cambria"/>
              </a:rPr>
              <a:t>instruction</a:t>
            </a:r>
            <a:r>
              <a:rPr sz="2600" b="0" dirty="0" smtClean="0">
                <a:latin typeface="Cambria"/>
              </a:rPr>
              <a:t> </a:t>
            </a:r>
            <a:r>
              <a:rPr sz="2600" b="0" dirty="0">
                <a:latin typeface="Cambria"/>
              </a:rPr>
              <a:t>section  (the text)</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You must be inside the </a:t>
            </a:r>
            <a:r>
              <a:rPr sz="2600" b="1" dirty="0">
                <a:latin typeface="Cambria"/>
              </a:rPr>
              <a:t>scope</a:t>
            </a:r>
            <a:r>
              <a:rPr sz="2600" b="0" dirty="0">
                <a:latin typeface="Cambria"/>
              </a:rPr>
              <a:t> to </a:t>
            </a:r>
            <a:r>
              <a:rPr sz="2600" b="0" dirty="0" smtClean="0">
                <a:latin typeface="Cambria"/>
              </a:rPr>
              <a:t>see</a:t>
            </a:r>
            <a:r>
              <a:rPr lang="en-US" sz="2600" b="0" dirty="0" smtClean="0">
                <a:latin typeface="Cambria"/>
              </a:rPr>
              <a:t> </a:t>
            </a:r>
            <a:r>
              <a:rPr sz="2600" b="0" dirty="0" smtClean="0">
                <a:latin typeface="Cambria"/>
              </a:rPr>
              <a:t>the </a:t>
            </a:r>
            <a:r>
              <a:rPr sz="2600" b="0" dirty="0">
                <a:latin typeface="Cambria"/>
              </a:rPr>
              <a:t>address as a symbol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Lexical Scoping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819598" cy="2893100"/>
          </a:xfrm>
          <a:prstGeom prst="rect">
            <a:avLst/>
          </a:prstGeom>
          <a:noFill/>
        </p:spPr>
        <p:txBody>
          <a:bodyPr wrap="square">
            <a:spAutoFit/>
          </a:bodyPr>
          <a:lstStyle/>
          <a:p>
            <a:pPr>
              <a:tabLst>
                <a:tab pos="548640" algn="l"/>
                <a:tab pos="1097280" algn="l"/>
                <a:tab pos="1645920" algn="l"/>
                <a:tab pos="2194560" algn="l"/>
              </a:tabLst>
            </a:pPr>
            <a:r>
              <a:rPr sz="2600" b="0" dirty="0">
                <a:latin typeface="Cambria"/>
              </a:rPr>
              <a:t>Scope defines where a variable or a </a:t>
            </a:r>
            <a:r>
              <a:rPr sz="2600" b="0" dirty="0" smtClean="0">
                <a:latin typeface="Cambria"/>
              </a:rPr>
              <a:t>function</a:t>
            </a:r>
            <a:r>
              <a:rPr lang="en-US" sz="2600" b="0" dirty="0" smtClean="0">
                <a:latin typeface="Cambria"/>
              </a:rPr>
              <a:t> </a:t>
            </a:r>
            <a:r>
              <a:rPr sz="2600" b="0" dirty="0" smtClean="0">
                <a:latin typeface="Cambria"/>
              </a:rPr>
              <a:t>name </a:t>
            </a:r>
            <a:r>
              <a:rPr sz="2600" b="0" dirty="0">
                <a:latin typeface="Cambria"/>
              </a:rPr>
              <a:t>is </a:t>
            </a:r>
            <a:r>
              <a:rPr sz="2600" b="1" dirty="0">
                <a:latin typeface="Cambria"/>
              </a:rPr>
              <a:t>valid</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A variable cannot be referenced by </a:t>
            </a:r>
            <a:r>
              <a:rPr sz="2600" b="0" dirty="0" smtClean="0">
                <a:latin typeface="Cambria"/>
              </a:rPr>
              <a:t>name</a:t>
            </a:r>
            <a:r>
              <a:rPr lang="en-US" sz="2600" b="0" dirty="0" smtClean="0">
                <a:latin typeface="Cambria"/>
              </a:rPr>
              <a:t> </a:t>
            </a:r>
            <a:r>
              <a:rPr sz="2600" b="0" dirty="0" smtClean="0">
                <a:latin typeface="Cambria"/>
              </a:rPr>
              <a:t>from </a:t>
            </a:r>
            <a:r>
              <a:rPr sz="2600" b="1" dirty="0">
                <a:latin typeface="Cambria"/>
              </a:rPr>
              <a:t>outside</a:t>
            </a:r>
            <a:r>
              <a:rPr sz="2600" b="0" dirty="0">
                <a:latin typeface="Cambria"/>
              </a:rPr>
              <a:t> its scope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"Lexical" means it is decided by where </a:t>
            </a:r>
            <a:r>
              <a:rPr sz="2600" b="0" dirty="0" smtClean="0">
                <a:latin typeface="Cambria"/>
              </a:rPr>
              <a:t>the</a:t>
            </a:r>
            <a:r>
              <a:rPr lang="en-US" sz="2600" b="0" dirty="0" smtClean="0">
                <a:latin typeface="Cambria"/>
              </a:rPr>
              <a:t> </a:t>
            </a:r>
            <a:r>
              <a:rPr sz="2600" b="0" dirty="0" smtClean="0">
                <a:latin typeface="Cambria"/>
              </a:rPr>
              <a:t>text </a:t>
            </a:r>
            <a:r>
              <a:rPr sz="2600" b="0" dirty="0">
                <a:latin typeface="Cambria"/>
              </a:rPr>
              <a:t>appears in the source file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Scopes Are Braces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2743200" algn="l"/>
              </a:tabLst>
            </a:pPr>
            <a:r>
              <a:rPr sz="2600" b="0">
                <a:latin typeface="Cambria"/>
              </a:rPr>
              <a:t>Lexical scopes are defined with  </a:t>
            </a:r>
            <a:r>
              <a:rPr sz="2600" b="1">
                <a:latin typeface="Cambria"/>
              </a:rPr>
              <a:t>{ }</a:t>
            </a:r>
          </a:p>
          <a:p>
            <a:pPr>
              <a:tabLst>
                <a:tab pos="548640" algn="l"/>
                <a:tab pos="1097280" algn="l"/>
                <a:tab pos="2743200" algn="l"/>
              </a:tabLst>
            </a:pPr>
            <a:r>
              <a:rPr sz="2600">
                <a:latin typeface="Cambria"/>
              </a:rPr>
              <a:t> </a:t>
            </a:r>
          </a:p>
          <a:p>
            <a:pPr>
              <a:tabLst>
                <a:tab pos="548640" algn="l"/>
                <a:tab pos="1097280" algn="l"/>
                <a:tab pos="2743200" algn="l"/>
              </a:tabLst>
            </a:pPr>
            <a:r>
              <a:rPr sz="2600" b="0">
                <a:latin typeface="Cambria"/>
              </a:rPr>
              <a:t>{			outer scope</a:t>
            </a:r>
          </a:p>
          <a:p>
            <a:pPr>
              <a:tabLst>
                <a:tab pos="548640" algn="l"/>
                <a:tab pos="1097280" algn="l"/>
                <a:tab pos="2743200" algn="l"/>
              </a:tabLst>
            </a:pPr>
            <a:r>
              <a:rPr sz="2600" b="0">
                <a:latin typeface="Cambria"/>
              </a:rPr>
              <a:t>	{		inner scope</a:t>
            </a:r>
          </a:p>
          <a:p>
            <a:pPr>
              <a:tabLst>
                <a:tab pos="548640" algn="l"/>
                <a:tab pos="1097280" algn="l"/>
                <a:tab pos="2743200" algn="l"/>
              </a:tabLst>
            </a:pPr>
            <a:r>
              <a:rPr sz="2600" b="0">
                <a:latin typeface="Cambria"/>
              </a:rPr>
              <a:t>	}		inner names gone</a:t>
            </a:r>
          </a:p>
          <a:p>
            <a:pPr>
              <a:tabLst>
                <a:tab pos="548640" algn="l"/>
                <a:tab pos="1097280" algn="l"/>
                <a:tab pos="2743200" algn="l"/>
              </a:tabLst>
            </a:pPr>
            <a:r>
              <a:rPr sz="2600" b="0">
                <a:latin typeface="Cambria"/>
              </a:rPr>
              <a:t>}			outer names gone</a:t>
            </a:r>
          </a:p>
          <a:p>
            <a:pPr>
              <a:tabLst>
                <a:tab pos="548640" algn="l"/>
                <a:tab pos="1097280" algn="l"/>
                <a:tab pos="2743200" algn="l"/>
              </a:tabLst>
            </a:pPr>
            <a:r>
              <a:rPr sz="2600">
                <a:latin typeface="Cambria"/>
              </a:rPr>
              <a:t> </a:t>
            </a:r>
          </a:p>
          <a:p>
            <a:pPr>
              <a:tabLst>
                <a:tab pos="548640" algn="l"/>
                <a:tab pos="1097280" algn="l"/>
                <a:tab pos="2743200" algn="l"/>
              </a:tabLst>
            </a:pPr>
            <a:r>
              <a:rPr sz="2600" b="0">
                <a:latin typeface="Cambria"/>
              </a:rPr>
              <a:t>The same rule in C, C++, and Rust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Global Scope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293209"/>
          </a:xfrm>
          <a:prstGeom prst="rect">
            <a:avLst/>
          </a:prstGeom>
          <a:noFill/>
        </p:spPr>
        <p:txBody>
          <a:bodyPr wrap="square">
            <a:spAutoFit/>
          </a:bodyPr>
          <a:lstStyle/>
          <a:p>
            <a:pPr>
              <a:tabLst>
                <a:tab pos="1737360" algn="l"/>
              </a:tabLst>
            </a:pPr>
            <a:r>
              <a:rPr sz="2600" b="0" dirty="0">
                <a:latin typeface="Cambria"/>
              </a:rPr>
              <a:t>The scope </a:t>
            </a:r>
            <a:r>
              <a:rPr sz="2600" b="1" dirty="0">
                <a:latin typeface="Cambria"/>
              </a:rPr>
              <a:t>outside of all functions</a:t>
            </a:r>
          </a:p>
          <a:p>
            <a:pPr>
              <a:tabLst>
                <a:tab pos="1737360" algn="l"/>
              </a:tabLst>
            </a:pPr>
            <a:r>
              <a:rPr sz="2600" dirty="0">
                <a:latin typeface="Cambria"/>
              </a:rPr>
              <a:t> </a:t>
            </a:r>
          </a:p>
          <a:p>
            <a:pPr>
              <a:tabLst>
                <a:tab pos="1737360" algn="l"/>
              </a:tabLst>
            </a:pPr>
            <a:r>
              <a:rPr sz="2600" b="0" dirty="0">
                <a:latin typeface="Cambria"/>
              </a:rPr>
              <a:t>C, C++:	</a:t>
            </a:r>
            <a:r>
              <a:rPr sz="2600" b="0" dirty="0" err="1">
                <a:latin typeface="Cambria"/>
              </a:rPr>
              <a:t>int</a:t>
            </a:r>
            <a:r>
              <a:rPr sz="2600" b="0" dirty="0">
                <a:latin typeface="Cambria"/>
              </a:rPr>
              <a:t> </a:t>
            </a:r>
            <a:r>
              <a:rPr sz="2600" b="0" dirty="0" err="1">
                <a:latin typeface="Cambria"/>
              </a:rPr>
              <a:t>stepG</a:t>
            </a:r>
            <a:r>
              <a:rPr sz="2600" b="0" dirty="0">
                <a:latin typeface="Cambria"/>
              </a:rPr>
              <a:t> ;</a:t>
            </a:r>
          </a:p>
          <a:p>
            <a:pPr>
              <a:tabLst>
                <a:tab pos="1737360" algn="l"/>
              </a:tabLst>
            </a:pPr>
            <a:r>
              <a:rPr sz="2600" b="0" dirty="0">
                <a:latin typeface="Cambria"/>
              </a:rPr>
              <a:t>Rust:	static STEP_G : i32 = 0 ;</a:t>
            </a:r>
          </a:p>
          <a:p>
            <a:pPr>
              <a:tabLst>
                <a:tab pos="1737360" algn="l"/>
              </a:tabLst>
            </a:pPr>
            <a:r>
              <a:rPr sz="2600" dirty="0">
                <a:latin typeface="Cambria"/>
              </a:rPr>
              <a:t> </a:t>
            </a:r>
          </a:p>
          <a:p>
            <a:pPr>
              <a:tabLst>
                <a:tab pos="1737360" algn="l"/>
              </a:tabLst>
            </a:pPr>
            <a:r>
              <a:rPr sz="2600" b="0" dirty="0">
                <a:latin typeface="Cambria"/>
              </a:rPr>
              <a:t>A variable defined there is a </a:t>
            </a:r>
            <a:r>
              <a:rPr sz="2600" b="1" dirty="0">
                <a:latin typeface="Cambria"/>
              </a:rPr>
              <a:t>global</a:t>
            </a:r>
            <a:r>
              <a:rPr sz="2600" b="0" dirty="0">
                <a:latin typeface="Cambria"/>
              </a:rPr>
              <a:t> variable</a:t>
            </a:r>
          </a:p>
          <a:p>
            <a:pPr>
              <a:tabLst>
                <a:tab pos="1737360" algn="l"/>
              </a:tabLst>
            </a:pPr>
            <a:r>
              <a:rPr sz="2600" dirty="0">
                <a:latin typeface="Cambria"/>
              </a:rPr>
              <a:t> </a:t>
            </a:r>
          </a:p>
          <a:p>
            <a:pPr>
              <a:tabLst>
                <a:tab pos="1737360" algn="l"/>
              </a:tabLst>
            </a:pPr>
            <a:r>
              <a:rPr lang="en-US" sz="2600" b="0" dirty="0" smtClean="0">
                <a:latin typeface="Cambria"/>
              </a:rPr>
              <a:t>My suggestion: use capital </a:t>
            </a:r>
            <a:r>
              <a:rPr sz="2600" b="1" dirty="0" smtClean="0">
                <a:latin typeface="Cambria"/>
              </a:rPr>
              <a:t>G</a:t>
            </a:r>
            <a:r>
              <a:rPr sz="2600" b="0" dirty="0" smtClean="0">
                <a:latin typeface="Cambria"/>
              </a:rPr>
              <a:t> </a:t>
            </a:r>
            <a:r>
              <a:rPr sz="2600" b="0" dirty="0">
                <a:latin typeface="Cambria"/>
              </a:rPr>
              <a:t>suffix </a:t>
            </a:r>
            <a:r>
              <a:rPr lang="en-US" sz="2600" b="0" dirty="0" smtClean="0">
                <a:latin typeface="Cambria"/>
              </a:rPr>
              <a:t>to </a:t>
            </a:r>
            <a:r>
              <a:rPr sz="2600" b="0" dirty="0" smtClean="0">
                <a:latin typeface="Cambria"/>
              </a:rPr>
              <a:t>marks </a:t>
            </a:r>
            <a:r>
              <a:rPr sz="2600" b="0" dirty="0">
                <a:latin typeface="Cambria"/>
              </a:rPr>
              <a:t>it as global</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Function Scope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893100"/>
          </a:xfrm>
          <a:prstGeom prst="rect">
            <a:avLst/>
          </a:prstGeom>
          <a:noFill/>
        </p:spPr>
        <p:txBody>
          <a:bodyPr wrap="square">
            <a:spAutoFit/>
          </a:bodyPr>
          <a:lstStyle/>
          <a:p>
            <a:pPr>
              <a:tabLst>
                <a:tab pos="548640" algn="l"/>
                <a:tab pos="1097280" algn="l"/>
                <a:tab pos="1645920" algn="l"/>
                <a:tab pos="2194560" algn="l"/>
              </a:tabLst>
            </a:pPr>
            <a:r>
              <a:rPr sz="2600" b="0" dirty="0">
                <a:latin typeface="Cambria"/>
              </a:rPr>
              <a:t>The scope of a function's </a:t>
            </a:r>
            <a:r>
              <a:rPr sz="2600" b="1" dirty="0">
                <a:latin typeface="Cambria"/>
              </a:rPr>
              <a:t>parameters</a:t>
            </a:r>
            <a:r>
              <a:rPr sz="2600" b="0" dirty="0">
                <a:latin typeface="Cambria"/>
              </a:rPr>
              <a:t> is </a:t>
            </a:r>
            <a:r>
              <a:rPr sz="2600" b="0" dirty="0" smtClean="0">
                <a:latin typeface="Cambria"/>
              </a:rPr>
              <a:t>the</a:t>
            </a:r>
            <a:r>
              <a:rPr lang="en-US" sz="2600" b="0" dirty="0" smtClean="0">
                <a:latin typeface="Cambria"/>
              </a:rPr>
              <a:t> </a:t>
            </a:r>
            <a:r>
              <a:rPr sz="2600" b="0" dirty="0" smtClean="0">
                <a:latin typeface="Cambria"/>
              </a:rPr>
              <a:t>complete </a:t>
            </a:r>
            <a:r>
              <a:rPr sz="2600" b="0" dirty="0">
                <a:latin typeface="Cambria"/>
              </a:rPr>
              <a:t>body of the function</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Local variables are in scope from </a:t>
            </a:r>
            <a:r>
              <a:rPr sz="2600" b="0" dirty="0" smtClean="0">
                <a:latin typeface="Cambria"/>
              </a:rPr>
              <a:t>their</a:t>
            </a:r>
            <a:r>
              <a:rPr lang="en-US" sz="2600" b="0" dirty="0" smtClean="0">
                <a:latin typeface="Cambria"/>
              </a:rPr>
              <a:t> </a:t>
            </a:r>
            <a:r>
              <a:rPr sz="2600" b="0" dirty="0" smtClean="0">
                <a:latin typeface="Cambria"/>
              </a:rPr>
              <a:t>declaration </a:t>
            </a:r>
            <a:r>
              <a:rPr sz="2600" b="0" dirty="0">
                <a:latin typeface="Cambria"/>
              </a:rPr>
              <a:t>to the closing brace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At the close of the scope, the </a:t>
            </a:r>
            <a:r>
              <a:rPr sz="2600" b="0" dirty="0" smtClean="0">
                <a:latin typeface="Cambria"/>
              </a:rPr>
              <a:t>symbol</a:t>
            </a:r>
            <a:r>
              <a:rPr lang="en-US" sz="2600" b="0" dirty="0" smtClean="0">
                <a:latin typeface="Cambria"/>
              </a:rPr>
              <a:t> </a:t>
            </a:r>
            <a:r>
              <a:rPr sz="2600" b="1" dirty="0" smtClean="0">
                <a:latin typeface="Cambria"/>
              </a:rPr>
              <a:t>disappears</a:t>
            </a:r>
            <a:endParaRPr sz="2600" b="1"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Scope Example in C  (1 of 2)</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4693593"/>
          </a:xfrm>
          <a:prstGeom prst="rect">
            <a:avLst/>
          </a:prstGeom>
          <a:noFill/>
        </p:spPr>
        <p:txBody>
          <a:bodyPr wrap="square">
            <a:spAutoFit/>
          </a:bodyPr>
          <a:lstStyle/>
          <a:p>
            <a:pPr>
              <a:tabLst>
                <a:tab pos="548640" algn="l"/>
                <a:tab pos="1097280" algn="l"/>
                <a:tab pos="1645920" algn="l"/>
                <a:tab pos="2194560" algn="l"/>
              </a:tabLst>
            </a:pPr>
            <a:r>
              <a:rPr sz="2300" b="0" dirty="0">
                <a:latin typeface="Cambria"/>
              </a:rPr>
              <a:t>void p ( char x )</a:t>
            </a:r>
          </a:p>
          <a:p>
            <a:pPr>
              <a:tabLst>
                <a:tab pos="548640" algn="l"/>
                <a:tab pos="1097280" algn="l"/>
                <a:tab pos="1645920" algn="l"/>
                <a:tab pos="2194560" algn="l"/>
              </a:tabLst>
            </a:pPr>
            <a:r>
              <a:rPr sz="2300" b="0" dirty="0">
                <a:latin typeface="Cambria"/>
              </a:rPr>
              <a:t>{</a:t>
            </a:r>
          </a:p>
          <a:p>
            <a:pPr>
              <a:tabLst>
                <a:tab pos="548640" algn="l"/>
                <a:tab pos="1097280" algn="l"/>
                <a:tab pos="1645920" algn="l"/>
                <a:tab pos="2194560" algn="l"/>
              </a:tabLst>
            </a:pPr>
            <a:r>
              <a:rPr sz="2300" b="0" dirty="0">
                <a:latin typeface="Cambria"/>
              </a:rPr>
              <a:t>	/* p, x */</a:t>
            </a:r>
          </a:p>
          <a:p>
            <a:pPr>
              <a:tabLst>
                <a:tab pos="548640" algn="l"/>
                <a:tab pos="1097280" algn="l"/>
                <a:tab pos="1645920" algn="l"/>
                <a:tab pos="2194560" algn="l"/>
              </a:tabLst>
            </a:pPr>
            <a:r>
              <a:rPr sz="2300" b="0" dirty="0">
                <a:latin typeface="Cambria"/>
              </a:rPr>
              <a:t>	char y ;</a:t>
            </a:r>
          </a:p>
          <a:p>
            <a:pPr>
              <a:tabLst>
                <a:tab pos="548640" algn="l"/>
                <a:tab pos="1097280" algn="l"/>
                <a:tab pos="1645920" algn="l"/>
                <a:tab pos="2194560" algn="l"/>
              </a:tabLst>
            </a:pPr>
            <a:r>
              <a:rPr sz="2300" b="0" dirty="0">
                <a:latin typeface="Cambria"/>
              </a:rPr>
              <a:t>	/* p, x, y */</a:t>
            </a:r>
          </a:p>
          <a:p>
            <a:pPr>
              <a:tabLst>
                <a:tab pos="548640" algn="l"/>
                <a:tab pos="1097280" algn="l"/>
                <a:tab pos="1645920" algn="l"/>
                <a:tab pos="2194560" algn="l"/>
              </a:tabLst>
            </a:pPr>
            <a:r>
              <a:rPr sz="2300" b="0" dirty="0">
                <a:latin typeface="Cambria"/>
              </a:rPr>
              <a:t>	char zoo ;</a:t>
            </a:r>
          </a:p>
          <a:p>
            <a:pPr>
              <a:tabLst>
                <a:tab pos="548640" algn="l"/>
                <a:tab pos="1097280" algn="l"/>
                <a:tab pos="1645920" algn="l"/>
                <a:tab pos="2194560" algn="l"/>
              </a:tabLst>
            </a:pPr>
            <a:r>
              <a:rPr sz="2300" b="0" dirty="0">
                <a:latin typeface="Cambria"/>
              </a:rPr>
              <a:t>	/* p, x, y, zoo */</a:t>
            </a:r>
          </a:p>
          <a:p>
            <a:pPr>
              <a:tabLst>
                <a:tab pos="548640" algn="l"/>
                <a:tab pos="1097280" algn="l"/>
                <a:tab pos="1645920" algn="l"/>
                <a:tab pos="2194560" algn="l"/>
              </a:tabLst>
            </a:pPr>
            <a:r>
              <a:rPr sz="2300" b="0" dirty="0">
                <a:latin typeface="Cambria"/>
              </a:rPr>
              <a:t>}</a:t>
            </a:r>
          </a:p>
          <a:p>
            <a:pPr>
              <a:tabLst>
                <a:tab pos="548640" algn="l"/>
                <a:tab pos="1097280" algn="l"/>
                <a:tab pos="1645920" algn="l"/>
                <a:tab pos="2194560" algn="l"/>
              </a:tabLst>
            </a:pPr>
            <a:r>
              <a:rPr sz="2300" b="0" dirty="0">
                <a:latin typeface="Cambria"/>
              </a:rPr>
              <a:t>/* p */</a:t>
            </a:r>
          </a:p>
          <a:p>
            <a:pPr>
              <a:tabLst>
                <a:tab pos="548640" algn="l"/>
                <a:tab pos="1097280" algn="l"/>
                <a:tab pos="1645920" algn="l"/>
                <a:tab pos="2194560" algn="l"/>
              </a:tabLst>
            </a:pPr>
            <a:r>
              <a:rPr sz="2300" b="0" dirty="0">
                <a:latin typeface="Cambria"/>
              </a:rPr>
              <a:t>double </a:t>
            </a:r>
            <a:r>
              <a:rPr sz="2300" b="0" dirty="0" err="1">
                <a:latin typeface="Cambria"/>
              </a:rPr>
              <a:t>expG</a:t>
            </a:r>
            <a:r>
              <a:rPr sz="2300" b="0" dirty="0">
                <a:latin typeface="Cambria"/>
              </a:rPr>
              <a:t> ;</a:t>
            </a:r>
          </a:p>
          <a:p>
            <a:pPr>
              <a:tabLst>
                <a:tab pos="548640" algn="l"/>
                <a:tab pos="1097280" algn="l"/>
                <a:tab pos="1645920" algn="l"/>
                <a:tab pos="2194560" algn="l"/>
              </a:tabLst>
            </a:pPr>
            <a:r>
              <a:rPr sz="2300" b="0" dirty="0">
                <a:latin typeface="Cambria"/>
              </a:rPr>
              <a:t>/* p, </a:t>
            </a:r>
            <a:r>
              <a:rPr sz="2300" b="0" dirty="0" err="1">
                <a:latin typeface="Cambria"/>
              </a:rPr>
              <a:t>expG</a:t>
            </a:r>
            <a:r>
              <a:rPr sz="2300" b="0" dirty="0">
                <a:latin typeface="Cambria"/>
              </a:rPr>
              <a:t> </a:t>
            </a:r>
            <a:r>
              <a:rPr sz="2300" b="0" dirty="0" smtClean="0">
                <a:latin typeface="Cambria"/>
              </a:rPr>
              <a:t>*/</a:t>
            </a:r>
            <a:endParaRPr lang="en-US" sz="2300" b="0" dirty="0" smtClean="0">
              <a:latin typeface="Cambria"/>
            </a:endParaRPr>
          </a:p>
          <a:p>
            <a:pPr>
              <a:tabLst>
                <a:tab pos="548640" algn="l"/>
                <a:tab pos="1097280" algn="l"/>
                <a:tab pos="1645920" algn="l"/>
                <a:tab pos="2194560" algn="l"/>
              </a:tabLst>
            </a:pPr>
            <a:endParaRPr lang="en-US" sz="2300" dirty="0">
              <a:latin typeface="Cambria"/>
            </a:endParaRPr>
          </a:p>
          <a:p>
            <a:pPr>
              <a:tabLst>
                <a:tab pos="548640" algn="l"/>
                <a:tab pos="1097280" algn="l"/>
                <a:tab pos="1645920" algn="l"/>
                <a:tab pos="2194560" algn="l"/>
              </a:tabLst>
            </a:pPr>
            <a:r>
              <a:rPr lang="en-US" sz="2300" b="1" dirty="0" smtClean="0">
                <a:latin typeface="Cambria"/>
              </a:rPr>
              <a:t>Comments show symbols which are currently visible</a:t>
            </a:r>
            <a:endParaRPr sz="2300" b="1" dirty="0">
              <a:latin typeface="Cambri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Scope Example in C  (2 of 2)</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200" b="0">
                <a:latin typeface="Cambria"/>
              </a:rPr>
              <a:t>void qsort ( char *s1, char *s2 )</a:t>
            </a:r>
          </a:p>
          <a:p>
            <a:pPr>
              <a:tabLst>
                <a:tab pos="548640" algn="l"/>
                <a:tab pos="1097280" algn="l"/>
                <a:tab pos="1645920" algn="l"/>
                <a:tab pos="2194560" algn="l"/>
              </a:tabLst>
            </a:pPr>
            <a:r>
              <a:rPr sz="2200" b="0">
                <a:latin typeface="Cambria"/>
              </a:rPr>
              <a:t>{</a:t>
            </a:r>
          </a:p>
          <a:p>
            <a:pPr>
              <a:tabLst>
                <a:tab pos="548640" algn="l"/>
                <a:tab pos="1097280" algn="l"/>
                <a:tab pos="1645920" algn="l"/>
                <a:tab pos="2194560" algn="l"/>
              </a:tabLst>
            </a:pPr>
            <a:r>
              <a:rPr sz="2200" b="0">
                <a:latin typeface="Cambria"/>
              </a:rPr>
              <a:t>	/* p, expG, qsort, s1, s2 */</a:t>
            </a:r>
          </a:p>
          <a:p>
            <a:pPr>
              <a:tabLst>
                <a:tab pos="548640" algn="l"/>
                <a:tab pos="1097280" algn="l"/>
                <a:tab pos="1645920" algn="l"/>
                <a:tab pos="2194560" algn="l"/>
              </a:tabLst>
            </a:pPr>
            <a:r>
              <a:rPr sz="2200" b="0">
                <a:latin typeface="Cambria"/>
              </a:rPr>
              <a:t>	char b ;</a:t>
            </a:r>
          </a:p>
          <a:p>
            <a:pPr>
              <a:tabLst>
                <a:tab pos="548640" algn="l"/>
                <a:tab pos="1097280" algn="l"/>
                <a:tab pos="1645920" algn="l"/>
                <a:tab pos="2194560" algn="l"/>
              </a:tabLst>
            </a:pPr>
            <a:r>
              <a:rPr sz="2200" b="0">
                <a:latin typeface="Cambria"/>
              </a:rPr>
              <a:t>	{</a:t>
            </a:r>
          </a:p>
          <a:p>
            <a:pPr>
              <a:tabLst>
                <a:tab pos="548640" algn="l"/>
                <a:tab pos="1097280" algn="l"/>
                <a:tab pos="1645920" algn="l"/>
                <a:tab pos="2194560" algn="l"/>
              </a:tabLst>
            </a:pPr>
            <a:r>
              <a:rPr sz="2200" b="0">
                <a:latin typeface="Cambria"/>
              </a:rPr>
              <a:t>		int count ;</a:t>
            </a:r>
          </a:p>
          <a:p>
            <a:pPr>
              <a:tabLst>
                <a:tab pos="548640" algn="l"/>
                <a:tab pos="1097280" algn="l"/>
                <a:tab pos="1645920" algn="l"/>
                <a:tab pos="2194560" algn="l"/>
              </a:tabLst>
            </a:pPr>
            <a:r>
              <a:rPr sz="2200" b="0">
                <a:latin typeface="Cambria"/>
              </a:rPr>
              <a:t>		/* p, expG, qsort, s1, s2, b, count */</a:t>
            </a:r>
          </a:p>
          <a:p>
            <a:pPr>
              <a:tabLst>
                <a:tab pos="548640" algn="l"/>
                <a:tab pos="1097280" algn="l"/>
                <a:tab pos="1645920" algn="l"/>
                <a:tab pos="2194560" algn="l"/>
              </a:tabLst>
            </a:pPr>
            <a:r>
              <a:rPr sz="2200" b="0">
                <a:latin typeface="Cambria"/>
              </a:rPr>
              <a:t>	}</a:t>
            </a:r>
          </a:p>
          <a:p>
            <a:pPr>
              <a:tabLst>
                <a:tab pos="548640" algn="l"/>
                <a:tab pos="1097280" algn="l"/>
                <a:tab pos="1645920" algn="l"/>
                <a:tab pos="2194560" algn="l"/>
              </a:tabLst>
            </a:pPr>
            <a:r>
              <a:rPr sz="2200" b="0">
                <a:latin typeface="Cambria"/>
              </a:rPr>
              <a:t>	/* p, expG, qsort, s1, s2, b */</a:t>
            </a:r>
          </a:p>
          <a:p>
            <a:pPr>
              <a:tabLst>
                <a:tab pos="548640" algn="l"/>
                <a:tab pos="1097280" algn="l"/>
                <a:tab pos="1645920" algn="l"/>
                <a:tab pos="2194560" algn="l"/>
              </a:tabLst>
            </a:pPr>
            <a:r>
              <a:rPr sz="2200" b="0">
                <a:latin typeface="Cambria"/>
              </a:rPr>
              <a:t>}</a:t>
            </a:r>
          </a:p>
          <a:p>
            <a:pPr>
              <a:tabLst>
                <a:tab pos="548640" algn="l"/>
                <a:tab pos="1097280" algn="l"/>
                <a:tab pos="1645920" algn="l"/>
                <a:tab pos="2194560" algn="l"/>
              </a:tabLst>
            </a:pPr>
            <a:r>
              <a:rPr sz="2200" b="0">
                <a:latin typeface="Cambria"/>
              </a:rPr>
              <a:t>/* p, expG, qsort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Same Idea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4206240" algn="l"/>
              </a:tabLst>
            </a:pPr>
            <a:r>
              <a:rPr sz="2400" b="0">
                <a:latin typeface="Cambria"/>
              </a:rPr>
              <a:t>fn p ( x : u8 ) {</a:t>
            </a:r>
          </a:p>
          <a:p>
            <a:pPr>
              <a:tabLst>
                <a:tab pos="548640" algn="l"/>
                <a:tab pos="1097280" algn="l"/>
                <a:tab pos="4206240" algn="l"/>
              </a:tabLst>
            </a:pPr>
            <a:r>
              <a:rPr sz="2400" b="0">
                <a:latin typeface="Cambria"/>
              </a:rPr>
              <a:t>	// p, x</a:t>
            </a:r>
          </a:p>
          <a:p>
            <a:pPr>
              <a:tabLst>
                <a:tab pos="548640" algn="l"/>
                <a:tab pos="1097280" algn="l"/>
                <a:tab pos="4206240" algn="l"/>
              </a:tabLst>
            </a:pPr>
            <a:r>
              <a:rPr sz="2400" b="0">
                <a:latin typeface="Cambria"/>
              </a:rPr>
              <a:t>	let y : u8 = 0 ;</a:t>
            </a:r>
          </a:p>
          <a:p>
            <a:pPr>
              <a:tabLst>
                <a:tab pos="548640" algn="l"/>
                <a:tab pos="1097280" algn="l"/>
                <a:tab pos="4206240" algn="l"/>
              </a:tabLst>
            </a:pPr>
            <a:r>
              <a:rPr sz="2400" b="0">
                <a:latin typeface="Cambria"/>
              </a:rPr>
              <a:t>	// p, x, y</a:t>
            </a:r>
          </a:p>
          <a:p>
            <a:pPr>
              <a:tabLst>
                <a:tab pos="548640" algn="l"/>
                <a:tab pos="1097280" algn="l"/>
                <a:tab pos="4206240" algn="l"/>
              </a:tabLst>
            </a:pPr>
            <a:r>
              <a:rPr sz="2400" b="0">
                <a:latin typeface="Cambria"/>
              </a:rPr>
              <a:t>	{</a:t>
            </a:r>
          </a:p>
          <a:p>
            <a:pPr>
              <a:tabLst>
                <a:tab pos="548640" algn="l"/>
                <a:tab pos="1097280" algn="l"/>
                <a:tab pos="4206240" algn="l"/>
              </a:tabLst>
            </a:pPr>
            <a:r>
              <a:rPr sz="2400" b="0">
                <a:latin typeface="Cambria"/>
              </a:rPr>
              <a:t>		let count = 0 ;	// p, x, y, count</a:t>
            </a:r>
          </a:p>
          <a:p>
            <a:pPr>
              <a:tabLst>
                <a:tab pos="548640" algn="l"/>
                <a:tab pos="1097280" algn="l"/>
                <a:tab pos="4206240" algn="l"/>
              </a:tabLst>
            </a:pPr>
            <a:r>
              <a:rPr sz="2400" b="0">
                <a:latin typeface="Cambria"/>
              </a:rPr>
              <a:t>	}</a:t>
            </a:r>
          </a:p>
          <a:p>
            <a:pPr>
              <a:tabLst>
                <a:tab pos="548640" algn="l"/>
                <a:tab pos="1097280" algn="l"/>
                <a:tab pos="4206240" algn="l"/>
              </a:tabLst>
            </a:pPr>
            <a:r>
              <a:rPr sz="2400" b="0">
                <a:latin typeface="Cambria"/>
              </a:rPr>
              <a:t>	// p, x, y</a:t>
            </a:r>
          </a:p>
          <a:p>
            <a:pPr>
              <a:tabLst>
                <a:tab pos="548640" algn="l"/>
                <a:tab pos="1097280" algn="l"/>
                <a:tab pos="4206240" algn="l"/>
              </a:tabLst>
            </a:pPr>
            <a:r>
              <a:rPr sz="2400" b="0">
                <a:latin typeface="Cambria"/>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Order Matters in C, Not in Rust</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3939540"/>
          </a:xfrm>
          <a:prstGeom prst="rect">
            <a:avLst/>
          </a:prstGeom>
          <a:noFill/>
        </p:spPr>
        <p:txBody>
          <a:bodyPr wrap="square">
            <a:spAutoFit/>
          </a:bodyPr>
          <a:lstStyle/>
          <a:p>
            <a:pPr>
              <a:tabLst>
                <a:tab pos="548640" algn="l"/>
                <a:tab pos="1097280" algn="l"/>
                <a:tab pos="1645920" algn="l"/>
                <a:tab pos="2194560" algn="l"/>
              </a:tabLst>
            </a:pPr>
            <a:r>
              <a:rPr sz="2500" b="0" dirty="0">
                <a:latin typeface="Cambria"/>
              </a:rPr>
              <a:t>C, C++:  a name is visible from its </a:t>
            </a:r>
            <a:r>
              <a:rPr sz="2500" b="0" dirty="0" smtClean="0">
                <a:latin typeface="Cambria"/>
              </a:rPr>
              <a:t>declaration</a:t>
            </a:r>
            <a:r>
              <a:rPr lang="en-US" sz="2500" b="0" dirty="0" smtClean="0">
                <a:latin typeface="Cambria"/>
              </a:rPr>
              <a:t> </a:t>
            </a:r>
            <a:r>
              <a:rPr sz="2500" b="1" dirty="0" smtClean="0">
                <a:latin typeface="Cambria"/>
              </a:rPr>
              <a:t>downward</a:t>
            </a:r>
            <a:r>
              <a:rPr sz="2500" b="0" dirty="0" smtClean="0">
                <a:latin typeface="Cambria"/>
              </a:rPr>
              <a:t> </a:t>
            </a:r>
            <a:r>
              <a:rPr sz="2500" b="0" dirty="0">
                <a:latin typeface="Cambria"/>
              </a:rPr>
              <a:t>to the end of its scope</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Rust:  functions, statics, and types are </a:t>
            </a:r>
            <a:r>
              <a:rPr sz="2500" b="0" dirty="0" smtClean="0">
                <a:latin typeface="Cambria"/>
              </a:rPr>
              <a:t>visible</a:t>
            </a:r>
            <a:r>
              <a:rPr lang="en-US" sz="2500" b="0" dirty="0" smtClean="0">
                <a:latin typeface="Cambria"/>
              </a:rPr>
              <a:t> </a:t>
            </a:r>
            <a:r>
              <a:rPr sz="2500" b="0" dirty="0" smtClean="0">
                <a:latin typeface="Cambria"/>
              </a:rPr>
              <a:t>in </a:t>
            </a:r>
            <a:r>
              <a:rPr sz="2500" b="0" dirty="0">
                <a:latin typeface="Cambria"/>
              </a:rPr>
              <a:t>the </a:t>
            </a:r>
            <a:r>
              <a:rPr sz="2500" b="1" dirty="0">
                <a:latin typeface="Cambria"/>
              </a:rPr>
              <a:t>whole module</a:t>
            </a:r>
            <a:r>
              <a:rPr sz="2500" b="0" dirty="0">
                <a:latin typeface="Cambria"/>
              </a:rPr>
              <a:t>, even above </a:t>
            </a:r>
            <a:r>
              <a:rPr sz="2500" b="0" dirty="0" smtClean="0">
                <a:latin typeface="Cambria"/>
              </a:rPr>
              <a:t>them</a:t>
            </a:r>
            <a:endParaRPr lang="en-US" sz="2500" b="0" dirty="0" smtClean="0">
              <a:latin typeface="Cambria"/>
            </a:endParaRPr>
          </a:p>
          <a:p>
            <a:pPr>
              <a:tabLst>
                <a:tab pos="548640" algn="l"/>
                <a:tab pos="1097280" algn="l"/>
                <a:tab pos="1645920" algn="l"/>
                <a:tab pos="2194560" algn="l"/>
              </a:tabLst>
            </a:pPr>
            <a:endParaRPr lang="en-US" sz="2500" dirty="0">
              <a:latin typeface="Cambria"/>
            </a:endParaRPr>
          </a:p>
          <a:p>
            <a:pPr>
              <a:tabLst>
                <a:tab pos="548640" algn="l"/>
                <a:tab pos="1097280" algn="l"/>
                <a:tab pos="1645920" algn="l"/>
                <a:tab pos="2194560" algn="l"/>
              </a:tabLst>
            </a:pPr>
            <a:r>
              <a:rPr lang="en-US" sz="2500" b="0" dirty="0" smtClean="0">
                <a:latin typeface="Cambria"/>
              </a:rPr>
              <a:t>Rust parses the entire file before dataflow analysis like Verilog</a:t>
            </a:r>
            <a:endParaRPr sz="2500" b="0" dirty="0">
              <a:latin typeface="Cambria"/>
            </a:endParaRP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Rust </a:t>
            </a:r>
            <a:r>
              <a:rPr sz="2500" b="0" dirty="0" smtClean="0">
                <a:latin typeface="Cambria"/>
              </a:rPr>
              <a:t>local</a:t>
            </a:r>
            <a:r>
              <a:rPr lang="en-US" sz="2500" dirty="0">
                <a:latin typeface="Cambria"/>
              </a:rPr>
              <a:t> </a:t>
            </a:r>
            <a:r>
              <a:rPr sz="2500" b="0" dirty="0" smtClean="0">
                <a:latin typeface="Cambria"/>
              </a:rPr>
              <a:t>variables </a:t>
            </a:r>
            <a:r>
              <a:rPr sz="2500" b="0" dirty="0">
                <a:latin typeface="Cambria"/>
              </a:rPr>
              <a:t>still </a:t>
            </a:r>
            <a:r>
              <a:rPr sz="2500" b="0" dirty="0" smtClean="0">
                <a:latin typeface="Cambria"/>
              </a:rPr>
              <a:t>follow</a:t>
            </a:r>
            <a:r>
              <a:rPr lang="en-US" sz="2500" b="0" dirty="0" smtClean="0">
                <a:latin typeface="Cambria"/>
              </a:rPr>
              <a:t> </a:t>
            </a:r>
            <a:r>
              <a:rPr sz="2500" b="0" dirty="0" smtClean="0">
                <a:latin typeface="Cambria"/>
              </a:rPr>
              <a:t>top-to-bottom </a:t>
            </a:r>
            <a:r>
              <a:rPr sz="2500" b="0" dirty="0">
                <a:latin typeface="Cambria"/>
              </a:rPr>
              <a:t>order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Shadowing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4708981"/>
          </a:xfrm>
          <a:prstGeom prst="rect">
            <a:avLst/>
          </a:prstGeom>
          <a:noFill/>
        </p:spPr>
        <p:txBody>
          <a:bodyPr wrap="square">
            <a:spAutoFit/>
          </a:bodyPr>
          <a:lstStyle/>
          <a:p>
            <a:pPr>
              <a:tabLst>
                <a:tab pos="548640" algn="l"/>
                <a:tab pos="4114800" algn="l"/>
              </a:tabLst>
            </a:pPr>
            <a:r>
              <a:rPr sz="2500" b="0" dirty="0">
                <a:latin typeface="Cambria"/>
              </a:rPr>
              <a:t>An inner scope may reuse an outer name:</a:t>
            </a:r>
          </a:p>
          <a:p>
            <a:pPr>
              <a:tabLst>
                <a:tab pos="548640" algn="l"/>
                <a:tab pos="4114800" algn="l"/>
              </a:tabLst>
            </a:pPr>
            <a:r>
              <a:rPr sz="2500" dirty="0">
                <a:latin typeface="Cambria"/>
              </a:rPr>
              <a:t> </a:t>
            </a:r>
          </a:p>
          <a:p>
            <a:pPr>
              <a:tabLst>
                <a:tab pos="548640" algn="l"/>
                <a:tab pos="4114800" algn="l"/>
              </a:tabLst>
            </a:pPr>
            <a:r>
              <a:rPr sz="2500" b="0" dirty="0">
                <a:latin typeface="Cambria"/>
              </a:rPr>
              <a:t>	</a:t>
            </a:r>
            <a:r>
              <a:rPr sz="2500" b="0" dirty="0" err="1">
                <a:latin typeface="Cambria"/>
              </a:rPr>
              <a:t>int</a:t>
            </a:r>
            <a:r>
              <a:rPr sz="2500" b="0" dirty="0">
                <a:latin typeface="Cambria"/>
              </a:rPr>
              <a:t> x = 5 ;</a:t>
            </a:r>
          </a:p>
          <a:p>
            <a:pPr>
              <a:tabLst>
                <a:tab pos="548640" algn="l"/>
                <a:tab pos="4114800" algn="l"/>
              </a:tabLst>
            </a:pPr>
            <a:r>
              <a:rPr sz="2500" b="0" dirty="0">
                <a:latin typeface="Cambria"/>
              </a:rPr>
              <a:t>	{  </a:t>
            </a:r>
            <a:r>
              <a:rPr sz="2500" b="0" dirty="0" err="1">
                <a:latin typeface="Cambria"/>
              </a:rPr>
              <a:t>int</a:t>
            </a:r>
            <a:r>
              <a:rPr sz="2500" b="0" dirty="0">
                <a:latin typeface="Cambria"/>
              </a:rPr>
              <a:t> x = 10 ;  }	inner x hides outer x</a:t>
            </a:r>
          </a:p>
          <a:p>
            <a:pPr>
              <a:tabLst>
                <a:tab pos="548640" algn="l"/>
                <a:tab pos="4114800" algn="l"/>
              </a:tabLst>
            </a:pPr>
            <a:r>
              <a:rPr sz="2500" dirty="0">
                <a:latin typeface="Cambria"/>
              </a:rPr>
              <a:t> </a:t>
            </a:r>
          </a:p>
          <a:p>
            <a:pPr>
              <a:tabLst>
                <a:tab pos="548640" algn="l"/>
                <a:tab pos="4114800" algn="l"/>
              </a:tabLst>
            </a:pPr>
            <a:r>
              <a:rPr sz="2500" b="0" dirty="0">
                <a:latin typeface="Cambria"/>
              </a:rPr>
              <a:t>Rust also allows it in the </a:t>
            </a:r>
            <a:r>
              <a:rPr sz="2500" b="1" dirty="0">
                <a:latin typeface="Cambria"/>
              </a:rPr>
              <a:t>same</a:t>
            </a:r>
            <a:r>
              <a:rPr sz="2500" b="0" dirty="0">
                <a:latin typeface="Cambria"/>
              </a:rPr>
              <a:t> scope:</a:t>
            </a:r>
          </a:p>
          <a:p>
            <a:pPr>
              <a:tabLst>
                <a:tab pos="548640" algn="l"/>
                <a:tab pos="4114800" algn="l"/>
              </a:tabLst>
            </a:pPr>
            <a:r>
              <a:rPr sz="2500" b="0" dirty="0">
                <a:latin typeface="Cambria"/>
              </a:rPr>
              <a:t>	let x = 5 ;</a:t>
            </a:r>
          </a:p>
          <a:p>
            <a:pPr>
              <a:tabLst>
                <a:tab pos="548640" algn="l"/>
                <a:tab pos="4114800" algn="l"/>
              </a:tabLst>
            </a:pPr>
            <a:r>
              <a:rPr sz="2500" b="0" dirty="0">
                <a:latin typeface="Cambria"/>
              </a:rPr>
              <a:t>	let x = x * 2 ;	a new x, now </a:t>
            </a:r>
            <a:r>
              <a:rPr sz="2500" b="0" dirty="0" smtClean="0">
                <a:latin typeface="Cambria"/>
              </a:rPr>
              <a:t>10</a:t>
            </a:r>
            <a:endParaRPr lang="en-US" sz="2500" b="0" dirty="0" smtClean="0">
              <a:latin typeface="Cambria"/>
            </a:endParaRPr>
          </a:p>
          <a:p>
            <a:pPr>
              <a:tabLst>
                <a:tab pos="548640" algn="l"/>
                <a:tab pos="4114800" algn="l"/>
              </a:tabLst>
            </a:pPr>
            <a:endParaRPr lang="en-US" sz="2500" dirty="0">
              <a:latin typeface="Cambria"/>
            </a:endParaRPr>
          </a:p>
          <a:p>
            <a:pPr>
              <a:tabLst>
                <a:tab pos="548640" algn="l"/>
                <a:tab pos="4114800" algn="l"/>
              </a:tabLst>
            </a:pPr>
            <a:r>
              <a:rPr lang="en-US" sz="2500" b="0" dirty="0" smtClean="0">
                <a:latin typeface="Cambria"/>
              </a:rPr>
              <a:t>Asking for trouble</a:t>
            </a:r>
          </a:p>
          <a:p>
            <a:pPr>
              <a:tabLst>
                <a:tab pos="548640" algn="l"/>
                <a:tab pos="4114800" algn="l"/>
              </a:tabLst>
            </a:pPr>
            <a:endParaRPr lang="en-US" sz="2500" dirty="0">
              <a:latin typeface="Cambria"/>
            </a:endParaRPr>
          </a:p>
          <a:p>
            <a:pPr>
              <a:tabLst>
                <a:tab pos="548640" algn="l"/>
                <a:tab pos="4114800" algn="l"/>
              </a:tabLst>
            </a:pPr>
            <a:r>
              <a:rPr lang="en-US" sz="2500" b="0" dirty="0" smtClean="0">
                <a:latin typeface="Cambria"/>
              </a:rPr>
              <a:t>Hard to understand if not author</a:t>
            </a:r>
            <a:endParaRPr sz="25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Scope and Loops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600" b="0">
                <a:latin typeface="Cambria"/>
              </a:rPr>
              <a:t>for ( int i = 0 ; i &lt; n ; i++ ) { ... }</a:t>
            </a:r>
          </a:p>
          <a:p>
            <a:pPr>
              <a:tabLst>
                <a:tab pos="548640" algn="l"/>
                <a:tab pos="1097280" algn="l"/>
                <a:tab pos="1645920" algn="l"/>
                <a:tab pos="2194560" algn="l"/>
              </a:tabLst>
            </a:pPr>
            <a:r>
              <a:rPr sz="2600" b="0">
                <a:latin typeface="Cambria"/>
              </a:rPr>
              <a:t>	i is gone here</a:t>
            </a:r>
          </a:p>
          <a:p>
            <a:pPr>
              <a:tabLst>
                <a:tab pos="548640" algn="l"/>
                <a:tab pos="1097280" algn="l"/>
                <a:tab pos="1645920" algn="l"/>
                <a:tab pos="2194560" algn="l"/>
              </a:tabLst>
            </a:pPr>
            <a:r>
              <a:rPr sz="2600">
                <a:latin typeface="Cambria"/>
              </a:rPr>
              <a:t> </a:t>
            </a:r>
          </a:p>
          <a:p>
            <a:pPr>
              <a:tabLst>
                <a:tab pos="548640" algn="l"/>
                <a:tab pos="1097280" algn="l"/>
                <a:tab pos="1645920" algn="l"/>
                <a:tab pos="2194560" algn="l"/>
              </a:tabLst>
            </a:pPr>
            <a:r>
              <a:rPr sz="2600" b="0">
                <a:latin typeface="Cambria"/>
              </a:rPr>
              <a:t>for i in 0..n { ... }</a:t>
            </a:r>
          </a:p>
          <a:p>
            <a:pPr>
              <a:tabLst>
                <a:tab pos="548640" algn="l"/>
                <a:tab pos="1097280" algn="l"/>
                <a:tab pos="1645920" algn="l"/>
                <a:tab pos="2194560" algn="l"/>
              </a:tabLst>
            </a:pPr>
            <a:r>
              <a:rPr sz="2600" b="0">
                <a:latin typeface="Cambria"/>
              </a:rPr>
              <a:t>	i is gone here too</a:t>
            </a:r>
          </a:p>
          <a:p>
            <a:pPr>
              <a:tabLst>
                <a:tab pos="548640" algn="l"/>
                <a:tab pos="1097280" algn="l"/>
                <a:tab pos="1645920" algn="l"/>
                <a:tab pos="2194560" algn="l"/>
              </a:tabLst>
            </a:pPr>
            <a:r>
              <a:rPr sz="2600">
                <a:latin typeface="Cambria"/>
              </a:rPr>
              <a:t> </a:t>
            </a:r>
          </a:p>
          <a:p>
            <a:pPr>
              <a:tabLst>
                <a:tab pos="548640" algn="l"/>
                <a:tab pos="1097280" algn="l"/>
                <a:tab pos="1645920" algn="l"/>
                <a:tab pos="2194560" algn="l"/>
              </a:tabLst>
            </a:pPr>
            <a:r>
              <a:rPr sz="2600" b="0">
                <a:latin typeface="Cambria"/>
              </a:rPr>
              <a:t>A loop variable's scope is the loop</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But Where Is the Memory?</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4093428"/>
          </a:xfrm>
          <a:prstGeom prst="rect">
            <a:avLst/>
          </a:prstGeom>
          <a:noFill/>
        </p:spPr>
        <p:txBody>
          <a:bodyPr wrap="square">
            <a:spAutoFit/>
          </a:bodyPr>
          <a:lstStyle/>
          <a:p>
            <a:pPr>
              <a:tabLst>
                <a:tab pos="548640" algn="l"/>
                <a:tab pos="1097280" algn="l"/>
                <a:tab pos="1645920" algn="l"/>
                <a:tab pos="2194560" algn="l"/>
              </a:tabLst>
            </a:pPr>
            <a:r>
              <a:rPr sz="2600" b="0" dirty="0">
                <a:latin typeface="Cambria"/>
              </a:rPr>
              <a:t>A variable definition allocates memory</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Where it goes depends on the </a:t>
            </a:r>
            <a:r>
              <a:rPr sz="2600" b="0" dirty="0" smtClean="0">
                <a:latin typeface="Cambria"/>
              </a:rPr>
              <a:t>variable's</a:t>
            </a:r>
            <a:r>
              <a:rPr lang="en-US" sz="2600" b="0" dirty="0" smtClean="0">
                <a:latin typeface="Cambria"/>
              </a:rPr>
              <a:t> </a:t>
            </a:r>
            <a:r>
              <a:rPr sz="2600" b="1" dirty="0" smtClean="0">
                <a:latin typeface="Cambria"/>
              </a:rPr>
              <a:t>scope</a:t>
            </a:r>
            <a:r>
              <a:rPr sz="2600" b="0" dirty="0" smtClean="0">
                <a:latin typeface="Cambria"/>
              </a:rPr>
              <a:t> </a:t>
            </a:r>
            <a:r>
              <a:rPr sz="2600" b="0" dirty="0">
                <a:latin typeface="Cambria"/>
              </a:rPr>
              <a:t>and its </a:t>
            </a:r>
            <a:r>
              <a:rPr sz="2600" b="1" dirty="0">
                <a:latin typeface="Cambria"/>
              </a:rPr>
              <a:t>lifetime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Three places memory can live: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	</a:t>
            </a:r>
            <a:r>
              <a:rPr sz="2600" b="1" dirty="0">
                <a:latin typeface="Cambria"/>
              </a:rPr>
              <a:t>data segment</a:t>
            </a:r>
            <a:r>
              <a:rPr sz="2600" b="0" dirty="0">
                <a:latin typeface="Cambria"/>
              </a:rPr>
              <a:t> </a:t>
            </a:r>
            <a:r>
              <a:rPr lang="en-US" sz="2600" b="0" dirty="0" smtClean="0">
                <a:latin typeface="Cambria"/>
              </a:rPr>
              <a:t>(of the program’s object text)</a:t>
            </a:r>
            <a:r>
              <a:rPr sz="2600" b="0" dirty="0" smtClean="0">
                <a:latin typeface="Cambria"/>
              </a:rPr>
              <a:t>   </a:t>
            </a:r>
            <a:endParaRPr lang="en-US" sz="2600" b="0" dirty="0" smtClean="0">
              <a:latin typeface="Cambria"/>
            </a:endParaRPr>
          </a:p>
          <a:p>
            <a:pPr>
              <a:tabLst>
                <a:tab pos="548640" algn="l"/>
                <a:tab pos="1097280" algn="l"/>
                <a:tab pos="1645920" algn="l"/>
                <a:tab pos="2194560" algn="l"/>
              </a:tabLst>
            </a:pPr>
            <a:r>
              <a:rPr lang="en-US" sz="2600" dirty="0">
                <a:latin typeface="Cambria"/>
              </a:rPr>
              <a:t>	</a:t>
            </a:r>
            <a:r>
              <a:rPr sz="2600" b="1" dirty="0" smtClean="0">
                <a:latin typeface="Cambria"/>
              </a:rPr>
              <a:t>stack</a:t>
            </a:r>
            <a:r>
              <a:rPr sz="2600" b="0" dirty="0" smtClean="0">
                <a:latin typeface="Cambria"/>
              </a:rPr>
              <a:t>    </a:t>
            </a:r>
            <a:endParaRPr lang="en-US" sz="2600" b="0" dirty="0" smtClean="0">
              <a:latin typeface="Cambria"/>
            </a:endParaRPr>
          </a:p>
          <a:p>
            <a:pPr>
              <a:tabLst>
                <a:tab pos="548640" algn="l"/>
                <a:tab pos="1097280" algn="l"/>
                <a:tab pos="1645920" algn="l"/>
                <a:tab pos="2194560" algn="l"/>
              </a:tabLst>
            </a:pPr>
            <a:r>
              <a:rPr lang="en-US" sz="2600" dirty="0">
                <a:latin typeface="Cambria"/>
              </a:rPr>
              <a:t>	</a:t>
            </a:r>
            <a:r>
              <a:rPr sz="2600" b="1" dirty="0" smtClean="0">
                <a:latin typeface="Cambria"/>
              </a:rPr>
              <a:t>heap</a:t>
            </a:r>
            <a:endParaRPr sz="2600" b="1"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Two Views of Program File</a:t>
            </a:r>
            <a:endParaRPr lang="en-US" sz="4400" b="0" u="none" strike="noStrike" dirty="0">
              <a:solidFill>
                <a:srgbClr val="000000"/>
              </a:solidFill>
              <a:effectLst/>
              <a:uFillTx/>
              <a:latin typeface="Arial"/>
            </a:endParaRPr>
          </a:p>
        </p:txBody>
      </p:sp>
      <p:sp>
        <p:nvSpPr>
          <p:cNvPr id="388" name="Rectangle 387"/>
          <p:cNvSpPr/>
          <p:nvPr/>
        </p:nvSpPr>
        <p:spPr>
          <a:xfrm>
            <a:off x="3886200" y="2240280"/>
            <a:ext cx="2286000" cy="384048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89" name="TextBox 388"/>
          <p:cNvSpPr txBox="1"/>
          <p:nvPr/>
        </p:nvSpPr>
        <p:spPr>
          <a:xfrm>
            <a:off x="3886200" y="1819656"/>
            <a:ext cx="2286000" cy="292388"/>
          </a:xfrm>
          <a:prstGeom prst="rect">
            <a:avLst/>
          </a:prstGeom>
          <a:noFill/>
        </p:spPr>
        <p:txBody>
          <a:bodyPr wrap="square" lIns="0" tIns="0" rIns="0" bIns="0">
            <a:spAutoFit/>
          </a:bodyPr>
          <a:lstStyle/>
          <a:p>
            <a:pPr algn="ctr"/>
            <a:r>
              <a:rPr sz="1900" b="1" i="0">
                <a:solidFill>
                  <a:srgbClr val="000000"/>
                </a:solidFill>
                <a:latin typeface="Cambria"/>
              </a:rPr>
              <a:t>one </a:t>
            </a:r>
            <a:r>
              <a:rPr sz="1900" b="1" i="0" smtClean="0">
                <a:solidFill>
                  <a:srgbClr val="000000"/>
                </a:solidFill>
                <a:latin typeface="Cambria"/>
              </a:rPr>
              <a:t>file</a:t>
            </a:r>
            <a:r>
              <a:rPr lang="en-US" sz="1900" b="1" i="0" smtClean="0">
                <a:solidFill>
                  <a:srgbClr val="000000"/>
                </a:solidFill>
                <a:latin typeface="Cambria"/>
              </a:rPr>
              <a:t> : ELF</a:t>
            </a:r>
            <a:endParaRPr sz="1900" b="1" i="0">
              <a:solidFill>
                <a:srgbClr val="000000"/>
              </a:solidFill>
              <a:latin typeface="Cambria"/>
            </a:endParaRPr>
          </a:p>
        </p:txBody>
      </p:sp>
      <p:sp>
        <p:nvSpPr>
          <p:cNvPr id="390" name="Rectangle 389"/>
          <p:cNvSpPr/>
          <p:nvPr/>
        </p:nvSpPr>
        <p:spPr>
          <a:xfrm>
            <a:off x="4050791" y="2395728"/>
            <a:ext cx="1956816" cy="54864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ELF header</a:t>
            </a:r>
          </a:p>
        </p:txBody>
      </p:sp>
      <p:sp>
        <p:nvSpPr>
          <p:cNvPr id="391" name="Rectangle 390"/>
          <p:cNvSpPr/>
          <p:nvPr/>
        </p:nvSpPr>
        <p:spPr>
          <a:xfrm>
            <a:off x="4050791" y="3035808"/>
            <a:ext cx="1956816" cy="54864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segment table</a:t>
            </a:r>
          </a:p>
        </p:txBody>
      </p:sp>
      <p:sp>
        <p:nvSpPr>
          <p:cNvPr id="392" name="Rectangle 391"/>
          <p:cNvSpPr/>
          <p:nvPr/>
        </p:nvSpPr>
        <p:spPr>
          <a:xfrm>
            <a:off x="4050791" y="3675887"/>
            <a:ext cx="1956816" cy="1600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the bytes</a:t>
            </a:r>
          </a:p>
        </p:txBody>
      </p:sp>
      <p:sp>
        <p:nvSpPr>
          <p:cNvPr id="393" name="Rectangle 392"/>
          <p:cNvSpPr/>
          <p:nvPr/>
        </p:nvSpPr>
        <p:spPr>
          <a:xfrm>
            <a:off x="4050791" y="5367528"/>
            <a:ext cx="1956816" cy="548640"/>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section table</a:t>
            </a:r>
          </a:p>
        </p:txBody>
      </p:sp>
      <p:sp>
        <p:nvSpPr>
          <p:cNvPr id="394" name="Rounded Rectangle 393"/>
          <p:cNvSpPr/>
          <p:nvPr/>
        </p:nvSpPr>
        <p:spPr>
          <a:xfrm>
            <a:off x="502920" y="3685032"/>
            <a:ext cx="2743200" cy="960120"/>
          </a:xfrm>
          <a:prstGeom prst="round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900" b="1">
                <a:solidFill>
                  <a:srgbClr val="000000"/>
                </a:solidFill>
                <a:latin typeface="Cambria"/>
              </a:rPr>
              <a:t>the linker</a:t>
            </a:r>
          </a:p>
        </p:txBody>
      </p:sp>
      <p:sp>
        <p:nvSpPr>
          <p:cNvPr id="395" name="TextBox 394"/>
          <p:cNvSpPr txBox="1"/>
          <p:nvPr/>
        </p:nvSpPr>
        <p:spPr>
          <a:xfrm>
            <a:off x="502920" y="4727448"/>
            <a:ext cx="2743200" cy="310896"/>
          </a:xfrm>
          <a:prstGeom prst="rect">
            <a:avLst/>
          </a:prstGeom>
          <a:noFill/>
        </p:spPr>
        <p:txBody>
          <a:bodyPr wrap="square" lIns="0" tIns="0" rIns="0" bIns="0">
            <a:spAutoFit/>
          </a:bodyPr>
          <a:lstStyle/>
          <a:p>
            <a:pPr algn="ctr"/>
            <a:r>
              <a:rPr sz="1700" b="0" i="0">
                <a:solidFill>
                  <a:srgbClr val="000000"/>
                </a:solidFill>
                <a:latin typeface="Cambria"/>
              </a:rPr>
              <a:t>reads </a:t>
            </a:r>
            <a:r>
              <a:rPr sz="1700" b="1" i="0">
                <a:solidFill>
                  <a:srgbClr val="000000"/>
                </a:solidFill>
                <a:latin typeface="Cambria"/>
              </a:rPr>
              <a:t>sections</a:t>
            </a:r>
          </a:p>
        </p:txBody>
      </p:sp>
      <p:sp>
        <p:nvSpPr>
          <p:cNvPr id="396" name="TextBox 395"/>
          <p:cNvSpPr txBox="1"/>
          <p:nvPr/>
        </p:nvSpPr>
        <p:spPr>
          <a:xfrm>
            <a:off x="502920" y="5120640"/>
            <a:ext cx="2743200" cy="310896"/>
          </a:xfrm>
          <a:prstGeom prst="rect">
            <a:avLst/>
          </a:prstGeom>
          <a:noFill/>
        </p:spPr>
        <p:txBody>
          <a:bodyPr wrap="square" lIns="0" tIns="0" rIns="0" bIns="0">
            <a:spAutoFit/>
          </a:bodyPr>
          <a:lstStyle/>
          <a:p>
            <a:pPr algn="ctr"/>
            <a:r>
              <a:rPr sz="1600" b="0" i="1">
                <a:solidFill>
                  <a:srgbClr val="000000"/>
                </a:solidFill>
                <a:latin typeface="Cambria"/>
              </a:rPr>
              <a:t>at build time</a:t>
            </a:r>
          </a:p>
        </p:txBody>
      </p:sp>
      <p:cxnSp>
        <p:nvCxnSpPr>
          <p:cNvPr id="397" name="Connector 396"/>
          <p:cNvCxnSpPr/>
          <p:nvPr/>
        </p:nvCxnSpPr>
        <p:spPr>
          <a:xfrm>
            <a:off x="3310128" y="4160520"/>
            <a:ext cx="521208"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8" name="Rounded Rectangle 397"/>
          <p:cNvSpPr/>
          <p:nvPr/>
        </p:nvSpPr>
        <p:spPr>
          <a:xfrm>
            <a:off x="6812280" y="3685032"/>
            <a:ext cx="2743200" cy="960120"/>
          </a:xfrm>
          <a:prstGeom prst="roundRect">
            <a:avLst/>
          </a:prstGeom>
          <a:solidFill>
            <a:srgbClr val="F2F2F2"/>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1900" b="1">
                <a:solidFill>
                  <a:srgbClr val="000000"/>
                </a:solidFill>
                <a:latin typeface="Cambria"/>
              </a:rPr>
              <a:t>the kernel</a:t>
            </a:r>
          </a:p>
        </p:txBody>
      </p:sp>
      <p:sp>
        <p:nvSpPr>
          <p:cNvPr id="399" name="TextBox 398"/>
          <p:cNvSpPr txBox="1"/>
          <p:nvPr/>
        </p:nvSpPr>
        <p:spPr>
          <a:xfrm>
            <a:off x="6812280" y="4727448"/>
            <a:ext cx="2743200" cy="310896"/>
          </a:xfrm>
          <a:prstGeom prst="rect">
            <a:avLst/>
          </a:prstGeom>
          <a:noFill/>
        </p:spPr>
        <p:txBody>
          <a:bodyPr wrap="square" lIns="0" tIns="0" rIns="0" bIns="0">
            <a:spAutoFit/>
          </a:bodyPr>
          <a:lstStyle/>
          <a:p>
            <a:pPr algn="ctr"/>
            <a:r>
              <a:rPr sz="1700" b="0" i="0">
                <a:solidFill>
                  <a:srgbClr val="000000"/>
                </a:solidFill>
                <a:latin typeface="Cambria"/>
              </a:rPr>
              <a:t>reads </a:t>
            </a:r>
            <a:r>
              <a:rPr sz="1700" b="1" i="0">
                <a:solidFill>
                  <a:srgbClr val="000000"/>
                </a:solidFill>
                <a:latin typeface="Cambria"/>
              </a:rPr>
              <a:t>segments</a:t>
            </a:r>
          </a:p>
        </p:txBody>
      </p:sp>
      <p:sp>
        <p:nvSpPr>
          <p:cNvPr id="400" name="TextBox 399"/>
          <p:cNvSpPr txBox="1"/>
          <p:nvPr/>
        </p:nvSpPr>
        <p:spPr>
          <a:xfrm>
            <a:off x="6812280" y="5120640"/>
            <a:ext cx="2743200" cy="310896"/>
          </a:xfrm>
          <a:prstGeom prst="rect">
            <a:avLst/>
          </a:prstGeom>
          <a:noFill/>
        </p:spPr>
        <p:txBody>
          <a:bodyPr wrap="square" lIns="0" tIns="0" rIns="0" bIns="0">
            <a:spAutoFit/>
          </a:bodyPr>
          <a:lstStyle/>
          <a:p>
            <a:pPr algn="ctr"/>
            <a:r>
              <a:rPr sz="1600" b="0" i="1">
                <a:solidFill>
                  <a:srgbClr val="000000"/>
                </a:solidFill>
                <a:latin typeface="Cambria"/>
              </a:rPr>
              <a:t>at load time</a:t>
            </a:r>
          </a:p>
        </p:txBody>
      </p:sp>
      <p:cxnSp>
        <p:nvCxnSpPr>
          <p:cNvPr id="401" name="Connector 400"/>
          <p:cNvCxnSpPr/>
          <p:nvPr/>
        </p:nvCxnSpPr>
        <p:spPr>
          <a:xfrm flipH="1">
            <a:off x="6227064" y="4160520"/>
            <a:ext cx="521208" cy="0"/>
          </a:xfrm>
          <a:prstGeom prst="line">
            <a:avLst/>
          </a:prstGeom>
          <a:ln w="25400">
            <a:solidFill>
              <a:srgbClr val="1F4E7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2" name="TextBox 401"/>
          <p:cNvSpPr txBox="1"/>
          <p:nvPr/>
        </p:nvSpPr>
        <p:spPr>
          <a:xfrm>
            <a:off x="667512" y="6583680"/>
            <a:ext cx="8778240" cy="310896"/>
          </a:xfrm>
          <a:prstGeom prst="rect">
            <a:avLst/>
          </a:prstGeom>
          <a:noFill/>
        </p:spPr>
        <p:txBody>
          <a:bodyPr wrap="square" lIns="0" tIns="0" rIns="0" bIns="0">
            <a:spAutoFit/>
          </a:bodyPr>
          <a:lstStyle/>
          <a:p>
            <a:pPr algn="ctr"/>
            <a:r>
              <a:rPr sz="2100" b="0" i="0">
                <a:solidFill>
                  <a:srgbClr val="000000"/>
                </a:solidFill>
                <a:latin typeface="Cambria"/>
              </a:rPr>
              <a:t>The same bytes, </a:t>
            </a:r>
            <a:r>
              <a:rPr sz="2100" b="1" i="0">
                <a:solidFill>
                  <a:srgbClr val="000000"/>
                </a:solidFill>
                <a:latin typeface="Cambria"/>
              </a:rPr>
              <a:t>described twice</a:t>
            </a:r>
            <a:r>
              <a:rPr sz="2100" b="0" i="0">
                <a:solidFill>
                  <a:srgbClr val="000000"/>
                </a:solidFill>
                <a:latin typeface="Cambria"/>
              </a:rPr>
              <a:t>, for two different readers</a:t>
            </a:r>
          </a:p>
        </p:txBody>
      </p:sp>
    </p:spTree>
    <p:extLst>
      <p:ext uri="{BB962C8B-B14F-4D97-AF65-F5344CB8AC3E}">
        <p14:creationId xmlns:p14="http://schemas.microsoft.com/office/powerpoint/2010/main" val="38372948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Inside the Program File</a:t>
            </a:r>
            <a:endParaRPr lang="en-US" sz="4400" b="0" u="none" strike="noStrike" dirty="0">
              <a:solidFill>
                <a:srgbClr val="000000"/>
              </a:solidFill>
              <a:effectLst/>
              <a:uFillTx/>
              <a:latin typeface="Arial"/>
            </a:endParaRPr>
          </a:p>
        </p:txBody>
      </p:sp>
      <p:sp>
        <p:nvSpPr>
          <p:cNvPr id="388" name="Rectangle 387"/>
          <p:cNvSpPr/>
          <p:nvPr/>
        </p:nvSpPr>
        <p:spPr>
          <a:xfrm>
            <a:off x="2971800" y="2084831"/>
            <a:ext cx="196596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ELF header</a:t>
            </a:r>
          </a:p>
        </p:txBody>
      </p:sp>
      <p:sp>
        <p:nvSpPr>
          <p:cNvPr id="389" name="TextBox 388"/>
          <p:cNvSpPr txBox="1"/>
          <p:nvPr/>
        </p:nvSpPr>
        <p:spPr>
          <a:xfrm>
            <a:off x="5120640" y="2185415"/>
            <a:ext cx="4434840" cy="310896"/>
          </a:xfrm>
          <a:prstGeom prst="rect">
            <a:avLst/>
          </a:prstGeom>
          <a:noFill/>
        </p:spPr>
        <p:txBody>
          <a:bodyPr wrap="square" lIns="0" tIns="0" rIns="0" bIns="0">
            <a:spAutoFit/>
          </a:bodyPr>
          <a:lstStyle/>
          <a:p>
            <a:pPr algn="l"/>
            <a:r>
              <a:rPr sz="1500" b="0" i="0">
                <a:solidFill>
                  <a:srgbClr val="000000"/>
                </a:solidFill>
                <a:latin typeface="Cambria"/>
              </a:rPr>
              <a:t>how to read the rest of the file</a:t>
            </a:r>
          </a:p>
        </p:txBody>
      </p:sp>
      <p:sp>
        <p:nvSpPr>
          <p:cNvPr id="390" name="Rectangle 389"/>
          <p:cNvSpPr/>
          <p:nvPr/>
        </p:nvSpPr>
        <p:spPr>
          <a:xfrm>
            <a:off x="2971800" y="2596896"/>
            <a:ext cx="196596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segment table</a:t>
            </a:r>
          </a:p>
        </p:txBody>
      </p:sp>
      <p:sp>
        <p:nvSpPr>
          <p:cNvPr id="391" name="TextBox 390"/>
          <p:cNvSpPr txBox="1"/>
          <p:nvPr/>
        </p:nvSpPr>
        <p:spPr>
          <a:xfrm>
            <a:off x="5120640" y="2697479"/>
            <a:ext cx="4434840" cy="310896"/>
          </a:xfrm>
          <a:prstGeom prst="rect">
            <a:avLst/>
          </a:prstGeom>
          <a:noFill/>
        </p:spPr>
        <p:txBody>
          <a:bodyPr wrap="square" lIns="0" tIns="0" rIns="0" bIns="0">
            <a:spAutoFit/>
          </a:bodyPr>
          <a:lstStyle/>
          <a:p>
            <a:pPr algn="l"/>
            <a:r>
              <a:rPr sz="1500" b="0" i="0">
                <a:solidFill>
                  <a:srgbClr val="000000"/>
                </a:solidFill>
                <a:latin typeface="Cambria"/>
              </a:rPr>
              <a:t>what the kernel maps   -   the execution view</a:t>
            </a:r>
          </a:p>
        </p:txBody>
      </p:sp>
      <p:sp>
        <p:nvSpPr>
          <p:cNvPr id="392" name="Rectangle 391"/>
          <p:cNvSpPr/>
          <p:nvPr/>
        </p:nvSpPr>
        <p:spPr>
          <a:xfrm>
            <a:off x="2971800" y="3108960"/>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.text</a:t>
            </a:r>
          </a:p>
        </p:txBody>
      </p:sp>
      <p:sp>
        <p:nvSpPr>
          <p:cNvPr id="393" name="TextBox 392"/>
          <p:cNvSpPr txBox="1"/>
          <p:nvPr/>
        </p:nvSpPr>
        <p:spPr>
          <a:xfrm>
            <a:off x="5120640" y="3209544"/>
            <a:ext cx="4434840" cy="310896"/>
          </a:xfrm>
          <a:prstGeom prst="rect">
            <a:avLst/>
          </a:prstGeom>
          <a:noFill/>
        </p:spPr>
        <p:txBody>
          <a:bodyPr wrap="square" lIns="0" tIns="0" rIns="0" bIns="0">
            <a:spAutoFit/>
          </a:bodyPr>
          <a:lstStyle/>
          <a:p>
            <a:pPr algn="l"/>
            <a:r>
              <a:rPr sz="1500" b="0" i="0">
                <a:solidFill>
                  <a:srgbClr val="000000"/>
                </a:solidFill>
                <a:latin typeface="Cambria"/>
              </a:rPr>
              <a:t>the machine code</a:t>
            </a:r>
          </a:p>
        </p:txBody>
      </p:sp>
      <p:sp>
        <p:nvSpPr>
          <p:cNvPr id="394" name="Rectangle 393"/>
          <p:cNvSpPr/>
          <p:nvPr/>
        </p:nvSpPr>
        <p:spPr>
          <a:xfrm>
            <a:off x="2971800" y="3621024"/>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.rodata</a:t>
            </a:r>
          </a:p>
        </p:txBody>
      </p:sp>
      <p:sp>
        <p:nvSpPr>
          <p:cNvPr id="395" name="TextBox 394"/>
          <p:cNvSpPr txBox="1"/>
          <p:nvPr/>
        </p:nvSpPr>
        <p:spPr>
          <a:xfrm>
            <a:off x="5120640" y="3721608"/>
            <a:ext cx="4434840" cy="310896"/>
          </a:xfrm>
          <a:prstGeom prst="rect">
            <a:avLst/>
          </a:prstGeom>
          <a:noFill/>
        </p:spPr>
        <p:txBody>
          <a:bodyPr wrap="square" lIns="0" tIns="0" rIns="0" bIns="0">
            <a:spAutoFit/>
          </a:bodyPr>
          <a:lstStyle/>
          <a:p>
            <a:pPr algn="l"/>
            <a:r>
              <a:rPr sz="1500" b="0" i="0">
                <a:solidFill>
                  <a:srgbClr val="000000"/>
                </a:solidFill>
                <a:latin typeface="Cambria"/>
              </a:rPr>
              <a:t>constants and string literals</a:t>
            </a:r>
          </a:p>
        </p:txBody>
      </p:sp>
      <p:sp>
        <p:nvSpPr>
          <p:cNvPr id="396" name="Rectangle 395"/>
          <p:cNvSpPr/>
          <p:nvPr/>
        </p:nvSpPr>
        <p:spPr>
          <a:xfrm>
            <a:off x="2971800" y="4133087"/>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.data</a:t>
            </a:r>
          </a:p>
        </p:txBody>
      </p:sp>
      <p:sp>
        <p:nvSpPr>
          <p:cNvPr id="397" name="TextBox 396"/>
          <p:cNvSpPr txBox="1"/>
          <p:nvPr/>
        </p:nvSpPr>
        <p:spPr>
          <a:xfrm>
            <a:off x="5120640" y="4233672"/>
            <a:ext cx="4434840" cy="230832"/>
          </a:xfrm>
          <a:prstGeom prst="rect">
            <a:avLst/>
          </a:prstGeom>
          <a:noFill/>
        </p:spPr>
        <p:txBody>
          <a:bodyPr wrap="square" lIns="0" tIns="0" rIns="0" bIns="0">
            <a:spAutoFit/>
          </a:bodyPr>
          <a:lstStyle/>
          <a:p>
            <a:pPr algn="l"/>
            <a:r>
              <a:rPr sz="1500" b="0" i="0" dirty="0" err="1">
                <a:solidFill>
                  <a:srgbClr val="000000"/>
                </a:solidFill>
                <a:latin typeface="Cambria"/>
              </a:rPr>
              <a:t>globals</a:t>
            </a:r>
            <a:r>
              <a:rPr sz="1500" b="0" i="0" dirty="0">
                <a:solidFill>
                  <a:srgbClr val="000000"/>
                </a:solidFill>
                <a:latin typeface="Cambria"/>
              </a:rPr>
              <a:t> with </a:t>
            </a:r>
            <a:r>
              <a:rPr sz="1500" b="0" i="0" dirty="0" smtClean="0">
                <a:solidFill>
                  <a:srgbClr val="000000"/>
                </a:solidFill>
                <a:latin typeface="Cambria"/>
              </a:rPr>
              <a:t>a</a:t>
            </a:r>
            <a:r>
              <a:rPr lang="en-US" sz="1500" b="0" i="0" dirty="0" smtClean="0">
                <a:solidFill>
                  <a:srgbClr val="000000"/>
                </a:solidFill>
                <a:latin typeface="Cambria"/>
              </a:rPr>
              <a:t>n initial</a:t>
            </a:r>
            <a:r>
              <a:rPr sz="1500" b="0" i="0" dirty="0" smtClean="0">
                <a:solidFill>
                  <a:srgbClr val="000000"/>
                </a:solidFill>
                <a:latin typeface="Cambria"/>
              </a:rPr>
              <a:t> </a:t>
            </a:r>
            <a:r>
              <a:rPr sz="1500" b="0" i="0" dirty="0">
                <a:solidFill>
                  <a:srgbClr val="000000"/>
                </a:solidFill>
                <a:latin typeface="Cambria"/>
              </a:rPr>
              <a:t>value</a:t>
            </a:r>
          </a:p>
        </p:txBody>
      </p:sp>
      <p:sp>
        <p:nvSpPr>
          <p:cNvPr id="398" name="Rectangle 397"/>
          <p:cNvSpPr/>
          <p:nvPr/>
        </p:nvSpPr>
        <p:spPr>
          <a:xfrm>
            <a:off x="2971800" y="4645152"/>
            <a:ext cx="1965960" cy="51206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.bss</a:t>
            </a:r>
          </a:p>
        </p:txBody>
      </p:sp>
      <p:sp>
        <p:nvSpPr>
          <p:cNvPr id="399" name="TextBox 398"/>
          <p:cNvSpPr txBox="1"/>
          <p:nvPr/>
        </p:nvSpPr>
        <p:spPr>
          <a:xfrm>
            <a:off x="5120640" y="4745736"/>
            <a:ext cx="4434840" cy="230832"/>
          </a:xfrm>
          <a:prstGeom prst="rect">
            <a:avLst/>
          </a:prstGeom>
          <a:noFill/>
        </p:spPr>
        <p:txBody>
          <a:bodyPr wrap="square" lIns="0" tIns="0" rIns="0" bIns="0">
            <a:spAutoFit/>
          </a:bodyPr>
          <a:lstStyle/>
          <a:p>
            <a:pPr algn="l"/>
            <a:r>
              <a:rPr sz="1500" b="0" i="0" dirty="0" err="1">
                <a:solidFill>
                  <a:srgbClr val="000000"/>
                </a:solidFill>
                <a:latin typeface="Cambria"/>
              </a:rPr>
              <a:t>globals</a:t>
            </a:r>
            <a:r>
              <a:rPr sz="1500" b="0" i="0" dirty="0">
                <a:solidFill>
                  <a:srgbClr val="000000"/>
                </a:solidFill>
                <a:latin typeface="Cambria"/>
              </a:rPr>
              <a:t> that </a:t>
            </a:r>
            <a:r>
              <a:rPr lang="en-US" sz="1500" dirty="0" smtClean="0">
                <a:solidFill>
                  <a:srgbClr val="000000"/>
                </a:solidFill>
                <a:latin typeface="Cambria"/>
              </a:rPr>
              <a:t>have initial value of </a:t>
            </a:r>
            <a:r>
              <a:rPr sz="1500" b="0" i="0" dirty="0" smtClean="0">
                <a:solidFill>
                  <a:srgbClr val="000000"/>
                </a:solidFill>
                <a:latin typeface="Cambria"/>
              </a:rPr>
              <a:t>zero  </a:t>
            </a:r>
            <a:r>
              <a:rPr sz="1500" b="0" i="0" dirty="0">
                <a:solidFill>
                  <a:srgbClr val="000000"/>
                </a:solidFill>
                <a:latin typeface="Cambria"/>
              </a:rPr>
              <a:t>-  a size, no bytes</a:t>
            </a:r>
          </a:p>
        </p:txBody>
      </p:sp>
      <p:sp>
        <p:nvSpPr>
          <p:cNvPr id="400" name="Rectangle 399"/>
          <p:cNvSpPr/>
          <p:nvPr/>
        </p:nvSpPr>
        <p:spPr>
          <a:xfrm>
            <a:off x="2971800" y="5157216"/>
            <a:ext cx="196596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.symtab</a:t>
            </a:r>
          </a:p>
        </p:txBody>
      </p:sp>
      <p:sp>
        <p:nvSpPr>
          <p:cNvPr id="401" name="TextBox 400"/>
          <p:cNvSpPr txBox="1"/>
          <p:nvPr/>
        </p:nvSpPr>
        <p:spPr>
          <a:xfrm>
            <a:off x="5120640" y="5257800"/>
            <a:ext cx="4434840" cy="310896"/>
          </a:xfrm>
          <a:prstGeom prst="rect">
            <a:avLst/>
          </a:prstGeom>
          <a:noFill/>
        </p:spPr>
        <p:txBody>
          <a:bodyPr wrap="square" lIns="0" tIns="0" rIns="0" bIns="0">
            <a:spAutoFit/>
          </a:bodyPr>
          <a:lstStyle/>
          <a:p>
            <a:pPr algn="l"/>
            <a:r>
              <a:rPr sz="1500" b="0" i="0">
                <a:solidFill>
                  <a:srgbClr val="000000"/>
                </a:solidFill>
                <a:latin typeface="Cambria"/>
              </a:rPr>
              <a:t>the name of every function and global</a:t>
            </a:r>
          </a:p>
        </p:txBody>
      </p:sp>
      <p:sp>
        <p:nvSpPr>
          <p:cNvPr id="402" name="Rectangle 401"/>
          <p:cNvSpPr/>
          <p:nvPr/>
        </p:nvSpPr>
        <p:spPr>
          <a:xfrm>
            <a:off x="2971800" y="5669280"/>
            <a:ext cx="1965960" cy="51206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.debug_*</a:t>
            </a:r>
          </a:p>
        </p:txBody>
      </p:sp>
      <p:sp>
        <p:nvSpPr>
          <p:cNvPr id="403" name="TextBox 402"/>
          <p:cNvSpPr txBox="1"/>
          <p:nvPr/>
        </p:nvSpPr>
        <p:spPr>
          <a:xfrm>
            <a:off x="5120640" y="5769864"/>
            <a:ext cx="4434840" cy="310896"/>
          </a:xfrm>
          <a:prstGeom prst="rect">
            <a:avLst/>
          </a:prstGeom>
          <a:noFill/>
        </p:spPr>
        <p:txBody>
          <a:bodyPr wrap="square" lIns="0" tIns="0" rIns="0" bIns="0">
            <a:spAutoFit/>
          </a:bodyPr>
          <a:lstStyle/>
          <a:p>
            <a:pPr algn="l"/>
            <a:r>
              <a:rPr sz="1500" b="0" i="0">
                <a:solidFill>
                  <a:srgbClr val="000000"/>
                </a:solidFill>
                <a:latin typeface="Cambria"/>
              </a:rPr>
              <a:t>what  -g  added</a:t>
            </a:r>
          </a:p>
        </p:txBody>
      </p:sp>
      <p:sp>
        <p:nvSpPr>
          <p:cNvPr id="404" name="Rectangle 403"/>
          <p:cNvSpPr/>
          <p:nvPr/>
        </p:nvSpPr>
        <p:spPr>
          <a:xfrm>
            <a:off x="2971800" y="6181344"/>
            <a:ext cx="1965960" cy="51206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600" b="1">
                <a:solidFill>
                  <a:srgbClr val="000000"/>
                </a:solidFill>
                <a:latin typeface="Cambria"/>
              </a:rPr>
              <a:t>section table</a:t>
            </a:r>
          </a:p>
        </p:txBody>
      </p:sp>
      <p:sp>
        <p:nvSpPr>
          <p:cNvPr id="405" name="TextBox 404"/>
          <p:cNvSpPr txBox="1"/>
          <p:nvPr/>
        </p:nvSpPr>
        <p:spPr>
          <a:xfrm>
            <a:off x="5120640" y="6281928"/>
            <a:ext cx="4434840" cy="310896"/>
          </a:xfrm>
          <a:prstGeom prst="rect">
            <a:avLst/>
          </a:prstGeom>
          <a:noFill/>
        </p:spPr>
        <p:txBody>
          <a:bodyPr wrap="square" lIns="0" tIns="0" rIns="0" bIns="0">
            <a:spAutoFit/>
          </a:bodyPr>
          <a:lstStyle/>
          <a:p>
            <a:pPr algn="l"/>
            <a:r>
              <a:rPr sz="1500" b="0" i="0">
                <a:solidFill>
                  <a:srgbClr val="000000"/>
                </a:solidFill>
                <a:latin typeface="Cambria"/>
              </a:rPr>
              <a:t>where each section is   -   the linking view</a:t>
            </a:r>
          </a:p>
        </p:txBody>
      </p:sp>
      <p:sp>
        <p:nvSpPr>
          <p:cNvPr id="406" name="TextBox 405"/>
          <p:cNvSpPr txBox="1"/>
          <p:nvPr/>
        </p:nvSpPr>
        <p:spPr>
          <a:xfrm>
            <a:off x="2971800" y="1664207"/>
            <a:ext cx="1965960" cy="310896"/>
          </a:xfrm>
          <a:prstGeom prst="rect">
            <a:avLst/>
          </a:prstGeom>
          <a:noFill/>
        </p:spPr>
        <p:txBody>
          <a:bodyPr wrap="square" lIns="0" tIns="0" rIns="0" bIns="0">
            <a:spAutoFit/>
          </a:bodyPr>
          <a:lstStyle/>
          <a:p>
            <a:pPr algn="ctr"/>
            <a:r>
              <a:rPr sz="1800" b="1" i="0">
                <a:solidFill>
                  <a:srgbClr val="000000"/>
                </a:solidFill>
                <a:latin typeface="Cambria"/>
              </a:rPr>
              <a:t>one file</a:t>
            </a:r>
          </a:p>
        </p:txBody>
      </p:sp>
      <p:cxnSp>
        <p:nvCxnSpPr>
          <p:cNvPr id="407" name="Connector 406"/>
          <p:cNvCxnSpPr/>
          <p:nvPr/>
        </p:nvCxnSpPr>
        <p:spPr>
          <a:xfrm>
            <a:off x="2825496" y="3154679"/>
            <a:ext cx="0" cy="1956817"/>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a:off x="2825496" y="3154679"/>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a:off x="2825496" y="5111496"/>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sp>
        <p:nvSpPr>
          <p:cNvPr id="410" name="TextBox 409"/>
          <p:cNvSpPr txBox="1"/>
          <p:nvPr/>
        </p:nvSpPr>
        <p:spPr>
          <a:xfrm>
            <a:off x="960120" y="3840480"/>
            <a:ext cx="1737360" cy="310896"/>
          </a:xfrm>
          <a:prstGeom prst="rect">
            <a:avLst/>
          </a:prstGeom>
          <a:noFill/>
        </p:spPr>
        <p:txBody>
          <a:bodyPr wrap="square" lIns="0" tIns="0" rIns="0" bIns="0">
            <a:spAutoFit/>
          </a:bodyPr>
          <a:lstStyle/>
          <a:p>
            <a:pPr algn="r"/>
            <a:r>
              <a:rPr sz="1500" b="1" i="0">
                <a:solidFill>
                  <a:srgbClr val="000000"/>
                </a:solidFill>
                <a:latin typeface="Cambria"/>
              </a:rPr>
              <a:t>loaded into</a:t>
            </a:r>
          </a:p>
        </p:txBody>
      </p:sp>
      <p:sp>
        <p:nvSpPr>
          <p:cNvPr id="411" name="TextBox 410"/>
          <p:cNvSpPr txBox="1"/>
          <p:nvPr/>
        </p:nvSpPr>
        <p:spPr>
          <a:xfrm>
            <a:off x="960120" y="4114800"/>
            <a:ext cx="1737360" cy="310896"/>
          </a:xfrm>
          <a:prstGeom prst="rect">
            <a:avLst/>
          </a:prstGeom>
          <a:noFill/>
        </p:spPr>
        <p:txBody>
          <a:bodyPr wrap="square" lIns="0" tIns="0" rIns="0" bIns="0">
            <a:spAutoFit/>
          </a:bodyPr>
          <a:lstStyle/>
          <a:p>
            <a:pPr algn="r"/>
            <a:r>
              <a:rPr sz="1500" b="1" i="0">
                <a:solidFill>
                  <a:srgbClr val="000000"/>
                </a:solidFill>
                <a:latin typeface="Cambria"/>
              </a:rPr>
              <a:t>memory</a:t>
            </a:r>
          </a:p>
        </p:txBody>
      </p:sp>
      <p:cxnSp>
        <p:nvCxnSpPr>
          <p:cNvPr id="412" name="Connector 411"/>
          <p:cNvCxnSpPr/>
          <p:nvPr/>
        </p:nvCxnSpPr>
        <p:spPr>
          <a:xfrm>
            <a:off x="2825496" y="5202936"/>
            <a:ext cx="0" cy="932688"/>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a:off x="2825496" y="5202936"/>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2825496" y="6135624"/>
            <a:ext cx="128016" cy="0"/>
          </a:xfrm>
          <a:prstGeom prst="line">
            <a:avLst/>
          </a:prstGeom>
          <a:ln w="22225">
            <a:solidFill>
              <a:srgbClr val="1F4E79"/>
            </a:solidFill>
          </a:ln>
        </p:spPr>
        <p:style>
          <a:lnRef idx="2">
            <a:schemeClr val="accent1"/>
          </a:lnRef>
          <a:fillRef idx="0">
            <a:schemeClr val="accent1"/>
          </a:fillRef>
          <a:effectRef idx="1">
            <a:schemeClr val="accent1"/>
          </a:effectRef>
          <a:fontRef idx="minor">
            <a:schemeClr val="tx1"/>
          </a:fontRef>
        </p:style>
      </p:cxnSp>
      <p:sp>
        <p:nvSpPr>
          <p:cNvPr id="415" name="TextBox 414"/>
          <p:cNvSpPr txBox="1"/>
          <p:nvPr/>
        </p:nvSpPr>
        <p:spPr>
          <a:xfrm>
            <a:off x="960120" y="5376672"/>
            <a:ext cx="1737360" cy="310896"/>
          </a:xfrm>
          <a:prstGeom prst="rect">
            <a:avLst/>
          </a:prstGeom>
          <a:noFill/>
        </p:spPr>
        <p:txBody>
          <a:bodyPr wrap="square" lIns="0" tIns="0" rIns="0" bIns="0">
            <a:spAutoFit/>
          </a:bodyPr>
          <a:lstStyle/>
          <a:p>
            <a:pPr algn="r"/>
            <a:r>
              <a:rPr sz="1500" b="1" i="0">
                <a:solidFill>
                  <a:srgbClr val="000000"/>
                </a:solidFill>
                <a:latin typeface="Cambria"/>
              </a:rPr>
              <a:t>for you,</a:t>
            </a:r>
          </a:p>
        </p:txBody>
      </p:sp>
      <p:sp>
        <p:nvSpPr>
          <p:cNvPr id="416" name="TextBox 415"/>
          <p:cNvSpPr txBox="1"/>
          <p:nvPr/>
        </p:nvSpPr>
        <p:spPr>
          <a:xfrm>
            <a:off x="960120" y="5650992"/>
            <a:ext cx="1737360" cy="310896"/>
          </a:xfrm>
          <a:prstGeom prst="rect">
            <a:avLst/>
          </a:prstGeom>
          <a:noFill/>
        </p:spPr>
        <p:txBody>
          <a:bodyPr wrap="square" lIns="0" tIns="0" rIns="0" bIns="0">
            <a:spAutoFit/>
          </a:bodyPr>
          <a:lstStyle/>
          <a:p>
            <a:pPr algn="r"/>
            <a:r>
              <a:rPr sz="1500" b="1" i="0">
                <a:solidFill>
                  <a:srgbClr val="000000"/>
                </a:solidFill>
                <a:latin typeface="Cambria"/>
              </a:rPr>
              <a:t>not the machine</a:t>
            </a:r>
          </a:p>
        </p:txBody>
      </p:sp>
      <p:sp>
        <p:nvSpPr>
          <p:cNvPr id="417" name="TextBox 416"/>
          <p:cNvSpPr txBox="1"/>
          <p:nvPr/>
        </p:nvSpPr>
        <p:spPr>
          <a:xfrm>
            <a:off x="667512" y="6876288"/>
            <a:ext cx="8778240" cy="310896"/>
          </a:xfrm>
          <a:prstGeom prst="rect">
            <a:avLst/>
          </a:prstGeom>
          <a:noFill/>
        </p:spPr>
        <p:txBody>
          <a:bodyPr wrap="square" lIns="0" tIns="0" rIns="0" bIns="0">
            <a:spAutoFit/>
          </a:bodyPr>
          <a:lstStyle/>
          <a:p>
            <a:pPr algn="ctr"/>
            <a:r>
              <a:rPr sz="1900" b="0" i="0">
                <a:solidFill>
                  <a:srgbClr val="000000"/>
                </a:solidFill>
                <a:latin typeface="Cambria"/>
              </a:rPr>
              <a:t>Two tables describe the same bytes  -  one for the </a:t>
            </a:r>
            <a:r>
              <a:rPr sz="1900" b="1" i="0">
                <a:solidFill>
                  <a:srgbClr val="000000"/>
                </a:solidFill>
                <a:latin typeface="Cambria"/>
              </a:rPr>
              <a:t>linker</a:t>
            </a:r>
            <a:r>
              <a:rPr sz="1900" b="0" i="0">
                <a:solidFill>
                  <a:srgbClr val="000000"/>
                </a:solidFill>
                <a:latin typeface="Cambria"/>
              </a:rPr>
              <a:t>, one for the </a:t>
            </a:r>
            <a:r>
              <a:rPr sz="1900" b="1" i="0">
                <a:solidFill>
                  <a:srgbClr val="000000"/>
                </a:solidFill>
                <a:latin typeface="Cambria"/>
              </a:rPr>
              <a:t>kernel</a:t>
            </a:r>
          </a:p>
        </p:txBody>
      </p:sp>
    </p:spTree>
    <p:extLst>
      <p:ext uri="{BB962C8B-B14F-4D97-AF65-F5344CB8AC3E}">
        <p14:creationId xmlns:p14="http://schemas.microsoft.com/office/powerpoint/2010/main" val="16394411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Memory Map of a Linux Process</a:t>
            </a:r>
            <a:endParaRPr lang="en-US" sz="4000" b="0" u="none" strike="noStrike" dirty="0">
              <a:solidFill>
                <a:srgbClr val="000000"/>
              </a:solidFill>
              <a:effectLst/>
              <a:uFillTx/>
              <a:latin typeface="Arial"/>
            </a:endParaRPr>
          </a:p>
        </p:txBody>
      </p:sp>
      <p:pic>
        <p:nvPicPr>
          <p:cNvPr id="388" name="Picture 387" descr="memmap.png"/>
          <p:cNvPicPr>
            <a:picLocks noChangeAspect="1"/>
          </p:cNvPicPr>
          <p:nvPr/>
        </p:nvPicPr>
        <p:blipFill>
          <a:blip r:embed="rId3"/>
          <a:stretch>
            <a:fillRect/>
          </a:stretch>
        </p:blipFill>
        <p:spPr>
          <a:xfrm>
            <a:off x="1737360" y="1828800"/>
            <a:ext cx="6583680" cy="5391807"/>
          </a:xfrm>
          <a:prstGeom prst="rect">
            <a:avLst/>
          </a:prstGeom>
        </p:spPr>
      </p:pic>
      <p:sp>
        <p:nvSpPr>
          <p:cNvPr id="4" name="TextBox 3"/>
          <p:cNvSpPr txBox="1"/>
          <p:nvPr/>
        </p:nvSpPr>
        <p:spPr>
          <a:xfrm>
            <a:off x="1484670" y="7257701"/>
            <a:ext cx="5811143" cy="369332"/>
          </a:xfrm>
          <a:prstGeom prst="rect">
            <a:avLst/>
          </a:prstGeom>
          <a:noFill/>
        </p:spPr>
        <p:txBody>
          <a:bodyPr wrap="none" rtlCol="0">
            <a:spAutoFit/>
          </a:bodyPr>
          <a:lstStyle/>
          <a:p>
            <a:r>
              <a:rPr lang="en-US" dirty="0" smtClean="0"/>
              <a:t>The program gets copied or “loaded” into the address space</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Region 1:  The Data Segment</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4154984"/>
          </a:xfrm>
          <a:prstGeom prst="rect">
            <a:avLst/>
          </a:prstGeom>
          <a:noFill/>
        </p:spPr>
        <p:txBody>
          <a:bodyPr wrap="square">
            <a:spAutoFit/>
          </a:bodyPr>
          <a:lstStyle/>
          <a:p>
            <a:pPr>
              <a:tabLst>
                <a:tab pos="1554480" algn="l"/>
              </a:tabLst>
            </a:pPr>
            <a:r>
              <a:rPr sz="2400" b="1" dirty="0">
                <a:latin typeface="Cambria"/>
              </a:rPr>
              <a:t>Persistent</a:t>
            </a:r>
            <a:r>
              <a:rPr sz="2400" b="0" dirty="0">
                <a:latin typeface="Cambria"/>
              </a:rPr>
              <a:t> variables live </a:t>
            </a:r>
            <a:r>
              <a:rPr sz="2400" b="0" dirty="0" smtClean="0">
                <a:latin typeface="Cambria"/>
              </a:rPr>
              <a:t>here</a:t>
            </a:r>
            <a:endParaRPr lang="en-US" sz="2400" b="0" dirty="0" smtClean="0">
              <a:latin typeface="Cambria"/>
            </a:endParaRPr>
          </a:p>
          <a:p>
            <a:pPr>
              <a:tabLst>
                <a:tab pos="1554480" algn="l"/>
              </a:tabLst>
            </a:pPr>
            <a:endParaRPr lang="en-US" sz="2400" dirty="0">
              <a:latin typeface="Cambria"/>
            </a:endParaRPr>
          </a:p>
          <a:p>
            <a:pPr>
              <a:tabLst>
                <a:tab pos="1554480" algn="l"/>
              </a:tabLst>
            </a:pPr>
            <a:r>
              <a:rPr lang="en-US" sz="2400" b="0" dirty="0" smtClean="0">
                <a:latin typeface="Cambria"/>
              </a:rPr>
              <a:t>Persistent mean lives the entire life of the program</a:t>
            </a:r>
            <a:endParaRPr sz="2400" b="0" dirty="0">
              <a:latin typeface="Cambria"/>
            </a:endParaRPr>
          </a:p>
          <a:p>
            <a:pPr>
              <a:tabLst>
                <a:tab pos="1554480" algn="l"/>
              </a:tabLst>
            </a:pPr>
            <a:r>
              <a:rPr sz="2400" dirty="0">
                <a:latin typeface="Cambria"/>
              </a:rPr>
              <a:t> </a:t>
            </a:r>
          </a:p>
          <a:p>
            <a:pPr>
              <a:tabLst>
                <a:tab pos="1554480" algn="l"/>
              </a:tabLst>
            </a:pPr>
            <a:r>
              <a:rPr sz="2400" b="0" dirty="0">
                <a:latin typeface="Cambria"/>
              </a:rPr>
              <a:t>Size known at </a:t>
            </a:r>
            <a:r>
              <a:rPr sz="2400" b="1" dirty="0">
                <a:latin typeface="Cambria"/>
              </a:rPr>
              <a:t>compile time</a:t>
            </a:r>
            <a:r>
              <a:rPr sz="2400" b="0" dirty="0">
                <a:latin typeface="Cambria"/>
              </a:rPr>
              <a:t> - part of the object code</a:t>
            </a:r>
          </a:p>
          <a:p>
            <a:pPr>
              <a:tabLst>
                <a:tab pos="1554480" algn="l"/>
              </a:tabLst>
            </a:pPr>
            <a:r>
              <a:rPr sz="2400" dirty="0">
                <a:latin typeface="Cambria"/>
              </a:rPr>
              <a:t> </a:t>
            </a:r>
          </a:p>
          <a:p>
            <a:pPr>
              <a:tabLst>
                <a:tab pos="1554480" algn="l"/>
              </a:tabLst>
            </a:pPr>
            <a:r>
              <a:rPr sz="2400" b="1" dirty="0">
                <a:latin typeface="Cambria"/>
              </a:rPr>
              <a:t>Data</a:t>
            </a:r>
            <a:r>
              <a:rPr sz="2400" b="0" dirty="0">
                <a:latin typeface="Cambria"/>
              </a:rPr>
              <a:t>:	variables with an initial value</a:t>
            </a:r>
          </a:p>
          <a:p>
            <a:pPr>
              <a:tabLst>
                <a:tab pos="1554480" algn="l"/>
              </a:tabLst>
            </a:pPr>
            <a:r>
              <a:rPr sz="2400" b="1" dirty="0">
                <a:latin typeface="Cambria"/>
              </a:rPr>
              <a:t>BSS</a:t>
            </a:r>
            <a:r>
              <a:rPr sz="2400" b="0" dirty="0">
                <a:latin typeface="Cambria"/>
              </a:rPr>
              <a:t>:	variables with </a:t>
            </a:r>
            <a:r>
              <a:rPr sz="2400" b="0" dirty="0" smtClean="0">
                <a:latin typeface="Cambria"/>
              </a:rPr>
              <a:t>initial value</a:t>
            </a:r>
            <a:r>
              <a:rPr lang="en-US" sz="2400" b="0" dirty="0" smtClean="0">
                <a:latin typeface="Cambria"/>
              </a:rPr>
              <a:t> of zero</a:t>
            </a:r>
            <a:endParaRPr sz="2400" b="0" dirty="0">
              <a:latin typeface="Cambria"/>
            </a:endParaRPr>
          </a:p>
          <a:p>
            <a:pPr>
              <a:tabLst>
                <a:tab pos="1554480" algn="l"/>
              </a:tabLst>
            </a:pPr>
            <a:r>
              <a:rPr sz="2400" b="0" dirty="0">
                <a:latin typeface="Cambria"/>
              </a:rPr>
              <a:t>	set to </a:t>
            </a:r>
            <a:r>
              <a:rPr sz="2400" b="1" dirty="0">
                <a:latin typeface="Cambria"/>
              </a:rPr>
              <a:t>zero</a:t>
            </a:r>
            <a:r>
              <a:rPr sz="2400" b="0" dirty="0">
                <a:latin typeface="Cambria"/>
              </a:rPr>
              <a:t> when the program </a:t>
            </a:r>
            <a:r>
              <a:rPr sz="2400" b="0" dirty="0" smtClean="0">
                <a:latin typeface="Cambria"/>
              </a:rPr>
              <a:t>loads</a:t>
            </a:r>
            <a:endParaRPr lang="en-US" sz="2400" b="0" dirty="0" smtClean="0">
              <a:latin typeface="Cambria"/>
            </a:endParaRPr>
          </a:p>
          <a:p>
            <a:pPr>
              <a:tabLst>
                <a:tab pos="1554480" algn="l"/>
              </a:tabLst>
            </a:pPr>
            <a:r>
              <a:rPr lang="en-US" sz="2400" dirty="0">
                <a:latin typeface="Cambria"/>
              </a:rPr>
              <a:t>	</a:t>
            </a:r>
            <a:r>
              <a:rPr lang="en-US" sz="2400" dirty="0" smtClean="0">
                <a:latin typeface="Cambria"/>
              </a:rPr>
              <a:t>run length encoded</a:t>
            </a:r>
          </a:p>
          <a:p>
            <a:pPr>
              <a:tabLst>
                <a:tab pos="1554480" algn="l"/>
              </a:tabLst>
            </a:pPr>
            <a:r>
              <a:rPr lang="en-US" sz="2400" b="0" dirty="0">
                <a:latin typeface="Cambria"/>
              </a:rPr>
              <a:t>	</a:t>
            </a:r>
            <a:r>
              <a:rPr lang="en-US" sz="2400" b="0" dirty="0" smtClean="0">
                <a:latin typeface="Cambria"/>
              </a:rPr>
              <a:t>expanded during program load</a:t>
            </a:r>
            <a:endParaRPr sz="24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8">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8">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Persistent Memory Mapping</a:t>
            </a:r>
            <a:endParaRPr lang="en-US" sz="4000" b="0" u="none" strike="noStrike" dirty="0">
              <a:solidFill>
                <a:srgbClr val="000000"/>
              </a:solidFill>
              <a:effectLst/>
              <a:uFillTx/>
              <a:latin typeface="Arial"/>
            </a:endParaRPr>
          </a:p>
        </p:txBody>
      </p:sp>
      <p:pic>
        <p:nvPicPr>
          <p:cNvPr id="388" name="Picture 387" descr="memmap.png"/>
          <p:cNvPicPr>
            <a:picLocks noChangeAspect="1"/>
          </p:cNvPicPr>
          <p:nvPr/>
        </p:nvPicPr>
        <p:blipFill>
          <a:blip r:embed="rId3"/>
          <a:stretch>
            <a:fillRect/>
          </a:stretch>
        </p:blipFill>
        <p:spPr>
          <a:xfrm>
            <a:off x="1737360" y="1828800"/>
            <a:ext cx="6583680" cy="5391807"/>
          </a:xfrm>
          <a:prstGeom prst="rect">
            <a:avLst/>
          </a:prstGeom>
        </p:spPr>
      </p:pic>
      <p:sp>
        <p:nvSpPr>
          <p:cNvPr id="4" name="TextBox 3"/>
          <p:cNvSpPr txBox="1"/>
          <p:nvPr/>
        </p:nvSpPr>
        <p:spPr>
          <a:xfrm>
            <a:off x="1484670" y="7257701"/>
            <a:ext cx="5811143" cy="369332"/>
          </a:xfrm>
          <a:prstGeom prst="rect">
            <a:avLst/>
          </a:prstGeom>
          <a:noFill/>
        </p:spPr>
        <p:txBody>
          <a:bodyPr wrap="none" rtlCol="0">
            <a:spAutoFit/>
          </a:bodyPr>
          <a:lstStyle/>
          <a:p>
            <a:r>
              <a:rPr lang="en-US" dirty="0" smtClean="0"/>
              <a:t>The program gets copied or “loaded” into the address space</a:t>
            </a:r>
            <a:endParaRPr lang="en-US" dirty="0"/>
          </a:p>
        </p:txBody>
      </p:sp>
      <p:sp>
        <p:nvSpPr>
          <p:cNvPr id="5" name="Rectangle 4"/>
          <p:cNvSpPr/>
          <p:nvPr/>
        </p:nvSpPr>
        <p:spPr>
          <a:xfrm>
            <a:off x="2005781" y="5486400"/>
            <a:ext cx="5614219" cy="1189703"/>
          </a:xfrm>
          <a:prstGeom prst="rect">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7620000" y="5896585"/>
            <a:ext cx="2477217" cy="369332"/>
          </a:xfrm>
          <a:prstGeom prst="rect">
            <a:avLst/>
          </a:prstGeom>
          <a:noFill/>
        </p:spPr>
        <p:txBody>
          <a:bodyPr wrap="none" rtlCol="0">
            <a:spAutoFit/>
          </a:bodyPr>
          <a:lstStyle/>
          <a:p>
            <a:r>
              <a:rPr lang="en-US" dirty="0" smtClean="0">
                <a:solidFill>
                  <a:srgbClr val="FF0000"/>
                </a:solidFill>
              </a:rPr>
              <a:t>Persistent variables here</a:t>
            </a:r>
            <a:endParaRPr lang="en-US" dirty="0">
              <a:solidFill>
                <a:srgbClr val="FF0000"/>
              </a:solidFill>
            </a:endParaRPr>
          </a:p>
        </p:txBody>
      </p:sp>
    </p:spTree>
    <p:extLst>
      <p:ext uri="{BB962C8B-B14F-4D97-AF65-F5344CB8AC3E}">
        <p14:creationId xmlns:p14="http://schemas.microsoft.com/office/powerpoint/2010/main" val="16829184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Region 2:  The Stack</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677656"/>
          </a:xfrm>
          <a:prstGeom prst="rect">
            <a:avLst/>
          </a:prstGeom>
          <a:noFill/>
        </p:spPr>
        <p:txBody>
          <a:bodyPr wrap="square">
            <a:spAutoFit/>
          </a:bodyPr>
          <a:lstStyle/>
          <a:p>
            <a:pPr>
              <a:tabLst>
                <a:tab pos="548640" algn="l"/>
                <a:tab pos="1097280" algn="l"/>
                <a:tab pos="1645920" algn="l"/>
                <a:tab pos="2194560" algn="l"/>
              </a:tabLst>
            </a:pPr>
            <a:r>
              <a:rPr sz="2400" b="0" dirty="0">
                <a:latin typeface="Cambria"/>
              </a:rPr>
              <a:t>Holds each call's </a:t>
            </a:r>
            <a:r>
              <a:rPr sz="2400" b="1" dirty="0">
                <a:latin typeface="Cambria"/>
              </a:rPr>
              <a:t>arguments</a:t>
            </a:r>
            <a:r>
              <a:rPr sz="2400" b="0" dirty="0">
                <a:latin typeface="Cambria"/>
              </a:rPr>
              <a:t> and </a:t>
            </a:r>
            <a:r>
              <a:rPr sz="2400" b="1" dirty="0">
                <a:latin typeface="Cambria"/>
              </a:rPr>
              <a:t>local</a:t>
            </a:r>
            <a:r>
              <a:rPr sz="2400" b="0" dirty="0">
                <a:latin typeface="Cambria"/>
              </a:rPr>
              <a:t> variables</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A </a:t>
            </a:r>
            <a:r>
              <a:rPr sz="2400" b="1" dirty="0">
                <a:latin typeface="Cambria"/>
              </a:rPr>
              <a:t>stack</a:t>
            </a:r>
            <a:r>
              <a:rPr sz="2400" b="0" dirty="0">
                <a:latin typeface="Cambria"/>
              </a:rPr>
              <a:t> data structure:  push on call, pop on return</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Located by the </a:t>
            </a:r>
            <a:r>
              <a:rPr sz="2400" b="1" dirty="0">
                <a:latin typeface="Cambria"/>
              </a:rPr>
              <a:t>stack pointer</a:t>
            </a:r>
            <a:r>
              <a:rPr sz="2400" b="0" dirty="0">
                <a:latin typeface="Cambria"/>
              </a:rPr>
              <a:t> and </a:t>
            </a:r>
            <a:r>
              <a:rPr sz="2400" b="1" dirty="0">
                <a:latin typeface="Cambria"/>
              </a:rPr>
              <a:t>frame pointer</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Memory on the stack is </a:t>
            </a:r>
            <a:r>
              <a:rPr sz="2400" b="1" dirty="0">
                <a:latin typeface="Cambria"/>
              </a:rPr>
              <a:t>uninitialized</a:t>
            </a:r>
            <a:r>
              <a:rPr sz="2400" b="0" dirty="0">
                <a:latin typeface="Cambria"/>
              </a:rPr>
              <a:t> </a:t>
            </a:r>
            <a:r>
              <a:rPr sz="2400" b="0" dirty="0" smtClean="0">
                <a:latin typeface="Cambria"/>
              </a:rPr>
              <a:t>and</a:t>
            </a:r>
            <a:r>
              <a:rPr lang="en-US" sz="2400" b="0" dirty="0" smtClean="0">
                <a:latin typeface="Cambria"/>
              </a:rPr>
              <a:t> </a:t>
            </a:r>
            <a:r>
              <a:rPr sz="2400" b="1" dirty="0" smtClean="0">
                <a:latin typeface="Cambria"/>
              </a:rPr>
              <a:t>temporary</a:t>
            </a:r>
            <a:endParaRPr sz="2400" b="1"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 Stack Frame</a:t>
            </a:r>
            <a:endParaRPr lang="en-US" sz="4400" b="0" u="none" strike="noStrike" dirty="0">
              <a:solidFill>
                <a:srgbClr val="000000"/>
              </a:solidFill>
              <a:effectLst/>
              <a:uFillTx/>
              <a:latin typeface="Arial"/>
            </a:endParaRPr>
          </a:p>
        </p:txBody>
      </p:sp>
      <p:pic>
        <p:nvPicPr>
          <p:cNvPr id="388" name="Picture 387" descr="stackframe.png"/>
          <p:cNvPicPr>
            <a:picLocks noChangeAspect="1"/>
          </p:cNvPicPr>
          <p:nvPr/>
        </p:nvPicPr>
        <p:blipFill>
          <a:blip r:embed="rId3"/>
          <a:stretch>
            <a:fillRect/>
          </a:stretch>
        </p:blipFill>
        <p:spPr>
          <a:xfrm>
            <a:off x="3331225" y="1783080"/>
            <a:ext cx="3395949" cy="54864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Stack Memory Mapping</a:t>
            </a:r>
            <a:endParaRPr lang="en-US" sz="4000" b="0" u="none" strike="noStrike" dirty="0">
              <a:solidFill>
                <a:srgbClr val="000000"/>
              </a:solidFill>
              <a:effectLst/>
              <a:uFillTx/>
              <a:latin typeface="Arial"/>
            </a:endParaRPr>
          </a:p>
        </p:txBody>
      </p:sp>
      <p:pic>
        <p:nvPicPr>
          <p:cNvPr id="388" name="Picture 387" descr="memmap.png"/>
          <p:cNvPicPr>
            <a:picLocks noChangeAspect="1"/>
          </p:cNvPicPr>
          <p:nvPr/>
        </p:nvPicPr>
        <p:blipFill>
          <a:blip r:embed="rId3"/>
          <a:stretch>
            <a:fillRect/>
          </a:stretch>
        </p:blipFill>
        <p:spPr>
          <a:xfrm>
            <a:off x="1737360" y="1828800"/>
            <a:ext cx="6583680" cy="5391807"/>
          </a:xfrm>
          <a:prstGeom prst="rect">
            <a:avLst/>
          </a:prstGeom>
        </p:spPr>
      </p:pic>
      <p:sp>
        <p:nvSpPr>
          <p:cNvPr id="4" name="TextBox 3"/>
          <p:cNvSpPr txBox="1"/>
          <p:nvPr/>
        </p:nvSpPr>
        <p:spPr>
          <a:xfrm>
            <a:off x="1484670" y="7257701"/>
            <a:ext cx="5811143" cy="369332"/>
          </a:xfrm>
          <a:prstGeom prst="rect">
            <a:avLst/>
          </a:prstGeom>
          <a:noFill/>
        </p:spPr>
        <p:txBody>
          <a:bodyPr wrap="none" rtlCol="0">
            <a:spAutoFit/>
          </a:bodyPr>
          <a:lstStyle/>
          <a:p>
            <a:r>
              <a:rPr lang="en-US" dirty="0" smtClean="0"/>
              <a:t>The program gets copied or “loaded” into the address space</a:t>
            </a:r>
            <a:endParaRPr lang="en-US" dirty="0"/>
          </a:p>
        </p:txBody>
      </p:sp>
      <p:sp>
        <p:nvSpPr>
          <p:cNvPr id="5" name="Rectangle 4"/>
          <p:cNvSpPr/>
          <p:nvPr/>
        </p:nvSpPr>
        <p:spPr>
          <a:xfrm>
            <a:off x="2359742" y="2647816"/>
            <a:ext cx="6626942" cy="980287"/>
          </a:xfrm>
          <a:prstGeom prst="rect">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666271" y="3709976"/>
            <a:ext cx="2529603" cy="369332"/>
          </a:xfrm>
          <a:prstGeom prst="rect">
            <a:avLst/>
          </a:prstGeom>
          <a:noFill/>
        </p:spPr>
        <p:txBody>
          <a:bodyPr wrap="none" rtlCol="0">
            <a:spAutoFit/>
          </a:bodyPr>
          <a:lstStyle/>
          <a:p>
            <a:r>
              <a:rPr lang="en-US" dirty="0" smtClean="0">
                <a:solidFill>
                  <a:srgbClr val="FF0000"/>
                </a:solidFill>
              </a:rPr>
              <a:t>Stack auto variables here</a:t>
            </a:r>
            <a:endParaRPr lang="en-US" dirty="0">
              <a:solidFill>
                <a:srgbClr val="FF0000"/>
              </a:solidFill>
            </a:endParaRPr>
          </a:p>
        </p:txBody>
      </p:sp>
    </p:spTree>
    <p:extLst>
      <p:ext uri="{BB962C8B-B14F-4D97-AF65-F5344CB8AC3E}">
        <p14:creationId xmlns:p14="http://schemas.microsoft.com/office/powerpoint/2010/main" val="15956084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Region 3:  The Heap</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492990"/>
          </a:xfrm>
          <a:prstGeom prst="rect">
            <a:avLst/>
          </a:prstGeom>
          <a:noFill/>
        </p:spPr>
        <p:txBody>
          <a:bodyPr wrap="square">
            <a:spAutoFit/>
          </a:bodyPr>
          <a:lstStyle/>
          <a:p>
            <a:pPr>
              <a:tabLst>
                <a:tab pos="548640" algn="l"/>
                <a:tab pos="1097280" algn="l"/>
                <a:tab pos="1645920" algn="l"/>
                <a:tab pos="2194560" algn="l"/>
              </a:tabLst>
            </a:pPr>
            <a:r>
              <a:rPr sz="2600" b="1" dirty="0">
                <a:latin typeface="Cambria"/>
              </a:rPr>
              <a:t>Dynamic</a:t>
            </a:r>
            <a:r>
              <a:rPr sz="2600" b="0" dirty="0">
                <a:latin typeface="Cambria"/>
              </a:rPr>
              <a:t> memory - size decided at run time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The </a:t>
            </a:r>
            <a:r>
              <a:rPr sz="2600" b="1" dirty="0">
                <a:latin typeface="Cambria"/>
              </a:rPr>
              <a:t>program</a:t>
            </a:r>
            <a:r>
              <a:rPr sz="2600" b="0" dirty="0">
                <a:latin typeface="Cambria"/>
              </a:rPr>
              <a:t> decides when it is </a:t>
            </a:r>
            <a:r>
              <a:rPr sz="2600" b="0" dirty="0" smtClean="0">
                <a:latin typeface="Cambria"/>
              </a:rPr>
              <a:t>created</a:t>
            </a:r>
            <a:r>
              <a:rPr lang="en-US" sz="2600" b="0" dirty="0" smtClean="0">
                <a:latin typeface="Cambria"/>
              </a:rPr>
              <a:t> </a:t>
            </a:r>
            <a:r>
              <a:rPr sz="2600" b="0" dirty="0" smtClean="0">
                <a:latin typeface="Cambria"/>
              </a:rPr>
              <a:t>and </a:t>
            </a:r>
            <a:r>
              <a:rPr sz="2600" b="0" dirty="0">
                <a:latin typeface="Cambria"/>
              </a:rPr>
              <a:t>when it is released</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Lives until it is freed - not tied to </a:t>
            </a:r>
            <a:r>
              <a:rPr sz="2600" b="0" dirty="0" smtClean="0">
                <a:latin typeface="Cambria"/>
              </a:rPr>
              <a:t>a</a:t>
            </a:r>
            <a:r>
              <a:rPr lang="en-US" sz="2600" b="0" dirty="0" smtClean="0">
                <a:latin typeface="Cambria"/>
              </a:rPr>
              <a:t> </a:t>
            </a:r>
            <a:r>
              <a:rPr sz="2600" b="0" dirty="0" smtClean="0">
                <a:latin typeface="Cambria"/>
              </a:rPr>
              <a:t>function </a:t>
            </a:r>
            <a:r>
              <a:rPr sz="2600" b="0" dirty="0">
                <a:latin typeface="Cambria"/>
              </a:rPr>
              <a:t>call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Heap Memory Mapping</a:t>
            </a:r>
            <a:endParaRPr lang="en-US" sz="4000" b="0" u="none" strike="noStrike" dirty="0">
              <a:solidFill>
                <a:srgbClr val="000000"/>
              </a:solidFill>
              <a:effectLst/>
              <a:uFillTx/>
              <a:latin typeface="Arial"/>
            </a:endParaRPr>
          </a:p>
        </p:txBody>
      </p:sp>
      <p:pic>
        <p:nvPicPr>
          <p:cNvPr id="388" name="Picture 387" descr="memmap.png"/>
          <p:cNvPicPr>
            <a:picLocks noChangeAspect="1"/>
          </p:cNvPicPr>
          <p:nvPr/>
        </p:nvPicPr>
        <p:blipFill>
          <a:blip r:embed="rId3"/>
          <a:stretch>
            <a:fillRect/>
          </a:stretch>
        </p:blipFill>
        <p:spPr>
          <a:xfrm>
            <a:off x="1737360" y="1828800"/>
            <a:ext cx="6583680" cy="5391807"/>
          </a:xfrm>
          <a:prstGeom prst="rect">
            <a:avLst/>
          </a:prstGeom>
        </p:spPr>
      </p:pic>
      <p:sp>
        <p:nvSpPr>
          <p:cNvPr id="4" name="TextBox 3"/>
          <p:cNvSpPr txBox="1"/>
          <p:nvPr/>
        </p:nvSpPr>
        <p:spPr>
          <a:xfrm>
            <a:off x="1484670" y="7257701"/>
            <a:ext cx="5811143" cy="369332"/>
          </a:xfrm>
          <a:prstGeom prst="rect">
            <a:avLst/>
          </a:prstGeom>
          <a:noFill/>
        </p:spPr>
        <p:txBody>
          <a:bodyPr wrap="none" rtlCol="0">
            <a:spAutoFit/>
          </a:bodyPr>
          <a:lstStyle/>
          <a:p>
            <a:r>
              <a:rPr lang="en-US" dirty="0" smtClean="0"/>
              <a:t>The program gets copied or “loaded” into the address space</a:t>
            </a:r>
            <a:endParaRPr lang="en-US" dirty="0"/>
          </a:p>
        </p:txBody>
      </p:sp>
      <p:sp>
        <p:nvSpPr>
          <p:cNvPr id="5" name="Rectangle 4"/>
          <p:cNvSpPr/>
          <p:nvPr/>
        </p:nvSpPr>
        <p:spPr>
          <a:xfrm>
            <a:off x="2369574" y="4594603"/>
            <a:ext cx="6626942" cy="980287"/>
          </a:xfrm>
          <a:prstGeom prst="rect">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6725264" y="5611984"/>
            <a:ext cx="2047355" cy="369332"/>
          </a:xfrm>
          <a:prstGeom prst="rect">
            <a:avLst/>
          </a:prstGeom>
          <a:noFill/>
        </p:spPr>
        <p:txBody>
          <a:bodyPr wrap="none" rtlCol="0">
            <a:spAutoFit/>
          </a:bodyPr>
          <a:lstStyle/>
          <a:p>
            <a:r>
              <a:rPr lang="en-US" dirty="0" smtClean="0">
                <a:solidFill>
                  <a:srgbClr val="FF0000"/>
                </a:solidFill>
              </a:rPr>
              <a:t>Heap variables here</a:t>
            </a:r>
            <a:endParaRPr lang="en-US" dirty="0">
              <a:solidFill>
                <a:srgbClr val="FF0000"/>
              </a:solidFill>
            </a:endParaRPr>
          </a:p>
        </p:txBody>
      </p:sp>
    </p:spTree>
    <p:extLst>
      <p:ext uri="{BB962C8B-B14F-4D97-AF65-F5344CB8AC3E}">
        <p14:creationId xmlns:p14="http://schemas.microsoft.com/office/powerpoint/2010/main" val="17730932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Heap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4154984"/>
          </a:xfrm>
          <a:prstGeom prst="rect">
            <a:avLst/>
          </a:prstGeom>
          <a:noFill/>
        </p:spPr>
        <p:txBody>
          <a:bodyPr wrap="square">
            <a:spAutoFit/>
          </a:bodyPr>
          <a:lstStyle/>
          <a:p>
            <a:pPr>
              <a:tabLst>
                <a:tab pos="548640" algn="l"/>
                <a:tab pos="1097280" algn="l"/>
                <a:tab pos="1645920" algn="l"/>
                <a:tab pos="2194560" algn="l"/>
              </a:tabLst>
            </a:pPr>
            <a:r>
              <a:rPr sz="2400" b="0" dirty="0">
                <a:latin typeface="Cambria"/>
              </a:rPr>
              <a:t>float *</a:t>
            </a:r>
            <a:r>
              <a:rPr sz="2400" b="0" dirty="0" err="1">
                <a:latin typeface="Cambria"/>
              </a:rPr>
              <a:t>buf</a:t>
            </a:r>
            <a:r>
              <a:rPr sz="2400" b="0" dirty="0">
                <a:latin typeface="Cambria"/>
              </a:rPr>
              <a:t> = </a:t>
            </a:r>
            <a:r>
              <a:rPr sz="2400" b="0" dirty="0" err="1">
                <a:latin typeface="Cambria"/>
              </a:rPr>
              <a:t>malloc</a:t>
            </a:r>
            <a:r>
              <a:rPr sz="2400" b="0" dirty="0">
                <a:latin typeface="Cambria"/>
              </a:rPr>
              <a:t> ( 100 * </a:t>
            </a:r>
            <a:r>
              <a:rPr sz="2400" b="0" dirty="0" err="1">
                <a:latin typeface="Cambria"/>
              </a:rPr>
              <a:t>sizeof</a:t>
            </a:r>
            <a:r>
              <a:rPr sz="2400" b="0" dirty="0">
                <a:latin typeface="Cambria"/>
              </a:rPr>
              <a:t> ( float ) ) ;</a:t>
            </a:r>
          </a:p>
          <a:p>
            <a:pPr>
              <a:tabLst>
                <a:tab pos="548640" algn="l"/>
                <a:tab pos="1097280" algn="l"/>
                <a:tab pos="1645920" algn="l"/>
                <a:tab pos="2194560" algn="l"/>
              </a:tabLst>
            </a:pPr>
            <a:r>
              <a:rPr sz="2400" b="0" dirty="0">
                <a:latin typeface="Cambria"/>
              </a:rPr>
              <a:t>if ( </a:t>
            </a:r>
            <a:r>
              <a:rPr lang="en-US" sz="2400" b="0" dirty="0" smtClean="0">
                <a:latin typeface="Cambria"/>
              </a:rPr>
              <a:t>!(</a:t>
            </a:r>
            <a:r>
              <a:rPr sz="2400" b="0" dirty="0" err="1" smtClean="0">
                <a:latin typeface="Cambria"/>
              </a:rPr>
              <a:t>buf</a:t>
            </a:r>
            <a:r>
              <a:rPr lang="en-US" sz="2400" dirty="0">
                <a:latin typeface="Cambria"/>
              </a:rPr>
              <a:t>)</a:t>
            </a:r>
            <a:r>
              <a:rPr sz="2400" b="0" dirty="0" smtClean="0">
                <a:latin typeface="Cambria"/>
              </a:rPr>
              <a:t> </a:t>
            </a:r>
            <a:r>
              <a:rPr sz="2400" b="0" dirty="0">
                <a:latin typeface="Cambria"/>
              </a:rPr>
              <a:t>)  { /* out of memory */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  use </a:t>
            </a:r>
            <a:r>
              <a:rPr sz="2400" b="0" dirty="0" err="1">
                <a:latin typeface="Cambria"/>
              </a:rPr>
              <a:t>buf</a:t>
            </a:r>
            <a:r>
              <a:rPr sz="2400" b="0" dirty="0">
                <a:latin typeface="Cambria"/>
              </a:rPr>
              <a:t>[0] through </a:t>
            </a:r>
            <a:r>
              <a:rPr sz="2400" b="0" dirty="0" err="1">
                <a:latin typeface="Cambria"/>
              </a:rPr>
              <a:t>buf</a:t>
            </a:r>
            <a:r>
              <a:rPr sz="2400" b="0" dirty="0">
                <a:latin typeface="Cambria"/>
              </a:rPr>
              <a:t>[99]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free ( </a:t>
            </a:r>
            <a:r>
              <a:rPr sz="2400" b="0" dirty="0" err="1">
                <a:latin typeface="Cambria"/>
              </a:rPr>
              <a:t>buf</a:t>
            </a:r>
            <a:r>
              <a:rPr sz="2400" b="0" dirty="0">
                <a:latin typeface="Cambria"/>
              </a:rPr>
              <a:t> )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lang="en-US" sz="2400" dirty="0" smtClean="0">
                <a:latin typeface="Cambria"/>
              </a:rPr>
              <a:t>Use </a:t>
            </a:r>
            <a:r>
              <a:rPr sz="2400" b="0" dirty="0" err="1" smtClean="0">
                <a:latin typeface="Cambria"/>
              </a:rPr>
              <a:t>calloc</a:t>
            </a:r>
            <a:r>
              <a:rPr lang="en-US" sz="2400" b="0" dirty="0" smtClean="0">
                <a:latin typeface="Cambria"/>
              </a:rPr>
              <a:t> to</a:t>
            </a:r>
            <a:r>
              <a:rPr sz="2400" b="0" dirty="0" smtClean="0">
                <a:latin typeface="Cambria"/>
              </a:rPr>
              <a:t> </a:t>
            </a:r>
            <a:r>
              <a:rPr lang="en-US" sz="2400" b="0" dirty="0" smtClean="0">
                <a:latin typeface="Cambria"/>
              </a:rPr>
              <a:t>initialize memory to zero</a:t>
            </a:r>
          </a:p>
          <a:p>
            <a:pPr>
              <a:tabLst>
                <a:tab pos="548640" algn="l"/>
                <a:tab pos="1097280" algn="l"/>
                <a:tab pos="1645920" algn="l"/>
                <a:tab pos="2194560" algn="l"/>
              </a:tabLst>
            </a:pPr>
            <a:endParaRPr lang="en-US" sz="2400" dirty="0">
              <a:latin typeface="Cambria"/>
            </a:endParaRPr>
          </a:p>
          <a:p>
            <a:pPr>
              <a:tabLst>
                <a:tab pos="548640" algn="l"/>
                <a:tab pos="1097280" algn="l"/>
                <a:tab pos="1645920" algn="l"/>
                <a:tab pos="2194560" algn="l"/>
              </a:tabLst>
            </a:pPr>
            <a:r>
              <a:rPr lang="en-US" sz="2400" b="0" dirty="0" smtClean="0">
                <a:latin typeface="Cambria"/>
              </a:rPr>
              <a:t>Use </a:t>
            </a:r>
            <a:r>
              <a:rPr lang="en-US" sz="2400" b="0" dirty="0" err="1" smtClean="0">
                <a:latin typeface="Cambria"/>
              </a:rPr>
              <a:t>realloc</a:t>
            </a:r>
            <a:r>
              <a:rPr lang="en-US" sz="2400" b="0" dirty="0" smtClean="0">
                <a:latin typeface="Cambria"/>
              </a:rPr>
              <a:t> to resize the memory</a:t>
            </a:r>
          </a:p>
          <a:p>
            <a:pPr>
              <a:tabLst>
                <a:tab pos="548640" algn="l"/>
                <a:tab pos="1097280" algn="l"/>
                <a:tab pos="1645920" algn="l"/>
                <a:tab pos="2194560" algn="l"/>
              </a:tabLst>
            </a:pPr>
            <a:r>
              <a:rPr lang="en-US" sz="2400" dirty="0">
                <a:latin typeface="Cambria"/>
              </a:rPr>
              <a:t>	</a:t>
            </a:r>
            <a:r>
              <a:rPr lang="en-US" sz="2400" dirty="0" smtClean="0">
                <a:latin typeface="Cambria"/>
              </a:rPr>
              <a:t>Old area copied but new extra area uninitialized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Heap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float *buf = new float[100] ;</a:t>
            </a:r>
          </a:p>
          <a:p>
            <a:pPr>
              <a:tabLst>
                <a:tab pos="548640" algn="l"/>
                <a:tab pos="1097280" algn="l"/>
                <a:tab pos="1645920" algn="l"/>
                <a:tab pos="2194560" algn="l"/>
              </a:tabLst>
            </a:pPr>
            <a:r>
              <a:rPr sz="2400" b="0">
                <a:latin typeface="Cambria"/>
              </a:rPr>
              <a:t>...</a:t>
            </a:r>
          </a:p>
          <a:p>
            <a:pPr>
              <a:tabLst>
                <a:tab pos="548640" algn="l"/>
                <a:tab pos="1097280" algn="l"/>
                <a:tab pos="1645920" algn="l"/>
                <a:tab pos="2194560" algn="l"/>
              </a:tabLst>
            </a:pPr>
            <a:r>
              <a:rPr sz="2400" b="0">
                <a:latin typeface="Cambria"/>
              </a:rPr>
              <a:t>delete[] buf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Better:  let a type own the memory</a:t>
            </a:r>
          </a:p>
          <a:p>
            <a:pPr>
              <a:tabLst>
                <a:tab pos="548640" algn="l"/>
                <a:tab pos="1097280" algn="l"/>
                <a:tab pos="1645920" algn="l"/>
                <a:tab pos="2194560" algn="l"/>
              </a:tabLst>
            </a:pPr>
            <a:r>
              <a:rPr sz="2400" b="0">
                <a:latin typeface="Cambria"/>
              </a:rPr>
              <a:t>	std::vector&lt;float&gt; buf ( 100 ) ;</a:t>
            </a:r>
          </a:p>
          <a:p>
            <a:pPr>
              <a:tabLst>
                <a:tab pos="548640" algn="l"/>
                <a:tab pos="1097280" algn="l"/>
                <a:tab pos="1645920" algn="l"/>
                <a:tab pos="2194560" algn="l"/>
              </a:tabLst>
            </a:pPr>
            <a:r>
              <a:rPr sz="2400" b="0">
                <a:latin typeface="Cambria"/>
              </a:rPr>
              <a:t>	auto p = std::make_unique&lt;sample_t&gt; ( )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Freed automatically at the closing brace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Heap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970318"/>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let </a:t>
            </a:r>
            <a:r>
              <a:rPr sz="2800" b="0" dirty="0" err="1">
                <a:latin typeface="Cambria"/>
              </a:rPr>
              <a:t>buf</a:t>
            </a:r>
            <a:r>
              <a:rPr sz="2800" b="0" dirty="0">
                <a:latin typeface="Cambria"/>
              </a:rPr>
              <a:t> = </a:t>
            </a:r>
            <a:r>
              <a:rPr sz="2800" b="0" dirty="0" err="1">
                <a:latin typeface="Cambria"/>
              </a:rPr>
              <a:t>vec</a:t>
            </a:r>
            <a:r>
              <a:rPr sz="2800" b="0" dirty="0">
                <a:latin typeface="Cambria"/>
              </a:rPr>
              <a:t>![ 0.0f32 ; 100 ] ;</a:t>
            </a:r>
          </a:p>
          <a:p>
            <a:pPr>
              <a:tabLst>
                <a:tab pos="548640" algn="l"/>
                <a:tab pos="1097280" algn="l"/>
                <a:tab pos="1645920" algn="l"/>
                <a:tab pos="2194560" algn="l"/>
              </a:tabLst>
            </a:pPr>
            <a:r>
              <a:rPr sz="2800" b="0" dirty="0">
                <a:latin typeface="Cambria"/>
              </a:rPr>
              <a:t>let s = Box::new ( sample ) ;</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No free.  No delete.</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When the </a:t>
            </a:r>
            <a:r>
              <a:rPr sz="2800" b="1" dirty="0">
                <a:latin typeface="Cambria"/>
              </a:rPr>
              <a:t>owner</a:t>
            </a:r>
            <a:r>
              <a:rPr sz="2800" b="0" dirty="0">
                <a:latin typeface="Cambria"/>
              </a:rPr>
              <a:t> goes out of </a:t>
            </a:r>
            <a:r>
              <a:rPr sz="2800" b="0" dirty="0" smtClean="0">
                <a:latin typeface="Cambria"/>
              </a:rPr>
              <a:t>scope,</a:t>
            </a:r>
            <a:r>
              <a:rPr lang="en-US" sz="2800" b="0" dirty="0" smtClean="0">
                <a:latin typeface="Cambria"/>
              </a:rPr>
              <a:t> </a:t>
            </a:r>
            <a:r>
              <a:rPr sz="2800" b="0" dirty="0" smtClean="0">
                <a:latin typeface="Cambria"/>
              </a:rPr>
              <a:t>the heap</a:t>
            </a:r>
            <a:r>
              <a:rPr lang="en-US" sz="2800" b="0" dirty="0" smtClean="0">
                <a:latin typeface="Cambria"/>
              </a:rPr>
              <a:t> </a:t>
            </a:r>
            <a:r>
              <a:rPr sz="2800" b="0" dirty="0" smtClean="0">
                <a:latin typeface="Cambria"/>
              </a:rPr>
              <a:t>memory </a:t>
            </a:r>
            <a:r>
              <a:rPr sz="2800" b="0" dirty="0">
                <a:latin typeface="Cambria"/>
              </a:rPr>
              <a:t>is </a:t>
            </a:r>
            <a:r>
              <a:rPr sz="2800" b="0" dirty="0" smtClean="0">
                <a:latin typeface="Cambria"/>
              </a:rPr>
              <a:t>released</a:t>
            </a:r>
            <a:endParaRPr lang="en-US" sz="2800" b="0" dirty="0" smtClean="0">
              <a:latin typeface="Cambria"/>
            </a:endParaRPr>
          </a:p>
          <a:p>
            <a:pPr>
              <a:tabLst>
                <a:tab pos="548640" algn="l"/>
                <a:tab pos="1097280" algn="l"/>
                <a:tab pos="1645920" algn="l"/>
                <a:tab pos="2194560" algn="l"/>
              </a:tabLst>
            </a:pPr>
            <a:endParaRPr lang="en-US" sz="2800" dirty="0">
              <a:latin typeface="Cambria"/>
            </a:endParaRPr>
          </a:p>
          <a:p>
            <a:pPr>
              <a:tabLst>
                <a:tab pos="548640" algn="l"/>
                <a:tab pos="1097280" algn="l"/>
                <a:tab pos="1645920" algn="l"/>
                <a:tab pos="2194560" algn="l"/>
              </a:tabLst>
            </a:pPr>
            <a:r>
              <a:rPr lang="en-US" sz="2800" dirty="0" smtClean="0">
                <a:latin typeface="Cambria"/>
              </a:rPr>
              <a:t>Tries to minimize the burden on programmer</a:t>
            </a:r>
            <a:endParaRPr sz="2800" b="0" dirty="0">
              <a:latin typeface="Cambri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Heap Bugs in C</a:t>
            </a:r>
            <a:endParaRPr lang="en-US" sz="4400" b="0" u="none" strike="noStrike" dirty="0">
              <a:solidFill>
                <a:srgbClr val="000000"/>
              </a:solidFill>
              <a:effectLst/>
              <a:uFillTx/>
              <a:latin typeface="Arial"/>
            </a:endParaRPr>
          </a:p>
        </p:txBody>
      </p:sp>
      <p:sp>
        <p:nvSpPr>
          <p:cNvPr id="388" name="TextBox 387"/>
          <p:cNvSpPr txBox="1"/>
          <p:nvPr/>
        </p:nvSpPr>
        <p:spPr>
          <a:xfrm>
            <a:off x="580040" y="1949942"/>
            <a:ext cx="9252217" cy="3416320"/>
          </a:xfrm>
          <a:prstGeom prst="rect">
            <a:avLst/>
          </a:prstGeom>
          <a:noFill/>
        </p:spPr>
        <p:txBody>
          <a:bodyPr wrap="square">
            <a:spAutoFit/>
          </a:bodyPr>
          <a:lstStyle/>
          <a:p>
            <a:pPr>
              <a:tabLst>
                <a:tab pos="2834640" algn="l"/>
              </a:tabLst>
            </a:pPr>
            <a:r>
              <a:rPr sz="2400" b="1" dirty="0">
                <a:latin typeface="Cambria"/>
              </a:rPr>
              <a:t>Leak</a:t>
            </a:r>
            <a:r>
              <a:rPr sz="2400" b="0" dirty="0">
                <a:latin typeface="Cambria"/>
              </a:rPr>
              <a:t>:	forget to free - memory is never returned</a:t>
            </a:r>
          </a:p>
          <a:p>
            <a:pPr>
              <a:tabLst>
                <a:tab pos="2834640" algn="l"/>
              </a:tabLst>
            </a:pPr>
            <a:r>
              <a:rPr sz="2400" dirty="0">
                <a:latin typeface="Cambria"/>
              </a:rPr>
              <a:t> </a:t>
            </a:r>
          </a:p>
          <a:p>
            <a:pPr>
              <a:tabLst>
                <a:tab pos="2834640" algn="l"/>
              </a:tabLst>
            </a:pPr>
            <a:r>
              <a:rPr sz="2400" b="1" dirty="0">
                <a:latin typeface="Cambria"/>
              </a:rPr>
              <a:t>Use after free</a:t>
            </a:r>
            <a:r>
              <a:rPr sz="2400" b="0" dirty="0">
                <a:latin typeface="Cambria"/>
              </a:rPr>
              <a:t>:	read memory already given back</a:t>
            </a:r>
          </a:p>
          <a:p>
            <a:pPr>
              <a:tabLst>
                <a:tab pos="2834640" algn="l"/>
              </a:tabLst>
            </a:pPr>
            <a:r>
              <a:rPr sz="2400" dirty="0">
                <a:latin typeface="Cambria"/>
              </a:rPr>
              <a:t> </a:t>
            </a:r>
          </a:p>
          <a:p>
            <a:pPr>
              <a:tabLst>
                <a:tab pos="2834640" algn="l"/>
              </a:tabLst>
            </a:pPr>
            <a:r>
              <a:rPr sz="2400" b="1" dirty="0">
                <a:latin typeface="Cambria"/>
              </a:rPr>
              <a:t>Double free</a:t>
            </a:r>
            <a:r>
              <a:rPr sz="2400" b="0" dirty="0">
                <a:latin typeface="Cambria"/>
              </a:rPr>
              <a:t>:	free the same memory twice</a:t>
            </a:r>
          </a:p>
          <a:p>
            <a:pPr>
              <a:tabLst>
                <a:tab pos="2834640" algn="l"/>
              </a:tabLst>
            </a:pPr>
            <a:r>
              <a:rPr sz="2400" dirty="0">
                <a:latin typeface="Cambria"/>
              </a:rPr>
              <a:t> </a:t>
            </a:r>
          </a:p>
          <a:p>
            <a:pPr>
              <a:tabLst>
                <a:tab pos="2834640" algn="l"/>
              </a:tabLst>
            </a:pPr>
            <a:r>
              <a:rPr sz="2400" b="0" dirty="0">
                <a:latin typeface="Cambria"/>
              </a:rPr>
              <a:t>C compiles all three without complaint</a:t>
            </a:r>
          </a:p>
          <a:p>
            <a:pPr>
              <a:tabLst>
                <a:tab pos="2834640" algn="l"/>
              </a:tabLst>
            </a:pPr>
            <a:endParaRPr lang="en-US" sz="2400" b="0" dirty="0" smtClean="0">
              <a:latin typeface="Cambria"/>
            </a:endParaRPr>
          </a:p>
          <a:p>
            <a:pPr>
              <a:tabLst>
                <a:tab pos="2834640" algn="l"/>
              </a:tabLst>
            </a:pPr>
            <a:r>
              <a:rPr sz="2400" b="0" dirty="0" smtClean="0">
                <a:latin typeface="Cambria"/>
              </a:rPr>
              <a:t>Rust </a:t>
            </a:r>
            <a:r>
              <a:rPr sz="2400" b="0" dirty="0">
                <a:latin typeface="Cambria"/>
              </a:rPr>
              <a:t>rejects all three at compile time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Automatic Variables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539430"/>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Declared inside a function</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Created on the </a:t>
            </a:r>
            <a:r>
              <a:rPr sz="2800" b="1" dirty="0">
                <a:latin typeface="Cambria"/>
              </a:rPr>
              <a:t>stack</a:t>
            </a:r>
            <a:r>
              <a:rPr sz="2800" b="0" dirty="0">
                <a:latin typeface="Cambria"/>
              </a:rPr>
              <a:t> when the call starts</a:t>
            </a:r>
          </a:p>
          <a:p>
            <a:pPr>
              <a:tabLst>
                <a:tab pos="548640" algn="l"/>
                <a:tab pos="1097280" algn="l"/>
                <a:tab pos="1645920" algn="l"/>
                <a:tab pos="2194560" algn="l"/>
              </a:tabLst>
            </a:pPr>
            <a:endParaRPr lang="en-US" sz="2800" b="0" dirty="0" smtClean="0">
              <a:latin typeface="Cambria"/>
            </a:endParaRPr>
          </a:p>
          <a:p>
            <a:pPr>
              <a:tabLst>
                <a:tab pos="548640" algn="l"/>
                <a:tab pos="1097280" algn="l"/>
                <a:tab pos="1645920" algn="l"/>
                <a:tab pos="2194560" algn="l"/>
              </a:tabLst>
            </a:pPr>
            <a:r>
              <a:rPr sz="2800" b="0" dirty="0" smtClean="0">
                <a:latin typeface="Cambria"/>
              </a:rPr>
              <a:t>Gone </a:t>
            </a:r>
            <a:r>
              <a:rPr sz="2800" b="0" dirty="0">
                <a:latin typeface="Cambria"/>
              </a:rPr>
              <a:t>when the call returns</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Called </a:t>
            </a:r>
            <a:r>
              <a:rPr sz="2800" b="1" dirty="0">
                <a:latin typeface="Cambria"/>
              </a:rPr>
              <a:t>auto</a:t>
            </a:r>
            <a:r>
              <a:rPr sz="2800" b="0" dirty="0">
                <a:latin typeface="Cambria"/>
              </a:rPr>
              <a:t> variables in C:  </a:t>
            </a:r>
            <a:r>
              <a:rPr sz="2800" b="0" dirty="0" smtClean="0">
                <a:latin typeface="Cambria"/>
              </a:rPr>
              <a:t>automatic</a:t>
            </a:r>
            <a:r>
              <a:rPr lang="en-US" sz="2800" b="0" dirty="0" smtClean="0">
                <a:latin typeface="Cambria"/>
              </a:rPr>
              <a:t> </a:t>
            </a:r>
            <a:r>
              <a:rPr sz="2800" b="0" dirty="0" smtClean="0">
                <a:latin typeface="Cambria"/>
              </a:rPr>
              <a:t>allocation </a:t>
            </a:r>
            <a:r>
              <a:rPr sz="2800" b="0" dirty="0">
                <a:latin typeface="Cambria"/>
              </a:rPr>
              <a:t>and release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Auto Variables Start as Garbage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888424" cy="3785652"/>
          </a:xfrm>
          <a:prstGeom prst="rect">
            <a:avLst/>
          </a:prstGeom>
          <a:noFill/>
        </p:spPr>
        <p:txBody>
          <a:bodyPr wrap="square">
            <a:spAutoFit/>
          </a:bodyPr>
          <a:lstStyle/>
          <a:p>
            <a:pPr>
              <a:tabLst>
                <a:tab pos="548640" algn="l"/>
                <a:tab pos="4389120" algn="l"/>
              </a:tabLst>
            </a:pPr>
            <a:r>
              <a:rPr sz="2400" b="0" dirty="0">
                <a:latin typeface="Cambria"/>
              </a:rPr>
              <a:t>void </a:t>
            </a:r>
            <a:r>
              <a:rPr sz="2400" b="0" dirty="0" err="1">
                <a:latin typeface="Cambria"/>
              </a:rPr>
              <a:t>my_function</a:t>
            </a:r>
            <a:r>
              <a:rPr sz="2400" b="0" dirty="0">
                <a:latin typeface="Cambria"/>
              </a:rPr>
              <a:t> ( </a:t>
            </a:r>
            <a:r>
              <a:rPr sz="2400" b="0" dirty="0" err="1">
                <a:latin typeface="Cambria"/>
              </a:rPr>
              <a:t>int</a:t>
            </a:r>
            <a:r>
              <a:rPr sz="2400" b="0" dirty="0">
                <a:latin typeface="Cambria"/>
              </a:rPr>
              <a:t> expand )</a:t>
            </a:r>
          </a:p>
          <a:p>
            <a:pPr>
              <a:tabLst>
                <a:tab pos="548640" algn="l"/>
                <a:tab pos="4389120" algn="l"/>
              </a:tabLst>
            </a:pPr>
            <a:r>
              <a:rPr sz="2400" b="0" dirty="0">
                <a:latin typeface="Cambria"/>
              </a:rPr>
              <a:t>{</a:t>
            </a:r>
          </a:p>
          <a:p>
            <a:pPr>
              <a:tabLst>
                <a:tab pos="548640" algn="l"/>
                <a:tab pos="4389120" algn="l"/>
              </a:tabLst>
            </a:pPr>
            <a:r>
              <a:rPr sz="2400" b="0" dirty="0">
                <a:latin typeface="Cambria"/>
              </a:rPr>
              <a:t>	</a:t>
            </a:r>
            <a:r>
              <a:rPr sz="2400" b="0" dirty="0" err="1">
                <a:latin typeface="Cambria"/>
              </a:rPr>
              <a:t>int</a:t>
            </a:r>
            <a:r>
              <a:rPr sz="2400" b="0" dirty="0">
                <a:latin typeface="Cambria"/>
              </a:rPr>
              <a:t> step ;</a:t>
            </a:r>
          </a:p>
          <a:p>
            <a:pPr>
              <a:tabLst>
                <a:tab pos="548640" algn="l"/>
                <a:tab pos="4389120" algn="l"/>
              </a:tabLst>
            </a:pPr>
            <a:r>
              <a:rPr sz="2400" b="0" dirty="0">
                <a:latin typeface="Cambria"/>
              </a:rPr>
              <a:t>	step = step + expand ;	</a:t>
            </a:r>
            <a:r>
              <a:rPr sz="2400" b="1" dirty="0">
                <a:latin typeface="Cambria"/>
              </a:rPr>
              <a:t>bug</a:t>
            </a:r>
          </a:p>
          <a:p>
            <a:pPr>
              <a:tabLst>
                <a:tab pos="548640" algn="l"/>
                <a:tab pos="4389120" algn="l"/>
              </a:tabLst>
            </a:pPr>
            <a:r>
              <a:rPr sz="2400" b="0" dirty="0">
                <a:latin typeface="Cambria"/>
              </a:rPr>
              <a:t>}</a:t>
            </a:r>
          </a:p>
          <a:p>
            <a:pPr>
              <a:tabLst>
                <a:tab pos="548640" algn="l"/>
                <a:tab pos="4389120" algn="l"/>
              </a:tabLst>
            </a:pPr>
            <a:r>
              <a:rPr sz="2400" dirty="0">
                <a:latin typeface="Cambria"/>
              </a:rPr>
              <a:t> </a:t>
            </a:r>
          </a:p>
          <a:p>
            <a:pPr>
              <a:tabLst>
                <a:tab pos="548640" algn="l"/>
                <a:tab pos="4389120" algn="l"/>
              </a:tabLst>
            </a:pPr>
            <a:r>
              <a:rPr sz="2400" b="0" dirty="0">
                <a:latin typeface="Cambria"/>
              </a:rPr>
              <a:t>step was never initialized</a:t>
            </a:r>
          </a:p>
          <a:p>
            <a:pPr>
              <a:tabLst>
                <a:tab pos="548640" algn="l"/>
                <a:tab pos="4389120" algn="l"/>
              </a:tabLst>
            </a:pPr>
            <a:endParaRPr lang="en-US" sz="2400" b="0" dirty="0" smtClean="0">
              <a:latin typeface="Cambria"/>
            </a:endParaRPr>
          </a:p>
          <a:p>
            <a:pPr>
              <a:tabLst>
                <a:tab pos="548640" algn="l"/>
                <a:tab pos="4389120" algn="l"/>
              </a:tabLst>
            </a:pPr>
            <a:r>
              <a:rPr sz="2400" b="0" dirty="0" smtClean="0">
                <a:latin typeface="Cambria"/>
              </a:rPr>
              <a:t>C</a:t>
            </a:r>
            <a:r>
              <a:rPr sz="2400" b="0" dirty="0">
                <a:latin typeface="Cambria"/>
              </a:rPr>
              <a:t>, C++:  the program </a:t>
            </a:r>
            <a:r>
              <a:rPr sz="2400" b="1" dirty="0">
                <a:latin typeface="Cambria"/>
              </a:rPr>
              <a:t>does not crash</a:t>
            </a:r>
            <a:r>
              <a:rPr sz="2400" b="0" dirty="0">
                <a:latin typeface="Cambria"/>
              </a:rPr>
              <a:t> </a:t>
            </a:r>
            <a:r>
              <a:rPr lang="en-US" sz="2400" b="0" dirty="0" smtClean="0">
                <a:latin typeface="Cambria"/>
              </a:rPr>
              <a:t>–</a:t>
            </a:r>
            <a:r>
              <a:rPr sz="2400" b="0" dirty="0" smtClean="0">
                <a:latin typeface="Cambria"/>
              </a:rPr>
              <a:t> it</a:t>
            </a:r>
            <a:r>
              <a:rPr lang="en-US" sz="2400" b="0" dirty="0" smtClean="0">
                <a:latin typeface="Cambria"/>
              </a:rPr>
              <a:t> </a:t>
            </a:r>
            <a:r>
              <a:rPr sz="2400" b="0" dirty="0" smtClean="0">
                <a:latin typeface="Cambria"/>
              </a:rPr>
              <a:t>silently </a:t>
            </a:r>
            <a:r>
              <a:rPr sz="2400" b="0" dirty="0">
                <a:latin typeface="Cambria"/>
              </a:rPr>
              <a:t>uses whatever was on the stack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Rust Refuses to Compile It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dirty="0" err="1">
                <a:latin typeface="Cambria"/>
              </a:rPr>
              <a:t>fn</a:t>
            </a:r>
            <a:r>
              <a:rPr sz="2400" b="0" dirty="0">
                <a:latin typeface="Cambria"/>
              </a:rPr>
              <a:t> </a:t>
            </a:r>
            <a:r>
              <a:rPr sz="2400" b="0" dirty="0" err="1">
                <a:latin typeface="Cambria"/>
              </a:rPr>
              <a:t>my_function</a:t>
            </a:r>
            <a:r>
              <a:rPr sz="2400" b="0" dirty="0">
                <a:latin typeface="Cambria"/>
              </a:rPr>
              <a:t> ( expand : i32 ) {</a:t>
            </a:r>
          </a:p>
          <a:p>
            <a:pPr>
              <a:tabLst>
                <a:tab pos="548640" algn="l"/>
                <a:tab pos="1097280" algn="l"/>
                <a:tab pos="1645920" algn="l"/>
                <a:tab pos="2194560" algn="l"/>
              </a:tabLst>
            </a:pPr>
            <a:r>
              <a:rPr sz="2400" b="0" dirty="0">
                <a:latin typeface="Cambria"/>
              </a:rPr>
              <a:t>	let step : i32 ;</a:t>
            </a:r>
          </a:p>
          <a:p>
            <a:pPr>
              <a:tabLst>
                <a:tab pos="548640" algn="l"/>
                <a:tab pos="1097280" algn="l"/>
                <a:tab pos="1645920" algn="l"/>
                <a:tab pos="2194560" algn="l"/>
              </a:tabLst>
            </a:pPr>
            <a:r>
              <a:rPr sz="2400" b="0" dirty="0">
                <a:latin typeface="Cambria"/>
              </a:rPr>
              <a:t>	let total = step + expand ;</a:t>
            </a:r>
          </a:p>
          <a:p>
            <a:pPr>
              <a:tabLst>
                <a:tab pos="548640" algn="l"/>
                <a:tab pos="1097280" algn="l"/>
                <a:tab pos="1645920" algn="l"/>
                <a:tab pos="2194560" algn="l"/>
              </a:tabLst>
            </a:pPr>
            <a:r>
              <a:rPr sz="2400" b="0" dirty="0">
                <a:latin typeface="Cambria"/>
              </a:rPr>
              <a:t>}</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error:  used binding  step  isn't initialized</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Rust checks every path before any use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Persistent Variables</a:t>
            </a:r>
            <a:endParaRPr lang="en-US" sz="4400" b="0" u="none" strike="noStrike" dirty="0">
              <a:solidFill>
                <a:srgbClr val="000000"/>
              </a:solidFill>
              <a:effectLst/>
              <a:uFillTx/>
              <a:latin typeface="Arial"/>
            </a:endParaRPr>
          </a:p>
        </p:txBody>
      </p:sp>
      <p:sp>
        <p:nvSpPr>
          <p:cNvPr id="388" name="TextBox 387"/>
          <p:cNvSpPr txBox="1"/>
          <p:nvPr/>
        </p:nvSpPr>
        <p:spPr>
          <a:xfrm>
            <a:off x="580040" y="1949942"/>
            <a:ext cx="8858927" cy="2677656"/>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Their memory exists for the </a:t>
            </a:r>
            <a:r>
              <a:rPr sz="2800" b="1" dirty="0" smtClean="0">
                <a:latin typeface="Cambria"/>
              </a:rPr>
              <a:t>entire</a:t>
            </a:r>
            <a:r>
              <a:rPr lang="en-US" sz="2800" b="1" dirty="0" smtClean="0">
                <a:latin typeface="Cambria"/>
              </a:rPr>
              <a:t> </a:t>
            </a:r>
            <a:r>
              <a:rPr sz="2800" b="0" dirty="0" smtClean="0">
                <a:latin typeface="Cambria"/>
              </a:rPr>
              <a:t>program </a:t>
            </a:r>
            <a:r>
              <a:rPr sz="2800" b="0" dirty="0">
                <a:latin typeface="Cambria"/>
              </a:rPr>
              <a:t>execution</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Stored in the </a:t>
            </a:r>
            <a:r>
              <a:rPr sz="2800" b="1" dirty="0">
                <a:latin typeface="Cambria"/>
              </a:rPr>
              <a:t>data segment</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Initialized to </a:t>
            </a:r>
            <a:r>
              <a:rPr sz="2800" b="1" dirty="0">
                <a:latin typeface="Cambria"/>
              </a:rPr>
              <a:t>zero</a:t>
            </a:r>
            <a:r>
              <a:rPr sz="2800" b="0" dirty="0">
                <a:latin typeface="Cambria"/>
              </a:rPr>
              <a:t> or to a value you </a:t>
            </a:r>
            <a:r>
              <a:rPr sz="2800" b="0" dirty="0" smtClean="0">
                <a:latin typeface="Cambria"/>
              </a:rPr>
              <a:t>give,</a:t>
            </a:r>
            <a:r>
              <a:rPr lang="en-US" sz="2800" b="0" dirty="0" smtClean="0">
                <a:latin typeface="Cambria"/>
              </a:rPr>
              <a:t> </a:t>
            </a:r>
            <a:r>
              <a:rPr sz="2800" b="1" dirty="0" smtClean="0">
                <a:latin typeface="Cambria"/>
              </a:rPr>
              <a:t>once</a:t>
            </a:r>
            <a:r>
              <a:rPr sz="2800" b="0" dirty="0">
                <a:latin typeface="Cambria"/>
              </a:rPr>
              <a:t>, before main runs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Persistent Variable Visibility</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3170099"/>
          </a:xfrm>
          <a:prstGeom prst="rect">
            <a:avLst/>
          </a:prstGeom>
          <a:noFill/>
        </p:spPr>
        <p:txBody>
          <a:bodyPr wrap="square">
            <a:spAutoFit/>
          </a:bodyPr>
          <a:lstStyle/>
          <a:p>
            <a:pPr>
              <a:tabLst>
                <a:tab pos="548640" algn="l"/>
                <a:tab pos="3931920" algn="l"/>
              </a:tabLst>
            </a:pPr>
            <a:r>
              <a:rPr sz="2500" b="0" dirty="0">
                <a:latin typeface="Cambria"/>
              </a:rPr>
              <a:t>The visibility of a persistent variable </a:t>
            </a:r>
            <a:r>
              <a:rPr sz="2500" b="0" dirty="0" smtClean="0">
                <a:latin typeface="Cambria"/>
              </a:rPr>
              <a:t>is</a:t>
            </a:r>
            <a:r>
              <a:rPr lang="en-US" sz="2500" b="0" dirty="0" smtClean="0">
                <a:latin typeface="Cambria"/>
              </a:rPr>
              <a:t> </a:t>
            </a:r>
            <a:r>
              <a:rPr sz="2500" b="0" dirty="0" smtClean="0">
                <a:latin typeface="Cambria"/>
              </a:rPr>
              <a:t>determined </a:t>
            </a:r>
            <a:r>
              <a:rPr sz="2500" b="0" dirty="0">
                <a:latin typeface="Cambria"/>
              </a:rPr>
              <a:t>by its </a:t>
            </a:r>
            <a:r>
              <a:rPr sz="2500" b="1" dirty="0">
                <a:latin typeface="Cambria"/>
              </a:rPr>
              <a:t>scope</a:t>
            </a:r>
            <a:r>
              <a:rPr sz="2500" b="0" dirty="0">
                <a:latin typeface="Cambria"/>
              </a:rPr>
              <a:t>:</a:t>
            </a:r>
          </a:p>
          <a:p>
            <a:pPr>
              <a:tabLst>
                <a:tab pos="548640" algn="l"/>
                <a:tab pos="3931920" algn="l"/>
              </a:tabLst>
            </a:pPr>
            <a:r>
              <a:rPr sz="2500" dirty="0">
                <a:latin typeface="Cambria"/>
              </a:rPr>
              <a:t> </a:t>
            </a:r>
          </a:p>
          <a:p>
            <a:pPr>
              <a:tabLst>
                <a:tab pos="548640" algn="l"/>
                <a:tab pos="3931920" algn="l"/>
              </a:tabLst>
            </a:pPr>
            <a:r>
              <a:rPr sz="2500" b="0" dirty="0">
                <a:latin typeface="Cambria"/>
              </a:rPr>
              <a:t>	inside a function	</a:t>
            </a:r>
            <a:r>
              <a:rPr sz="2500" b="1" dirty="0">
                <a:latin typeface="Cambria"/>
              </a:rPr>
              <a:t>local static</a:t>
            </a:r>
          </a:p>
          <a:p>
            <a:pPr>
              <a:tabLst>
                <a:tab pos="548640" algn="l"/>
                <a:tab pos="3931920" algn="l"/>
              </a:tabLst>
            </a:pPr>
            <a:r>
              <a:rPr sz="2500" b="0" dirty="0">
                <a:latin typeface="Cambria"/>
              </a:rPr>
              <a:t>	outside, file only	</a:t>
            </a:r>
            <a:r>
              <a:rPr sz="2500" b="1" dirty="0">
                <a:latin typeface="Cambria"/>
              </a:rPr>
              <a:t>file static</a:t>
            </a:r>
          </a:p>
          <a:p>
            <a:pPr>
              <a:tabLst>
                <a:tab pos="548640" algn="l"/>
                <a:tab pos="3931920" algn="l"/>
              </a:tabLst>
            </a:pPr>
            <a:r>
              <a:rPr sz="2500" b="0" dirty="0">
                <a:latin typeface="Cambria"/>
              </a:rPr>
              <a:t>	outside, all files	</a:t>
            </a:r>
            <a:r>
              <a:rPr sz="2500" b="1" dirty="0">
                <a:latin typeface="Cambria"/>
              </a:rPr>
              <a:t>global</a:t>
            </a:r>
          </a:p>
          <a:p>
            <a:pPr>
              <a:tabLst>
                <a:tab pos="548640" algn="l"/>
                <a:tab pos="3931920" algn="l"/>
              </a:tabLst>
            </a:pPr>
            <a:r>
              <a:rPr sz="2500" dirty="0">
                <a:latin typeface="Cambria"/>
              </a:rPr>
              <a:t> </a:t>
            </a:r>
          </a:p>
          <a:p>
            <a:pPr>
              <a:tabLst>
                <a:tab pos="548640" algn="l"/>
                <a:tab pos="3931920" algn="l"/>
              </a:tabLst>
            </a:pPr>
            <a:r>
              <a:rPr sz="2500" b="0" dirty="0">
                <a:latin typeface="Cambria"/>
              </a:rPr>
              <a:t>Same lifetime - three different </a:t>
            </a:r>
            <a:r>
              <a:rPr sz="2500" b="0" dirty="0" smtClean="0">
                <a:latin typeface="Cambria"/>
              </a:rPr>
              <a:t>scopes</a:t>
            </a:r>
            <a:r>
              <a:rPr lang="en-US" sz="2500" b="0" dirty="0" smtClean="0">
                <a:latin typeface="Cambria"/>
              </a:rPr>
              <a:t> or visibilities</a:t>
            </a:r>
            <a:endParaRPr sz="25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Local Static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554819"/>
          </a:xfrm>
          <a:prstGeom prst="rect">
            <a:avLst/>
          </a:prstGeom>
          <a:noFill/>
        </p:spPr>
        <p:txBody>
          <a:bodyPr wrap="square">
            <a:spAutoFit/>
          </a:bodyPr>
          <a:lstStyle/>
          <a:p>
            <a:pPr>
              <a:tabLst>
                <a:tab pos="548640" algn="l"/>
                <a:tab pos="1097280" algn="l"/>
                <a:tab pos="1645920" algn="l"/>
                <a:tab pos="2194560" algn="l"/>
              </a:tabLst>
            </a:pPr>
            <a:r>
              <a:rPr sz="2500" b="0" dirty="0">
                <a:latin typeface="Cambria"/>
              </a:rPr>
              <a:t>void </a:t>
            </a:r>
            <a:r>
              <a:rPr sz="2500" b="0" dirty="0" err="1">
                <a:latin typeface="Cambria"/>
              </a:rPr>
              <a:t>my_function</a:t>
            </a:r>
            <a:r>
              <a:rPr sz="2500" b="0" dirty="0">
                <a:latin typeface="Cambria"/>
              </a:rPr>
              <a:t> ( </a:t>
            </a:r>
            <a:r>
              <a:rPr sz="2500" b="0" dirty="0" err="1">
                <a:latin typeface="Cambria"/>
              </a:rPr>
              <a:t>int</a:t>
            </a:r>
            <a:r>
              <a:rPr sz="2500" b="0" dirty="0">
                <a:latin typeface="Cambria"/>
              </a:rPr>
              <a:t> expand )</a:t>
            </a:r>
          </a:p>
          <a:p>
            <a:pPr>
              <a:tabLst>
                <a:tab pos="548640" algn="l"/>
                <a:tab pos="1097280" algn="l"/>
                <a:tab pos="1645920" algn="l"/>
                <a:tab pos="2194560" algn="l"/>
              </a:tabLst>
            </a:pPr>
            <a:r>
              <a:rPr sz="2500" b="0" dirty="0">
                <a:latin typeface="Cambria"/>
              </a:rPr>
              <a:t>{</a:t>
            </a:r>
          </a:p>
          <a:p>
            <a:pPr>
              <a:tabLst>
                <a:tab pos="548640" algn="l"/>
                <a:tab pos="1097280" algn="l"/>
                <a:tab pos="1645920" algn="l"/>
                <a:tab pos="2194560" algn="l"/>
              </a:tabLst>
            </a:pPr>
            <a:r>
              <a:rPr sz="2500" b="0" dirty="0">
                <a:latin typeface="Cambria"/>
              </a:rPr>
              <a:t>	static </a:t>
            </a:r>
            <a:r>
              <a:rPr sz="2500" b="0" dirty="0" err="1">
                <a:latin typeface="Cambria"/>
              </a:rPr>
              <a:t>int</a:t>
            </a:r>
            <a:r>
              <a:rPr sz="2500" b="0" dirty="0">
                <a:latin typeface="Cambria"/>
              </a:rPr>
              <a:t> </a:t>
            </a:r>
            <a:r>
              <a:rPr sz="2500" b="0" dirty="0" err="1">
                <a:latin typeface="Cambria"/>
              </a:rPr>
              <a:t>stepL</a:t>
            </a:r>
            <a:r>
              <a:rPr sz="2500" b="0" dirty="0">
                <a:latin typeface="Cambria"/>
              </a:rPr>
              <a:t> ;</a:t>
            </a:r>
          </a:p>
          <a:p>
            <a:pPr>
              <a:tabLst>
                <a:tab pos="548640" algn="l"/>
                <a:tab pos="1097280" algn="l"/>
                <a:tab pos="1645920" algn="l"/>
                <a:tab pos="2194560" algn="l"/>
              </a:tabLst>
            </a:pPr>
            <a:r>
              <a:rPr sz="2500" b="0" dirty="0">
                <a:latin typeface="Cambria"/>
              </a:rPr>
              <a:t>	</a:t>
            </a:r>
            <a:r>
              <a:rPr sz="2500" b="0" dirty="0" err="1">
                <a:latin typeface="Cambria"/>
              </a:rPr>
              <a:t>stepL</a:t>
            </a:r>
            <a:r>
              <a:rPr sz="2500" b="0" dirty="0">
                <a:latin typeface="Cambria"/>
              </a:rPr>
              <a:t> = </a:t>
            </a:r>
            <a:r>
              <a:rPr sz="2500" b="0" dirty="0" err="1">
                <a:latin typeface="Cambria"/>
              </a:rPr>
              <a:t>stepL</a:t>
            </a:r>
            <a:r>
              <a:rPr sz="2500" b="0" dirty="0">
                <a:latin typeface="Cambria"/>
              </a:rPr>
              <a:t> + expand ;</a:t>
            </a:r>
          </a:p>
          <a:p>
            <a:pPr>
              <a:tabLst>
                <a:tab pos="548640" algn="l"/>
                <a:tab pos="1097280" algn="l"/>
                <a:tab pos="1645920" algn="l"/>
                <a:tab pos="2194560" algn="l"/>
              </a:tabLst>
            </a:pPr>
            <a:r>
              <a:rPr sz="2500" b="0" dirty="0">
                <a:latin typeface="Cambria"/>
              </a:rPr>
              <a:t>}</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Visible only </a:t>
            </a:r>
            <a:r>
              <a:rPr sz="2500" b="1" dirty="0">
                <a:latin typeface="Cambria"/>
              </a:rPr>
              <a:t>inside</a:t>
            </a:r>
            <a:r>
              <a:rPr sz="2500" b="0" dirty="0">
                <a:latin typeface="Cambria"/>
              </a:rPr>
              <a:t> </a:t>
            </a:r>
            <a:r>
              <a:rPr sz="2500" b="0" dirty="0" err="1">
                <a:latin typeface="Cambria"/>
              </a:rPr>
              <a:t>my_function</a:t>
            </a:r>
            <a:endParaRPr sz="2500" b="0" dirty="0">
              <a:latin typeface="Cambria"/>
            </a:endParaRPr>
          </a:p>
          <a:p>
            <a:pPr>
              <a:tabLst>
                <a:tab pos="548640" algn="l"/>
                <a:tab pos="1097280" algn="l"/>
                <a:tab pos="1645920" algn="l"/>
                <a:tab pos="2194560" algn="l"/>
              </a:tabLst>
            </a:pPr>
            <a:endParaRPr lang="en-US" sz="2500" b="0" dirty="0" smtClean="0">
              <a:latin typeface="Cambria"/>
            </a:endParaRPr>
          </a:p>
          <a:p>
            <a:pPr>
              <a:tabLst>
                <a:tab pos="548640" algn="l"/>
                <a:tab pos="1097280" algn="l"/>
                <a:tab pos="1645920" algn="l"/>
                <a:tab pos="2194560" algn="l"/>
              </a:tabLst>
            </a:pPr>
            <a:r>
              <a:rPr sz="2500" b="0" dirty="0" smtClean="0">
                <a:latin typeface="Cambria"/>
              </a:rPr>
              <a:t>But </a:t>
            </a:r>
            <a:r>
              <a:rPr sz="2500" b="0" dirty="0">
                <a:latin typeface="Cambria"/>
              </a:rPr>
              <a:t>the value </a:t>
            </a:r>
            <a:r>
              <a:rPr sz="2500" b="1" dirty="0">
                <a:latin typeface="Cambria"/>
              </a:rPr>
              <a:t>persists</a:t>
            </a:r>
            <a:r>
              <a:rPr sz="2500" b="0" dirty="0">
                <a:latin typeface="Cambria"/>
              </a:rPr>
              <a:t> between calls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Example:  Counting Calls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170099"/>
          </a:xfrm>
          <a:prstGeom prst="rect">
            <a:avLst/>
          </a:prstGeom>
          <a:noFill/>
        </p:spPr>
        <p:txBody>
          <a:bodyPr wrap="square">
            <a:spAutoFit/>
          </a:bodyPr>
          <a:lstStyle/>
          <a:p>
            <a:pPr>
              <a:tabLst>
                <a:tab pos="548640" algn="l"/>
                <a:tab pos="1097280" algn="l"/>
                <a:tab pos="1645920" algn="l"/>
                <a:tab pos="2194560" algn="l"/>
              </a:tabLst>
            </a:pPr>
            <a:r>
              <a:rPr sz="2500" b="0" dirty="0" err="1">
                <a:latin typeface="Cambria"/>
              </a:rPr>
              <a:t>int</a:t>
            </a:r>
            <a:r>
              <a:rPr sz="2500" b="0" dirty="0">
                <a:latin typeface="Cambria"/>
              </a:rPr>
              <a:t> </a:t>
            </a:r>
            <a:r>
              <a:rPr sz="2500" b="0" dirty="0" err="1">
                <a:latin typeface="Cambria"/>
              </a:rPr>
              <a:t>count_calls</a:t>
            </a:r>
            <a:r>
              <a:rPr sz="2500" b="0" dirty="0">
                <a:latin typeface="Cambria"/>
              </a:rPr>
              <a:t> ( void ) {</a:t>
            </a:r>
          </a:p>
          <a:p>
            <a:pPr>
              <a:tabLst>
                <a:tab pos="548640" algn="l"/>
                <a:tab pos="1097280" algn="l"/>
                <a:tab pos="1645920" algn="l"/>
                <a:tab pos="2194560" algn="l"/>
              </a:tabLst>
            </a:pPr>
            <a:r>
              <a:rPr sz="2500" b="0" dirty="0">
                <a:latin typeface="Cambria"/>
              </a:rPr>
              <a:t>	static </a:t>
            </a:r>
            <a:r>
              <a:rPr sz="2500" b="0" dirty="0" err="1">
                <a:latin typeface="Cambria"/>
              </a:rPr>
              <a:t>int</a:t>
            </a:r>
            <a:r>
              <a:rPr sz="2500" b="0" dirty="0">
                <a:latin typeface="Cambria"/>
              </a:rPr>
              <a:t> </a:t>
            </a:r>
            <a:r>
              <a:rPr sz="2500" b="0" dirty="0" err="1">
                <a:latin typeface="Cambria"/>
              </a:rPr>
              <a:t>countL</a:t>
            </a:r>
            <a:r>
              <a:rPr sz="2500" b="0" dirty="0">
                <a:latin typeface="Cambria"/>
              </a:rPr>
              <a:t> = 0 </a:t>
            </a:r>
            <a:r>
              <a:rPr sz="2500" b="0" dirty="0" smtClean="0">
                <a:latin typeface="Cambria"/>
              </a:rPr>
              <a:t>;</a:t>
            </a:r>
            <a:r>
              <a:rPr lang="en-US" sz="2500" b="0" dirty="0" smtClean="0">
                <a:latin typeface="Cambria"/>
              </a:rPr>
              <a:t> // assignment is not needed!</a:t>
            </a:r>
            <a:endParaRPr sz="2500" b="0" dirty="0">
              <a:latin typeface="Cambria"/>
            </a:endParaRPr>
          </a:p>
          <a:p>
            <a:pPr>
              <a:tabLst>
                <a:tab pos="548640" algn="l"/>
                <a:tab pos="1097280" algn="l"/>
                <a:tab pos="1645920" algn="l"/>
                <a:tab pos="2194560" algn="l"/>
              </a:tabLst>
            </a:pPr>
            <a:r>
              <a:rPr sz="2500" b="0" dirty="0">
                <a:latin typeface="Cambria"/>
              </a:rPr>
              <a:t>	</a:t>
            </a:r>
            <a:r>
              <a:rPr sz="2500" b="0" dirty="0" err="1">
                <a:latin typeface="Cambria"/>
              </a:rPr>
              <a:t>countL</a:t>
            </a:r>
            <a:r>
              <a:rPr sz="2500" b="0" dirty="0">
                <a:latin typeface="Cambria"/>
              </a:rPr>
              <a:t> = </a:t>
            </a:r>
            <a:r>
              <a:rPr sz="2500" b="0" dirty="0" err="1">
                <a:latin typeface="Cambria"/>
              </a:rPr>
              <a:t>countL</a:t>
            </a:r>
            <a:r>
              <a:rPr sz="2500" b="0" dirty="0">
                <a:latin typeface="Cambria"/>
              </a:rPr>
              <a:t> + 1 ;</a:t>
            </a:r>
          </a:p>
          <a:p>
            <a:pPr>
              <a:tabLst>
                <a:tab pos="548640" algn="l"/>
                <a:tab pos="1097280" algn="l"/>
                <a:tab pos="1645920" algn="l"/>
                <a:tab pos="2194560" algn="l"/>
              </a:tabLst>
            </a:pPr>
            <a:r>
              <a:rPr sz="2500" b="0" dirty="0">
                <a:latin typeface="Cambria"/>
              </a:rPr>
              <a:t>	return </a:t>
            </a:r>
            <a:r>
              <a:rPr sz="2500" b="0" dirty="0" err="1">
                <a:latin typeface="Cambria"/>
              </a:rPr>
              <a:t>countL</a:t>
            </a:r>
            <a:r>
              <a:rPr sz="2500" b="0" dirty="0">
                <a:latin typeface="Cambria"/>
              </a:rPr>
              <a:t> ;</a:t>
            </a:r>
          </a:p>
          <a:p>
            <a:pPr>
              <a:tabLst>
                <a:tab pos="548640" algn="l"/>
                <a:tab pos="1097280" algn="l"/>
                <a:tab pos="1645920" algn="l"/>
                <a:tab pos="2194560" algn="l"/>
              </a:tabLst>
            </a:pPr>
            <a:r>
              <a:rPr sz="2500" b="0" dirty="0">
                <a:latin typeface="Cambria"/>
              </a:rPr>
              <a:t>}</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Returns 1, then 2, then 3, ...</a:t>
            </a:r>
          </a:p>
          <a:p>
            <a:pPr>
              <a:tabLst>
                <a:tab pos="548640" algn="l"/>
                <a:tab pos="1097280" algn="l"/>
                <a:tab pos="1645920" algn="l"/>
                <a:tab pos="2194560" algn="l"/>
              </a:tabLst>
            </a:pPr>
            <a:r>
              <a:rPr sz="2500" b="0" dirty="0">
                <a:latin typeface="Cambria"/>
              </a:rPr>
              <a:t>The  = 0  happens </a:t>
            </a:r>
            <a:r>
              <a:rPr sz="2500" b="1" dirty="0">
                <a:latin typeface="Cambria"/>
              </a:rPr>
              <a:t>once</a:t>
            </a:r>
            <a:r>
              <a:rPr sz="2500" b="0" dirty="0">
                <a:latin typeface="Cambria"/>
              </a:rPr>
              <a:t>, not on every call</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Local Static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200" b="0">
                <a:latin typeface="Cambria"/>
              </a:rPr>
              <a:t>use std::sync::atomic::{ AtomicU32, Ordering } ;</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fn count_calls ( ) -&gt; u32 {</a:t>
            </a:r>
          </a:p>
          <a:p>
            <a:pPr>
              <a:tabLst>
                <a:tab pos="548640" algn="l"/>
                <a:tab pos="1097280" algn="l"/>
                <a:tab pos="1645920" algn="l"/>
                <a:tab pos="2194560" algn="l"/>
              </a:tabLst>
            </a:pPr>
            <a:r>
              <a:rPr sz="2200" b="0">
                <a:latin typeface="Cambria"/>
              </a:rPr>
              <a:t>	static COUNT_L : AtomicU32 = AtomicU32::new ( 0 ) ;</a:t>
            </a:r>
          </a:p>
          <a:p>
            <a:pPr>
              <a:tabLst>
                <a:tab pos="548640" algn="l"/>
                <a:tab pos="1097280" algn="l"/>
                <a:tab pos="1645920" algn="l"/>
                <a:tab pos="2194560" algn="l"/>
              </a:tabLst>
            </a:pPr>
            <a:r>
              <a:rPr sz="2200" b="0">
                <a:latin typeface="Cambria"/>
              </a:rPr>
              <a:t>	COUNT_L.fetch_add ( 1, Ordering::Relaxed ) + 1</a:t>
            </a:r>
          </a:p>
          <a:p>
            <a:pPr>
              <a:tabLst>
                <a:tab pos="548640" algn="l"/>
                <a:tab pos="1097280" algn="l"/>
                <a:tab pos="1645920" algn="l"/>
                <a:tab pos="2194560" algn="l"/>
              </a:tabLst>
            </a:pPr>
            <a:r>
              <a:rPr sz="2200" b="0">
                <a:latin typeface="Cambria"/>
              </a:rPr>
              <a:t>}</a:t>
            </a:r>
          </a:p>
          <a:p>
            <a:pPr>
              <a:tabLst>
                <a:tab pos="548640" algn="l"/>
                <a:tab pos="1097280" algn="l"/>
                <a:tab pos="1645920" algn="l"/>
                <a:tab pos="2194560" algn="l"/>
              </a:tabLst>
            </a:pPr>
            <a:r>
              <a:rPr sz="2200">
                <a:latin typeface="Cambria"/>
              </a:rPr>
              <a:t> </a:t>
            </a:r>
          </a:p>
          <a:p>
            <a:pPr>
              <a:tabLst>
                <a:tab pos="548640" algn="l"/>
                <a:tab pos="1097280" algn="l"/>
                <a:tab pos="1645920" algn="l"/>
                <a:tab pos="2194560" algn="l"/>
              </a:tabLst>
            </a:pPr>
            <a:r>
              <a:rPr sz="2200" b="0">
                <a:latin typeface="Cambria"/>
              </a:rPr>
              <a:t>A mutable static must be made </a:t>
            </a:r>
            <a:r>
              <a:rPr sz="2200" b="1">
                <a:latin typeface="Cambria"/>
              </a:rPr>
              <a:t>safe to share</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Declarations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9075236" cy="3108543"/>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Used to reference a variable or a </a:t>
            </a:r>
            <a:r>
              <a:rPr sz="2800" b="0" dirty="0" smtClean="0">
                <a:latin typeface="Cambria"/>
              </a:rPr>
              <a:t>function</a:t>
            </a:r>
            <a:r>
              <a:rPr lang="en-US" sz="2800" b="0" dirty="0" smtClean="0">
                <a:latin typeface="Cambria"/>
              </a:rPr>
              <a:t> </a:t>
            </a:r>
            <a:r>
              <a:rPr sz="2800" b="1" dirty="0" smtClean="0">
                <a:latin typeface="Cambria"/>
              </a:rPr>
              <a:t>before</a:t>
            </a:r>
            <a:r>
              <a:rPr sz="2800" b="0" dirty="0" smtClean="0">
                <a:latin typeface="Cambria"/>
              </a:rPr>
              <a:t> </a:t>
            </a:r>
            <a:r>
              <a:rPr sz="2800" b="0" dirty="0">
                <a:latin typeface="Cambria"/>
              </a:rPr>
              <a:t>it is defined</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Say what it </a:t>
            </a:r>
            <a:r>
              <a:rPr sz="2800" b="1" dirty="0">
                <a:latin typeface="Cambria"/>
              </a:rPr>
              <a:t>is</a:t>
            </a:r>
            <a:r>
              <a:rPr sz="2800" b="0" dirty="0">
                <a:latin typeface="Cambria"/>
              </a:rPr>
              <a:t> - its type</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Apply to functions  (instruction </a:t>
            </a:r>
            <a:r>
              <a:rPr sz="2800" b="0" dirty="0" smtClean="0">
                <a:latin typeface="Cambria"/>
              </a:rPr>
              <a:t>text)</a:t>
            </a:r>
            <a:r>
              <a:rPr lang="en-US" sz="2800" b="0" dirty="0" smtClean="0">
                <a:latin typeface="Cambria"/>
              </a:rPr>
              <a:t> </a:t>
            </a:r>
            <a:r>
              <a:rPr sz="2800" b="0" dirty="0" smtClean="0">
                <a:latin typeface="Cambria"/>
              </a:rPr>
              <a:t>and to</a:t>
            </a:r>
            <a:r>
              <a:rPr lang="en-US" sz="2800" b="0" dirty="0" smtClean="0">
                <a:latin typeface="Cambria"/>
              </a:rPr>
              <a:t> </a:t>
            </a:r>
            <a:r>
              <a:rPr sz="2800" b="0" dirty="0" smtClean="0">
                <a:latin typeface="Cambria"/>
              </a:rPr>
              <a:t>variables  </a:t>
            </a:r>
            <a:r>
              <a:rPr sz="2800" b="0" dirty="0">
                <a:latin typeface="Cambria"/>
              </a:rPr>
              <a:t>(memory addresses)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Definitions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893100"/>
          </a:xfrm>
          <a:prstGeom prst="rect">
            <a:avLst/>
          </a:prstGeom>
          <a:noFill/>
        </p:spPr>
        <p:txBody>
          <a:bodyPr wrap="square">
            <a:spAutoFit/>
          </a:bodyPr>
          <a:lstStyle/>
          <a:p>
            <a:pPr>
              <a:tabLst>
                <a:tab pos="548640" algn="l"/>
                <a:tab pos="1097280" algn="l"/>
                <a:tab pos="1645920" algn="l"/>
                <a:tab pos="2194560" algn="l"/>
              </a:tabLst>
            </a:pPr>
            <a:r>
              <a:rPr sz="2600" b="0" dirty="0">
                <a:latin typeface="Cambria"/>
              </a:rPr>
              <a:t>Describe the </a:t>
            </a:r>
            <a:r>
              <a:rPr sz="2600" b="1" dirty="0">
                <a:latin typeface="Cambria"/>
              </a:rPr>
              <a:t>implementation</a:t>
            </a:r>
            <a:r>
              <a:rPr sz="2600" b="0" dirty="0">
                <a:latin typeface="Cambria"/>
              </a:rPr>
              <a:t> of a </a:t>
            </a:r>
            <a:r>
              <a:rPr sz="2600" b="0" dirty="0" smtClean="0">
                <a:latin typeface="Cambria"/>
              </a:rPr>
              <a:t>function</a:t>
            </a:r>
            <a:r>
              <a:rPr lang="en-US" sz="2600" b="0" dirty="0" smtClean="0">
                <a:latin typeface="Cambria"/>
              </a:rPr>
              <a:t> </a:t>
            </a:r>
            <a:r>
              <a:rPr sz="2600" b="0" dirty="0" smtClean="0">
                <a:latin typeface="Cambria"/>
              </a:rPr>
              <a:t>or </a:t>
            </a:r>
            <a:r>
              <a:rPr sz="2600" b="0" dirty="0">
                <a:latin typeface="Cambria"/>
              </a:rPr>
              <a:t>variable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Function definition:  the parameters and </a:t>
            </a:r>
            <a:r>
              <a:rPr sz="2600" b="0" dirty="0" smtClean="0">
                <a:latin typeface="Cambria"/>
              </a:rPr>
              <a:t>the</a:t>
            </a:r>
            <a:r>
              <a:rPr lang="en-US" sz="2600" b="0" dirty="0" smtClean="0">
                <a:latin typeface="Cambria"/>
              </a:rPr>
              <a:t> </a:t>
            </a:r>
            <a:r>
              <a:rPr sz="2600" b="0" dirty="0" smtClean="0">
                <a:latin typeface="Cambria"/>
              </a:rPr>
              <a:t>statements </a:t>
            </a:r>
            <a:r>
              <a:rPr sz="2600" b="0" dirty="0">
                <a:latin typeface="Cambria"/>
              </a:rPr>
              <a:t>that implement it</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Variable definition:  describes </a:t>
            </a:r>
            <a:r>
              <a:rPr sz="2600" b="1" dirty="0">
                <a:latin typeface="Cambria"/>
              </a:rPr>
              <a:t>and </a:t>
            </a:r>
            <a:r>
              <a:rPr sz="2600" b="1" dirty="0" smtClean="0">
                <a:latin typeface="Cambria"/>
              </a:rPr>
              <a:t>allocates</a:t>
            </a:r>
            <a:r>
              <a:rPr lang="en-US" sz="2600" b="1" dirty="0" smtClean="0">
                <a:latin typeface="Cambria"/>
              </a:rPr>
              <a:t> </a:t>
            </a:r>
            <a:r>
              <a:rPr sz="2600" b="0" dirty="0" smtClean="0">
                <a:latin typeface="Cambria"/>
              </a:rPr>
              <a:t>space </a:t>
            </a:r>
            <a:r>
              <a:rPr sz="2600" b="0" dirty="0">
                <a:latin typeface="Cambria"/>
              </a:rPr>
              <a:t>for the address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Function Declaration</a:t>
            </a:r>
            <a:endParaRPr lang="en-US" sz="4400" b="0" u="none" strike="noStrike" dirty="0">
              <a:solidFill>
                <a:srgbClr val="000000"/>
              </a:solidFill>
              <a:effectLst/>
              <a:uFillTx/>
              <a:latin typeface="Arial"/>
            </a:endParaRPr>
          </a:p>
        </p:txBody>
      </p:sp>
      <p:sp>
        <p:nvSpPr>
          <p:cNvPr id="388" name="TextBox 387"/>
          <p:cNvSpPr txBox="1"/>
          <p:nvPr/>
        </p:nvSpPr>
        <p:spPr>
          <a:xfrm>
            <a:off x="580040" y="1949942"/>
            <a:ext cx="8799933" cy="3416320"/>
          </a:xfrm>
          <a:prstGeom prst="rect">
            <a:avLst/>
          </a:prstGeom>
          <a:noFill/>
        </p:spPr>
        <p:txBody>
          <a:bodyPr wrap="square">
            <a:spAutoFit/>
          </a:bodyPr>
          <a:lstStyle/>
          <a:p>
            <a:pPr>
              <a:tabLst>
                <a:tab pos="548640" algn="l"/>
                <a:tab pos="1097280" algn="l"/>
                <a:tab pos="1645920" algn="l"/>
                <a:tab pos="2194560" algn="l"/>
              </a:tabLst>
            </a:pPr>
            <a:r>
              <a:rPr sz="2400" b="0" dirty="0">
                <a:latin typeface="Cambria"/>
              </a:rPr>
              <a:t>Known as a </a:t>
            </a:r>
            <a:r>
              <a:rPr sz="2400" b="1" dirty="0">
                <a:latin typeface="Cambria"/>
              </a:rPr>
              <a:t>prototype</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extern &lt;</a:t>
            </a:r>
            <a:r>
              <a:rPr sz="2400" b="0" dirty="0" err="1">
                <a:latin typeface="Cambria"/>
              </a:rPr>
              <a:t>return_type</a:t>
            </a:r>
            <a:r>
              <a:rPr sz="2400" b="0" dirty="0">
                <a:latin typeface="Cambria"/>
              </a:rPr>
              <a:t>&gt; &lt;name&gt; ( </a:t>
            </a:r>
            <a:r>
              <a:rPr sz="2400" b="0" dirty="0" err="1">
                <a:latin typeface="Cambria"/>
              </a:rPr>
              <a:t>arglist</a:t>
            </a:r>
            <a:r>
              <a:rPr sz="2400" b="0" dirty="0">
                <a:latin typeface="Cambria"/>
              </a:rPr>
              <a:t> )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extern </a:t>
            </a:r>
            <a:r>
              <a:rPr sz="2400" b="0" dirty="0" err="1">
                <a:latin typeface="Cambria"/>
              </a:rPr>
              <a:t>int</a:t>
            </a:r>
            <a:r>
              <a:rPr sz="2400" b="0" dirty="0">
                <a:latin typeface="Cambria"/>
              </a:rPr>
              <a:t> </a:t>
            </a:r>
            <a:r>
              <a:rPr sz="2400" b="0" dirty="0" err="1">
                <a:latin typeface="Cambria"/>
              </a:rPr>
              <a:t>access_data</a:t>
            </a:r>
            <a:r>
              <a:rPr sz="2400" b="0" dirty="0">
                <a:latin typeface="Cambria"/>
              </a:rPr>
              <a:t> ( char *</a:t>
            </a:r>
            <a:r>
              <a:rPr sz="2400" b="0" dirty="0" smtClean="0">
                <a:latin typeface="Cambria"/>
              </a:rPr>
              <a:t>array,</a:t>
            </a:r>
            <a:r>
              <a:rPr lang="en-US" sz="2400" b="0" dirty="0" smtClean="0">
                <a:latin typeface="Cambria"/>
              </a:rPr>
              <a:t> </a:t>
            </a:r>
            <a:r>
              <a:rPr sz="2400" b="0" dirty="0" err="1" smtClean="0">
                <a:latin typeface="Cambria"/>
              </a:rPr>
              <a:t>int</a:t>
            </a:r>
            <a:r>
              <a:rPr sz="2400" b="0" dirty="0" smtClean="0">
                <a:latin typeface="Cambria"/>
              </a:rPr>
              <a:t> </a:t>
            </a:r>
            <a:r>
              <a:rPr sz="2400" b="0" dirty="0" err="1">
                <a:latin typeface="Cambria"/>
              </a:rPr>
              <a:t>idx</a:t>
            </a:r>
            <a:r>
              <a:rPr sz="2400" b="0" dirty="0">
                <a:latin typeface="Cambria"/>
              </a:rPr>
              <a:t>, </a:t>
            </a:r>
            <a:r>
              <a:rPr sz="2400" b="0" dirty="0" err="1">
                <a:latin typeface="Cambria"/>
              </a:rPr>
              <a:t>int</a:t>
            </a:r>
            <a:r>
              <a:rPr sz="2400" b="0" dirty="0">
                <a:latin typeface="Cambria"/>
              </a:rPr>
              <a:t> </a:t>
            </a:r>
            <a:r>
              <a:rPr sz="2400" b="0" dirty="0" err="1">
                <a:latin typeface="Cambria"/>
              </a:rPr>
              <a:t>num_elements</a:t>
            </a:r>
            <a:r>
              <a:rPr sz="2400" b="0" dirty="0">
                <a:latin typeface="Cambria"/>
              </a:rPr>
              <a:t> )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Takes a pointer, an index, and a count</a:t>
            </a:r>
          </a:p>
          <a:p>
            <a:pPr>
              <a:tabLst>
                <a:tab pos="548640" algn="l"/>
                <a:tab pos="1097280" algn="l"/>
                <a:tab pos="1645920" algn="l"/>
                <a:tab pos="2194560" algn="l"/>
              </a:tabLst>
            </a:pPr>
            <a:endParaRPr lang="en-US" sz="2400" b="0" dirty="0" smtClean="0">
              <a:latin typeface="Cambria"/>
            </a:endParaRPr>
          </a:p>
          <a:p>
            <a:pPr>
              <a:tabLst>
                <a:tab pos="548640" algn="l"/>
                <a:tab pos="1097280" algn="l"/>
                <a:tab pos="1645920" algn="l"/>
                <a:tab pos="2194560" algn="l"/>
              </a:tabLst>
            </a:pPr>
            <a:r>
              <a:rPr sz="2400" b="0" dirty="0" smtClean="0">
                <a:latin typeface="Cambria"/>
              </a:rPr>
              <a:t>Returns </a:t>
            </a:r>
            <a:r>
              <a:rPr sz="2400" b="0" dirty="0">
                <a:latin typeface="Cambria"/>
              </a:rPr>
              <a:t>an </a:t>
            </a:r>
            <a:r>
              <a:rPr sz="2400" b="0" dirty="0" err="1">
                <a:latin typeface="Cambria"/>
              </a:rPr>
              <a:t>int</a:t>
            </a:r>
            <a:endParaRPr sz="2400" b="0" dirty="0">
              <a:latin typeface="Cambri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extern on Functions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893100"/>
          </a:xfrm>
          <a:prstGeom prst="rect">
            <a:avLst/>
          </a:prstGeom>
          <a:noFill/>
        </p:spPr>
        <p:txBody>
          <a:bodyPr wrap="square">
            <a:spAutoFit/>
          </a:bodyPr>
          <a:lstStyle/>
          <a:p>
            <a:pPr>
              <a:tabLst>
                <a:tab pos="548640" algn="l"/>
                <a:tab pos="1097280" algn="l"/>
                <a:tab pos="1645920" algn="l"/>
                <a:tab pos="2194560" algn="l"/>
              </a:tabLst>
            </a:pPr>
            <a:r>
              <a:rPr sz="2600" b="1" dirty="0">
                <a:latin typeface="Cambria"/>
              </a:rPr>
              <a:t>extern</a:t>
            </a:r>
            <a:r>
              <a:rPr sz="2600" b="0" dirty="0">
                <a:latin typeface="Cambria"/>
              </a:rPr>
              <a:t> extends the visibility of a </a:t>
            </a:r>
            <a:r>
              <a:rPr sz="2600" b="0" dirty="0" smtClean="0">
                <a:latin typeface="Cambria"/>
              </a:rPr>
              <a:t>function</a:t>
            </a:r>
            <a:r>
              <a:rPr lang="en-US" sz="2600" b="0" dirty="0" smtClean="0">
                <a:latin typeface="Cambria"/>
              </a:rPr>
              <a:t> </a:t>
            </a:r>
            <a:r>
              <a:rPr sz="2600" b="0" dirty="0" smtClean="0">
                <a:latin typeface="Cambria"/>
              </a:rPr>
              <a:t>to </a:t>
            </a:r>
            <a:r>
              <a:rPr sz="2600" b="0" dirty="0">
                <a:latin typeface="Cambria"/>
              </a:rPr>
              <a:t>other files</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Not strictly necessary for </a:t>
            </a:r>
            <a:r>
              <a:rPr sz="2600" b="0" dirty="0" smtClean="0">
                <a:latin typeface="Cambria"/>
              </a:rPr>
              <a:t>functions,</a:t>
            </a:r>
            <a:r>
              <a:rPr lang="en-US" sz="2600" b="0" dirty="0" smtClean="0">
                <a:latin typeface="Cambria"/>
              </a:rPr>
              <a:t> </a:t>
            </a:r>
            <a:r>
              <a:rPr sz="2600" b="0" dirty="0" smtClean="0">
                <a:latin typeface="Cambria"/>
              </a:rPr>
              <a:t>but </a:t>
            </a:r>
            <a:r>
              <a:rPr sz="2600" b="0" dirty="0">
                <a:latin typeface="Cambria"/>
              </a:rPr>
              <a:t>recommended</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Many </a:t>
            </a:r>
            <a:r>
              <a:rPr sz="2600" b="1" dirty="0">
                <a:latin typeface="Cambria"/>
              </a:rPr>
              <a:t>identical</a:t>
            </a:r>
            <a:r>
              <a:rPr sz="2600" b="0" dirty="0">
                <a:latin typeface="Cambria"/>
              </a:rPr>
              <a:t> declarations are allowed</a:t>
            </a:r>
          </a:p>
          <a:p>
            <a:pPr>
              <a:tabLst>
                <a:tab pos="548640" algn="l"/>
                <a:tab pos="1097280" algn="l"/>
                <a:tab pos="1645920" algn="l"/>
                <a:tab pos="2194560" algn="l"/>
              </a:tabLst>
            </a:pPr>
            <a:endParaRPr lang="en-US" sz="2600" b="0" dirty="0" smtClean="0">
              <a:latin typeface="Cambria"/>
            </a:endParaRPr>
          </a:p>
          <a:p>
            <a:pPr>
              <a:tabLst>
                <a:tab pos="548640" algn="l"/>
                <a:tab pos="1097280" algn="l"/>
                <a:tab pos="1645920" algn="l"/>
                <a:tab pos="2194560" algn="l"/>
              </a:tabLst>
            </a:pPr>
            <a:r>
              <a:rPr sz="2600" b="0" dirty="0" smtClean="0">
                <a:latin typeface="Cambria"/>
              </a:rPr>
              <a:t>Only </a:t>
            </a:r>
            <a:r>
              <a:rPr sz="2600" b="1" dirty="0">
                <a:latin typeface="Cambria"/>
              </a:rPr>
              <a:t>one</a:t>
            </a:r>
            <a:r>
              <a:rPr sz="2600" b="0" dirty="0">
                <a:latin typeface="Cambria"/>
              </a:rPr>
              <a:t> definition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Function Definition</a:t>
            </a:r>
            <a:endParaRPr lang="en-US" sz="4400" b="0" u="none" strike="noStrike" dirty="0">
              <a:solidFill>
                <a:srgbClr val="000000"/>
              </a:solidFill>
              <a:effectLst/>
              <a:uFillTx/>
              <a:latin typeface="Arial"/>
            </a:endParaRPr>
          </a:p>
        </p:txBody>
      </p:sp>
      <p:sp>
        <p:nvSpPr>
          <p:cNvPr id="388" name="TextBox 387"/>
          <p:cNvSpPr txBox="1"/>
          <p:nvPr/>
        </p:nvSpPr>
        <p:spPr>
          <a:xfrm>
            <a:off x="580040" y="1949942"/>
            <a:ext cx="8974719" cy="2923877"/>
          </a:xfrm>
          <a:prstGeom prst="rect">
            <a:avLst/>
          </a:prstGeom>
          <a:noFill/>
        </p:spPr>
        <p:txBody>
          <a:bodyPr wrap="square">
            <a:spAutoFit/>
          </a:bodyPr>
          <a:lstStyle/>
          <a:p>
            <a:pPr>
              <a:tabLst>
                <a:tab pos="548640" algn="l"/>
                <a:tab pos="1097280" algn="l"/>
                <a:tab pos="3291840" algn="l"/>
              </a:tabLst>
            </a:pPr>
            <a:r>
              <a:rPr sz="2300" b="0" dirty="0" err="1">
                <a:latin typeface="Cambria"/>
              </a:rPr>
              <a:t>int</a:t>
            </a:r>
            <a:r>
              <a:rPr sz="2300" b="0" dirty="0">
                <a:latin typeface="Cambria"/>
              </a:rPr>
              <a:t> </a:t>
            </a:r>
            <a:r>
              <a:rPr sz="2300" b="0" dirty="0" err="1">
                <a:latin typeface="Cambria"/>
              </a:rPr>
              <a:t>access_data</a:t>
            </a:r>
            <a:r>
              <a:rPr sz="2300" b="0" dirty="0">
                <a:latin typeface="Cambria"/>
              </a:rPr>
              <a:t> ( char *array, </a:t>
            </a:r>
            <a:r>
              <a:rPr sz="2300" b="0" dirty="0" err="1">
                <a:latin typeface="Cambria"/>
              </a:rPr>
              <a:t>int</a:t>
            </a:r>
            <a:r>
              <a:rPr sz="2300" b="0" dirty="0">
                <a:latin typeface="Cambria"/>
              </a:rPr>
              <a:t> </a:t>
            </a:r>
            <a:r>
              <a:rPr sz="2300" b="0" dirty="0" err="1" smtClean="0">
                <a:latin typeface="Cambria"/>
              </a:rPr>
              <a:t>idx</a:t>
            </a:r>
            <a:r>
              <a:rPr sz="2300" b="0" dirty="0" smtClean="0">
                <a:latin typeface="Cambria"/>
              </a:rPr>
              <a:t>,</a:t>
            </a:r>
            <a:r>
              <a:rPr lang="en-US" sz="2300" b="0" dirty="0" smtClean="0">
                <a:latin typeface="Cambria"/>
              </a:rPr>
              <a:t>  </a:t>
            </a:r>
            <a:r>
              <a:rPr sz="2300" b="0" dirty="0" err="1" smtClean="0">
                <a:latin typeface="Cambria"/>
              </a:rPr>
              <a:t>int</a:t>
            </a:r>
            <a:r>
              <a:rPr sz="2300" b="0" dirty="0" smtClean="0">
                <a:latin typeface="Cambria"/>
              </a:rPr>
              <a:t> </a:t>
            </a:r>
            <a:r>
              <a:rPr sz="2300" b="0" dirty="0" err="1">
                <a:latin typeface="Cambria"/>
              </a:rPr>
              <a:t>num_elements</a:t>
            </a:r>
            <a:r>
              <a:rPr sz="2300" b="0" dirty="0">
                <a:latin typeface="Cambria"/>
              </a:rPr>
              <a:t> ) {</a:t>
            </a:r>
          </a:p>
          <a:p>
            <a:pPr>
              <a:tabLst>
                <a:tab pos="548640" algn="l"/>
                <a:tab pos="1097280" algn="l"/>
                <a:tab pos="3291840" algn="l"/>
              </a:tabLst>
            </a:pPr>
            <a:r>
              <a:rPr sz="2300" b="0" dirty="0">
                <a:latin typeface="Cambria"/>
              </a:rPr>
              <a:t>	if ( ( </a:t>
            </a:r>
            <a:r>
              <a:rPr sz="2300" b="0" dirty="0" err="1">
                <a:latin typeface="Cambria"/>
              </a:rPr>
              <a:t>idx</a:t>
            </a:r>
            <a:r>
              <a:rPr sz="2300" b="0" dirty="0">
                <a:latin typeface="Cambria"/>
              </a:rPr>
              <a:t> &gt;= 0 ) &amp;&amp; ( </a:t>
            </a:r>
            <a:r>
              <a:rPr sz="2300" b="0" dirty="0" err="1">
                <a:latin typeface="Cambria"/>
              </a:rPr>
              <a:t>idx</a:t>
            </a:r>
            <a:r>
              <a:rPr sz="2300" b="0" dirty="0">
                <a:latin typeface="Cambria"/>
              </a:rPr>
              <a:t> &lt; </a:t>
            </a:r>
            <a:r>
              <a:rPr sz="2300" b="0" dirty="0" err="1">
                <a:latin typeface="Cambria"/>
              </a:rPr>
              <a:t>num_elements</a:t>
            </a:r>
            <a:r>
              <a:rPr sz="2300" b="0" dirty="0">
                <a:latin typeface="Cambria"/>
              </a:rPr>
              <a:t> ) ) {</a:t>
            </a:r>
          </a:p>
          <a:p>
            <a:pPr>
              <a:tabLst>
                <a:tab pos="548640" algn="l"/>
                <a:tab pos="1097280" algn="l"/>
                <a:tab pos="3291840" algn="l"/>
              </a:tabLst>
            </a:pPr>
            <a:r>
              <a:rPr sz="2300" b="0" dirty="0">
                <a:latin typeface="Cambria"/>
              </a:rPr>
              <a:t>		return array[</a:t>
            </a:r>
            <a:r>
              <a:rPr sz="2300" b="0" dirty="0" err="1">
                <a:latin typeface="Cambria"/>
              </a:rPr>
              <a:t>idx</a:t>
            </a:r>
            <a:r>
              <a:rPr sz="2300" b="0" dirty="0">
                <a:latin typeface="Cambria"/>
              </a:rPr>
              <a:t>] ;</a:t>
            </a:r>
          </a:p>
          <a:p>
            <a:pPr>
              <a:tabLst>
                <a:tab pos="548640" algn="l"/>
                <a:tab pos="1097280" algn="l"/>
                <a:tab pos="3291840" algn="l"/>
              </a:tabLst>
            </a:pPr>
            <a:r>
              <a:rPr sz="2300" b="0" dirty="0">
                <a:latin typeface="Cambria"/>
              </a:rPr>
              <a:t>	}</a:t>
            </a:r>
          </a:p>
          <a:p>
            <a:pPr>
              <a:tabLst>
                <a:tab pos="548640" algn="l"/>
                <a:tab pos="1097280" algn="l"/>
                <a:tab pos="3291840" algn="l"/>
              </a:tabLst>
            </a:pPr>
            <a:r>
              <a:rPr sz="2300" b="0" dirty="0">
                <a:latin typeface="Cambria"/>
              </a:rPr>
              <a:t>	return -1 ;	// out of bounds</a:t>
            </a:r>
          </a:p>
          <a:p>
            <a:pPr>
              <a:tabLst>
                <a:tab pos="548640" algn="l"/>
                <a:tab pos="1097280" algn="l"/>
                <a:tab pos="3291840" algn="l"/>
              </a:tabLst>
            </a:pPr>
            <a:r>
              <a:rPr sz="2300" b="0" dirty="0">
                <a:latin typeface="Cambria"/>
              </a:rPr>
              <a:t>}</a:t>
            </a:r>
          </a:p>
          <a:p>
            <a:pPr>
              <a:tabLst>
                <a:tab pos="548640" algn="l"/>
                <a:tab pos="1097280" algn="l"/>
                <a:tab pos="3291840" algn="l"/>
              </a:tabLst>
            </a:pPr>
            <a:r>
              <a:rPr sz="2300" dirty="0">
                <a:latin typeface="Cambria"/>
              </a:rPr>
              <a:t> </a:t>
            </a:r>
          </a:p>
          <a:p>
            <a:pPr>
              <a:tabLst>
                <a:tab pos="548640" algn="l"/>
                <a:tab pos="1097280" algn="l"/>
                <a:tab pos="3291840" algn="l"/>
              </a:tabLst>
            </a:pPr>
            <a:r>
              <a:rPr sz="2300" b="0" dirty="0">
                <a:latin typeface="Cambria"/>
              </a:rPr>
              <a:t>This becomes </a:t>
            </a:r>
            <a:r>
              <a:rPr sz="2300" b="1" dirty="0">
                <a:latin typeface="Cambria"/>
              </a:rPr>
              <a:t>text</a:t>
            </a:r>
            <a:r>
              <a:rPr sz="2300" b="0" dirty="0">
                <a:latin typeface="Cambria"/>
              </a:rPr>
              <a:t>:  machine instructions</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extern on Variables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554819"/>
          </a:xfrm>
          <a:prstGeom prst="rect">
            <a:avLst/>
          </a:prstGeom>
          <a:noFill/>
        </p:spPr>
        <p:txBody>
          <a:bodyPr wrap="square">
            <a:spAutoFit/>
          </a:bodyPr>
          <a:lstStyle/>
          <a:p>
            <a:pPr>
              <a:tabLst>
                <a:tab pos="548640" algn="l"/>
                <a:tab pos="1097280" algn="l"/>
                <a:tab pos="1645920" algn="l"/>
                <a:tab pos="2194560" algn="l"/>
              </a:tabLst>
            </a:pPr>
            <a:r>
              <a:rPr sz="2500" b="0" dirty="0">
                <a:latin typeface="Cambria"/>
              </a:rPr>
              <a:t>extern double </a:t>
            </a:r>
            <a:r>
              <a:rPr sz="2500" b="0" dirty="0" err="1">
                <a:latin typeface="Cambria"/>
              </a:rPr>
              <a:t>myNumG</a:t>
            </a:r>
            <a:r>
              <a:rPr sz="2500" b="0" dirty="0">
                <a:latin typeface="Cambria"/>
              </a:rPr>
              <a:t> ;</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Describes the </a:t>
            </a:r>
            <a:r>
              <a:rPr sz="2500" b="1" dirty="0">
                <a:latin typeface="Cambria"/>
              </a:rPr>
              <a:t>type</a:t>
            </a:r>
            <a:r>
              <a:rPr sz="2500" b="0" dirty="0">
                <a:latin typeface="Cambria"/>
              </a:rPr>
              <a:t> but does </a:t>
            </a:r>
            <a:r>
              <a:rPr sz="2500" b="1" dirty="0">
                <a:latin typeface="Cambria"/>
              </a:rPr>
              <a:t>not</a:t>
            </a:r>
            <a:r>
              <a:rPr sz="2500" b="0" dirty="0">
                <a:latin typeface="Cambria"/>
              </a:rPr>
              <a:t> allocate</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A placeholder for the real address</a:t>
            </a:r>
          </a:p>
          <a:p>
            <a:pPr>
              <a:tabLst>
                <a:tab pos="548640" algn="l"/>
                <a:tab pos="1097280" algn="l"/>
                <a:tab pos="1645920" algn="l"/>
                <a:tab pos="2194560" algn="l"/>
              </a:tabLst>
            </a:pPr>
            <a:endParaRPr lang="en-US" sz="2500" b="0" dirty="0" smtClean="0">
              <a:latin typeface="Cambria"/>
            </a:endParaRPr>
          </a:p>
          <a:p>
            <a:pPr>
              <a:tabLst>
                <a:tab pos="548640" algn="l"/>
                <a:tab pos="1097280" algn="l"/>
                <a:tab pos="1645920" algn="l"/>
                <a:tab pos="2194560" algn="l"/>
              </a:tabLst>
            </a:pPr>
            <a:r>
              <a:rPr sz="2500" b="0" dirty="0" smtClean="0">
                <a:latin typeface="Cambria"/>
              </a:rPr>
              <a:t>The </a:t>
            </a:r>
            <a:r>
              <a:rPr sz="2500" b="0" dirty="0">
                <a:latin typeface="Cambria"/>
              </a:rPr>
              <a:t>address is </a:t>
            </a:r>
            <a:r>
              <a:rPr sz="2500" b="1" dirty="0">
                <a:latin typeface="Cambria"/>
              </a:rPr>
              <a:t>resolved</a:t>
            </a:r>
            <a:r>
              <a:rPr sz="2500" b="0" dirty="0">
                <a:latin typeface="Cambria"/>
              </a:rPr>
              <a:t> at link time</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err="1">
                <a:latin typeface="Cambria"/>
              </a:rPr>
              <a:t>myNumG</a:t>
            </a:r>
            <a:r>
              <a:rPr sz="2500" b="0" dirty="0">
                <a:latin typeface="Cambria"/>
              </a:rPr>
              <a:t> is 8 bytes of double - defined elsewhere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Variable Definition</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539430"/>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double </a:t>
            </a:r>
            <a:r>
              <a:rPr sz="2800" b="0" dirty="0" err="1">
                <a:latin typeface="Cambria"/>
              </a:rPr>
              <a:t>myNumG</a:t>
            </a:r>
            <a:r>
              <a:rPr sz="2800" b="0" dirty="0">
                <a:latin typeface="Cambria"/>
              </a:rPr>
              <a:t> ;</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err="1">
                <a:latin typeface="Cambria"/>
              </a:rPr>
              <a:t>myNumG</a:t>
            </a:r>
            <a:r>
              <a:rPr sz="2800" b="0" dirty="0">
                <a:latin typeface="Cambria"/>
              </a:rPr>
              <a:t> is the starting address of 8 </a:t>
            </a:r>
            <a:r>
              <a:rPr sz="2800" b="0" dirty="0" smtClean="0">
                <a:latin typeface="Cambria"/>
              </a:rPr>
              <a:t>bytes</a:t>
            </a:r>
            <a:r>
              <a:rPr lang="en-US" sz="2800" b="0" dirty="0" smtClean="0">
                <a:latin typeface="Cambria"/>
              </a:rPr>
              <a:t> </a:t>
            </a:r>
            <a:r>
              <a:rPr sz="2800" b="0" dirty="0" smtClean="0">
                <a:latin typeface="Cambria"/>
              </a:rPr>
              <a:t>holding </a:t>
            </a:r>
            <a:r>
              <a:rPr sz="2800" b="0" dirty="0">
                <a:latin typeface="Cambria"/>
              </a:rPr>
              <a:t>a double</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This statement </a:t>
            </a:r>
            <a:r>
              <a:rPr sz="2800" b="1" dirty="0">
                <a:latin typeface="Cambria"/>
              </a:rPr>
              <a:t>allocates</a:t>
            </a:r>
            <a:r>
              <a:rPr sz="2800" b="0" dirty="0">
                <a:latin typeface="Cambria"/>
              </a:rPr>
              <a:t> the memory</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Exactly </a:t>
            </a:r>
            <a:r>
              <a:rPr sz="2800" b="1" dirty="0">
                <a:latin typeface="Cambria"/>
              </a:rPr>
              <a:t>one</a:t>
            </a:r>
            <a:r>
              <a:rPr sz="2800" b="0" dirty="0">
                <a:latin typeface="Cambria"/>
              </a:rPr>
              <a:t> file may contain this 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Declarations in C++</a:t>
            </a:r>
            <a:endParaRPr lang="en-US" sz="4400" b="0" u="none" strike="noStrike" dirty="0">
              <a:solidFill>
                <a:srgbClr val="000000"/>
              </a:solidFill>
              <a:effectLst/>
              <a:uFillTx/>
              <a:latin typeface="Arial"/>
            </a:endParaRPr>
          </a:p>
        </p:txBody>
      </p:sp>
      <p:sp>
        <p:nvSpPr>
          <p:cNvPr id="388" name="TextBox 387"/>
          <p:cNvSpPr txBox="1"/>
          <p:nvPr/>
        </p:nvSpPr>
        <p:spPr>
          <a:xfrm>
            <a:off x="580040" y="1949942"/>
            <a:ext cx="8974719" cy="2785378"/>
          </a:xfrm>
          <a:prstGeom prst="rect">
            <a:avLst/>
          </a:prstGeom>
          <a:noFill/>
        </p:spPr>
        <p:txBody>
          <a:bodyPr wrap="square">
            <a:spAutoFit/>
          </a:bodyPr>
          <a:lstStyle/>
          <a:p>
            <a:pPr>
              <a:tabLst>
                <a:tab pos="548640" algn="l"/>
                <a:tab pos="1097280" algn="l"/>
                <a:tab pos="1645920" algn="l"/>
                <a:tab pos="2194560" algn="l"/>
              </a:tabLst>
            </a:pPr>
            <a:r>
              <a:rPr sz="2500" b="0" dirty="0">
                <a:latin typeface="Cambria"/>
              </a:rPr>
              <a:t>The same rules as C:  prototypes,  extern</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Declarations go in a </a:t>
            </a:r>
            <a:r>
              <a:rPr sz="2500" b="1" dirty="0">
                <a:latin typeface="Cambria"/>
              </a:rPr>
              <a:t>header</a:t>
            </a:r>
            <a:r>
              <a:rPr sz="2500" b="0" dirty="0">
                <a:latin typeface="Cambria"/>
              </a:rPr>
              <a:t> ( .h / .</a:t>
            </a:r>
            <a:r>
              <a:rPr sz="2500" b="0" dirty="0" err="1">
                <a:latin typeface="Cambria"/>
              </a:rPr>
              <a:t>hpp</a:t>
            </a:r>
            <a:r>
              <a:rPr sz="2500" b="0" dirty="0">
                <a:latin typeface="Cambria"/>
              </a:rPr>
              <a:t> )</a:t>
            </a:r>
          </a:p>
          <a:p>
            <a:pPr>
              <a:tabLst>
                <a:tab pos="548640" algn="l"/>
                <a:tab pos="1097280" algn="l"/>
                <a:tab pos="1645920" algn="l"/>
                <a:tab pos="2194560" algn="l"/>
              </a:tabLst>
            </a:pPr>
            <a:r>
              <a:rPr sz="2500" b="0" dirty="0">
                <a:latin typeface="Cambria"/>
              </a:rPr>
              <a:t>Definitions go in a </a:t>
            </a:r>
            <a:r>
              <a:rPr sz="2500" b="1" dirty="0">
                <a:latin typeface="Cambria"/>
              </a:rPr>
              <a:t>source</a:t>
            </a:r>
            <a:r>
              <a:rPr sz="2500" b="0" dirty="0">
                <a:latin typeface="Cambria"/>
              </a:rPr>
              <a:t> file ( .</a:t>
            </a:r>
            <a:r>
              <a:rPr sz="2500" b="0" dirty="0" err="1">
                <a:latin typeface="Cambria"/>
              </a:rPr>
              <a:t>cpp</a:t>
            </a:r>
            <a:r>
              <a:rPr sz="2500" b="0" dirty="0">
                <a:latin typeface="Cambria"/>
              </a:rPr>
              <a:t> )</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Break the </a:t>
            </a:r>
            <a:r>
              <a:rPr sz="2500" b="1" dirty="0">
                <a:latin typeface="Cambria"/>
              </a:rPr>
              <a:t>One Definition Rule</a:t>
            </a:r>
            <a:r>
              <a:rPr sz="2500" b="0" dirty="0">
                <a:latin typeface="Cambria"/>
              </a:rPr>
              <a:t> and </a:t>
            </a:r>
            <a:r>
              <a:rPr sz="2500" b="0" dirty="0" smtClean="0">
                <a:latin typeface="Cambria"/>
              </a:rPr>
              <a:t>the</a:t>
            </a:r>
            <a:r>
              <a:rPr lang="en-US" sz="2500" b="0" dirty="0" smtClean="0">
                <a:latin typeface="Cambria"/>
              </a:rPr>
              <a:t> </a:t>
            </a:r>
            <a:r>
              <a:rPr sz="2500" b="0" dirty="0" smtClean="0">
                <a:latin typeface="Cambria"/>
              </a:rPr>
              <a:t>linker </a:t>
            </a:r>
            <a:r>
              <a:rPr sz="2500" b="0" dirty="0">
                <a:latin typeface="Cambria"/>
              </a:rPr>
              <a:t>reports a duplicate symbol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Declarations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400657"/>
          </a:xfrm>
          <a:prstGeom prst="rect">
            <a:avLst/>
          </a:prstGeom>
          <a:noFill/>
        </p:spPr>
        <p:txBody>
          <a:bodyPr wrap="square">
            <a:spAutoFit/>
          </a:bodyPr>
          <a:lstStyle/>
          <a:p>
            <a:pPr>
              <a:tabLst>
                <a:tab pos="3657600" algn="l"/>
              </a:tabLst>
            </a:pPr>
            <a:r>
              <a:rPr sz="2500" b="0" dirty="0">
                <a:latin typeface="Cambria"/>
              </a:rPr>
              <a:t>Rust has </a:t>
            </a:r>
            <a:r>
              <a:rPr sz="2500" b="1" dirty="0">
                <a:latin typeface="Cambria"/>
              </a:rPr>
              <a:t>no</a:t>
            </a:r>
            <a:r>
              <a:rPr sz="2500" b="0" dirty="0">
                <a:latin typeface="Cambria"/>
              </a:rPr>
              <a:t> separate </a:t>
            </a:r>
            <a:r>
              <a:rPr sz="2500" b="0" dirty="0" smtClean="0">
                <a:latin typeface="Cambria"/>
              </a:rPr>
              <a:t>declarations</a:t>
            </a:r>
            <a:r>
              <a:rPr lang="en-US" sz="2500" b="0" dirty="0" smtClean="0">
                <a:latin typeface="Cambria"/>
              </a:rPr>
              <a:t> </a:t>
            </a:r>
            <a:r>
              <a:rPr sz="2500" b="0" dirty="0" smtClean="0">
                <a:latin typeface="Cambria"/>
              </a:rPr>
              <a:t>and </a:t>
            </a:r>
            <a:r>
              <a:rPr sz="2500" b="1" dirty="0" smtClean="0">
                <a:latin typeface="Cambria"/>
              </a:rPr>
              <a:t>no</a:t>
            </a:r>
            <a:r>
              <a:rPr sz="2500" b="0" dirty="0" smtClean="0">
                <a:latin typeface="Cambria"/>
              </a:rPr>
              <a:t> header files</a:t>
            </a:r>
          </a:p>
          <a:p>
            <a:pPr>
              <a:tabLst>
                <a:tab pos="3657600" algn="l"/>
              </a:tabLst>
            </a:pPr>
            <a:r>
              <a:rPr sz="2500" dirty="0" smtClean="0">
                <a:latin typeface="Cambria"/>
              </a:rPr>
              <a:t> </a:t>
            </a:r>
            <a:endParaRPr sz="2500" dirty="0">
              <a:latin typeface="Cambria"/>
            </a:endParaRPr>
          </a:p>
          <a:p>
            <a:pPr>
              <a:tabLst>
                <a:tab pos="3657600" algn="l"/>
              </a:tabLst>
            </a:pPr>
            <a:r>
              <a:rPr sz="2500" b="0" dirty="0">
                <a:latin typeface="Cambria"/>
              </a:rPr>
              <a:t>mod sensor ;	load sensor.rs as a module</a:t>
            </a:r>
          </a:p>
          <a:p>
            <a:pPr>
              <a:tabLst>
                <a:tab pos="3657600" algn="l"/>
              </a:tabLst>
            </a:pPr>
            <a:r>
              <a:rPr sz="2500" b="0" dirty="0">
                <a:latin typeface="Cambria"/>
              </a:rPr>
              <a:t>use sensor::</a:t>
            </a:r>
            <a:r>
              <a:rPr sz="2500" b="0" dirty="0" err="1">
                <a:latin typeface="Cambria"/>
              </a:rPr>
              <a:t>adc_to_psi</a:t>
            </a:r>
            <a:r>
              <a:rPr sz="2500" b="0" dirty="0">
                <a:latin typeface="Cambria"/>
              </a:rPr>
              <a:t> ;	bring the name into scope</a:t>
            </a:r>
          </a:p>
          <a:p>
            <a:pPr>
              <a:tabLst>
                <a:tab pos="3657600" algn="l"/>
              </a:tabLst>
            </a:pPr>
            <a:r>
              <a:rPr sz="2500" dirty="0">
                <a:latin typeface="Cambria"/>
              </a:rPr>
              <a:t> </a:t>
            </a:r>
          </a:p>
          <a:p>
            <a:pPr>
              <a:tabLst>
                <a:tab pos="3657600" algn="l"/>
              </a:tabLst>
            </a:pPr>
            <a:r>
              <a:rPr sz="2500" b="0" dirty="0">
                <a:latin typeface="Cambria"/>
              </a:rPr>
              <a:t>The compiler </a:t>
            </a:r>
            <a:r>
              <a:rPr sz="2500" b="0" dirty="0" smtClean="0">
                <a:latin typeface="Cambria"/>
              </a:rPr>
              <a:t>sees</a:t>
            </a:r>
            <a:r>
              <a:rPr lang="en-US" sz="2500" b="0" dirty="0" smtClean="0">
                <a:latin typeface="Cambria"/>
              </a:rPr>
              <a:t> all files of a </a:t>
            </a:r>
            <a:r>
              <a:rPr lang="en-US" sz="2500" dirty="0">
                <a:latin typeface="Cambria"/>
              </a:rPr>
              <a:t>R</a:t>
            </a:r>
            <a:r>
              <a:rPr lang="en-US" sz="2500" dirty="0" smtClean="0">
                <a:latin typeface="Cambria"/>
              </a:rPr>
              <a:t>ust </a:t>
            </a:r>
            <a:r>
              <a:rPr lang="en-US" sz="2500" b="0" dirty="0" smtClean="0">
                <a:latin typeface="Cambria"/>
              </a:rPr>
              <a:t>compilation </a:t>
            </a:r>
            <a:r>
              <a:rPr sz="2500" b="0" dirty="0" smtClean="0">
                <a:latin typeface="Cambria"/>
              </a:rPr>
              <a:t>at </a:t>
            </a:r>
            <a:r>
              <a:rPr sz="2500" b="0" dirty="0">
                <a:latin typeface="Cambria"/>
              </a:rPr>
              <a:t>once</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Global Variables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693319"/>
          </a:xfrm>
          <a:prstGeom prst="rect">
            <a:avLst/>
          </a:prstGeom>
          <a:noFill/>
        </p:spPr>
        <p:txBody>
          <a:bodyPr wrap="square">
            <a:spAutoFit/>
          </a:bodyPr>
          <a:lstStyle/>
          <a:p>
            <a:pPr>
              <a:tabLst>
                <a:tab pos="548640" algn="l"/>
                <a:tab pos="1097280" algn="l"/>
                <a:tab pos="1645920" algn="l"/>
                <a:tab pos="2194560" algn="l"/>
              </a:tabLst>
            </a:pPr>
            <a:r>
              <a:rPr sz="2600" b="0" dirty="0" err="1">
                <a:latin typeface="Cambria"/>
              </a:rPr>
              <a:t>int</a:t>
            </a:r>
            <a:r>
              <a:rPr sz="2600" b="0" dirty="0">
                <a:latin typeface="Cambria"/>
              </a:rPr>
              <a:t> </a:t>
            </a:r>
            <a:r>
              <a:rPr sz="2600" b="0" dirty="0" err="1">
                <a:latin typeface="Cambria"/>
              </a:rPr>
              <a:t>stepG</a:t>
            </a:r>
            <a:r>
              <a:rPr sz="2600" b="0" dirty="0">
                <a:latin typeface="Cambria"/>
              </a:rPr>
              <a:t> ;</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err="1">
                <a:latin typeface="Cambria"/>
              </a:rPr>
              <a:t>int</a:t>
            </a:r>
            <a:r>
              <a:rPr sz="2600" b="0" dirty="0">
                <a:latin typeface="Cambria"/>
              </a:rPr>
              <a:t> main ( </a:t>
            </a:r>
            <a:r>
              <a:rPr sz="2600" b="0" dirty="0" err="1">
                <a:latin typeface="Cambria"/>
              </a:rPr>
              <a:t>int</a:t>
            </a:r>
            <a:r>
              <a:rPr sz="2600" b="0" dirty="0">
                <a:latin typeface="Cambria"/>
              </a:rPr>
              <a:t> </a:t>
            </a:r>
            <a:r>
              <a:rPr sz="2600" b="0" dirty="0" err="1">
                <a:latin typeface="Cambria"/>
              </a:rPr>
              <a:t>argc</a:t>
            </a:r>
            <a:r>
              <a:rPr sz="2600" b="0" dirty="0">
                <a:latin typeface="Cambria"/>
              </a:rPr>
              <a:t>, char *</a:t>
            </a:r>
            <a:r>
              <a:rPr sz="2600" b="0" dirty="0" err="1">
                <a:latin typeface="Cambria"/>
              </a:rPr>
              <a:t>argv</a:t>
            </a:r>
            <a:r>
              <a:rPr sz="2600" b="0" dirty="0">
                <a:latin typeface="Cambria"/>
              </a:rPr>
              <a:t>[] )</a:t>
            </a:r>
          </a:p>
          <a:p>
            <a:pPr>
              <a:tabLst>
                <a:tab pos="548640" algn="l"/>
                <a:tab pos="1097280" algn="l"/>
                <a:tab pos="1645920" algn="l"/>
                <a:tab pos="2194560" algn="l"/>
              </a:tabLst>
            </a:pPr>
            <a:r>
              <a:rPr sz="2600" b="0" dirty="0">
                <a:latin typeface="Cambria"/>
              </a:rPr>
              <a:t>{</a:t>
            </a:r>
          </a:p>
          <a:p>
            <a:pPr>
              <a:tabLst>
                <a:tab pos="548640" algn="l"/>
                <a:tab pos="1097280" algn="l"/>
                <a:tab pos="1645920" algn="l"/>
                <a:tab pos="2194560" algn="l"/>
              </a:tabLst>
            </a:pPr>
            <a:r>
              <a:rPr sz="2600" b="0" dirty="0">
                <a:latin typeface="Cambria"/>
              </a:rPr>
              <a:t>	...</a:t>
            </a:r>
          </a:p>
          <a:p>
            <a:pPr>
              <a:tabLst>
                <a:tab pos="548640" algn="l"/>
                <a:tab pos="1097280" algn="l"/>
                <a:tab pos="1645920" algn="l"/>
                <a:tab pos="2194560" algn="l"/>
              </a:tabLst>
            </a:pPr>
            <a:r>
              <a:rPr sz="2600" b="0" dirty="0">
                <a:latin typeface="Cambria"/>
              </a:rPr>
              <a:t>}</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Four bytes in the </a:t>
            </a:r>
            <a:r>
              <a:rPr sz="2600" b="1" dirty="0">
                <a:latin typeface="Cambria"/>
              </a:rPr>
              <a:t>data</a:t>
            </a:r>
            <a:r>
              <a:rPr sz="2600" b="0" dirty="0">
                <a:latin typeface="Cambria"/>
              </a:rPr>
              <a:t> </a:t>
            </a:r>
            <a:r>
              <a:rPr sz="2600" b="0" dirty="0" smtClean="0">
                <a:latin typeface="Cambria"/>
              </a:rPr>
              <a:t>section,</a:t>
            </a:r>
            <a:r>
              <a:rPr lang="en-US" sz="2600" b="0" dirty="0" smtClean="0">
                <a:latin typeface="Cambria"/>
              </a:rPr>
              <a:t> </a:t>
            </a:r>
            <a:r>
              <a:rPr sz="2600" b="0" dirty="0" smtClean="0">
                <a:latin typeface="Cambria"/>
              </a:rPr>
              <a:t>for </a:t>
            </a:r>
            <a:r>
              <a:rPr sz="2600" b="0" dirty="0">
                <a:latin typeface="Cambria"/>
              </a:rPr>
              <a:t>the </a:t>
            </a:r>
            <a:r>
              <a:rPr sz="2600" b="1" dirty="0">
                <a:latin typeface="Cambria"/>
              </a:rPr>
              <a:t>lifetime</a:t>
            </a:r>
            <a:r>
              <a:rPr sz="2600" b="0" dirty="0">
                <a:latin typeface="Cambria"/>
              </a:rPr>
              <a:t> of the program</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Using a Global from Another File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500" b="0">
                <a:latin typeface="Cambria"/>
              </a:rPr>
              <a:t>another.c:</a:t>
            </a:r>
          </a:p>
          <a:p>
            <a:pPr>
              <a:tabLst>
                <a:tab pos="548640" algn="l"/>
                <a:tab pos="1097280" algn="l"/>
                <a:tab pos="1645920" algn="l"/>
                <a:tab pos="2194560" algn="l"/>
              </a:tabLst>
            </a:pPr>
            <a:r>
              <a:rPr sz="2500" b="0">
                <a:latin typeface="Cambria"/>
              </a:rPr>
              <a:t>	extern int stepG ;</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	void reset ( void ) {</a:t>
            </a:r>
          </a:p>
          <a:p>
            <a:pPr>
              <a:tabLst>
                <a:tab pos="548640" algn="l"/>
                <a:tab pos="1097280" algn="l"/>
                <a:tab pos="1645920" algn="l"/>
                <a:tab pos="2194560" algn="l"/>
              </a:tabLst>
            </a:pPr>
            <a:r>
              <a:rPr sz="2500" b="0">
                <a:latin typeface="Cambria"/>
              </a:rPr>
              <a:t>		stepG = 10 ;</a:t>
            </a:r>
          </a:p>
          <a:p>
            <a:pPr>
              <a:tabLst>
                <a:tab pos="548640" algn="l"/>
                <a:tab pos="1097280" algn="l"/>
                <a:tab pos="1645920" algn="l"/>
                <a:tab pos="2194560" algn="l"/>
              </a:tabLst>
            </a:pPr>
            <a:r>
              <a:rPr sz="2500" b="0">
                <a:latin typeface="Cambria"/>
              </a:rPr>
              <a:t>	}</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Usable in any scope and file that declares it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Globals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500" b="0">
                <a:latin typeface="Cambria"/>
              </a:rPr>
              <a:t>Same as C,  plus  </a:t>
            </a:r>
            <a:r>
              <a:rPr sz="2500" b="1">
                <a:latin typeface="Cambria"/>
              </a:rPr>
              <a:t>namespaces</a:t>
            </a:r>
            <a:r>
              <a:rPr sz="2500" b="0">
                <a:latin typeface="Cambria"/>
              </a:rPr>
              <a:t>:</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	namespace sensor {</a:t>
            </a:r>
          </a:p>
          <a:p>
            <a:pPr>
              <a:tabLst>
                <a:tab pos="548640" algn="l"/>
                <a:tab pos="1097280" algn="l"/>
                <a:tab pos="1645920" algn="l"/>
                <a:tab pos="2194560" algn="l"/>
              </a:tabLst>
            </a:pPr>
            <a:r>
              <a:rPr sz="2500" b="0">
                <a:latin typeface="Cambria"/>
              </a:rPr>
              <a:t>		int stepG ;</a:t>
            </a:r>
          </a:p>
          <a:p>
            <a:pPr>
              <a:tabLst>
                <a:tab pos="548640" algn="l"/>
                <a:tab pos="1097280" algn="l"/>
                <a:tab pos="1645920" algn="l"/>
                <a:tab pos="2194560" algn="l"/>
              </a:tabLst>
            </a:pPr>
            <a:r>
              <a:rPr sz="2500" b="0">
                <a:latin typeface="Cambria"/>
              </a:rPr>
              <a:t>	}</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	sensor::stepG = 10 ;</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A namespace keeps global names from colliding</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Globals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9055572" cy="2893100"/>
          </a:xfrm>
          <a:prstGeom prst="rect">
            <a:avLst/>
          </a:prstGeom>
          <a:noFill/>
        </p:spPr>
        <p:txBody>
          <a:bodyPr wrap="square">
            <a:spAutoFit/>
          </a:bodyPr>
          <a:lstStyle/>
          <a:p>
            <a:pPr>
              <a:tabLst>
                <a:tab pos="548640" algn="l"/>
                <a:tab pos="1097280" algn="l"/>
                <a:tab pos="1645920" algn="l"/>
                <a:tab pos="2194560" algn="l"/>
              </a:tabLst>
            </a:pPr>
            <a:r>
              <a:rPr sz="2600" b="0" dirty="0">
                <a:latin typeface="Cambria"/>
              </a:rPr>
              <a:t>static </a:t>
            </a:r>
            <a:r>
              <a:rPr sz="2600" b="0" dirty="0" err="1">
                <a:latin typeface="Cambria"/>
              </a:rPr>
              <a:t>mut</a:t>
            </a:r>
            <a:r>
              <a:rPr sz="2600" b="0" dirty="0">
                <a:latin typeface="Cambria"/>
              </a:rPr>
              <a:t> STEP_G : i32 = 0 </a:t>
            </a:r>
            <a:r>
              <a:rPr sz="2600" b="0" dirty="0" smtClean="0">
                <a:latin typeface="Cambria"/>
              </a:rPr>
              <a:t>;</a:t>
            </a:r>
            <a:r>
              <a:rPr lang="en-US" sz="2600" b="0" dirty="0" smtClean="0">
                <a:latin typeface="Cambria"/>
              </a:rPr>
              <a:t>  </a:t>
            </a:r>
            <a:r>
              <a:rPr lang="en-US" sz="2600" b="0" dirty="0" smtClean="0">
                <a:solidFill>
                  <a:srgbClr val="FF0000"/>
                </a:solidFill>
                <a:latin typeface="Cambria"/>
              </a:rPr>
              <a:t>// </a:t>
            </a:r>
            <a:r>
              <a:rPr lang="en-US" sz="2600" dirty="0" smtClean="0">
                <a:solidFill>
                  <a:srgbClr val="FF0000"/>
                </a:solidFill>
                <a:latin typeface="Cambria"/>
              </a:rPr>
              <a:t>unlike C/C++ must set to zero</a:t>
            </a:r>
            <a:endParaRPr sz="2600" b="0" dirty="0">
              <a:solidFill>
                <a:srgbClr val="FF0000"/>
              </a:solidFill>
              <a:latin typeface="Cambria"/>
            </a:endParaRP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unsafe {  STEP_G = 10 ;  }</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Every read or write of a </a:t>
            </a:r>
            <a:r>
              <a:rPr sz="2600" b="1" dirty="0">
                <a:latin typeface="Cambria"/>
              </a:rPr>
              <a:t>mutable</a:t>
            </a:r>
            <a:r>
              <a:rPr sz="2600" b="0" dirty="0">
                <a:latin typeface="Cambria"/>
              </a:rPr>
              <a:t> </a:t>
            </a:r>
            <a:r>
              <a:rPr sz="2600" b="0" dirty="0" smtClean="0">
                <a:latin typeface="Cambria"/>
              </a:rPr>
              <a:t>global</a:t>
            </a:r>
            <a:r>
              <a:rPr lang="en-US" sz="2600" b="0" dirty="0" smtClean="0">
                <a:latin typeface="Cambria"/>
              </a:rPr>
              <a:t> </a:t>
            </a:r>
            <a:r>
              <a:rPr sz="2600" b="0" dirty="0" smtClean="0">
                <a:latin typeface="Cambria"/>
              </a:rPr>
              <a:t>needs  </a:t>
            </a:r>
            <a:r>
              <a:rPr sz="2600" b="1" dirty="0">
                <a:latin typeface="Cambria"/>
              </a:rPr>
              <a:t>unsafe</a:t>
            </a:r>
          </a:p>
          <a:p>
            <a:pPr>
              <a:tabLst>
                <a:tab pos="548640" algn="l"/>
                <a:tab pos="1097280" algn="l"/>
                <a:tab pos="1645920" algn="l"/>
                <a:tab pos="2194560" algn="l"/>
              </a:tabLst>
            </a:pPr>
            <a:r>
              <a:rPr sz="2600" dirty="0">
                <a:latin typeface="Cambria"/>
              </a:rPr>
              <a:t> </a:t>
            </a:r>
          </a:p>
          <a:p>
            <a:pPr>
              <a:tabLst>
                <a:tab pos="548640" algn="l"/>
                <a:tab pos="1097280" algn="l"/>
                <a:tab pos="1645920" algn="l"/>
                <a:tab pos="2194560" algn="l"/>
              </a:tabLst>
            </a:pPr>
            <a:r>
              <a:rPr sz="2600" b="0" dirty="0">
                <a:latin typeface="Cambria"/>
              </a:rPr>
              <a:t>Rust is telling you </a:t>
            </a:r>
            <a:r>
              <a:rPr sz="2600" b="0" dirty="0" smtClean="0">
                <a:latin typeface="Cambria"/>
              </a:rPr>
              <a:t>global</a:t>
            </a:r>
            <a:r>
              <a:rPr lang="en-US" sz="2600" b="0" dirty="0" smtClean="0">
                <a:latin typeface="Cambria"/>
              </a:rPr>
              <a:t> variable</a:t>
            </a:r>
            <a:r>
              <a:rPr sz="2600" b="0" dirty="0" smtClean="0">
                <a:latin typeface="Cambria"/>
              </a:rPr>
              <a:t>s </a:t>
            </a:r>
            <a:r>
              <a:rPr sz="2600" b="0" dirty="0">
                <a:latin typeface="Cambria"/>
              </a:rPr>
              <a:t>are risky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Safe Globals in Rust</a:t>
            </a:r>
            <a:endParaRPr lang="en-US" sz="4400" b="0" u="none" strike="noStrike" dirty="0">
              <a:solidFill>
                <a:srgbClr val="000000"/>
              </a:solidFill>
              <a:effectLst/>
              <a:uFillTx/>
              <a:latin typeface="Arial"/>
            </a:endParaRPr>
          </a:p>
        </p:txBody>
      </p:sp>
      <p:sp>
        <p:nvSpPr>
          <p:cNvPr id="388" name="TextBox 387"/>
          <p:cNvSpPr txBox="1"/>
          <p:nvPr/>
        </p:nvSpPr>
        <p:spPr>
          <a:xfrm>
            <a:off x="580040" y="1949942"/>
            <a:ext cx="8974719" cy="3477875"/>
          </a:xfrm>
          <a:prstGeom prst="rect">
            <a:avLst/>
          </a:prstGeom>
          <a:noFill/>
        </p:spPr>
        <p:txBody>
          <a:bodyPr wrap="square">
            <a:spAutoFit/>
          </a:bodyPr>
          <a:lstStyle/>
          <a:p>
            <a:pPr>
              <a:tabLst>
                <a:tab pos="548640" algn="l"/>
                <a:tab pos="1097280" algn="l"/>
                <a:tab pos="1645920" algn="l"/>
                <a:tab pos="2194560" algn="l"/>
              </a:tabLst>
            </a:pPr>
            <a:r>
              <a:rPr sz="2200" b="0" dirty="0">
                <a:latin typeface="Cambria"/>
              </a:rPr>
              <a:t>use </a:t>
            </a:r>
            <a:r>
              <a:rPr sz="2200" b="0" dirty="0" err="1">
                <a:latin typeface="Cambria"/>
              </a:rPr>
              <a:t>std</a:t>
            </a:r>
            <a:r>
              <a:rPr sz="2200" b="0" dirty="0">
                <a:latin typeface="Cambria"/>
              </a:rPr>
              <a:t>::sync::atomic::{ AtomicI32, Ordering } ;</a:t>
            </a:r>
          </a:p>
          <a:p>
            <a:pPr>
              <a:tabLst>
                <a:tab pos="548640" algn="l"/>
                <a:tab pos="1097280" algn="l"/>
                <a:tab pos="1645920" algn="l"/>
                <a:tab pos="2194560" algn="l"/>
              </a:tabLst>
            </a:pPr>
            <a:r>
              <a:rPr sz="2200" dirty="0">
                <a:latin typeface="Cambria"/>
              </a:rPr>
              <a:t> </a:t>
            </a:r>
          </a:p>
          <a:p>
            <a:pPr>
              <a:tabLst>
                <a:tab pos="548640" algn="l"/>
                <a:tab pos="1097280" algn="l"/>
                <a:tab pos="1645920" algn="l"/>
                <a:tab pos="2194560" algn="l"/>
              </a:tabLst>
            </a:pPr>
            <a:r>
              <a:rPr sz="2200" b="0" dirty="0">
                <a:latin typeface="Cambria"/>
              </a:rPr>
              <a:t>static STEP_G : AtomicI32 = AtomicI32::new ( 0 ) ;</a:t>
            </a:r>
          </a:p>
          <a:p>
            <a:pPr>
              <a:tabLst>
                <a:tab pos="548640" algn="l"/>
                <a:tab pos="1097280" algn="l"/>
                <a:tab pos="1645920" algn="l"/>
                <a:tab pos="2194560" algn="l"/>
              </a:tabLst>
            </a:pPr>
            <a:r>
              <a:rPr sz="2200" dirty="0">
                <a:latin typeface="Cambria"/>
              </a:rPr>
              <a:t> </a:t>
            </a:r>
          </a:p>
          <a:p>
            <a:pPr>
              <a:tabLst>
                <a:tab pos="548640" algn="l"/>
                <a:tab pos="1097280" algn="l"/>
                <a:tab pos="1645920" algn="l"/>
                <a:tab pos="2194560" algn="l"/>
              </a:tabLst>
            </a:pPr>
            <a:r>
              <a:rPr sz="2200" b="0" dirty="0" err="1">
                <a:latin typeface="Cambria"/>
              </a:rPr>
              <a:t>STEP_G.store</a:t>
            </a:r>
            <a:r>
              <a:rPr sz="2200" b="0" dirty="0">
                <a:latin typeface="Cambria"/>
              </a:rPr>
              <a:t> ( 10, Ordering::Relaxed ) ;</a:t>
            </a:r>
          </a:p>
          <a:p>
            <a:pPr>
              <a:tabLst>
                <a:tab pos="548640" algn="l"/>
                <a:tab pos="1097280" algn="l"/>
                <a:tab pos="1645920" algn="l"/>
                <a:tab pos="2194560" algn="l"/>
              </a:tabLst>
            </a:pPr>
            <a:r>
              <a:rPr sz="2200" b="0" dirty="0">
                <a:latin typeface="Cambria"/>
              </a:rPr>
              <a:t>let s = </a:t>
            </a:r>
            <a:r>
              <a:rPr sz="2200" b="0" dirty="0" err="1">
                <a:latin typeface="Cambria"/>
              </a:rPr>
              <a:t>STEP_G.load</a:t>
            </a:r>
            <a:r>
              <a:rPr sz="2200" b="0" dirty="0">
                <a:latin typeface="Cambria"/>
              </a:rPr>
              <a:t> ( Ordering::Relaxed ) ;</a:t>
            </a:r>
          </a:p>
          <a:p>
            <a:pPr>
              <a:tabLst>
                <a:tab pos="548640" algn="l"/>
                <a:tab pos="1097280" algn="l"/>
                <a:tab pos="1645920" algn="l"/>
                <a:tab pos="2194560" algn="l"/>
              </a:tabLst>
            </a:pPr>
            <a:r>
              <a:rPr sz="2200" dirty="0">
                <a:latin typeface="Cambria"/>
              </a:rPr>
              <a:t> </a:t>
            </a:r>
          </a:p>
          <a:p>
            <a:pPr>
              <a:tabLst>
                <a:tab pos="548640" algn="l"/>
                <a:tab pos="1097280" algn="l"/>
                <a:tab pos="1645920" algn="l"/>
                <a:tab pos="2194560" algn="l"/>
              </a:tabLst>
            </a:pPr>
            <a:r>
              <a:rPr sz="2200" b="0" dirty="0">
                <a:latin typeface="Cambria"/>
              </a:rPr>
              <a:t>No unsafe - the type makes sharing </a:t>
            </a:r>
            <a:r>
              <a:rPr sz="2200" b="0" dirty="0" smtClean="0">
                <a:latin typeface="Cambria"/>
              </a:rPr>
              <a:t>safe</a:t>
            </a:r>
            <a:endParaRPr lang="en-US" sz="2200" b="0" dirty="0" smtClean="0">
              <a:latin typeface="Cambria"/>
            </a:endParaRPr>
          </a:p>
          <a:p>
            <a:pPr>
              <a:tabLst>
                <a:tab pos="548640" algn="l"/>
                <a:tab pos="1097280" algn="l"/>
                <a:tab pos="1645920" algn="l"/>
                <a:tab pos="2194560" algn="l"/>
              </a:tabLst>
            </a:pPr>
            <a:endParaRPr lang="en-US" sz="2200" dirty="0">
              <a:latin typeface="Cambria"/>
            </a:endParaRPr>
          </a:p>
          <a:p>
            <a:pPr>
              <a:tabLst>
                <a:tab pos="548640" algn="l"/>
                <a:tab pos="1097280" algn="l"/>
                <a:tab pos="1645920" algn="l"/>
                <a:tab pos="2194560" algn="l"/>
              </a:tabLst>
            </a:pPr>
            <a:r>
              <a:rPr lang="en-US" sz="2200" b="0" dirty="0" smtClean="0">
                <a:latin typeface="Cambria"/>
              </a:rPr>
              <a:t>Rust shows that your ar</a:t>
            </a:r>
            <a:r>
              <a:rPr lang="en-US" sz="2200" dirty="0" smtClean="0">
                <a:latin typeface="Cambria"/>
              </a:rPr>
              <a:t>e explicitly loading the global before you use it!</a:t>
            </a:r>
            <a:endParaRPr sz="22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Limiting Persistent Visibility</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3539430"/>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What if a persistent variable should </a:t>
            </a:r>
            <a:r>
              <a:rPr sz="2800" b="0" dirty="0" smtClean="0">
                <a:latin typeface="Cambria"/>
              </a:rPr>
              <a:t>be</a:t>
            </a:r>
            <a:r>
              <a:rPr lang="en-US" sz="2800" b="0" dirty="0" smtClean="0">
                <a:latin typeface="Cambria"/>
              </a:rPr>
              <a:t> </a:t>
            </a:r>
            <a:r>
              <a:rPr sz="2800" b="0" dirty="0" smtClean="0">
                <a:latin typeface="Cambria"/>
              </a:rPr>
              <a:t>visible </a:t>
            </a:r>
            <a:r>
              <a:rPr sz="2800" b="0" dirty="0">
                <a:latin typeface="Cambria"/>
              </a:rPr>
              <a:t>to </a:t>
            </a:r>
            <a:r>
              <a:rPr sz="2800" b="1" dirty="0">
                <a:latin typeface="Cambria"/>
              </a:rPr>
              <a:t>one file</a:t>
            </a:r>
            <a:r>
              <a:rPr sz="2800" b="0" dirty="0">
                <a:latin typeface="Cambria"/>
              </a:rPr>
              <a:t> only?</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Use a  </a:t>
            </a:r>
            <a:r>
              <a:rPr sz="2800" b="1" dirty="0">
                <a:latin typeface="Cambria"/>
              </a:rPr>
              <a:t>static</a:t>
            </a:r>
            <a:r>
              <a:rPr sz="2800" b="0" dirty="0">
                <a:latin typeface="Cambria"/>
              </a:rPr>
              <a:t>  definition:</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	static </a:t>
            </a:r>
            <a:r>
              <a:rPr sz="2800" b="0" dirty="0" err="1">
                <a:latin typeface="Cambria"/>
              </a:rPr>
              <a:t>int</a:t>
            </a:r>
            <a:r>
              <a:rPr sz="2800" b="0" dirty="0">
                <a:latin typeface="Cambria"/>
              </a:rPr>
              <a:t> </a:t>
            </a:r>
            <a:r>
              <a:rPr sz="2800" b="0" dirty="0" err="1">
                <a:latin typeface="Cambria"/>
              </a:rPr>
              <a:t>stepS</a:t>
            </a:r>
            <a:r>
              <a:rPr sz="2800" b="0" dirty="0">
                <a:latin typeface="Cambria"/>
              </a:rPr>
              <a:t> ;</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What is its scope?</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File Scope:  static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Defined outside any function</a:t>
            </a:r>
          </a:p>
          <a:p>
            <a:pPr>
              <a:tabLst>
                <a:tab pos="548640" algn="l"/>
                <a:tab pos="1097280" algn="l"/>
                <a:tab pos="1645920" algn="l"/>
                <a:tab pos="2194560" algn="l"/>
              </a:tabLst>
            </a:pPr>
            <a:r>
              <a:rPr sz="2400" b="0">
                <a:latin typeface="Cambria"/>
              </a:rPr>
              <a:t>Scope:  every function that </a:t>
            </a:r>
            <a:r>
              <a:rPr sz="2400" b="1">
                <a:latin typeface="Cambria"/>
              </a:rPr>
              <a:t>follows</a:t>
            </a:r>
            <a:r>
              <a:rPr sz="2400" b="0">
                <a:latin typeface="Cambria"/>
              </a:rPr>
              <a:t> in the file</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	static int stepS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	void my_function ( int expand ) {</a:t>
            </a:r>
          </a:p>
          <a:p>
            <a:pPr>
              <a:tabLst>
                <a:tab pos="548640" algn="l"/>
                <a:tab pos="1097280" algn="l"/>
                <a:tab pos="1645920" algn="l"/>
                <a:tab pos="2194560" algn="l"/>
              </a:tabLst>
            </a:pPr>
            <a:r>
              <a:rPr sz="2400" b="0">
                <a:latin typeface="Cambria"/>
              </a:rPr>
              <a:t>		stepS = expand ;</a:t>
            </a:r>
          </a:p>
          <a:p>
            <a:pPr>
              <a:tabLst>
                <a:tab pos="548640" algn="l"/>
                <a:tab pos="1097280" algn="l"/>
                <a:tab pos="1645920" algn="l"/>
                <a:tab pos="2194560" algn="l"/>
              </a:tabLst>
            </a:pPr>
            <a:r>
              <a:rPr sz="2400" b="0">
                <a:latin typeface="Cambria"/>
              </a:rPr>
              <a:t>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Other files cannot reach it, even with extern</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File Scope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500" b="0">
                <a:latin typeface="Cambria"/>
              </a:rPr>
              <a:t>static  works as in C</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Preferred:  an </a:t>
            </a:r>
            <a:r>
              <a:rPr sz="2500" b="1">
                <a:latin typeface="Cambria"/>
              </a:rPr>
              <a:t>unnamed namespace</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	namespace {</a:t>
            </a:r>
          </a:p>
          <a:p>
            <a:pPr>
              <a:tabLst>
                <a:tab pos="548640" algn="l"/>
                <a:tab pos="1097280" algn="l"/>
                <a:tab pos="1645920" algn="l"/>
                <a:tab pos="2194560" algn="l"/>
              </a:tabLst>
            </a:pPr>
            <a:r>
              <a:rPr sz="2500" b="0">
                <a:latin typeface="Cambria"/>
              </a:rPr>
              <a:t>		int stepS ;</a:t>
            </a:r>
          </a:p>
          <a:p>
            <a:pPr>
              <a:tabLst>
                <a:tab pos="548640" algn="l"/>
                <a:tab pos="1097280" algn="l"/>
                <a:tab pos="1645920" algn="l"/>
                <a:tab pos="2194560" algn="l"/>
              </a:tabLst>
            </a:pPr>
            <a:r>
              <a:rPr sz="2500" b="0">
                <a:latin typeface="Cambria"/>
              </a:rPr>
              <a:t>	}</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Everything inside is private to this file</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Module Scope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308324"/>
          </a:xfrm>
          <a:prstGeom prst="rect">
            <a:avLst/>
          </a:prstGeom>
          <a:noFill/>
        </p:spPr>
        <p:txBody>
          <a:bodyPr wrap="square">
            <a:spAutoFit/>
          </a:bodyPr>
          <a:lstStyle/>
          <a:p>
            <a:pPr>
              <a:tabLst>
                <a:tab pos="548640" algn="l"/>
                <a:tab pos="4663440" algn="l"/>
              </a:tabLst>
            </a:pPr>
            <a:r>
              <a:rPr sz="2400" b="0" dirty="0">
                <a:latin typeface="Cambria"/>
              </a:rPr>
              <a:t>Everything is </a:t>
            </a:r>
            <a:r>
              <a:rPr sz="2400" b="1" dirty="0">
                <a:latin typeface="Cambria"/>
              </a:rPr>
              <a:t>private</a:t>
            </a:r>
            <a:r>
              <a:rPr sz="2400" b="0" dirty="0">
                <a:latin typeface="Cambria"/>
              </a:rPr>
              <a:t> to its </a:t>
            </a:r>
            <a:r>
              <a:rPr sz="2400" b="0" dirty="0" smtClean="0">
                <a:latin typeface="Cambria"/>
              </a:rPr>
              <a:t>module</a:t>
            </a:r>
            <a:r>
              <a:rPr lang="en-US" sz="2400" b="0" dirty="0" smtClean="0">
                <a:latin typeface="Cambria"/>
              </a:rPr>
              <a:t> </a:t>
            </a:r>
            <a:r>
              <a:rPr sz="2400" b="0" dirty="0" smtClean="0">
                <a:latin typeface="Cambria"/>
              </a:rPr>
              <a:t>unless </a:t>
            </a:r>
            <a:r>
              <a:rPr sz="2400" b="0" dirty="0">
                <a:latin typeface="Cambria"/>
              </a:rPr>
              <a:t>marked  </a:t>
            </a:r>
            <a:r>
              <a:rPr sz="2400" b="1" dirty="0">
                <a:latin typeface="Cambria"/>
              </a:rPr>
              <a:t>pub</a:t>
            </a:r>
          </a:p>
          <a:p>
            <a:pPr>
              <a:tabLst>
                <a:tab pos="548640" algn="l"/>
                <a:tab pos="4663440" algn="l"/>
              </a:tabLst>
            </a:pPr>
            <a:r>
              <a:rPr sz="2400" dirty="0">
                <a:latin typeface="Cambria"/>
              </a:rPr>
              <a:t> </a:t>
            </a:r>
          </a:p>
          <a:p>
            <a:pPr>
              <a:tabLst>
                <a:tab pos="548640" algn="l"/>
                <a:tab pos="4663440" algn="l"/>
              </a:tabLst>
            </a:pPr>
            <a:r>
              <a:rPr sz="2400" b="0" dirty="0">
                <a:latin typeface="Cambria"/>
              </a:rPr>
              <a:t>	static STEP_S : i32 = 0 ;	this module only</a:t>
            </a:r>
          </a:p>
          <a:p>
            <a:pPr>
              <a:tabLst>
                <a:tab pos="548640" algn="l"/>
                <a:tab pos="4663440" algn="l"/>
              </a:tabLst>
            </a:pPr>
            <a:r>
              <a:rPr sz="2400" b="0" dirty="0">
                <a:latin typeface="Cambria"/>
              </a:rPr>
              <a:t>	pub static STEP_G : i32 = 0 ;	visible to other modules</a:t>
            </a:r>
          </a:p>
          <a:p>
            <a:pPr>
              <a:tabLst>
                <a:tab pos="548640" algn="l"/>
                <a:tab pos="4663440" algn="l"/>
              </a:tabLst>
            </a:pPr>
            <a:r>
              <a:rPr sz="2400" dirty="0">
                <a:latin typeface="Cambria"/>
              </a:rPr>
              <a:t> </a:t>
            </a:r>
          </a:p>
          <a:p>
            <a:pPr>
              <a:tabLst>
                <a:tab pos="548640" algn="l"/>
                <a:tab pos="4663440" algn="l"/>
              </a:tabLst>
            </a:pPr>
            <a:r>
              <a:rPr sz="2400" b="0" dirty="0">
                <a:latin typeface="Cambria"/>
              </a:rPr>
              <a:t>Rust's default is C's  static</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Limiting Function Visibility</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500" b="0">
                <a:latin typeface="Cambria"/>
              </a:rPr>
              <a:t>A function can be private to its file too</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Declaration:</a:t>
            </a:r>
          </a:p>
          <a:p>
            <a:pPr>
              <a:tabLst>
                <a:tab pos="548640" algn="l"/>
                <a:tab pos="1097280" algn="l"/>
                <a:tab pos="1645920" algn="l"/>
                <a:tab pos="2194560" algn="l"/>
              </a:tabLst>
            </a:pPr>
            <a:r>
              <a:rPr sz="2500" b="0">
                <a:latin typeface="Cambria"/>
              </a:rPr>
              <a:t>	static &lt;return_type&gt; &lt;name&gt; ( arglist ) ;</a:t>
            </a:r>
          </a:p>
          <a:p>
            <a:pPr>
              <a:tabLst>
                <a:tab pos="548640" algn="l"/>
                <a:tab pos="1097280" algn="l"/>
                <a:tab pos="1645920" algn="l"/>
                <a:tab pos="2194560" algn="l"/>
              </a:tabLst>
            </a:pPr>
            <a:r>
              <a:rPr sz="2500">
                <a:latin typeface="Cambria"/>
              </a:rPr>
              <a:t> </a:t>
            </a:r>
          </a:p>
          <a:p>
            <a:pPr>
              <a:tabLst>
                <a:tab pos="548640" algn="l"/>
                <a:tab pos="1097280" algn="l"/>
                <a:tab pos="1645920" algn="l"/>
                <a:tab pos="2194560" algn="l"/>
              </a:tabLst>
            </a:pPr>
            <a:r>
              <a:rPr sz="2500" b="0">
                <a:latin typeface="Cambria"/>
              </a:rPr>
              <a:t>Definition:</a:t>
            </a:r>
          </a:p>
          <a:p>
            <a:pPr>
              <a:tabLst>
                <a:tab pos="548640" algn="l"/>
                <a:tab pos="1097280" algn="l"/>
                <a:tab pos="1645920" algn="l"/>
                <a:tab pos="2194560" algn="l"/>
              </a:tabLst>
            </a:pPr>
            <a:r>
              <a:rPr sz="2500" b="0">
                <a:latin typeface="Cambria"/>
              </a:rPr>
              <a:t>	static &lt;return_type&gt; &lt;name&gt; ( arglist ) {</a:t>
            </a:r>
          </a:p>
          <a:p>
            <a:pPr>
              <a:tabLst>
                <a:tab pos="548640" algn="l"/>
                <a:tab pos="1097280" algn="l"/>
                <a:tab pos="1645920" algn="l"/>
                <a:tab pos="2194560" algn="l"/>
              </a:tabLst>
            </a:pPr>
            <a:r>
              <a:rPr sz="2500" b="0">
                <a:latin typeface="Cambria"/>
              </a:rPr>
              <a:t>		...</a:t>
            </a:r>
          </a:p>
          <a:p>
            <a:pPr>
              <a:tabLst>
                <a:tab pos="548640" algn="l"/>
                <a:tab pos="1097280" algn="l"/>
                <a:tab pos="1645920" algn="l"/>
                <a:tab pos="2194560" algn="l"/>
              </a:tabLst>
            </a:pPr>
            <a:r>
              <a:rPr sz="2500" b="0">
                <a:latin typeface="Cambria"/>
              </a:rPr>
              <a:t>	}</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 Private Function</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554819"/>
          </a:xfrm>
          <a:prstGeom prst="rect">
            <a:avLst/>
          </a:prstGeom>
          <a:noFill/>
        </p:spPr>
        <p:txBody>
          <a:bodyPr wrap="square">
            <a:spAutoFit/>
          </a:bodyPr>
          <a:lstStyle/>
          <a:p>
            <a:pPr>
              <a:tabLst>
                <a:tab pos="548640" algn="l"/>
                <a:tab pos="1097280" algn="l"/>
                <a:tab pos="1645920" algn="l"/>
                <a:tab pos="2194560" algn="l"/>
              </a:tabLst>
            </a:pPr>
            <a:r>
              <a:rPr sz="2500" b="0" dirty="0">
                <a:latin typeface="Cambria"/>
              </a:rPr>
              <a:t>file:  </a:t>
            </a:r>
            <a:r>
              <a:rPr sz="2500" b="0" dirty="0" err="1">
                <a:latin typeface="Cambria"/>
              </a:rPr>
              <a:t>compute.c</a:t>
            </a:r>
            <a:endParaRPr sz="2500" b="0" dirty="0">
              <a:latin typeface="Cambria"/>
            </a:endParaRP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	static </a:t>
            </a:r>
            <a:r>
              <a:rPr sz="2500" b="0" dirty="0" err="1">
                <a:latin typeface="Cambria"/>
              </a:rPr>
              <a:t>int</a:t>
            </a:r>
            <a:r>
              <a:rPr sz="2500" b="0" dirty="0">
                <a:latin typeface="Cambria"/>
              </a:rPr>
              <a:t> </a:t>
            </a:r>
            <a:r>
              <a:rPr sz="2500" b="0" dirty="0" err="1">
                <a:latin typeface="Cambria"/>
              </a:rPr>
              <a:t>my_static_func</a:t>
            </a:r>
            <a:r>
              <a:rPr sz="2500" b="0" dirty="0">
                <a:latin typeface="Cambria"/>
              </a:rPr>
              <a:t> ( </a:t>
            </a:r>
            <a:r>
              <a:rPr sz="2500" b="0" dirty="0" err="1">
                <a:latin typeface="Cambria"/>
              </a:rPr>
              <a:t>int</a:t>
            </a:r>
            <a:r>
              <a:rPr sz="2500" b="0" dirty="0">
                <a:latin typeface="Cambria"/>
              </a:rPr>
              <a:t> x ) {</a:t>
            </a:r>
          </a:p>
          <a:p>
            <a:pPr>
              <a:tabLst>
                <a:tab pos="548640" algn="l"/>
                <a:tab pos="1097280" algn="l"/>
                <a:tab pos="1645920" algn="l"/>
                <a:tab pos="2194560" algn="l"/>
              </a:tabLst>
            </a:pPr>
            <a:r>
              <a:rPr sz="2500" b="0" dirty="0">
                <a:latin typeface="Cambria"/>
              </a:rPr>
              <a:t>		return ( x * x ) - 1 ;</a:t>
            </a:r>
          </a:p>
          <a:p>
            <a:pPr>
              <a:tabLst>
                <a:tab pos="548640" algn="l"/>
                <a:tab pos="1097280" algn="l"/>
                <a:tab pos="1645920" algn="l"/>
                <a:tab pos="2194560" algn="l"/>
              </a:tabLst>
            </a:pPr>
            <a:r>
              <a:rPr sz="2500" b="0" dirty="0">
                <a:latin typeface="Cambria"/>
              </a:rPr>
              <a:t>	}</a:t>
            </a:r>
          </a:p>
          <a:p>
            <a:pPr>
              <a:tabLst>
                <a:tab pos="548640" algn="l"/>
                <a:tab pos="1097280" algn="l"/>
                <a:tab pos="1645920" algn="l"/>
                <a:tab pos="2194560" algn="l"/>
              </a:tabLst>
            </a:pPr>
            <a:r>
              <a:rPr sz="2500" dirty="0">
                <a:latin typeface="Cambria"/>
              </a:rPr>
              <a:t> </a:t>
            </a:r>
          </a:p>
          <a:p>
            <a:pPr>
              <a:tabLst>
                <a:tab pos="548640" algn="l"/>
                <a:tab pos="1097280" algn="l"/>
                <a:tab pos="1645920" algn="l"/>
                <a:tab pos="2194560" algn="l"/>
              </a:tabLst>
            </a:pPr>
            <a:r>
              <a:rPr sz="2500" b="0" dirty="0">
                <a:latin typeface="Cambria"/>
              </a:rPr>
              <a:t>This function only exists in  </a:t>
            </a:r>
            <a:r>
              <a:rPr sz="2500" b="1" dirty="0" err="1">
                <a:latin typeface="Cambria"/>
              </a:rPr>
              <a:t>compute.o</a:t>
            </a:r>
            <a:endParaRPr sz="2500" b="1" dirty="0">
              <a:latin typeface="Cambria"/>
            </a:endParaRPr>
          </a:p>
          <a:p>
            <a:pPr>
              <a:tabLst>
                <a:tab pos="548640" algn="l"/>
                <a:tab pos="1097280" algn="l"/>
                <a:tab pos="1645920" algn="l"/>
                <a:tab pos="2194560" algn="l"/>
              </a:tabLst>
            </a:pPr>
            <a:endParaRPr lang="en-US" sz="2500" b="0" dirty="0" smtClean="0">
              <a:latin typeface="Cambria"/>
            </a:endParaRPr>
          </a:p>
          <a:p>
            <a:pPr>
              <a:tabLst>
                <a:tab pos="548640" algn="l"/>
                <a:tab pos="1097280" algn="l"/>
                <a:tab pos="1645920" algn="l"/>
                <a:tab pos="2194560" algn="l"/>
              </a:tabLst>
            </a:pPr>
            <a:r>
              <a:rPr sz="2500" b="0" dirty="0" smtClean="0">
                <a:latin typeface="Cambria"/>
              </a:rPr>
              <a:t>No </a:t>
            </a:r>
            <a:r>
              <a:rPr sz="2500" b="0" dirty="0">
                <a:latin typeface="Cambria"/>
              </a:rPr>
              <a:t>other file can call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Private Functions in C++ and Rust</a:t>
            </a:r>
            <a:endParaRPr lang="en-US" sz="3600" b="0" u="none" strike="noStrike" dirty="0">
              <a:solidFill>
                <a:srgbClr val="000000"/>
              </a:solidFill>
              <a:effectLst/>
              <a:uFillTx/>
              <a:latin typeface="Arial"/>
            </a:endParaRPr>
          </a:p>
        </p:txBody>
      </p:sp>
      <p:sp>
        <p:nvSpPr>
          <p:cNvPr id="388" name="TextBox 387"/>
          <p:cNvSpPr txBox="1"/>
          <p:nvPr/>
        </p:nvSpPr>
        <p:spPr>
          <a:xfrm>
            <a:off x="580041" y="1949942"/>
            <a:ext cx="8135334" cy="3046988"/>
          </a:xfrm>
          <a:prstGeom prst="rect">
            <a:avLst/>
          </a:prstGeom>
          <a:noFill/>
        </p:spPr>
        <p:txBody>
          <a:bodyPr wrap="square">
            <a:spAutoFit/>
          </a:bodyPr>
          <a:lstStyle/>
          <a:p>
            <a:pPr>
              <a:tabLst>
                <a:tab pos="548640" algn="l"/>
                <a:tab pos="3657600" algn="l"/>
              </a:tabLst>
            </a:pPr>
            <a:r>
              <a:rPr sz="2400" b="0" dirty="0">
                <a:latin typeface="Cambria"/>
              </a:rPr>
              <a:t>C++:</a:t>
            </a:r>
          </a:p>
          <a:p>
            <a:pPr>
              <a:tabLst>
                <a:tab pos="548640" algn="l"/>
                <a:tab pos="3657600" algn="l"/>
              </a:tabLst>
            </a:pPr>
            <a:r>
              <a:rPr sz="2400" b="0" dirty="0">
                <a:latin typeface="Cambria"/>
              </a:rPr>
              <a:t>	static  or an unnamed namespace</a:t>
            </a:r>
          </a:p>
          <a:p>
            <a:pPr>
              <a:tabLst>
                <a:tab pos="548640" algn="l"/>
                <a:tab pos="3657600" algn="l"/>
              </a:tabLst>
            </a:pPr>
            <a:r>
              <a:rPr sz="2400" b="0" dirty="0">
                <a:latin typeface="Cambria"/>
              </a:rPr>
              <a:t>	private:  member functions of a class</a:t>
            </a:r>
          </a:p>
          <a:p>
            <a:pPr>
              <a:tabLst>
                <a:tab pos="548640" algn="l"/>
                <a:tab pos="3657600" algn="l"/>
              </a:tabLst>
            </a:pPr>
            <a:r>
              <a:rPr sz="2400" dirty="0">
                <a:latin typeface="Cambria"/>
              </a:rPr>
              <a:t> </a:t>
            </a:r>
          </a:p>
          <a:p>
            <a:pPr>
              <a:tabLst>
                <a:tab pos="548640" algn="l"/>
                <a:tab pos="3657600" algn="l"/>
              </a:tabLst>
            </a:pPr>
            <a:r>
              <a:rPr sz="2400" b="0" dirty="0">
                <a:latin typeface="Cambria"/>
              </a:rPr>
              <a:t>Rust:</a:t>
            </a:r>
          </a:p>
          <a:p>
            <a:pPr>
              <a:tabLst>
                <a:tab pos="548640" algn="l"/>
                <a:tab pos="3657600" algn="l"/>
              </a:tabLst>
            </a:pPr>
            <a:r>
              <a:rPr sz="2400" b="0" dirty="0">
                <a:latin typeface="Cambria"/>
              </a:rPr>
              <a:t>	</a:t>
            </a:r>
            <a:r>
              <a:rPr sz="2400" b="0" dirty="0" err="1">
                <a:latin typeface="Cambria"/>
              </a:rPr>
              <a:t>fn</a:t>
            </a:r>
            <a:r>
              <a:rPr sz="2400" b="0" dirty="0">
                <a:latin typeface="Cambria"/>
              </a:rPr>
              <a:t> helper ( )	private to the module</a:t>
            </a:r>
          </a:p>
          <a:p>
            <a:pPr>
              <a:tabLst>
                <a:tab pos="548640" algn="l"/>
                <a:tab pos="3657600" algn="l"/>
              </a:tabLst>
            </a:pPr>
            <a:r>
              <a:rPr sz="2400" b="0" dirty="0">
                <a:latin typeface="Cambria"/>
              </a:rPr>
              <a:t>	pub </a:t>
            </a:r>
            <a:r>
              <a:rPr sz="2400" b="0" dirty="0" err="1">
                <a:latin typeface="Cambria"/>
              </a:rPr>
              <a:t>fn</a:t>
            </a:r>
            <a:r>
              <a:rPr sz="2400" b="0" dirty="0">
                <a:latin typeface="Cambria"/>
              </a:rPr>
              <a:t> </a:t>
            </a:r>
            <a:r>
              <a:rPr sz="2400" b="0" dirty="0" err="1">
                <a:latin typeface="Cambria"/>
              </a:rPr>
              <a:t>api</a:t>
            </a:r>
            <a:r>
              <a:rPr sz="2400" b="0" dirty="0">
                <a:latin typeface="Cambria"/>
              </a:rPr>
              <a:t> ( )	visible to other modules</a:t>
            </a:r>
          </a:p>
          <a:p>
            <a:pPr>
              <a:tabLst>
                <a:tab pos="548640" algn="l"/>
                <a:tab pos="3657600" algn="l"/>
              </a:tabLst>
            </a:pPr>
            <a:r>
              <a:rPr sz="2400" b="0" dirty="0">
                <a:latin typeface="Cambria"/>
              </a:rPr>
              <a:t>	pub(crate) </a:t>
            </a:r>
            <a:r>
              <a:rPr sz="2400" b="0" dirty="0" err="1">
                <a:latin typeface="Cambria"/>
              </a:rPr>
              <a:t>fn</a:t>
            </a:r>
            <a:r>
              <a:rPr sz="2400" b="0" dirty="0">
                <a:latin typeface="Cambria"/>
              </a:rPr>
              <a:t> tool ( )	visible in this </a:t>
            </a:r>
            <a:r>
              <a:rPr sz="2400" b="1" dirty="0">
                <a:latin typeface="Cambria"/>
              </a:rPr>
              <a:t>crate</a:t>
            </a:r>
            <a:r>
              <a:rPr sz="2400" b="0" dirty="0">
                <a:latin typeface="Cambria"/>
              </a:rPr>
              <a:t> only</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Is a Crate?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9144062" cy="4401205"/>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The </a:t>
            </a:r>
            <a:r>
              <a:rPr sz="2800" b="1" dirty="0">
                <a:latin typeface="Cambria"/>
              </a:rPr>
              <a:t>unit of compilation</a:t>
            </a:r>
            <a:r>
              <a:rPr sz="2800" b="0" dirty="0">
                <a:latin typeface="Cambria"/>
              </a:rPr>
              <a:t> in Rust</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One crate  =  one run of  </a:t>
            </a:r>
            <a:r>
              <a:rPr sz="2800" b="0" dirty="0" err="1">
                <a:latin typeface="Cambria"/>
              </a:rPr>
              <a:t>rustc</a:t>
            </a:r>
            <a:endParaRPr sz="2800" b="0" dirty="0">
              <a:latin typeface="Cambria"/>
            </a:endParaRP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Produces either an </a:t>
            </a:r>
            <a:r>
              <a:rPr sz="2800" b="1" dirty="0" smtClean="0">
                <a:latin typeface="Cambria"/>
              </a:rPr>
              <a:t>executable</a:t>
            </a:r>
            <a:r>
              <a:rPr lang="en-US" sz="2800" b="1" dirty="0" smtClean="0">
                <a:latin typeface="Cambria"/>
              </a:rPr>
              <a:t> </a:t>
            </a:r>
            <a:r>
              <a:rPr sz="2800" b="0" dirty="0" smtClean="0">
                <a:latin typeface="Cambria"/>
              </a:rPr>
              <a:t>or </a:t>
            </a:r>
            <a:r>
              <a:rPr sz="2800" b="0" dirty="0">
                <a:latin typeface="Cambria"/>
              </a:rPr>
              <a:t>a </a:t>
            </a:r>
            <a:r>
              <a:rPr sz="2800" b="1" dirty="0">
                <a:latin typeface="Cambria"/>
              </a:rPr>
              <a:t>library</a:t>
            </a:r>
            <a:r>
              <a:rPr sz="2800" b="0" dirty="0">
                <a:latin typeface="Cambria"/>
              </a:rPr>
              <a:t> other crates can use</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A crate may be one file or </a:t>
            </a:r>
            <a:r>
              <a:rPr sz="2800" b="0" dirty="0" smtClean="0">
                <a:latin typeface="Cambria"/>
              </a:rPr>
              <a:t>hundreds</a:t>
            </a:r>
            <a:endParaRPr lang="en-US" sz="2800" b="0" dirty="0" smtClean="0">
              <a:latin typeface="Cambria"/>
            </a:endParaRPr>
          </a:p>
          <a:p>
            <a:pPr>
              <a:tabLst>
                <a:tab pos="548640" algn="l"/>
                <a:tab pos="1097280" algn="l"/>
                <a:tab pos="1645920" algn="l"/>
                <a:tab pos="2194560" algn="l"/>
              </a:tabLst>
            </a:pPr>
            <a:endParaRPr lang="en-US" sz="2800" dirty="0">
              <a:latin typeface="Cambria"/>
            </a:endParaRPr>
          </a:p>
          <a:p>
            <a:pPr>
              <a:tabLst>
                <a:tab pos="548640" algn="l"/>
                <a:tab pos="1097280" algn="l"/>
                <a:tab pos="1645920" algn="l"/>
                <a:tab pos="2194560" algn="l"/>
              </a:tabLst>
            </a:pPr>
            <a:r>
              <a:rPr lang="en-US" sz="2800" b="0" dirty="0" smtClean="0">
                <a:latin typeface="Cambria"/>
              </a:rPr>
              <a:t>Rust sees all the files of a crate at once</a:t>
            </a:r>
            <a:endParaRPr sz="2800" b="0" dirty="0">
              <a:latin typeface="Cambria"/>
            </a:endParaRPr>
          </a:p>
        </p:txBody>
      </p:sp>
    </p:spTree>
    <p:extLst>
      <p:ext uri="{BB962C8B-B14F-4D97-AF65-F5344CB8AC3E}">
        <p14:creationId xmlns:p14="http://schemas.microsoft.com/office/powerpoint/2010/main" val="169372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Global and Static:  main.c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023360" algn="l"/>
              </a:tabLst>
            </a:pPr>
            <a:r>
              <a:rPr sz="1900" b="0" dirty="0">
                <a:latin typeface="Cambria"/>
              </a:rPr>
              <a:t>#include &lt;</a:t>
            </a:r>
            <a:r>
              <a:rPr sz="1900" b="0" dirty="0" err="1">
                <a:latin typeface="Cambria"/>
              </a:rPr>
              <a:t>stdio.h</a:t>
            </a:r>
            <a:r>
              <a:rPr sz="1900" b="0" dirty="0">
                <a:latin typeface="Cambria"/>
              </a:rPr>
              <a:t>&gt;</a:t>
            </a:r>
          </a:p>
          <a:p>
            <a:pPr>
              <a:tabLst>
                <a:tab pos="548640" algn="l"/>
                <a:tab pos="4023360" algn="l"/>
              </a:tabLst>
            </a:pPr>
            <a:r>
              <a:rPr sz="1900" b="0" dirty="0">
                <a:latin typeface="Cambria"/>
              </a:rPr>
              <a:t>extern void </a:t>
            </a:r>
            <a:r>
              <a:rPr sz="1900" b="0" dirty="0" err="1">
                <a:latin typeface="Cambria"/>
              </a:rPr>
              <a:t>my_sub</a:t>
            </a:r>
            <a:r>
              <a:rPr sz="1900" b="0" dirty="0">
                <a:latin typeface="Cambria"/>
              </a:rPr>
              <a:t> ( void ) ;</a:t>
            </a:r>
          </a:p>
          <a:p>
            <a:pPr>
              <a:tabLst>
                <a:tab pos="548640" algn="l"/>
                <a:tab pos="4023360" algn="l"/>
              </a:tabLst>
            </a:pPr>
            <a:r>
              <a:rPr sz="1900" b="0" dirty="0" err="1">
                <a:latin typeface="Cambria"/>
              </a:rPr>
              <a:t>int</a:t>
            </a:r>
            <a:r>
              <a:rPr sz="1900" b="0" dirty="0">
                <a:latin typeface="Cambria"/>
              </a:rPr>
              <a:t> </a:t>
            </a:r>
            <a:r>
              <a:rPr sz="1900" b="0" dirty="0" err="1">
                <a:latin typeface="Cambria"/>
              </a:rPr>
              <a:t>countG</a:t>
            </a:r>
            <a:r>
              <a:rPr sz="1900" b="0" dirty="0">
                <a:latin typeface="Cambria"/>
              </a:rPr>
              <a:t> ;	global definition</a:t>
            </a:r>
          </a:p>
          <a:p>
            <a:pPr>
              <a:tabLst>
                <a:tab pos="548640" algn="l"/>
                <a:tab pos="4023360" algn="l"/>
              </a:tabLst>
            </a:pPr>
            <a:r>
              <a:rPr sz="1900" b="0" dirty="0">
                <a:latin typeface="Cambria"/>
              </a:rPr>
              <a:t>static </a:t>
            </a:r>
            <a:r>
              <a:rPr sz="1900" b="0" dirty="0" err="1">
                <a:latin typeface="Cambria"/>
              </a:rPr>
              <a:t>int</a:t>
            </a:r>
            <a:r>
              <a:rPr sz="1900" b="0" dirty="0">
                <a:latin typeface="Cambria"/>
              </a:rPr>
              <a:t> </a:t>
            </a:r>
            <a:r>
              <a:rPr sz="1900" b="0" dirty="0" err="1">
                <a:latin typeface="Cambria"/>
              </a:rPr>
              <a:t>resetS</a:t>
            </a:r>
            <a:r>
              <a:rPr sz="1900" b="0" dirty="0">
                <a:latin typeface="Cambria"/>
              </a:rPr>
              <a:t> ;	static definition</a:t>
            </a:r>
          </a:p>
          <a:p>
            <a:pPr>
              <a:tabLst>
                <a:tab pos="548640" algn="l"/>
                <a:tab pos="4023360" algn="l"/>
              </a:tabLst>
            </a:pPr>
            <a:r>
              <a:rPr sz="1900" dirty="0">
                <a:latin typeface="Cambria"/>
              </a:rPr>
              <a:t> </a:t>
            </a:r>
          </a:p>
          <a:p>
            <a:pPr>
              <a:tabLst>
                <a:tab pos="548640" algn="l"/>
                <a:tab pos="4023360" algn="l"/>
              </a:tabLst>
            </a:pPr>
            <a:r>
              <a:rPr sz="1900" b="0" dirty="0" err="1">
                <a:latin typeface="Cambria"/>
              </a:rPr>
              <a:t>int</a:t>
            </a:r>
            <a:r>
              <a:rPr sz="1900" b="0" dirty="0">
                <a:latin typeface="Cambria"/>
              </a:rPr>
              <a:t> main ( </a:t>
            </a:r>
            <a:r>
              <a:rPr sz="1900" b="0" dirty="0" err="1">
                <a:latin typeface="Cambria"/>
              </a:rPr>
              <a:t>int</a:t>
            </a:r>
            <a:r>
              <a:rPr sz="1900" b="0" dirty="0">
                <a:latin typeface="Cambria"/>
              </a:rPr>
              <a:t> </a:t>
            </a:r>
            <a:r>
              <a:rPr sz="1900" b="0" dirty="0" err="1">
                <a:latin typeface="Cambria"/>
              </a:rPr>
              <a:t>argc</a:t>
            </a:r>
            <a:r>
              <a:rPr sz="1900" b="0" dirty="0">
                <a:latin typeface="Cambria"/>
              </a:rPr>
              <a:t>, char *</a:t>
            </a:r>
            <a:r>
              <a:rPr sz="1900" b="0" dirty="0" err="1">
                <a:latin typeface="Cambria"/>
              </a:rPr>
              <a:t>argv</a:t>
            </a:r>
            <a:r>
              <a:rPr sz="1900" b="0" dirty="0">
                <a:latin typeface="Cambria"/>
              </a:rPr>
              <a:t>[] ) {</a:t>
            </a:r>
          </a:p>
          <a:p>
            <a:pPr>
              <a:tabLst>
                <a:tab pos="548640" algn="l"/>
                <a:tab pos="4023360" algn="l"/>
              </a:tabLst>
            </a:pPr>
            <a:r>
              <a:rPr sz="1900" b="0" dirty="0">
                <a:latin typeface="Cambria"/>
              </a:rPr>
              <a:t>	</a:t>
            </a:r>
            <a:r>
              <a:rPr sz="1900" b="0" dirty="0" err="1">
                <a:latin typeface="Cambria"/>
              </a:rPr>
              <a:t>countG</a:t>
            </a:r>
            <a:r>
              <a:rPr sz="1900" b="0" dirty="0">
                <a:latin typeface="Cambria"/>
              </a:rPr>
              <a:t> = 1 ;</a:t>
            </a:r>
          </a:p>
          <a:p>
            <a:pPr>
              <a:tabLst>
                <a:tab pos="548640" algn="l"/>
                <a:tab pos="4023360" algn="l"/>
              </a:tabLst>
            </a:pPr>
            <a:r>
              <a:rPr sz="1900" b="0" dirty="0">
                <a:latin typeface="Cambria"/>
              </a:rPr>
              <a:t>	</a:t>
            </a:r>
            <a:r>
              <a:rPr sz="1900" b="0" dirty="0" err="1">
                <a:latin typeface="Cambria"/>
              </a:rPr>
              <a:t>resetS</a:t>
            </a:r>
            <a:r>
              <a:rPr sz="1900" b="0" dirty="0">
                <a:latin typeface="Cambria"/>
              </a:rPr>
              <a:t> = 1 ;</a:t>
            </a:r>
          </a:p>
          <a:p>
            <a:pPr>
              <a:tabLst>
                <a:tab pos="548640" algn="l"/>
                <a:tab pos="4023360" algn="l"/>
              </a:tabLst>
            </a:pPr>
            <a:r>
              <a:rPr sz="1900" b="0" dirty="0">
                <a:latin typeface="Cambria"/>
              </a:rPr>
              <a:t>	</a:t>
            </a:r>
            <a:r>
              <a:rPr sz="1900" b="0" dirty="0" err="1">
                <a:latin typeface="Cambria"/>
              </a:rPr>
              <a:t>my_sub</a:t>
            </a:r>
            <a:r>
              <a:rPr sz="1900" b="0" dirty="0">
                <a:latin typeface="Cambria"/>
              </a:rPr>
              <a:t> ( ) ;</a:t>
            </a:r>
          </a:p>
          <a:p>
            <a:pPr>
              <a:tabLst>
                <a:tab pos="548640" algn="l"/>
                <a:tab pos="4023360" algn="l"/>
              </a:tabLst>
            </a:pPr>
            <a:r>
              <a:rPr sz="1900" b="0" dirty="0">
                <a:latin typeface="Cambria"/>
              </a:rPr>
              <a:t>	</a:t>
            </a:r>
            <a:r>
              <a:rPr sz="1900" b="0" dirty="0" err="1">
                <a:latin typeface="Cambria"/>
              </a:rPr>
              <a:t>fprintf</a:t>
            </a:r>
            <a:r>
              <a:rPr sz="1900" b="0" dirty="0">
                <a:latin typeface="Cambria"/>
              </a:rPr>
              <a:t> ( </a:t>
            </a:r>
            <a:r>
              <a:rPr sz="1900" b="0" dirty="0" err="1">
                <a:latin typeface="Cambria"/>
              </a:rPr>
              <a:t>stderr</a:t>
            </a:r>
            <a:r>
              <a:rPr sz="1900" b="0" dirty="0">
                <a:latin typeface="Cambria"/>
              </a:rPr>
              <a:t>, "</a:t>
            </a:r>
            <a:r>
              <a:rPr sz="1900" b="0" dirty="0" err="1">
                <a:latin typeface="Cambria"/>
              </a:rPr>
              <a:t>countG</a:t>
            </a:r>
            <a:r>
              <a:rPr sz="1900" b="0" dirty="0">
                <a:latin typeface="Cambria"/>
              </a:rPr>
              <a:t> is %d not 1\n", </a:t>
            </a:r>
            <a:r>
              <a:rPr sz="1900" b="0" dirty="0" err="1">
                <a:latin typeface="Cambria"/>
              </a:rPr>
              <a:t>countG</a:t>
            </a:r>
            <a:r>
              <a:rPr sz="1900" b="0" dirty="0">
                <a:latin typeface="Cambria"/>
              </a:rPr>
              <a:t> ) ;</a:t>
            </a:r>
          </a:p>
          <a:p>
            <a:pPr>
              <a:tabLst>
                <a:tab pos="548640" algn="l"/>
                <a:tab pos="4023360" algn="l"/>
              </a:tabLst>
            </a:pPr>
            <a:r>
              <a:rPr sz="1900" b="0" dirty="0">
                <a:latin typeface="Cambria"/>
              </a:rPr>
              <a:t>	</a:t>
            </a:r>
            <a:r>
              <a:rPr sz="1900" b="0" dirty="0" err="1">
                <a:latin typeface="Cambria"/>
              </a:rPr>
              <a:t>fprintf</a:t>
            </a:r>
            <a:r>
              <a:rPr sz="1900" b="0" dirty="0">
                <a:latin typeface="Cambria"/>
              </a:rPr>
              <a:t> ( </a:t>
            </a:r>
            <a:r>
              <a:rPr sz="1900" b="0" dirty="0" err="1">
                <a:latin typeface="Cambria"/>
              </a:rPr>
              <a:t>stderr</a:t>
            </a:r>
            <a:r>
              <a:rPr sz="1900" b="0" dirty="0">
                <a:latin typeface="Cambria"/>
              </a:rPr>
              <a:t>, "reset is still %d\n", </a:t>
            </a:r>
            <a:r>
              <a:rPr sz="1900" b="0" dirty="0" err="1">
                <a:latin typeface="Cambria"/>
              </a:rPr>
              <a:t>resetS</a:t>
            </a:r>
            <a:r>
              <a:rPr sz="1900" b="0" dirty="0">
                <a:latin typeface="Cambria"/>
              </a:rPr>
              <a:t> ) ;</a:t>
            </a:r>
          </a:p>
          <a:p>
            <a:pPr>
              <a:tabLst>
                <a:tab pos="548640" algn="l"/>
                <a:tab pos="4023360" algn="l"/>
              </a:tabLst>
            </a:pPr>
            <a:r>
              <a:rPr sz="1900" b="0" dirty="0">
                <a:latin typeface="Cambria"/>
              </a:rPr>
              <a:t>	return 0 ;</a:t>
            </a:r>
          </a:p>
          <a:p>
            <a:pPr>
              <a:tabLst>
                <a:tab pos="548640" algn="l"/>
                <a:tab pos="4023360" algn="l"/>
              </a:tabLst>
            </a:pPr>
            <a:r>
              <a:rPr sz="1900" b="0" dirty="0">
                <a:latin typeface="Cambria"/>
              </a:rPr>
              <a:t>}</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Global and Static:  mysub.c</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023360" algn="l"/>
              </a:tabLst>
            </a:pPr>
            <a:r>
              <a:rPr sz="1900" b="0" dirty="0">
                <a:latin typeface="Cambria"/>
              </a:rPr>
              <a:t>#include &lt;</a:t>
            </a:r>
            <a:r>
              <a:rPr sz="1900" b="0" dirty="0" err="1">
                <a:latin typeface="Cambria"/>
              </a:rPr>
              <a:t>stdio.h</a:t>
            </a:r>
            <a:r>
              <a:rPr sz="1900" b="0" dirty="0">
                <a:latin typeface="Cambria"/>
              </a:rPr>
              <a:t>&gt;</a:t>
            </a:r>
          </a:p>
          <a:p>
            <a:pPr>
              <a:tabLst>
                <a:tab pos="548640" algn="l"/>
                <a:tab pos="4023360" algn="l"/>
              </a:tabLst>
            </a:pPr>
            <a:r>
              <a:rPr sz="1900" b="0" dirty="0">
                <a:latin typeface="Cambria"/>
              </a:rPr>
              <a:t>extern </a:t>
            </a:r>
            <a:r>
              <a:rPr sz="1900" b="0" dirty="0" err="1">
                <a:latin typeface="Cambria"/>
              </a:rPr>
              <a:t>int</a:t>
            </a:r>
            <a:r>
              <a:rPr sz="1900" b="0" dirty="0">
                <a:latin typeface="Cambria"/>
              </a:rPr>
              <a:t> </a:t>
            </a:r>
            <a:r>
              <a:rPr sz="1900" b="0" dirty="0" err="1">
                <a:latin typeface="Cambria"/>
              </a:rPr>
              <a:t>countG</a:t>
            </a:r>
            <a:r>
              <a:rPr sz="1900" b="0" dirty="0">
                <a:latin typeface="Cambria"/>
              </a:rPr>
              <a:t> ;	global reference</a:t>
            </a:r>
          </a:p>
          <a:p>
            <a:pPr>
              <a:tabLst>
                <a:tab pos="548640" algn="l"/>
                <a:tab pos="4023360" algn="l"/>
              </a:tabLst>
            </a:pPr>
            <a:r>
              <a:rPr sz="1900" b="0" dirty="0">
                <a:latin typeface="Cambria"/>
              </a:rPr>
              <a:t>static </a:t>
            </a:r>
            <a:r>
              <a:rPr sz="1900" b="0" dirty="0" err="1">
                <a:latin typeface="Cambria"/>
              </a:rPr>
              <a:t>int</a:t>
            </a:r>
            <a:r>
              <a:rPr sz="1900" b="0" dirty="0">
                <a:latin typeface="Cambria"/>
              </a:rPr>
              <a:t> </a:t>
            </a:r>
            <a:r>
              <a:rPr sz="1900" b="0" dirty="0" err="1">
                <a:latin typeface="Cambria"/>
              </a:rPr>
              <a:t>resetS</a:t>
            </a:r>
            <a:r>
              <a:rPr sz="1900" b="0" dirty="0">
                <a:latin typeface="Cambria"/>
              </a:rPr>
              <a:t> ;	a </a:t>
            </a:r>
            <a:r>
              <a:rPr sz="1900" b="1" dirty="0">
                <a:latin typeface="Cambria"/>
              </a:rPr>
              <a:t>different</a:t>
            </a:r>
            <a:r>
              <a:rPr sz="1900" b="0" dirty="0">
                <a:latin typeface="Cambria"/>
              </a:rPr>
              <a:t> </a:t>
            </a:r>
            <a:r>
              <a:rPr sz="1900" b="0" dirty="0" err="1">
                <a:latin typeface="Cambria"/>
              </a:rPr>
              <a:t>resetS</a:t>
            </a:r>
            <a:endParaRPr sz="1900" b="0" dirty="0">
              <a:latin typeface="Cambria"/>
            </a:endParaRPr>
          </a:p>
          <a:p>
            <a:pPr>
              <a:tabLst>
                <a:tab pos="548640" algn="l"/>
                <a:tab pos="4023360" algn="l"/>
              </a:tabLst>
            </a:pPr>
            <a:r>
              <a:rPr sz="1900" dirty="0">
                <a:latin typeface="Cambria"/>
              </a:rPr>
              <a:t> </a:t>
            </a:r>
          </a:p>
          <a:p>
            <a:pPr>
              <a:tabLst>
                <a:tab pos="548640" algn="l"/>
                <a:tab pos="4023360" algn="l"/>
              </a:tabLst>
            </a:pPr>
            <a:r>
              <a:rPr sz="1900" b="0" dirty="0">
                <a:latin typeface="Cambria"/>
              </a:rPr>
              <a:t>void </a:t>
            </a:r>
            <a:r>
              <a:rPr sz="1900" b="0" dirty="0" err="1">
                <a:latin typeface="Cambria"/>
              </a:rPr>
              <a:t>my_sub</a:t>
            </a:r>
            <a:r>
              <a:rPr sz="1900" b="0" dirty="0">
                <a:latin typeface="Cambria"/>
              </a:rPr>
              <a:t> ( void ) {</a:t>
            </a:r>
          </a:p>
          <a:p>
            <a:pPr>
              <a:tabLst>
                <a:tab pos="548640" algn="l"/>
                <a:tab pos="4023360" algn="l"/>
              </a:tabLst>
            </a:pPr>
            <a:r>
              <a:rPr sz="1900" b="0" dirty="0">
                <a:latin typeface="Cambria"/>
              </a:rPr>
              <a:t>	</a:t>
            </a:r>
            <a:r>
              <a:rPr sz="1900" b="0" dirty="0" err="1">
                <a:latin typeface="Cambria"/>
              </a:rPr>
              <a:t>countG</a:t>
            </a:r>
            <a:r>
              <a:rPr sz="1900" b="0" dirty="0">
                <a:latin typeface="Cambria"/>
              </a:rPr>
              <a:t> = 2 ;</a:t>
            </a:r>
          </a:p>
          <a:p>
            <a:pPr>
              <a:tabLst>
                <a:tab pos="548640" algn="l"/>
                <a:tab pos="4023360" algn="l"/>
              </a:tabLst>
            </a:pPr>
            <a:r>
              <a:rPr sz="1900" b="0" dirty="0">
                <a:latin typeface="Cambria"/>
              </a:rPr>
              <a:t>	</a:t>
            </a:r>
            <a:r>
              <a:rPr sz="1900" b="0" dirty="0" err="1">
                <a:latin typeface="Cambria"/>
              </a:rPr>
              <a:t>resetS</a:t>
            </a:r>
            <a:r>
              <a:rPr sz="1900" b="0" dirty="0">
                <a:latin typeface="Cambria"/>
              </a:rPr>
              <a:t> = 0 ;</a:t>
            </a:r>
          </a:p>
          <a:p>
            <a:pPr>
              <a:tabLst>
                <a:tab pos="548640" algn="l"/>
                <a:tab pos="4023360" algn="l"/>
              </a:tabLst>
            </a:pPr>
            <a:r>
              <a:rPr sz="1900" b="0" dirty="0">
                <a:latin typeface="Cambria"/>
              </a:rPr>
              <a:t>	</a:t>
            </a:r>
            <a:r>
              <a:rPr sz="1900" b="0" dirty="0" err="1">
                <a:latin typeface="Cambria"/>
              </a:rPr>
              <a:t>fprintf</a:t>
            </a:r>
            <a:r>
              <a:rPr sz="1900" b="0" dirty="0">
                <a:latin typeface="Cambria"/>
              </a:rPr>
              <a:t> ( </a:t>
            </a:r>
            <a:r>
              <a:rPr sz="1900" b="0" dirty="0" err="1">
                <a:latin typeface="Cambria"/>
              </a:rPr>
              <a:t>stderr</a:t>
            </a:r>
            <a:r>
              <a:rPr sz="1900" b="0" dirty="0">
                <a:latin typeface="Cambria"/>
              </a:rPr>
              <a:t>, "</a:t>
            </a:r>
            <a:r>
              <a:rPr sz="1900" b="0" dirty="0" err="1">
                <a:latin typeface="Cambria"/>
              </a:rPr>
              <a:t>countG</a:t>
            </a:r>
            <a:r>
              <a:rPr sz="1900" b="0" dirty="0">
                <a:latin typeface="Cambria"/>
              </a:rPr>
              <a:t> in </a:t>
            </a:r>
            <a:r>
              <a:rPr sz="1900" b="0" dirty="0" err="1">
                <a:latin typeface="Cambria"/>
              </a:rPr>
              <a:t>my_sub</a:t>
            </a:r>
            <a:r>
              <a:rPr sz="1900" b="0" dirty="0">
                <a:latin typeface="Cambria"/>
              </a:rPr>
              <a:t> is %d\n", </a:t>
            </a:r>
            <a:r>
              <a:rPr sz="1900" b="0" dirty="0" err="1">
                <a:latin typeface="Cambria"/>
              </a:rPr>
              <a:t>countG</a:t>
            </a:r>
            <a:r>
              <a:rPr sz="1900" b="0" dirty="0">
                <a:latin typeface="Cambria"/>
              </a:rPr>
              <a:t> ) ;</a:t>
            </a:r>
          </a:p>
          <a:p>
            <a:pPr>
              <a:tabLst>
                <a:tab pos="548640" algn="l"/>
                <a:tab pos="4023360" algn="l"/>
              </a:tabLst>
            </a:pPr>
            <a:r>
              <a:rPr sz="1900" b="0" dirty="0">
                <a:latin typeface="Cambria"/>
              </a:rPr>
              <a:t>	</a:t>
            </a:r>
            <a:r>
              <a:rPr sz="1900" b="0" dirty="0" err="1">
                <a:latin typeface="Cambria"/>
              </a:rPr>
              <a:t>fprintf</a:t>
            </a:r>
            <a:r>
              <a:rPr sz="1900" b="0" dirty="0">
                <a:latin typeface="Cambria"/>
              </a:rPr>
              <a:t> ( </a:t>
            </a:r>
            <a:r>
              <a:rPr sz="1900" b="0" dirty="0" err="1">
                <a:latin typeface="Cambria"/>
              </a:rPr>
              <a:t>stderr</a:t>
            </a:r>
            <a:r>
              <a:rPr sz="1900" b="0" dirty="0">
                <a:latin typeface="Cambria"/>
              </a:rPr>
              <a:t>, "</a:t>
            </a:r>
            <a:r>
              <a:rPr sz="1900" b="0" dirty="0" err="1">
                <a:latin typeface="Cambria"/>
              </a:rPr>
              <a:t>resetS</a:t>
            </a:r>
            <a:r>
              <a:rPr sz="1900" b="0" dirty="0">
                <a:latin typeface="Cambria"/>
              </a:rPr>
              <a:t> in </a:t>
            </a:r>
            <a:r>
              <a:rPr sz="1900" b="0" dirty="0" err="1">
                <a:latin typeface="Cambria"/>
              </a:rPr>
              <a:t>my_sub</a:t>
            </a:r>
            <a:r>
              <a:rPr sz="1900" b="0" dirty="0">
                <a:latin typeface="Cambria"/>
              </a:rPr>
              <a:t> is %d\n", </a:t>
            </a:r>
            <a:r>
              <a:rPr sz="1900" b="0" dirty="0" err="1">
                <a:latin typeface="Cambria"/>
              </a:rPr>
              <a:t>resetS</a:t>
            </a:r>
            <a:r>
              <a:rPr sz="1900" b="0" dirty="0">
                <a:latin typeface="Cambria"/>
              </a:rPr>
              <a:t> ) ;</a:t>
            </a:r>
          </a:p>
          <a:p>
            <a:pPr>
              <a:tabLst>
                <a:tab pos="548640" algn="l"/>
                <a:tab pos="4023360" algn="l"/>
              </a:tabLst>
            </a:pPr>
            <a:r>
              <a:rPr sz="1900" b="0" dirty="0">
                <a:latin typeface="Cambria"/>
              </a:rPr>
              <a:t>}</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Symbol Tables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754880" algn="l"/>
                <a:tab pos="5303520" algn="l"/>
              </a:tabLst>
            </a:pPr>
            <a:r>
              <a:rPr sz="2000" b="0">
                <a:latin typeface="Cambria"/>
              </a:rPr>
              <a:t>gcc -c main.c  ;  nm main.o	gcc -c mysub.c  ;  nm mysub.o</a:t>
            </a:r>
          </a:p>
          <a:p>
            <a:pPr>
              <a:tabLst>
                <a:tab pos="548640" algn="l"/>
                <a:tab pos="4754880" algn="l"/>
                <a:tab pos="5303520" algn="l"/>
              </a:tabLst>
            </a:pPr>
            <a:r>
              <a:rPr sz="2000">
                <a:latin typeface="Cambria"/>
              </a:rPr>
              <a:t> </a:t>
            </a:r>
          </a:p>
          <a:p>
            <a:pPr>
              <a:tabLst>
                <a:tab pos="548640" algn="l"/>
                <a:tab pos="4754880" algn="l"/>
                <a:tab pos="5303520" algn="l"/>
              </a:tabLst>
            </a:pPr>
            <a:r>
              <a:rPr sz="2000" b="0">
                <a:latin typeface="Cambria"/>
              </a:rPr>
              <a:t>	C  _countG		U  _countG</a:t>
            </a:r>
          </a:p>
          <a:p>
            <a:pPr>
              <a:tabLst>
                <a:tab pos="548640" algn="l"/>
                <a:tab pos="4754880" algn="l"/>
                <a:tab pos="5303520" algn="l"/>
              </a:tabLst>
            </a:pPr>
            <a:r>
              <a:rPr sz="2000" b="0">
                <a:latin typeface="Cambria"/>
              </a:rPr>
              <a:t>	T  _main		T  _my_sub</a:t>
            </a:r>
          </a:p>
          <a:p>
            <a:pPr>
              <a:tabLst>
                <a:tab pos="548640" algn="l"/>
                <a:tab pos="4754880" algn="l"/>
                <a:tab pos="5303520" algn="l"/>
              </a:tabLst>
            </a:pPr>
            <a:r>
              <a:rPr sz="2000" b="0">
                <a:latin typeface="Cambria"/>
              </a:rPr>
              <a:t>	U  _my_sub		s  _resetS</a:t>
            </a:r>
          </a:p>
          <a:p>
            <a:pPr>
              <a:tabLst>
                <a:tab pos="548640" algn="l"/>
                <a:tab pos="4754880" algn="l"/>
                <a:tab pos="5303520" algn="l"/>
              </a:tabLst>
            </a:pPr>
            <a:r>
              <a:rPr sz="2000" b="0">
                <a:latin typeface="Cambria"/>
              </a:rPr>
              <a:t>	s  _resetS</a:t>
            </a:r>
          </a:p>
          <a:p>
            <a:pPr>
              <a:tabLst>
                <a:tab pos="548640" algn="l"/>
                <a:tab pos="4754880" algn="l"/>
                <a:tab pos="5303520" algn="l"/>
              </a:tabLst>
            </a:pPr>
            <a:r>
              <a:rPr sz="2000">
                <a:latin typeface="Cambria"/>
              </a:rPr>
              <a:t> </a:t>
            </a:r>
          </a:p>
          <a:p>
            <a:pPr>
              <a:tabLst>
                <a:tab pos="548640" algn="l"/>
                <a:tab pos="4754880" algn="l"/>
                <a:tab pos="5303520" algn="l"/>
              </a:tabLst>
            </a:pPr>
            <a:r>
              <a:rPr sz="2000" b="1">
                <a:latin typeface="Cambria"/>
              </a:rPr>
              <a:t>T</a:t>
            </a:r>
            <a:r>
              <a:rPr sz="2000" b="0">
                <a:latin typeface="Cambria"/>
              </a:rPr>
              <a:t> text   </a:t>
            </a:r>
            <a:r>
              <a:rPr sz="2000" b="1">
                <a:latin typeface="Cambria"/>
              </a:rPr>
              <a:t>U</a:t>
            </a:r>
            <a:r>
              <a:rPr sz="2000" b="0">
                <a:latin typeface="Cambria"/>
              </a:rPr>
              <a:t> undefined - linker must find it</a:t>
            </a:r>
          </a:p>
          <a:p>
            <a:pPr>
              <a:tabLst>
                <a:tab pos="548640" algn="l"/>
                <a:tab pos="4754880" algn="l"/>
                <a:tab pos="5303520" algn="l"/>
              </a:tabLst>
            </a:pPr>
            <a:r>
              <a:rPr sz="2000" b="1">
                <a:latin typeface="Cambria"/>
              </a:rPr>
              <a:t>C</a:t>
            </a:r>
            <a:r>
              <a:rPr sz="2000" b="0">
                <a:latin typeface="Cambria"/>
              </a:rPr>
              <a:t> global data   </a:t>
            </a:r>
            <a:r>
              <a:rPr sz="2000" b="1">
                <a:latin typeface="Cambria"/>
              </a:rPr>
              <a:t>s</a:t>
            </a:r>
            <a:r>
              <a:rPr sz="2000" b="0">
                <a:latin typeface="Cambria"/>
              </a:rPr>
              <a:t> lowercase = file private</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After Linking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926080" algn="l"/>
              </a:tabLst>
            </a:pPr>
            <a:r>
              <a:rPr sz="2200" b="0">
                <a:latin typeface="Cambria"/>
              </a:rPr>
              <a:t>gcc -o myprog main.o mysub.o  ;  nm myprog</a:t>
            </a:r>
          </a:p>
          <a:p>
            <a:pPr>
              <a:tabLst>
                <a:tab pos="548640" algn="l"/>
                <a:tab pos="2926080" algn="l"/>
              </a:tabLst>
            </a:pPr>
            <a:r>
              <a:rPr sz="2200">
                <a:latin typeface="Cambria"/>
              </a:rPr>
              <a:t> </a:t>
            </a:r>
          </a:p>
          <a:p>
            <a:pPr>
              <a:tabLst>
                <a:tab pos="548640" algn="l"/>
                <a:tab pos="2926080" algn="l"/>
              </a:tabLst>
            </a:pPr>
            <a:r>
              <a:rPr sz="2200" b="0">
                <a:latin typeface="Cambria"/>
              </a:rPr>
              <a:t>	S  _countG	</a:t>
            </a:r>
            <a:r>
              <a:rPr sz="2200" b="1">
                <a:latin typeface="Cambria"/>
              </a:rPr>
              <a:t>one</a:t>
            </a:r>
            <a:r>
              <a:rPr sz="2200" b="0">
                <a:latin typeface="Cambria"/>
              </a:rPr>
              <a:t> common copy</a:t>
            </a:r>
          </a:p>
          <a:p>
            <a:pPr>
              <a:tabLst>
                <a:tab pos="548640" algn="l"/>
                <a:tab pos="2926080" algn="l"/>
              </a:tabLst>
            </a:pPr>
            <a:r>
              <a:rPr sz="2200" b="0">
                <a:latin typeface="Cambria"/>
              </a:rPr>
              <a:t>	s  _resetS</a:t>
            </a:r>
          </a:p>
          <a:p>
            <a:pPr>
              <a:tabLst>
                <a:tab pos="548640" algn="l"/>
                <a:tab pos="2926080" algn="l"/>
              </a:tabLst>
            </a:pPr>
            <a:r>
              <a:rPr sz="2200" b="0">
                <a:latin typeface="Cambria"/>
              </a:rPr>
              <a:t>	s  _resetS	</a:t>
            </a:r>
            <a:r>
              <a:rPr sz="2200" b="1">
                <a:latin typeface="Cambria"/>
              </a:rPr>
              <a:t>two</a:t>
            </a:r>
            <a:r>
              <a:rPr sz="2200" b="0">
                <a:latin typeface="Cambria"/>
              </a:rPr>
              <a:t> separate copies</a:t>
            </a:r>
          </a:p>
          <a:p>
            <a:pPr>
              <a:tabLst>
                <a:tab pos="548640" algn="l"/>
                <a:tab pos="2926080" algn="l"/>
              </a:tabLst>
            </a:pPr>
            <a:r>
              <a:rPr sz="2200" b="0">
                <a:latin typeface="Cambria"/>
              </a:rPr>
              <a:t>	T  _main</a:t>
            </a:r>
          </a:p>
          <a:p>
            <a:pPr>
              <a:tabLst>
                <a:tab pos="548640" algn="l"/>
                <a:tab pos="2926080" algn="l"/>
              </a:tabLst>
            </a:pPr>
            <a:r>
              <a:rPr sz="2200" b="0">
                <a:latin typeface="Cambria"/>
              </a:rPr>
              <a:t>	T  _my_sub</a:t>
            </a:r>
          </a:p>
          <a:p>
            <a:pPr>
              <a:tabLst>
                <a:tab pos="548640" algn="l"/>
                <a:tab pos="2926080" algn="l"/>
              </a:tabLst>
            </a:pPr>
            <a:r>
              <a:rPr sz="2200">
                <a:latin typeface="Cambria"/>
              </a:rPr>
              <a:t> </a:t>
            </a:r>
          </a:p>
          <a:p>
            <a:pPr>
              <a:tabLst>
                <a:tab pos="548640" algn="l"/>
                <a:tab pos="2926080" algn="l"/>
              </a:tabLst>
            </a:pPr>
            <a:r>
              <a:rPr sz="2200" b="0">
                <a:latin typeface="Cambria"/>
              </a:rPr>
              <a:t>The linker joins globals by name;  statics stay apart</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Running It:  Side Effects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206240" algn="l"/>
              </a:tabLst>
            </a:pPr>
            <a:r>
              <a:rPr sz="2400" b="0">
                <a:latin typeface="Cambria"/>
              </a:rPr>
              <a:t>./myprog</a:t>
            </a:r>
          </a:p>
          <a:p>
            <a:pPr>
              <a:tabLst>
                <a:tab pos="548640" algn="l"/>
                <a:tab pos="4206240" algn="l"/>
              </a:tabLst>
            </a:pPr>
            <a:r>
              <a:rPr sz="2400" b="0">
                <a:latin typeface="Cambria"/>
              </a:rPr>
              <a:t>	countG in my_sub is 2</a:t>
            </a:r>
          </a:p>
          <a:p>
            <a:pPr>
              <a:tabLst>
                <a:tab pos="548640" algn="l"/>
                <a:tab pos="4206240" algn="l"/>
              </a:tabLst>
            </a:pPr>
            <a:r>
              <a:rPr sz="2400" b="0">
                <a:latin typeface="Cambria"/>
              </a:rPr>
              <a:t>	resetS in my_sub is 0</a:t>
            </a:r>
          </a:p>
          <a:p>
            <a:pPr>
              <a:tabLst>
                <a:tab pos="548640" algn="l"/>
                <a:tab pos="4206240" algn="l"/>
              </a:tabLst>
            </a:pPr>
            <a:r>
              <a:rPr sz="2400" b="0">
                <a:latin typeface="Cambria"/>
              </a:rPr>
              <a:t>	countG is 2 not 1	</a:t>
            </a:r>
            <a:r>
              <a:rPr sz="2400" b="1">
                <a:latin typeface="Cambria"/>
              </a:rPr>
              <a:t>side effect</a:t>
            </a:r>
          </a:p>
          <a:p>
            <a:pPr>
              <a:tabLst>
                <a:tab pos="548640" algn="l"/>
                <a:tab pos="4206240" algn="l"/>
              </a:tabLst>
            </a:pPr>
            <a:r>
              <a:rPr sz="2400" b="0">
                <a:latin typeface="Cambria"/>
              </a:rPr>
              <a:t>	reset is still 1	</a:t>
            </a:r>
            <a:r>
              <a:rPr sz="2400" b="1">
                <a:latin typeface="Cambria"/>
              </a:rPr>
              <a:t>no side effect</a:t>
            </a:r>
          </a:p>
          <a:p>
            <a:pPr>
              <a:tabLst>
                <a:tab pos="548640" algn="l"/>
                <a:tab pos="4206240" algn="l"/>
              </a:tabLst>
            </a:pPr>
            <a:r>
              <a:rPr sz="2400">
                <a:latin typeface="Cambria"/>
              </a:rPr>
              <a:t> </a:t>
            </a:r>
          </a:p>
          <a:p>
            <a:pPr>
              <a:tabLst>
                <a:tab pos="548640" algn="l"/>
                <a:tab pos="4206240" algn="l"/>
              </a:tabLst>
            </a:pPr>
            <a:r>
              <a:rPr sz="2400" b="0">
                <a:latin typeface="Cambria"/>
              </a:rPr>
              <a:t>main set countG to 1;  my_sub changed it to 2</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Why Globals Are Slow</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477875"/>
          </a:xfrm>
          <a:prstGeom prst="rect">
            <a:avLst/>
          </a:prstGeom>
          <a:noFill/>
        </p:spPr>
        <p:txBody>
          <a:bodyPr wrap="square">
            <a:spAutoFit/>
          </a:bodyPr>
          <a:lstStyle/>
          <a:p>
            <a:pPr>
              <a:tabLst>
                <a:tab pos="4206240" algn="l"/>
              </a:tabLst>
            </a:pPr>
            <a:r>
              <a:rPr sz="2200" b="0" dirty="0" err="1">
                <a:latin typeface="Cambria"/>
              </a:rPr>
              <a:t>sw</a:t>
            </a:r>
            <a:r>
              <a:rPr sz="2200" b="0" dirty="0">
                <a:latin typeface="Cambria"/>
              </a:rPr>
              <a:t>   $2, %</a:t>
            </a:r>
            <a:r>
              <a:rPr sz="2200" b="0" dirty="0" err="1">
                <a:latin typeface="Cambria"/>
              </a:rPr>
              <a:t>gp_rel</a:t>
            </a:r>
            <a:r>
              <a:rPr sz="2200" b="0" dirty="0">
                <a:latin typeface="Cambria"/>
              </a:rPr>
              <a:t>(</a:t>
            </a:r>
            <a:r>
              <a:rPr sz="2200" b="0" dirty="0" err="1">
                <a:latin typeface="Cambria"/>
              </a:rPr>
              <a:t>countG</a:t>
            </a:r>
            <a:r>
              <a:rPr sz="2200" b="0" dirty="0">
                <a:latin typeface="Cambria"/>
              </a:rPr>
              <a:t>)($28)	</a:t>
            </a:r>
            <a:r>
              <a:rPr sz="2200" b="0" dirty="0" err="1">
                <a:latin typeface="Cambria"/>
              </a:rPr>
              <a:t>countG</a:t>
            </a:r>
            <a:r>
              <a:rPr sz="2200" b="0" dirty="0">
                <a:latin typeface="Cambria"/>
              </a:rPr>
              <a:t> = 1</a:t>
            </a:r>
          </a:p>
          <a:p>
            <a:pPr>
              <a:tabLst>
                <a:tab pos="4206240" algn="l"/>
              </a:tabLst>
            </a:pPr>
            <a:r>
              <a:rPr sz="2200" b="0" dirty="0" err="1">
                <a:latin typeface="Cambria"/>
              </a:rPr>
              <a:t>jal</a:t>
            </a:r>
            <a:r>
              <a:rPr sz="2200" b="0" dirty="0">
                <a:latin typeface="Cambria"/>
              </a:rPr>
              <a:t>  </a:t>
            </a:r>
            <a:r>
              <a:rPr sz="2200" b="0" dirty="0" err="1">
                <a:latin typeface="Cambria"/>
              </a:rPr>
              <a:t>my_sub</a:t>
            </a:r>
            <a:r>
              <a:rPr sz="2200" b="0" dirty="0">
                <a:latin typeface="Cambria"/>
              </a:rPr>
              <a:t>	call</a:t>
            </a:r>
          </a:p>
          <a:p>
            <a:pPr>
              <a:tabLst>
                <a:tab pos="4206240" algn="l"/>
              </a:tabLst>
            </a:pPr>
            <a:r>
              <a:rPr sz="2200" b="0" dirty="0" err="1">
                <a:latin typeface="Cambria"/>
              </a:rPr>
              <a:t>lw</a:t>
            </a:r>
            <a:r>
              <a:rPr sz="2200" b="0" dirty="0">
                <a:latin typeface="Cambria"/>
              </a:rPr>
              <a:t>   $2, %</a:t>
            </a:r>
            <a:r>
              <a:rPr sz="2200" b="0" dirty="0" err="1">
                <a:latin typeface="Cambria"/>
              </a:rPr>
              <a:t>gp_rel</a:t>
            </a:r>
            <a:r>
              <a:rPr sz="2200" b="0" dirty="0">
                <a:latin typeface="Cambria"/>
              </a:rPr>
              <a:t>(</a:t>
            </a:r>
            <a:r>
              <a:rPr sz="2200" b="0" dirty="0" err="1">
                <a:latin typeface="Cambria"/>
              </a:rPr>
              <a:t>countG</a:t>
            </a:r>
            <a:r>
              <a:rPr sz="2200" b="0" dirty="0">
                <a:latin typeface="Cambria"/>
              </a:rPr>
              <a:t>)($28)	reload </a:t>
            </a:r>
            <a:r>
              <a:rPr sz="2200" b="0" dirty="0" err="1">
                <a:latin typeface="Cambria"/>
              </a:rPr>
              <a:t>countG</a:t>
            </a:r>
            <a:endParaRPr sz="2200" b="0" dirty="0">
              <a:latin typeface="Cambria"/>
            </a:endParaRPr>
          </a:p>
          <a:p>
            <a:pPr>
              <a:tabLst>
                <a:tab pos="4206240" algn="l"/>
              </a:tabLst>
            </a:pPr>
            <a:r>
              <a:rPr sz="2200" dirty="0">
                <a:latin typeface="Cambria"/>
              </a:rPr>
              <a:t> </a:t>
            </a:r>
          </a:p>
          <a:p>
            <a:pPr>
              <a:tabLst>
                <a:tab pos="4206240" algn="l"/>
              </a:tabLst>
            </a:pPr>
            <a:r>
              <a:rPr sz="2200" b="0" dirty="0">
                <a:latin typeface="Cambria"/>
              </a:rPr>
              <a:t>The compiler must assume </a:t>
            </a:r>
            <a:r>
              <a:rPr sz="2200" b="1" dirty="0">
                <a:latin typeface="Cambria"/>
              </a:rPr>
              <a:t>any</a:t>
            </a:r>
            <a:r>
              <a:rPr sz="2200" b="0" dirty="0">
                <a:latin typeface="Cambria"/>
              </a:rPr>
              <a:t> call it cannot </a:t>
            </a:r>
            <a:r>
              <a:rPr sz="2200" b="0" dirty="0" smtClean="0">
                <a:latin typeface="Cambria"/>
              </a:rPr>
              <a:t>see</a:t>
            </a:r>
            <a:r>
              <a:rPr lang="en-US" sz="2200" b="0" dirty="0" smtClean="0">
                <a:latin typeface="Cambria"/>
              </a:rPr>
              <a:t> </a:t>
            </a:r>
            <a:r>
              <a:rPr sz="2200" b="0" dirty="0" smtClean="0">
                <a:latin typeface="Cambria"/>
              </a:rPr>
              <a:t>may </a:t>
            </a:r>
            <a:r>
              <a:rPr sz="2200" b="0" dirty="0">
                <a:latin typeface="Cambria"/>
              </a:rPr>
              <a:t>change a global - so it reloads </a:t>
            </a:r>
            <a:r>
              <a:rPr sz="2200" b="0" dirty="0" smtClean="0">
                <a:latin typeface="Cambria"/>
              </a:rPr>
              <a:t>it</a:t>
            </a:r>
            <a:endParaRPr lang="en-US" sz="2200" b="0" dirty="0" smtClean="0">
              <a:latin typeface="Cambria"/>
            </a:endParaRPr>
          </a:p>
          <a:p>
            <a:pPr>
              <a:tabLst>
                <a:tab pos="4206240" algn="l"/>
              </a:tabLst>
            </a:pPr>
            <a:endParaRPr lang="en-US" sz="2200" dirty="0">
              <a:latin typeface="Cambria"/>
            </a:endParaRPr>
          </a:p>
          <a:p>
            <a:pPr>
              <a:tabLst>
                <a:tab pos="4206240" algn="l"/>
              </a:tabLst>
            </a:pPr>
            <a:r>
              <a:rPr lang="en-US" sz="2200" b="0" dirty="0" smtClean="0">
                <a:latin typeface="Cambria"/>
              </a:rPr>
              <a:t>Rust explicitly forces you to reload so you see the cost</a:t>
            </a:r>
            <a:endParaRPr sz="2200" b="0" dirty="0">
              <a:latin typeface="Cambria"/>
            </a:endParaRPr>
          </a:p>
          <a:p>
            <a:pPr>
              <a:tabLst>
                <a:tab pos="4206240" algn="l"/>
              </a:tabLst>
            </a:pPr>
            <a:r>
              <a:rPr sz="2200" dirty="0">
                <a:latin typeface="Cambria"/>
              </a:rPr>
              <a:t> </a:t>
            </a:r>
          </a:p>
          <a:p>
            <a:pPr>
              <a:tabLst>
                <a:tab pos="4206240" algn="l"/>
              </a:tabLst>
            </a:pPr>
            <a:r>
              <a:rPr sz="2200" b="0" dirty="0">
                <a:latin typeface="Cambria"/>
              </a:rPr>
              <a:t>Prefer local variables and  </a:t>
            </a:r>
            <a:r>
              <a:rPr sz="2200" b="0" dirty="0" err="1">
                <a:latin typeface="Cambria"/>
              </a:rPr>
              <a:t>const</a:t>
            </a:r>
            <a:endParaRPr sz="22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Same Program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100" b="0">
                <a:latin typeface="Cambria"/>
              </a:rPr>
              <a:t>main.rs</a:t>
            </a:r>
          </a:p>
          <a:p>
            <a:pPr>
              <a:tabLst>
                <a:tab pos="548640" algn="l"/>
                <a:tab pos="1097280" algn="l"/>
                <a:tab pos="1645920" algn="l"/>
                <a:tab pos="2194560" algn="l"/>
              </a:tabLst>
            </a:pPr>
            <a:r>
              <a:rPr sz="2100" b="0">
                <a:latin typeface="Cambria"/>
              </a:rPr>
              <a:t>	mod mysub ;</a:t>
            </a:r>
          </a:p>
          <a:p>
            <a:pPr>
              <a:tabLst>
                <a:tab pos="548640" algn="l"/>
                <a:tab pos="1097280" algn="l"/>
                <a:tab pos="1645920" algn="l"/>
                <a:tab pos="2194560" algn="l"/>
              </a:tabLst>
            </a:pPr>
            <a:r>
              <a:rPr sz="2100" b="0">
                <a:latin typeface="Cambria"/>
              </a:rPr>
              <a:t>	pub static COUNT_G : AtomicI32 = AtomicI32::new ( 0 ) ;</a:t>
            </a:r>
          </a:p>
          <a:p>
            <a:pPr>
              <a:tabLst>
                <a:tab pos="548640" algn="l"/>
                <a:tab pos="1097280" algn="l"/>
                <a:tab pos="1645920" algn="l"/>
                <a:tab pos="2194560" algn="l"/>
              </a:tabLst>
            </a:pPr>
            <a:r>
              <a:rPr sz="2100" b="0">
                <a:latin typeface="Cambria"/>
              </a:rPr>
              <a:t>	static RESET_S : AtomicI32 = AtomicI32::new ( 0 ) ;</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mysub.rs</a:t>
            </a:r>
          </a:p>
          <a:p>
            <a:pPr>
              <a:tabLst>
                <a:tab pos="548640" algn="l"/>
                <a:tab pos="1097280" algn="l"/>
                <a:tab pos="1645920" algn="l"/>
                <a:tab pos="2194560" algn="l"/>
              </a:tabLst>
            </a:pPr>
            <a:r>
              <a:rPr sz="2100" b="0">
                <a:latin typeface="Cambria"/>
              </a:rPr>
              <a:t>	use crate::COUNT_G ;</a:t>
            </a:r>
          </a:p>
          <a:p>
            <a:pPr>
              <a:tabLst>
                <a:tab pos="548640" algn="l"/>
                <a:tab pos="1097280" algn="l"/>
                <a:tab pos="1645920" algn="l"/>
                <a:tab pos="2194560" algn="l"/>
              </a:tabLst>
            </a:pPr>
            <a:r>
              <a:rPr sz="2100" b="0">
                <a:latin typeface="Cambria"/>
              </a:rPr>
              <a:t>	static RESET_S : AtomicI32 = AtomicI32::new ( 0 ) ;</a:t>
            </a:r>
          </a:p>
          <a:p>
            <a:pPr>
              <a:tabLst>
                <a:tab pos="548640" algn="l"/>
                <a:tab pos="1097280" algn="l"/>
                <a:tab pos="1645920" algn="l"/>
                <a:tab pos="2194560" algn="l"/>
              </a:tabLst>
            </a:pPr>
            <a:r>
              <a:rPr sz="2100">
                <a:latin typeface="Cambria"/>
              </a:rPr>
              <a:t> </a:t>
            </a:r>
          </a:p>
          <a:p>
            <a:pPr>
              <a:tabLst>
                <a:tab pos="548640" algn="l"/>
                <a:tab pos="1097280" algn="l"/>
                <a:tab pos="1645920" algn="l"/>
                <a:tab pos="2194560" algn="l"/>
              </a:tabLst>
            </a:pPr>
            <a:r>
              <a:rPr sz="2100" b="0">
                <a:latin typeface="Cambria"/>
              </a:rPr>
              <a:t>Two RESET_S - one per module, like C's static</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volatile Attribute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108543"/>
          </a:xfrm>
          <a:prstGeom prst="rect">
            <a:avLst/>
          </a:prstGeom>
          <a:noFill/>
        </p:spPr>
        <p:txBody>
          <a:bodyPr wrap="square">
            <a:spAutoFit/>
          </a:bodyPr>
          <a:lstStyle/>
          <a:p>
            <a:pPr>
              <a:tabLst>
                <a:tab pos="548640" algn="l"/>
                <a:tab pos="1097280" algn="l"/>
                <a:tab pos="1645920" algn="l"/>
                <a:tab pos="2194560" algn="l"/>
              </a:tabLst>
            </a:pPr>
            <a:r>
              <a:rPr sz="2800" b="0" dirty="0">
                <a:latin typeface="Cambria"/>
              </a:rPr>
              <a:t>Tells the compiler the variable </a:t>
            </a:r>
            <a:r>
              <a:rPr sz="2800" b="0" dirty="0" smtClean="0">
                <a:latin typeface="Cambria"/>
              </a:rPr>
              <a:t>could</a:t>
            </a:r>
            <a:r>
              <a:rPr lang="en-US" sz="2800" b="0" dirty="0" smtClean="0">
                <a:latin typeface="Cambria"/>
              </a:rPr>
              <a:t> </a:t>
            </a:r>
            <a:r>
              <a:rPr sz="2800" b="1" dirty="0" smtClean="0">
                <a:latin typeface="Cambria"/>
              </a:rPr>
              <a:t>change </a:t>
            </a:r>
            <a:r>
              <a:rPr sz="2800" b="1" dirty="0">
                <a:latin typeface="Cambria"/>
              </a:rPr>
              <a:t>at any time</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The compiler will not optimize its </a:t>
            </a:r>
            <a:r>
              <a:rPr sz="2800" b="0" dirty="0" smtClean="0">
                <a:latin typeface="Cambria"/>
              </a:rPr>
              <a:t>reads</a:t>
            </a:r>
            <a:r>
              <a:rPr lang="en-US" sz="2800" b="0" dirty="0" smtClean="0">
                <a:latin typeface="Cambria"/>
              </a:rPr>
              <a:t> </a:t>
            </a:r>
            <a:r>
              <a:rPr sz="2800" b="0" dirty="0" smtClean="0">
                <a:latin typeface="Cambria"/>
              </a:rPr>
              <a:t>or </a:t>
            </a:r>
            <a:r>
              <a:rPr sz="2800" b="0" dirty="0">
                <a:latin typeface="Cambria"/>
              </a:rPr>
              <a:t>writes away</a:t>
            </a:r>
          </a:p>
          <a:p>
            <a:pPr>
              <a:tabLst>
                <a:tab pos="548640" algn="l"/>
                <a:tab pos="1097280" algn="l"/>
                <a:tab pos="1645920" algn="l"/>
                <a:tab pos="2194560" algn="l"/>
              </a:tabLst>
            </a:pPr>
            <a:r>
              <a:rPr sz="2800" dirty="0">
                <a:latin typeface="Cambria"/>
              </a:rPr>
              <a:t> </a:t>
            </a:r>
          </a:p>
          <a:p>
            <a:pPr>
              <a:tabLst>
                <a:tab pos="548640" algn="l"/>
                <a:tab pos="1097280" algn="l"/>
                <a:tab pos="1645920" algn="l"/>
                <a:tab pos="2194560" algn="l"/>
              </a:tabLst>
            </a:pPr>
            <a:r>
              <a:rPr sz="2800" b="0" dirty="0">
                <a:latin typeface="Cambria"/>
              </a:rPr>
              <a:t>Declared in C and C++ with  </a:t>
            </a:r>
            <a:r>
              <a:rPr sz="2800" b="1" dirty="0">
                <a:latin typeface="Cambria"/>
              </a:rPr>
              <a:t>volatile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When You Need volatile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9203056" cy="2785378"/>
          </a:xfrm>
          <a:prstGeom prst="rect">
            <a:avLst/>
          </a:prstGeom>
          <a:noFill/>
        </p:spPr>
        <p:txBody>
          <a:bodyPr wrap="square">
            <a:spAutoFit/>
          </a:bodyPr>
          <a:lstStyle/>
          <a:p>
            <a:pPr>
              <a:tabLst>
                <a:tab pos="548640" algn="l"/>
              </a:tabLst>
            </a:pPr>
            <a:r>
              <a:rPr sz="2500" b="0" dirty="0">
                <a:latin typeface="Cambria"/>
              </a:rPr>
              <a:t>In practice, only three kinds of variable:</a:t>
            </a:r>
          </a:p>
          <a:p>
            <a:pPr>
              <a:tabLst>
                <a:tab pos="548640" algn="l"/>
              </a:tabLst>
            </a:pPr>
            <a:r>
              <a:rPr sz="2500" dirty="0">
                <a:latin typeface="Cambria"/>
              </a:rPr>
              <a:t> </a:t>
            </a:r>
          </a:p>
          <a:p>
            <a:pPr>
              <a:tabLst>
                <a:tab pos="548640" algn="l"/>
              </a:tabLst>
            </a:pPr>
            <a:r>
              <a:rPr sz="2500" b="0" dirty="0">
                <a:latin typeface="Cambria"/>
              </a:rPr>
              <a:t>1.	Memory-mapped </a:t>
            </a:r>
            <a:r>
              <a:rPr sz="2500" b="1" dirty="0">
                <a:latin typeface="Cambria"/>
              </a:rPr>
              <a:t>peripheral registers</a:t>
            </a:r>
          </a:p>
          <a:p>
            <a:pPr>
              <a:tabLst>
                <a:tab pos="548640" algn="l"/>
              </a:tabLst>
            </a:pPr>
            <a:r>
              <a:rPr sz="2500" dirty="0">
                <a:latin typeface="Cambria"/>
              </a:rPr>
              <a:t> </a:t>
            </a:r>
          </a:p>
          <a:p>
            <a:pPr>
              <a:tabLst>
                <a:tab pos="548640" algn="l"/>
              </a:tabLst>
            </a:pPr>
            <a:r>
              <a:rPr sz="2500" b="0" dirty="0">
                <a:latin typeface="Cambria"/>
              </a:rPr>
              <a:t>2.	</a:t>
            </a:r>
            <a:r>
              <a:rPr sz="2500" b="0" dirty="0" err="1">
                <a:latin typeface="Cambria"/>
              </a:rPr>
              <a:t>Globals</a:t>
            </a:r>
            <a:r>
              <a:rPr sz="2500" b="0" dirty="0">
                <a:latin typeface="Cambria"/>
              </a:rPr>
              <a:t> changed by an </a:t>
            </a:r>
            <a:r>
              <a:rPr sz="2500" b="1" dirty="0">
                <a:latin typeface="Cambria"/>
              </a:rPr>
              <a:t>interrupt</a:t>
            </a:r>
            <a:r>
              <a:rPr sz="2500" b="0" dirty="0">
                <a:latin typeface="Cambria"/>
              </a:rPr>
              <a:t> routine</a:t>
            </a:r>
          </a:p>
          <a:p>
            <a:pPr>
              <a:tabLst>
                <a:tab pos="548640" algn="l"/>
              </a:tabLst>
            </a:pPr>
            <a:r>
              <a:rPr sz="2500" dirty="0">
                <a:latin typeface="Cambria"/>
              </a:rPr>
              <a:t> </a:t>
            </a:r>
          </a:p>
          <a:p>
            <a:pPr>
              <a:tabLst>
                <a:tab pos="548640" algn="l"/>
              </a:tabLst>
            </a:pPr>
            <a:r>
              <a:rPr sz="2500" b="0" dirty="0">
                <a:latin typeface="Cambria"/>
              </a:rPr>
              <a:t>3.	</a:t>
            </a:r>
            <a:r>
              <a:rPr sz="2500" b="0" dirty="0" err="1">
                <a:latin typeface="Cambria"/>
              </a:rPr>
              <a:t>Globals</a:t>
            </a:r>
            <a:r>
              <a:rPr sz="2500" b="0" dirty="0">
                <a:latin typeface="Cambria"/>
              </a:rPr>
              <a:t> shared by </a:t>
            </a:r>
            <a:r>
              <a:rPr sz="2500" b="1" dirty="0">
                <a:latin typeface="Cambria"/>
              </a:rPr>
              <a:t>multiple </a:t>
            </a:r>
            <a:r>
              <a:rPr sz="2500" b="1" dirty="0" smtClean="0">
                <a:latin typeface="Cambria"/>
              </a:rPr>
              <a:t>tasks</a:t>
            </a:r>
            <a:r>
              <a:rPr lang="en-US" sz="2500" b="1" dirty="0" smtClean="0">
                <a:latin typeface="Cambria"/>
              </a:rPr>
              <a:t> </a:t>
            </a:r>
            <a:r>
              <a:rPr sz="2500" b="0" dirty="0" smtClean="0">
                <a:latin typeface="Cambria"/>
              </a:rPr>
              <a:t>in </a:t>
            </a:r>
            <a:r>
              <a:rPr sz="2500" b="0" dirty="0">
                <a:latin typeface="Cambria"/>
              </a:rPr>
              <a:t>a multi-threaded program</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Register Without volatile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046988"/>
          </a:xfrm>
          <a:prstGeom prst="rect">
            <a:avLst/>
          </a:prstGeom>
          <a:noFill/>
        </p:spPr>
        <p:txBody>
          <a:bodyPr wrap="square">
            <a:spAutoFit/>
          </a:bodyPr>
          <a:lstStyle/>
          <a:p>
            <a:pPr>
              <a:tabLst>
                <a:tab pos="548640" algn="l"/>
                <a:tab pos="1097280" algn="l"/>
                <a:tab pos="1645920" algn="l"/>
                <a:tab pos="2194560" algn="l"/>
              </a:tabLst>
            </a:pPr>
            <a:r>
              <a:rPr sz="2400" b="0" dirty="0">
                <a:latin typeface="Cambria"/>
              </a:rPr>
              <a:t>uint8_t *</a:t>
            </a:r>
            <a:r>
              <a:rPr sz="2400" b="0" dirty="0" err="1">
                <a:latin typeface="Cambria"/>
              </a:rPr>
              <a:t>my_reg</a:t>
            </a:r>
            <a:r>
              <a:rPr sz="2400" b="0" dirty="0">
                <a:latin typeface="Cambria"/>
              </a:rPr>
              <a:t> = ( uint8_t * ) 0xC000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 wait for the register to read non-zero</a:t>
            </a:r>
          </a:p>
          <a:p>
            <a:pPr>
              <a:tabLst>
                <a:tab pos="548640" algn="l"/>
                <a:tab pos="1097280" algn="l"/>
                <a:tab pos="1645920" algn="l"/>
                <a:tab pos="2194560" algn="l"/>
              </a:tabLst>
            </a:pPr>
            <a:r>
              <a:rPr sz="2400" b="0" dirty="0">
                <a:latin typeface="Cambria"/>
              </a:rPr>
              <a:t>do {</a:t>
            </a:r>
          </a:p>
          <a:p>
            <a:pPr>
              <a:tabLst>
                <a:tab pos="548640" algn="l"/>
                <a:tab pos="1097280" algn="l"/>
                <a:tab pos="1645920" algn="l"/>
                <a:tab pos="2194560" algn="l"/>
              </a:tabLst>
            </a:pPr>
            <a:r>
              <a:rPr sz="2400" b="0" dirty="0">
                <a:latin typeface="Cambria"/>
              </a:rPr>
              <a:t>} while ( ! ( *</a:t>
            </a:r>
            <a:r>
              <a:rPr sz="2400" b="0" dirty="0" err="1">
                <a:latin typeface="Cambria"/>
              </a:rPr>
              <a:t>my_reg</a:t>
            </a:r>
            <a:r>
              <a:rPr sz="2400" b="0" dirty="0">
                <a:latin typeface="Cambria"/>
              </a:rPr>
              <a:t> ) )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The optimizer reads  *</a:t>
            </a:r>
            <a:r>
              <a:rPr sz="2400" b="0" dirty="0" err="1">
                <a:latin typeface="Cambria"/>
              </a:rPr>
              <a:t>my_reg</a:t>
            </a:r>
            <a:r>
              <a:rPr sz="2400" b="0" dirty="0">
                <a:latin typeface="Cambria"/>
              </a:rPr>
              <a:t>  </a:t>
            </a:r>
            <a:r>
              <a:rPr sz="2400" b="1" dirty="0" smtClean="0">
                <a:latin typeface="Cambria"/>
              </a:rPr>
              <a:t>once</a:t>
            </a:r>
            <a:r>
              <a:rPr sz="2400" b="0" dirty="0" smtClean="0">
                <a:latin typeface="Cambria"/>
              </a:rPr>
              <a:t>,</a:t>
            </a:r>
            <a:r>
              <a:rPr lang="en-US" sz="2400" b="0" dirty="0" smtClean="0">
                <a:latin typeface="Cambria"/>
              </a:rPr>
              <a:t> </a:t>
            </a:r>
            <a:r>
              <a:rPr sz="2400" b="0" dirty="0" smtClean="0">
                <a:latin typeface="Cambria"/>
              </a:rPr>
              <a:t>before </a:t>
            </a:r>
            <a:r>
              <a:rPr sz="2400" b="0" dirty="0">
                <a:latin typeface="Cambria"/>
              </a:rPr>
              <a:t>the loop.  It sees nothing that </a:t>
            </a:r>
            <a:r>
              <a:rPr sz="2400" b="0" dirty="0" smtClean="0">
                <a:latin typeface="Cambria"/>
              </a:rPr>
              <a:t>could</a:t>
            </a:r>
            <a:r>
              <a:rPr lang="en-US" sz="2400" b="0" dirty="0" smtClean="0">
                <a:latin typeface="Cambria"/>
              </a:rPr>
              <a:t> </a:t>
            </a:r>
            <a:r>
              <a:rPr sz="2400" b="0" dirty="0" smtClean="0">
                <a:latin typeface="Cambria"/>
              </a:rPr>
              <a:t>change </a:t>
            </a:r>
            <a:r>
              <a:rPr sz="2400" b="0" dirty="0">
                <a:latin typeface="Cambria"/>
              </a:rPr>
              <a:t>it - so the loop never ends</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Register With volatile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a:latin typeface="Cambria"/>
              </a:rPr>
              <a:t>uint8_t volatile *my_reg = ( uint8_t * ) 0xC000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do {</a:t>
            </a:r>
          </a:p>
          <a:p>
            <a:pPr>
              <a:tabLst>
                <a:tab pos="548640" algn="l"/>
                <a:tab pos="1097280" algn="l"/>
                <a:tab pos="1645920" algn="l"/>
                <a:tab pos="2194560" algn="l"/>
              </a:tabLst>
            </a:pPr>
            <a:r>
              <a:rPr sz="2400" b="0">
                <a:latin typeface="Cambria"/>
              </a:rPr>
              <a:t>} while ( ! ( *my_reg ) ) ;</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Now every pass </a:t>
            </a:r>
            <a:r>
              <a:rPr sz="2400" b="1">
                <a:latin typeface="Cambria"/>
              </a:rPr>
              <a:t>re-reads</a:t>
            </a:r>
            <a:r>
              <a:rPr sz="2400" b="0">
                <a:latin typeface="Cambria"/>
              </a:rPr>
              <a:t> the register</a:t>
            </a:r>
          </a:p>
          <a:p>
            <a:pPr>
              <a:tabLst>
                <a:tab pos="548640" algn="l"/>
                <a:tab pos="1097280" algn="l"/>
                <a:tab pos="1645920" algn="l"/>
                <a:tab pos="2194560" algn="l"/>
              </a:tabLst>
            </a:pPr>
            <a:r>
              <a:rPr sz="2400">
                <a:latin typeface="Cambria"/>
              </a:rPr>
              <a:t> </a:t>
            </a:r>
          </a:p>
          <a:p>
            <a:pPr>
              <a:tabLst>
                <a:tab pos="548640" algn="l"/>
                <a:tab pos="1097280" algn="l"/>
                <a:tab pos="1645920" algn="l"/>
                <a:tab pos="2194560" algn="l"/>
              </a:tabLst>
            </a:pPr>
            <a:r>
              <a:rPr sz="2400" b="0">
                <a:latin typeface="Cambria"/>
              </a:rPr>
              <a:t>The </a:t>
            </a:r>
            <a:r>
              <a:rPr sz="2400" b="1">
                <a:latin typeface="Cambria"/>
              </a:rPr>
              <a:t>data</a:t>
            </a:r>
            <a:r>
              <a:rPr sz="2400" b="0">
                <a:latin typeface="Cambria"/>
              </a:rPr>
              <a:t> is volatile, not the pointer</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Interrupt Flag Without volatile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3416320"/>
          </a:xfrm>
          <a:prstGeom prst="rect">
            <a:avLst/>
          </a:prstGeom>
          <a:noFill/>
        </p:spPr>
        <p:txBody>
          <a:bodyPr wrap="square">
            <a:spAutoFit/>
          </a:bodyPr>
          <a:lstStyle/>
          <a:p>
            <a:pPr>
              <a:tabLst>
                <a:tab pos="1920240" algn="l"/>
              </a:tabLst>
            </a:pPr>
            <a:r>
              <a:rPr sz="2400" b="0" dirty="0" err="1">
                <a:latin typeface="Cambria"/>
              </a:rPr>
              <a:t>bool</a:t>
            </a:r>
            <a:r>
              <a:rPr sz="2400" b="0" dirty="0">
                <a:latin typeface="Cambria"/>
              </a:rPr>
              <a:t> </a:t>
            </a:r>
            <a:r>
              <a:rPr sz="2400" b="0" dirty="0" err="1">
                <a:latin typeface="Cambria"/>
              </a:rPr>
              <a:t>gb_etx_foundG</a:t>
            </a:r>
            <a:r>
              <a:rPr sz="2400" b="0" dirty="0">
                <a:latin typeface="Cambria"/>
              </a:rPr>
              <a:t> = false </a:t>
            </a:r>
            <a:r>
              <a:rPr sz="2400" b="0" dirty="0" smtClean="0">
                <a:latin typeface="Cambria"/>
              </a:rPr>
              <a:t>;</a:t>
            </a:r>
            <a:r>
              <a:rPr lang="en-US" sz="2400" b="0" dirty="0" smtClean="0">
                <a:latin typeface="Cambria"/>
              </a:rPr>
              <a:t> //assignment not needed</a:t>
            </a:r>
            <a:endParaRPr sz="2400" b="0" dirty="0">
              <a:latin typeface="Cambria"/>
            </a:endParaRPr>
          </a:p>
          <a:p>
            <a:pPr>
              <a:tabLst>
                <a:tab pos="1920240" algn="l"/>
              </a:tabLst>
            </a:pPr>
            <a:r>
              <a:rPr sz="2400" dirty="0">
                <a:latin typeface="Cambria"/>
              </a:rPr>
              <a:t> </a:t>
            </a:r>
          </a:p>
          <a:p>
            <a:pPr>
              <a:tabLst>
                <a:tab pos="1920240" algn="l"/>
              </a:tabLst>
            </a:pPr>
            <a:r>
              <a:rPr sz="2400" b="0" dirty="0">
                <a:latin typeface="Cambria"/>
              </a:rPr>
              <a:t>main:	while ( !</a:t>
            </a:r>
            <a:r>
              <a:rPr sz="2400" b="0" dirty="0" err="1">
                <a:latin typeface="Cambria"/>
              </a:rPr>
              <a:t>gb_etx_foundG</a:t>
            </a:r>
            <a:r>
              <a:rPr sz="2400" b="0" dirty="0">
                <a:latin typeface="Cambria"/>
              </a:rPr>
              <a:t> ) {  }</a:t>
            </a:r>
          </a:p>
          <a:p>
            <a:pPr>
              <a:tabLst>
                <a:tab pos="1920240" algn="l"/>
              </a:tabLst>
            </a:pPr>
            <a:r>
              <a:rPr sz="2400" dirty="0">
                <a:latin typeface="Cambria"/>
              </a:rPr>
              <a:t> </a:t>
            </a:r>
          </a:p>
          <a:p>
            <a:pPr>
              <a:tabLst>
                <a:tab pos="1920240" algn="l"/>
              </a:tabLst>
            </a:pPr>
            <a:r>
              <a:rPr sz="2400" b="0" dirty="0">
                <a:latin typeface="Cambria"/>
              </a:rPr>
              <a:t>interrupt:	if ( ETX == </a:t>
            </a:r>
            <a:r>
              <a:rPr sz="2400" b="0" dirty="0" err="1">
                <a:latin typeface="Cambria"/>
              </a:rPr>
              <a:t>rx_char</a:t>
            </a:r>
            <a:r>
              <a:rPr sz="2400" b="0" dirty="0">
                <a:latin typeface="Cambria"/>
              </a:rPr>
              <a:t> )</a:t>
            </a:r>
          </a:p>
          <a:p>
            <a:pPr>
              <a:tabLst>
                <a:tab pos="1920240" algn="l"/>
              </a:tabLst>
            </a:pPr>
            <a:r>
              <a:rPr sz="2400" b="0" dirty="0">
                <a:latin typeface="Cambria"/>
              </a:rPr>
              <a:t>		</a:t>
            </a:r>
            <a:r>
              <a:rPr sz="2400" b="0" dirty="0" err="1">
                <a:latin typeface="Cambria"/>
              </a:rPr>
              <a:t>gb_etx_foundG</a:t>
            </a:r>
            <a:r>
              <a:rPr sz="2400" b="0" dirty="0">
                <a:latin typeface="Cambria"/>
              </a:rPr>
              <a:t> = true ;</a:t>
            </a:r>
          </a:p>
          <a:p>
            <a:pPr>
              <a:tabLst>
                <a:tab pos="1920240" algn="l"/>
              </a:tabLst>
            </a:pPr>
            <a:r>
              <a:rPr sz="2400" dirty="0">
                <a:latin typeface="Cambria"/>
              </a:rPr>
              <a:t> </a:t>
            </a:r>
          </a:p>
          <a:p>
            <a:pPr>
              <a:tabLst>
                <a:tab pos="1920240" algn="l"/>
              </a:tabLst>
            </a:pPr>
            <a:r>
              <a:rPr sz="2400" b="0" dirty="0">
                <a:latin typeface="Cambria"/>
              </a:rPr>
              <a:t>No call in the loop - the optimizer </a:t>
            </a:r>
            <a:r>
              <a:rPr sz="2400" b="0" dirty="0" smtClean="0">
                <a:latin typeface="Cambria"/>
              </a:rPr>
              <a:t>may</a:t>
            </a:r>
            <a:r>
              <a:rPr lang="en-US" sz="2400" b="0" dirty="0" smtClean="0">
                <a:latin typeface="Cambria"/>
              </a:rPr>
              <a:t> </a:t>
            </a:r>
            <a:r>
              <a:rPr sz="2400" b="0" dirty="0" smtClean="0">
                <a:latin typeface="Cambria"/>
              </a:rPr>
              <a:t>load </a:t>
            </a:r>
            <a:r>
              <a:rPr sz="2400" b="0" dirty="0">
                <a:latin typeface="Cambria"/>
              </a:rPr>
              <a:t>the flag once and loop forever</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Interrupt Flag With volatile</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672114" cy="3046988"/>
          </a:xfrm>
          <a:prstGeom prst="rect">
            <a:avLst/>
          </a:prstGeom>
          <a:noFill/>
        </p:spPr>
        <p:txBody>
          <a:bodyPr wrap="square">
            <a:spAutoFit/>
          </a:bodyPr>
          <a:lstStyle/>
          <a:p>
            <a:pPr>
              <a:tabLst>
                <a:tab pos="1920240" algn="l"/>
              </a:tabLst>
            </a:pPr>
            <a:r>
              <a:rPr sz="2400" b="0" dirty="0" err="1">
                <a:latin typeface="Cambria"/>
              </a:rPr>
              <a:t>bool</a:t>
            </a:r>
            <a:r>
              <a:rPr sz="2400" b="0" dirty="0">
                <a:latin typeface="Cambria"/>
              </a:rPr>
              <a:t> volatile </a:t>
            </a:r>
            <a:r>
              <a:rPr sz="2400" b="0" dirty="0" err="1">
                <a:latin typeface="Cambria"/>
              </a:rPr>
              <a:t>gb_etx_foundG</a:t>
            </a:r>
            <a:r>
              <a:rPr sz="2400" b="0" dirty="0">
                <a:latin typeface="Cambria"/>
              </a:rPr>
              <a:t> = false ;</a:t>
            </a:r>
          </a:p>
          <a:p>
            <a:pPr>
              <a:tabLst>
                <a:tab pos="1920240" algn="l"/>
              </a:tabLst>
            </a:pPr>
            <a:r>
              <a:rPr sz="2400" dirty="0">
                <a:latin typeface="Cambria"/>
              </a:rPr>
              <a:t> </a:t>
            </a:r>
          </a:p>
          <a:p>
            <a:pPr>
              <a:tabLst>
                <a:tab pos="1920240" algn="l"/>
              </a:tabLst>
            </a:pPr>
            <a:r>
              <a:rPr sz="2400" b="0" dirty="0">
                <a:latin typeface="Cambria"/>
              </a:rPr>
              <a:t>main:	while ( !</a:t>
            </a:r>
            <a:r>
              <a:rPr sz="2400" b="0" dirty="0" err="1">
                <a:latin typeface="Cambria"/>
              </a:rPr>
              <a:t>gb_etx_foundG</a:t>
            </a:r>
            <a:r>
              <a:rPr sz="2400" b="0" dirty="0">
                <a:latin typeface="Cambria"/>
              </a:rPr>
              <a:t> ) {  }</a:t>
            </a:r>
          </a:p>
          <a:p>
            <a:pPr>
              <a:tabLst>
                <a:tab pos="1920240" algn="l"/>
              </a:tabLst>
            </a:pPr>
            <a:r>
              <a:rPr sz="2400" dirty="0">
                <a:latin typeface="Cambria"/>
              </a:rPr>
              <a:t> </a:t>
            </a:r>
          </a:p>
          <a:p>
            <a:pPr>
              <a:tabLst>
                <a:tab pos="1920240" algn="l"/>
              </a:tabLst>
            </a:pPr>
            <a:r>
              <a:rPr sz="2400" b="0" dirty="0">
                <a:latin typeface="Cambria"/>
              </a:rPr>
              <a:t>interrupt:	if ( ETX == </a:t>
            </a:r>
            <a:r>
              <a:rPr sz="2400" b="0" dirty="0" err="1">
                <a:latin typeface="Cambria"/>
              </a:rPr>
              <a:t>rx_char</a:t>
            </a:r>
            <a:r>
              <a:rPr sz="2400" b="0" dirty="0">
                <a:latin typeface="Cambria"/>
              </a:rPr>
              <a:t> )</a:t>
            </a:r>
          </a:p>
          <a:p>
            <a:pPr>
              <a:tabLst>
                <a:tab pos="1920240" algn="l"/>
              </a:tabLst>
            </a:pPr>
            <a:r>
              <a:rPr sz="2400" b="0" dirty="0">
                <a:latin typeface="Cambria"/>
              </a:rPr>
              <a:t>		</a:t>
            </a:r>
            <a:r>
              <a:rPr sz="2400" b="0" dirty="0" err="1">
                <a:latin typeface="Cambria"/>
              </a:rPr>
              <a:t>gb_etx_foundG</a:t>
            </a:r>
            <a:r>
              <a:rPr sz="2400" b="0" dirty="0">
                <a:latin typeface="Cambria"/>
              </a:rPr>
              <a:t> = true ;</a:t>
            </a:r>
          </a:p>
          <a:p>
            <a:pPr>
              <a:tabLst>
                <a:tab pos="1920240" algn="l"/>
              </a:tabLst>
            </a:pPr>
            <a:r>
              <a:rPr sz="2400" dirty="0">
                <a:latin typeface="Cambria"/>
              </a:rPr>
              <a:t> </a:t>
            </a:r>
          </a:p>
          <a:p>
            <a:pPr>
              <a:tabLst>
                <a:tab pos="1920240" algn="l"/>
              </a:tabLst>
            </a:pPr>
            <a:r>
              <a:rPr sz="2400" b="0" dirty="0">
                <a:latin typeface="Cambria"/>
              </a:rPr>
              <a:t>volatile guarantees the compiler reads </a:t>
            </a:r>
            <a:r>
              <a:rPr sz="2400" b="0" dirty="0" smtClean="0">
                <a:latin typeface="Cambria"/>
              </a:rPr>
              <a:t>the</a:t>
            </a:r>
            <a:r>
              <a:rPr lang="en-US" sz="2400" b="0" dirty="0" smtClean="0">
                <a:latin typeface="Cambria"/>
              </a:rPr>
              <a:t> </a:t>
            </a:r>
            <a:r>
              <a:rPr sz="2400" b="0" dirty="0" smtClean="0">
                <a:latin typeface="Cambria"/>
              </a:rPr>
              <a:t>flag </a:t>
            </a:r>
            <a:r>
              <a:rPr sz="2400" b="0" dirty="0">
                <a:latin typeface="Cambria"/>
              </a:rPr>
              <a:t>on every pass</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volatile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300" b="0">
                <a:latin typeface="Cambria"/>
              </a:rPr>
              <a:t>Rust has </a:t>
            </a:r>
            <a:r>
              <a:rPr sz="2300" b="1">
                <a:latin typeface="Cambria"/>
              </a:rPr>
              <a:t>no</a:t>
            </a:r>
            <a:r>
              <a:rPr sz="2300" b="0">
                <a:latin typeface="Cambria"/>
              </a:rPr>
              <a:t> volatile keyword</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Registers:  explicit volatile access</a:t>
            </a:r>
          </a:p>
          <a:p>
            <a:pPr>
              <a:tabLst>
                <a:tab pos="548640" algn="l"/>
                <a:tab pos="1097280" algn="l"/>
                <a:tab pos="1645920" algn="l"/>
                <a:tab pos="2194560" algn="l"/>
              </a:tabLst>
            </a:pPr>
            <a:r>
              <a:rPr sz="2300" b="0">
                <a:latin typeface="Cambria"/>
              </a:rPr>
              <a:t>	let my_reg = 0xC000 as *const u8 ;</a:t>
            </a:r>
          </a:p>
          <a:p>
            <a:pPr>
              <a:tabLst>
                <a:tab pos="548640" algn="l"/>
                <a:tab pos="1097280" algn="l"/>
                <a:tab pos="1645920" algn="l"/>
                <a:tab pos="2194560" algn="l"/>
              </a:tabLst>
            </a:pPr>
            <a:r>
              <a:rPr sz="2300" b="0">
                <a:latin typeface="Cambria"/>
              </a:rPr>
              <a:t>	while unsafe { my_reg.read_volatile ( ) } == 0 { }</a:t>
            </a:r>
          </a:p>
          <a:p>
            <a:pPr>
              <a:tabLst>
                <a:tab pos="548640" algn="l"/>
                <a:tab pos="1097280" algn="l"/>
                <a:tab pos="1645920" algn="l"/>
                <a:tab pos="2194560" algn="l"/>
              </a:tabLst>
            </a:pPr>
            <a:r>
              <a:rPr sz="2300">
                <a:latin typeface="Cambria"/>
              </a:rPr>
              <a:t> </a:t>
            </a:r>
          </a:p>
          <a:p>
            <a:pPr>
              <a:tabLst>
                <a:tab pos="548640" algn="l"/>
                <a:tab pos="1097280" algn="l"/>
                <a:tab pos="1645920" algn="l"/>
                <a:tab pos="2194560" algn="l"/>
              </a:tabLst>
            </a:pPr>
            <a:r>
              <a:rPr sz="2300" b="0">
                <a:latin typeface="Cambria"/>
              </a:rPr>
              <a:t>Embedded register crates wrap this for you</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Interrupt Flags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354491"/>
          </a:xfrm>
          <a:prstGeom prst="rect">
            <a:avLst/>
          </a:prstGeom>
          <a:noFill/>
        </p:spPr>
        <p:txBody>
          <a:bodyPr wrap="square">
            <a:spAutoFit/>
          </a:bodyPr>
          <a:lstStyle/>
          <a:p>
            <a:pPr>
              <a:tabLst>
                <a:tab pos="548640" algn="l"/>
                <a:tab pos="1737360" algn="l"/>
              </a:tabLst>
            </a:pPr>
            <a:r>
              <a:rPr sz="2100" b="0" dirty="0">
                <a:latin typeface="Cambria"/>
              </a:rPr>
              <a:t>static ETX_FOUND_G : </a:t>
            </a:r>
            <a:r>
              <a:rPr sz="2100" b="0" dirty="0" err="1">
                <a:latin typeface="Cambria"/>
              </a:rPr>
              <a:t>AtomicBool</a:t>
            </a:r>
            <a:r>
              <a:rPr sz="2100" b="0" dirty="0">
                <a:latin typeface="Cambria"/>
              </a:rPr>
              <a:t> </a:t>
            </a:r>
            <a:r>
              <a:rPr sz="2100" b="0" dirty="0" smtClean="0">
                <a:latin typeface="Cambria"/>
              </a:rPr>
              <a:t>=</a:t>
            </a:r>
            <a:r>
              <a:rPr lang="en-US" sz="2100" b="0" dirty="0" smtClean="0">
                <a:latin typeface="Cambria"/>
              </a:rPr>
              <a:t> </a:t>
            </a:r>
            <a:r>
              <a:rPr sz="2100" b="0" dirty="0" err="1" smtClean="0">
                <a:latin typeface="Cambria"/>
              </a:rPr>
              <a:t>AtomicBool</a:t>
            </a:r>
            <a:r>
              <a:rPr sz="2100" b="0" dirty="0">
                <a:latin typeface="Cambria"/>
              </a:rPr>
              <a:t>::new ( false ) ;</a:t>
            </a:r>
          </a:p>
          <a:p>
            <a:pPr>
              <a:tabLst>
                <a:tab pos="548640" algn="l"/>
                <a:tab pos="1737360" algn="l"/>
              </a:tabLst>
            </a:pPr>
            <a:r>
              <a:rPr sz="2100" dirty="0">
                <a:latin typeface="Cambria"/>
              </a:rPr>
              <a:t> </a:t>
            </a:r>
          </a:p>
          <a:p>
            <a:pPr>
              <a:tabLst>
                <a:tab pos="548640" algn="l"/>
                <a:tab pos="1737360" algn="l"/>
              </a:tabLst>
            </a:pPr>
            <a:r>
              <a:rPr sz="2100" b="0" dirty="0">
                <a:latin typeface="Cambria"/>
              </a:rPr>
              <a:t>main:	while !</a:t>
            </a:r>
            <a:r>
              <a:rPr sz="2100" b="0" dirty="0" err="1">
                <a:latin typeface="Cambria"/>
              </a:rPr>
              <a:t>ETX_FOUND_G.load</a:t>
            </a:r>
            <a:r>
              <a:rPr sz="2100" b="0" dirty="0">
                <a:latin typeface="Cambria"/>
              </a:rPr>
              <a:t> ( Ordering::Acquire ) { }</a:t>
            </a:r>
          </a:p>
          <a:p>
            <a:pPr>
              <a:tabLst>
                <a:tab pos="548640" algn="l"/>
                <a:tab pos="1737360" algn="l"/>
              </a:tabLst>
            </a:pPr>
            <a:r>
              <a:rPr sz="2100" dirty="0">
                <a:latin typeface="Cambria"/>
              </a:rPr>
              <a:t> </a:t>
            </a:r>
          </a:p>
          <a:p>
            <a:pPr>
              <a:tabLst>
                <a:tab pos="548640" algn="l"/>
                <a:tab pos="1737360" algn="l"/>
              </a:tabLst>
            </a:pPr>
            <a:r>
              <a:rPr sz="2100" b="0" dirty="0">
                <a:latin typeface="Cambria"/>
              </a:rPr>
              <a:t>interrupt:	</a:t>
            </a:r>
            <a:r>
              <a:rPr sz="2100" b="0" dirty="0" err="1">
                <a:latin typeface="Cambria"/>
              </a:rPr>
              <a:t>ETX_FOUND_G.store</a:t>
            </a:r>
            <a:r>
              <a:rPr sz="2100" b="0" dirty="0">
                <a:latin typeface="Cambria"/>
              </a:rPr>
              <a:t> ( true, Ordering::Release ) ;</a:t>
            </a:r>
          </a:p>
          <a:p>
            <a:pPr>
              <a:tabLst>
                <a:tab pos="548640" algn="l"/>
                <a:tab pos="1737360" algn="l"/>
              </a:tabLst>
            </a:pPr>
            <a:r>
              <a:rPr sz="2100" dirty="0">
                <a:latin typeface="Cambria"/>
              </a:rPr>
              <a:t> </a:t>
            </a:r>
          </a:p>
          <a:p>
            <a:pPr>
              <a:tabLst>
                <a:tab pos="548640" algn="l"/>
                <a:tab pos="1737360" algn="l"/>
              </a:tabLst>
            </a:pPr>
            <a:r>
              <a:rPr sz="2100" b="0" dirty="0">
                <a:latin typeface="Cambria"/>
              </a:rPr>
              <a:t>An atomic is both safe and never optimized away</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3600" b="1" dirty="0" smtClean="0">
                <a:solidFill>
                  <a:schemeClr val="lt1"/>
                </a:solidFill>
                <a:latin typeface="Arial"/>
              </a:rPr>
              <a:t>volatile Is Not Enough for Threads</a:t>
            </a:r>
            <a:endParaRPr lang="en-US" sz="3600" b="0" u="none" strike="noStrike" dirty="0">
              <a:solidFill>
                <a:srgbClr val="000000"/>
              </a:solidFill>
              <a:effectLst/>
              <a:uFillTx/>
              <a:latin typeface="Arial"/>
            </a:endParaRPr>
          </a:p>
        </p:txBody>
      </p:sp>
      <p:sp>
        <p:nvSpPr>
          <p:cNvPr id="388" name="TextBox 387"/>
          <p:cNvSpPr txBox="1"/>
          <p:nvPr/>
        </p:nvSpPr>
        <p:spPr>
          <a:xfrm>
            <a:off x="580041" y="1949942"/>
            <a:ext cx="8135334" cy="3416320"/>
          </a:xfrm>
          <a:prstGeom prst="rect">
            <a:avLst/>
          </a:prstGeom>
          <a:noFill/>
        </p:spPr>
        <p:txBody>
          <a:bodyPr wrap="square">
            <a:spAutoFit/>
          </a:bodyPr>
          <a:lstStyle/>
          <a:p>
            <a:pPr>
              <a:tabLst>
                <a:tab pos="548640" algn="l"/>
                <a:tab pos="1097280" algn="l"/>
                <a:tab pos="1645920" algn="l"/>
                <a:tab pos="2194560" algn="l"/>
              </a:tabLst>
            </a:pPr>
            <a:r>
              <a:rPr sz="2400" b="0" dirty="0">
                <a:latin typeface="Cambria"/>
              </a:rPr>
              <a:t>volatile stops the compiler removing accesses</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It does </a:t>
            </a:r>
            <a:r>
              <a:rPr sz="2400" b="1" dirty="0">
                <a:latin typeface="Cambria"/>
              </a:rPr>
              <a:t>not</a:t>
            </a:r>
            <a:r>
              <a:rPr sz="2400" b="0" dirty="0">
                <a:latin typeface="Cambria"/>
              </a:rPr>
              <a:t> make  x = x + 1  indivisible</a:t>
            </a:r>
          </a:p>
          <a:p>
            <a:pPr>
              <a:tabLst>
                <a:tab pos="548640" algn="l"/>
                <a:tab pos="1097280" algn="l"/>
                <a:tab pos="1645920" algn="l"/>
                <a:tab pos="2194560" algn="l"/>
              </a:tabLst>
            </a:pPr>
            <a:endParaRPr lang="en-US" sz="2400" b="0" dirty="0" smtClean="0">
              <a:latin typeface="Cambria"/>
            </a:endParaRPr>
          </a:p>
          <a:p>
            <a:pPr>
              <a:tabLst>
                <a:tab pos="548640" algn="l"/>
                <a:tab pos="1097280" algn="l"/>
                <a:tab pos="1645920" algn="l"/>
                <a:tab pos="2194560" algn="l"/>
              </a:tabLst>
            </a:pPr>
            <a:r>
              <a:rPr sz="2400" b="0" dirty="0" smtClean="0">
                <a:latin typeface="Cambria"/>
              </a:rPr>
              <a:t>Two </a:t>
            </a:r>
            <a:r>
              <a:rPr sz="2400" b="0" dirty="0">
                <a:latin typeface="Cambria"/>
              </a:rPr>
              <a:t>threads can still lose an update</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Use atomics for shared data:</a:t>
            </a:r>
          </a:p>
          <a:p>
            <a:pPr>
              <a:tabLst>
                <a:tab pos="548640" algn="l"/>
                <a:tab pos="1097280" algn="l"/>
                <a:tab pos="1645920" algn="l"/>
                <a:tab pos="2194560" algn="l"/>
              </a:tabLst>
            </a:pPr>
            <a:r>
              <a:rPr sz="2400" b="0" dirty="0">
                <a:latin typeface="Cambria"/>
              </a:rPr>
              <a:t>	C:  &lt;</a:t>
            </a:r>
            <a:r>
              <a:rPr sz="2400" b="0" dirty="0" err="1">
                <a:latin typeface="Cambria"/>
              </a:rPr>
              <a:t>stdatomic.h</a:t>
            </a:r>
            <a:r>
              <a:rPr sz="2400" b="0" dirty="0">
                <a:latin typeface="Cambria"/>
              </a:rPr>
              <a:t>&gt;     C++:  </a:t>
            </a:r>
            <a:r>
              <a:rPr sz="2400" b="0" dirty="0" err="1">
                <a:latin typeface="Cambria"/>
              </a:rPr>
              <a:t>std</a:t>
            </a:r>
            <a:r>
              <a:rPr sz="2400" b="0" dirty="0">
                <a:latin typeface="Cambria"/>
              </a:rPr>
              <a:t>::atomic</a:t>
            </a:r>
          </a:p>
          <a:p>
            <a:pPr>
              <a:tabLst>
                <a:tab pos="548640" algn="l"/>
                <a:tab pos="1097280" algn="l"/>
                <a:tab pos="1645920" algn="l"/>
                <a:tab pos="2194560" algn="l"/>
              </a:tabLst>
            </a:pPr>
            <a:r>
              <a:rPr sz="2400" b="0" dirty="0">
                <a:latin typeface="Cambria"/>
              </a:rPr>
              <a:t>	Rust:  AtomicI32, </a:t>
            </a:r>
            <a:r>
              <a:rPr sz="2400" b="0" dirty="0" err="1">
                <a:latin typeface="Cambria"/>
              </a:rPr>
              <a:t>AtomicBool</a:t>
            </a:r>
            <a:r>
              <a:rPr sz="2400" b="0" dirty="0">
                <a:latin typeface="Cambria"/>
              </a:rPr>
              <a:t>, ...</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Scope and Lifetime Together</a:t>
            </a:r>
            <a:endParaRPr lang="en-US" sz="4000" b="0" u="none" strike="noStrike" dirty="0">
              <a:solidFill>
                <a:srgbClr val="000000"/>
              </a:solidFill>
              <a:effectLst/>
              <a:uFillTx/>
              <a:latin typeface="Arial"/>
            </a:endParaRPr>
          </a:p>
        </p:txBody>
      </p:sp>
      <p:sp>
        <p:nvSpPr>
          <p:cNvPr id="388" name="Rectangle 387"/>
          <p:cNvSpPr/>
          <p:nvPr/>
        </p:nvSpPr>
        <p:spPr>
          <a:xfrm>
            <a:off x="685800" y="2011680"/>
            <a:ext cx="2011680" cy="65836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Kind</a:t>
            </a:r>
          </a:p>
        </p:txBody>
      </p:sp>
      <p:sp>
        <p:nvSpPr>
          <p:cNvPr id="389" name="Rectangle 388"/>
          <p:cNvSpPr/>
          <p:nvPr/>
        </p:nvSpPr>
        <p:spPr>
          <a:xfrm>
            <a:off x="2697480" y="2011680"/>
            <a:ext cx="2468880" cy="65836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Scope</a:t>
            </a:r>
          </a:p>
        </p:txBody>
      </p:sp>
      <p:sp>
        <p:nvSpPr>
          <p:cNvPr id="390" name="Rectangle 389"/>
          <p:cNvSpPr/>
          <p:nvPr/>
        </p:nvSpPr>
        <p:spPr>
          <a:xfrm>
            <a:off x="5166360" y="2011680"/>
            <a:ext cx="2011680" cy="65836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Lifetime</a:t>
            </a:r>
          </a:p>
        </p:txBody>
      </p:sp>
      <p:sp>
        <p:nvSpPr>
          <p:cNvPr id="391" name="Rectangle 390"/>
          <p:cNvSpPr/>
          <p:nvPr/>
        </p:nvSpPr>
        <p:spPr>
          <a:xfrm>
            <a:off x="7178040" y="2011680"/>
            <a:ext cx="1463040" cy="658368"/>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Lives in</a:t>
            </a:r>
          </a:p>
        </p:txBody>
      </p:sp>
      <p:sp>
        <p:nvSpPr>
          <p:cNvPr id="392" name="Rectangle 391"/>
          <p:cNvSpPr/>
          <p:nvPr/>
        </p:nvSpPr>
        <p:spPr>
          <a:xfrm>
            <a:off x="685800" y="2670048"/>
            <a:ext cx="201168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auto (local)</a:t>
            </a:r>
          </a:p>
        </p:txBody>
      </p:sp>
      <p:sp>
        <p:nvSpPr>
          <p:cNvPr id="393" name="Rectangle 392"/>
          <p:cNvSpPr/>
          <p:nvPr/>
        </p:nvSpPr>
        <p:spPr>
          <a:xfrm>
            <a:off x="2697480" y="2670048"/>
            <a:ext cx="24688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the block</a:t>
            </a:r>
          </a:p>
        </p:txBody>
      </p:sp>
      <p:sp>
        <p:nvSpPr>
          <p:cNvPr id="394" name="Rectangle 393"/>
          <p:cNvSpPr/>
          <p:nvPr/>
        </p:nvSpPr>
        <p:spPr>
          <a:xfrm>
            <a:off x="5166360" y="2670048"/>
            <a:ext cx="20116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the call</a:t>
            </a:r>
          </a:p>
        </p:txBody>
      </p:sp>
      <p:sp>
        <p:nvSpPr>
          <p:cNvPr id="395" name="Rectangle 394"/>
          <p:cNvSpPr/>
          <p:nvPr/>
        </p:nvSpPr>
        <p:spPr>
          <a:xfrm>
            <a:off x="7178040" y="2670048"/>
            <a:ext cx="14630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stack</a:t>
            </a:r>
          </a:p>
        </p:txBody>
      </p:sp>
      <p:sp>
        <p:nvSpPr>
          <p:cNvPr id="396" name="Rectangle 395"/>
          <p:cNvSpPr/>
          <p:nvPr/>
        </p:nvSpPr>
        <p:spPr>
          <a:xfrm>
            <a:off x="685800" y="3328416"/>
            <a:ext cx="201168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local static</a:t>
            </a:r>
          </a:p>
        </p:txBody>
      </p:sp>
      <p:sp>
        <p:nvSpPr>
          <p:cNvPr id="397" name="Rectangle 396"/>
          <p:cNvSpPr/>
          <p:nvPr/>
        </p:nvSpPr>
        <p:spPr>
          <a:xfrm>
            <a:off x="2697480" y="3328416"/>
            <a:ext cx="24688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the function</a:t>
            </a:r>
          </a:p>
        </p:txBody>
      </p:sp>
      <p:sp>
        <p:nvSpPr>
          <p:cNvPr id="398" name="Rectangle 397"/>
          <p:cNvSpPr/>
          <p:nvPr/>
        </p:nvSpPr>
        <p:spPr>
          <a:xfrm>
            <a:off x="5166360" y="3328416"/>
            <a:ext cx="20116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whole program</a:t>
            </a:r>
          </a:p>
        </p:txBody>
      </p:sp>
      <p:sp>
        <p:nvSpPr>
          <p:cNvPr id="399" name="Rectangle 398"/>
          <p:cNvSpPr/>
          <p:nvPr/>
        </p:nvSpPr>
        <p:spPr>
          <a:xfrm>
            <a:off x="7178040" y="3328416"/>
            <a:ext cx="14630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data</a:t>
            </a:r>
          </a:p>
        </p:txBody>
      </p:sp>
      <p:sp>
        <p:nvSpPr>
          <p:cNvPr id="400" name="Rectangle 399"/>
          <p:cNvSpPr/>
          <p:nvPr/>
        </p:nvSpPr>
        <p:spPr>
          <a:xfrm>
            <a:off x="685800" y="3986784"/>
            <a:ext cx="201168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file static</a:t>
            </a:r>
          </a:p>
        </p:txBody>
      </p:sp>
      <p:sp>
        <p:nvSpPr>
          <p:cNvPr id="401" name="Rectangle 400"/>
          <p:cNvSpPr/>
          <p:nvPr/>
        </p:nvSpPr>
        <p:spPr>
          <a:xfrm>
            <a:off x="2697480" y="3986784"/>
            <a:ext cx="24688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the file</a:t>
            </a:r>
          </a:p>
        </p:txBody>
      </p:sp>
      <p:sp>
        <p:nvSpPr>
          <p:cNvPr id="402" name="Rectangle 401"/>
          <p:cNvSpPr/>
          <p:nvPr/>
        </p:nvSpPr>
        <p:spPr>
          <a:xfrm>
            <a:off x="5166360" y="3986784"/>
            <a:ext cx="20116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whole program</a:t>
            </a:r>
          </a:p>
        </p:txBody>
      </p:sp>
      <p:sp>
        <p:nvSpPr>
          <p:cNvPr id="403" name="Rectangle 402"/>
          <p:cNvSpPr/>
          <p:nvPr/>
        </p:nvSpPr>
        <p:spPr>
          <a:xfrm>
            <a:off x="7178040" y="3986784"/>
            <a:ext cx="14630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data</a:t>
            </a:r>
          </a:p>
        </p:txBody>
      </p:sp>
      <p:sp>
        <p:nvSpPr>
          <p:cNvPr id="404" name="Rectangle 403"/>
          <p:cNvSpPr/>
          <p:nvPr/>
        </p:nvSpPr>
        <p:spPr>
          <a:xfrm>
            <a:off x="685800" y="4645152"/>
            <a:ext cx="201168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global</a:t>
            </a:r>
          </a:p>
        </p:txBody>
      </p:sp>
      <p:sp>
        <p:nvSpPr>
          <p:cNvPr id="405" name="Rectangle 404"/>
          <p:cNvSpPr/>
          <p:nvPr/>
        </p:nvSpPr>
        <p:spPr>
          <a:xfrm>
            <a:off x="2697480" y="4645152"/>
            <a:ext cx="24688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every file (extern)</a:t>
            </a:r>
          </a:p>
        </p:txBody>
      </p:sp>
      <p:sp>
        <p:nvSpPr>
          <p:cNvPr id="406" name="Rectangle 405"/>
          <p:cNvSpPr/>
          <p:nvPr/>
        </p:nvSpPr>
        <p:spPr>
          <a:xfrm>
            <a:off x="5166360" y="4645152"/>
            <a:ext cx="20116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whole program</a:t>
            </a:r>
          </a:p>
        </p:txBody>
      </p:sp>
      <p:sp>
        <p:nvSpPr>
          <p:cNvPr id="407" name="Rectangle 406"/>
          <p:cNvSpPr/>
          <p:nvPr/>
        </p:nvSpPr>
        <p:spPr>
          <a:xfrm>
            <a:off x="7178040" y="4645152"/>
            <a:ext cx="14630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data</a:t>
            </a:r>
          </a:p>
        </p:txBody>
      </p:sp>
      <p:sp>
        <p:nvSpPr>
          <p:cNvPr id="408" name="Rectangle 407"/>
          <p:cNvSpPr/>
          <p:nvPr/>
        </p:nvSpPr>
        <p:spPr>
          <a:xfrm>
            <a:off x="685800" y="5303520"/>
            <a:ext cx="2011680" cy="65836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heap</a:t>
            </a:r>
          </a:p>
        </p:txBody>
      </p:sp>
      <p:sp>
        <p:nvSpPr>
          <p:cNvPr id="409" name="Rectangle 408"/>
          <p:cNvSpPr/>
          <p:nvPr/>
        </p:nvSpPr>
        <p:spPr>
          <a:xfrm>
            <a:off x="2697480" y="5303520"/>
            <a:ext cx="24688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via a pointer</a:t>
            </a:r>
          </a:p>
        </p:txBody>
      </p:sp>
      <p:sp>
        <p:nvSpPr>
          <p:cNvPr id="410" name="Rectangle 409"/>
          <p:cNvSpPr/>
          <p:nvPr/>
        </p:nvSpPr>
        <p:spPr>
          <a:xfrm>
            <a:off x="5166360" y="5303520"/>
            <a:ext cx="201168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until freed</a:t>
            </a:r>
          </a:p>
        </p:txBody>
      </p:sp>
      <p:sp>
        <p:nvSpPr>
          <p:cNvPr id="411" name="Rectangle 410"/>
          <p:cNvSpPr/>
          <p:nvPr/>
        </p:nvSpPr>
        <p:spPr>
          <a:xfrm>
            <a:off x="7178040" y="5303520"/>
            <a:ext cx="1463040" cy="65836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heap</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Across the Three Languages</a:t>
            </a:r>
            <a:endParaRPr lang="en-US" sz="4400" b="0" u="none" strike="noStrike" dirty="0">
              <a:solidFill>
                <a:srgbClr val="000000"/>
              </a:solidFill>
              <a:effectLst/>
              <a:uFillTx/>
              <a:latin typeface="Arial"/>
            </a:endParaRPr>
          </a:p>
        </p:txBody>
      </p:sp>
      <p:sp>
        <p:nvSpPr>
          <p:cNvPr id="388" name="Rectangle 387"/>
          <p:cNvSpPr/>
          <p:nvPr/>
        </p:nvSpPr>
        <p:spPr>
          <a:xfrm>
            <a:off x="667512" y="1965960"/>
            <a:ext cx="164592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endParaRPr/>
          </a:p>
        </p:txBody>
      </p:sp>
      <p:sp>
        <p:nvSpPr>
          <p:cNvPr id="389" name="Rectangle 388"/>
          <p:cNvSpPr/>
          <p:nvPr/>
        </p:nvSpPr>
        <p:spPr>
          <a:xfrm>
            <a:off x="2313432" y="1965960"/>
            <a:ext cx="201168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C</a:t>
            </a:r>
          </a:p>
        </p:txBody>
      </p:sp>
      <p:sp>
        <p:nvSpPr>
          <p:cNvPr id="390" name="Rectangle 389"/>
          <p:cNvSpPr/>
          <p:nvPr/>
        </p:nvSpPr>
        <p:spPr>
          <a:xfrm>
            <a:off x="4325112" y="1965960"/>
            <a:ext cx="251460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C++</a:t>
            </a:r>
          </a:p>
        </p:txBody>
      </p:sp>
      <p:sp>
        <p:nvSpPr>
          <p:cNvPr id="391" name="Rectangle 390"/>
          <p:cNvSpPr/>
          <p:nvPr/>
        </p:nvSpPr>
        <p:spPr>
          <a:xfrm>
            <a:off x="6839712" y="1965960"/>
            <a:ext cx="2606040"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Rust</a:t>
            </a:r>
          </a:p>
        </p:txBody>
      </p:sp>
      <p:sp>
        <p:nvSpPr>
          <p:cNvPr id="392" name="Rectangle 391"/>
          <p:cNvSpPr/>
          <p:nvPr/>
        </p:nvSpPr>
        <p:spPr>
          <a:xfrm>
            <a:off x="667512" y="2587752"/>
            <a:ext cx="1645920"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global</a:t>
            </a:r>
          </a:p>
        </p:txBody>
      </p:sp>
      <p:sp>
        <p:nvSpPr>
          <p:cNvPr id="393" name="Rectangle 392"/>
          <p:cNvSpPr/>
          <p:nvPr/>
        </p:nvSpPr>
        <p:spPr>
          <a:xfrm>
            <a:off x="2313432" y="2587752"/>
            <a:ext cx="201168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int xG ;</a:t>
            </a:r>
          </a:p>
        </p:txBody>
      </p:sp>
      <p:sp>
        <p:nvSpPr>
          <p:cNvPr id="394" name="Rectangle 393"/>
          <p:cNvSpPr/>
          <p:nvPr/>
        </p:nvSpPr>
        <p:spPr>
          <a:xfrm>
            <a:off x="4325112" y="2587752"/>
            <a:ext cx="251460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int xG ;  or namespace</a:t>
            </a:r>
          </a:p>
        </p:txBody>
      </p:sp>
      <p:sp>
        <p:nvSpPr>
          <p:cNvPr id="395" name="Rectangle 394"/>
          <p:cNvSpPr/>
          <p:nvPr/>
        </p:nvSpPr>
        <p:spPr>
          <a:xfrm>
            <a:off x="6839712" y="2587752"/>
            <a:ext cx="260604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pub static  (atomic)</a:t>
            </a:r>
          </a:p>
        </p:txBody>
      </p:sp>
      <p:sp>
        <p:nvSpPr>
          <p:cNvPr id="396" name="Rectangle 395"/>
          <p:cNvSpPr/>
          <p:nvPr/>
        </p:nvSpPr>
        <p:spPr>
          <a:xfrm>
            <a:off x="667512" y="3209544"/>
            <a:ext cx="1645920"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file private</a:t>
            </a:r>
          </a:p>
        </p:txBody>
      </p:sp>
      <p:sp>
        <p:nvSpPr>
          <p:cNvPr id="397" name="Rectangle 396"/>
          <p:cNvSpPr/>
          <p:nvPr/>
        </p:nvSpPr>
        <p:spPr>
          <a:xfrm>
            <a:off x="2313432" y="3209544"/>
            <a:ext cx="201168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static int xS ;</a:t>
            </a:r>
          </a:p>
        </p:txBody>
      </p:sp>
      <p:sp>
        <p:nvSpPr>
          <p:cNvPr id="398" name="Rectangle 397"/>
          <p:cNvSpPr/>
          <p:nvPr/>
        </p:nvSpPr>
        <p:spPr>
          <a:xfrm>
            <a:off x="4325112" y="3209544"/>
            <a:ext cx="251460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namespace { }</a:t>
            </a:r>
          </a:p>
        </p:txBody>
      </p:sp>
      <p:sp>
        <p:nvSpPr>
          <p:cNvPr id="399" name="Rectangle 398"/>
          <p:cNvSpPr/>
          <p:nvPr/>
        </p:nvSpPr>
        <p:spPr>
          <a:xfrm>
            <a:off x="6839712" y="3209544"/>
            <a:ext cx="260604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default  (no pub)</a:t>
            </a:r>
          </a:p>
        </p:txBody>
      </p:sp>
      <p:sp>
        <p:nvSpPr>
          <p:cNvPr id="400" name="Rectangle 399"/>
          <p:cNvSpPr/>
          <p:nvPr/>
        </p:nvSpPr>
        <p:spPr>
          <a:xfrm>
            <a:off x="667512" y="3831335"/>
            <a:ext cx="1645920"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local static</a:t>
            </a:r>
          </a:p>
        </p:txBody>
      </p:sp>
      <p:sp>
        <p:nvSpPr>
          <p:cNvPr id="401" name="Rectangle 400"/>
          <p:cNvSpPr/>
          <p:nvPr/>
        </p:nvSpPr>
        <p:spPr>
          <a:xfrm>
            <a:off x="2313432" y="3831335"/>
            <a:ext cx="201168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static int xL ;</a:t>
            </a:r>
          </a:p>
        </p:txBody>
      </p:sp>
      <p:sp>
        <p:nvSpPr>
          <p:cNvPr id="402" name="Rectangle 401"/>
          <p:cNvSpPr/>
          <p:nvPr/>
        </p:nvSpPr>
        <p:spPr>
          <a:xfrm>
            <a:off x="4325112" y="3831335"/>
            <a:ext cx="251460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static int xL ;</a:t>
            </a:r>
          </a:p>
        </p:txBody>
      </p:sp>
      <p:sp>
        <p:nvSpPr>
          <p:cNvPr id="403" name="Rectangle 402"/>
          <p:cNvSpPr/>
          <p:nvPr/>
        </p:nvSpPr>
        <p:spPr>
          <a:xfrm>
            <a:off x="6839712" y="3831335"/>
            <a:ext cx="260604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static  (atomic)</a:t>
            </a:r>
          </a:p>
        </p:txBody>
      </p:sp>
      <p:sp>
        <p:nvSpPr>
          <p:cNvPr id="404" name="Rectangle 403"/>
          <p:cNvSpPr/>
          <p:nvPr/>
        </p:nvSpPr>
        <p:spPr>
          <a:xfrm>
            <a:off x="667512" y="4453128"/>
            <a:ext cx="1645920"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declare</a:t>
            </a:r>
          </a:p>
        </p:txBody>
      </p:sp>
      <p:sp>
        <p:nvSpPr>
          <p:cNvPr id="405" name="Rectangle 404"/>
          <p:cNvSpPr/>
          <p:nvPr/>
        </p:nvSpPr>
        <p:spPr>
          <a:xfrm>
            <a:off x="2313432" y="4453128"/>
            <a:ext cx="201168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extern</a:t>
            </a:r>
          </a:p>
        </p:txBody>
      </p:sp>
      <p:sp>
        <p:nvSpPr>
          <p:cNvPr id="406" name="Rectangle 405"/>
          <p:cNvSpPr/>
          <p:nvPr/>
        </p:nvSpPr>
        <p:spPr>
          <a:xfrm>
            <a:off x="4325112" y="4453128"/>
            <a:ext cx="251460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extern</a:t>
            </a:r>
          </a:p>
        </p:txBody>
      </p:sp>
      <p:sp>
        <p:nvSpPr>
          <p:cNvPr id="407" name="Rectangle 406"/>
          <p:cNvSpPr/>
          <p:nvPr/>
        </p:nvSpPr>
        <p:spPr>
          <a:xfrm>
            <a:off x="6839712" y="4453128"/>
            <a:ext cx="260604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mod  +  use</a:t>
            </a:r>
          </a:p>
        </p:txBody>
      </p:sp>
      <p:sp>
        <p:nvSpPr>
          <p:cNvPr id="408" name="Rectangle 407"/>
          <p:cNvSpPr/>
          <p:nvPr/>
        </p:nvSpPr>
        <p:spPr>
          <a:xfrm>
            <a:off x="667512" y="5074920"/>
            <a:ext cx="1645920"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heap</a:t>
            </a:r>
          </a:p>
        </p:txBody>
      </p:sp>
      <p:sp>
        <p:nvSpPr>
          <p:cNvPr id="409" name="Rectangle 408"/>
          <p:cNvSpPr/>
          <p:nvPr/>
        </p:nvSpPr>
        <p:spPr>
          <a:xfrm>
            <a:off x="2313432" y="5074920"/>
            <a:ext cx="201168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malloc / free</a:t>
            </a:r>
          </a:p>
        </p:txBody>
      </p:sp>
      <p:sp>
        <p:nvSpPr>
          <p:cNvPr id="410" name="Rectangle 409"/>
          <p:cNvSpPr/>
          <p:nvPr/>
        </p:nvSpPr>
        <p:spPr>
          <a:xfrm>
            <a:off x="4325112" y="5074920"/>
            <a:ext cx="251460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vector, unique_ptr</a:t>
            </a:r>
          </a:p>
        </p:txBody>
      </p:sp>
      <p:sp>
        <p:nvSpPr>
          <p:cNvPr id="411" name="Rectangle 410"/>
          <p:cNvSpPr/>
          <p:nvPr/>
        </p:nvSpPr>
        <p:spPr>
          <a:xfrm>
            <a:off x="6839712" y="5074920"/>
            <a:ext cx="260604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Vec, Box</a:t>
            </a:r>
          </a:p>
        </p:txBody>
      </p:sp>
      <p:sp>
        <p:nvSpPr>
          <p:cNvPr id="412" name="Rectangle 411"/>
          <p:cNvSpPr/>
          <p:nvPr/>
        </p:nvSpPr>
        <p:spPr>
          <a:xfrm>
            <a:off x="667512" y="5696712"/>
            <a:ext cx="1645920"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1">
                <a:solidFill>
                  <a:srgbClr val="000000"/>
                </a:solidFill>
                <a:latin typeface="Cambria"/>
              </a:rPr>
              <a:t>volatile</a:t>
            </a:r>
          </a:p>
        </p:txBody>
      </p:sp>
      <p:sp>
        <p:nvSpPr>
          <p:cNvPr id="413" name="Rectangle 412"/>
          <p:cNvSpPr/>
          <p:nvPr/>
        </p:nvSpPr>
        <p:spPr>
          <a:xfrm>
            <a:off x="2313432" y="5696712"/>
            <a:ext cx="201168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volatile</a:t>
            </a:r>
          </a:p>
        </p:txBody>
      </p:sp>
      <p:sp>
        <p:nvSpPr>
          <p:cNvPr id="414" name="Rectangle 413"/>
          <p:cNvSpPr/>
          <p:nvPr/>
        </p:nvSpPr>
        <p:spPr>
          <a:xfrm>
            <a:off x="4325112" y="5696712"/>
            <a:ext cx="251460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volatile</a:t>
            </a:r>
          </a:p>
        </p:txBody>
      </p:sp>
      <p:sp>
        <p:nvSpPr>
          <p:cNvPr id="415" name="Rectangle 414"/>
          <p:cNvSpPr/>
          <p:nvPr/>
        </p:nvSpPr>
        <p:spPr>
          <a:xfrm>
            <a:off x="6839712" y="5696712"/>
            <a:ext cx="2606040"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500" b="0">
                <a:solidFill>
                  <a:srgbClr val="000000"/>
                </a:solidFill>
                <a:latin typeface="Cambria"/>
              </a:rPr>
              <a:t>read_volatile</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Good Habits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400" b="0" dirty="0">
                <a:latin typeface="Cambria"/>
              </a:rPr>
              <a:t>Prefer </a:t>
            </a:r>
            <a:r>
              <a:rPr sz="2400" b="1" dirty="0">
                <a:latin typeface="Cambria"/>
              </a:rPr>
              <a:t>local</a:t>
            </a:r>
            <a:r>
              <a:rPr sz="2400" b="0" dirty="0">
                <a:latin typeface="Cambria"/>
              </a:rPr>
              <a:t> variables and parameters</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Give every name the </a:t>
            </a:r>
            <a:r>
              <a:rPr sz="2400" b="1" dirty="0">
                <a:latin typeface="Cambria"/>
              </a:rPr>
              <a:t>smallest</a:t>
            </a:r>
            <a:r>
              <a:rPr sz="2400" b="0" dirty="0">
                <a:latin typeface="Cambria"/>
              </a:rPr>
              <a:t> scope that works</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Make file-only data  </a:t>
            </a:r>
            <a:r>
              <a:rPr sz="2400" b="1" dirty="0">
                <a:latin typeface="Cambria"/>
              </a:rPr>
              <a:t>static</a:t>
            </a:r>
            <a:r>
              <a:rPr sz="2400" b="0" dirty="0">
                <a:latin typeface="Cambria"/>
              </a:rPr>
              <a:t>  ( C )  or private ( Rust )</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Mark names:  </a:t>
            </a:r>
            <a:r>
              <a:rPr sz="2400" b="1" dirty="0">
                <a:latin typeface="Cambria"/>
              </a:rPr>
              <a:t>G</a:t>
            </a:r>
            <a:r>
              <a:rPr sz="2400" b="0" dirty="0">
                <a:latin typeface="Cambria"/>
              </a:rPr>
              <a:t> global,  </a:t>
            </a:r>
            <a:r>
              <a:rPr sz="2400" b="1" dirty="0">
                <a:latin typeface="Cambria"/>
              </a:rPr>
              <a:t>S</a:t>
            </a:r>
            <a:r>
              <a:rPr sz="2400" b="0" dirty="0">
                <a:latin typeface="Cambria"/>
              </a:rPr>
              <a:t> file static,  </a:t>
            </a:r>
            <a:r>
              <a:rPr sz="2400" b="1" dirty="0">
                <a:latin typeface="Cambria"/>
              </a:rPr>
              <a:t>L</a:t>
            </a:r>
            <a:r>
              <a:rPr sz="2400" b="0" dirty="0">
                <a:latin typeface="Cambria"/>
              </a:rPr>
              <a:t> local static</a:t>
            </a:r>
          </a:p>
          <a:p>
            <a:pPr>
              <a:tabLst>
                <a:tab pos="548640" algn="l"/>
                <a:tab pos="1097280" algn="l"/>
                <a:tab pos="1645920" algn="l"/>
                <a:tab pos="2194560" algn="l"/>
              </a:tabLst>
            </a:pPr>
            <a:r>
              <a:rPr sz="2400" dirty="0">
                <a:latin typeface="Cambria"/>
              </a:rPr>
              <a:t> </a:t>
            </a:r>
          </a:p>
          <a:p>
            <a:pPr>
              <a:tabLst>
                <a:tab pos="548640" algn="l"/>
                <a:tab pos="1097280" algn="l"/>
                <a:tab pos="1645920" algn="l"/>
                <a:tab pos="2194560" algn="l"/>
              </a:tabLst>
            </a:pPr>
            <a:r>
              <a:rPr sz="2400" b="0" dirty="0">
                <a:latin typeface="Cambria"/>
              </a:rPr>
              <a:t>Use  </a:t>
            </a:r>
            <a:r>
              <a:rPr sz="2400" b="1" dirty="0" err="1">
                <a:latin typeface="Cambria"/>
              </a:rPr>
              <a:t>const</a:t>
            </a:r>
            <a:r>
              <a:rPr sz="2400" b="0" dirty="0">
                <a:latin typeface="Cambria"/>
              </a:rPr>
              <a:t>  for anything that should not change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We Can Now Do</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377440" algn="l"/>
              </a:tabLst>
            </a:pPr>
            <a:r>
              <a:rPr sz="2600" b="1">
                <a:latin typeface="Cambria"/>
              </a:rPr>
              <a:t>Scope</a:t>
            </a:r>
            <a:r>
              <a:rPr sz="2600" b="0">
                <a:latin typeface="Cambria"/>
              </a:rPr>
              <a:t>	where a name is visible</a:t>
            </a:r>
          </a:p>
          <a:p>
            <a:pPr>
              <a:tabLst>
                <a:tab pos="2377440" algn="l"/>
              </a:tabLst>
            </a:pPr>
            <a:r>
              <a:rPr sz="2600">
                <a:latin typeface="Cambria"/>
              </a:rPr>
              <a:t> </a:t>
            </a:r>
          </a:p>
          <a:p>
            <a:pPr>
              <a:tabLst>
                <a:tab pos="2377440" algn="l"/>
              </a:tabLst>
            </a:pPr>
            <a:r>
              <a:rPr sz="2600" b="1">
                <a:latin typeface="Cambria"/>
              </a:rPr>
              <a:t>Lifetime</a:t>
            </a:r>
            <a:r>
              <a:rPr sz="2600" b="0">
                <a:latin typeface="Cambria"/>
              </a:rPr>
              <a:t>	how long its memory exists</a:t>
            </a:r>
          </a:p>
          <a:p>
            <a:pPr>
              <a:tabLst>
                <a:tab pos="2377440" algn="l"/>
              </a:tabLst>
            </a:pPr>
            <a:r>
              <a:rPr sz="2600">
                <a:latin typeface="Cambria"/>
              </a:rPr>
              <a:t> </a:t>
            </a:r>
          </a:p>
          <a:p>
            <a:pPr>
              <a:tabLst>
                <a:tab pos="2377440" algn="l"/>
              </a:tabLst>
            </a:pPr>
            <a:r>
              <a:rPr sz="2600" b="1">
                <a:latin typeface="Cambria"/>
              </a:rPr>
              <a:t>Regions</a:t>
            </a:r>
            <a:r>
              <a:rPr sz="2600" b="0">
                <a:latin typeface="Cambria"/>
              </a:rPr>
              <a:t>	data segment,  stack,  heap</a:t>
            </a:r>
          </a:p>
          <a:p>
            <a:pPr>
              <a:tabLst>
                <a:tab pos="2377440" algn="l"/>
              </a:tabLst>
            </a:pPr>
            <a:r>
              <a:rPr sz="2600">
                <a:latin typeface="Cambria"/>
              </a:rPr>
              <a:t> </a:t>
            </a:r>
          </a:p>
          <a:p>
            <a:pPr>
              <a:tabLst>
                <a:tab pos="2377440" algn="l"/>
              </a:tabLst>
            </a:pPr>
            <a:r>
              <a:rPr sz="2600" b="1">
                <a:latin typeface="Cambria"/>
              </a:rPr>
              <a:t>Keywords</a:t>
            </a:r>
            <a:r>
              <a:rPr sz="2600" b="0">
                <a:latin typeface="Cambria"/>
              </a:rPr>
              <a:t>	extern   static   volatile   pub</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Let's practice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1097280" algn="l"/>
                <a:tab pos="1645920" algn="l"/>
                <a:tab pos="2194560" algn="l"/>
              </a:tabLst>
            </a:pPr>
            <a:r>
              <a:rPr sz="2800">
                <a:latin typeface="Cambria"/>
              </a:rPr>
              <a:t> </a:t>
            </a:r>
          </a:p>
          <a:p>
            <a:pPr>
              <a:tabLst>
                <a:tab pos="548640" algn="l"/>
                <a:tab pos="1097280" algn="l"/>
                <a:tab pos="1645920" algn="l"/>
                <a:tab pos="2194560" algn="l"/>
              </a:tabLst>
            </a:pPr>
            <a:r>
              <a:rPr sz="2800" b="0">
                <a:latin typeface="Cambria"/>
              </a:rPr>
              <a:t>Exercise:  Using </a:t>
            </a:r>
            <a:r>
              <a:rPr sz="2800" b="1">
                <a:latin typeface="Cambria"/>
              </a:rPr>
              <a:t>scopepractice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58003</TotalTime>
  <Words>4302</Words>
  <Application>Microsoft Office PowerPoint</Application>
  <PresentationFormat>Custom</PresentationFormat>
  <Paragraphs>812</Paragraphs>
  <Slides>80</Slides>
  <Notes>80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80</vt:i4>
      </vt:variant>
    </vt:vector>
  </HeadingPairs>
  <TitlesOfParts>
    <vt:vector size="93" baseType="lpstr">
      <vt:lpstr>ＭＳ Ｐゴシック</vt:lpstr>
      <vt:lpstr>Arial</vt:lpstr>
      <vt:lpstr>Calibri</vt:lpstr>
      <vt:lpstr>Cambria</vt:lpstr>
      <vt:lpstr>DejaVu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590</cp:revision>
  <dcterms:created xsi:type="dcterms:W3CDTF">2013-08-28T11:36:20Z</dcterms:created>
  <dcterms:modified xsi:type="dcterms:W3CDTF">2026-10-28T19:12:10Z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