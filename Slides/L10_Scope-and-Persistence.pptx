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4" r:id="rId2"/>
    <p:sldMasterId id="2147483668" r:id="rId3"/>
  </p:sldMasterIdLst>
  <p:notesMasterIdLst>
    <p:notesMasterId r:id="rId7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</p:sldIdLst>
  <p:sldSz cx="10058400" cy="7772400"/>
  <p:notesSz cx="10058400" cy="7772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92" userDrawn="1">
          <p15:clr>
            <a:srgbClr val="A4A3A4"/>
          </p15:clr>
        </p15:guide>
        <p15:guide id="2" pos="33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44" autoAdjust="0"/>
    <p:restoredTop sz="94660"/>
  </p:normalViewPr>
  <p:slideViewPr>
    <p:cSldViewPr snapToGrid="0" showGuides="1">
      <p:cViewPr varScale="1">
        <p:scale>
          <a:sx n="97" d="100"/>
          <a:sy n="97" d="100"/>
        </p:scale>
        <p:origin x="2148" y="78"/>
      </p:cViewPr>
      <p:guideLst>
        <p:guide orient="horz" pos="4392"/>
        <p:guide pos="3312"/>
      </p:guideLst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76" Type="http://schemas.openxmlformats.org/officeDocument/2006/relationships/slide" Target="slides/slide73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slide" Target="slides/slide63.xml"/><Relationship Id="rId74" Type="http://schemas.openxmlformats.org/officeDocument/2006/relationships/slide" Target="slides/slide71.xml"/><Relationship Id="rId79" Type="http://schemas.openxmlformats.org/officeDocument/2006/relationships/presProps" Target="pres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82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notesMaster" Target="notesMasters/notesMaster1.xml"/><Relationship Id="rId81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slide" Target="slides/slide74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38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383" name="PlaceHolder 4"/>
          <p:cNvSpPr>
            <a:spLocks noGrp="1"/>
          </p:cNvSpPr>
          <p:nvPr>
            <p:ph type="dt" idx="16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84" name="PlaceHolder 5"/>
          <p:cNvSpPr>
            <a:spLocks noGrp="1"/>
          </p:cNvSpPr>
          <p:nvPr>
            <p:ph type="ftr" idx="17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85" name="PlaceHolder 6"/>
          <p:cNvSpPr>
            <a:spLocks noGrp="1"/>
          </p:cNvSpPr>
          <p:nvPr>
            <p:ph type="sldNum" idx="18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0BBEA29-00E4-49AD-9593-1714797B799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83319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Title slide. Every variable so far has had a name, a type and an address. Today: who can see that name, and how long the address stays 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572702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Quick review, pointing at things students have already seen happen without an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954084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whole lecture hangs on keeping these two apart. A variable can be invisible but still alive (a local static), or visible but already dead (a dangling pointer).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5604369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Callback to lecture one: a symbol is a name for an address. Scope decides where the compiler will let you use that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7135370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Lexical means you can determine scope by reading the code, without running it. All three of our languages are lexically scoped.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066626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Every pair of braces opens a new scope: a function body, a loop body, an if, or a bare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1615702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Rust has no top-level let: a module-level variable must be a static or a const. The G suffix is our naming convention, so globals stand out when reading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9706344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Same rule in all three languages. The parameter names are visible from the opening brace.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4641586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Each comment lists every name visible at that point. Note that p itself is visible inside p - which is what makes recursion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6751705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bare inner block creates a scope of its own: count exists only inside it. (If this file included stdlib.h, the name qsort would collide with the library function.)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3236912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Local variables follow exactly the same brace rule. One difference is on the next slide: Rust items such as functions and statics are visible everywhere in their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5524414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This is why C needs prototypes and Rust does not, as we saw in the functions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2424143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In C and C++, redeclaring x in the same scope is an error. Shadowing is legal but easy to misread - compile C with -Wshadow to catch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7008133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Callback to the loops lecture. Each iteration of the body is a fresh entry into the body's scope, so a variable declared inside the body is re-created every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0379906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Transition from scope (names) to persistence (memory).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9933737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classic 32-bit Linux layout. Your program is loaded near the bottom: text, then data and BSS. The heap grows up; the stack grows down from near the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0424983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BSS stands for Block Started by Symbol. "Uninitialized" is a misnomer: the OS zero-fills it at load time, so the object file only needs to record its size, not its contents.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8853950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Callback to the call stack diagram in the functions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4098111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x86 frame layout. Arguments sit above the return address at positive offsets from the frame pointer; locals sit below it at negative offsets. Every call builds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6372738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heap is the only region whose lifetime you control directly. That is its power and its danger.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27917931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buf itself is a local pointer on the stack; the 400 bytes it points to are on the heap. The pointer dies at the closing brace, but the memory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91222507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new pairs with delete, new[] with delete[]. Modern C++ rarely writes either: vector and unique_ptr free the memory in their destructors when they go out of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0035008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Here scope and persistence meet: in Rust (and modern C++), the lifetime of heap memory is tied to the scope of the variable that owns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0467147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These are among the most common security bugs in C programs. Tools such as valgrind and -fsanitize=address find them at run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5025180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Every local variable we have written so far has been an automatic 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26913292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Reading an uninitialized local is undefined behavior. It often "works" in testing and fails in the field. -Wall catches many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1111941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Rust's definite-initialization check turns a run-time mystery into a compile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19031267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Also called static storage duration. How far the NAME reaches is a separate question - its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84208873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This is the map for the next section. All three live the whole program; they differ only in who can see the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57411550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stepL starts at 0 (data segment) and keeps its value from one call to the next. The L suffix marks a local static. Same syntax in C++.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50550902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Students expect countL to reset to 0 each call. It does not: the initializer runs once. In C++ a local static is initialized on first use, and that is thread safe since C++11.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0178762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Rust allows a static inside a function, but a plain mutable static needs unsafe to touch. An atomic is the safe choice. fetch_add returns the old value, hence the + 1.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2083312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 declaration makes a promise to the compiler: something with this name and type exists somewhere.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40509865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 definition keeps the promise. Every declaration needs exactly one definition somewhere in the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02083788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prototype is all a caller needs: name, parameter types, return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25935232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Functions are extern by default in C and C++. Writing it anyway makes the intent obvious. C++ calls the one-definition requirement the One Definition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04485808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definition is compiled into instructions in the text segment; the name access_data is the address of the first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9450346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For variables, extern is required: without it, the line would be a definition and allocate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78981597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pair to the previous slide: one file defines, every other file declares with extern.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5154363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Callback to the header-and-source split in the functions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3997307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 module plays the role of a C file plus its header. use is how a name from another module enters the current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43897830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Defined outside every function, so it is persistent and visible to every function that follows it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01403031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Usually the extern line lives in a header that every file includes, so all files agree on the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50383643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 namespace does not change lifetime, only the name. The :: is the same scope operator as sample::to_kpa in the functions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85557995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Rust makes the hazard visible. Immutable statics and const are fine without unsafe; for shared mutable state, prefer an atomic or a Mutex.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24544818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Ordering is about how threads see each other's writes - a topic for later. Relaxed is fine for a simple counter. On embedded Rust, use core::sync::atomic instead of std.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83253705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Pose the question and let students guess before the next slide. The S suffix marks a file static.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26353915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Same lifetime as a global, smaller scope. The word static means "persistent" inside a function but "private to this file" outside one - an unfortunate double meaning in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86852028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An unnamed namespace can hold types and functions as well as variables, and avoids the overloaded meaning of static.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38963061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Rust reverses C's default: in C everything is global unless you say static; in Rust everything is private unless you say pub.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68613464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This hides the function from the linker: other object files cannot call it, and its name cannot collide with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3610034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Good practice: every helper that is not part of the file's public interface should be static.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08826600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Rust's pub(crate) is a middle ground with no direct C equivalent.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2087921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Two persistent variables, same lifetime, different scope. Predict the output before the run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16997157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countG here is the same variable as in main.c. resetS here is a completely separate variable that happens to share the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65006355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Excerpt from nm on macOS. Uppercase letters are global symbols, lowercase are local to the file. Newer gcc (10 and later) defaults to -fno-common, so countG shows as B (BSS) instead of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47205423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two resetS symbols have different addresses. This is the whole difference between global and file static, visible in the executable.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43905769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 side effect is a change to state outside the function. Globals make side effects possible from anywhere, which makes programs harder to reason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10241577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MIPS assembly from the original example. A local could stay in a register across the call; the global must go back to memory. Putting everything in one file is a poor fix - use locals, parameters, and const.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05722656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pub on COUNT_G makes it the shared global; each RESET_S is private to its own module. Imports of AtomicI32 omitted to fit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20129049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volatile is about the compiler, not the hardware: it forces a real memory access every time the source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86549774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Case 3 needs more than volatile in modern C and C++ - see the threads slide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16901490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From the compiler's point of view the loop body does nothing, so reading the same address again is wasted work. Only the hardware knows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81147293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Read the declaration right to left: my_reg is a pointer to a volatile uint8_t. The pointer itself never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67875167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interrupt routine is never called from main, so the compiler cannot see that it changes the flag. The interrupt keyword is compiler-specific.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002311944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 single bool read and written whole is safe here. A multi-byte value changed by an interrupt can still be torn - read half old, half 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80135331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Rust puts volatility on the access, not the variable. In practice you use the peripheral access crate generated for your chip, which does this inside safe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03308710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Acquire and Release pair up so that anything the interrupt wrote before setting the flag is visible to main after it sees the flag.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588254973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volatile is for hardware. Atomics are for sharing between threads and tasks. A preview of the concurrency material later in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5284176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Photograph slide. The first four rows are about names and the data segment and stack; the last row is the heap, where lifetime is set by the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53547971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Photograph slide. Note how Rust's defaults are the safe choice: private unless pub, no mutable global without unsafe or an atomic.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24899465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naming suffixes make scope visible at every use, which is exactly where you need to know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0812942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Summary. Every variable in the course so far can now be placed: its scope, its lifetime, and where its bytes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799687173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Lab exercise. Suggested: build the main.c and mysub.c example, run nm on each object and on the executable, and find the one countG and the two resetS; then write count_calls in all three languages.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0789045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54560" y="2409480"/>
            <a:ext cx="8548920" cy="163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1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 idx="2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7F920929-0F69-4400-B58F-F0F9AC4A6A2D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568320" y="1161000"/>
            <a:ext cx="2920680" cy="48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2920" y="1787760"/>
            <a:ext cx="9051840" cy="512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ftr" idx="4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5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sldNum" idx="6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5BC29054-6F74-4644-9529-D93E886B0EF0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568320" y="1161000"/>
            <a:ext cx="2920680" cy="48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2920" y="1787760"/>
            <a:ext cx="4374720" cy="512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80040" y="1787760"/>
            <a:ext cx="4374720" cy="512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7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dt" idx="8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4839A86E-239E-4764-956E-22B529859FEB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bk object 16"/>
          <p:cNvSpPr/>
          <p:nvPr/>
        </p:nvSpPr>
        <p:spPr>
          <a:xfrm>
            <a:off x="2341800" y="638280"/>
            <a:ext cx="360" cy="5485680"/>
          </a:xfrm>
          <a:custGeom>
            <a:avLst/>
            <a:gdLst>
              <a:gd name="textAreaLeft" fmla="*/ 0 w 360"/>
              <a:gd name="textAreaRight" fmla="*/ 1440 w 360"/>
              <a:gd name="textAreaTop" fmla="*/ 0 h 5485680"/>
              <a:gd name="textAreaBottom" fmla="*/ 5486400 h 5485680"/>
            </a:gdLst>
            <a:ahLst/>
            <a:cxnLst/>
            <a:rect l="textAreaLeft" t="textAreaTop" r="textAreaRight" b="textAreaBottom"/>
            <a:pathLst>
              <a:path h="5486398">
                <a:moveTo>
                  <a:pt x="0" y="0"/>
                </a:moveTo>
                <a:lnTo>
                  <a:pt x="0" y="5486398"/>
                </a:lnTo>
              </a:path>
            </a:pathLst>
          </a:custGeom>
          <a:noFill/>
          <a:ln w="635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bk object 17"/>
          <p:cNvSpPr/>
          <p:nvPr/>
        </p:nvSpPr>
        <p:spPr>
          <a:xfrm>
            <a:off x="2296080" y="607896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bk object 18"/>
          <p:cNvSpPr/>
          <p:nvPr/>
        </p:nvSpPr>
        <p:spPr>
          <a:xfrm>
            <a:off x="2296080" y="553968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bk object 19"/>
          <p:cNvSpPr/>
          <p:nvPr/>
        </p:nvSpPr>
        <p:spPr>
          <a:xfrm>
            <a:off x="2296080" y="500004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bk object 20"/>
          <p:cNvSpPr/>
          <p:nvPr/>
        </p:nvSpPr>
        <p:spPr>
          <a:xfrm>
            <a:off x="2296080" y="446040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bk object 21"/>
          <p:cNvSpPr/>
          <p:nvPr/>
        </p:nvSpPr>
        <p:spPr>
          <a:xfrm>
            <a:off x="2296080" y="392112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bk object 22"/>
          <p:cNvSpPr/>
          <p:nvPr/>
        </p:nvSpPr>
        <p:spPr>
          <a:xfrm>
            <a:off x="2296080" y="338148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bk object 23"/>
          <p:cNvSpPr/>
          <p:nvPr/>
        </p:nvSpPr>
        <p:spPr>
          <a:xfrm>
            <a:off x="2296080" y="284184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bk object 24"/>
          <p:cNvSpPr/>
          <p:nvPr/>
        </p:nvSpPr>
        <p:spPr>
          <a:xfrm>
            <a:off x="2296080" y="230256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bk object 25"/>
          <p:cNvSpPr/>
          <p:nvPr/>
        </p:nvSpPr>
        <p:spPr>
          <a:xfrm>
            <a:off x="2296080" y="176292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bk object 26"/>
          <p:cNvSpPr/>
          <p:nvPr/>
        </p:nvSpPr>
        <p:spPr>
          <a:xfrm>
            <a:off x="2296080" y="122364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bk object 27"/>
          <p:cNvSpPr/>
          <p:nvPr/>
        </p:nvSpPr>
        <p:spPr>
          <a:xfrm>
            <a:off x="2296080" y="68400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bk object 28"/>
          <p:cNvSpPr/>
          <p:nvPr/>
        </p:nvSpPr>
        <p:spPr>
          <a:xfrm>
            <a:off x="2107080" y="5949000"/>
            <a:ext cx="134640" cy="204480"/>
          </a:xfrm>
          <a:custGeom>
            <a:avLst/>
            <a:gdLst>
              <a:gd name="textAreaLeft" fmla="*/ 0 w 134640"/>
              <a:gd name="textAreaRight" fmla="*/ 135360 w 134640"/>
              <a:gd name="textAreaTop" fmla="*/ 0 h 204480"/>
              <a:gd name="textAreaBottom" fmla="*/ 205200 h 204480"/>
            </a:gdLst>
            <a:ahLst/>
            <a:cxnLst/>
            <a:rect l="textAreaLeft" t="textAreaTop" r="textAreaRight" b="textAreaBottom"/>
            <a:pathLst>
              <a:path w="135254" h="205371">
                <a:moveTo>
                  <a:pt x="81533" y="0"/>
                </a:moveTo>
                <a:lnTo>
                  <a:pt x="54101" y="0"/>
                </a:lnTo>
                <a:lnTo>
                  <a:pt x="30098" y="11823"/>
                </a:lnTo>
                <a:lnTo>
                  <a:pt x="18033" y="20840"/>
                </a:lnTo>
                <a:lnTo>
                  <a:pt x="6095" y="44970"/>
                </a:lnTo>
                <a:lnTo>
                  <a:pt x="3175" y="53975"/>
                </a:lnTo>
                <a:lnTo>
                  <a:pt x="253" y="75196"/>
                </a:lnTo>
                <a:lnTo>
                  <a:pt x="253" y="102628"/>
                </a:lnTo>
                <a:lnTo>
                  <a:pt x="0" y="102628"/>
                </a:lnTo>
                <a:lnTo>
                  <a:pt x="0" y="130060"/>
                </a:lnTo>
                <a:lnTo>
                  <a:pt x="2920" y="151269"/>
                </a:lnTo>
                <a:lnTo>
                  <a:pt x="11937" y="169430"/>
                </a:lnTo>
                <a:lnTo>
                  <a:pt x="17906" y="184543"/>
                </a:lnTo>
                <a:lnTo>
                  <a:pt x="29971" y="193560"/>
                </a:lnTo>
                <a:lnTo>
                  <a:pt x="42036" y="199529"/>
                </a:lnTo>
                <a:lnTo>
                  <a:pt x="66166" y="205371"/>
                </a:lnTo>
                <a:lnTo>
                  <a:pt x="81279" y="202450"/>
                </a:lnTo>
                <a:lnTo>
                  <a:pt x="93344" y="199529"/>
                </a:lnTo>
                <a:lnTo>
                  <a:pt x="105409" y="193560"/>
                </a:lnTo>
                <a:lnTo>
                  <a:pt x="114426" y="184543"/>
                </a:lnTo>
                <a:lnTo>
                  <a:pt x="116397" y="181241"/>
                </a:lnTo>
                <a:lnTo>
                  <a:pt x="57276" y="181241"/>
                </a:lnTo>
                <a:lnTo>
                  <a:pt x="54356" y="178320"/>
                </a:lnTo>
                <a:lnTo>
                  <a:pt x="51434" y="178320"/>
                </a:lnTo>
                <a:lnTo>
                  <a:pt x="39623" y="166509"/>
                </a:lnTo>
                <a:lnTo>
                  <a:pt x="33654" y="157492"/>
                </a:lnTo>
                <a:lnTo>
                  <a:pt x="30709" y="139204"/>
                </a:lnTo>
                <a:lnTo>
                  <a:pt x="27812" y="124218"/>
                </a:lnTo>
                <a:lnTo>
                  <a:pt x="27812" y="103009"/>
                </a:lnTo>
                <a:lnTo>
                  <a:pt x="27558" y="102628"/>
                </a:lnTo>
                <a:lnTo>
                  <a:pt x="27558" y="78371"/>
                </a:lnTo>
                <a:lnTo>
                  <a:pt x="30479" y="66306"/>
                </a:lnTo>
                <a:lnTo>
                  <a:pt x="33400" y="48145"/>
                </a:lnTo>
                <a:lnTo>
                  <a:pt x="39369" y="39128"/>
                </a:lnTo>
                <a:lnTo>
                  <a:pt x="51181" y="27317"/>
                </a:lnTo>
                <a:lnTo>
                  <a:pt x="57150" y="24396"/>
                </a:lnTo>
                <a:lnTo>
                  <a:pt x="116294" y="24396"/>
                </a:lnTo>
                <a:lnTo>
                  <a:pt x="114553" y="20840"/>
                </a:lnTo>
                <a:lnTo>
                  <a:pt x="105536" y="11823"/>
                </a:lnTo>
                <a:lnTo>
                  <a:pt x="81533" y="0"/>
                </a:lnTo>
                <a:close/>
              </a:path>
              <a:path w="135254" h="205371">
                <a:moveTo>
                  <a:pt x="116294" y="24396"/>
                </a:moveTo>
                <a:lnTo>
                  <a:pt x="75310" y="24396"/>
                </a:lnTo>
                <a:lnTo>
                  <a:pt x="84327" y="27317"/>
                </a:lnTo>
                <a:lnTo>
                  <a:pt x="96265" y="39255"/>
                </a:lnTo>
                <a:lnTo>
                  <a:pt x="102234" y="48272"/>
                </a:lnTo>
                <a:lnTo>
                  <a:pt x="105156" y="66433"/>
                </a:lnTo>
                <a:lnTo>
                  <a:pt x="108076" y="81546"/>
                </a:lnTo>
                <a:lnTo>
                  <a:pt x="108052" y="124218"/>
                </a:lnTo>
                <a:lnTo>
                  <a:pt x="105135" y="139331"/>
                </a:lnTo>
                <a:lnTo>
                  <a:pt x="102234" y="157365"/>
                </a:lnTo>
                <a:lnTo>
                  <a:pt x="96265" y="166382"/>
                </a:lnTo>
                <a:lnTo>
                  <a:pt x="84327" y="178320"/>
                </a:lnTo>
                <a:lnTo>
                  <a:pt x="78358" y="178320"/>
                </a:lnTo>
                <a:lnTo>
                  <a:pt x="75437" y="181241"/>
                </a:lnTo>
                <a:lnTo>
                  <a:pt x="116397" y="181241"/>
                </a:lnTo>
                <a:lnTo>
                  <a:pt x="123443" y="169430"/>
                </a:lnTo>
                <a:lnTo>
                  <a:pt x="129412" y="151269"/>
                </a:lnTo>
                <a:lnTo>
                  <a:pt x="132333" y="130060"/>
                </a:lnTo>
                <a:lnTo>
                  <a:pt x="135254" y="102628"/>
                </a:lnTo>
                <a:lnTo>
                  <a:pt x="132333" y="75196"/>
                </a:lnTo>
                <a:lnTo>
                  <a:pt x="129412" y="53975"/>
                </a:lnTo>
                <a:lnTo>
                  <a:pt x="123443" y="32778"/>
                </a:lnTo>
                <a:lnTo>
                  <a:pt x="117475" y="26809"/>
                </a:lnTo>
                <a:lnTo>
                  <a:pt x="116294" y="24396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bk object 29"/>
          <p:cNvSpPr/>
          <p:nvPr/>
        </p:nvSpPr>
        <p:spPr>
          <a:xfrm>
            <a:off x="2147040" y="5409720"/>
            <a:ext cx="68400" cy="200160"/>
          </a:xfrm>
          <a:custGeom>
            <a:avLst/>
            <a:gdLst>
              <a:gd name="textAreaLeft" fmla="*/ 0 w 68400"/>
              <a:gd name="textAreaRight" fmla="*/ 69120 w 6840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69087" h="201041">
                <a:moveTo>
                  <a:pt x="69087" y="0"/>
                </a:moveTo>
                <a:lnTo>
                  <a:pt x="50927" y="0"/>
                </a:lnTo>
                <a:lnTo>
                  <a:pt x="48006" y="9004"/>
                </a:lnTo>
                <a:lnTo>
                  <a:pt x="48006" y="14986"/>
                </a:lnTo>
                <a:lnTo>
                  <a:pt x="36195" y="26797"/>
                </a:lnTo>
                <a:lnTo>
                  <a:pt x="27178" y="32766"/>
                </a:lnTo>
                <a:lnTo>
                  <a:pt x="18161" y="35687"/>
                </a:lnTo>
                <a:lnTo>
                  <a:pt x="0" y="35687"/>
                </a:lnTo>
                <a:lnTo>
                  <a:pt x="0" y="56895"/>
                </a:lnTo>
                <a:lnTo>
                  <a:pt x="45593" y="56895"/>
                </a:lnTo>
                <a:lnTo>
                  <a:pt x="45593" y="200025"/>
                </a:lnTo>
                <a:lnTo>
                  <a:pt x="44831" y="201041"/>
                </a:lnTo>
                <a:lnTo>
                  <a:pt x="69087" y="201041"/>
                </a:lnTo>
                <a:lnTo>
                  <a:pt x="6908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bk object 30"/>
          <p:cNvSpPr/>
          <p:nvPr/>
        </p:nvSpPr>
        <p:spPr>
          <a:xfrm>
            <a:off x="2104200" y="4871880"/>
            <a:ext cx="136800" cy="194400"/>
          </a:xfrm>
          <a:custGeom>
            <a:avLst/>
            <a:gdLst>
              <a:gd name="textAreaLeft" fmla="*/ 0 w 136800"/>
              <a:gd name="textAreaRight" fmla="*/ 137520 w 136800"/>
              <a:gd name="textAreaTop" fmla="*/ 0 h 194400"/>
              <a:gd name="textAreaBottom" fmla="*/ 195120 h 194400"/>
            </a:gdLst>
            <a:ahLst/>
            <a:cxnLst/>
            <a:rect l="textAreaLeft" t="textAreaTop" r="textAreaRight" b="textAreaBottom"/>
            <a:pathLst>
              <a:path w="137541" h="195199">
                <a:moveTo>
                  <a:pt x="123952" y="21463"/>
                </a:moveTo>
                <a:lnTo>
                  <a:pt x="77978" y="21463"/>
                </a:lnTo>
                <a:lnTo>
                  <a:pt x="95885" y="30226"/>
                </a:lnTo>
                <a:lnTo>
                  <a:pt x="101854" y="36195"/>
                </a:lnTo>
                <a:lnTo>
                  <a:pt x="107633" y="48006"/>
                </a:lnTo>
                <a:lnTo>
                  <a:pt x="107696" y="66294"/>
                </a:lnTo>
                <a:lnTo>
                  <a:pt x="104775" y="72263"/>
                </a:lnTo>
                <a:lnTo>
                  <a:pt x="101854" y="81280"/>
                </a:lnTo>
                <a:lnTo>
                  <a:pt x="90043" y="93091"/>
                </a:lnTo>
                <a:lnTo>
                  <a:pt x="81025" y="99047"/>
                </a:lnTo>
                <a:lnTo>
                  <a:pt x="62865" y="108077"/>
                </a:lnTo>
                <a:lnTo>
                  <a:pt x="53848" y="114046"/>
                </a:lnTo>
                <a:lnTo>
                  <a:pt x="14731" y="144018"/>
                </a:lnTo>
                <a:lnTo>
                  <a:pt x="2921" y="180213"/>
                </a:lnTo>
                <a:lnTo>
                  <a:pt x="0" y="186182"/>
                </a:lnTo>
                <a:lnTo>
                  <a:pt x="0" y="195199"/>
                </a:lnTo>
                <a:lnTo>
                  <a:pt x="507" y="194818"/>
                </a:lnTo>
                <a:lnTo>
                  <a:pt x="137541" y="194818"/>
                </a:lnTo>
                <a:lnTo>
                  <a:pt x="137541" y="170561"/>
                </a:lnTo>
                <a:lnTo>
                  <a:pt x="30861" y="170561"/>
                </a:lnTo>
                <a:lnTo>
                  <a:pt x="30861" y="164592"/>
                </a:lnTo>
                <a:lnTo>
                  <a:pt x="36703" y="158750"/>
                </a:lnTo>
                <a:lnTo>
                  <a:pt x="39624" y="152781"/>
                </a:lnTo>
                <a:lnTo>
                  <a:pt x="48513" y="143891"/>
                </a:lnTo>
                <a:lnTo>
                  <a:pt x="54482" y="140970"/>
                </a:lnTo>
                <a:lnTo>
                  <a:pt x="72517" y="129032"/>
                </a:lnTo>
                <a:lnTo>
                  <a:pt x="75437" y="126111"/>
                </a:lnTo>
                <a:lnTo>
                  <a:pt x="93599" y="120142"/>
                </a:lnTo>
                <a:lnTo>
                  <a:pt x="96519" y="117221"/>
                </a:lnTo>
                <a:lnTo>
                  <a:pt x="102488" y="114300"/>
                </a:lnTo>
                <a:lnTo>
                  <a:pt x="111506" y="105283"/>
                </a:lnTo>
                <a:lnTo>
                  <a:pt x="120523" y="99314"/>
                </a:lnTo>
                <a:lnTo>
                  <a:pt x="126492" y="90297"/>
                </a:lnTo>
                <a:lnTo>
                  <a:pt x="129412" y="87376"/>
                </a:lnTo>
                <a:lnTo>
                  <a:pt x="132334" y="81407"/>
                </a:lnTo>
                <a:lnTo>
                  <a:pt x="135255" y="72390"/>
                </a:lnTo>
                <a:lnTo>
                  <a:pt x="135255" y="44958"/>
                </a:lnTo>
                <a:lnTo>
                  <a:pt x="132334" y="32893"/>
                </a:lnTo>
                <a:lnTo>
                  <a:pt x="126365" y="23876"/>
                </a:lnTo>
                <a:lnTo>
                  <a:pt x="123952" y="21463"/>
                </a:lnTo>
                <a:close/>
              </a:path>
              <a:path w="137541" h="195199">
                <a:moveTo>
                  <a:pt x="84200" y="0"/>
                </a:moveTo>
                <a:lnTo>
                  <a:pt x="53848" y="0"/>
                </a:lnTo>
                <a:lnTo>
                  <a:pt x="47879" y="2921"/>
                </a:lnTo>
                <a:lnTo>
                  <a:pt x="41910" y="2921"/>
                </a:lnTo>
                <a:lnTo>
                  <a:pt x="8890" y="38989"/>
                </a:lnTo>
                <a:lnTo>
                  <a:pt x="5968" y="48006"/>
                </a:lnTo>
                <a:lnTo>
                  <a:pt x="5968" y="69215"/>
                </a:lnTo>
                <a:lnTo>
                  <a:pt x="30225" y="69215"/>
                </a:lnTo>
                <a:lnTo>
                  <a:pt x="30225" y="60198"/>
                </a:lnTo>
                <a:lnTo>
                  <a:pt x="33147" y="54229"/>
                </a:lnTo>
                <a:lnTo>
                  <a:pt x="33225" y="48006"/>
                </a:lnTo>
                <a:lnTo>
                  <a:pt x="36068" y="39243"/>
                </a:lnTo>
                <a:lnTo>
                  <a:pt x="42037" y="33274"/>
                </a:lnTo>
                <a:lnTo>
                  <a:pt x="48006" y="30353"/>
                </a:lnTo>
                <a:lnTo>
                  <a:pt x="53975" y="24384"/>
                </a:lnTo>
                <a:lnTo>
                  <a:pt x="59943" y="24384"/>
                </a:lnTo>
                <a:lnTo>
                  <a:pt x="68961" y="21463"/>
                </a:lnTo>
                <a:lnTo>
                  <a:pt x="123952" y="21463"/>
                </a:lnTo>
                <a:lnTo>
                  <a:pt x="117348" y="14859"/>
                </a:lnTo>
                <a:lnTo>
                  <a:pt x="108331" y="8890"/>
                </a:lnTo>
                <a:lnTo>
                  <a:pt x="96266" y="2921"/>
                </a:lnTo>
                <a:lnTo>
                  <a:pt x="8420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bk object 31"/>
          <p:cNvSpPr/>
          <p:nvPr/>
        </p:nvSpPr>
        <p:spPr>
          <a:xfrm>
            <a:off x="2104200" y="4331880"/>
            <a:ext cx="134280" cy="203400"/>
          </a:xfrm>
          <a:custGeom>
            <a:avLst/>
            <a:gdLst>
              <a:gd name="textAreaLeft" fmla="*/ 0 w 134280"/>
              <a:gd name="textAreaRight" fmla="*/ 135000 w 134280"/>
              <a:gd name="textAreaTop" fmla="*/ 0 h 203400"/>
              <a:gd name="textAreaBottom" fmla="*/ 204120 h 203400"/>
            </a:gdLst>
            <a:ahLst/>
            <a:cxnLst/>
            <a:rect l="textAreaLeft" t="textAreaTop" r="textAreaRight" b="textAreaBottom"/>
            <a:pathLst>
              <a:path w="135128" h="203949">
                <a:moveTo>
                  <a:pt x="24256" y="134620"/>
                </a:moveTo>
                <a:lnTo>
                  <a:pt x="0" y="134620"/>
                </a:lnTo>
                <a:lnTo>
                  <a:pt x="127" y="135128"/>
                </a:lnTo>
                <a:lnTo>
                  <a:pt x="127" y="159385"/>
                </a:lnTo>
                <a:lnTo>
                  <a:pt x="3048" y="162306"/>
                </a:lnTo>
                <a:lnTo>
                  <a:pt x="3048" y="165227"/>
                </a:lnTo>
                <a:lnTo>
                  <a:pt x="9017" y="177292"/>
                </a:lnTo>
                <a:lnTo>
                  <a:pt x="26924" y="195199"/>
                </a:lnTo>
                <a:lnTo>
                  <a:pt x="38988" y="198120"/>
                </a:lnTo>
                <a:lnTo>
                  <a:pt x="57023" y="203949"/>
                </a:lnTo>
                <a:lnTo>
                  <a:pt x="72136" y="203949"/>
                </a:lnTo>
                <a:lnTo>
                  <a:pt x="78105" y="201041"/>
                </a:lnTo>
                <a:lnTo>
                  <a:pt x="90169" y="201041"/>
                </a:lnTo>
                <a:lnTo>
                  <a:pt x="114300" y="189103"/>
                </a:lnTo>
                <a:lnTo>
                  <a:pt x="117221" y="183134"/>
                </a:lnTo>
                <a:lnTo>
                  <a:pt x="123190" y="180212"/>
                </a:lnTo>
                <a:lnTo>
                  <a:pt x="123566" y="179450"/>
                </a:lnTo>
                <a:lnTo>
                  <a:pt x="66040" y="179450"/>
                </a:lnTo>
                <a:lnTo>
                  <a:pt x="53975" y="176530"/>
                </a:lnTo>
                <a:lnTo>
                  <a:pt x="48006" y="176530"/>
                </a:lnTo>
                <a:lnTo>
                  <a:pt x="38988" y="170561"/>
                </a:lnTo>
                <a:lnTo>
                  <a:pt x="33019" y="164592"/>
                </a:lnTo>
                <a:lnTo>
                  <a:pt x="24256" y="146685"/>
                </a:lnTo>
                <a:lnTo>
                  <a:pt x="24256" y="134620"/>
                </a:lnTo>
                <a:close/>
              </a:path>
              <a:path w="135128" h="203949">
                <a:moveTo>
                  <a:pt x="121424" y="105029"/>
                </a:moveTo>
                <a:lnTo>
                  <a:pt x="74930" y="105029"/>
                </a:lnTo>
                <a:lnTo>
                  <a:pt x="77850" y="107950"/>
                </a:lnTo>
                <a:lnTo>
                  <a:pt x="83819" y="107950"/>
                </a:lnTo>
                <a:lnTo>
                  <a:pt x="86741" y="110871"/>
                </a:lnTo>
                <a:lnTo>
                  <a:pt x="98679" y="116712"/>
                </a:lnTo>
                <a:lnTo>
                  <a:pt x="104648" y="125730"/>
                </a:lnTo>
                <a:lnTo>
                  <a:pt x="107568" y="131699"/>
                </a:lnTo>
                <a:lnTo>
                  <a:pt x="107568" y="149860"/>
                </a:lnTo>
                <a:lnTo>
                  <a:pt x="104648" y="155829"/>
                </a:lnTo>
                <a:lnTo>
                  <a:pt x="101727" y="164846"/>
                </a:lnTo>
                <a:lnTo>
                  <a:pt x="95885" y="170687"/>
                </a:lnTo>
                <a:lnTo>
                  <a:pt x="89916" y="173609"/>
                </a:lnTo>
                <a:lnTo>
                  <a:pt x="80899" y="176530"/>
                </a:lnTo>
                <a:lnTo>
                  <a:pt x="77978" y="176530"/>
                </a:lnTo>
                <a:lnTo>
                  <a:pt x="75056" y="179450"/>
                </a:lnTo>
                <a:lnTo>
                  <a:pt x="123566" y="179450"/>
                </a:lnTo>
                <a:lnTo>
                  <a:pt x="135128" y="156083"/>
                </a:lnTo>
                <a:lnTo>
                  <a:pt x="135128" y="125730"/>
                </a:lnTo>
                <a:lnTo>
                  <a:pt x="129159" y="113665"/>
                </a:lnTo>
                <a:lnTo>
                  <a:pt x="123190" y="107696"/>
                </a:lnTo>
                <a:lnTo>
                  <a:pt x="121424" y="105029"/>
                </a:lnTo>
                <a:close/>
              </a:path>
              <a:path w="135128" h="203949">
                <a:moveTo>
                  <a:pt x="120425" y="24257"/>
                </a:moveTo>
                <a:lnTo>
                  <a:pt x="78359" y="24257"/>
                </a:lnTo>
                <a:lnTo>
                  <a:pt x="90297" y="30099"/>
                </a:lnTo>
                <a:lnTo>
                  <a:pt x="99187" y="38989"/>
                </a:lnTo>
                <a:lnTo>
                  <a:pt x="99187" y="44958"/>
                </a:lnTo>
                <a:lnTo>
                  <a:pt x="102107" y="53975"/>
                </a:lnTo>
                <a:lnTo>
                  <a:pt x="99249" y="59817"/>
                </a:lnTo>
                <a:lnTo>
                  <a:pt x="99187" y="68961"/>
                </a:lnTo>
                <a:lnTo>
                  <a:pt x="90297" y="77850"/>
                </a:lnTo>
                <a:lnTo>
                  <a:pt x="78359" y="83693"/>
                </a:lnTo>
                <a:lnTo>
                  <a:pt x="50927" y="83693"/>
                </a:lnTo>
                <a:lnTo>
                  <a:pt x="50927" y="107950"/>
                </a:lnTo>
                <a:lnTo>
                  <a:pt x="56896" y="107950"/>
                </a:lnTo>
                <a:lnTo>
                  <a:pt x="62865" y="105029"/>
                </a:lnTo>
                <a:lnTo>
                  <a:pt x="121424" y="105029"/>
                </a:lnTo>
                <a:lnTo>
                  <a:pt x="117221" y="98679"/>
                </a:lnTo>
                <a:lnTo>
                  <a:pt x="114300" y="95758"/>
                </a:lnTo>
                <a:lnTo>
                  <a:pt x="108331" y="92824"/>
                </a:lnTo>
                <a:lnTo>
                  <a:pt x="102362" y="92824"/>
                </a:lnTo>
                <a:lnTo>
                  <a:pt x="111379" y="89916"/>
                </a:lnTo>
                <a:lnTo>
                  <a:pt x="120268" y="81025"/>
                </a:lnTo>
                <a:lnTo>
                  <a:pt x="123190" y="75057"/>
                </a:lnTo>
                <a:lnTo>
                  <a:pt x="126111" y="66040"/>
                </a:lnTo>
                <a:lnTo>
                  <a:pt x="129031" y="53975"/>
                </a:lnTo>
                <a:lnTo>
                  <a:pt x="126111" y="38849"/>
                </a:lnTo>
                <a:lnTo>
                  <a:pt x="123190" y="29845"/>
                </a:lnTo>
                <a:lnTo>
                  <a:pt x="120425" y="24257"/>
                </a:lnTo>
                <a:close/>
              </a:path>
              <a:path w="135128" h="203949">
                <a:moveTo>
                  <a:pt x="78105" y="0"/>
                </a:moveTo>
                <a:lnTo>
                  <a:pt x="66040" y="0"/>
                </a:lnTo>
                <a:lnTo>
                  <a:pt x="50927" y="2921"/>
                </a:lnTo>
                <a:lnTo>
                  <a:pt x="41910" y="2921"/>
                </a:lnTo>
                <a:lnTo>
                  <a:pt x="29972" y="8762"/>
                </a:lnTo>
                <a:lnTo>
                  <a:pt x="20955" y="14732"/>
                </a:lnTo>
                <a:lnTo>
                  <a:pt x="18034" y="20700"/>
                </a:lnTo>
                <a:lnTo>
                  <a:pt x="15112" y="23622"/>
                </a:lnTo>
                <a:lnTo>
                  <a:pt x="9143" y="35674"/>
                </a:lnTo>
                <a:lnTo>
                  <a:pt x="3302" y="53721"/>
                </a:lnTo>
                <a:lnTo>
                  <a:pt x="3302" y="65786"/>
                </a:lnTo>
                <a:lnTo>
                  <a:pt x="27559" y="65786"/>
                </a:lnTo>
                <a:lnTo>
                  <a:pt x="30417" y="59944"/>
                </a:lnTo>
                <a:lnTo>
                  <a:pt x="30480" y="50800"/>
                </a:lnTo>
                <a:lnTo>
                  <a:pt x="33338" y="44958"/>
                </a:lnTo>
                <a:lnTo>
                  <a:pt x="33400" y="41910"/>
                </a:lnTo>
                <a:lnTo>
                  <a:pt x="36322" y="38989"/>
                </a:lnTo>
                <a:lnTo>
                  <a:pt x="39243" y="33020"/>
                </a:lnTo>
                <a:lnTo>
                  <a:pt x="57150" y="24257"/>
                </a:lnTo>
                <a:lnTo>
                  <a:pt x="120425" y="24257"/>
                </a:lnTo>
                <a:lnTo>
                  <a:pt x="117221" y="17780"/>
                </a:lnTo>
                <a:lnTo>
                  <a:pt x="99187" y="5842"/>
                </a:lnTo>
                <a:lnTo>
                  <a:pt x="87122" y="2921"/>
                </a:lnTo>
                <a:lnTo>
                  <a:pt x="7810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bk object 32"/>
          <p:cNvSpPr/>
          <p:nvPr/>
        </p:nvSpPr>
        <p:spPr>
          <a:xfrm>
            <a:off x="2104200" y="3796200"/>
            <a:ext cx="111960" cy="194040"/>
          </a:xfrm>
          <a:custGeom>
            <a:avLst/>
            <a:gdLst>
              <a:gd name="textAreaLeft" fmla="*/ 0 w 111960"/>
              <a:gd name="textAreaRight" fmla="*/ 112680 w 111960"/>
              <a:gd name="textAreaTop" fmla="*/ 0 h 194040"/>
              <a:gd name="textAreaBottom" fmla="*/ 194760 h 194040"/>
            </a:gdLst>
            <a:ahLst/>
            <a:cxnLst/>
            <a:rect l="textAreaLeft" t="textAreaTop" r="textAreaRight" b="textAreaBottom"/>
            <a:pathLst>
              <a:path w="112648" h="194817">
                <a:moveTo>
                  <a:pt x="112648" y="143001"/>
                </a:moveTo>
                <a:lnTo>
                  <a:pt x="85216" y="143001"/>
                </a:lnTo>
                <a:lnTo>
                  <a:pt x="85216" y="194817"/>
                </a:lnTo>
                <a:lnTo>
                  <a:pt x="112648" y="194817"/>
                </a:lnTo>
                <a:lnTo>
                  <a:pt x="112648" y="143001"/>
                </a:lnTo>
                <a:close/>
              </a:path>
              <a:path w="112648" h="194817">
                <a:moveTo>
                  <a:pt x="112648" y="0"/>
                </a:moveTo>
                <a:lnTo>
                  <a:pt x="85216" y="0"/>
                </a:lnTo>
                <a:lnTo>
                  <a:pt x="0" y="118744"/>
                </a:lnTo>
                <a:lnTo>
                  <a:pt x="0" y="143001"/>
                </a:lnTo>
                <a:lnTo>
                  <a:pt x="140080" y="143001"/>
                </a:lnTo>
                <a:lnTo>
                  <a:pt x="140080" y="121792"/>
                </a:lnTo>
                <a:lnTo>
                  <a:pt x="112648" y="121792"/>
                </a:lnTo>
                <a:lnTo>
                  <a:pt x="24383" y="121665"/>
                </a:lnTo>
                <a:lnTo>
                  <a:pt x="85216" y="33400"/>
                </a:lnTo>
                <a:lnTo>
                  <a:pt x="112648" y="33400"/>
                </a:lnTo>
                <a:lnTo>
                  <a:pt x="112648" y="0"/>
                </a:lnTo>
                <a:close/>
              </a:path>
              <a:path w="112648" h="194817">
                <a:moveTo>
                  <a:pt x="112648" y="33400"/>
                </a:moveTo>
                <a:lnTo>
                  <a:pt x="85216" y="33400"/>
                </a:lnTo>
                <a:lnTo>
                  <a:pt x="85216" y="121665"/>
                </a:lnTo>
                <a:lnTo>
                  <a:pt x="112648" y="121665"/>
                </a:lnTo>
                <a:lnTo>
                  <a:pt x="112648" y="3340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bk object 33"/>
          <p:cNvSpPr/>
          <p:nvPr/>
        </p:nvSpPr>
        <p:spPr>
          <a:xfrm>
            <a:off x="2104200" y="3253680"/>
            <a:ext cx="135000" cy="198720"/>
          </a:xfrm>
          <a:custGeom>
            <a:avLst/>
            <a:gdLst>
              <a:gd name="textAreaLeft" fmla="*/ 0 w 135000"/>
              <a:gd name="textAreaRight" fmla="*/ 135720 w 135000"/>
              <a:gd name="textAreaTop" fmla="*/ 0 h 198720"/>
              <a:gd name="textAreaBottom" fmla="*/ 199440 h 198720"/>
            </a:gdLst>
            <a:ahLst/>
            <a:cxnLst/>
            <a:rect l="textAreaLeft" t="textAreaTop" r="textAreaRight" b="textAreaBottom"/>
            <a:pathLst>
              <a:path w="135762" h="199389">
                <a:moveTo>
                  <a:pt x="27431" y="143001"/>
                </a:moveTo>
                <a:lnTo>
                  <a:pt x="635" y="143001"/>
                </a:lnTo>
                <a:lnTo>
                  <a:pt x="635" y="151637"/>
                </a:lnTo>
                <a:lnTo>
                  <a:pt x="21336" y="184530"/>
                </a:lnTo>
                <a:lnTo>
                  <a:pt x="51435" y="199389"/>
                </a:lnTo>
                <a:lnTo>
                  <a:pt x="81787" y="199389"/>
                </a:lnTo>
                <a:lnTo>
                  <a:pt x="93853" y="196469"/>
                </a:lnTo>
                <a:lnTo>
                  <a:pt x="105918" y="190500"/>
                </a:lnTo>
                <a:lnTo>
                  <a:pt x="120650" y="175767"/>
                </a:lnTo>
                <a:lnTo>
                  <a:pt x="57277" y="175767"/>
                </a:lnTo>
                <a:lnTo>
                  <a:pt x="48260" y="172847"/>
                </a:lnTo>
                <a:lnTo>
                  <a:pt x="42291" y="169925"/>
                </a:lnTo>
                <a:lnTo>
                  <a:pt x="27431" y="155066"/>
                </a:lnTo>
                <a:lnTo>
                  <a:pt x="27431" y="143001"/>
                </a:lnTo>
                <a:close/>
              </a:path>
              <a:path w="135762" h="199389">
                <a:moveTo>
                  <a:pt x="121920" y="89026"/>
                </a:moveTo>
                <a:lnTo>
                  <a:pt x="75437" y="89026"/>
                </a:lnTo>
                <a:lnTo>
                  <a:pt x="81406" y="91948"/>
                </a:lnTo>
                <a:lnTo>
                  <a:pt x="90424" y="94869"/>
                </a:lnTo>
                <a:lnTo>
                  <a:pt x="102362" y="106807"/>
                </a:lnTo>
                <a:lnTo>
                  <a:pt x="105282" y="115824"/>
                </a:lnTo>
                <a:lnTo>
                  <a:pt x="108204" y="118745"/>
                </a:lnTo>
                <a:lnTo>
                  <a:pt x="108204" y="143001"/>
                </a:lnTo>
                <a:lnTo>
                  <a:pt x="105282" y="148971"/>
                </a:lnTo>
                <a:lnTo>
                  <a:pt x="102362" y="157987"/>
                </a:lnTo>
                <a:lnTo>
                  <a:pt x="90424" y="169925"/>
                </a:lnTo>
                <a:lnTo>
                  <a:pt x="84455" y="172847"/>
                </a:lnTo>
                <a:lnTo>
                  <a:pt x="75437" y="175767"/>
                </a:lnTo>
                <a:lnTo>
                  <a:pt x="120650" y="175767"/>
                </a:lnTo>
                <a:lnTo>
                  <a:pt x="123952" y="172465"/>
                </a:lnTo>
                <a:lnTo>
                  <a:pt x="129793" y="160527"/>
                </a:lnTo>
                <a:lnTo>
                  <a:pt x="135762" y="148462"/>
                </a:lnTo>
                <a:lnTo>
                  <a:pt x="135762" y="118110"/>
                </a:lnTo>
                <a:lnTo>
                  <a:pt x="132842" y="106045"/>
                </a:lnTo>
                <a:lnTo>
                  <a:pt x="126873" y="93979"/>
                </a:lnTo>
                <a:lnTo>
                  <a:pt x="121920" y="89026"/>
                </a:lnTo>
                <a:close/>
              </a:path>
              <a:path w="135762" h="199389">
                <a:moveTo>
                  <a:pt x="635" y="142621"/>
                </a:moveTo>
                <a:lnTo>
                  <a:pt x="0" y="143001"/>
                </a:lnTo>
                <a:lnTo>
                  <a:pt x="635" y="143001"/>
                </a:lnTo>
                <a:lnTo>
                  <a:pt x="635" y="142621"/>
                </a:lnTo>
                <a:close/>
              </a:path>
              <a:path w="135762" h="199389">
                <a:moveTo>
                  <a:pt x="128016" y="0"/>
                </a:moveTo>
                <a:lnTo>
                  <a:pt x="21336" y="0"/>
                </a:lnTo>
                <a:lnTo>
                  <a:pt x="6223" y="106679"/>
                </a:lnTo>
                <a:lnTo>
                  <a:pt x="27431" y="106679"/>
                </a:lnTo>
                <a:lnTo>
                  <a:pt x="36322" y="97789"/>
                </a:lnTo>
                <a:lnTo>
                  <a:pt x="48260" y="91948"/>
                </a:lnTo>
                <a:lnTo>
                  <a:pt x="57277" y="89026"/>
                </a:lnTo>
                <a:lnTo>
                  <a:pt x="121920" y="89026"/>
                </a:lnTo>
                <a:lnTo>
                  <a:pt x="117856" y="84962"/>
                </a:lnTo>
                <a:lnTo>
                  <a:pt x="114997" y="79121"/>
                </a:lnTo>
                <a:lnTo>
                  <a:pt x="33781" y="79121"/>
                </a:lnTo>
                <a:lnTo>
                  <a:pt x="39750" y="24257"/>
                </a:lnTo>
                <a:lnTo>
                  <a:pt x="128016" y="24257"/>
                </a:lnTo>
                <a:lnTo>
                  <a:pt x="128016" y="0"/>
                </a:lnTo>
                <a:close/>
              </a:path>
              <a:path w="135762" h="199389">
                <a:moveTo>
                  <a:pt x="84962" y="67310"/>
                </a:moveTo>
                <a:lnTo>
                  <a:pt x="60706" y="67310"/>
                </a:lnTo>
                <a:lnTo>
                  <a:pt x="48641" y="70230"/>
                </a:lnTo>
                <a:lnTo>
                  <a:pt x="42672" y="70230"/>
                </a:lnTo>
                <a:lnTo>
                  <a:pt x="33781" y="79121"/>
                </a:lnTo>
                <a:lnTo>
                  <a:pt x="114997" y="79121"/>
                </a:lnTo>
                <a:lnTo>
                  <a:pt x="97028" y="70230"/>
                </a:lnTo>
                <a:lnTo>
                  <a:pt x="84962" y="6731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bk object 34"/>
          <p:cNvSpPr/>
          <p:nvPr/>
        </p:nvSpPr>
        <p:spPr>
          <a:xfrm>
            <a:off x="2109600" y="2711520"/>
            <a:ext cx="134280" cy="204480"/>
          </a:xfrm>
          <a:custGeom>
            <a:avLst/>
            <a:gdLst>
              <a:gd name="textAreaLeft" fmla="*/ 0 w 134280"/>
              <a:gd name="textAreaRight" fmla="*/ 135000 w 134280"/>
              <a:gd name="textAreaTop" fmla="*/ 0 h 204480"/>
              <a:gd name="textAreaBottom" fmla="*/ 205200 h 204480"/>
            </a:gdLst>
            <a:ahLst/>
            <a:cxnLst/>
            <a:rect l="textAreaLeft" t="textAreaTop" r="textAreaRight" b="textAreaBottom"/>
            <a:pathLst>
              <a:path w="135000" h="205104">
                <a:moveTo>
                  <a:pt x="84200" y="202184"/>
                </a:moveTo>
                <a:lnTo>
                  <a:pt x="53975" y="202184"/>
                </a:lnTo>
                <a:lnTo>
                  <a:pt x="69087" y="205104"/>
                </a:lnTo>
                <a:lnTo>
                  <a:pt x="84200" y="202184"/>
                </a:lnTo>
                <a:close/>
              </a:path>
              <a:path w="135000" h="205104">
                <a:moveTo>
                  <a:pt x="72008" y="0"/>
                </a:moveTo>
                <a:lnTo>
                  <a:pt x="56895" y="2920"/>
                </a:lnTo>
                <a:lnTo>
                  <a:pt x="44831" y="5841"/>
                </a:lnTo>
                <a:lnTo>
                  <a:pt x="38862" y="8762"/>
                </a:lnTo>
                <a:lnTo>
                  <a:pt x="32893" y="14731"/>
                </a:lnTo>
                <a:lnTo>
                  <a:pt x="20827" y="23749"/>
                </a:lnTo>
                <a:lnTo>
                  <a:pt x="17906" y="29717"/>
                </a:lnTo>
                <a:lnTo>
                  <a:pt x="11937" y="38735"/>
                </a:lnTo>
                <a:lnTo>
                  <a:pt x="0" y="81152"/>
                </a:lnTo>
                <a:lnTo>
                  <a:pt x="0" y="141986"/>
                </a:lnTo>
                <a:lnTo>
                  <a:pt x="2920" y="151002"/>
                </a:lnTo>
                <a:lnTo>
                  <a:pt x="11937" y="172212"/>
                </a:lnTo>
                <a:lnTo>
                  <a:pt x="20955" y="184276"/>
                </a:lnTo>
                <a:lnTo>
                  <a:pt x="29971" y="193293"/>
                </a:lnTo>
                <a:lnTo>
                  <a:pt x="45085" y="199262"/>
                </a:lnTo>
                <a:lnTo>
                  <a:pt x="48006" y="202184"/>
                </a:lnTo>
                <a:lnTo>
                  <a:pt x="90169" y="202184"/>
                </a:lnTo>
                <a:lnTo>
                  <a:pt x="96138" y="199262"/>
                </a:lnTo>
                <a:lnTo>
                  <a:pt x="102107" y="199262"/>
                </a:lnTo>
                <a:lnTo>
                  <a:pt x="108076" y="196341"/>
                </a:lnTo>
                <a:lnTo>
                  <a:pt x="117093" y="187325"/>
                </a:lnTo>
                <a:lnTo>
                  <a:pt x="121460" y="181482"/>
                </a:lnTo>
                <a:lnTo>
                  <a:pt x="53212" y="181482"/>
                </a:lnTo>
                <a:lnTo>
                  <a:pt x="50292" y="178562"/>
                </a:lnTo>
                <a:lnTo>
                  <a:pt x="44323" y="175640"/>
                </a:lnTo>
                <a:lnTo>
                  <a:pt x="32512" y="163829"/>
                </a:lnTo>
                <a:lnTo>
                  <a:pt x="32512" y="160909"/>
                </a:lnTo>
                <a:lnTo>
                  <a:pt x="29591" y="154939"/>
                </a:lnTo>
                <a:lnTo>
                  <a:pt x="38354" y="109727"/>
                </a:lnTo>
                <a:lnTo>
                  <a:pt x="62356" y="97916"/>
                </a:lnTo>
                <a:lnTo>
                  <a:pt x="122916" y="97916"/>
                </a:lnTo>
                <a:lnTo>
                  <a:pt x="121991" y="96519"/>
                </a:lnTo>
                <a:lnTo>
                  <a:pt x="26924" y="96519"/>
                </a:lnTo>
                <a:lnTo>
                  <a:pt x="26924" y="78359"/>
                </a:lnTo>
                <a:lnTo>
                  <a:pt x="29844" y="66293"/>
                </a:lnTo>
                <a:lnTo>
                  <a:pt x="32766" y="57276"/>
                </a:lnTo>
                <a:lnTo>
                  <a:pt x="38735" y="45212"/>
                </a:lnTo>
                <a:lnTo>
                  <a:pt x="41656" y="39242"/>
                </a:lnTo>
                <a:lnTo>
                  <a:pt x="50545" y="30352"/>
                </a:lnTo>
                <a:lnTo>
                  <a:pt x="62483" y="24511"/>
                </a:lnTo>
                <a:lnTo>
                  <a:pt x="124681" y="24511"/>
                </a:lnTo>
                <a:lnTo>
                  <a:pt x="120142" y="17652"/>
                </a:lnTo>
                <a:lnTo>
                  <a:pt x="114300" y="11811"/>
                </a:lnTo>
                <a:lnTo>
                  <a:pt x="102235" y="5841"/>
                </a:lnTo>
                <a:lnTo>
                  <a:pt x="72008" y="0"/>
                </a:lnTo>
                <a:close/>
              </a:path>
              <a:path w="135000" h="205104">
                <a:moveTo>
                  <a:pt x="122916" y="97916"/>
                </a:moveTo>
                <a:lnTo>
                  <a:pt x="77469" y="97916"/>
                </a:lnTo>
                <a:lnTo>
                  <a:pt x="86487" y="100837"/>
                </a:lnTo>
                <a:lnTo>
                  <a:pt x="92456" y="103759"/>
                </a:lnTo>
                <a:lnTo>
                  <a:pt x="98298" y="109600"/>
                </a:lnTo>
                <a:lnTo>
                  <a:pt x="101218" y="115569"/>
                </a:lnTo>
                <a:lnTo>
                  <a:pt x="104139" y="124587"/>
                </a:lnTo>
                <a:lnTo>
                  <a:pt x="107061" y="130555"/>
                </a:lnTo>
                <a:lnTo>
                  <a:pt x="107061" y="139573"/>
                </a:lnTo>
                <a:lnTo>
                  <a:pt x="107314" y="139700"/>
                </a:lnTo>
                <a:lnTo>
                  <a:pt x="107314" y="148716"/>
                </a:lnTo>
                <a:lnTo>
                  <a:pt x="104393" y="154686"/>
                </a:lnTo>
                <a:lnTo>
                  <a:pt x="101473" y="163702"/>
                </a:lnTo>
                <a:lnTo>
                  <a:pt x="98551" y="169672"/>
                </a:lnTo>
                <a:lnTo>
                  <a:pt x="92582" y="175640"/>
                </a:lnTo>
                <a:lnTo>
                  <a:pt x="80644" y="181482"/>
                </a:lnTo>
                <a:lnTo>
                  <a:pt x="121460" y="181482"/>
                </a:lnTo>
                <a:lnTo>
                  <a:pt x="126111" y="175260"/>
                </a:lnTo>
                <a:lnTo>
                  <a:pt x="132080" y="163194"/>
                </a:lnTo>
                <a:lnTo>
                  <a:pt x="132080" y="157225"/>
                </a:lnTo>
                <a:lnTo>
                  <a:pt x="135000" y="154304"/>
                </a:lnTo>
                <a:lnTo>
                  <a:pt x="135000" y="126873"/>
                </a:lnTo>
                <a:lnTo>
                  <a:pt x="132080" y="114807"/>
                </a:lnTo>
                <a:lnTo>
                  <a:pt x="126111" y="102742"/>
                </a:lnTo>
                <a:lnTo>
                  <a:pt x="122916" y="97916"/>
                </a:lnTo>
                <a:close/>
              </a:path>
              <a:path w="135000" h="205104">
                <a:moveTo>
                  <a:pt x="68833" y="72898"/>
                </a:moveTo>
                <a:lnTo>
                  <a:pt x="59817" y="75818"/>
                </a:lnTo>
                <a:lnTo>
                  <a:pt x="47751" y="78739"/>
                </a:lnTo>
                <a:lnTo>
                  <a:pt x="38735" y="81661"/>
                </a:lnTo>
                <a:lnTo>
                  <a:pt x="29844" y="90550"/>
                </a:lnTo>
                <a:lnTo>
                  <a:pt x="26924" y="96519"/>
                </a:lnTo>
                <a:lnTo>
                  <a:pt x="121991" y="96519"/>
                </a:lnTo>
                <a:lnTo>
                  <a:pt x="120142" y="93725"/>
                </a:lnTo>
                <a:lnTo>
                  <a:pt x="108076" y="84709"/>
                </a:lnTo>
                <a:lnTo>
                  <a:pt x="96012" y="78739"/>
                </a:lnTo>
                <a:lnTo>
                  <a:pt x="83946" y="75818"/>
                </a:lnTo>
                <a:lnTo>
                  <a:pt x="68833" y="72898"/>
                </a:lnTo>
                <a:close/>
              </a:path>
              <a:path w="135000" h="205104">
                <a:moveTo>
                  <a:pt x="124681" y="24511"/>
                </a:moveTo>
                <a:lnTo>
                  <a:pt x="80644" y="24511"/>
                </a:lnTo>
                <a:lnTo>
                  <a:pt x="86613" y="27431"/>
                </a:lnTo>
                <a:lnTo>
                  <a:pt x="95631" y="30352"/>
                </a:lnTo>
                <a:lnTo>
                  <a:pt x="98551" y="33274"/>
                </a:lnTo>
                <a:lnTo>
                  <a:pt x="101473" y="33274"/>
                </a:lnTo>
                <a:lnTo>
                  <a:pt x="107314" y="45212"/>
                </a:lnTo>
                <a:lnTo>
                  <a:pt x="107314" y="54228"/>
                </a:lnTo>
                <a:lnTo>
                  <a:pt x="134746" y="54228"/>
                </a:lnTo>
                <a:lnTo>
                  <a:pt x="134874" y="53593"/>
                </a:lnTo>
                <a:lnTo>
                  <a:pt x="134874" y="47625"/>
                </a:lnTo>
                <a:lnTo>
                  <a:pt x="129031" y="35687"/>
                </a:lnTo>
                <a:lnTo>
                  <a:pt x="126111" y="26669"/>
                </a:lnTo>
                <a:lnTo>
                  <a:pt x="124681" y="2451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bk object 35"/>
          <p:cNvSpPr/>
          <p:nvPr/>
        </p:nvSpPr>
        <p:spPr>
          <a:xfrm>
            <a:off x="2106000" y="2179080"/>
            <a:ext cx="28080" cy="192960"/>
          </a:xfrm>
          <a:custGeom>
            <a:avLst/>
            <a:gdLst>
              <a:gd name="textAreaLeft" fmla="*/ 0 w 28080"/>
              <a:gd name="textAreaRight" fmla="*/ 28800 w 28080"/>
              <a:gd name="textAreaTop" fmla="*/ 0 h 192960"/>
              <a:gd name="textAreaBottom" fmla="*/ 193680 h 192960"/>
            </a:gdLst>
            <a:ahLst/>
            <a:cxnLst/>
            <a:rect l="textAreaLeft" t="textAreaTop" r="textAreaRight" b="textAreaBottom"/>
            <a:pathLst>
              <a:path w="28722" h="193675">
                <a:moveTo>
                  <a:pt x="28722" y="193548"/>
                </a:moveTo>
              </a:path>
              <a:path w="28722" h="193675">
                <a:moveTo>
                  <a:pt x="137032" y="0"/>
                </a:moveTo>
                <a:lnTo>
                  <a:pt x="0" y="0"/>
                </a:lnTo>
                <a:lnTo>
                  <a:pt x="0" y="24256"/>
                </a:lnTo>
                <a:lnTo>
                  <a:pt x="109727" y="24256"/>
                </a:lnTo>
                <a:lnTo>
                  <a:pt x="97662" y="39370"/>
                </a:lnTo>
                <a:lnTo>
                  <a:pt x="91693" y="45338"/>
                </a:lnTo>
                <a:lnTo>
                  <a:pt x="79628" y="63500"/>
                </a:lnTo>
                <a:lnTo>
                  <a:pt x="67563" y="78612"/>
                </a:lnTo>
                <a:lnTo>
                  <a:pt x="55499" y="102870"/>
                </a:lnTo>
                <a:lnTo>
                  <a:pt x="46481" y="124078"/>
                </a:lnTo>
                <a:lnTo>
                  <a:pt x="40512" y="145287"/>
                </a:lnTo>
                <a:lnTo>
                  <a:pt x="34543" y="169545"/>
                </a:lnTo>
                <a:lnTo>
                  <a:pt x="31622" y="175513"/>
                </a:lnTo>
                <a:lnTo>
                  <a:pt x="28722" y="193548"/>
                </a:lnTo>
                <a:lnTo>
                  <a:pt x="59054" y="193548"/>
                </a:lnTo>
                <a:lnTo>
                  <a:pt x="61975" y="172338"/>
                </a:lnTo>
                <a:lnTo>
                  <a:pt x="61975" y="163322"/>
                </a:lnTo>
                <a:lnTo>
                  <a:pt x="67944" y="142112"/>
                </a:lnTo>
                <a:lnTo>
                  <a:pt x="70865" y="133096"/>
                </a:lnTo>
                <a:lnTo>
                  <a:pt x="73787" y="121030"/>
                </a:lnTo>
                <a:lnTo>
                  <a:pt x="82803" y="102870"/>
                </a:lnTo>
                <a:lnTo>
                  <a:pt x="94868" y="81661"/>
                </a:lnTo>
                <a:lnTo>
                  <a:pt x="103885" y="63500"/>
                </a:lnTo>
                <a:lnTo>
                  <a:pt x="115950" y="48387"/>
                </a:lnTo>
                <a:lnTo>
                  <a:pt x="121919" y="39370"/>
                </a:lnTo>
                <a:lnTo>
                  <a:pt x="137032" y="24256"/>
                </a:lnTo>
                <a:lnTo>
                  <a:pt x="137032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bk object 36"/>
          <p:cNvSpPr/>
          <p:nvPr/>
        </p:nvSpPr>
        <p:spPr>
          <a:xfrm>
            <a:off x="2107800" y="1636560"/>
            <a:ext cx="134640" cy="2001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135509" h="200913">
                <a:moveTo>
                  <a:pt x="32584" y="89815"/>
                </a:moveTo>
                <a:lnTo>
                  <a:pt x="26670" y="92709"/>
                </a:lnTo>
                <a:lnTo>
                  <a:pt x="23749" y="92709"/>
                </a:lnTo>
                <a:lnTo>
                  <a:pt x="17780" y="98678"/>
                </a:lnTo>
                <a:lnTo>
                  <a:pt x="11811" y="101600"/>
                </a:lnTo>
                <a:lnTo>
                  <a:pt x="5842" y="110616"/>
                </a:lnTo>
                <a:lnTo>
                  <a:pt x="0" y="128650"/>
                </a:lnTo>
                <a:lnTo>
                  <a:pt x="0" y="152907"/>
                </a:lnTo>
                <a:lnTo>
                  <a:pt x="2921" y="164972"/>
                </a:lnTo>
                <a:lnTo>
                  <a:pt x="11938" y="177037"/>
                </a:lnTo>
                <a:lnTo>
                  <a:pt x="29972" y="195071"/>
                </a:lnTo>
                <a:lnTo>
                  <a:pt x="54102" y="200913"/>
                </a:lnTo>
                <a:lnTo>
                  <a:pt x="81534" y="200913"/>
                </a:lnTo>
                <a:lnTo>
                  <a:pt x="90551" y="197992"/>
                </a:lnTo>
                <a:lnTo>
                  <a:pt x="105664" y="195071"/>
                </a:lnTo>
                <a:lnTo>
                  <a:pt x="123444" y="177291"/>
                </a:lnTo>
                <a:lnTo>
                  <a:pt x="53213" y="177291"/>
                </a:lnTo>
                <a:lnTo>
                  <a:pt x="47244" y="174370"/>
                </a:lnTo>
                <a:lnTo>
                  <a:pt x="44323" y="174370"/>
                </a:lnTo>
                <a:lnTo>
                  <a:pt x="32385" y="162432"/>
                </a:lnTo>
                <a:lnTo>
                  <a:pt x="29464" y="156463"/>
                </a:lnTo>
                <a:lnTo>
                  <a:pt x="26543" y="147446"/>
                </a:lnTo>
                <a:lnTo>
                  <a:pt x="26543" y="138429"/>
                </a:lnTo>
                <a:lnTo>
                  <a:pt x="26797" y="138429"/>
                </a:lnTo>
                <a:lnTo>
                  <a:pt x="26859" y="129412"/>
                </a:lnTo>
                <a:lnTo>
                  <a:pt x="32639" y="117601"/>
                </a:lnTo>
                <a:lnTo>
                  <a:pt x="38608" y="111632"/>
                </a:lnTo>
                <a:lnTo>
                  <a:pt x="44577" y="108712"/>
                </a:lnTo>
                <a:lnTo>
                  <a:pt x="53594" y="105790"/>
                </a:lnTo>
                <a:lnTo>
                  <a:pt x="59563" y="102869"/>
                </a:lnTo>
                <a:lnTo>
                  <a:pt x="121406" y="102869"/>
                </a:lnTo>
                <a:lnTo>
                  <a:pt x="120650" y="101726"/>
                </a:lnTo>
                <a:lnTo>
                  <a:pt x="114681" y="98805"/>
                </a:lnTo>
                <a:lnTo>
                  <a:pt x="108712" y="92837"/>
                </a:lnTo>
                <a:lnTo>
                  <a:pt x="102743" y="89915"/>
                </a:lnTo>
                <a:lnTo>
                  <a:pt x="32893" y="89915"/>
                </a:lnTo>
                <a:lnTo>
                  <a:pt x="32584" y="89815"/>
                </a:lnTo>
                <a:close/>
              </a:path>
              <a:path w="135509" h="200913">
                <a:moveTo>
                  <a:pt x="121406" y="102869"/>
                </a:moveTo>
                <a:lnTo>
                  <a:pt x="74676" y="102869"/>
                </a:lnTo>
                <a:lnTo>
                  <a:pt x="92583" y="111632"/>
                </a:lnTo>
                <a:lnTo>
                  <a:pt x="101473" y="120522"/>
                </a:lnTo>
                <a:lnTo>
                  <a:pt x="101473" y="123443"/>
                </a:lnTo>
                <a:lnTo>
                  <a:pt x="104394" y="129412"/>
                </a:lnTo>
                <a:lnTo>
                  <a:pt x="107315" y="138429"/>
                </a:lnTo>
                <a:lnTo>
                  <a:pt x="104394" y="147446"/>
                </a:lnTo>
                <a:lnTo>
                  <a:pt x="104394" y="156463"/>
                </a:lnTo>
                <a:lnTo>
                  <a:pt x="98425" y="162432"/>
                </a:lnTo>
                <a:lnTo>
                  <a:pt x="95504" y="168401"/>
                </a:lnTo>
                <a:lnTo>
                  <a:pt x="89535" y="174370"/>
                </a:lnTo>
                <a:lnTo>
                  <a:pt x="83566" y="174370"/>
                </a:lnTo>
                <a:lnTo>
                  <a:pt x="80645" y="177291"/>
                </a:lnTo>
                <a:lnTo>
                  <a:pt x="123444" y="177291"/>
                </a:lnTo>
                <a:lnTo>
                  <a:pt x="123698" y="177037"/>
                </a:lnTo>
                <a:lnTo>
                  <a:pt x="129667" y="164972"/>
                </a:lnTo>
                <a:lnTo>
                  <a:pt x="135509" y="140842"/>
                </a:lnTo>
                <a:lnTo>
                  <a:pt x="132588" y="128777"/>
                </a:lnTo>
                <a:lnTo>
                  <a:pt x="132588" y="119760"/>
                </a:lnTo>
                <a:lnTo>
                  <a:pt x="121406" y="102869"/>
                </a:lnTo>
                <a:close/>
              </a:path>
              <a:path w="135509" h="200913">
                <a:moveTo>
                  <a:pt x="26797" y="138429"/>
                </a:moveTo>
                <a:lnTo>
                  <a:pt x="26543" y="138429"/>
                </a:lnTo>
                <a:lnTo>
                  <a:pt x="26797" y="138556"/>
                </a:lnTo>
                <a:close/>
              </a:path>
              <a:path w="135509" h="200913">
                <a:moveTo>
                  <a:pt x="103002" y="89788"/>
                </a:moveTo>
                <a:lnTo>
                  <a:pt x="32639" y="89788"/>
                </a:lnTo>
                <a:lnTo>
                  <a:pt x="32893" y="89915"/>
                </a:lnTo>
                <a:lnTo>
                  <a:pt x="102743" y="89915"/>
                </a:lnTo>
                <a:lnTo>
                  <a:pt x="103002" y="89788"/>
                </a:lnTo>
                <a:close/>
              </a:path>
              <a:path w="135509" h="200913">
                <a:moveTo>
                  <a:pt x="87503" y="0"/>
                </a:moveTo>
                <a:lnTo>
                  <a:pt x="44958" y="0"/>
                </a:lnTo>
                <a:lnTo>
                  <a:pt x="32893" y="5968"/>
                </a:lnTo>
                <a:lnTo>
                  <a:pt x="23876" y="11937"/>
                </a:lnTo>
                <a:lnTo>
                  <a:pt x="17907" y="17906"/>
                </a:lnTo>
                <a:lnTo>
                  <a:pt x="11938" y="26923"/>
                </a:lnTo>
                <a:lnTo>
                  <a:pt x="6096" y="38862"/>
                </a:lnTo>
                <a:lnTo>
                  <a:pt x="6096" y="60070"/>
                </a:lnTo>
                <a:lnTo>
                  <a:pt x="9017" y="69087"/>
                </a:lnTo>
                <a:lnTo>
                  <a:pt x="14986" y="78104"/>
                </a:lnTo>
                <a:lnTo>
                  <a:pt x="23876" y="86994"/>
                </a:lnTo>
                <a:lnTo>
                  <a:pt x="32584" y="89815"/>
                </a:lnTo>
                <a:lnTo>
                  <a:pt x="103002" y="89788"/>
                </a:lnTo>
                <a:lnTo>
                  <a:pt x="114681" y="84073"/>
                </a:lnTo>
                <a:lnTo>
                  <a:pt x="115823" y="82930"/>
                </a:lnTo>
                <a:lnTo>
                  <a:pt x="65659" y="82930"/>
                </a:lnTo>
                <a:lnTo>
                  <a:pt x="59690" y="80009"/>
                </a:lnTo>
                <a:lnTo>
                  <a:pt x="53721" y="80009"/>
                </a:lnTo>
                <a:lnTo>
                  <a:pt x="41783" y="74167"/>
                </a:lnTo>
                <a:lnTo>
                  <a:pt x="38862" y="71246"/>
                </a:lnTo>
                <a:lnTo>
                  <a:pt x="33020" y="59308"/>
                </a:lnTo>
                <a:lnTo>
                  <a:pt x="33020" y="50291"/>
                </a:lnTo>
                <a:lnTo>
                  <a:pt x="32893" y="50291"/>
                </a:lnTo>
                <a:lnTo>
                  <a:pt x="32893" y="44322"/>
                </a:lnTo>
                <a:lnTo>
                  <a:pt x="41656" y="26415"/>
                </a:lnTo>
                <a:lnTo>
                  <a:pt x="47625" y="23494"/>
                </a:lnTo>
                <a:lnTo>
                  <a:pt x="53594" y="23494"/>
                </a:lnTo>
                <a:lnTo>
                  <a:pt x="56515" y="20573"/>
                </a:lnTo>
                <a:lnTo>
                  <a:pt x="119367" y="20573"/>
                </a:lnTo>
                <a:lnTo>
                  <a:pt x="117602" y="17906"/>
                </a:lnTo>
                <a:lnTo>
                  <a:pt x="99568" y="5968"/>
                </a:lnTo>
                <a:lnTo>
                  <a:pt x="87503" y="0"/>
                </a:lnTo>
                <a:close/>
              </a:path>
              <a:path w="135509" h="200913">
                <a:moveTo>
                  <a:pt x="119367" y="20573"/>
                </a:moveTo>
                <a:lnTo>
                  <a:pt x="74676" y="20573"/>
                </a:lnTo>
                <a:lnTo>
                  <a:pt x="77597" y="23494"/>
                </a:lnTo>
                <a:lnTo>
                  <a:pt x="83566" y="23494"/>
                </a:lnTo>
                <a:lnTo>
                  <a:pt x="89535" y="26415"/>
                </a:lnTo>
                <a:lnTo>
                  <a:pt x="95504" y="32384"/>
                </a:lnTo>
                <a:lnTo>
                  <a:pt x="98425" y="38353"/>
                </a:lnTo>
                <a:lnTo>
                  <a:pt x="98425" y="44322"/>
                </a:lnTo>
                <a:lnTo>
                  <a:pt x="101346" y="50291"/>
                </a:lnTo>
                <a:lnTo>
                  <a:pt x="98425" y="59308"/>
                </a:lnTo>
                <a:lnTo>
                  <a:pt x="98425" y="65277"/>
                </a:lnTo>
                <a:lnTo>
                  <a:pt x="95504" y="71246"/>
                </a:lnTo>
                <a:lnTo>
                  <a:pt x="77597" y="80009"/>
                </a:lnTo>
                <a:lnTo>
                  <a:pt x="71628" y="80009"/>
                </a:lnTo>
                <a:lnTo>
                  <a:pt x="65659" y="82930"/>
                </a:lnTo>
                <a:lnTo>
                  <a:pt x="115823" y="82930"/>
                </a:lnTo>
                <a:lnTo>
                  <a:pt x="120650" y="78104"/>
                </a:lnTo>
                <a:lnTo>
                  <a:pt x="126492" y="60070"/>
                </a:lnTo>
                <a:lnTo>
                  <a:pt x="129413" y="48005"/>
                </a:lnTo>
                <a:lnTo>
                  <a:pt x="126461" y="38862"/>
                </a:lnTo>
                <a:lnTo>
                  <a:pt x="123571" y="26923"/>
                </a:lnTo>
                <a:lnTo>
                  <a:pt x="119367" y="2057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bk object 37"/>
          <p:cNvSpPr/>
          <p:nvPr/>
        </p:nvSpPr>
        <p:spPr>
          <a:xfrm>
            <a:off x="2104200" y="1094040"/>
            <a:ext cx="137160" cy="204480"/>
          </a:xfrm>
          <a:custGeom>
            <a:avLst/>
            <a:gdLst>
              <a:gd name="textAreaLeft" fmla="*/ 0 w 137160"/>
              <a:gd name="textAreaRight" fmla="*/ 137880 w 137160"/>
              <a:gd name="textAreaTop" fmla="*/ 0 h 204480"/>
              <a:gd name="textAreaBottom" fmla="*/ 205200 h 204480"/>
            </a:gdLst>
            <a:ahLst/>
            <a:cxnLst/>
            <a:rect l="textAreaLeft" t="textAreaTop" r="textAreaRight" b="textAreaBottom"/>
            <a:pathLst>
              <a:path w="137922" h="205104">
                <a:moveTo>
                  <a:pt x="27431" y="150749"/>
                </a:moveTo>
                <a:lnTo>
                  <a:pt x="3175" y="150749"/>
                </a:lnTo>
                <a:lnTo>
                  <a:pt x="2667" y="151129"/>
                </a:lnTo>
                <a:lnTo>
                  <a:pt x="2667" y="169290"/>
                </a:lnTo>
                <a:lnTo>
                  <a:pt x="8636" y="178307"/>
                </a:lnTo>
                <a:lnTo>
                  <a:pt x="23622" y="193293"/>
                </a:lnTo>
                <a:lnTo>
                  <a:pt x="47625" y="205104"/>
                </a:lnTo>
                <a:lnTo>
                  <a:pt x="62737" y="205104"/>
                </a:lnTo>
                <a:lnTo>
                  <a:pt x="105029" y="193293"/>
                </a:lnTo>
                <a:lnTo>
                  <a:pt x="114576" y="180339"/>
                </a:lnTo>
                <a:lnTo>
                  <a:pt x="54102" y="180339"/>
                </a:lnTo>
                <a:lnTo>
                  <a:pt x="36194" y="171576"/>
                </a:lnTo>
                <a:lnTo>
                  <a:pt x="30353" y="159638"/>
                </a:lnTo>
                <a:lnTo>
                  <a:pt x="30353" y="156717"/>
                </a:lnTo>
                <a:lnTo>
                  <a:pt x="27431" y="150749"/>
                </a:lnTo>
                <a:close/>
              </a:path>
              <a:path w="137922" h="205104">
                <a:moveTo>
                  <a:pt x="136650" y="111378"/>
                </a:moveTo>
                <a:lnTo>
                  <a:pt x="110871" y="111378"/>
                </a:lnTo>
                <a:lnTo>
                  <a:pt x="107950" y="120395"/>
                </a:lnTo>
                <a:lnTo>
                  <a:pt x="107950" y="132460"/>
                </a:lnTo>
                <a:lnTo>
                  <a:pt x="105029" y="138429"/>
                </a:lnTo>
                <a:lnTo>
                  <a:pt x="87249" y="174498"/>
                </a:lnTo>
                <a:lnTo>
                  <a:pt x="78231" y="177418"/>
                </a:lnTo>
                <a:lnTo>
                  <a:pt x="72262" y="180339"/>
                </a:lnTo>
                <a:lnTo>
                  <a:pt x="114576" y="180339"/>
                </a:lnTo>
                <a:lnTo>
                  <a:pt x="123062" y="166115"/>
                </a:lnTo>
                <a:lnTo>
                  <a:pt x="132080" y="144906"/>
                </a:lnTo>
                <a:lnTo>
                  <a:pt x="135000" y="135889"/>
                </a:lnTo>
                <a:lnTo>
                  <a:pt x="135109" y="125856"/>
                </a:lnTo>
                <a:lnTo>
                  <a:pt x="136650" y="111378"/>
                </a:lnTo>
                <a:close/>
              </a:path>
              <a:path w="137922" h="205104">
                <a:moveTo>
                  <a:pt x="65912" y="0"/>
                </a:moveTo>
                <a:lnTo>
                  <a:pt x="41782" y="5841"/>
                </a:lnTo>
                <a:lnTo>
                  <a:pt x="17653" y="17779"/>
                </a:lnTo>
                <a:lnTo>
                  <a:pt x="11811" y="29717"/>
                </a:lnTo>
                <a:lnTo>
                  <a:pt x="5842" y="35686"/>
                </a:lnTo>
                <a:lnTo>
                  <a:pt x="5842" y="41655"/>
                </a:lnTo>
                <a:lnTo>
                  <a:pt x="123" y="65276"/>
                </a:lnTo>
                <a:lnTo>
                  <a:pt x="0" y="80899"/>
                </a:lnTo>
                <a:lnTo>
                  <a:pt x="20828" y="116966"/>
                </a:lnTo>
                <a:lnTo>
                  <a:pt x="53975" y="131825"/>
                </a:lnTo>
                <a:lnTo>
                  <a:pt x="72136" y="131825"/>
                </a:lnTo>
                <a:lnTo>
                  <a:pt x="78105" y="128904"/>
                </a:lnTo>
                <a:lnTo>
                  <a:pt x="96138" y="123062"/>
                </a:lnTo>
                <a:lnTo>
                  <a:pt x="104902" y="114300"/>
                </a:lnTo>
                <a:lnTo>
                  <a:pt x="110871" y="111378"/>
                </a:lnTo>
                <a:lnTo>
                  <a:pt x="136650" y="111378"/>
                </a:lnTo>
                <a:lnTo>
                  <a:pt x="137097" y="107187"/>
                </a:lnTo>
                <a:lnTo>
                  <a:pt x="57150" y="107187"/>
                </a:lnTo>
                <a:lnTo>
                  <a:pt x="54229" y="104266"/>
                </a:lnTo>
                <a:lnTo>
                  <a:pt x="51307" y="104266"/>
                </a:lnTo>
                <a:lnTo>
                  <a:pt x="42291" y="101345"/>
                </a:lnTo>
                <a:lnTo>
                  <a:pt x="39369" y="95376"/>
                </a:lnTo>
                <a:lnTo>
                  <a:pt x="33400" y="89407"/>
                </a:lnTo>
                <a:lnTo>
                  <a:pt x="30480" y="83438"/>
                </a:lnTo>
                <a:lnTo>
                  <a:pt x="27559" y="74421"/>
                </a:lnTo>
                <a:lnTo>
                  <a:pt x="27559" y="65404"/>
                </a:lnTo>
                <a:lnTo>
                  <a:pt x="27431" y="65276"/>
                </a:lnTo>
                <a:lnTo>
                  <a:pt x="27431" y="56260"/>
                </a:lnTo>
                <a:lnTo>
                  <a:pt x="33274" y="44323"/>
                </a:lnTo>
                <a:lnTo>
                  <a:pt x="33274" y="41401"/>
                </a:lnTo>
                <a:lnTo>
                  <a:pt x="39243" y="35432"/>
                </a:lnTo>
                <a:lnTo>
                  <a:pt x="42163" y="29463"/>
                </a:lnTo>
                <a:lnTo>
                  <a:pt x="51181" y="26542"/>
                </a:lnTo>
                <a:lnTo>
                  <a:pt x="57150" y="23621"/>
                </a:lnTo>
                <a:lnTo>
                  <a:pt x="118523" y="23621"/>
                </a:lnTo>
                <a:lnTo>
                  <a:pt x="117093" y="20700"/>
                </a:lnTo>
                <a:lnTo>
                  <a:pt x="105029" y="11683"/>
                </a:lnTo>
                <a:lnTo>
                  <a:pt x="93091" y="5841"/>
                </a:lnTo>
                <a:lnTo>
                  <a:pt x="81025" y="2920"/>
                </a:lnTo>
                <a:lnTo>
                  <a:pt x="65912" y="0"/>
                </a:lnTo>
                <a:close/>
              </a:path>
              <a:path w="137922" h="205104">
                <a:moveTo>
                  <a:pt x="118523" y="23621"/>
                </a:moveTo>
                <a:lnTo>
                  <a:pt x="78359" y="23621"/>
                </a:lnTo>
                <a:lnTo>
                  <a:pt x="84328" y="26542"/>
                </a:lnTo>
                <a:lnTo>
                  <a:pt x="93344" y="29463"/>
                </a:lnTo>
                <a:lnTo>
                  <a:pt x="99313" y="35432"/>
                </a:lnTo>
                <a:lnTo>
                  <a:pt x="102235" y="41401"/>
                </a:lnTo>
                <a:lnTo>
                  <a:pt x="105156" y="50418"/>
                </a:lnTo>
                <a:lnTo>
                  <a:pt x="108014" y="56260"/>
                </a:lnTo>
                <a:lnTo>
                  <a:pt x="107984" y="65785"/>
                </a:lnTo>
                <a:lnTo>
                  <a:pt x="105156" y="77469"/>
                </a:lnTo>
                <a:lnTo>
                  <a:pt x="105156" y="83438"/>
                </a:lnTo>
                <a:lnTo>
                  <a:pt x="102235" y="89407"/>
                </a:lnTo>
                <a:lnTo>
                  <a:pt x="90297" y="101345"/>
                </a:lnTo>
                <a:lnTo>
                  <a:pt x="81280" y="104266"/>
                </a:lnTo>
                <a:lnTo>
                  <a:pt x="75311" y="107187"/>
                </a:lnTo>
                <a:lnTo>
                  <a:pt x="137097" y="107187"/>
                </a:lnTo>
                <a:lnTo>
                  <a:pt x="137922" y="99440"/>
                </a:lnTo>
                <a:lnTo>
                  <a:pt x="137922" y="72008"/>
                </a:lnTo>
                <a:lnTo>
                  <a:pt x="131953" y="53848"/>
                </a:lnTo>
                <a:lnTo>
                  <a:pt x="125984" y="32638"/>
                </a:lnTo>
                <a:lnTo>
                  <a:pt x="120015" y="26669"/>
                </a:lnTo>
                <a:lnTo>
                  <a:pt x="118523" y="2362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bk object 38"/>
          <p:cNvSpPr/>
          <p:nvPr/>
        </p:nvSpPr>
        <p:spPr>
          <a:xfrm>
            <a:off x="1991520" y="554400"/>
            <a:ext cx="71280" cy="200160"/>
          </a:xfrm>
          <a:custGeom>
            <a:avLst/>
            <a:gdLst>
              <a:gd name="textAreaLeft" fmla="*/ 0 w 71280"/>
              <a:gd name="textAreaRight" fmla="*/ 72000 w 7128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71881" h="201040">
                <a:moveTo>
                  <a:pt x="71881" y="0"/>
                </a:moveTo>
                <a:lnTo>
                  <a:pt x="53721" y="0"/>
                </a:lnTo>
                <a:lnTo>
                  <a:pt x="50800" y="9016"/>
                </a:lnTo>
                <a:lnTo>
                  <a:pt x="47879" y="14985"/>
                </a:lnTo>
                <a:lnTo>
                  <a:pt x="44958" y="24002"/>
                </a:lnTo>
                <a:lnTo>
                  <a:pt x="42037" y="26923"/>
                </a:lnTo>
                <a:lnTo>
                  <a:pt x="24130" y="35686"/>
                </a:lnTo>
                <a:lnTo>
                  <a:pt x="15112" y="35686"/>
                </a:lnTo>
                <a:lnTo>
                  <a:pt x="0" y="38607"/>
                </a:lnTo>
                <a:lnTo>
                  <a:pt x="0" y="56768"/>
                </a:lnTo>
                <a:lnTo>
                  <a:pt x="45593" y="56768"/>
                </a:lnTo>
                <a:lnTo>
                  <a:pt x="45593" y="199897"/>
                </a:lnTo>
                <a:lnTo>
                  <a:pt x="44450" y="201040"/>
                </a:lnTo>
                <a:lnTo>
                  <a:pt x="71881" y="201040"/>
                </a:lnTo>
                <a:lnTo>
                  <a:pt x="7188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bk object 39"/>
          <p:cNvSpPr/>
          <p:nvPr/>
        </p:nvSpPr>
        <p:spPr>
          <a:xfrm>
            <a:off x="2107080" y="553680"/>
            <a:ext cx="134640" cy="204840"/>
          </a:xfrm>
          <a:custGeom>
            <a:avLst/>
            <a:gdLst>
              <a:gd name="textAreaLeft" fmla="*/ 0 w 134640"/>
              <a:gd name="textAreaRight" fmla="*/ 135360 w 134640"/>
              <a:gd name="textAreaTop" fmla="*/ 0 h 204840"/>
              <a:gd name="textAreaBottom" fmla="*/ 205560 h 204840"/>
            </a:gdLst>
            <a:ahLst/>
            <a:cxnLst/>
            <a:rect l="textAreaLeft" t="textAreaTop" r="textAreaRight" b="textAreaBottom"/>
            <a:pathLst>
              <a:path w="135509" h="205611">
                <a:moveTo>
                  <a:pt x="81534" y="0"/>
                </a:moveTo>
                <a:lnTo>
                  <a:pt x="54102" y="0"/>
                </a:lnTo>
                <a:lnTo>
                  <a:pt x="29972" y="11938"/>
                </a:lnTo>
                <a:lnTo>
                  <a:pt x="17906" y="20954"/>
                </a:lnTo>
                <a:lnTo>
                  <a:pt x="11937" y="33020"/>
                </a:lnTo>
                <a:lnTo>
                  <a:pt x="2921" y="54228"/>
                </a:lnTo>
                <a:lnTo>
                  <a:pt x="0" y="75438"/>
                </a:lnTo>
                <a:lnTo>
                  <a:pt x="0" y="102870"/>
                </a:lnTo>
                <a:lnTo>
                  <a:pt x="254" y="102870"/>
                </a:lnTo>
                <a:lnTo>
                  <a:pt x="254" y="130301"/>
                </a:lnTo>
                <a:lnTo>
                  <a:pt x="3175" y="151511"/>
                </a:lnTo>
                <a:lnTo>
                  <a:pt x="12192" y="169672"/>
                </a:lnTo>
                <a:lnTo>
                  <a:pt x="18161" y="184785"/>
                </a:lnTo>
                <a:lnTo>
                  <a:pt x="30225" y="193801"/>
                </a:lnTo>
                <a:lnTo>
                  <a:pt x="42291" y="199771"/>
                </a:lnTo>
                <a:lnTo>
                  <a:pt x="66421" y="205611"/>
                </a:lnTo>
                <a:lnTo>
                  <a:pt x="81534" y="202692"/>
                </a:lnTo>
                <a:lnTo>
                  <a:pt x="93599" y="199771"/>
                </a:lnTo>
                <a:lnTo>
                  <a:pt x="105663" y="193801"/>
                </a:lnTo>
                <a:lnTo>
                  <a:pt x="114681" y="184785"/>
                </a:lnTo>
                <a:lnTo>
                  <a:pt x="116726" y="181355"/>
                </a:lnTo>
                <a:lnTo>
                  <a:pt x="57023" y="181355"/>
                </a:lnTo>
                <a:lnTo>
                  <a:pt x="51054" y="178435"/>
                </a:lnTo>
                <a:lnTo>
                  <a:pt x="39243" y="166624"/>
                </a:lnTo>
                <a:lnTo>
                  <a:pt x="33274" y="157606"/>
                </a:lnTo>
                <a:lnTo>
                  <a:pt x="30353" y="139446"/>
                </a:lnTo>
                <a:lnTo>
                  <a:pt x="27431" y="124333"/>
                </a:lnTo>
                <a:lnTo>
                  <a:pt x="27305" y="78611"/>
                </a:lnTo>
                <a:lnTo>
                  <a:pt x="30225" y="66548"/>
                </a:lnTo>
                <a:lnTo>
                  <a:pt x="33147" y="48387"/>
                </a:lnTo>
                <a:lnTo>
                  <a:pt x="39116" y="39370"/>
                </a:lnTo>
                <a:lnTo>
                  <a:pt x="50927" y="27559"/>
                </a:lnTo>
                <a:lnTo>
                  <a:pt x="56896" y="24638"/>
                </a:lnTo>
                <a:lnTo>
                  <a:pt x="117433" y="24638"/>
                </a:lnTo>
                <a:lnTo>
                  <a:pt x="114681" y="20954"/>
                </a:lnTo>
                <a:lnTo>
                  <a:pt x="105663" y="11938"/>
                </a:lnTo>
                <a:lnTo>
                  <a:pt x="81534" y="0"/>
                </a:lnTo>
                <a:close/>
              </a:path>
              <a:path w="135509" h="205611">
                <a:moveTo>
                  <a:pt x="117433" y="24638"/>
                </a:moveTo>
                <a:lnTo>
                  <a:pt x="75056" y="24638"/>
                </a:lnTo>
                <a:lnTo>
                  <a:pt x="84074" y="27559"/>
                </a:lnTo>
                <a:lnTo>
                  <a:pt x="96012" y="39497"/>
                </a:lnTo>
                <a:lnTo>
                  <a:pt x="101981" y="48514"/>
                </a:lnTo>
                <a:lnTo>
                  <a:pt x="104902" y="66675"/>
                </a:lnTo>
                <a:lnTo>
                  <a:pt x="107823" y="81788"/>
                </a:lnTo>
                <a:lnTo>
                  <a:pt x="107823" y="124333"/>
                </a:lnTo>
                <a:lnTo>
                  <a:pt x="104902" y="139446"/>
                </a:lnTo>
                <a:lnTo>
                  <a:pt x="101981" y="157606"/>
                </a:lnTo>
                <a:lnTo>
                  <a:pt x="96012" y="166624"/>
                </a:lnTo>
                <a:lnTo>
                  <a:pt x="84200" y="178435"/>
                </a:lnTo>
                <a:lnTo>
                  <a:pt x="75184" y="181355"/>
                </a:lnTo>
                <a:lnTo>
                  <a:pt x="116726" y="181355"/>
                </a:lnTo>
                <a:lnTo>
                  <a:pt x="123698" y="169672"/>
                </a:lnTo>
                <a:lnTo>
                  <a:pt x="129667" y="151511"/>
                </a:lnTo>
                <a:lnTo>
                  <a:pt x="132587" y="130301"/>
                </a:lnTo>
                <a:lnTo>
                  <a:pt x="135509" y="102870"/>
                </a:lnTo>
                <a:lnTo>
                  <a:pt x="132587" y="75438"/>
                </a:lnTo>
                <a:lnTo>
                  <a:pt x="129667" y="54228"/>
                </a:lnTo>
                <a:lnTo>
                  <a:pt x="123698" y="33020"/>
                </a:lnTo>
                <a:lnTo>
                  <a:pt x="117433" y="24638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bk object 40"/>
          <p:cNvSpPr/>
          <p:nvPr/>
        </p:nvSpPr>
        <p:spPr>
          <a:xfrm>
            <a:off x="2341800" y="6124680"/>
            <a:ext cx="6009840" cy="360"/>
          </a:xfrm>
          <a:custGeom>
            <a:avLst/>
            <a:gdLst>
              <a:gd name="textAreaLeft" fmla="*/ 0 w 6009840"/>
              <a:gd name="textAreaRight" fmla="*/ 6010560 w 600984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6010529">
                <a:moveTo>
                  <a:pt x="6010529" y="0"/>
                </a:moveTo>
                <a:lnTo>
                  <a:pt x="0" y="0"/>
                </a:lnTo>
              </a:path>
            </a:pathLst>
          </a:custGeom>
          <a:noFill/>
          <a:ln w="635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bk object 41"/>
          <p:cNvSpPr/>
          <p:nvPr/>
        </p:nvSpPr>
        <p:spPr>
          <a:xfrm>
            <a:off x="238752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bk object 42"/>
          <p:cNvSpPr/>
          <p:nvPr/>
        </p:nvSpPr>
        <p:spPr>
          <a:xfrm>
            <a:off x="298188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bk object 43"/>
          <p:cNvSpPr/>
          <p:nvPr/>
        </p:nvSpPr>
        <p:spPr>
          <a:xfrm>
            <a:off x="357336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bk object 44"/>
          <p:cNvSpPr/>
          <p:nvPr/>
        </p:nvSpPr>
        <p:spPr>
          <a:xfrm>
            <a:off x="416448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bk object 45"/>
          <p:cNvSpPr/>
          <p:nvPr/>
        </p:nvSpPr>
        <p:spPr>
          <a:xfrm>
            <a:off x="475596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bk object 46"/>
          <p:cNvSpPr/>
          <p:nvPr/>
        </p:nvSpPr>
        <p:spPr>
          <a:xfrm>
            <a:off x="534708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bk object 47"/>
          <p:cNvSpPr/>
          <p:nvPr/>
        </p:nvSpPr>
        <p:spPr>
          <a:xfrm>
            <a:off x="593856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bk object 48"/>
          <p:cNvSpPr/>
          <p:nvPr/>
        </p:nvSpPr>
        <p:spPr>
          <a:xfrm>
            <a:off x="653292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bk object 49"/>
          <p:cNvSpPr/>
          <p:nvPr/>
        </p:nvSpPr>
        <p:spPr>
          <a:xfrm>
            <a:off x="712404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bk object 50"/>
          <p:cNvSpPr/>
          <p:nvPr/>
        </p:nvSpPr>
        <p:spPr>
          <a:xfrm>
            <a:off x="771552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bk object 51"/>
          <p:cNvSpPr/>
          <p:nvPr/>
        </p:nvSpPr>
        <p:spPr>
          <a:xfrm>
            <a:off x="830664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bk object 52"/>
          <p:cNvSpPr/>
          <p:nvPr/>
        </p:nvSpPr>
        <p:spPr>
          <a:xfrm>
            <a:off x="2204280" y="629316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509" h="202564">
                <a:moveTo>
                  <a:pt x="93599" y="2921"/>
                </a:moveTo>
                <a:lnTo>
                  <a:pt x="42291" y="2921"/>
                </a:lnTo>
                <a:lnTo>
                  <a:pt x="30226" y="11938"/>
                </a:lnTo>
                <a:lnTo>
                  <a:pt x="21209" y="20955"/>
                </a:lnTo>
                <a:lnTo>
                  <a:pt x="18287" y="26924"/>
                </a:lnTo>
                <a:lnTo>
                  <a:pt x="12318" y="32893"/>
                </a:lnTo>
                <a:lnTo>
                  <a:pt x="9398" y="41910"/>
                </a:lnTo>
                <a:lnTo>
                  <a:pt x="6477" y="53975"/>
                </a:lnTo>
                <a:lnTo>
                  <a:pt x="3542" y="75311"/>
                </a:lnTo>
                <a:lnTo>
                  <a:pt x="635" y="102616"/>
                </a:lnTo>
                <a:lnTo>
                  <a:pt x="0" y="102743"/>
                </a:lnTo>
                <a:lnTo>
                  <a:pt x="5842" y="148336"/>
                </a:lnTo>
                <a:lnTo>
                  <a:pt x="29845" y="193675"/>
                </a:lnTo>
                <a:lnTo>
                  <a:pt x="53975" y="202565"/>
                </a:lnTo>
                <a:lnTo>
                  <a:pt x="81406" y="202565"/>
                </a:lnTo>
                <a:lnTo>
                  <a:pt x="93472" y="199644"/>
                </a:lnTo>
                <a:lnTo>
                  <a:pt x="105537" y="193675"/>
                </a:lnTo>
                <a:lnTo>
                  <a:pt x="117602" y="181610"/>
                </a:lnTo>
                <a:lnTo>
                  <a:pt x="69850" y="181483"/>
                </a:lnTo>
                <a:lnTo>
                  <a:pt x="60833" y="178562"/>
                </a:lnTo>
                <a:lnTo>
                  <a:pt x="54864" y="178562"/>
                </a:lnTo>
                <a:lnTo>
                  <a:pt x="45847" y="172593"/>
                </a:lnTo>
                <a:lnTo>
                  <a:pt x="39878" y="166624"/>
                </a:lnTo>
                <a:lnTo>
                  <a:pt x="36956" y="154559"/>
                </a:lnTo>
                <a:lnTo>
                  <a:pt x="30987" y="139446"/>
                </a:lnTo>
                <a:lnTo>
                  <a:pt x="30987" y="124333"/>
                </a:lnTo>
                <a:lnTo>
                  <a:pt x="28067" y="103124"/>
                </a:lnTo>
                <a:lnTo>
                  <a:pt x="27940" y="102616"/>
                </a:lnTo>
                <a:lnTo>
                  <a:pt x="30861" y="78359"/>
                </a:lnTo>
                <a:lnTo>
                  <a:pt x="30861" y="63246"/>
                </a:lnTo>
                <a:lnTo>
                  <a:pt x="36830" y="48133"/>
                </a:lnTo>
                <a:lnTo>
                  <a:pt x="39751" y="39116"/>
                </a:lnTo>
                <a:lnTo>
                  <a:pt x="45720" y="30099"/>
                </a:lnTo>
                <a:lnTo>
                  <a:pt x="54737" y="27178"/>
                </a:lnTo>
                <a:lnTo>
                  <a:pt x="60706" y="24257"/>
                </a:lnTo>
                <a:lnTo>
                  <a:pt x="119344" y="24257"/>
                </a:lnTo>
                <a:lnTo>
                  <a:pt x="117729" y="20955"/>
                </a:lnTo>
                <a:lnTo>
                  <a:pt x="93599" y="2921"/>
                </a:lnTo>
                <a:close/>
              </a:path>
              <a:path w="135509" h="202564">
                <a:moveTo>
                  <a:pt x="119344" y="24257"/>
                </a:moveTo>
                <a:lnTo>
                  <a:pt x="78867" y="24257"/>
                </a:lnTo>
                <a:lnTo>
                  <a:pt x="90805" y="30099"/>
                </a:lnTo>
                <a:lnTo>
                  <a:pt x="102743" y="48133"/>
                </a:lnTo>
                <a:lnTo>
                  <a:pt x="108712" y="63246"/>
                </a:lnTo>
                <a:lnTo>
                  <a:pt x="108712" y="139446"/>
                </a:lnTo>
                <a:lnTo>
                  <a:pt x="102743" y="154559"/>
                </a:lnTo>
                <a:lnTo>
                  <a:pt x="96774" y="166624"/>
                </a:lnTo>
                <a:lnTo>
                  <a:pt x="84836" y="178562"/>
                </a:lnTo>
                <a:lnTo>
                  <a:pt x="78867" y="178562"/>
                </a:lnTo>
                <a:lnTo>
                  <a:pt x="69850" y="181483"/>
                </a:lnTo>
                <a:lnTo>
                  <a:pt x="117664" y="181483"/>
                </a:lnTo>
                <a:lnTo>
                  <a:pt x="123571" y="169545"/>
                </a:lnTo>
                <a:lnTo>
                  <a:pt x="132587" y="148336"/>
                </a:lnTo>
                <a:lnTo>
                  <a:pt x="135509" y="130175"/>
                </a:lnTo>
                <a:lnTo>
                  <a:pt x="135491" y="75184"/>
                </a:lnTo>
                <a:lnTo>
                  <a:pt x="132587" y="54102"/>
                </a:lnTo>
                <a:lnTo>
                  <a:pt x="123571" y="32893"/>
                </a:lnTo>
                <a:lnTo>
                  <a:pt x="119344" y="24257"/>
                </a:lnTo>
                <a:close/>
              </a:path>
              <a:path w="135509" h="202564">
                <a:moveTo>
                  <a:pt x="81661" y="0"/>
                </a:moveTo>
                <a:lnTo>
                  <a:pt x="54229" y="0"/>
                </a:lnTo>
                <a:lnTo>
                  <a:pt x="48260" y="2921"/>
                </a:lnTo>
                <a:lnTo>
                  <a:pt x="87630" y="2921"/>
                </a:lnTo>
                <a:lnTo>
                  <a:pt x="8166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bk object 53"/>
          <p:cNvSpPr/>
          <p:nvPr/>
        </p:nvSpPr>
        <p:spPr>
          <a:xfrm>
            <a:off x="237240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2" h="33401">
                <a:moveTo>
                  <a:pt x="0" y="16700"/>
                </a:moveTo>
                <a:lnTo>
                  <a:pt x="3035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bk object 54"/>
          <p:cNvSpPr/>
          <p:nvPr/>
        </p:nvSpPr>
        <p:spPr>
          <a:xfrm>
            <a:off x="2432520" y="629352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361" h="202564">
                <a:moveTo>
                  <a:pt x="93472" y="2920"/>
                </a:moveTo>
                <a:lnTo>
                  <a:pt x="42163" y="2920"/>
                </a:lnTo>
                <a:lnTo>
                  <a:pt x="36194" y="5841"/>
                </a:lnTo>
                <a:lnTo>
                  <a:pt x="21208" y="20827"/>
                </a:lnTo>
                <a:lnTo>
                  <a:pt x="18287" y="26796"/>
                </a:lnTo>
                <a:lnTo>
                  <a:pt x="12318" y="32765"/>
                </a:lnTo>
                <a:lnTo>
                  <a:pt x="9398" y="41782"/>
                </a:lnTo>
                <a:lnTo>
                  <a:pt x="6476" y="53847"/>
                </a:lnTo>
                <a:lnTo>
                  <a:pt x="3528" y="75310"/>
                </a:lnTo>
                <a:lnTo>
                  <a:pt x="635" y="102488"/>
                </a:lnTo>
                <a:lnTo>
                  <a:pt x="0" y="102869"/>
                </a:lnTo>
                <a:lnTo>
                  <a:pt x="5842" y="148462"/>
                </a:lnTo>
                <a:lnTo>
                  <a:pt x="29844" y="193801"/>
                </a:lnTo>
                <a:lnTo>
                  <a:pt x="53848" y="202564"/>
                </a:lnTo>
                <a:lnTo>
                  <a:pt x="81280" y="202564"/>
                </a:lnTo>
                <a:lnTo>
                  <a:pt x="93344" y="199643"/>
                </a:lnTo>
                <a:lnTo>
                  <a:pt x="105410" y="193674"/>
                </a:lnTo>
                <a:lnTo>
                  <a:pt x="117475" y="181609"/>
                </a:lnTo>
                <a:lnTo>
                  <a:pt x="117537" y="181482"/>
                </a:lnTo>
                <a:lnTo>
                  <a:pt x="69976" y="181482"/>
                </a:lnTo>
                <a:lnTo>
                  <a:pt x="60960" y="178561"/>
                </a:lnTo>
                <a:lnTo>
                  <a:pt x="54991" y="178561"/>
                </a:lnTo>
                <a:lnTo>
                  <a:pt x="45974" y="172592"/>
                </a:lnTo>
                <a:lnTo>
                  <a:pt x="40005" y="166611"/>
                </a:lnTo>
                <a:lnTo>
                  <a:pt x="37083" y="160654"/>
                </a:lnTo>
                <a:lnTo>
                  <a:pt x="37033" y="154558"/>
                </a:lnTo>
                <a:lnTo>
                  <a:pt x="31114" y="139572"/>
                </a:lnTo>
                <a:lnTo>
                  <a:pt x="31114" y="124459"/>
                </a:lnTo>
                <a:lnTo>
                  <a:pt x="28193" y="103250"/>
                </a:lnTo>
                <a:lnTo>
                  <a:pt x="28067" y="102488"/>
                </a:lnTo>
                <a:lnTo>
                  <a:pt x="30987" y="78231"/>
                </a:lnTo>
                <a:lnTo>
                  <a:pt x="30987" y="63118"/>
                </a:lnTo>
                <a:lnTo>
                  <a:pt x="36906" y="48132"/>
                </a:lnTo>
                <a:lnTo>
                  <a:pt x="36956" y="42036"/>
                </a:lnTo>
                <a:lnTo>
                  <a:pt x="39878" y="39115"/>
                </a:lnTo>
                <a:lnTo>
                  <a:pt x="45847" y="30086"/>
                </a:lnTo>
                <a:lnTo>
                  <a:pt x="54863" y="27177"/>
                </a:lnTo>
                <a:lnTo>
                  <a:pt x="60832" y="24256"/>
                </a:lnTo>
                <a:lnTo>
                  <a:pt x="119217" y="24256"/>
                </a:lnTo>
                <a:lnTo>
                  <a:pt x="117601" y="20954"/>
                </a:lnTo>
                <a:lnTo>
                  <a:pt x="93472" y="2920"/>
                </a:lnTo>
                <a:close/>
              </a:path>
              <a:path w="135361" h="202564">
                <a:moveTo>
                  <a:pt x="119217" y="24256"/>
                </a:moveTo>
                <a:lnTo>
                  <a:pt x="78993" y="24256"/>
                </a:lnTo>
                <a:lnTo>
                  <a:pt x="90931" y="30086"/>
                </a:lnTo>
                <a:lnTo>
                  <a:pt x="102869" y="48132"/>
                </a:lnTo>
                <a:lnTo>
                  <a:pt x="108788" y="63118"/>
                </a:lnTo>
                <a:lnTo>
                  <a:pt x="108788" y="139572"/>
                </a:lnTo>
                <a:lnTo>
                  <a:pt x="102807" y="154685"/>
                </a:lnTo>
                <a:lnTo>
                  <a:pt x="96900" y="166611"/>
                </a:lnTo>
                <a:lnTo>
                  <a:pt x="84962" y="178561"/>
                </a:lnTo>
                <a:lnTo>
                  <a:pt x="78993" y="178561"/>
                </a:lnTo>
                <a:lnTo>
                  <a:pt x="69976" y="181482"/>
                </a:lnTo>
                <a:lnTo>
                  <a:pt x="117537" y="181482"/>
                </a:lnTo>
                <a:lnTo>
                  <a:pt x="123443" y="169544"/>
                </a:lnTo>
                <a:lnTo>
                  <a:pt x="132461" y="148335"/>
                </a:lnTo>
                <a:lnTo>
                  <a:pt x="135361" y="130301"/>
                </a:lnTo>
                <a:lnTo>
                  <a:pt x="135347" y="75056"/>
                </a:lnTo>
                <a:lnTo>
                  <a:pt x="132461" y="54101"/>
                </a:lnTo>
                <a:lnTo>
                  <a:pt x="123381" y="32765"/>
                </a:lnTo>
                <a:lnTo>
                  <a:pt x="119217" y="24256"/>
                </a:lnTo>
                <a:close/>
              </a:path>
              <a:path w="135361" h="202564">
                <a:moveTo>
                  <a:pt x="81533" y="0"/>
                </a:moveTo>
                <a:lnTo>
                  <a:pt x="54101" y="0"/>
                </a:lnTo>
                <a:lnTo>
                  <a:pt x="48132" y="2920"/>
                </a:lnTo>
                <a:lnTo>
                  <a:pt x="87503" y="2920"/>
                </a:lnTo>
                <a:lnTo>
                  <a:pt x="81533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bk object 55"/>
          <p:cNvSpPr/>
          <p:nvPr/>
        </p:nvSpPr>
        <p:spPr>
          <a:xfrm>
            <a:off x="2816640" y="6293160"/>
            <a:ext cx="137520" cy="201960"/>
          </a:xfrm>
          <a:custGeom>
            <a:avLst/>
            <a:gdLst>
              <a:gd name="textAreaLeft" fmla="*/ 0 w 137520"/>
              <a:gd name="textAreaRight" fmla="*/ 138240 w 13752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8289" h="202564">
                <a:moveTo>
                  <a:pt x="96519" y="2921"/>
                </a:moveTo>
                <a:lnTo>
                  <a:pt x="45338" y="2921"/>
                </a:lnTo>
                <a:lnTo>
                  <a:pt x="21208" y="20955"/>
                </a:lnTo>
                <a:lnTo>
                  <a:pt x="15367" y="32893"/>
                </a:lnTo>
                <a:lnTo>
                  <a:pt x="9398" y="41910"/>
                </a:lnTo>
                <a:lnTo>
                  <a:pt x="6476" y="53975"/>
                </a:lnTo>
                <a:lnTo>
                  <a:pt x="3542" y="75311"/>
                </a:lnTo>
                <a:lnTo>
                  <a:pt x="635" y="102616"/>
                </a:lnTo>
                <a:lnTo>
                  <a:pt x="0" y="102743"/>
                </a:lnTo>
                <a:lnTo>
                  <a:pt x="5842" y="148336"/>
                </a:lnTo>
                <a:lnTo>
                  <a:pt x="32893" y="193675"/>
                </a:lnTo>
                <a:lnTo>
                  <a:pt x="53975" y="202565"/>
                </a:lnTo>
                <a:lnTo>
                  <a:pt x="84328" y="202565"/>
                </a:lnTo>
                <a:lnTo>
                  <a:pt x="96393" y="199644"/>
                </a:lnTo>
                <a:lnTo>
                  <a:pt x="105410" y="193675"/>
                </a:lnTo>
                <a:lnTo>
                  <a:pt x="117475" y="181610"/>
                </a:lnTo>
                <a:lnTo>
                  <a:pt x="117854" y="181102"/>
                </a:lnTo>
                <a:lnTo>
                  <a:pt x="69976" y="181102"/>
                </a:lnTo>
                <a:lnTo>
                  <a:pt x="60960" y="178181"/>
                </a:lnTo>
                <a:lnTo>
                  <a:pt x="54991" y="178181"/>
                </a:lnTo>
                <a:lnTo>
                  <a:pt x="45974" y="172212"/>
                </a:lnTo>
                <a:lnTo>
                  <a:pt x="40005" y="166243"/>
                </a:lnTo>
                <a:lnTo>
                  <a:pt x="37083" y="160274"/>
                </a:lnTo>
                <a:lnTo>
                  <a:pt x="37033" y="154178"/>
                </a:lnTo>
                <a:lnTo>
                  <a:pt x="31114" y="139192"/>
                </a:lnTo>
                <a:lnTo>
                  <a:pt x="31097" y="123952"/>
                </a:lnTo>
                <a:lnTo>
                  <a:pt x="28193" y="102870"/>
                </a:lnTo>
                <a:lnTo>
                  <a:pt x="28067" y="102616"/>
                </a:lnTo>
                <a:lnTo>
                  <a:pt x="30972" y="78486"/>
                </a:lnTo>
                <a:lnTo>
                  <a:pt x="30987" y="63246"/>
                </a:lnTo>
                <a:lnTo>
                  <a:pt x="36906" y="48260"/>
                </a:lnTo>
                <a:lnTo>
                  <a:pt x="36956" y="42164"/>
                </a:lnTo>
                <a:lnTo>
                  <a:pt x="39878" y="39243"/>
                </a:lnTo>
                <a:lnTo>
                  <a:pt x="45847" y="30213"/>
                </a:lnTo>
                <a:lnTo>
                  <a:pt x="54863" y="27305"/>
                </a:lnTo>
                <a:lnTo>
                  <a:pt x="60832" y="24384"/>
                </a:lnTo>
                <a:lnTo>
                  <a:pt x="119280" y="24384"/>
                </a:lnTo>
                <a:lnTo>
                  <a:pt x="117601" y="20955"/>
                </a:lnTo>
                <a:lnTo>
                  <a:pt x="105537" y="11938"/>
                </a:lnTo>
                <a:lnTo>
                  <a:pt x="96519" y="2921"/>
                </a:lnTo>
                <a:close/>
              </a:path>
              <a:path w="138289" h="202564">
                <a:moveTo>
                  <a:pt x="119280" y="24384"/>
                </a:moveTo>
                <a:lnTo>
                  <a:pt x="78993" y="24384"/>
                </a:lnTo>
                <a:lnTo>
                  <a:pt x="84962" y="27305"/>
                </a:lnTo>
                <a:lnTo>
                  <a:pt x="93980" y="30213"/>
                </a:lnTo>
                <a:lnTo>
                  <a:pt x="99949" y="39243"/>
                </a:lnTo>
                <a:lnTo>
                  <a:pt x="102869" y="48260"/>
                </a:lnTo>
                <a:lnTo>
                  <a:pt x="108788" y="63246"/>
                </a:lnTo>
                <a:lnTo>
                  <a:pt x="108838" y="78486"/>
                </a:lnTo>
                <a:lnTo>
                  <a:pt x="111744" y="102616"/>
                </a:lnTo>
                <a:lnTo>
                  <a:pt x="111742" y="102870"/>
                </a:lnTo>
                <a:lnTo>
                  <a:pt x="108838" y="123952"/>
                </a:lnTo>
                <a:lnTo>
                  <a:pt x="108788" y="139192"/>
                </a:lnTo>
                <a:lnTo>
                  <a:pt x="102869" y="154178"/>
                </a:lnTo>
                <a:lnTo>
                  <a:pt x="99949" y="166243"/>
                </a:lnTo>
                <a:lnTo>
                  <a:pt x="93980" y="172212"/>
                </a:lnTo>
                <a:lnTo>
                  <a:pt x="84962" y="178181"/>
                </a:lnTo>
                <a:lnTo>
                  <a:pt x="78993" y="178181"/>
                </a:lnTo>
                <a:lnTo>
                  <a:pt x="69976" y="181102"/>
                </a:lnTo>
                <a:lnTo>
                  <a:pt x="117854" y="181102"/>
                </a:lnTo>
                <a:lnTo>
                  <a:pt x="126492" y="169545"/>
                </a:lnTo>
                <a:lnTo>
                  <a:pt x="132461" y="148336"/>
                </a:lnTo>
                <a:lnTo>
                  <a:pt x="135381" y="130175"/>
                </a:lnTo>
                <a:lnTo>
                  <a:pt x="138289" y="102870"/>
                </a:lnTo>
                <a:lnTo>
                  <a:pt x="138289" y="102616"/>
                </a:lnTo>
                <a:lnTo>
                  <a:pt x="135364" y="75184"/>
                </a:lnTo>
                <a:lnTo>
                  <a:pt x="132461" y="54102"/>
                </a:lnTo>
                <a:lnTo>
                  <a:pt x="126492" y="32893"/>
                </a:lnTo>
                <a:lnTo>
                  <a:pt x="120523" y="26924"/>
                </a:lnTo>
                <a:lnTo>
                  <a:pt x="119280" y="24384"/>
                </a:lnTo>
                <a:close/>
              </a:path>
              <a:path w="138289" h="202564">
                <a:moveTo>
                  <a:pt x="84581" y="0"/>
                </a:moveTo>
                <a:lnTo>
                  <a:pt x="54229" y="0"/>
                </a:lnTo>
                <a:lnTo>
                  <a:pt x="48260" y="2921"/>
                </a:lnTo>
                <a:lnTo>
                  <a:pt x="90550" y="2921"/>
                </a:lnTo>
                <a:lnTo>
                  <a:pt x="8458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bk object 56"/>
          <p:cNvSpPr/>
          <p:nvPr/>
        </p:nvSpPr>
        <p:spPr>
          <a:xfrm>
            <a:off x="298800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bk object 57"/>
          <p:cNvSpPr/>
          <p:nvPr/>
        </p:nvSpPr>
        <p:spPr>
          <a:xfrm>
            <a:off x="3043080" y="6293520"/>
            <a:ext cx="71280" cy="200160"/>
          </a:xfrm>
          <a:custGeom>
            <a:avLst/>
            <a:gdLst>
              <a:gd name="textAreaLeft" fmla="*/ 0 w 71280"/>
              <a:gd name="textAreaRight" fmla="*/ 72000 w 7128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72136" h="201040">
                <a:moveTo>
                  <a:pt x="72136" y="0"/>
                </a:moveTo>
                <a:lnTo>
                  <a:pt x="53975" y="0"/>
                </a:lnTo>
                <a:lnTo>
                  <a:pt x="51054" y="9016"/>
                </a:lnTo>
                <a:lnTo>
                  <a:pt x="45212" y="20954"/>
                </a:lnTo>
                <a:lnTo>
                  <a:pt x="36194" y="26911"/>
                </a:lnTo>
                <a:lnTo>
                  <a:pt x="30225" y="32892"/>
                </a:lnTo>
                <a:lnTo>
                  <a:pt x="21208" y="35813"/>
                </a:lnTo>
                <a:lnTo>
                  <a:pt x="0" y="35813"/>
                </a:lnTo>
                <a:lnTo>
                  <a:pt x="0" y="57022"/>
                </a:lnTo>
                <a:lnTo>
                  <a:pt x="45593" y="57022"/>
                </a:lnTo>
                <a:lnTo>
                  <a:pt x="45593" y="200151"/>
                </a:lnTo>
                <a:lnTo>
                  <a:pt x="44704" y="201040"/>
                </a:lnTo>
                <a:lnTo>
                  <a:pt x="72136" y="201040"/>
                </a:lnTo>
                <a:lnTo>
                  <a:pt x="72136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bk object 58"/>
          <p:cNvSpPr/>
          <p:nvPr/>
        </p:nvSpPr>
        <p:spPr>
          <a:xfrm>
            <a:off x="3386520" y="6293520"/>
            <a:ext cx="137160" cy="201600"/>
          </a:xfrm>
          <a:custGeom>
            <a:avLst/>
            <a:gdLst>
              <a:gd name="textAreaLeft" fmla="*/ 0 w 137160"/>
              <a:gd name="textAreaRight" fmla="*/ 137880 w 13716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8049" h="202311">
                <a:moveTo>
                  <a:pt x="96393" y="2920"/>
                </a:moveTo>
                <a:lnTo>
                  <a:pt x="45212" y="2920"/>
                </a:lnTo>
                <a:lnTo>
                  <a:pt x="33147" y="11937"/>
                </a:lnTo>
                <a:lnTo>
                  <a:pt x="27178" y="14858"/>
                </a:lnTo>
                <a:lnTo>
                  <a:pt x="21209" y="20827"/>
                </a:lnTo>
                <a:lnTo>
                  <a:pt x="15367" y="32765"/>
                </a:lnTo>
                <a:lnTo>
                  <a:pt x="9398" y="41782"/>
                </a:lnTo>
                <a:lnTo>
                  <a:pt x="6477" y="53847"/>
                </a:lnTo>
                <a:lnTo>
                  <a:pt x="3542" y="75183"/>
                </a:lnTo>
                <a:lnTo>
                  <a:pt x="635" y="102488"/>
                </a:lnTo>
                <a:lnTo>
                  <a:pt x="0" y="102615"/>
                </a:lnTo>
                <a:lnTo>
                  <a:pt x="5842" y="148208"/>
                </a:lnTo>
                <a:lnTo>
                  <a:pt x="32766" y="193420"/>
                </a:lnTo>
                <a:lnTo>
                  <a:pt x="53848" y="202310"/>
                </a:lnTo>
                <a:lnTo>
                  <a:pt x="84201" y="202310"/>
                </a:lnTo>
                <a:lnTo>
                  <a:pt x="96266" y="199389"/>
                </a:lnTo>
                <a:lnTo>
                  <a:pt x="105283" y="193420"/>
                </a:lnTo>
                <a:lnTo>
                  <a:pt x="117221" y="181482"/>
                </a:lnTo>
                <a:lnTo>
                  <a:pt x="118075" y="180339"/>
                </a:lnTo>
                <a:lnTo>
                  <a:pt x="70231" y="180339"/>
                </a:lnTo>
                <a:lnTo>
                  <a:pt x="61214" y="177418"/>
                </a:lnTo>
                <a:lnTo>
                  <a:pt x="55245" y="177418"/>
                </a:lnTo>
                <a:lnTo>
                  <a:pt x="49276" y="171449"/>
                </a:lnTo>
                <a:lnTo>
                  <a:pt x="40259" y="165480"/>
                </a:lnTo>
                <a:lnTo>
                  <a:pt x="37337" y="153415"/>
                </a:lnTo>
                <a:lnTo>
                  <a:pt x="31419" y="138429"/>
                </a:lnTo>
                <a:lnTo>
                  <a:pt x="31369" y="102488"/>
                </a:lnTo>
                <a:lnTo>
                  <a:pt x="31292" y="62737"/>
                </a:lnTo>
                <a:lnTo>
                  <a:pt x="37252" y="47624"/>
                </a:lnTo>
                <a:lnTo>
                  <a:pt x="40132" y="38734"/>
                </a:lnTo>
                <a:lnTo>
                  <a:pt x="49149" y="29717"/>
                </a:lnTo>
                <a:lnTo>
                  <a:pt x="61087" y="23875"/>
                </a:lnTo>
                <a:lnTo>
                  <a:pt x="118839" y="23875"/>
                </a:lnTo>
                <a:lnTo>
                  <a:pt x="117348" y="20827"/>
                </a:lnTo>
                <a:lnTo>
                  <a:pt x="111379" y="14858"/>
                </a:lnTo>
                <a:lnTo>
                  <a:pt x="105410" y="11937"/>
                </a:lnTo>
                <a:lnTo>
                  <a:pt x="96393" y="2920"/>
                </a:lnTo>
                <a:close/>
              </a:path>
              <a:path w="138049" h="202311">
                <a:moveTo>
                  <a:pt x="118839" y="23875"/>
                </a:moveTo>
                <a:lnTo>
                  <a:pt x="79248" y="23875"/>
                </a:lnTo>
                <a:lnTo>
                  <a:pt x="85217" y="26796"/>
                </a:lnTo>
                <a:lnTo>
                  <a:pt x="94234" y="29717"/>
                </a:lnTo>
                <a:lnTo>
                  <a:pt x="100203" y="38734"/>
                </a:lnTo>
                <a:lnTo>
                  <a:pt x="103124" y="41655"/>
                </a:lnTo>
                <a:lnTo>
                  <a:pt x="103174" y="47751"/>
                </a:lnTo>
                <a:lnTo>
                  <a:pt x="109093" y="62737"/>
                </a:lnTo>
                <a:lnTo>
                  <a:pt x="109093" y="77850"/>
                </a:lnTo>
                <a:lnTo>
                  <a:pt x="111983" y="101853"/>
                </a:lnTo>
                <a:lnTo>
                  <a:pt x="111944" y="102615"/>
                </a:lnTo>
                <a:lnTo>
                  <a:pt x="109093" y="123316"/>
                </a:lnTo>
                <a:lnTo>
                  <a:pt x="109093" y="138429"/>
                </a:lnTo>
                <a:lnTo>
                  <a:pt x="103174" y="153415"/>
                </a:lnTo>
                <a:lnTo>
                  <a:pt x="103124" y="159511"/>
                </a:lnTo>
                <a:lnTo>
                  <a:pt x="100203" y="165480"/>
                </a:lnTo>
                <a:lnTo>
                  <a:pt x="94234" y="171449"/>
                </a:lnTo>
                <a:lnTo>
                  <a:pt x="85217" y="177418"/>
                </a:lnTo>
                <a:lnTo>
                  <a:pt x="79248" y="177418"/>
                </a:lnTo>
                <a:lnTo>
                  <a:pt x="70231" y="180339"/>
                </a:lnTo>
                <a:lnTo>
                  <a:pt x="118075" y="180339"/>
                </a:lnTo>
                <a:lnTo>
                  <a:pt x="126237" y="169417"/>
                </a:lnTo>
                <a:lnTo>
                  <a:pt x="132207" y="148208"/>
                </a:lnTo>
                <a:lnTo>
                  <a:pt x="135128" y="130047"/>
                </a:lnTo>
                <a:lnTo>
                  <a:pt x="138049" y="102615"/>
                </a:lnTo>
                <a:lnTo>
                  <a:pt x="135110" y="75056"/>
                </a:lnTo>
                <a:lnTo>
                  <a:pt x="132207" y="53974"/>
                </a:lnTo>
                <a:lnTo>
                  <a:pt x="126237" y="32765"/>
                </a:lnTo>
                <a:lnTo>
                  <a:pt x="120269" y="26796"/>
                </a:lnTo>
                <a:lnTo>
                  <a:pt x="118839" y="23875"/>
                </a:lnTo>
                <a:close/>
              </a:path>
              <a:path w="138049" h="202311">
                <a:moveTo>
                  <a:pt x="31369" y="101853"/>
                </a:moveTo>
                <a:lnTo>
                  <a:pt x="31242" y="102488"/>
                </a:lnTo>
                <a:lnTo>
                  <a:pt x="31369" y="101853"/>
                </a:lnTo>
                <a:close/>
              </a:path>
              <a:path w="138049" h="202311">
                <a:moveTo>
                  <a:pt x="84455" y="0"/>
                </a:moveTo>
                <a:lnTo>
                  <a:pt x="54102" y="0"/>
                </a:lnTo>
                <a:lnTo>
                  <a:pt x="51181" y="2920"/>
                </a:lnTo>
                <a:lnTo>
                  <a:pt x="90424" y="2920"/>
                </a:lnTo>
                <a:lnTo>
                  <a:pt x="8445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bk object 59"/>
          <p:cNvSpPr/>
          <p:nvPr/>
        </p:nvSpPr>
        <p:spPr>
          <a:xfrm>
            <a:off x="355788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bk object 60"/>
          <p:cNvSpPr/>
          <p:nvPr/>
        </p:nvSpPr>
        <p:spPr>
          <a:xfrm>
            <a:off x="3615840" y="6294960"/>
            <a:ext cx="136440" cy="197640"/>
          </a:xfrm>
          <a:custGeom>
            <a:avLst/>
            <a:gdLst>
              <a:gd name="textAreaLeft" fmla="*/ 0 w 136440"/>
              <a:gd name="textAreaRight" fmla="*/ 137160 w 136440"/>
              <a:gd name="textAreaTop" fmla="*/ 0 h 197640"/>
              <a:gd name="textAreaBottom" fmla="*/ 198360 h 197640"/>
            </a:gdLst>
            <a:ahLst/>
            <a:cxnLst/>
            <a:rect l="textAreaLeft" t="textAreaTop" r="textAreaRight" b="textAreaBottom"/>
            <a:pathLst>
              <a:path w="137287" h="198500">
                <a:moveTo>
                  <a:pt x="126675" y="24510"/>
                </a:moveTo>
                <a:lnTo>
                  <a:pt x="84200" y="24510"/>
                </a:lnTo>
                <a:lnTo>
                  <a:pt x="96138" y="30352"/>
                </a:lnTo>
                <a:lnTo>
                  <a:pt x="102108" y="36321"/>
                </a:lnTo>
                <a:lnTo>
                  <a:pt x="104966" y="42163"/>
                </a:lnTo>
                <a:lnTo>
                  <a:pt x="105029" y="45211"/>
                </a:lnTo>
                <a:lnTo>
                  <a:pt x="107823" y="48005"/>
                </a:lnTo>
                <a:lnTo>
                  <a:pt x="90170" y="93217"/>
                </a:lnTo>
                <a:lnTo>
                  <a:pt x="62992" y="108203"/>
                </a:lnTo>
                <a:lnTo>
                  <a:pt x="44958" y="120141"/>
                </a:lnTo>
                <a:lnTo>
                  <a:pt x="32893" y="126110"/>
                </a:lnTo>
                <a:lnTo>
                  <a:pt x="14859" y="144144"/>
                </a:lnTo>
                <a:lnTo>
                  <a:pt x="2921" y="168274"/>
                </a:lnTo>
                <a:lnTo>
                  <a:pt x="0" y="183387"/>
                </a:lnTo>
                <a:lnTo>
                  <a:pt x="0" y="198500"/>
                </a:lnTo>
                <a:lnTo>
                  <a:pt x="254" y="197992"/>
                </a:lnTo>
                <a:lnTo>
                  <a:pt x="137287" y="197992"/>
                </a:lnTo>
                <a:lnTo>
                  <a:pt x="137287" y="170560"/>
                </a:lnTo>
                <a:lnTo>
                  <a:pt x="30607" y="170560"/>
                </a:lnTo>
                <a:lnTo>
                  <a:pt x="30607" y="167639"/>
                </a:lnTo>
                <a:lnTo>
                  <a:pt x="33527" y="164718"/>
                </a:lnTo>
                <a:lnTo>
                  <a:pt x="39370" y="152780"/>
                </a:lnTo>
                <a:lnTo>
                  <a:pt x="45338" y="149859"/>
                </a:lnTo>
                <a:lnTo>
                  <a:pt x="48260" y="143890"/>
                </a:lnTo>
                <a:lnTo>
                  <a:pt x="54229" y="140969"/>
                </a:lnTo>
                <a:lnTo>
                  <a:pt x="63246" y="135000"/>
                </a:lnTo>
                <a:lnTo>
                  <a:pt x="72262" y="132079"/>
                </a:lnTo>
                <a:lnTo>
                  <a:pt x="75184" y="129158"/>
                </a:lnTo>
                <a:lnTo>
                  <a:pt x="93345" y="120141"/>
                </a:lnTo>
                <a:lnTo>
                  <a:pt x="96266" y="117220"/>
                </a:lnTo>
                <a:lnTo>
                  <a:pt x="102235" y="114299"/>
                </a:lnTo>
                <a:lnTo>
                  <a:pt x="111251" y="108330"/>
                </a:lnTo>
                <a:lnTo>
                  <a:pt x="126237" y="93344"/>
                </a:lnTo>
                <a:lnTo>
                  <a:pt x="129159" y="84327"/>
                </a:lnTo>
                <a:lnTo>
                  <a:pt x="135127" y="72262"/>
                </a:lnTo>
                <a:lnTo>
                  <a:pt x="135127" y="44830"/>
                </a:lnTo>
                <a:lnTo>
                  <a:pt x="132207" y="35813"/>
                </a:lnTo>
                <a:lnTo>
                  <a:pt x="126675" y="24510"/>
                </a:lnTo>
                <a:close/>
              </a:path>
              <a:path w="137287" h="198500">
                <a:moveTo>
                  <a:pt x="84200" y="0"/>
                </a:moveTo>
                <a:lnTo>
                  <a:pt x="53848" y="0"/>
                </a:lnTo>
                <a:lnTo>
                  <a:pt x="29845" y="11810"/>
                </a:lnTo>
                <a:lnTo>
                  <a:pt x="17907" y="23748"/>
                </a:lnTo>
                <a:lnTo>
                  <a:pt x="14986" y="29717"/>
                </a:lnTo>
                <a:lnTo>
                  <a:pt x="9017" y="38734"/>
                </a:lnTo>
                <a:lnTo>
                  <a:pt x="6096" y="47751"/>
                </a:lnTo>
                <a:lnTo>
                  <a:pt x="6096" y="68960"/>
                </a:lnTo>
                <a:lnTo>
                  <a:pt x="30352" y="68960"/>
                </a:lnTo>
                <a:lnTo>
                  <a:pt x="30352" y="59943"/>
                </a:lnTo>
                <a:lnTo>
                  <a:pt x="33274" y="53974"/>
                </a:lnTo>
                <a:lnTo>
                  <a:pt x="33274" y="48005"/>
                </a:lnTo>
                <a:lnTo>
                  <a:pt x="36068" y="45211"/>
                </a:lnTo>
                <a:lnTo>
                  <a:pt x="36195" y="42163"/>
                </a:lnTo>
                <a:lnTo>
                  <a:pt x="48006" y="30352"/>
                </a:lnTo>
                <a:lnTo>
                  <a:pt x="59944" y="24510"/>
                </a:lnTo>
                <a:lnTo>
                  <a:pt x="126675" y="24510"/>
                </a:lnTo>
                <a:lnTo>
                  <a:pt x="126364" y="23875"/>
                </a:lnTo>
                <a:lnTo>
                  <a:pt x="117348" y="14858"/>
                </a:lnTo>
                <a:lnTo>
                  <a:pt x="108331" y="8889"/>
                </a:lnTo>
                <a:lnTo>
                  <a:pt x="96266" y="2920"/>
                </a:lnTo>
                <a:lnTo>
                  <a:pt x="8420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bk object 61"/>
          <p:cNvSpPr/>
          <p:nvPr/>
        </p:nvSpPr>
        <p:spPr>
          <a:xfrm>
            <a:off x="3980880" y="6293160"/>
            <a:ext cx="134640" cy="20160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5509" h="202437">
                <a:moveTo>
                  <a:pt x="28448" y="102616"/>
                </a:moveTo>
                <a:lnTo>
                  <a:pt x="0" y="102616"/>
                </a:lnTo>
                <a:lnTo>
                  <a:pt x="0" y="130048"/>
                </a:lnTo>
                <a:lnTo>
                  <a:pt x="11937" y="169418"/>
                </a:lnTo>
                <a:lnTo>
                  <a:pt x="42037" y="199517"/>
                </a:lnTo>
                <a:lnTo>
                  <a:pt x="54101" y="202438"/>
                </a:lnTo>
                <a:lnTo>
                  <a:pt x="81534" y="202438"/>
                </a:lnTo>
                <a:lnTo>
                  <a:pt x="93599" y="199517"/>
                </a:lnTo>
                <a:lnTo>
                  <a:pt x="105663" y="193548"/>
                </a:lnTo>
                <a:lnTo>
                  <a:pt x="115155" y="180848"/>
                </a:lnTo>
                <a:lnTo>
                  <a:pt x="67183" y="180848"/>
                </a:lnTo>
                <a:lnTo>
                  <a:pt x="58165" y="177927"/>
                </a:lnTo>
                <a:lnTo>
                  <a:pt x="52197" y="177927"/>
                </a:lnTo>
                <a:lnTo>
                  <a:pt x="40259" y="165989"/>
                </a:lnTo>
                <a:lnTo>
                  <a:pt x="34289" y="153924"/>
                </a:lnTo>
                <a:lnTo>
                  <a:pt x="28472" y="123825"/>
                </a:lnTo>
                <a:lnTo>
                  <a:pt x="28448" y="102616"/>
                </a:lnTo>
                <a:close/>
              </a:path>
              <a:path w="135509" h="202437">
                <a:moveTo>
                  <a:pt x="116486" y="24257"/>
                </a:moveTo>
                <a:lnTo>
                  <a:pt x="76200" y="24257"/>
                </a:lnTo>
                <a:lnTo>
                  <a:pt x="85216" y="27178"/>
                </a:lnTo>
                <a:lnTo>
                  <a:pt x="91186" y="30099"/>
                </a:lnTo>
                <a:lnTo>
                  <a:pt x="97154" y="39116"/>
                </a:lnTo>
                <a:lnTo>
                  <a:pt x="100075" y="42037"/>
                </a:lnTo>
                <a:lnTo>
                  <a:pt x="102997" y="48006"/>
                </a:lnTo>
                <a:lnTo>
                  <a:pt x="108838" y="78232"/>
                </a:lnTo>
                <a:lnTo>
                  <a:pt x="108838" y="123825"/>
                </a:lnTo>
                <a:lnTo>
                  <a:pt x="102997" y="154038"/>
                </a:lnTo>
                <a:lnTo>
                  <a:pt x="97154" y="165989"/>
                </a:lnTo>
                <a:lnTo>
                  <a:pt x="85216" y="177927"/>
                </a:lnTo>
                <a:lnTo>
                  <a:pt x="76200" y="177927"/>
                </a:lnTo>
                <a:lnTo>
                  <a:pt x="67183" y="180848"/>
                </a:lnTo>
                <a:lnTo>
                  <a:pt x="115155" y="180848"/>
                </a:lnTo>
                <a:lnTo>
                  <a:pt x="123698" y="169418"/>
                </a:lnTo>
                <a:lnTo>
                  <a:pt x="129666" y="148209"/>
                </a:lnTo>
                <a:lnTo>
                  <a:pt x="132587" y="130048"/>
                </a:lnTo>
                <a:lnTo>
                  <a:pt x="135509" y="102616"/>
                </a:lnTo>
                <a:lnTo>
                  <a:pt x="132587" y="75184"/>
                </a:lnTo>
                <a:lnTo>
                  <a:pt x="129666" y="53975"/>
                </a:lnTo>
                <a:lnTo>
                  <a:pt x="123698" y="32766"/>
                </a:lnTo>
                <a:lnTo>
                  <a:pt x="117728" y="26797"/>
                </a:lnTo>
                <a:lnTo>
                  <a:pt x="116486" y="24257"/>
                </a:lnTo>
                <a:close/>
              </a:path>
              <a:path w="135509" h="202437">
                <a:moveTo>
                  <a:pt x="93852" y="2921"/>
                </a:moveTo>
                <a:lnTo>
                  <a:pt x="42545" y="2921"/>
                </a:lnTo>
                <a:lnTo>
                  <a:pt x="18414" y="20955"/>
                </a:lnTo>
                <a:lnTo>
                  <a:pt x="12573" y="32893"/>
                </a:lnTo>
                <a:lnTo>
                  <a:pt x="6603" y="41910"/>
                </a:lnTo>
                <a:lnTo>
                  <a:pt x="3683" y="53975"/>
                </a:lnTo>
                <a:lnTo>
                  <a:pt x="762" y="75184"/>
                </a:lnTo>
                <a:lnTo>
                  <a:pt x="762" y="102616"/>
                </a:lnTo>
                <a:lnTo>
                  <a:pt x="28321" y="102616"/>
                </a:lnTo>
                <a:lnTo>
                  <a:pt x="28345" y="78232"/>
                </a:lnTo>
                <a:lnTo>
                  <a:pt x="34162" y="48133"/>
                </a:lnTo>
                <a:lnTo>
                  <a:pt x="46100" y="30099"/>
                </a:lnTo>
                <a:lnTo>
                  <a:pt x="58038" y="24257"/>
                </a:lnTo>
                <a:lnTo>
                  <a:pt x="116486" y="24257"/>
                </a:lnTo>
                <a:lnTo>
                  <a:pt x="114808" y="20828"/>
                </a:lnTo>
                <a:lnTo>
                  <a:pt x="99822" y="5842"/>
                </a:lnTo>
                <a:lnTo>
                  <a:pt x="93852" y="2921"/>
                </a:lnTo>
                <a:close/>
              </a:path>
              <a:path w="135509" h="202437">
                <a:moveTo>
                  <a:pt x="28448" y="102489"/>
                </a:moveTo>
              </a:path>
              <a:path w="135509" h="202437">
                <a:moveTo>
                  <a:pt x="81914" y="0"/>
                </a:moveTo>
                <a:lnTo>
                  <a:pt x="54483" y="0"/>
                </a:lnTo>
                <a:lnTo>
                  <a:pt x="48513" y="2921"/>
                </a:lnTo>
                <a:lnTo>
                  <a:pt x="87884" y="2921"/>
                </a:lnTo>
                <a:lnTo>
                  <a:pt x="81914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bk object 62"/>
          <p:cNvSpPr/>
          <p:nvPr/>
        </p:nvSpPr>
        <p:spPr>
          <a:xfrm>
            <a:off x="414936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bk object 63"/>
          <p:cNvSpPr/>
          <p:nvPr/>
        </p:nvSpPr>
        <p:spPr>
          <a:xfrm>
            <a:off x="4207320" y="6294600"/>
            <a:ext cx="134640" cy="200520"/>
          </a:xfrm>
          <a:custGeom>
            <a:avLst/>
            <a:gdLst>
              <a:gd name="textAreaLeft" fmla="*/ 0 w 134640"/>
              <a:gd name="textAreaRight" fmla="*/ 135360 w 134640"/>
              <a:gd name="textAreaTop" fmla="*/ 0 h 200520"/>
              <a:gd name="textAreaBottom" fmla="*/ 201240 h 200520"/>
            </a:gdLst>
            <a:ahLst/>
            <a:cxnLst/>
            <a:rect l="textAreaLeft" t="textAreaTop" r="textAreaRight" b="textAreaBottom"/>
            <a:pathLst>
              <a:path w="135509" h="201167">
                <a:moveTo>
                  <a:pt x="24257" y="135000"/>
                </a:moveTo>
                <a:lnTo>
                  <a:pt x="0" y="135000"/>
                </a:lnTo>
                <a:lnTo>
                  <a:pt x="0" y="156209"/>
                </a:lnTo>
                <a:lnTo>
                  <a:pt x="26924" y="192278"/>
                </a:lnTo>
                <a:lnTo>
                  <a:pt x="48006" y="201167"/>
                </a:lnTo>
                <a:lnTo>
                  <a:pt x="78359" y="201167"/>
                </a:lnTo>
                <a:lnTo>
                  <a:pt x="102488" y="195325"/>
                </a:lnTo>
                <a:lnTo>
                  <a:pt x="114554" y="186308"/>
                </a:lnTo>
                <a:lnTo>
                  <a:pt x="123571" y="177291"/>
                </a:lnTo>
                <a:lnTo>
                  <a:pt x="123907" y="176783"/>
                </a:lnTo>
                <a:lnTo>
                  <a:pt x="53975" y="176783"/>
                </a:lnTo>
                <a:lnTo>
                  <a:pt x="48006" y="173862"/>
                </a:lnTo>
                <a:lnTo>
                  <a:pt x="38988" y="170941"/>
                </a:lnTo>
                <a:lnTo>
                  <a:pt x="33020" y="164972"/>
                </a:lnTo>
                <a:lnTo>
                  <a:pt x="30099" y="159003"/>
                </a:lnTo>
                <a:lnTo>
                  <a:pt x="27178" y="149986"/>
                </a:lnTo>
                <a:lnTo>
                  <a:pt x="24257" y="147065"/>
                </a:lnTo>
                <a:lnTo>
                  <a:pt x="24257" y="135000"/>
                </a:lnTo>
                <a:close/>
              </a:path>
              <a:path w="135509" h="201167">
                <a:moveTo>
                  <a:pt x="119998" y="21335"/>
                </a:moveTo>
                <a:lnTo>
                  <a:pt x="66294" y="21335"/>
                </a:lnTo>
                <a:lnTo>
                  <a:pt x="72262" y="24256"/>
                </a:lnTo>
                <a:lnTo>
                  <a:pt x="84328" y="24256"/>
                </a:lnTo>
                <a:lnTo>
                  <a:pt x="87249" y="27178"/>
                </a:lnTo>
                <a:lnTo>
                  <a:pt x="90170" y="27178"/>
                </a:lnTo>
                <a:lnTo>
                  <a:pt x="93091" y="33146"/>
                </a:lnTo>
                <a:lnTo>
                  <a:pt x="98933" y="38988"/>
                </a:lnTo>
                <a:lnTo>
                  <a:pt x="99060" y="45084"/>
                </a:lnTo>
                <a:lnTo>
                  <a:pt x="101981" y="51053"/>
                </a:lnTo>
                <a:lnTo>
                  <a:pt x="99060" y="60070"/>
                </a:lnTo>
                <a:lnTo>
                  <a:pt x="99060" y="66039"/>
                </a:lnTo>
                <a:lnTo>
                  <a:pt x="96138" y="72008"/>
                </a:lnTo>
                <a:lnTo>
                  <a:pt x="90170" y="77978"/>
                </a:lnTo>
                <a:lnTo>
                  <a:pt x="87249" y="77978"/>
                </a:lnTo>
                <a:lnTo>
                  <a:pt x="84328" y="80898"/>
                </a:lnTo>
                <a:lnTo>
                  <a:pt x="78359" y="83819"/>
                </a:lnTo>
                <a:lnTo>
                  <a:pt x="50927" y="83819"/>
                </a:lnTo>
                <a:lnTo>
                  <a:pt x="50927" y="105028"/>
                </a:lnTo>
                <a:lnTo>
                  <a:pt x="78359" y="105028"/>
                </a:lnTo>
                <a:lnTo>
                  <a:pt x="87375" y="107950"/>
                </a:lnTo>
                <a:lnTo>
                  <a:pt x="93345" y="110870"/>
                </a:lnTo>
                <a:lnTo>
                  <a:pt x="105283" y="122808"/>
                </a:lnTo>
                <a:lnTo>
                  <a:pt x="108204" y="131825"/>
                </a:lnTo>
                <a:lnTo>
                  <a:pt x="108204" y="153034"/>
                </a:lnTo>
                <a:lnTo>
                  <a:pt x="105283" y="155943"/>
                </a:lnTo>
                <a:lnTo>
                  <a:pt x="102362" y="161925"/>
                </a:lnTo>
                <a:lnTo>
                  <a:pt x="90424" y="173862"/>
                </a:lnTo>
                <a:lnTo>
                  <a:pt x="81407" y="176783"/>
                </a:lnTo>
                <a:lnTo>
                  <a:pt x="123907" y="176783"/>
                </a:lnTo>
                <a:lnTo>
                  <a:pt x="129540" y="168275"/>
                </a:lnTo>
                <a:lnTo>
                  <a:pt x="135509" y="153161"/>
                </a:lnTo>
                <a:lnTo>
                  <a:pt x="135509" y="125729"/>
                </a:lnTo>
                <a:lnTo>
                  <a:pt x="129540" y="113664"/>
                </a:lnTo>
                <a:lnTo>
                  <a:pt x="123571" y="104647"/>
                </a:lnTo>
                <a:lnTo>
                  <a:pt x="114681" y="95757"/>
                </a:lnTo>
                <a:lnTo>
                  <a:pt x="108712" y="92836"/>
                </a:lnTo>
                <a:lnTo>
                  <a:pt x="105791" y="92836"/>
                </a:lnTo>
                <a:lnTo>
                  <a:pt x="102870" y="89915"/>
                </a:lnTo>
                <a:lnTo>
                  <a:pt x="111887" y="86994"/>
                </a:lnTo>
                <a:lnTo>
                  <a:pt x="114808" y="86994"/>
                </a:lnTo>
                <a:lnTo>
                  <a:pt x="120777" y="81025"/>
                </a:lnTo>
                <a:lnTo>
                  <a:pt x="126619" y="62991"/>
                </a:lnTo>
                <a:lnTo>
                  <a:pt x="129509" y="51053"/>
                </a:lnTo>
                <a:lnTo>
                  <a:pt x="129540" y="44957"/>
                </a:lnTo>
                <a:lnTo>
                  <a:pt x="126619" y="38988"/>
                </a:lnTo>
                <a:lnTo>
                  <a:pt x="123698" y="26923"/>
                </a:lnTo>
                <a:lnTo>
                  <a:pt x="119998" y="21335"/>
                </a:lnTo>
                <a:close/>
              </a:path>
              <a:path w="135509" h="201167">
                <a:moveTo>
                  <a:pt x="87757" y="0"/>
                </a:moveTo>
                <a:lnTo>
                  <a:pt x="51308" y="0"/>
                </a:lnTo>
                <a:lnTo>
                  <a:pt x="42291" y="2920"/>
                </a:lnTo>
                <a:lnTo>
                  <a:pt x="9271" y="35940"/>
                </a:lnTo>
                <a:lnTo>
                  <a:pt x="3429" y="53975"/>
                </a:lnTo>
                <a:lnTo>
                  <a:pt x="3429" y="62991"/>
                </a:lnTo>
                <a:lnTo>
                  <a:pt x="27686" y="62991"/>
                </a:lnTo>
                <a:lnTo>
                  <a:pt x="30607" y="60070"/>
                </a:lnTo>
                <a:lnTo>
                  <a:pt x="30607" y="47993"/>
                </a:lnTo>
                <a:lnTo>
                  <a:pt x="36449" y="36067"/>
                </a:lnTo>
                <a:lnTo>
                  <a:pt x="45338" y="27178"/>
                </a:lnTo>
                <a:lnTo>
                  <a:pt x="51308" y="24256"/>
                </a:lnTo>
                <a:lnTo>
                  <a:pt x="57277" y="24256"/>
                </a:lnTo>
                <a:lnTo>
                  <a:pt x="66294" y="21335"/>
                </a:lnTo>
                <a:lnTo>
                  <a:pt x="119998" y="21335"/>
                </a:lnTo>
                <a:lnTo>
                  <a:pt x="117729" y="17906"/>
                </a:lnTo>
                <a:lnTo>
                  <a:pt x="108712" y="8889"/>
                </a:lnTo>
                <a:lnTo>
                  <a:pt x="102743" y="5968"/>
                </a:lnTo>
                <a:lnTo>
                  <a:pt x="99822" y="5968"/>
                </a:lnTo>
                <a:lnTo>
                  <a:pt x="8775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bk object 64"/>
          <p:cNvSpPr/>
          <p:nvPr/>
        </p:nvSpPr>
        <p:spPr>
          <a:xfrm>
            <a:off x="4572360" y="629316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509" h="202564">
                <a:moveTo>
                  <a:pt x="93725" y="2921"/>
                </a:moveTo>
                <a:lnTo>
                  <a:pt x="42418" y="2921"/>
                </a:lnTo>
                <a:lnTo>
                  <a:pt x="30352" y="11938"/>
                </a:lnTo>
                <a:lnTo>
                  <a:pt x="15367" y="26924"/>
                </a:lnTo>
                <a:lnTo>
                  <a:pt x="12446" y="32893"/>
                </a:lnTo>
                <a:lnTo>
                  <a:pt x="9525" y="41910"/>
                </a:lnTo>
                <a:lnTo>
                  <a:pt x="3556" y="53975"/>
                </a:lnTo>
                <a:lnTo>
                  <a:pt x="635" y="75184"/>
                </a:lnTo>
                <a:lnTo>
                  <a:pt x="635" y="102616"/>
                </a:lnTo>
                <a:lnTo>
                  <a:pt x="0" y="102743"/>
                </a:lnTo>
                <a:lnTo>
                  <a:pt x="0" y="130175"/>
                </a:lnTo>
                <a:lnTo>
                  <a:pt x="2921" y="148336"/>
                </a:lnTo>
                <a:lnTo>
                  <a:pt x="11937" y="169545"/>
                </a:lnTo>
                <a:lnTo>
                  <a:pt x="29972" y="193675"/>
                </a:lnTo>
                <a:lnTo>
                  <a:pt x="42037" y="199644"/>
                </a:lnTo>
                <a:lnTo>
                  <a:pt x="54101" y="202565"/>
                </a:lnTo>
                <a:lnTo>
                  <a:pt x="81534" y="202565"/>
                </a:lnTo>
                <a:lnTo>
                  <a:pt x="93599" y="199644"/>
                </a:lnTo>
                <a:lnTo>
                  <a:pt x="105663" y="193675"/>
                </a:lnTo>
                <a:lnTo>
                  <a:pt x="115440" y="180594"/>
                </a:lnTo>
                <a:lnTo>
                  <a:pt x="66929" y="180594"/>
                </a:lnTo>
                <a:lnTo>
                  <a:pt x="57912" y="177673"/>
                </a:lnTo>
                <a:lnTo>
                  <a:pt x="51943" y="177673"/>
                </a:lnTo>
                <a:lnTo>
                  <a:pt x="40005" y="165735"/>
                </a:lnTo>
                <a:lnTo>
                  <a:pt x="34036" y="153670"/>
                </a:lnTo>
                <a:lnTo>
                  <a:pt x="28243" y="123698"/>
                </a:lnTo>
                <a:lnTo>
                  <a:pt x="28194" y="102616"/>
                </a:lnTo>
                <a:lnTo>
                  <a:pt x="28116" y="78105"/>
                </a:lnTo>
                <a:lnTo>
                  <a:pt x="33909" y="48133"/>
                </a:lnTo>
                <a:lnTo>
                  <a:pt x="45847" y="30099"/>
                </a:lnTo>
                <a:lnTo>
                  <a:pt x="57785" y="24257"/>
                </a:lnTo>
                <a:lnTo>
                  <a:pt x="118109" y="24257"/>
                </a:lnTo>
                <a:lnTo>
                  <a:pt x="105790" y="11938"/>
                </a:lnTo>
                <a:lnTo>
                  <a:pt x="93725" y="2921"/>
                </a:lnTo>
                <a:close/>
              </a:path>
              <a:path w="135509" h="202564">
                <a:moveTo>
                  <a:pt x="118109" y="24257"/>
                </a:moveTo>
                <a:lnTo>
                  <a:pt x="75946" y="24257"/>
                </a:lnTo>
                <a:lnTo>
                  <a:pt x="84962" y="27178"/>
                </a:lnTo>
                <a:lnTo>
                  <a:pt x="90932" y="30099"/>
                </a:lnTo>
                <a:lnTo>
                  <a:pt x="93852" y="33020"/>
                </a:lnTo>
                <a:lnTo>
                  <a:pt x="96774" y="38989"/>
                </a:lnTo>
                <a:lnTo>
                  <a:pt x="102743" y="48006"/>
                </a:lnTo>
                <a:lnTo>
                  <a:pt x="105663" y="63119"/>
                </a:lnTo>
                <a:lnTo>
                  <a:pt x="105663" y="72136"/>
                </a:lnTo>
                <a:lnTo>
                  <a:pt x="108585" y="78105"/>
                </a:lnTo>
                <a:lnTo>
                  <a:pt x="108585" y="123698"/>
                </a:lnTo>
                <a:lnTo>
                  <a:pt x="105663" y="129667"/>
                </a:lnTo>
                <a:lnTo>
                  <a:pt x="105663" y="138684"/>
                </a:lnTo>
                <a:lnTo>
                  <a:pt x="102743" y="153797"/>
                </a:lnTo>
                <a:lnTo>
                  <a:pt x="96774" y="165862"/>
                </a:lnTo>
                <a:lnTo>
                  <a:pt x="84962" y="177673"/>
                </a:lnTo>
                <a:lnTo>
                  <a:pt x="75946" y="177673"/>
                </a:lnTo>
                <a:lnTo>
                  <a:pt x="66929" y="180594"/>
                </a:lnTo>
                <a:lnTo>
                  <a:pt x="115440" y="180594"/>
                </a:lnTo>
                <a:lnTo>
                  <a:pt x="123698" y="169545"/>
                </a:lnTo>
                <a:lnTo>
                  <a:pt x="129667" y="148336"/>
                </a:lnTo>
                <a:lnTo>
                  <a:pt x="132587" y="130175"/>
                </a:lnTo>
                <a:lnTo>
                  <a:pt x="135509" y="102743"/>
                </a:lnTo>
                <a:lnTo>
                  <a:pt x="132570" y="75184"/>
                </a:lnTo>
                <a:lnTo>
                  <a:pt x="129667" y="54102"/>
                </a:lnTo>
                <a:lnTo>
                  <a:pt x="123698" y="32893"/>
                </a:lnTo>
                <a:lnTo>
                  <a:pt x="120776" y="26924"/>
                </a:lnTo>
                <a:lnTo>
                  <a:pt x="118109" y="24257"/>
                </a:lnTo>
                <a:close/>
              </a:path>
              <a:path w="135509" h="202564">
                <a:moveTo>
                  <a:pt x="28194" y="102235"/>
                </a:moveTo>
                <a:lnTo>
                  <a:pt x="28067" y="102616"/>
                </a:lnTo>
                <a:lnTo>
                  <a:pt x="28194" y="102235"/>
                </a:lnTo>
                <a:close/>
              </a:path>
              <a:path w="135509" h="202564">
                <a:moveTo>
                  <a:pt x="81787" y="0"/>
                </a:moveTo>
                <a:lnTo>
                  <a:pt x="54356" y="0"/>
                </a:lnTo>
                <a:lnTo>
                  <a:pt x="48387" y="2921"/>
                </a:lnTo>
                <a:lnTo>
                  <a:pt x="87757" y="2921"/>
                </a:lnTo>
                <a:lnTo>
                  <a:pt x="8178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bk object 65"/>
          <p:cNvSpPr/>
          <p:nvPr/>
        </p:nvSpPr>
        <p:spPr>
          <a:xfrm>
            <a:off x="474084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bk object 66"/>
          <p:cNvSpPr/>
          <p:nvPr/>
        </p:nvSpPr>
        <p:spPr>
          <a:xfrm>
            <a:off x="4798800" y="6298560"/>
            <a:ext cx="111960" cy="194040"/>
          </a:xfrm>
          <a:custGeom>
            <a:avLst/>
            <a:gdLst>
              <a:gd name="textAreaLeft" fmla="*/ 0 w 111960"/>
              <a:gd name="textAreaRight" fmla="*/ 112680 w 111960"/>
              <a:gd name="textAreaTop" fmla="*/ 0 h 194040"/>
              <a:gd name="textAreaBottom" fmla="*/ 194760 h 194040"/>
            </a:gdLst>
            <a:ahLst/>
            <a:cxnLst/>
            <a:rect l="textAreaLeft" t="textAreaTop" r="textAreaRight" b="textAreaBottom"/>
            <a:pathLst>
              <a:path w="112649" h="194817">
                <a:moveTo>
                  <a:pt x="112649" y="143002"/>
                </a:moveTo>
                <a:lnTo>
                  <a:pt x="85217" y="143002"/>
                </a:lnTo>
                <a:lnTo>
                  <a:pt x="85217" y="194818"/>
                </a:lnTo>
                <a:lnTo>
                  <a:pt x="112649" y="194818"/>
                </a:lnTo>
                <a:lnTo>
                  <a:pt x="112649" y="143002"/>
                </a:lnTo>
                <a:close/>
              </a:path>
              <a:path w="112649" h="194817">
                <a:moveTo>
                  <a:pt x="112649" y="0"/>
                </a:moveTo>
                <a:lnTo>
                  <a:pt x="85217" y="0"/>
                </a:lnTo>
                <a:lnTo>
                  <a:pt x="0" y="118745"/>
                </a:lnTo>
                <a:lnTo>
                  <a:pt x="0" y="143002"/>
                </a:lnTo>
                <a:lnTo>
                  <a:pt x="140081" y="143002"/>
                </a:lnTo>
                <a:lnTo>
                  <a:pt x="140081" y="121793"/>
                </a:lnTo>
                <a:lnTo>
                  <a:pt x="112649" y="121793"/>
                </a:lnTo>
                <a:lnTo>
                  <a:pt x="24130" y="121666"/>
                </a:lnTo>
                <a:lnTo>
                  <a:pt x="84963" y="33401"/>
                </a:lnTo>
                <a:lnTo>
                  <a:pt x="112649" y="33401"/>
                </a:lnTo>
                <a:lnTo>
                  <a:pt x="112649" y="0"/>
                </a:lnTo>
                <a:close/>
              </a:path>
              <a:path w="112649" h="194817">
                <a:moveTo>
                  <a:pt x="112649" y="33401"/>
                </a:moveTo>
                <a:lnTo>
                  <a:pt x="84963" y="33401"/>
                </a:lnTo>
                <a:lnTo>
                  <a:pt x="84963" y="121666"/>
                </a:lnTo>
                <a:lnTo>
                  <a:pt x="112649" y="121666"/>
                </a:lnTo>
                <a:lnTo>
                  <a:pt x="112649" y="3340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bk object 67"/>
          <p:cNvSpPr/>
          <p:nvPr/>
        </p:nvSpPr>
        <p:spPr>
          <a:xfrm>
            <a:off x="5163480" y="6293520"/>
            <a:ext cx="135000" cy="201600"/>
          </a:xfrm>
          <a:custGeom>
            <a:avLst/>
            <a:gdLst>
              <a:gd name="textAreaLeft" fmla="*/ 0 w 135000"/>
              <a:gd name="textAreaRight" fmla="*/ 135720 w 13500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5636" h="202437">
                <a:moveTo>
                  <a:pt x="93852" y="2920"/>
                </a:moveTo>
                <a:lnTo>
                  <a:pt x="42545" y="2920"/>
                </a:lnTo>
                <a:lnTo>
                  <a:pt x="30479" y="11937"/>
                </a:lnTo>
                <a:lnTo>
                  <a:pt x="15494" y="26911"/>
                </a:lnTo>
                <a:lnTo>
                  <a:pt x="15367" y="29971"/>
                </a:lnTo>
                <a:lnTo>
                  <a:pt x="12573" y="32765"/>
                </a:lnTo>
                <a:lnTo>
                  <a:pt x="9651" y="41782"/>
                </a:lnTo>
                <a:lnTo>
                  <a:pt x="6730" y="53847"/>
                </a:lnTo>
                <a:lnTo>
                  <a:pt x="762" y="75056"/>
                </a:lnTo>
                <a:lnTo>
                  <a:pt x="762" y="102488"/>
                </a:lnTo>
                <a:lnTo>
                  <a:pt x="0" y="102615"/>
                </a:lnTo>
                <a:lnTo>
                  <a:pt x="0" y="130047"/>
                </a:lnTo>
                <a:lnTo>
                  <a:pt x="5969" y="148208"/>
                </a:lnTo>
                <a:lnTo>
                  <a:pt x="11937" y="169417"/>
                </a:lnTo>
                <a:lnTo>
                  <a:pt x="29972" y="193547"/>
                </a:lnTo>
                <a:lnTo>
                  <a:pt x="42037" y="199516"/>
                </a:lnTo>
                <a:lnTo>
                  <a:pt x="54101" y="202437"/>
                </a:lnTo>
                <a:lnTo>
                  <a:pt x="81534" y="202437"/>
                </a:lnTo>
                <a:lnTo>
                  <a:pt x="93599" y="199516"/>
                </a:lnTo>
                <a:lnTo>
                  <a:pt x="105663" y="193547"/>
                </a:lnTo>
                <a:lnTo>
                  <a:pt x="115250" y="180720"/>
                </a:lnTo>
                <a:lnTo>
                  <a:pt x="67183" y="180720"/>
                </a:lnTo>
                <a:lnTo>
                  <a:pt x="61213" y="177799"/>
                </a:lnTo>
                <a:lnTo>
                  <a:pt x="52197" y="177799"/>
                </a:lnTo>
                <a:lnTo>
                  <a:pt x="40259" y="165861"/>
                </a:lnTo>
                <a:lnTo>
                  <a:pt x="34289" y="153796"/>
                </a:lnTo>
                <a:lnTo>
                  <a:pt x="28472" y="123697"/>
                </a:lnTo>
                <a:lnTo>
                  <a:pt x="28448" y="102488"/>
                </a:lnTo>
                <a:lnTo>
                  <a:pt x="34162" y="48005"/>
                </a:lnTo>
                <a:lnTo>
                  <a:pt x="61087" y="24129"/>
                </a:lnTo>
                <a:lnTo>
                  <a:pt x="118109" y="24129"/>
                </a:lnTo>
                <a:lnTo>
                  <a:pt x="105917" y="11937"/>
                </a:lnTo>
                <a:lnTo>
                  <a:pt x="93852" y="2920"/>
                </a:lnTo>
                <a:close/>
              </a:path>
              <a:path w="135636" h="202437">
                <a:moveTo>
                  <a:pt x="118109" y="24129"/>
                </a:moveTo>
                <a:lnTo>
                  <a:pt x="76200" y="24129"/>
                </a:lnTo>
                <a:lnTo>
                  <a:pt x="85216" y="27050"/>
                </a:lnTo>
                <a:lnTo>
                  <a:pt x="91186" y="29971"/>
                </a:lnTo>
                <a:lnTo>
                  <a:pt x="103124" y="48005"/>
                </a:lnTo>
                <a:lnTo>
                  <a:pt x="106045" y="57022"/>
                </a:lnTo>
                <a:lnTo>
                  <a:pt x="106045" y="62991"/>
                </a:lnTo>
                <a:lnTo>
                  <a:pt x="108965" y="78104"/>
                </a:lnTo>
                <a:lnTo>
                  <a:pt x="108965" y="123697"/>
                </a:lnTo>
                <a:lnTo>
                  <a:pt x="106045" y="138810"/>
                </a:lnTo>
                <a:lnTo>
                  <a:pt x="106045" y="147827"/>
                </a:lnTo>
                <a:lnTo>
                  <a:pt x="103124" y="153796"/>
                </a:lnTo>
                <a:lnTo>
                  <a:pt x="97154" y="165861"/>
                </a:lnTo>
                <a:lnTo>
                  <a:pt x="85216" y="177799"/>
                </a:lnTo>
                <a:lnTo>
                  <a:pt x="76200" y="177799"/>
                </a:lnTo>
                <a:lnTo>
                  <a:pt x="67183" y="180720"/>
                </a:lnTo>
                <a:lnTo>
                  <a:pt x="115250" y="180720"/>
                </a:lnTo>
                <a:lnTo>
                  <a:pt x="123698" y="169417"/>
                </a:lnTo>
                <a:lnTo>
                  <a:pt x="129666" y="148208"/>
                </a:lnTo>
                <a:lnTo>
                  <a:pt x="135636" y="130047"/>
                </a:lnTo>
                <a:lnTo>
                  <a:pt x="135600" y="75056"/>
                </a:lnTo>
                <a:lnTo>
                  <a:pt x="123698" y="32765"/>
                </a:lnTo>
                <a:lnTo>
                  <a:pt x="120776" y="26796"/>
                </a:lnTo>
                <a:lnTo>
                  <a:pt x="118109" y="24129"/>
                </a:lnTo>
                <a:close/>
              </a:path>
              <a:path w="135636" h="202437">
                <a:moveTo>
                  <a:pt x="28448" y="102361"/>
                </a:moveTo>
              </a:path>
              <a:path w="135636" h="202437">
                <a:moveTo>
                  <a:pt x="81914" y="0"/>
                </a:moveTo>
                <a:lnTo>
                  <a:pt x="54483" y="0"/>
                </a:lnTo>
                <a:lnTo>
                  <a:pt x="48513" y="2920"/>
                </a:lnTo>
                <a:lnTo>
                  <a:pt x="87884" y="2920"/>
                </a:lnTo>
                <a:lnTo>
                  <a:pt x="81914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bk object 68"/>
          <p:cNvSpPr/>
          <p:nvPr/>
        </p:nvSpPr>
        <p:spPr>
          <a:xfrm>
            <a:off x="533196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" name="bk object 69"/>
          <p:cNvSpPr/>
          <p:nvPr/>
        </p:nvSpPr>
        <p:spPr>
          <a:xfrm>
            <a:off x="5389920" y="6298560"/>
            <a:ext cx="138240" cy="195480"/>
          </a:xfrm>
          <a:custGeom>
            <a:avLst/>
            <a:gdLst>
              <a:gd name="textAreaLeft" fmla="*/ 0 w 138240"/>
              <a:gd name="textAreaRight" fmla="*/ 138960 w 138240"/>
              <a:gd name="textAreaTop" fmla="*/ 0 h 195480"/>
              <a:gd name="textAreaBottom" fmla="*/ 196200 h 195480"/>
            </a:gdLst>
            <a:ahLst/>
            <a:cxnLst/>
            <a:rect l="textAreaLeft" t="textAreaTop" r="textAreaRight" b="textAreaBottom"/>
            <a:pathLst>
              <a:path w="139064" h="196341">
                <a:moveTo>
                  <a:pt x="27432" y="142875"/>
                </a:moveTo>
                <a:lnTo>
                  <a:pt x="1270" y="142875"/>
                </a:lnTo>
                <a:lnTo>
                  <a:pt x="1311" y="148844"/>
                </a:lnTo>
                <a:lnTo>
                  <a:pt x="21971" y="181610"/>
                </a:lnTo>
                <a:lnTo>
                  <a:pt x="51955" y="196342"/>
                </a:lnTo>
                <a:lnTo>
                  <a:pt x="82296" y="196342"/>
                </a:lnTo>
                <a:lnTo>
                  <a:pt x="121412" y="175514"/>
                </a:lnTo>
                <a:lnTo>
                  <a:pt x="122903" y="172466"/>
                </a:lnTo>
                <a:lnTo>
                  <a:pt x="57023" y="172466"/>
                </a:lnTo>
                <a:lnTo>
                  <a:pt x="48006" y="169545"/>
                </a:lnTo>
                <a:lnTo>
                  <a:pt x="45085" y="169545"/>
                </a:lnTo>
                <a:lnTo>
                  <a:pt x="33274" y="157734"/>
                </a:lnTo>
                <a:lnTo>
                  <a:pt x="30352" y="151752"/>
                </a:lnTo>
                <a:lnTo>
                  <a:pt x="27432" y="148844"/>
                </a:lnTo>
                <a:lnTo>
                  <a:pt x="27432" y="142875"/>
                </a:lnTo>
                <a:close/>
              </a:path>
              <a:path w="139064" h="196341">
                <a:moveTo>
                  <a:pt x="123638" y="85852"/>
                </a:moveTo>
                <a:lnTo>
                  <a:pt x="75311" y="85852"/>
                </a:lnTo>
                <a:lnTo>
                  <a:pt x="78232" y="88773"/>
                </a:lnTo>
                <a:lnTo>
                  <a:pt x="84200" y="88773"/>
                </a:lnTo>
                <a:lnTo>
                  <a:pt x="90170" y="91694"/>
                </a:lnTo>
                <a:lnTo>
                  <a:pt x="102108" y="103632"/>
                </a:lnTo>
                <a:lnTo>
                  <a:pt x="108076" y="112649"/>
                </a:lnTo>
                <a:lnTo>
                  <a:pt x="108076" y="124714"/>
                </a:lnTo>
                <a:lnTo>
                  <a:pt x="110998" y="130683"/>
                </a:lnTo>
                <a:lnTo>
                  <a:pt x="108076" y="133604"/>
                </a:lnTo>
                <a:lnTo>
                  <a:pt x="107950" y="148844"/>
                </a:lnTo>
                <a:lnTo>
                  <a:pt x="90170" y="166624"/>
                </a:lnTo>
                <a:lnTo>
                  <a:pt x="84200" y="169545"/>
                </a:lnTo>
                <a:lnTo>
                  <a:pt x="75184" y="172466"/>
                </a:lnTo>
                <a:lnTo>
                  <a:pt x="122903" y="172466"/>
                </a:lnTo>
                <a:lnTo>
                  <a:pt x="124333" y="169545"/>
                </a:lnTo>
                <a:lnTo>
                  <a:pt x="133223" y="160655"/>
                </a:lnTo>
                <a:lnTo>
                  <a:pt x="133223" y="151638"/>
                </a:lnTo>
                <a:lnTo>
                  <a:pt x="136144" y="145669"/>
                </a:lnTo>
                <a:lnTo>
                  <a:pt x="139064" y="130556"/>
                </a:lnTo>
                <a:lnTo>
                  <a:pt x="136144" y="115443"/>
                </a:lnTo>
                <a:lnTo>
                  <a:pt x="133223" y="103378"/>
                </a:lnTo>
                <a:lnTo>
                  <a:pt x="127253" y="91313"/>
                </a:lnTo>
                <a:lnTo>
                  <a:pt x="123638" y="85852"/>
                </a:lnTo>
                <a:close/>
              </a:path>
              <a:path w="139064" h="196341">
                <a:moveTo>
                  <a:pt x="1270" y="142748"/>
                </a:moveTo>
                <a:lnTo>
                  <a:pt x="0" y="142875"/>
                </a:lnTo>
                <a:lnTo>
                  <a:pt x="1270" y="142875"/>
                </a:lnTo>
                <a:lnTo>
                  <a:pt x="1270" y="142748"/>
                </a:lnTo>
                <a:close/>
              </a:path>
              <a:path w="139064" h="196341">
                <a:moveTo>
                  <a:pt x="128155" y="0"/>
                </a:moveTo>
                <a:lnTo>
                  <a:pt x="21462" y="0"/>
                </a:lnTo>
                <a:lnTo>
                  <a:pt x="6350" y="103632"/>
                </a:lnTo>
                <a:lnTo>
                  <a:pt x="30607" y="103632"/>
                </a:lnTo>
                <a:lnTo>
                  <a:pt x="33527" y="97663"/>
                </a:lnTo>
                <a:lnTo>
                  <a:pt x="36449" y="97663"/>
                </a:lnTo>
                <a:lnTo>
                  <a:pt x="42430" y="91694"/>
                </a:lnTo>
                <a:lnTo>
                  <a:pt x="45338" y="91694"/>
                </a:lnTo>
                <a:lnTo>
                  <a:pt x="51308" y="88773"/>
                </a:lnTo>
                <a:lnTo>
                  <a:pt x="57276" y="88773"/>
                </a:lnTo>
                <a:lnTo>
                  <a:pt x="66294" y="85852"/>
                </a:lnTo>
                <a:lnTo>
                  <a:pt x="123638" y="85852"/>
                </a:lnTo>
                <a:lnTo>
                  <a:pt x="121285" y="82296"/>
                </a:lnTo>
                <a:lnTo>
                  <a:pt x="112958" y="76073"/>
                </a:lnTo>
                <a:lnTo>
                  <a:pt x="33909" y="76073"/>
                </a:lnTo>
                <a:lnTo>
                  <a:pt x="39877" y="21209"/>
                </a:lnTo>
                <a:lnTo>
                  <a:pt x="128155" y="21209"/>
                </a:lnTo>
                <a:lnTo>
                  <a:pt x="128155" y="0"/>
                </a:lnTo>
                <a:close/>
              </a:path>
              <a:path w="139064" h="196341">
                <a:moveTo>
                  <a:pt x="85089" y="64389"/>
                </a:moveTo>
                <a:lnTo>
                  <a:pt x="60833" y="64389"/>
                </a:lnTo>
                <a:lnTo>
                  <a:pt x="42799" y="70231"/>
                </a:lnTo>
                <a:lnTo>
                  <a:pt x="36830" y="73152"/>
                </a:lnTo>
                <a:lnTo>
                  <a:pt x="33909" y="76073"/>
                </a:lnTo>
                <a:lnTo>
                  <a:pt x="112958" y="76073"/>
                </a:lnTo>
                <a:lnTo>
                  <a:pt x="109220" y="73279"/>
                </a:lnTo>
                <a:lnTo>
                  <a:pt x="97155" y="67310"/>
                </a:lnTo>
                <a:lnTo>
                  <a:pt x="85089" y="64389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bk object 70"/>
          <p:cNvSpPr/>
          <p:nvPr/>
        </p:nvSpPr>
        <p:spPr>
          <a:xfrm>
            <a:off x="5758200" y="629316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473" h="202564">
                <a:moveTo>
                  <a:pt x="93599" y="2921"/>
                </a:moveTo>
                <a:lnTo>
                  <a:pt x="42290" y="2921"/>
                </a:lnTo>
                <a:lnTo>
                  <a:pt x="30225" y="11938"/>
                </a:lnTo>
                <a:lnTo>
                  <a:pt x="15239" y="26924"/>
                </a:lnTo>
                <a:lnTo>
                  <a:pt x="12319" y="32893"/>
                </a:lnTo>
                <a:lnTo>
                  <a:pt x="9398" y="41910"/>
                </a:lnTo>
                <a:lnTo>
                  <a:pt x="6476" y="53975"/>
                </a:lnTo>
                <a:lnTo>
                  <a:pt x="508" y="75184"/>
                </a:lnTo>
                <a:lnTo>
                  <a:pt x="508" y="102616"/>
                </a:lnTo>
                <a:lnTo>
                  <a:pt x="0" y="102870"/>
                </a:lnTo>
                <a:lnTo>
                  <a:pt x="0" y="130302"/>
                </a:lnTo>
                <a:lnTo>
                  <a:pt x="5969" y="148463"/>
                </a:lnTo>
                <a:lnTo>
                  <a:pt x="8889" y="160528"/>
                </a:lnTo>
                <a:lnTo>
                  <a:pt x="11811" y="169545"/>
                </a:lnTo>
                <a:lnTo>
                  <a:pt x="29845" y="193675"/>
                </a:lnTo>
                <a:lnTo>
                  <a:pt x="41910" y="199644"/>
                </a:lnTo>
                <a:lnTo>
                  <a:pt x="53975" y="202565"/>
                </a:lnTo>
                <a:lnTo>
                  <a:pt x="81407" y="202565"/>
                </a:lnTo>
                <a:lnTo>
                  <a:pt x="93472" y="199644"/>
                </a:lnTo>
                <a:lnTo>
                  <a:pt x="105537" y="193675"/>
                </a:lnTo>
                <a:lnTo>
                  <a:pt x="115123" y="180848"/>
                </a:lnTo>
                <a:lnTo>
                  <a:pt x="66675" y="180848"/>
                </a:lnTo>
                <a:lnTo>
                  <a:pt x="60706" y="177927"/>
                </a:lnTo>
                <a:lnTo>
                  <a:pt x="51688" y="177927"/>
                </a:lnTo>
                <a:lnTo>
                  <a:pt x="39877" y="166116"/>
                </a:lnTo>
                <a:lnTo>
                  <a:pt x="33909" y="154038"/>
                </a:lnTo>
                <a:lnTo>
                  <a:pt x="28066" y="123825"/>
                </a:lnTo>
                <a:lnTo>
                  <a:pt x="27939" y="102616"/>
                </a:lnTo>
                <a:lnTo>
                  <a:pt x="27964" y="78232"/>
                </a:lnTo>
                <a:lnTo>
                  <a:pt x="33782" y="48133"/>
                </a:lnTo>
                <a:lnTo>
                  <a:pt x="45720" y="30099"/>
                </a:lnTo>
                <a:lnTo>
                  <a:pt x="48640" y="27178"/>
                </a:lnTo>
                <a:lnTo>
                  <a:pt x="51562" y="27178"/>
                </a:lnTo>
                <a:lnTo>
                  <a:pt x="60578" y="24257"/>
                </a:lnTo>
                <a:lnTo>
                  <a:pt x="117982" y="24257"/>
                </a:lnTo>
                <a:lnTo>
                  <a:pt x="105663" y="11938"/>
                </a:lnTo>
                <a:lnTo>
                  <a:pt x="93599" y="2921"/>
                </a:lnTo>
                <a:close/>
              </a:path>
              <a:path w="135473" h="202564">
                <a:moveTo>
                  <a:pt x="117982" y="24257"/>
                </a:moveTo>
                <a:lnTo>
                  <a:pt x="75691" y="24257"/>
                </a:lnTo>
                <a:lnTo>
                  <a:pt x="84709" y="27178"/>
                </a:lnTo>
                <a:lnTo>
                  <a:pt x="90677" y="30099"/>
                </a:lnTo>
                <a:lnTo>
                  <a:pt x="102615" y="48133"/>
                </a:lnTo>
                <a:lnTo>
                  <a:pt x="105537" y="57150"/>
                </a:lnTo>
                <a:lnTo>
                  <a:pt x="105537" y="63119"/>
                </a:lnTo>
                <a:lnTo>
                  <a:pt x="108458" y="78232"/>
                </a:lnTo>
                <a:lnTo>
                  <a:pt x="108458" y="123825"/>
                </a:lnTo>
                <a:lnTo>
                  <a:pt x="105537" y="138938"/>
                </a:lnTo>
                <a:lnTo>
                  <a:pt x="105537" y="147955"/>
                </a:lnTo>
                <a:lnTo>
                  <a:pt x="102559" y="154038"/>
                </a:lnTo>
                <a:lnTo>
                  <a:pt x="96647" y="165989"/>
                </a:lnTo>
                <a:lnTo>
                  <a:pt x="84709" y="177927"/>
                </a:lnTo>
                <a:lnTo>
                  <a:pt x="75691" y="177927"/>
                </a:lnTo>
                <a:lnTo>
                  <a:pt x="66675" y="180848"/>
                </a:lnTo>
                <a:lnTo>
                  <a:pt x="115123" y="180848"/>
                </a:lnTo>
                <a:lnTo>
                  <a:pt x="123571" y="169545"/>
                </a:lnTo>
                <a:lnTo>
                  <a:pt x="129539" y="148336"/>
                </a:lnTo>
                <a:lnTo>
                  <a:pt x="135467" y="130302"/>
                </a:lnTo>
                <a:lnTo>
                  <a:pt x="135473" y="75184"/>
                </a:lnTo>
                <a:lnTo>
                  <a:pt x="123571" y="32893"/>
                </a:lnTo>
                <a:lnTo>
                  <a:pt x="120650" y="26924"/>
                </a:lnTo>
                <a:lnTo>
                  <a:pt x="117982" y="24257"/>
                </a:lnTo>
                <a:close/>
              </a:path>
              <a:path w="135473" h="202564">
                <a:moveTo>
                  <a:pt x="81661" y="0"/>
                </a:moveTo>
                <a:lnTo>
                  <a:pt x="54228" y="0"/>
                </a:lnTo>
                <a:lnTo>
                  <a:pt x="48260" y="2921"/>
                </a:lnTo>
                <a:lnTo>
                  <a:pt x="87630" y="2921"/>
                </a:lnTo>
                <a:lnTo>
                  <a:pt x="8166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bk object 71"/>
          <p:cNvSpPr/>
          <p:nvPr/>
        </p:nvSpPr>
        <p:spPr>
          <a:xfrm>
            <a:off x="592632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bk object 72"/>
          <p:cNvSpPr/>
          <p:nvPr/>
        </p:nvSpPr>
        <p:spPr>
          <a:xfrm>
            <a:off x="5986800" y="6292440"/>
            <a:ext cx="137520" cy="201600"/>
          </a:xfrm>
          <a:custGeom>
            <a:avLst/>
            <a:gdLst>
              <a:gd name="textAreaLeft" fmla="*/ 0 w 137520"/>
              <a:gd name="textAreaRight" fmla="*/ 138240 w 13752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8303" h="202311">
                <a:moveTo>
                  <a:pt x="90424" y="0"/>
                </a:moveTo>
                <a:lnTo>
                  <a:pt x="60071" y="0"/>
                </a:lnTo>
                <a:lnTo>
                  <a:pt x="48006" y="5969"/>
                </a:lnTo>
                <a:lnTo>
                  <a:pt x="32893" y="11925"/>
                </a:lnTo>
                <a:lnTo>
                  <a:pt x="14859" y="36068"/>
                </a:lnTo>
                <a:lnTo>
                  <a:pt x="5842" y="57277"/>
                </a:lnTo>
                <a:lnTo>
                  <a:pt x="2921" y="78486"/>
                </a:lnTo>
                <a:lnTo>
                  <a:pt x="0" y="90551"/>
                </a:lnTo>
                <a:lnTo>
                  <a:pt x="87" y="130810"/>
                </a:lnTo>
                <a:lnTo>
                  <a:pt x="2921" y="151384"/>
                </a:lnTo>
                <a:lnTo>
                  <a:pt x="11937" y="169545"/>
                </a:lnTo>
                <a:lnTo>
                  <a:pt x="14859" y="178562"/>
                </a:lnTo>
                <a:lnTo>
                  <a:pt x="20700" y="184404"/>
                </a:lnTo>
                <a:lnTo>
                  <a:pt x="32766" y="193421"/>
                </a:lnTo>
                <a:lnTo>
                  <a:pt x="44831" y="199390"/>
                </a:lnTo>
                <a:lnTo>
                  <a:pt x="56896" y="202311"/>
                </a:lnTo>
                <a:lnTo>
                  <a:pt x="84328" y="202311"/>
                </a:lnTo>
                <a:lnTo>
                  <a:pt x="96393" y="199390"/>
                </a:lnTo>
                <a:lnTo>
                  <a:pt x="108458" y="193421"/>
                </a:lnTo>
                <a:lnTo>
                  <a:pt x="120142" y="181737"/>
                </a:lnTo>
                <a:lnTo>
                  <a:pt x="59182" y="181737"/>
                </a:lnTo>
                <a:lnTo>
                  <a:pt x="50164" y="178816"/>
                </a:lnTo>
                <a:lnTo>
                  <a:pt x="44196" y="172847"/>
                </a:lnTo>
                <a:lnTo>
                  <a:pt x="38226" y="169926"/>
                </a:lnTo>
                <a:lnTo>
                  <a:pt x="38226" y="167005"/>
                </a:lnTo>
                <a:lnTo>
                  <a:pt x="32385" y="155067"/>
                </a:lnTo>
                <a:lnTo>
                  <a:pt x="29463" y="146050"/>
                </a:lnTo>
                <a:lnTo>
                  <a:pt x="29463" y="127889"/>
                </a:lnTo>
                <a:lnTo>
                  <a:pt x="32385" y="121920"/>
                </a:lnTo>
                <a:lnTo>
                  <a:pt x="35306" y="112903"/>
                </a:lnTo>
                <a:lnTo>
                  <a:pt x="41275" y="106934"/>
                </a:lnTo>
                <a:lnTo>
                  <a:pt x="47244" y="104000"/>
                </a:lnTo>
                <a:lnTo>
                  <a:pt x="53212" y="98044"/>
                </a:lnTo>
                <a:lnTo>
                  <a:pt x="127508" y="98044"/>
                </a:lnTo>
                <a:lnTo>
                  <a:pt x="123444" y="93980"/>
                </a:lnTo>
                <a:lnTo>
                  <a:pt x="27050" y="93980"/>
                </a:lnTo>
                <a:lnTo>
                  <a:pt x="29972" y="81915"/>
                </a:lnTo>
                <a:lnTo>
                  <a:pt x="29972" y="66802"/>
                </a:lnTo>
                <a:lnTo>
                  <a:pt x="32893" y="54737"/>
                </a:lnTo>
                <a:lnTo>
                  <a:pt x="38862" y="42672"/>
                </a:lnTo>
                <a:lnTo>
                  <a:pt x="53721" y="27800"/>
                </a:lnTo>
                <a:lnTo>
                  <a:pt x="59689" y="24892"/>
                </a:lnTo>
                <a:lnTo>
                  <a:pt x="65659" y="24892"/>
                </a:lnTo>
                <a:lnTo>
                  <a:pt x="74675" y="21971"/>
                </a:lnTo>
                <a:lnTo>
                  <a:pt x="125432" y="21971"/>
                </a:lnTo>
                <a:lnTo>
                  <a:pt x="123444" y="17907"/>
                </a:lnTo>
                <a:lnTo>
                  <a:pt x="114426" y="8890"/>
                </a:lnTo>
                <a:lnTo>
                  <a:pt x="102362" y="2921"/>
                </a:lnTo>
                <a:lnTo>
                  <a:pt x="96393" y="2921"/>
                </a:lnTo>
                <a:lnTo>
                  <a:pt x="90424" y="0"/>
                </a:lnTo>
                <a:close/>
              </a:path>
              <a:path w="138303" h="202311">
                <a:moveTo>
                  <a:pt x="127508" y="98044"/>
                </a:moveTo>
                <a:lnTo>
                  <a:pt x="80645" y="98044"/>
                </a:lnTo>
                <a:lnTo>
                  <a:pt x="92583" y="103886"/>
                </a:lnTo>
                <a:lnTo>
                  <a:pt x="104521" y="115824"/>
                </a:lnTo>
                <a:lnTo>
                  <a:pt x="107442" y="121793"/>
                </a:lnTo>
                <a:lnTo>
                  <a:pt x="107442" y="130810"/>
                </a:lnTo>
                <a:lnTo>
                  <a:pt x="110362" y="139827"/>
                </a:lnTo>
                <a:lnTo>
                  <a:pt x="110109" y="139954"/>
                </a:lnTo>
                <a:lnTo>
                  <a:pt x="107187" y="145923"/>
                </a:lnTo>
                <a:lnTo>
                  <a:pt x="107146" y="155067"/>
                </a:lnTo>
                <a:lnTo>
                  <a:pt x="104267" y="163957"/>
                </a:lnTo>
                <a:lnTo>
                  <a:pt x="98298" y="169926"/>
                </a:lnTo>
                <a:lnTo>
                  <a:pt x="92329" y="172847"/>
                </a:lnTo>
                <a:lnTo>
                  <a:pt x="86360" y="178816"/>
                </a:lnTo>
                <a:lnTo>
                  <a:pt x="80391" y="181737"/>
                </a:lnTo>
                <a:lnTo>
                  <a:pt x="120142" y="181737"/>
                </a:lnTo>
                <a:lnTo>
                  <a:pt x="126492" y="175387"/>
                </a:lnTo>
                <a:lnTo>
                  <a:pt x="132461" y="163322"/>
                </a:lnTo>
                <a:lnTo>
                  <a:pt x="138303" y="139192"/>
                </a:lnTo>
                <a:lnTo>
                  <a:pt x="135382" y="124079"/>
                </a:lnTo>
                <a:lnTo>
                  <a:pt x="135382" y="115062"/>
                </a:lnTo>
                <a:lnTo>
                  <a:pt x="129412" y="99949"/>
                </a:lnTo>
                <a:lnTo>
                  <a:pt x="127508" y="98044"/>
                </a:lnTo>
                <a:close/>
              </a:path>
              <a:path w="138303" h="202311">
                <a:moveTo>
                  <a:pt x="84328" y="73152"/>
                </a:moveTo>
                <a:lnTo>
                  <a:pt x="60071" y="73152"/>
                </a:lnTo>
                <a:lnTo>
                  <a:pt x="51054" y="76073"/>
                </a:lnTo>
                <a:lnTo>
                  <a:pt x="33020" y="88011"/>
                </a:lnTo>
                <a:lnTo>
                  <a:pt x="27050" y="93980"/>
                </a:lnTo>
                <a:lnTo>
                  <a:pt x="123444" y="93980"/>
                </a:lnTo>
                <a:lnTo>
                  <a:pt x="111379" y="81915"/>
                </a:lnTo>
                <a:lnTo>
                  <a:pt x="99441" y="76073"/>
                </a:lnTo>
                <a:lnTo>
                  <a:pt x="84328" y="73152"/>
                </a:lnTo>
                <a:close/>
              </a:path>
              <a:path w="138303" h="202311">
                <a:moveTo>
                  <a:pt x="125432" y="21971"/>
                </a:moveTo>
                <a:lnTo>
                  <a:pt x="74675" y="21971"/>
                </a:lnTo>
                <a:lnTo>
                  <a:pt x="83693" y="24892"/>
                </a:lnTo>
                <a:lnTo>
                  <a:pt x="89662" y="24892"/>
                </a:lnTo>
                <a:lnTo>
                  <a:pt x="95631" y="27800"/>
                </a:lnTo>
                <a:lnTo>
                  <a:pt x="101600" y="33782"/>
                </a:lnTo>
                <a:lnTo>
                  <a:pt x="107442" y="45720"/>
                </a:lnTo>
                <a:lnTo>
                  <a:pt x="107442" y="51689"/>
                </a:lnTo>
                <a:lnTo>
                  <a:pt x="110362" y="54610"/>
                </a:lnTo>
                <a:lnTo>
                  <a:pt x="134620" y="54610"/>
                </a:lnTo>
                <a:lnTo>
                  <a:pt x="135255" y="53848"/>
                </a:lnTo>
                <a:lnTo>
                  <a:pt x="135255" y="44831"/>
                </a:lnTo>
                <a:lnTo>
                  <a:pt x="132334" y="38862"/>
                </a:lnTo>
                <a:lnTo>
                  <a:pt x="132334" y="32893"/>
                </a:lnTo>
                <a:lnTo>
                  <a:pt x="126364" y="23876"/>
                </a:lnTo>
                <a:lnTo>
                  <a:pt x="125432" y="2197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" name="bk object 73"/>
          <p:cNvSpPr/>
          <p:nvPr/>
        </p:nvSpPr>
        <p:spPr>
          <a:xfrm>
            <a:off x="6350040" y="6293520"/>
            <a:ext cx="134280" cy="201600"/>
          </a:xfrm>
          <a:custGeom>
            <a:avLst/>
            <a:gdLst>
              <a:gd name="textAreaLeft" fmla="*/ 0 w 134280"/>
              <a:gd name="textAreaRight" fmla="*/ 135000 w 13428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4929" h="202437">
                <a:moveTo>
                  <a:pt x="93090" y="2920"/>
                </a:moveTo>
                <a:lnTo>
                  <a:pt x="41782" y="2920"/>
                </a:lnTo>
                <a:lnTo>
                  <a:pt x="29717" y="11937"/>
                </a:lnTo>
                <a:lnTo>
                  <a:pt x="14731" y="26911"/>
                </a:lnTo>
                <a:lnTo>
                  <a:pt x="11811" y="32892"/>
                </a:lnTo>
                <a:lnTo>
                  <a:pt x="8889" y="41909"/>
                </a:lnTo>
                <a:lnTo>
                  <a:pt x="5968" y="53974"/>
                </a:lnTo>
                <a:lnTo>
                  <a:pt x="3048" y="62991"/>
                </a:lnTo>
                <a:lnTo>
                  <a:pt x="126" y="75056"/>
                </a:lnTo>
                <a:lnTo>
                  <a:pt x="0" y="130428"/>
                </a:lnTo>
                <a:lnTo>
                  <a:pt x="5841" y="148462"/>
                </a:lnTo>
                <a:lnTo>
                  <a:pt x="8762" y="160527"/>
                </a:lnTo>
                <a:lnTo>
                  <a:pt x="11683" y="169544"/>
                </a:lnTo>
                <a:lnTo>
                  <a:pt x="14604" y="175513"/>
                </a:lnTo>
                <a:lnTo>
                  <a:pt x="20574" y="181482"/>
                </a:lnTo>
                <a:lnTo>
                  <a:pt x="29590" y="193547"/>
                </a:lnTo>
                <a:lnTo>
                  <a:pt x="47625" y="202437"/>
                </a:lnTo>
                <a:lnTo>
                  <a:pt x="81025" y="202437"/>
                </a:lnTo>
                <a:lnTo>
                  <a:pt x="93090" y="199516"/>
                </a:lnTo>
                <a:lnTo>
                  <a:pt x="105155" y="193547"/>
                </a:lnTo>
                <a:lnTo>
                  <a:pt x="114185" y="181482"/>
                </a:lnTo>
                <a:lnTo>
                  <a:pt x="114692" y="180974"/>
                </a:lnTo>
                <a:lnTo>
                  <a:pt x="69341" y="180974"/>
                </a:lnTo>
                <a:lnTo>
                  <a:pt x="60325" y="178053"/>
                </a:lnTo>
                <a:lnTo>
                  <a:pt x="51307" y="178053"/>
                </a:lnTo>
                <a:lnTo>
                  <a:pt x="39369" y="166115"/>
                </a:lnTo>
                <a:lnTo>
                  <a:pt x="33400" y="154050"/>
                </a:lnTo>
                <a:lnTo>
                  <a:pt x="27558" y="123824"/>
                </a:lnTo>
                <a:lnTo>
                  <a:pt x="27431" y="78231"/>
                </a:lnTo>
                <a:lnTo>
                  <a:pt x="33274" y="48005"/>
                </a:lnTo>
                <a:lnTo>
                  <a:pt x="45212" y="29971"/>
                </a:lnTo>
                <a:lnTo>
                  <a:pt x="51180" y="27050"/>
                </a:lnTo>
                <a:lnTo>
                  <a:pt x="60198" y="24129"/>
                </a:lnTo>
                <a:lnTo>
                  <a:pt x="117358" y="24129"/>
                </a:lnTo>
                <a:lnTo>
                  <a:pt x="105155" y="11937"/>
                </a:lnTo>
                <a:lnTo>
                  <a:pt x="93090" y="2920"/>
                </a:lnTo>
                <a:close/>
              </a:path>
              <a:path w="134929" h="202437">
                <a:moveTo>
                  <a:pt x="117358" y="24129"/>
                </a:moveTo>
                <a:lnTo>
                  <a:pt x="75311" y="24129"/>
                </a:lnTo>
                <a:lnTo>
                  <a:pt x="84327" y="27050"/>
                </a:lnTo>
                <a:lnTo>
                  <a:pt x="90296" y="29971"/>
                </a:lnTo>
                <a:lnTo>
                  <a:pt x="102235" y="48005"/>
                </a:lnTo>
                <a:lnTo>
                  <a:pt x="108076" y="78231"/>
                </a:lnTo>
                <a:lnTo>
                  <a:pt x="108076" y="123824"/>
                </a:lnTo>
                <a:lnTo>
                  <a:pt x="102235" y="154050"/>
                </a:lnTo>
                <a:lnTo>
                  <a:pt x="96265" y="166115"/>
                </a:lnTo>
                <a:lnTo>
                  <a:pt x="84327" y="178053"/>
                </a:lnTo>
                <a:lnTo>
                  <a:pt x="75311" y="178053"/>
                </a:lnTo>
                <a:lnTo>
                  <a:pt x="69341" y="180974"/>
                </a:lnTo>
                <a:lnTo>
                  <a:pt x="114692" y="180974"/>
                </a:lnTo>
                <a:lnTo>
                  <a:pt x="120141" y="175513"/>
                </a:lnTo>
                <a:lnTo>
                  <a:pt x="123062" y="169544"/>
                </a:lnTo>
                <a:lnTo>
                  <a:pt x="129031" y="148335"/>
                </a:lnTo>
                <a:lnTo>
                  <a:pt x="134917" y="130428"/>
                </a:lnTo>
                <a:lnTo>
                  <a:pt x="134929" y="75056"/>
                </a:lnTo>
                <a:lnTo>
                  <a:pt x="123062" y="32892"/>
                </a:lnTo>
                <a:lnTo>
                  <a:pt x="120141" y="26911"/>
                </a:lnTo>
                <a:lnTo>
                  <a:pt x="117358" y="24129"/>
                </a:lnTo>
                <a:close/>
              </a:path>
              <a:path w="134929" h="202437">
                <a:moveTo>
                  <a:pt x="81152" y="0"/>
                </a:moveTo>
                <a:lnTo>
                  <a:pt x="53720" y="0"/>
                </a:lnTo>
                <a:lnTo>
                  <a:pt x="47751" y="2920"/>
                </a:lnTo>
                <a:lnTo>
                  <a:pt x="87121" y="2920"/>
                </a:lnTo>
                <a:lnTo>
                  <a:pt x="81152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bk object 74"/>
          <p:cNvSpPr/>
          <p:nvPr/>
        </p:nvSpPr>
        <p:spPr>
          <a:xfrm>
            <a:off x="651744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" name="bk object 75"/>
          <p:cNvSpPr/>
          <p:nvPr/>
        </p:nvSpPr>
        <p:spPr>
          <a:xfrm>
            <a:off x="6577200" y="6300000"/>
            <a:ext cx="133200" cy="192960"/>
          </a:xfrm>
          <a:custGeom>
            <a:avLst/>
            <a:gdLst>
              <a:gd name="textAreaLeft" fmla="*/ 0 w 133200"/>
              <a:gd name="textAreaRight" fmla="*/ 133920 w 133200"/>
              <a:gd name="textAreaTop" fmla="*/ 0 h 192960"/>
              <a:gd name="textAreaBottom" fmla="*/ 193680 h 192960"/>
            </a:gdLst>
            <a:ahLst/>
            <a:cxnLst/>
            <a:rect l="textAreaLeft" t="textAreaTop" r="textAreaRight" b="textAreaBottom"/>
            <a:pathLst>
              <a:path w="133984" h="193675">
                <a:moveTo>
                  <a:pt x="133984" y="0"/>
                </a:moveTo>
                <a:lnTo>
                  <a:pt x="0" y="0"/>
                </a:lnTo>
                <a:lnTo>
                  <a:pt x="0" y="24256"/>
                </a:lnTo>
                <a:lnTo>
                  <a:pt x="106679" y="24256"/>
                </a:lnTo>
                <a:lnTo>
                  <a:pt x="94615" y="39369"/>
                </a:lnTo>
                <a:lnTo>
                  <a:pt x="91694" y="45338"/>
                </a:lnTo>
                <a:lnTo>
                  <a:pt x="76580" y="60451"/>
                </a:lnTo>
                <a:lnTo>
                  <a:pt x="70611" y="69468"/>
                </a:lnTo>
                <a:lnTo>
                  <a:pt x="67691" y="78485"/>
                </a:lnTo>
                <a:lnTo>
                  <a:pt x="55625" y="102730"/>
                </a:lnTo>
                <a:lnTo>
                  <a:pt x="43687" y="120776"/>
                </a:lnTo>
                <a:lnTo>
                  <a:pt x="37656" y="142240"/>
                </a:lnTo>
                <a:lnTo>
                  <a:pt x="31750" y="166230"/>
                </a:lnTo>
                <a:lnTo>
                  <a:pt x="31750" y="175259"/>
                </a:lnTo>
                <a:lnTo>
                  <a:pt x="28828" y="193420"/>
                </a:lnTo>
                <a:lnTo>
                  <a:pt x="28575" y="193675"/>
                </a:lnTo>
                <a:lnTo>
                  <a:pt x="56006" y="193675"/>
                </a:lnTo>
                <a:lnTo>
                  <a:pt x="58927" y="172465"/>
                </a:lnTo>
                <a:lnTo>
                  <a:pt x="61849" y="160400"/>
                </a:lnTo>
                <a:lnTo>
                  <a:pt x="67889" y="141985"/>
                </a:lnTo>
                <a:lnTo>
                  <a:pt x="73786" y="121031"/>
                </a:lnTo>
                <a:lnTo>
                  <a:pt x="82803" y="99822"/>
                </a:lnTo>
                <a:lnTo>
                  <a:pt x="91821" y="81660"/>
                </a:lnTo>
                <a:lnTo>
                  <a:pt x="103885" y="63500"/>
                </a:lnTo>
                <a:lnTo>
                  <a:pt x="112902" y="48387"/>
                </a:lnTo>
                <a:lnTo>
                  <a:pt x="121920" y="39369"/>
                </a:lnTo>
                <a:lnTo>
                  <a:pt x="133984" y="21209"/>
                </a:lnTo>
                <a:lnTo>
                  <a:pt x="133984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bk object 76"/>
          <p:cNvSpPr/>
          <p:nvPr/>
        </p:nvSpPr>
        <p:spPr>
          <a:xfrm>
            <a:off x="6941160" y="6293160"/>
            <a:ext cx="134280" cy="201240"/>
          </a:xfrm>
          <a:custGeom>
            <a:avLst/>
            <a:gdLst>
              <a:gd name="textAreaLeft" fmla="*/ 0 w 134280"/>
              <a:gd name="textAreaRight" fmla="*/ 135000 w 134280"/>
              <a:gd name="textAreaTop" fmla="*/ 0 h 201240"/>
              <a:gd name="textAreaBottom" fmla="*/ 201960 h 201240"/>
            </a:gdLst>
            <a:ahLst/>
            <a:cxnLst/>
            <a:rect l="textAreaLeft" t="textAreaTop" r="textAreaRight" b="textAreaBottom"/>
            <a:pathLst>
              <a:path w="135127" h="201929">
                <a:moveTo>
                  <a:pt x="93345" y="2921"/>
                </a:moveTo>
                <a:lnTo>
                  <a:pt x="42037" y="2921"/>
                </a:lnTo>
                <a:lnTo>
                  <a:pt x="29972" y="11938"/>
                </a:lnTo>
                <a:lnTo>
                  <a:pt x="6223" y="53975"/>
                </a:lnTo>
                <a:lnTo>
                  <a:pt x="380" y="102616"/>
                </a:lnTo>
                <a:lnTo>
                  <a:pt x="40" y="102616"/>
                </a:lnTo>
                <a:lnTo>
                  <a:pt x="5842" y="147828"/>
                </a:lnTo>
                <a:lnTo>
                  <a:pt x="20700" y="180975"/>
                </a:lnTo>
                <a:lnTo>
                  <a:pt x="29718" y="193040"/>
                </a:lnTo>
                <a:lnTo>
                  <a:pt x="41782" y="199009"/>
                </a:lnTo>
                <a:lnTo>
                  <a:pt x="53848" y="201930"/>
                </a:lnTo>
                <a:lnTo>
                  <a:pt x="81279" y="201930"/>
                </a:lnTo>
                <a:lnTo>
                  <a:pt x="93345" y="199009"/>
                </a:lnTo>
                <a:lnTo>
                  <a:pt x="105410" y="193040"/>
                </a:lnTo>
                <a:lnTo>
                  <a:pt x="114332" y="181102"/>
                </a:lnTo>
                <a:lnTo>
                  <a:pt x="69596" y="181102"/>
                </a:lnTo>
                <a:lnTo>
                  <a:pt x="60578" y="178181"/>
                </a:lnTo>
                <a:lnTo>
                  <a:pt x="51562" y="178181"/>
                </a:lnTo>
                <a:lnTo>
                  <a:pt x="39624" y="166243"/>
                </a:lnTo>
                <a:lnTo>
                  <a:pt x="33654" y="154178"/>
                </a:lnTo>
                <a:lnTo>
                  <a:pt x="27813" y="123952"/>
                </a:lnTo>
                <a:lnTo>
                  <a:pt x="27686" y="102616"/>
                </a:lnTo>
                <a:lnTo>
                  <a:pt x="380" y="102616"/>
                </a:lnTo>
                <a:lnTo>
                  <a:pt x="0" y="102235"/>
                </a:lnTo>
                <a:lnTo>
                  <a:pt x="27686" y="102235"/>
                </a:lnTo>
                <a:lnTo>
                  <a:pt x="27686" y="78359"/>
                </a:lnTo>
                <a:lnTo>
                  <a:pt x="33527" y="48133"/>
                </a:lnTo>
                <a:lnTo>
                  <a:pt x="45466" y="30099"/>
                </a:lnTo>
                <a:lnTo>
                  <a:pt x="51435" y="27178"/>
                </a:lnTo>
                <a:lnTo>
                  <a:pt x="60451" y="24257"/>
                </a:lnTo>
                <a:lnTo>
                  <a:pt x="117728" y="24257"/>
                </a:lnTo>
                <a:lnTo>
                  <a:pt x="105410" y="11938"/>
                </a:lnTo>
                <a:lnTo>
                  <a:pt x="93345" y="2921"/>
                </a:lnTo>
                <a:close/>
              </a:path>
              <a:path w="135127" h="201929">
                <a:moveTo>
                  <a:pt x="117728" y="24257"/>
                </a:moveTo>
                <a:lnTo>
                  <a:pt x="78613" y="24257"/>
                </a:lnTo>
                <a:lnTo>
                  <a:pt x="90550" y="30099"/>
                </a:lnTo>
                <a:lnTo>
                  <a:pt x="102489" y="48133"/>
                </a:lnTo>
                <a:lnTo>
                  <a:pt x="108330" y="78359"/>
                </a:lnTo>
                <a:lnTo>
                  <a:pt x="108330" y="123952"/>
                </a:lnTo>
                <a:lnTo>
                  <a:pt x="102489" y="154178"/>
                </a:lnTo>
                <a:lnTo>
                  <a:pt x="96520" y="166243"/>
                </a:lnTo>
                <a:lnTo>
                  <a:pt x="84581" y="178181"/>
                </a:lnTo>
                <a:lnTo>
                  <a:pt x="78613" y="178181"/>
                </a:lnTo>
                <a:lnTo>
                  <a:pt x="69596" y="181102"/>
                </a:lnTo>
                <a:lnTo>
                  <a:pt x="114332" y="181102"/>
                </a:lnTo>
                <a:lnTo>
                  <a:pt x="114426" y="180975"/>
                </a:lnTo>
                <a:lnTo>
                  <a:pt x="120396" y="175006"/>
                </a:lnTo>
                <a:lnTo>
                  <a:pt x="123317" y="169037"/>
                </a:lnTo>
                <a:lnTo>
                  <a:pt x="129286" y="160020"/>
                </a:lnTo>
                <a:lnTo>
                  <a:pt x="132206" y="147955"/>
                </a:lnTo>
                <a:lnTo>
                  <a:pt x="132206" y="138938"/>
                </a:lnTo>
                <a:lnTo>
                  <a:pt x="135127" y="129921"/>
                </a:lnTo>
                <a:lnTo>
                  <a:pt x="135127" y="75057"/>
                </a:lnTo>
                <a:lnTo>
                  <a:pt x="132206" y="62992"/>
                </a:lnTo>
                <a:lnTo>
                  <a:pt x="132206" y="53975"/>
                </a:lnTo>
                <a:lnTo>
                  <a:pt x="129286" y="41910"/>
                </a:lnTo>
                <a:lnTo>
                  <a:pt x="123317" y="32893"/>
                </a:lnTo>
                <a:lnTo>
                  <a:pt x="120396" y="26924"/>
                </a:lnTo>
                <a:lnTo>
                  <a:pt x="117728" y="24257"/>
                </a:lnTo>
                <a:close/>
              </a:path>
              <a:path w="135127" h="201929">
                <a:moveTo>
                  <a:pt x="81406" y="0"/>
                </a:moveTo>
                <a:lnTo>
                  <a:pt x="53975" y="0"/>
                </a:lnTo>
                <a:lnTo>
                  <a:pt x="48005" y="2921"/>
                </a:lnTo>
                <a:lnTo>
                  <a:pt x="87375" y="2921"/>
                </a:lnTo>
                <a:lnTo>
                  <a:pt x="81406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bk object 77"/>
          <p:cNvSpPr/>
          <p:nvPr/>
        </p:nvSpPr>
        <p:spPr>
          <a:xfrm>
            <a:off x="710892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" name="bk object 78"/>
          <p:cNvSpPr/>
          <p:nvPr/>
        </p:nvSpPr>
        <p:spPr>
          <a:xfrm>
            <a:off x="7170480" y="6293880"/>
            <a:ext cx="134640" cy="199800"/>
          </a:xfrm>
          <a:custGeom>
            <a:avLst/>
            <a:gdLst>
              <a:gd name="textAreaLeft" fmla="*/ 0 w 134640"/>
              <a:gd name="textAreaRight" fmla="*/ 135360 w 134640"/>
              <a:gd name="textAreaTop" fmla="*/ 0 h 199800"/>
              <a:gd name="textAreaBottom" fmla="*/ 200520 h 199800"/>
            </a:gdLst>
            <a:ahLst/>
            <a:cxnLst/>
            <a:rect l="textAreaLeft" t="textAreaTop" r="textAreaRight" b="textAreaBottom"/>
            <a:pathLst>
              <a:path w="135254" h="200405">
                <a:moveTo>
                  <a:pt x="32493" y="89606"/>
                </a:moveTo>
                <a:lnTo>
                  <a:pt x="26669" y="92456"/>
                </a:lnTo>
                <a:lnTo>
                  <a:pt x="23749" y="95377"/>
                </a:lnTo>
                <a:lnTo>
                  <a:pt x="17779" y="98298"/>
                </a:lnTo>
                <a:lnTo>
                  <a:pt x="14858" y="101219"/>
                </a:lnTo>
                <a:lnTo>
                  <a:pt x="2920" y="119253"/>
                </a:lnTo>
                <a:lnTo>
                  <a:pt x="0" y="128270"/>
                </a:lnTo>
                <a:lnTo>
                  <a:pt x="0" y="140335"/>
                </a:lnTo>
                <a:lnTo>
                  <a:pt x="20827" y="188595"/>
                </a:lnTo>
                <a:lnTo>
                  <a:pt x="44957" y="197485"/>
                </a:lnTo>
                <a:lnTo>
                  <a:pt x="53975" y="200406"/>
                </a:lnTo>
                <a:lnTo>
                  <a:pt x="81406" y="200406"/>
                </a:lnTo>
                <a:lnTo>
                  <a:pt x="105536" y="194551"/>
                </a:lnTo>
                <a:lnTo>
                  <a:pt x="114553" y="188595"/>
                </a:lnTo>
                <a:lnTo>
                  <a:pt x="120523" y="182626"/>
                </a:lnTo>
                <a:lnTo>
                  <a:pt x="123071" y="177419"/>
                </a:lnTo>
                <a:lnTo>
                  <a:pt x="53593" y="177419"/>
                </a:lnTo>
                <a:lnTo>
                  <a:pt x="44576" y="174498"/>
                </a:lnTo>
                <a:lnTo>
                  <a:pt x="38734" y="168656"/>
                </a:lnTo>
                <a:lnTo>
                  <a:pt x="35813" y="162687"/>
                </a:lnTo>
                <a:lnTo>
                  <a:pt x="29844" y="156718"/>
                </a:lnTo>
                <a:lnTo>
                  <a:pt x="29844" y="150749"/>
                </a:lnTo>
                <a:lnTo>
                  <a:pt x="26924" y="141732"/>
                </a:lnTo>
                <a:lnTo>
                  <a:pt x="29844" y="132588"/>
                </a:lnTo>
                <a:lnTo>
                  <a:pt x="29844" y="123571"/>
                </a:lnTo>
                <a:lnTo>
                  <a:pt x="41655" y="111760"/>
                </a:lnTo>
                <a:lnTo>
                  <a:pt x="53593" y="105918"/>
                </a:lnTo>
                <a:lnTo>
                  <a:pt x="126386" y="105918"/>
                </a:lnTo>
                <a:lnTo>
                  <a:pt x="123443" y="101473"/>
                </a:lnTo>
                <a:lnTo>
                  <a:pt x="111505" y="95631"/>
                </a:lnTo>
                <a:lnTo>
                  <a:pt x="108584" y="92710"/>
                </a:lnTo>
                <a:lnTo>
                  <a:pt x="102615" y="89776"/>
                </a:lnTo>
                <a:lnTo>
                  <a:pt x="33019" y="89776"/>
                </a:lnTo>
                <a:lnTo>
                  <a:pt x="32493" y="89606"/>
                </a:lnTo>
                <a:close/>
              </a:path>
              <a:path w="135254" h="200405">
                <a:moveTo>
                  <a:pt x="126386" y="105918"/>
                </a:moveTo>
                <a:lnTo>
                  <a:pt x="81025" y="105918"/>
                </a:lnTo>
                <a:lnTo>
                  <a:pt x="90042" y="108826"/>
                </a:lnTo>
                <a:lnTo>
                  <a:pt x="96011" y="111760"/>
                </a:lnTo>
                <a:lnTo>
                  <a:pt x="101980" y="117729"/>
                </a:lnTo>
                <a:lnTo>
                  <a:pt x="104839" y="123571"/>
                </a:lnTo>
                <a:lnTo>
                  <a:pt x="104901" y="126619"/>
                </a:lnTo>
                <a:lnTo>
                  <a:pt x="107823" y="132588"/>
                </a:lnTo>
                <a:lnTo>
                  <a:pt x="107823" y="150749"/>
                </a:lnTo>
                <a:lnTo>
                  <a:pt x="104901" y="156718"/>
                </a:lnTo>
                <a:lnTo>
                  <a:pt x="104901" y="159626"/>
                </a:lnTo>
                <a:lnTo>
                  <a:pt x="90042" y="174498"/>
                </a:lnTo>
                <a:lnTo>
                  <a:pt x="81025" y="177419"/>
                </a:lnTo>
                <a:lnTo>
                  <a:pt x="123071" y="177419"/>
                </a:lnTo>
                <a:lnTo>
                  <a:pt x="126364" y="170688"/>
                </a:lnTo>
                <a:lnTo>
                  <a:pt x="132333" y="164719"/>
                </a:lnTo>
                <a:lnTo>
                  <a:pt x="132333" y="158750"/>
                </a:lnTo>
                <a:lnTo>
                  <a:pt x="135254" y="152781"/>
                </a:lnTo>
                <a:lnTo>
                  <a:pt x="135172" y="128270"/>
                </a:lnTo>
                <a:lnTo>
                  <a:pt x="129412" y="110490"/>
                </a:lnTo>
                <a:lnTo>
                  <a:pt x="126386" y="105918"/>
                </a:lnTo>
                <a:close/>
              </a:path>
              <a:path w="135254" h="200405">
                <a:moveTo>
                  <a:pt x="103364" y="89535"/>
                </a:moveTo>
                <a:lnTo>
                  <a:pt x="32638" y="89535"/>
                </a:lnTo>
                <a:lnTo>
                  <a:pt x="33019" y="89776"/>
                </a:lnTo>
                <a:lnTo>
                  <a:pt x="102615" y="89776"/>
                </a:lnTo>
                <a:lnTo>
                  <a:pt x="103364" y="89535"/>
                </a:lnTo>
                <a:close/>
              </a:path>
              <a:path w="135254" h="200405">
                <a:moveTo>
                  <a:pt x="78485" y="0"/>
                </a:moveTo>
                <a:lnTo>
                  <a:pt x="57276" y="0"/>
                </a:lnTo>
                <a:lnTo>
                  <a:pt x="48259" y="2921"/>
                </a:lnTo>
                <a:lnTo>
                  <a:pt x="36194" y="5842"/>
                </a:lnTo>
                <a:lnTo>
                  <a:pt x="18160" y="17780"/>
                </a:lnTo>
                <a:lnTo>
                  <a:pt x="12191" y="26797"/>
                </a:lnTo>
                <a:lnTo>
                  <a:pt x="6350" y="50927"/>
                </a:lnTo>
                <a:lnTo>
                  <a:pt x="15112" y="77978"/>
                </a:lnTo>
                <a:lnTo>
                  <a:pt x="24002" y="86868"/>
                </a:lnTo>
                <a:lnTo>
                  <a:pt x="32493" y="89606"/>
                </a:lnTo>
                <a:lnTo>
                  <a:pt x="32638" y="89535"/>
                </a:lnTo>
                <a:lnTo>
                  <a:pt x="103364" y="89535"/>
                </a:lnTo>
                <a:lnTo>
                  <a:pt x="111632" y="86868"/>
                </a:lnTo>
                <a:lnTo>
                  <a:pt x="115570" y="82931"/>
                </a:lnTo>
                <a:lnTo>
                  <a:pt x="59689" y="82931"/>
                </a:lnTo>
                <a:lnTo>
                  <a:pt x="59689" y="80010"/>
                </a:lnTo>
                <a:lnTo>
                  <a:pt x="56768" y="80010"/>
                </a:lnTo>
                <a:lnTo>
                  <a:pt x="38861" y="71247"/>
                </a:lnTo>
                <a:lnTo>
                  <a:pt x="35940" y="65278"/>
                </a:lnTo>
                <a:lnTo>
                  <a:pt x="35940" y="59309"/>
                </a:lnTo>
                <a:lnTo>
                  <a:pt x="33019" y="50292"/>
                </a:lnTo>
                <a:lnTo>
                  <a:pt x="35940" y="44196"/>
                </a:lnTo>
                <a:lnTo>
                  <a:pt x="35940" y="38227"/>
                </a:lnTo>
                <a:lnTo>
                  <a:pt x="38861" y="32258"/>
                </a:lnTo>
                <a:lnTo>
                  <a:pt x="44830" y="29337"/>
                </a:lnTo>
                <a:lnTo>
                  <a:pt x="50800" y="23368"/>
                </a:lnTo>
                <a:lnTo>
                  <a:pt x="56768" y="23368"/>
                </a:lnTo>
                <a:lnTo>
                  <a:pt x="59689" y="20447"/>
                </a:lnTo>
                <a:lnTo>
                  <a:pt x="119367" y="20447"/>
                </a:lnTo>
                <a:lnTo>
                  <a:pt x="117601" y="17780"/>
                </a:lnTo>
                <a:lnTo>
                  <a:pt x="111632" y="11811"/>
                </a:lnTo>
                <a:lnTo>
                  <a:pt x="102615" y="5842"/>
                </a:lnTo>
                <a:lnTo>
                  <a:pt x="78485" y="0"/>
                </a:lnTo>
                <a:close/>
              </a:path>
              <a:path w="135254" h="200405">
                <a:moveTo>
                  <a:pt x="119367" y="20447"/>
                </a:moveTo>
                <a:lnTo>
                  <a:pt x="74815" y="20447"/>
                </a:lnTo>
                <a:lnTo>
                  <a:pt x="80772" y="23368"/>
                </a:lnTo>
                <a:lnTo>
                  <a:pt x="86740" y="23368"/>
                </a:lnTo>
                <a:lnTo>
                  <a:pt x="89661" y="29337"/>
                </a:lnTo>
                <a:lnTo>
                  <a:pt x="95630" y="32258"/>
                </a:lnTo>
                <a:lnTo>
                  <a:pt x="101473" y="44196"/>
                </a:lnTo>
                <a:lnTo>
                  <a:pt x="101473" y="59309"/>
                </a:lnTo>
                <a:lnTo>
                  <a:pt x="95630" y="71247"/>
                </a:lnTo>
                <a:lnTo>
                  <a:pt x="92709" y="74168"/>
                </a:lnTo>
                <a:lnTo>
                  <a:pt x="74815" y="82931"/>
                </a:lnTo>
                <a:lnTo>
                  <a:pt x="115570" y="82931"/>
                </a:lnTo>
                <a:lnTo>
                  <a:pt x="120523" y="77978"/>
                </a:lnTo>
                <a:lnTo>
                  <a:pt x="126491" y="68961"/>
                </a:lnTo>
                <a:lnTo>
                  <a:pt x="129412" y="59944"/>
                </a:lnTo>
                <a:lnTo>
                  <a:pt x="129412" y="50927"/>
                </a:lnTo>
                <a:lnTo>
                  <a:pt x="123570" y="26797"/>
                </a:lnTo>
                <a:lnTo>
                  <a:pt x="119367" y="20447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bk object 79"/>
          <p:cNvSpPr/>
          <p:nvPr/>
        </p:nvSpPr>
        <p:spPr>
          <a:xfrm>
            <a:off x="7531920" y="6293160"/>
            <a:ext cx="134640" cy="20124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240"/>
              <a:gd name="textAreaBottom" fmla="*/ 201960 h 201240"/>
            </a:gdLst>
            <a:ahLst/>
            <a:cxnLst/>
            <a:rect l="textAreaLeft" t="textAreaTop" r="textAreaRight" b="textAreaBottom"/>
            <a:pathLst>
              <a:path w="135394" h="202056">
                <a:moveTo>
                  <a:pt x="0" y="102235"/>
                </a:moveTo>
                <a:lnTo>
                  <a:pt x="5842" y="147828"/>
                </a:lnTo>
                <a:lnTo>
                  <a:pt x="29845" y="193167"/>
                </a:lnTo>
                <a:lnTo>
                  <a:pt x="53975" y="202057"/>
                </a:lnTo>
                <a:lnTo>
                  <a:pt x="81407" y="202057"/>
                </a:lnTo>
                <a:lnTo>
                  <a:pt x="93472" y="199136"/>
                </a:lnTo>
                <a:lnTo>
                  <a:pt x="105537" y="193167"/>
                </a:lnTo>
                <a:lnTo>
                  <a:pt x="117221" y="181483"/>
                </a:lnTo>
                <a:lnTo>
                  <a:pt x="69723" y="181483"/>
                </a:lnTo>
                <a:lnTo>
                  <a:pt x="60706" y="178562"/>
                </a:lnTo>
                <a:lnTo>
                  <a:pt x="51689" y="178562"/>
                </a:lnTo>
                <a:lnTo>
                  <a:pt x="39751" y="166624"/>
                </a:lnTo>
                <a:lnTo>
                  <a:pt x="36830" y="154559"/>
                </a:lnTo>
                <a:lnTo>
                  <a:pt x="33909" y="148590"/>
                </a:lnTo>
                <a:lnTo>
                  <a:pt x="30988" y="139573"/>
                </a:lnTo>
                <a:lnTo>
                  <a:pt x="30988" y="124460"/>
                </a:lnTo>
                <a:lnTo>
                  <a:pt x="28067" y="103238"/>
                </a:lnTo>
                <a:lnTo>
                  <a:pt x="27927" y="102616"/>
                </a:lnTo>
                <a:lnTo>
                  <a:pt x="635" y="102616"/>
                </a:lnTo>
                <a:lnTo>
                  <a:pt x="0" y="102235"/>
                </a:lnTo>
                <a:close/>
              </a:path>
              <a:path w="135394" h="202056">
                <a:moveTo>
                  <a:pt x="119407" y="24384"/>
                </a:moveTo>
                <a:lnTo>
                  <a:pt x="78740" y="24384"/>
                </a:lnTo>
                <a:lnTo>
                  <a:pt x="84709" y="27305"/>
                </a:lnTo>
                <a:lnTo>
                  <a:pt x="87630" y="27305"/>
                </a:lnTo>
                <a:lnTo>
                  <a:pt x="90551" y="30213"/>
                </a:lnTo>
                <a:lnTo>
                  <a:pt x="102489" y="48260"/>
                </a:lnTo>
                <a:lnTo>
                  <a:pt x="108407" y="63246"/>
                </a:lnTo>
                <a:lnTo>
                  <a:pt x="108458" y="139573"/>
                </a:lnTo>
                <a:lnTo>
                  <a:pt x="102489" y="154686"/>
                </a:lnTo>
                <a:lnTo>
                  <a:pt x="96520" y="166738"/>
                </a:lnTo>
                <a:lnTo>
                  <a:pt x="84709" y="178562"/>
                </a:lnTo>
                <a:lnTo>
                  <a:pt x="78740" y="178562"/>
                </a:lnTo>
                <a:lnTo>
                  <a:pt x="69723" y="181483"/>
                </a:lnTo>
                <a:lnTo>
                  <a:pt x="117221" y="181483"/>
                </a:lnTo>
                <a:lnTo>
                  <a:pt x="117602" y="181102"/>
                </a:lnTo>
                <a:lnTo>
                  <a:pt x="123571" y="169037"/>
                </a:lnTo>
                <a:lnTo>
                  <a:pt x="129540" y="160020"/>
                </a:lnTo>
                <a:lnTo>
                  <a:pt x="132461" y="147955"/>
                </a:lnTo>
                <a:lnTo>
                  <a:pt x="132461" y="138938"/>
                </a:lnTo>
                <a:lnTo>
                  <a:pt x="135394" y="129921"/>
                </a:lnTo>
                <a:lnTo>
                  <a:pt x="135394" y="75057"/>
                </a:lnTo>
                <a:lnTo>
                  <a:pt x="132553" y="63373"/>
                </a:lnTo>
                <a:lnTo>
                  <a:pt x="132461" y="53975"/>
                </a:lnTo>
                <a:lnTo>
                  <a:pt x="129540" y="41910"/>
                </a:lnTo>
                <a:lnTo>
                  <a:pt x="123571" y="32893"/>
                </a:lnTo>
                <a:lnTo>
                  <a:pt x="119407" y="24384"/>
                </a:lnTo>
                <a:close/>
              </a:path>
              <a:path w="135394" h="202056">
                <a:moveTo>
                  <a:pt x="93599" y="2921"/>
                </a:moveTo>
                <a:lnTo>
                  <a:pt x="42291" y="2921"/>
                </a:lnTo>
                <a:lnTo>
                  <a:pt x="30226" y="11938"/>
                </a:lnTo>
                <a:lnTo>
                  <a:pt x="21209" y="20955"/>
                </a:lnTo>
                <a:lnTo>
                  <a:pt x="18288" y="26924"/>
                </a:lnTo>
                <a:lnTo>
                  <a:pt x="12319" y="32893"/>
                </a:lnTo>
                <a:lnTo>
                  <a:pt x="9398" y="41910"/>
                </a:lnTo>
                <a:lnTo>
                  <a:pt x="6477" y="53975"/>
                </a:lnTo>
                <a:lnTo>
                  <a:pt x="3556" y="75184"/>
                </a:lnTo>
                <a:lnTo>
                  <a:pt x="635" y="102616"/>
                </a:lnTo>
                <a:lnTo>
                  <a:pt x="27927" y="102616"/>
                </a:lnTo>
                <a:lnTo>
                  <a:pt x="30861" y="78359"/>
                </a:lnTo>
                <a:lnTo>
                  <a:pt x="30985" y="62992"/>
                </a:lnTo>
                <a:lnTo>
                  <a:pt x="33782" y="57277"/>
                </a:lnTo>
                <a:lnTo>
                  <a:pt x="39624" y="39243"/>
                </a:lnTo>
                <a:lnTo>
                  <a:pt x="45593" y="30213"/>
                </a:lnTo>
                <a:lnTo>
                  <a:pt x="51562" y="27305"/>
                </a:lnTo>
                <a:lnTo>
                  <a:pt x="60579" y="24384"/>
                </a:lnTo>
                <a:lnTo>
                  <a:pt x="119407" y="24384"/>
                </a:lnTo>
                <a:lnTo>
                  <a:pt x="117729" y="20955"/>
                </a:lnTo>
                <a:lnTo>
                  <a:pt x="93599" y="2921"/>
                </a:lnTo>
                <a:close/>
              </a:path>
              <a:path w="135394" h="202056">
                <a:moveTo>
                  <a:pt x="81661" y="0"/>
                </a:moveTo>
                <a:lnTo>
                  <a:pt x="54229" y="0"/>
                </a:lnTo>
                <a:lnTo>
                  <a:pt x="48260" y="2921"/>
                </a:lnTo>
                <a:lnTo>
                  <a:pt x="87630" y="2921"/>
                </a:lnTo>
                <a:lnTo>
                  <a:pt x="8166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bk object 80"/>
          <p:cNvSpPr/>
          <p:nvPr/>
        </p:nvSpPr>
        <p:spPr>
          <a:xfrm>
            <a:off x="770004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65" h="33401">
                <a:moveTo>
                  <a:pt x="0" y="16700"/>
                </a:moveTo>
                <a:lnTo>
                  <a:pt x="30365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" name="bk object 81"/>
          <p:cNvSpPr/>
          <p:nvPr/>
        </p:nvSpPr>
        <p:spPr>
          <a:xfrm>
            <a:off x="7761240" y="6293520"/>
            <a:ext cx="137880" cy="201240"/>
          </a:xfrm>
          <a:custGeom>
            <a:avLst/>
            <a:gdLst>
              <a:gd name="textAreaLeft" fmla="*/ 0 w 137880"/>
              <a:gd name="textAreaRight" fmla="*/ 138600 w 137880"/>
              <a:gd name="textAreaTop" fmla="*/ 0 h 201240"/>
              <a:gd name="textAreaBottom" fmla="*/ 201960 h 201240"/>
            </a:gdLst>
            <a:ahLst/>
            <a:cxnLst/>
            <a:rect l="textAreaLeft" t="textAreaTop" r="textAreaRight" b="textAreaBottom"/>
            <a:pathLst>
              <a:path w="138429" h="202056">
                <a:moveTo>
                  <a:pt x="27558" y="147954"/>
                </a:moveTo>
                <a:lnTo>
                  <a:pt x="126" y="147954"/>
                </a:lnTo>
                <a:lnTo>
                  <a:pt x="0" y="157225"/>
                </a:lnTo>
                <a:lnTo>
                  <a:pt x="2802" y="162940"/>
                </a:lnTo>
                <a:lnTo>
                  <a:pt x="2921" y="166115"/>
                </a:lnTo>
                <a:lnTo>
                  <a:pt x="32893" y="199135"/>
                </a:lnTo>
                <a:lnTo>
                  <a:pt x="44957" y="202056"/>
                </a:lnTo>
                <a:lnTo>
                  <a:pt x="78358" y="202056"/>
                </a:lnTo>
                <a:lnTo>
                  <a:pt x="90436" y="199135"/>
                </a:lnTo>
                <a:lnTo>
                  <a:pt x="114553" y="181101"/>
                </a:lnTo>
                <a:lnTo>
                  <a:pt x="114781" y="180720"/>
                </a:lnTo>
                <a:lnTo>
                  <a:pt x="54355" y="180720"/>
                </a:lnTo>
                <a:lnTo>
                  <a:pt x="48386" y="177799"/>
                </a:lnTo>
                <a:lnTo>
                  <a:pt x="39370" y="174878"/>
                </a:lnTo>
                <a:lnTo>
                  <a:pt x="33400" y="168909"/>
                </a:lnTo>
                <a:lnTo>
                  <a:pt x="30479" y="162940"/>
                </a:lnTo>
                <a:lnTo>
                  <a:pt x="27558" y="160007"/>
                </a:lnTo>
                <a:lnTo>
                  <a:pt x="27558" y="147954"/>
                </a:lnTo>
                <a:close/>
              </a:path>
              <a:path w="138429" h="202056">
                <a:moveTo>
                  <a:pt x="136073" y="108584"/>
                </a:moveTo>
                <a:lnTo>
                  <a:pt x="108203" y="108584"/>
                </a:lnTo>
                <a:lnTo>
                  <a:pt x="108203" y="126745"/>
                </a:lnTo>
                <a:lnTo>
                  <a:pt x="105282" y="138810"/>
                </a:lnTo>
                <a:lnTo>
                  <a:pt x="102361" y="147827"/>
                </a:lnTo>
                <a:lnTo>
                  <a:pt x="96393" y="159892"/>
                </a:lnTo>
                <a:lnTo>
                  <a:pt x="93472" y="168909"/>
                </a:lnTo>
                <a:lnTo>
                  <a:pt x="84454" y="174878"/>
                </a:lnTo>
                <a:lnTo>
                  <a:pt x="72516" y="180720"/>
                </a:lnTo>
                <a:lnTo>
                  <a:pt x="114781" y="180720"/>
                </a:lnTo>
                <a:lnTo>
                  <a:pt x="123571" y="165988"/>
                </a:lnTo>
                <a:lnTo>
                  <a:pt x="135508" y="123570"/>
                </a:lnTo>
                <a:lnTo>
                  <a:pt x="135533" y="111378"/>
                </a:lnTo>
                <a:lnTo>
                  <a:pt x="136073" y="108584"/>
                </a:lnTo>
                <a:close/>
              </a:path>
              <a:path w="138429" h="202056">
                <a:moveTo>
                  <a:pt x="81533" y="0"/>
                </a:moveTo>
                <a:lnTo>
                  <a:pt x="51180" y="0"/>
                </a:lnTo>
                <a:lnTo>
                  <a:pt x="39115" y="2920"/>
                </a:lnTo>
                <a:lnTo>
                  <a:pt x="27050" y="8889"/>
                </a:lnTo>
                <a:lnTo>
                  <a:pt x="9144" y="26796"/>
                </a:lnTo>
                <a:lnTo>
                  <a:pt x="3175" y="38861"/>
                </a:lnTo>
                <a:lnTo>
                  <a:pt x="253" y="50926"/>
                </a:lnTo>
                <a:lnTo>
                  <a:pt x="253" y="78358"/>
                </a:lnTo>
                <a:lnTo>
                  <a:pt x="27050" y="120395"/>
                </a:lnTo>
                <a:lnTo>
                  <a:pt x="45084" y="129285"/>
                </a:lnTo>
                <a:lnTo>
                  <a:pt x="78485" y="129285"/>
                </a:lnTo>
                <a:lnTo>
                  <a:pt x="87502" y="126364"/>
                </a:lnTo>
                <a:lnTo>
                  <a:pt x="96520" y="120395"/>
                </a:lnTo>
                <a:lnTo>
                  <a:pt x="99440" y="117474"/>
                </a:lnTo>
                <a:lnTo>
                  <a:pt x="102361" y="117474"/>
                </a:lnTo>
                <a:lnTo>
                  <a:pt x="105282" y="114553"/>
                </a:lnTo>
                <a:lnTo>
                  <a:pt x="108203" y="108584"/>
                </a:lnTo>
                <a:lnTo>
                  <a:pt x="136073" y="108584"/>
                </a:lnTo>
                <a:lnTo>
                  <a:pt x="136196" y="107949"/>
                </a:lnTo>
                <a:lnTo>
                  <a:pt x="66166" y="107949"/>
                </a:lnTo>
                <a:lnTo>
                  <a:pt x="48132" y="102107"/>
                </a:lnTo>
                <a:lnTo>
                  <a:pt x="36195" y="96265"/>
                </a:lnTo>
                <a:lnTo>
                  <a:pt x="33286" y="90296"/>
                </a:lnTo>
                <a:lnTo>
                  <a:pt x="30352" y="81279"/>
                </a:lnTo>
                <a:lnTo>
                  <a:pt x="27419" y="75310"/>
                </a:lnTo>
                <a:lnTo>
                  <a:pt x="27419" y="56768"/>
                </a:lnTo>
                <a:lnTo>
                  <a:pt x="30352" y="47751"/>
                </a:lnTo>
                <a:lnTo>
                  <a:pt x="33161" y="42036"/>
                </a:lnTo>
                <a:lnTo>
                  <a:pt x="33286" y="38861"/>
                </a:lnTo>
                <a:lnTo>
                  <a:pt x="48005" y="24129"/>
                </a:lnTo>
                <a:lnTo>
                  <a:pt x="57023" y="24129"/>
                </a:lnTo>
                <a:lnTo>
                  <a:pt x="66039" y="21208"/>
                </a:lnTo>
                <a:lnTo>
                  <a:pt x="117982" y="21208"/>
                </a:lnTo>
                <a:lnTo>
                  <a:pt x="105663" y="8889"/>
                </a:lnTo>
                <a:lnTo>
                  <a:pt x="93611" y="2920"/>
                </a:lnTo>
                <a:lnTo>
                  <a:pt x="81533" y="0"/>
                </a:lnTo>
                <a:close/>
              </a:path>
              <a:path w="138429" h="202056">
                <a:moveTo>
                  <a:pt x="117982" y="21208"/>
                </a:moveTo>
                <a:lnTo>
                  <a:pt x="66039" y="21208"/>
                </a:lnTo>
                <a:lnTo>
                  <a:pt x="75044" y="24129"/>
                </a:lnTo>
                <a:lnTo>
                  <a:pt x="84086" y="24129"/>
                </a:lnTo>
                <a:lnTo>
                  <a:pt x="101980" y="42036"/>
                </a:lnTo>
                <a:lnTo>
                  <a:pt x="104777" y="47751"/>
                </a:lnTo>
                <a:lnTo>
                  <a:pt x="104901" y="78358"/>
                </a:lnTo>
                <a:lnTo>
                  <a:pt x="101980" y="81279"/>
                </a:lnTo>
                <a:lnTo>
                  <a:pt x="99059" y="90296"/>
                </a:lnTo>
                <a:lnTo>
                  <a:pt x="99059" y="93217"/>
                </a:lnTo>
                <a:lnTo>
                  <a:pt x="96138" y="96138"/>
                </a:lnTo>
                <a:lnTo>
                  <a:pt x="90170" y="99059"/>
                </a:lnTo>
                <a:lnTo>
                  <a:pt x="81152" y="105028"/>
                </a:lnTo>
                <a:lnTo>
                  <a:pt x="75183" y="105028"/>
                </a:lnTo>
                <a:lnTo>
                  <a:pt x="66166" y="107949"/>
                </a:lnTo>
                <a:lnTo>
                  <a:pt x="136196" y="107949"/>
                </a:lnTo>
                <a:lnTo>
                  <a:pt x="138429" y="96392"/>
                </a:lnTo>
                <a:lnTo>
                  <a:pt x="135508" y="72135"/>
                </a:lnTo>
                <a:lnTo>
                  <a:pt x="132587" y="50926"/>
                </a:lnTo>
                <a:lnTo>
                  <a:pt x="123571" y="32765"/>
                </a:lnTo>
                <a:lnTo>
                  <a:pt x="123571" y="29832"/>
                </a:lnTo>
                <a:lnTo>
                  <a:pt x="120650" y="23875"/>
                </a:lnTo>
                <a:lnTo>
                  <a:pt x="117982" y="21208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bk object 82"/>
          <p:cNvSpPr/>
          <p:nvPr/>
        </p:nvSpPr>
        <p:spPr>
          <a:xfrm>
            <a:off x="8142480" y="6293520"/>
            <a:ext cx="71280" cy="200160"/>
          </a:xfrm>
          <a:custGeom>
            <a:avLst/>
            <a:gdLst>
              <a:gd name="textAreaLeft" fmla="*/ 0 w 71280"/>
              <a:gd name="textAreaRight" fmla="*/ 72000 w 7128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72135" h="201041">
                <a:moveTo>
                  <a:pt x="72135" y="0"/>
                </a:moveTo>
                <a:lnTo>
                  <a:pt x="53975" y="0"/>
                </a:lnTo>
                <a:lnTo>
                  <a:pt x="51053" y="2920"/>
                </a:lnTo>
                <a:lnTo>
                  <a:pt x="51053" y="8889"/>
                </a:lnTo>
                <a:lnTo>
                  <a:pt x="45211" y="20827"/>
                </a:lnTo>
                <a:lnTo>
                  <a:pt x="36207" y="26784"/>
                </a:lnTo>
                <a:lnTo>
                  <a:pt x="30225" y="32765"/>
                </a:lnTo>
                <a:lnTo>
                  <a:pt x="21208" y="35686"/>
                </a:lnTo>
                <a:lnTo>
                  <a:pt x="0" y="35686"/>
                </a:lnTo>
                <a:lnTo>
                  <a:pt x="0" y="56895"/>
                </a:lnTo>
                <a:lnTo>
                  <a:pt x="45593" y="56895"/>
                </a:lnTo>
                <a:lnTo>
                  <a:pt x="45593" y="200024"/>
                </a:lnTo>
                <a:lnTo>
                  <a:pt x="44703" y="201040"/>
                </a:lnTo>
                <a:lnTo>
                  <a:pt x="72135" y="201040"/>
                </a:lnTo>
                <a:lnTo>
                  <a:pt x="7213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bk object 83"/>
          <p:cNvSpPr/>
          <p:nvPr/>
        </p:nvSpPr>
        <p:spPr>
          <a:xfrm>
            <a:off x="827028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bk object 84"/>
          <p:cNvSpPr/>
          <p:nvPr/>
        </p:nvSpPr>
        <p:spPr>
          <a:xfrm>
            <a:off x="8330760" y="629352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508" h="202564">
                <a:moveTo>
                  <a:pt x="93598" y="2920"/>
                </a:moveTo>
                <a:lnTo>
                  <a:pt x="42290" y="2920"/>
                </a:lnTo>
                <a:lnTo>
                  <a:pt x="30225" y="11937"/>
                </a:lnTo>
                <a:lnTo>
                  <a:pt x="18287" y="23875"/>
                </a:lnTo>
                <a:lnTo>
                  <a:pt x="18287" y="26784"/>
                </a:lnTo>
                <a:lnTo>
                  <a:pt x="12318" y="32765"/>
                </a:lnTo>
                <a:lnTo>
                  <a:pt x="12318" y="38734"/>
                </a:lnTo>
                <a:lnTo>
                  <a:pt x="9397" y="41655"/>
                </a:lnTo>
                <a:lnTo>
                  <a:pt x="6476" y="53720"/>
                </a:lnTo>
                <a:lnTo>
                  <a:pt x="3527" y="75310"/>
                </a:lnTo>
                <a:lnTo>
                  <a:pt x="634" y="102361"/>
                </a:lnTo>
                <a:lnTo>
                  <a:pt x="0" y="102742"/>
                </a:lnTo>
                <a:lnTo>
                  <a:pt x="5841" y="148335"/>
                </a:lnTo>
                <a:lnTo>
                  <a:pt x="29844" y="193674"/>
                </a:lnTo>
                <a:lnTo>
                  <a:pt x="53975" y="202564"/>
                </a:lnTo>
                <a:lnTo>
                  <a:pt x="81406" y="202564"/>
                </a:lnTo>
                <a:lnTo>
                  <a:pt x="93471" y="199643"/>
                </a:lnTo>
                <a:lnTo>
                  <a:pt x="105536" y="193674"/>
                </a:lnTo>
                <a:lnTo>
                  <a:pt x="117601" y="181609"/>
                </a:lnTo>
                <a:lnTo>
                  <a:pt x="117727" y="181355"/>
                </a:lnTo>
                <a:lnTo>
                  <a:pt x="69722" y="181355"/>
                </a:lnTo>
                <a:lnTo>
                  <a:pt x="60718" y="178434"/>
                </a:lnTo>
                <a:lnTo>
                  <a:pt x="54736" y="178434"/>
                </a:lnTo>
                <a:lnTo>
                  <a:pt x="45719" y="172465"/>
                </a:lnTo>
                <a:lnTo>
                  <a:pt x="39750" y="166484"/>
                </a:lnTo>
                <a:lnTo>
                  <a:pt x="36829" y="154431"/>
                </a:lnTo>
                <a:lnTo>
                  <a:pt x="33908" y="148462"/>
                </a:lnTo>
                <a:lnTo>
                  <a:pt x="30987" y="139445"/>
                </a:lnTo>
                <a:lnTo>
                  <a:pt x="30987" y="124332"/>
                </a:lnTo>
                <a:lnTo>
                  <a:pt x="28066" y="103123"/>
                </a:lnTo>
                <a:lnTo>
                  <a:pt x="27939" y="102361"/>
                </a:lnTo>
                <a:lnTo>
                  <a:pt x="30860" y="78104"/>
                </a:lnTo>
                <a:lnTo>
                  <a:pt x="30860" y="62991"/>
                </a:lnTo>
                <a:lnTo>
                  <a:pt x="33781" y="57022"/>
                </a:lnTo>
                <a:lnTo>
                  <a:pt x="39623" y="38988"/>
                </a:lnTo>
                <a:lnTo>
                  <a:pt x="45592" y="29959"/>
                </a:lnTo>
                <a:lnTo>
                  <a:pt x="54609" y="27050"/>
                </a:lnTo>
                <a:lnTo>
                  <a:pt x="60578" y="24129"/>
                </a:lnTo>
                <a:lnTo>
                  <a:pt x="119282" y="24129"/>
                </a:lnTo>
                <a:lnTo>
                  <a:pt x="117728" y="20954"/>
                </a:lnTo>
                <a:lnTo>
                  <a:pt x="93598" y="2920"/>
                </a:lnTo>
                <a:close/>
              </a:path>
              <a:path w="135508" h="202564">
                <a:moveTo>
                  <a:pt x="119282" y="24129"/>
                </a:moveTo>
                <a:lnTo>
                  <a:pt x="78739" y="24129"/>
                </a:lnTo>
                <a:lnTo>
                  <a:pt x="90677" y="29959"/>
                </a:lnTo>
                <a:lnTo>
                  <a:pt x="102615" y="48005"/>
                </a:lnTo>
                <a:lnTo>
                  <a:pt x="108534" y="62991"/>
                </a:lnTo>
                <a:lnTo>
                  <a:pt x="108534" y="139445"/>
                </a:lnTo>
                <a:lnTo>
                  <a:pt x="102615" y="154431"/>
                </a:lnTo>
                <a:lnTo>
                  <a:pt x="96646" y="166484"/>
                </a:lnTo>
                <a:lnTo>
                  <a:pt x="84708" y="178434"/>
                </a:lnTo>
                <a:lnTo>
                  <a:pt x="78739" y="178434"/>
                </a:lnTo>
                <a:lnTo>
                  <a:pt x="69722" y="181355"/>
                </a:lnTo>
                <a:lnTo>
                  <a:pt x="117727" y="181355"/>
                </a:lnTo>
                <a:lnTo>
                  <a:pt x="123570" y="169544"/>
                </a:lnTo>
                <a:lnTo>
                  <a:pt x="132587" y="148335"/>
                </a:lnTo>
                <a:lnTo>
                  <a:pt x="135508" y="130174"/>
                </a:lnTo>
                <a:lnTo>
                  <a:pt x="135456" y="74929"/>
                </a:lnTo>
                <a:lnTo>
                  <a:pt x="132587" y="54101"/>
                </a:lnTo>
                <a:lnTo>
                  <a:pt x="123508" y="32765"/>
                </a:lnTo>
                <a:lnTo>
                  <a:pt x="119282" y="24129"/>
                </a:lnTo>
                <a:close/>
              </a:path>
              <a:path w="135508" h="202564">
                <a:moveTo>
                  <a:pt x="81660" y="0"/>
                </a:moveTo>
                <a:lnTo>
                  <a:pt x="54228" y="0"/>
                </a:lnTo>
                <a:lnTo>
                  <a:pt x="48259" y="2920"/>
                </a:lnTo>
                <a:lnTo>
                  <a:pt x="87629" y="2920"/>
                </a:lnTo>
                <a:lnTo>
                  <a:pt x="8166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bk object 85"/>
          <p:cNvSpPr/>
          <p:nvPr/>
        </p:nvSpPr>
        <p:spPr>
          <a:xfrm>
            <a:off x="2387520" y="5539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" name="bk object 86"/>
          <p:cNvSpPr/>
          <p:nvPr/>
        </p:nvSpPr>
        <p:spPr>
          <a:xfrm>
            <a:off x="2448360" y="55335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" name="bk object 87"/>
          <p:cNvSpPr/>
          <p:nvPr/>
        </p:nvSpPr>
        <p:spPr>
          <a:xfrm>
            <a:off x="2506320" y="5527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bk object 88"/>
          <p:cNvSpPr/>
          <p:nvPr/>
        </p:nvSpPr>
        <p:spPr>
          <a:xfrm>
            <a:off x="2567520" y="5524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bk object 89"/>
          <p:cNvSpPr/>
          <p:nvPr/>
        </p:nvSpPr>
        <p:spPr>
          <a:xfrm>
            <a:off x="2625120" y="5518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" name="bk object 90"/>
          <p:cNvSpPr/>
          <p:nvPr/>
        </p:nvSpPr>
        <p:spPr>
          <a:xfrm>
            <a:off x="2683440" y="5511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bk object 91"/>
          <p:cNvSpPr/>
          <p:nvPr/>
        </p:nvSpPr>
        <p:spPr>
          <a:xfrm>
            <a:off x="2744280" y="55058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" name="bk object 92"/>
          <p:cNvSpPr/>
          <p:nvPr/>
        </p:nvSpPr>
        <p:spPr>
          <a:xfrm>
            <a:off x="2802240" y="5502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bk object 93"/>
          <p:cNvSpPr/>
          <p:nvPr/>
        </p:nvSpPr>
        <p:spPr>
          <a:xfrm>
            <a:off x="2863080" y="54968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bk object 94"/>
          <p:cNvSpPr/>
          <p:nvPr/>
        </p:nvSpPr>
        <p:spPr>
          <a:xfrm>
            <a:off x="2921040" y="5490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bk object 95"/>
          <p:cNvSpPr/>
          <p:nvPr/>
        </p:nvSpPr>
        <p:spPr>
          <a:xfrm>
            <a:off x="2981880" y="5484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bk object 96"/>
          <p:cNvSpPr/>
          <p:nvPr/>
        </p:nvSpPr>
        <p:spPr>
          <a:xfrm>
            <a:off x="3039840" y="54784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" name="bk object 97"/>
          <p:cNvSpPr/>
          <p:nvPr/>
        </p:nvSpPr>
        <p:spPr>
          <a:xfrm>
            <a:off x="3097800" y="5472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" name="bk object 98"/>
          <p:cNvSpPr/>
          <p:nvPr/>
        </p:nvSpPr>
        <p:spPr>
          <a:xfrm>
            <a:off x="3158640" y="5466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bk object 99"/>
          <p:cNvSpPr/>
          <p:nvPr/>
        </p:nvSpPr>
        <p:spPr>
          <a:xfrm>
            <a:off x="3216600" y="5460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" name="bk object 100"/>
          <p:cNvSpPr/>
          <p:nvPr/>
        </p:nvSpPr>
        <p:spPr>
          <a:xfrm>
            <a:off x="3277440" y="54540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bk object 101"/>
          <p:cNvSpPr/>
          <p:nvPr/>
        </p:nvSpPr>
        <p:spPr>
          <a:xfrm>
            <a:off x="3335400" y="5448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" name="bk object 102"/>
          <p:cNvSpPr/>
          <p:nvPr/>
        </p:nvSpPr>
        <p:spPr>
          <a:xfrm>
            <a:off x="3393360" y="5441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bk object 103"/>
          <p:cNvSpPr/>
          <p:nvPr/>
        </p:nvSpPr>
        <p:spPr>
          <a:xfrm>
            <a:off x="3454560" y="5432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bk object 104"/>
          <p:cNvSpPr/>
          <p:nvPr/>
        </p:nvSpPr>
        <p:spPr>
          <a:xfrm>
            <a:off x="3512520" y="54266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bk object 105"/>
          <p:cNvSpPr/>
          <p:nvPr/>
        </p:nvSpPr>
        <p:spPr>
          <a:xfrm>
            <a:off x="3573360" y="5420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bk object 106"/>
          <p:cNvSpPr/>
          <p:nvPr/>
        </p:nvSpPr>
        <p:spPr>
          <a:xfrm>
            <a:off x="3630960" y="5411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" name="bk object 107"/>
          <p:cNvSpPr/>
          <p:nvPr/>
        </p:nvSpPr>
        <p:spPr>
          <a:xfrm>
            <a:off x="3692160" y="54054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" name="bk object 108"/>
          <p:cNvSpPr/>
          <p:nvPr/>
        </p:nvSpPr>
        <p:spPr>
          <a:xfrm>
            <a:off x="3750120" y="5396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bk object 109"/>
          <p:cNvSpPr/>
          <p:nvPr/>
        </p:nvSpPr>
        <p:spPr>
          <a:xfrm>
            <a:off x="3808080" y="5390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" name="bk object 110"/>
          <p:cNvSpPr/>
          <p:nvPr/>
        </p:nvSpPr>
        <p:spPr>
          <a:xfrm>
            <a:off x="3868920" y="53809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" name="bk object 111"/>
          <p:cNvSpPr/>
          <p:nvPr/>
        </p:nvSpPr>
        <p:spPr>
          <a:xfrm>
            <a:off x="3926880" y="53748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" name="bk object 112"/>
          <p:cNvSpPr/>
          <p:nvPr/>
        </p:nvSpPr>
        <p:spPr>
          <a:xfrm>
            <a:off x="3987720" y="53658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bk object 113"/>
          <p:cNvSpPr/>
          <p:nvPr/>
        </p:nvSpPr>
        <p:spPr>
          <a:xfrm>
            <a:off x="4045680" y="5356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" name="bk object 114"/>
          <p:cNvSpPr/>
          <p:nvPr/>
        </p:nvSpPr>
        <p:spPr>
          <a:xfrm>
            <a:off x="4103640" y="5347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" name="bk object 115"/>
          <p:cNvSpPr/>
          <p:nvPr/>
        </p:nvSpPr>
        <p:spPr>
          <a:xfrm>
            <a:off x="4164480" y="5338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" name="bk object 116"/>
          <p:cNvSpPr/>
          <p:nvPr/>
        </p:nvSpPr>
        <p:spPr>
          <a:xfrm>
            <a:off x="4222440" y="5329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bk object 117"/>
          <p:cNvSpPr/>
          <p:nvPr/>
        </p:nvSpPr>
        <p:spPr>
          <a:xfrm>
            <a:off x="4283640" y="5320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" name="bk object 118"/>
          <p:cNvSpPr/>
          <p:nvPr/>
        </p:nvSpPr>
        <p:spPr>
          <a:xfrm>
            <a:off x="4341600" y="5311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" name="bk object 119"/>
          <p:cNvSpPr/>
          <p:nvPr/>
        </p:nvSpPr>
        <p:spPr>
          <a:xfrm>
            <a:off x="4402080" y="5301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bk object 120"/>
          <p:cNvSpPr/>
          <p:nvPr/>
        </p:nvSpPr>
        <p:spPr>
          <a:xfrm>
            <a:off x="4460040" y="52894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bk object 121"/>
          <p:cNvSpPr/>
          <p:nvPr/>
        </p:nvSpPr>
        <p:spPr>
          <a:xfrm>
            <a:off x="4518000" y="52804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" name="bk object 122"/>
          <p:cNvSpPr/>
          <p:nvPr/>
        </p:nvSpPr>
        <p:spPr>
          <a:xfrm>
            <a:off x="4579200" y="5268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" name="bk object 123"/>
          <p:cNvSpPr/>
          <p:nvPr/>
        </p:nvSpPr>
        <p:spPr>
          <a:xfrm>
            <a:off x="4637160" y="5259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3" name="bk object 124"/>
          <p:cNvSpPr/>
          <p:nvPr/>
        </p:nvSpPr>
        <p:spPr>
          <a:xfrm>
            <a:off x="4698000" y="52470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bk object 125"/>
          <p:cNvSpPr/>
          <p:nvPr/>
        </p:nvSpPr>
        <p:spPr>
          <a:xfrm>
            <a:off x="4755960" y="5234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" name="bk object 126"/>
          <p:cNvSpPr/>
          <p:nvPr/>
        </p:nvSpPr>
        <p:spPr>
          <a:xfrm>
            <a:off x="4816800" y="5222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6" name="bk object 127"/>
          <p:cNvSpPr/>
          <p:nvPr/>
        </p:nvSpPr>
        <p:spPr>
          <a:xfrm>
            <a:off x="4874760" y="5210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bk object 128"/>
          <p:cNvSpPr/>
          <p:nvPr/>
        </p:nvSpPr>
        <p:spPr>
          <a:xfrm>
            <a:off x="4932720" y="5198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" name="bk object 129"/>
          <p:cNvSpPr/>
          <p:nvPr/>
        </p:nvSpPr>
        <p:spPr>
          <a:xfrm>
            <a:off x="4993560" y="51858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" name="bk object 130"/>
          <p:cNvSpPr/>
          <p:nvPr/>
        </p:nvSpPr>
        <p:spPr>
          <a:xfrm>
            <a:off x="5051520" y="5170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bk object 131"/>
          <p:cNvSpPr/>
          <p:nvPr/>
        </p:nvSpPr>
        <p:spPr>
          <a:xfrm>
            <a:off x="5112720" y="5158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" name="bk object 132"/>
          <p:cNvSpPr/>
          <p:nvPr/>
        </p:nvSpPr>
        <p:spPr>
          <a:xfrm>
            <a:off x="5170320" y="51433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" name="bk object 133"/>
          <p:cNvSpPr/>
          <p:nvPr/>
        </p:nvSpPr>
        <p:spPr>
          <a:xfrm>
            <a:off x="5228280" y="51278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bk object 134"/>
          <p:cNvSpPr/>
          <p:nvPr/>
        </p:nvSpPr>
        <p:spPr>
          <a:xfrm>
            <a:off x="5289120" y="5112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bk object 135"/>
          <p:cNvSpPr/>
          <p:nvPr/>
        </p:nvSpPr>
        <p:spPr>
          <a:xfrm>
            <a:off x="5347080" y="5097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bk object 136"/>
          <p:cNvSpPr/>
          <p:nvPr/>
        </p:nvSpPr>
        <p:spPr>
          <a:xfrm>
            <a:off x="5407920" y="5079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bk object 137"/>
          <p:cNvSpPr/>
          <p:nvPr/>
        </p:nvSpPr>
        <p:spPr>
          <a:xfrm>
            <a:off x="5465880" y="5064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" name="bk object 138"/>
          <p:cNvSpPr/>
          <p:nvPr/>
        </p:nvSpPr>
        <p:spPr>
          <a:xfrm>
            <a:off x="5527080" y="5045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" name="bk object 139"/>
          <p:cNvSpPr/>
          <p:nvPr/>
        </p:nvSpPr>
        <p:spPr>
          <a:xfrm>
            <a:off x="5585040" y="50274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" name="bk object 140"/>
          <p:cNvSpPr/>
          <p:nvPr/>
        </p:nvSpPr>
        <p:spPr>
          <a:xfrm>
            <a:off x="5642640" y="5009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bk object 141"/>
          <p:cNvSpPr/>
          <p:nvPr/>
        </p:nvSpPr>
        <p:spPr>
          <a:xfrm>
            <a:off x="5703840" y="4991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bk object 142"/>
          <p:cNvSpPr/>
          <p:nvPr/>
        </p:nvSpPr>
        <p:spPr>
          <a:xfrm>
            <a:off x="5761800" y="4969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bk object 143"/>
          <p:cNvSpPr/>
          <p:nvPr/>
        </p:nvSpPr>
        <p:spPr>
          <a:xfrm>
            <a:off x="5822640" y="4948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" name="bk object 144"/>
          <p:cNvSpPr/>
          <p:nvPr/>
        </p:nvSpPr>
        <p:spPr>
          <a:xfrm>
            <a:off x="5880600" y="4926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bk object 145"/>
          <p:cNvSpPr/>
          <p:nvPr/>
        </p:nvSpPr>
        <p:spPr>
          <a:xfrm>
            <a:off x="5938560" y="4905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" name="bk object 146"/>
          <p:cNvSpPr/>
          <p:nvPr/>
        </p:nvSpPr>
        <p:spPr>
          <a:xfrm>
            <a:off x="5999400" y="48808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bk object 147"/>
          <p:cNvSpPr/>
          <p:nvPr/>
        </p:nvSpPr>
        <p:spPr>
          <a:xfrm>
            <a:off x="6057360" y="4856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bk object 148"/>
          <p:cNvSpPr/>
          <p:nvPr/>
        </p:nvSpPr>
        <p:spPr>
          <a:xfrm>
            <a:off x="6118200" y="4832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33">
                <a:moveTo>
                  <a:pt x="0" y="0"/>
                </a:moveTo>
                <a:lnTo>
                  <a:pt x="2933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bk object 149"/>
          <p:cNvSpPr/>
          <p:nvPr/>
        </p:nvSpPr>
        <p:spPr>
          <a:xfrm>
            <a:off x="6176160" y="48049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" name="bk object 150"/>
          <p:cNvSpPr/>
          <p:nvPr/>
        </p:nvSpPr>
        <p:spPr>
          <a:xfrm>
            <a:off x="6237360" y="47775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bk object 151"/>
          <p:cNvSpPr/>
          <p:nvPr/>
        </p:nvSpPr>
        <p:spPr>
          <a:xfrm>
            <a:off x="6295320" y="4750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" name="bk object 152"/>
          <p:cNvSpPr/>
          <p:nvPr/>
        </p:nvSpPr>
        <p:spPr>
          <a:xfrm>
            <a:off x="6353280" y="4719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bk object 153"/>
          <p:cNvSpPr/>
          <p:nvPr/>
        </p:nvSpPr>
        <p:spPr>
          <a:xfrm>
            <a:off x="6413760" y="4686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bk object 154"/>
          <p:cNvSpPr/>
          <p:nvPr/>
        </p:nvSpPr>
        <p:spPr>
          <a:xfrm>
            <a:off x="6471720" y="4655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bk object 155"/>
          <p:cNvSpPr/>
          <p:nvPr/>
        </p:nvSpPr>
        <p:spPr>
          <a:xfrm>
            <a:off x="6532920" y="46191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" name="bk object 156"/>
          <p:cNvSpPr/>
          <p:nvPr/>
        </p:nvSpPr>
        <p:spPr>
          <a:xfrm>
            <a:off x="6590880" y="4582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" name="bk object 157"/>
          <p:cNvSpPr/>
          <p:nvPr/>
        </p:nvSpPr>
        <p:spPr>
          <a:xfrm>
            <a:off x="6651720" y="4545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33">
                <a:moveTo>
                  <a:pt x="0" y="0"/>
                </a:moveTo>
                <a:lnTo>
                  <a:pt x="2933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" name="bk object 158"/>
          <p:cNvSpPr/>
          <p:nvPr/>
        </p:nvSpPr>
        <p:spPr>
          <a:xfrm>
            <a:off x="6709680" y="4506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bk object 159"/>
          <p:cNvSpPr/>
          <p:nvPr/>
        </p:nvSpPr>
        <p:spPr>
          <a:xfrm>
            <a:off x="6767640" y="44636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bk object 160"/>
          <p:cNvSpPr/>
          <p:nvPr/>
        </p:nvSpPr>
        <p:spPr>
          <a:xfrm>
            <a:off x="6828480" y="44179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bk object 161"/>
          <p:cNvSpPr/>
          <p:nvPr/>
        </p:nvSpPr>
        <p:spPr>
          <a:xfrm>
            <a:off x="6886440" y="4372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bk object 162"/>
          <p:cNvSpPr/>
          <p:nvPr/>
        </p:nvSpPr>
        <p:spPr>
          <a:xfrm>
            <a:off x="6947280" y="4320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" name="bk object 163"/>
          <p:cNvSpPr/>
          <p:nvPr/>
        </p:nvSpPr>
        <p:spPr>
          <a:xfrm>
            <a:off x="7005240" y="4268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" name="bk object 164"/>
          <p:cNvSpPr/>
          <p:nvPr/>
        </p:nvSpPr>
        <p:spPr>
          <a:xfrm>
            <a:off x="7063200" y="42105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bk object 165"/>
          <p:cNvSpPr/>
          <p:nvPr/>
        </p:nvSpPr>
        <p:spPr>
          <a:xfrm>
            <a:off x="7124040" y="4152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" name="bk object 166"/>
          <p:cNvSpPr/>
          <p:nvPr/>
        </p:nvSpPr>
        <p:spPr>
          <a:xfrm>
            <a:off x="7182000" y="4088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2">
                <a:moveTo>
                  <a:pt x="0" y="0"/>
                </a:moveTo>
                <a:lnTo>
                  <a:pt x="2922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bk object 167"/>
          <p:cNvSpPr/>
          <p:nvPr/>
        </p:nvSpPr>
        <p:spPr>
          <a:xfrm>
            <a:off x="7242840" y="4018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" name="bk object 168"/>
          <p:cNvSpPr/>
          <p:nvPr/>
        </p:nvSpPr>
        <p:spPr>
          <a:xfrm>
            <a:off x="7300800" y="3945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bk object 169"/>
          <p:cNvSpPr/>
          <p:nvPr/>
        </p:nvSpPr>
        <p:spPr>
          <a:xfrm>
            <a:off x="7362000" y="3866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bk object 170"/>
          <p:cNvSpPr/>
          <p:nvPr/>
        </p:nvSpPr>
        <p:spPr>
          <a:xfrm>
            <a:off x="7419960" y="3783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" name="bk object 171"/>
          <p:cNvSpPr/>
          <p:nvPr/>
        </p:nvSpPr>
        <p:spPr>
          <a:xfrm>
            <a:off x="7477560" y="3692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" name="bk object 172"/>
          <p:cNvSpPr/>
          <p:nvPr/>
        </p:nvSpPr>
        <p:spPr>
          <a:xfrm>
            <a:off x="7538760" y="3591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bk object 173"/>
          <p:cNvSpPr/>
          <p:nvPr/>
        </p:nvSpPr>
        <p:spPr>
          <a:xfrm>
            <a:off x="7596720" y="34851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" name="bk object 174"/>
          <p:cNvSpPr/>
          <p:nvPr/>
        </p:nvSpPr>
        <p:spPr>
          <a:xfrm>
            <a:off x="7657560" y="3366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bk object 175"/>
          <p:cNvSpPr/>
          <p:nvPr/>
        </p:nvSpPr>
        <p:spPr>
          <a:xfrm>
            <a:off x="7715520" y="3238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2">
                <a:moveTo>
                  <a:pt x="0" y="0"/>
                </a:moveTo>
                <a:lnTo>
                  <a:pt x="2922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bk object 176"/>
          <p:cNvSpPr/>
          <p:nvPr/>
        </p:nvSpPr>
        <p:spPr>
          <a:xfrm>
            <a:off x="7773480" y="30981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2">
                <a:moveTo>
                  <a:pt x="0" y="0"/>
                </a:moveTo>
                <a:lnTo>
                  <a:pt x="2922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" name="bk object 177"/>
          <p:cNvSpPr/>
          <p:nvPr/>
        </p:nvSpPr>
        <p:spPr>
          <a:xfrm>
            <a:off x="7834320" y="29426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" name="bk object 178"/>
          <p:cNvSpPr/>
          <p:nvPr/>
        </p:nvSpPr>
        <p:spPr>
          <a:xfrm>
            <a:off x="7892280" y="2768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bk object 179"/>
          <p:cNvSpPr/>
          <p:nvPr/>
        </p:nvSpPr>
        <p:spPr>
          <a:xfrm>
            <a:off x="7953480" y="25768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" name="bk object 180"/>
          <p:cNvSpPr/>
          <p:nvPr/>
        </p:nvSpPr>
        <p:spPr>
          <a:xfrm>
            <a:off x="8011080" y="2357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08">
                <a:moveTo>
                  <a:pt x="0" y="0"/>
                </a:moveTo>
                <a:lnTo>
                  <a:pt x="2908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" name="bk object 181"/>
          <p:cNvSpPr/>
          <p:nvPr/>
        </p:nvSpPr>
        <p:spPr>
          <a:xfrm>
            <a:off x="8071920" y="2110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1" name="bk object 182"/>
          <p:cNvSpPr/>
          <p:nvPr/>
        </p:nvSpPr>
        <p:spPr>
          <a:xfrm>
            <a:off x="8129880" y="1830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2" name="bk object 183"/>
          <p:cNvSpPr/>
          <p:nvPr/>
        </p:nvSpPr>
        <p:spPr>
          <a:xfrm>
            <a:off x="8187840" y="1506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3" name="bk object 184"/>
          <p:cNvSpPr/>
          <p:nvPr/>
        </p:nvSpPr>
        <p:spPr>
          <a:xfrm>
            <a:off x="8248680" y="1128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4" name="bk object 185"/>
          <p:cNvSpPr/>
          <p:nvPr/>
        </p:nvSpPr>
        <p:spPr>
          <a:xfrm>
            <a:off x="8306640" y="6840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5" name="bk object 186"/>
          <p:cNvSpPr/>
          <p:nvPr/>
        </p:nvSpPr>
        <p:spPr>
          <a:xfrm>
            <a:off x="2387520" y="695160"/>
            <a:ext cx="5905800" cy="4843440"/>
          </a:xfrm>
          <a:custGeom>
            <a:avLst/>
            <a:gdLst>
              <a:gd name="textAreaLeft" fmla="*/ 0 w 5905800"/>
              <a:gd name="textAreaRight" fmla="*/ 5906520 w 5905800"/>
              <a:gd name="textAreaTop" fmla="*/ 0 h 4843440"/>
              <a:gd name="textAreaBottom" fmla="*/ 4844160 h 4843440"/>
            </a:gdLst>
            <a:ahLst/>
            <a:cxnLst/>
            <a:rect l="textAreaLeft" t="textAreaTop" r="textAreaRight" b="textAreaBottom"/>
            <a:pathLst>
              <a:path w="5906515" h="4844288">
                <a:moveTo>
                  <a:pt x="0" y="4844288"/>
                </a:moveTo>
                <a:lnTo>
                  <a:pt x="60832" y="4838319"/>
                </a:lnTo>
                <a:lnTo>
                  <a:pt x="118617" y="4832350"/>
                </a:lnTo>
                <a:lnTo>
                  <a:pt x="179450" y="4829429"/>
                </a:lnTo>
                <a:lnTo>
                  <a:pt x="237235" y="4823459"/>
                </a:lnTo>
                <a:lnTo>
                  <a:pt x="295020" y="4817491"/>
                </a:lnTo>
                <a:lnTo>
                  <a:pt x="355853" y="4811521"/>
                </a:lnTo>
                <a:lnTo>
                  <a:pt x="413638" y="4808601"/>
                </a:lnTo>
                <a:lnTo>
                  <a:pt x="474471" y="4802632"/>
                </a:lnTo>
                <a:lnTo>
                  <a:pt x="532256" y="4796663"/>
                </a:lnTo>
                <a:lnTo>
                  <a:pt x="593089" y="4790694"/>
                </a:lnTo>
                <a:lnTo>
                  <a:pt x="650874" y="4784725"/>
                </a:lnTo>
                <a:lnTo>
                  <a:pt x="708659" y="4778756"/>
                </a:lnTo>
                <a:lnTo>
                  <a:pt x="769492" y="4772786"/>
                </a:lnTo>
                <a:lnTo>
                  <a:pt x="827277" y="4766818"/>
                </a:lnTo>
                <a:lnTo>
                  <a:pt x="888110" y="4760849"/>
                </a:lnTo>
                <a:lnTo>
                  <a:pt x="1003680" y="4748910"/>
                </a:lnTo>
                <a:lnTo>
                  <a:pt x="1064513" y="4739894"/>
                </a:lnTo>
                <a:lnTo>
                  <a:pt x="1122298" y="4733925"/>
                </a:lnTo>
                <a:lnTo>
                  <a:pt x="1183131" y="4727956"/>
                </a:lnTo>
                <a:lnTo>
                  <a:pt x="1240916" y="4718938"/>
                </a:lnTo>
                <a:lnTo>
                  <a:pt x="1301749" y="4712970"/>
                </a:lnTo>
                <a:lnTo>
                  <a:pt x="1359534" y="4703953"/>
                </a:lnTo>
                <a:lnTo>
                  <a:pt x="1417319" y="4697983"/>
                </a:lnTo>
                <a:lnTo>
                  <a:pt x="1478152" y="4688967"/>
                </a:lnTo>
                <a:lnTo>
                  <a:pt x="1535937" y="4682998"/>
                </a:lnTo>
                <a:lnTo>
                  <a:pt x="1596770" y="4673981"/>
                </a:lnTo>
                <a:lnTo>
                  <a:pt x="1654555" y="4664963"/>
                </a:lnTo>
                <a:lnTo>
                  <a:pt x="1712340" y="4655947"/>
                </a:lnTo>
                <a:lnTo>
                  <a:pt x="1773173" y="4646930"/>
                </a:lnTo>
                <a:lnTo>
                  <a:pt x="1830958" y="4637912"/>
                </a:lnTo>
                <a:lnTo>
                  <a:pt x="1891791" y="4628896"/>
                </a:lnTo>
                <a:lnTo>
                  <a:pt x="1949576" y="4619879"/>
                </a:lnTo>
                <a:lnTo>
                  <a:pt x="2010409" y="4610861"/>
                </a:lnTo>
                <a:lnTo>
                  <a:pt x="2068194" y="4598797"/>
                </a:lnTo>
                <a:lnTo>
                  <a:pt x="2125979" y="4589780"/>
                </a:lnTo>
                <a:lnTo>
                  <a:pt x="2186812" y="4577715"/>
                </a:lnTo>
                <a:lnTo>
                  <a:pt x="2244597" y="4568698"/>
                </a:lnTo>
                <a:lnTo>
                  <a:pt x="2305430" y="4556633"/>
                </a:lnTo>
                <a:lnTo>
                  <a:pt x="2363215" y="4544568"/>
                </a:lnTo>
                <a:lnTo>
                  <a:pt x="2424048" y="4532503"/>
                </a:lnTo>
                <a:lnTo>
                  <a:pt x="2481833" y="4520437"/>
                </a:lnTo>
                <a:lnTo>
                  <a:pt x="2539618" y="4508373"/>
                </a:lnTo>
                <a:lnTo>
                  <a:pt x="2600451" y="4496308"/>
                </a:lnTo>
                <a:lnTo>
                  <a:pt x="2658236" y="4481195"/>
                </a:lnTo>
                <a:lnTo>
                  <a:pt x="2719069" y="4469130"/>
                </a:lnTo>
                <a:lnTo>
                  <a:pt x="2776854" y="4454017"/>
                </a:lnTo>
                <a:lnTo>
                  <a:pt x="2834639" y="4438904"/>
                </a:lnTo>
                <a:lnTo>
                  <a:pt x="2895472" y="4423791"/>
                </a:lnTo>
                <a:lnTo>
                  <a:pt x="2953257" y="4408678"/>
                </a:lnTo>
                <a:lnTo>
                  <a:pt x="3014090" y="4390517"/>
                </a:lnTo>
                <a:lnTo>
                  <a:pt x="3071875" y="4375404"/>
                </a:lnTo>
                <a:lnTo>
                  <a:pt x="3132708" y="4357243"/>
                </a:lnTo>
                <a:lnTo>
                  <a:pt x="3190493" y="4339082"/>
                </a:lnTo>
                <a:lnTo>
                  <a:pt x="3248278" y="4320921"/>
                </a:lnTo>
                <a:lnTo>
                  <a:pt x="3309111" y="4302759"/>
                </a:lnTo>
                <a:lnTo>
                  <a:pt x="3366896" y="4281551"/>
                </a:lnTo>
                <a:lnTo>
                  <a:pt x="3427729" y="4260342"/>
                </a:lnTo>
                <a:lnTo>
                  <a:pt x="3543299" y="4217924"/>
                </a:lnTo>
                <a:lnTo>
                  <a:pt x="3604132" y="4193666"/>
                </a:lnTo>
                <a:lnTo>
                  <a:pt x="3661917" y="4169409"/>
                </a:lnTo>
                <a:lnTo>
                  <a:pt x="3722750" y="4145153"/>
                </a:lnTo>
                <a:lnTo>
                  <a:pt x="3780535" y="4117721"/>
                </a:lnTo>
                <a:lnTo>
                  <a:pt x="3841368" y="4090288"/>
                </a:lnTo>
                <a:lnTo>
                  <a:pt x="3899153" y="4062856"/>
                </a:lnTo>
                <a:lnTo>
                  <a:pt x="3956938" y="4032504"/>
                </a:lnTo>
                <a:lnTo>
                  <a:pt x="4017771" y="3999103"/>
                </a:lnTo>
                <a:lnTo>
                  <a:pt x="4075556" y="3968750"/>
                </a:lnTo>
                <a:lnTo>
                  <a:pt x="4136389" y="3932301"/>
                </a:lnTo>
                <a:lnTo>
                  <a:pt x="4194174" y="3895852"/>
                </a:lnTo>
                <a:lnTo>
                  <a:pt x="4255007" y="3859403"/>
                </a:lnTo>
                <a:lnTo>
                  <a:pt x="4312792" y="3819779"/>
                </a:lnTo>
                <a:lnTo>
                  <a:pt x="4370577" y="3777221"/>
                </a:lnTo>
                <a:lnTo>
                  <a:pt x="4431410" y="3731641"/>
                </a:lnTo>
                <a:lnTo>
                  <a:pt x="4489195" y="3686048"/>
                </a:lnTo>
                <a:lnTo>
                  <a:pt x="4550028" y="3634231"/>
                </a:lnTo>
                <a:lnTo>
                  <a:pt x="4607812" y="3582416"/>
                </a:lnTo>
                <a:lnTo>
                  <a:pt x="4665598" y="3524630"/>
                </a:lnTo>
                <a:lnTo>
                  <a:pt x="4726431" y="3466846"/>
                </a:lnTo>
                <a:lnTo>
                  <a:pt x="4784216" y="3402837"/>
                </a:lnTo>
                <a:lnTo>
                  <a:pt x="4845049" y="3332860"/>
                </a:lnTo>
                <a:lnTo>
                  <a:pt x="4902834" y="3259835"/>
                </a:lnTo>
                <a:lnTo>
                  <a:pt x="4963667" y="3180587"/>
                </a:lnTo>
                <a:lnTo>
                  <a:pt x="5021452" y="3098418"/>
                </a:lnTo>
                <a:lnTo>
                  <a:pt x="5079237" y="3007105"/>
                </a:lnTo>
                <a:lnTo>
                  <a:pt x="5140070" y="2906649"/>
                </a:lnTo>
                <a:lnTo>
                  <a:pt x="5197855" y="2799968"/>
                </a:lnTo>
                <a:lnTo>
                  <a:pt x="5258687" y="2681224"/>
                </a:lnTo>
                <a:lnTo>
                  <a:pt x="5316473" y="2553207"/>
                </a:lnTo>
                <a:lnTo>
                  <a:pt x="5374258" y="2413127"/>
                </a:lnTo>
                <a:lnTo>
                  <a:pt x="5435091" y="2257679"/>
                </a:lnTo>
                <a:lnTo>
                  <a:pt x="5492875" y="2084069"/>
                </a:lnTo>
                <a:lnTo>
                  <a:pt x="5553709" y="1892172"/>
                </a:lnTo>
                <a:lnTo>
                  <a:pt x="5611494" y="1672716"/>
                </a:lnTo>
                <a:lnTo>
                  <a:pt x="5672327" y="1425955"/>
                </a:lnTo>
                <a:lnTo>
                  <a:pt x="5730112" y="1145666"/>
                </a:lnTo>
                <a:lnTo>
                  <a:pt x="5787897" y="822705"/>
                </a:lnTo>
                <a:lnTo>
                  <a:pt x="5848730" y="444880"/>
                </a:lnTo>
                <a:lnTo>
                  <a:pt x="5906515" y="0"/>
                </a:lnTo>
              </a:path>
            </a:pathLst>
          </a:custGeom>
          <a:noFill/>
          <a:ln w="635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6" name="bk object 187"/>
          <p:cNvSpPr/>
          <p:nvPr/>
        </p:nvSpPr>
        <p:spPr>
          <a:xfrm>
            <a:off x="3711600" y="1895040"/>
            <a:ext cx="2564640" cy="659520"/>
          </a:xfrm>
          <a:custGeom>
            <a:avLst/>
            <a:gdLst>
              <a:gd name="textAreaLeft" fmla="*/ 0 w 2564640"/>
              <a:gd name="textAreaRight" fmla="*/ 2565360 w 2564640"/>
              <a:gd name="textAreaTop" fmla="*/ 0 h 659520"/>
              <a:gd name="textAreaBottom" fmla="*/ 660240 h 659520"/>
            </a:gdLst>
            <a:ahLst/>
            <a:cxnLst/>
            <a:rect l="textAreaLeft" t="textAreaTop" r="textAreaRight" b="textAreaBottom"/>
            <a:pathLst>
              <a:path w="2565400" h="660400">
                <a:moveTo>
                  <a:pt x="0" y="660400"/>
                </a:moveTo>
                <a:lnTo>
                  <a:pt x="2565400" y="660400"/>
                </a:lnTo>
                <a:lnTo>
                  <a:pt x="2565400" y="0"/>
                </a:lnTo>
                <a:lnTo>
                  <a:pt x="0" y="0"/>
                </a:lnTo>
                <a:lnTo>
                  <a:pt x="0" y="66040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3568320" y="1161000"/>
            <a:ext cx="2920680" cy="48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ftr" idx="10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89" name="PlaceHolder 3"/>
          <p:cNvSpPr>
            <a:spLocks noGrp="1"/>
          </p:cNvSpPr>
          <p:nvPr>
            <p:ph type="dt" idx="11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PlaceHolder 4"/>
          <p:cNvSpPr>
            <a:spLocks noGrp="1"/>
          </p:cNvSpPr>
          <p:nvPr>
            <p:ph type="sldNum" idx="12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061F9705-5889-4F40-9C66-F2C11886F55A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ftr" idx="13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92" name="PlaceHolder 2"/>
          <p:cNvSpPr>
            <a:spLocks noGrp="1"/>
          </p:cNvSpPr>
          <p:nvPr>
            <p:ph type="dt" idx="14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15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0EBD7EAC-8FD1-4434-9C95-79BE485A3A12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PlaceHolder 4"/>
          <p:cNvSpPr>
            <a:spLocks noGrp="1"/>
          </p:cNvSpPr>
          <p:nvPr>
            <p:ph type="title"/>
          </p:nvPr>
        </p:nvSpPr>
        <p:spPr>
          <a:xfrm>
            <a:off x="502920" y="309960"/>
            <a:ext cx="9051840" cy="1297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5"/>
          <p:cNvSpPr>
            <a:spLocks noGrp="1"/>
          </p:cNvSpPr>
          <p:nvPr>
            <p:ph type="body"/>
          </p:nvPr>
        </p:nvSpPr>
        <p:spPr>
          <a:xfrm>
            <a:off x="502920" y="1818720"/>
            <a:ext cx="9051840" cy="450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197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99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502920" y="311400"/>
            <a:ext cx="905184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502920" y="1739880"/>
            <a:ext cx="44434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body"/>
          </p:nvPr>
        </p:nvSpPr>
        <p:spPr>
          <a:xfrm>
            <a:off x="502920" y="2464920"/>
            <a:ext cx="44434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 type="body"/>
          </p:nvPr>
        </p:nvSpPr>
        <p:spPr>
          <a:xfrm>
            <a:off x="5109480" y="1739880"/>
            <a:ext cx="44452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5"/>
          <p:cNvSpPr>
            <a:spLocks noGrp="1"/>
          </p:cNvSpPr>
          <p:nvPr>
            <p:ph type="body"/>
          </p:nvPr>
        </p:nvSpPr>
        <p:spPr>
          <a:xfrm>
            <a:off x="5109480" y="2464920"/>
            <a:ext cx="44452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3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0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11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2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3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15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6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7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3308400" cy="13161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3932640" y="309600"/>
            <a:ext cx="5622120" cy="663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703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body"/>
          </p:nvPr>
        </p:nvSpPr>
        <p:spPr>
          <a:xfrm>
            <a:off x="502920" y="1626480"/>
            <a:ext cx="3308400" cy="53157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2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2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1971360" y="5440680"/>
            <a:ext cx="6034320" cy="64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1971360" y="694440"/>
            <a:ext cx="6034320" cy="4662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picture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body"/>
          </p:nvPr>
        </p:nvSpPr>
        <p:spPr>
          <a:xfrm>
            <a:off x="1971360" y="6082920"/>
            <a:ext cx="6034320" cy="91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Rectangle 21" hidden="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29" name="Text Box 22" hidden="1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0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31" name="Rectangle 29" hidden="1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2" name="Rectangle 3"/>
          <p:cNvSpPr/>
          <p:nvPr/>
        </p:nvSpPr>
        <p:spPr>
          <a:xfrm>
            <a:off x="2514600" y="0"/>
            <a:ext cx="7543080" cy="603720"/>
          </a:xfrm>
          <a:prstGeom prst="rect">
            <a:avLst/>
          </a:prstGeom>
          <a:solidFill>
            <a:srgbClr val="6C9D30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3" name="Rectangle 4"/>
          <p:cNvSpPr/>
          <p:nvPr/>
        </p:nvSpPr>
        <p:spPr>
          <a:xfrm>
            <a:off x="0" y="0"/>
            <a:ext cx="2513880" cy="603720"/>
          </a:xfrm>
          <a:prstGeom prst="rect">
            <a:avLst/>
          </a:prstGeom>
          <a:solidFill>
            <a:srgbClr val="E4701D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4" name="Line 9"/>
          <p:cNvSpPr/>
          <p:nvPr/>
        </p:nvSpPr>
        <p:spPr>
          <a:xfrm>
            <a:off x="0" y="60444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5" name="Line 10"/>
          <p:cNvSpPr/>
          <p:nvPr/>
        </p:nvSpPr>
        <p:spPr>
          <a:xfrm>
            <a:off x="2514600" y="0"/>
            <a:ext cx="360" cy="60444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6" name="Text Box 11"/>
          <p:cNvSpPr/>
          <p:nvPr/>
        </p:nvSpPr>
        <p:spPr>
          <a:xfrm>
            <a:off x="381600" y="102600"/>
            <a:ext cx="1625400" cy="396360"/>
          </a:xfrm>
          <a:prstGeom prst="rect">
            <a:avLst/>
          </a:prstGeom>
          <a:noFill/>
          <a:ln w="9525">
            <a:noFill/>
          </a:ln>
          <a:effectLst>
            <a:outerShdw dist="25455" dir="2700000" algn="ctr" rotWithShape="0">
              <a:srgbClr val="808080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979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ＭＳ Ｐゴシック"/>
              </a:rPr>
              <a:t>UT DALLAS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Box 12"/>
          <p:cNvSpPr/>
          <p:nvPr/>
        </p:nvSpPr>
        <p:spPr>
          <a:xfrm>
            <a:off x="2682360" y="136800"/>
            <a:ext cx="6788880" cy="32868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771"/>
              </a:spcBef>
            </a:pPr>
            <a:r>
              <a:rPr lang="en-US" sz="154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Erik Jonsson School of Engineering &amp; Computer Science</a:t>
            </a:r>
            <a:endParaRPr lang="en-US" sz="1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Rectangle 9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9" name="Text Box 14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0" name="Picture 16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1" name="Line 17"/>
          <p:cNvSpPr/>
          <p:nvPr/>
        </p:nvSpPr>
        <p:spPr>
          <a:xfrm>
            <a:off x="0" y="708120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754560" y="1986120"/>
            <a:ext cx="854892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59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4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0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1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52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7166520" y="172800"/>
            <a:ext cx="213660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754560" y="172800"/>
            <a:ext cx="624384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5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4"/>
          <p:cNvSpPr>
            <a:spLocks noGrp="1"/>
          </p:cNvSpPr>
          <p:nvPr>
            <p:ph type="body"/>
          </p:nvPr>
        </p:nvSpPr>
        <p:spPr>
          <a:xfrm>
            <a:off x="5113080" y="367020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6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6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67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table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1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0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1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72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7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794520" y="4994640"/>
            <a:ext cx="8548920" cy="15429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1" u="none" strike="noStrike" cap="all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794520" y="3294360"/>
            <a:ext cx="8548920" cy="1699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2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8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8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3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89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0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91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502920" y="311400"/>
            <a:ext cx="905184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502920" y="1739880"/>
            <a:ext cx="44434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body"/>
          </p:nvPr>
        </p:nvSpPr>
        <p:spPr>
          <a:xfrm>
            <a:off x="502920" y="2464920"/>
            <a:ext cx="44434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4"/>
          <p:cNvSpPr>
            <a:spLocks noGrp="1"/>
          </p:cNvSpPr>
          <p:nvPr>
            <p:ph type="body"/>
          </p:nvPr>
        </p:nvSpPr>
        <p:spPr>
          <a:xfrm>
            <a:off x="5109480" y="1739880"/>
            <a:ext cx="44452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5"/>
          <p:cNvSpPr>
            <a:spLocks noGrp="1"/>
          </p:cNvSpPr>
          <p:nvPr>
            <p:ph type="body"/>
          </p:nvPr>
        </p:nvSpPr>
        <p:spPr>
          <a:xfrm>
            <a:off x="5109480" y="2464920"/>
            <a:ext cx="44452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14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98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9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0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5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03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4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5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6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07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9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3308400" cy="13161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3932640" y="309600"/>
            <a:ext cx="5622120" cy="663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703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body"/>
          </p:nvPr>
        </p:nvSpPr>
        <p:spPr>
          <a:xfrm>
            <a:off x="502920" y="1626480"/>
            <a:ext cx="3308400" cy="53157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7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1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1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1971360" y="5440680"/>
            <a:ext cx="6034320" cy="64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1971360" y="694440"/>
            <a:ext cx="6034320" cy="4662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picture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body"/>
          </p:nvPr>
        </p:nvSpPr>
        <p:spPr>
          <a:xfrm>
            <a:off x="1971360" y="6082920"/>
            <a:ext cx="6034320" cy="91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 5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Rectangle 21" hidden="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1" name="Text Box 22" hidden="1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2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23" name="Rectangle 29" hidden="1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4" name="Rectangle 3"/>
          <p:cNvSpPr/>
          <p:nvPr/>
        </p:nvSpPr>
        <p:spPr>
          <a:xfrm>
            <a:off x="2514600" y="0"/>
            <a:ext cx="7543080" cy="603720"/>
          </a:xfrm>
          <a:prstGeom prst="rect">
            <a:avLst/>
          </a:prstGeom>
          <a:solidFill>
            <a:srgbClr val="6C9D30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5" name="Rectangle 4"/>
          <p:cNvSpPr/>
          <p:nvPr/>
        </p:nvSpPr>
        <p:spPr>
          <a:xfrm>
            <a:off x="0" y="0"/>
            <a:ext cx="2513880" cy="603720"/>
          </a:xfrm>
          <a:prstGeom prst="rect">
            <a:avLst/>
          </a:prstGeom>
          <a:solidFill>
            <a:srgbClr val="E4701D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6" name="Line 9"/>
          <p:cNvSpPr/>
          <p:nvPr/>
        </p:nvSpPr>
        <p:spPr>
          <a:xfrm>
            <a:off x="0" y="60444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7" name="Line 10"/>
          <p:cNvSpPr/>
          <p:nvPr/>
        </p:nvSpPr>
        <p:spPr>
          <a:xfrm>
            <a:off x="2514600" y="0"/>
            <a:ext cx="360" cy="60444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8" name="Text Box 11"/>
          <p:cNvSpPr/>
          <p:nvPr/>
        </p:nvSpPr>
        <p:spPr>
          <a:xfrm>
            <a:off x="381600" y="102600"/>
            <a:ext cx="1625400" cy="396360"/>
          </a:xfrm>
          <a:prstGeom prst="rect">
            <a:avLst/>
          </a:prstGeom>
          <a:noFill/>
          <a:ln w="9525">
            <a:noFill/>
          </a:ln>
          <a:effectLst>
            <a:outerShdw dist="25455" dir="2700000" algn="ctr" rotWithShape="0">
              <a:srgbClr val="808080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979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ＭＳ Ｐゴシック"/>
              </a:rPr>
              <a:t>UT DALLAS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Box 12"/>
          <p:cNvSpPr/>
          <p:nvPr/>
        </p:nvSpPr>
        <p:spPr>
          <a:xfrm>
            <a:off x="2682360" y="136800"/>
            <a:ext cx="6788880" cy="32868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771"/>
              </a:spcBef>
            </a:pPr>
            <a:r>
              <a:rPr lang="en-US" sz="154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Erik Jonsson School of Engineering &amp; Computer Science</a:t>
            </a:r>
            <a:endParaRPr lang="en-US" sz="1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Rectangle 9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1" name="Text Box 14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2" name="Picture 16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33" name="Line 17"/>
          <p:cNvSpPr/>
          <p:nvPr/>
        </p:nvSpPr>
        <p:spPr>
          <a:xfrm>
            <a:off x="0" y="708120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754560" y="1986120"/>
            <a:ext cx="854892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59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Default 6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3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efault 7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4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4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7166520" y="172800"/>
            <a:ext cx="213660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754560" y="172800"/>
            <a:ext cx="624384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8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48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9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50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4"/>
          <p:cNvSpPr>
            <a:spLocks noGrp="1"/>
          </p:cNvSpPr>
          <p:nvPr>
            <p:ph type="body"/>
          </p:nvPr>
        </p:nvSpPr>
        <p:spPr>
          <a:xfrm>
            <a:off x="5113080" y="367020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Default 9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5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5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table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10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6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6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1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68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9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70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794520" y="4994640"/>
            <a:ext cx="8548920" cy="15429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1" u="none" strike="noStrike" cap="all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794520" y="3294360"/>
            <a:ext cx="8548920" cy="1699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12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7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7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8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7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31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Scope and Persistence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Where We Left Off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1">
                <a:latin typeface="Cambria"/>
              </a:rPr>
              <a:t>Functions</a:t>
            </a:r>
            <a:r>
              <a:rPr sz="2800" b="0">
                <a:latin typeface="Cambria"/>
              </a:rPr>
              <a:t> have parameters and local variables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1">
                <a:latin typeface="Cambria"/>
              </a:rPr>
              <a:t>Loops</a:t>
            </a:r>
            <a:r>
              <a:rPr sz="2800" b="0">
                <a:latin typeface="Cambria"/>
              </a:rPr>
              <a:t> declare loop variables like  i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Some names vanish at the closing brace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Some values survive between calls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Today:  the rules behind both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Two Questions for Every Variable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1">
                <a:latin typeface="Cambria"/>
              </a:rPr>
              <a:t>Scope</a:t>
            </a:r>
            <a:r>
              <a:rPr sz="2600" b="0">
                <a:latin typeface="Cambria"/>
              </a:rPr>
              <a:t>:  where can the </a:t>
            </a:r>
            <a:r>
              <a:rPr sz="2600" b="1">
                <a:latin typeface="Cambria"/>
              </a:rPr>
              <a:t>name</a:t>
            </a:r>
            <a:r>
              <a:rPr sz="2600" b="0">
                <a:latin typeface="Cambria"/>
              </a:rPr>
              <a:t> be used?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a property of the source code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1">
                <a:latin typeface="Cambria"/>
              </a:rPr>
              <a:t>Persistence</a:t>
            </a:r>
            <a:r>
              <a:rPr sz="2600" b="0">
                <a:latin typeface="Cambria"/>
              </a:rPr>
              <a:t>:  how long does the </a:t>
            </a:r>
            <a:r>
              <a:rPr sz="2600" b="1">
                <a:latin typeface="Cambria"/>
              </a:rPr>
              <a:t>memory</a:t>
            </a:r>
            <a:r>
              <a:rPr sz="2600" b="0">
                <a:latin typeface="Cambria"/>
              </a:rPr>
              <a:t> exist?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a property of the running program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Also called </a:t>
            </a:r>
            <a:r>
              <a:rPr sz="2600" b="1">
                <a:latin typeface="Cambria"/>
              </a:rPr>
              <a:t>visibility</a:t>
            </a:r>
            <a:r>
              <a:rPr sz="2600" b="0">
                <a:latin typeface="Cambria"/>
              </a:rPr>
              <a:t> and </a:t>
            </a:r>
            <a:r>
              <a:rPr sz="2600" b="1">
                <a:latin typeface="Cambria"/>
              </a:rPr>
              <a:t>lifetime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Names Are Addresses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A </a:t>
            </a:r>
            <a:r>
              <a:rPr sz="2600" b="1">
                <a:latin typeface="Cambria"/>
              </a:rPr>
              <a:t>variable</a:t>
            </a:r>
            <a:r>
              <a:rPr sz="2600" b="0">
                <a:latin typeface="Cambria"/>
              </a:rPr>
              <a:t> is a symbolic name for an address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in the </a:t>
            </a:r>
            <a:r>
              <a:rPr sz="2600" b="1">
                <a:latin typeface="Cambria"/>
              </a:rPr>
              <a:t>data</a:t>
            </a:r>
            <a:r>
              <a:rPr sz="2600" b="0">
                <a:latin typeface="Cambria"/>
              </a:rPr>
              <a:t> section of the program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A </a:t>
            </a:r>
            <a:r>
              <a:rPr sz="2600" b="1">
                <a:latin typeface="Cambria"/>
              </a:rPr>
              <a:t>function</a:t>
            </a:r>
            <a:r>
              <a:rPr sz="2600" b="0">
                <a:latin typeface="Cambria"/>
              </a:rPr>
              <a:t> is a symbolic name for an address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in the </a:t>
            </a:r>
            <a:r>
              <a:rPr sz="2600" b="1">
                <a:latin typeface="Cambria"/>
              </a:rPr>
              <a:t>instruction</a:t>
            </a:r>
            <a:r>
              <a:rPr sz="2600" b="0">
                <a:latin typeface="Cambria"/>
              </a:rPr>
              <a:t> section  (the text)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You must be inside the </a:t>
            </a:r>
            <a:r>
              <a:rPr sz="2600" b="1">
                <a:latin typeface="Cambria"/>
              </a:rPr>
              <a:t>scope</a:t>
            </a:r>
            <a:r>
              <a:rPr sz="2600" b="0">
                <a:latin typeface="Cambria"/>
              </a:rPr>
              <a:t> to see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the address as a symbol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Lexical Scoping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Scope defines where a variable or a function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name is </a:t>
            </a:r>
            <a:r>
              <a:rPr sz="2600" b="1">
                <a:latin typeface="Cambria"/>
              </a:rPr>
              <a:t>valid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A variable cannot be referenced by name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from </a:t>
            </a:r>
            <a:r>
              <a:rPr sz="2600" b="1">
                <a:latin typeface="Cambria"/>
              </a:rPr>
              <a:t>outside</a:t>
            </a:r>
            <a:r>
              <a:rPr sz="2600" b="0">
                <a:latin typeface="Cambria"/>
              </a:rPr>
              <a:t> its scope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"Lexical" means it is decided by where the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text appears in the source 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Scopes Are Braces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2743200" algn="l"/>
              </a:tabLst>
            </a:pPr>
            <a:r>
              <a:rPr sz="2600" b="0">
                <a:latin typeface="Cambria"/>
              </a:rPr>
              <a:t>Lexical scopes are defined with  </a:t>
            </a:r>
            <a:r>
              <a:rPr sz="2600" b="1">
                <a:latin typeface="Cambria"/>
              </a:rPr>
              <a:t>{ }</a:t>
            </a:r>
          </a:p>
          <a:p>
            <a:pPr>
              <a:tabLst>
                <a:tab pos="548640" algn="l"/>
                <a:tab pos="1097280" algn="l"/>
                <a:tab pos="274320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2743200" algn="l"/>
              </a:tabLst>
            </a:pPr>
            <a:r>
              <a:rPr sz="2600" b="0">
                <a:latin typeface="Cambria"/>
              </a:rPr>
              <a:t>{			outer scope</a:t>
            </a:r>
          </a:p>
          <a:p>
            <a:pPr>
              <a:tabLst>
                <a:tab pos="548640" algn="l"/>
                <a:tab pos="1097280" algn="l"/>
                <a:tab pos="2743200" algn="l"/>
              </a:tabLst>
            </a:pPr>
            <a:r>
              <a:rPr sz="2600" b="0">
                <a:latin typeface="Cambria"/>
              </a:rPr>
              <a:t>	{		inner scope</a:t>
            </a:r>
          </a:p>
          <a:p>
            <a:pPr>
              <a:tabLst>
                <a:tab pos="548640" algn="l"/>
                <a:tab pos="1097280" algn="l"/>
                <a:tab pos="2743200" algn="l"/>
              </a:tabLst>
            </a:pPr>
            <a:r>
              <a:rPr sz="2600" b="0">
                <a:latin typeface="Cambria"/>
              </a:rPr>
              <a:t>	}		inner names gone</a:t>
            </a:r>
          </a:p>
          <a:p>
            <a:pPr>
              <a:tabLst>
                <a:tab pos="548640" algn="l"/>
                <a:tab pos="1097280" algn="l"/>
                <a:tab pos="2743200" algn="l"/>
              </a:tabLst>
            </a:pPr>
            <a:r>
              <a:rPr sz="2600" b="0">
                <a:latin typeface="Cambria"/>
              </a:rPr>
              <a:t>}			outer names gone</a:t>
            </a:r>
          </a:p>
          <a:p>
            <a:pPr>
              <a:tabLst>
                <a:tab pos="548640" algn="l"/>
                <a:tab pos="1097280" algn="l"/>
                <a:tab pos="274320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2743200" algn="l"/>
              </a:tabLst>
            </a:pPr>
            <a:r>
              <a:rPr sz="2600" b="0">
                <a:latin typeface="Cambria"/>
              </a:rPr>
              <a:t>The same rule in C, C++, and Rust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Global Scope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737360" algn="l"/>
              </a:tabLst>
            </a:pPr>
            <a:r>
              <a:rPr sz="2600" b="0">
                <a:latin typeface="Cambria"/>
              </a:rPr>
              <a:t>The scope </a:t>
            </a:r>
            <a:r>
              <a:rPr sz="2600" b="1">
                <a:latin typeface="Cambria"/>
              </a:rPr>
              <a:t>outside of all functions</a:t>
            </a:r>
          </a:p>
          <a:p>
            <a:pPr>
              <a:tabLst>
                <a:tab pos="17373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1737360" algn="l"/>
              </a:tabLst>
            </a:pPr>
            <a:r>
              <a:rPr sz="2600" b="0">
                <a:latin typeface="Cambria"/>
              </a:rPr>
              <a:t>C, C++:	int stepG ;</a:t>
            </a:r>
          </a:p>
          <a:p>
            <a:pPr>
              <a:tabLst>
                <a:tab pos="1737360" algn="l"/>
              </a:tabLst>
            </a:pPr>
            <a:r>
              <a:rPr sz="2600" b="0">
                <a:latin typeface="Cambria"/>
              </a:rPr>
              <a:t>Rust:	static STEP_G : i32 = 0 ;</a:t>
            </a:r>
          </a:p>
          <a:p>
            <a:pPr>
              <a:tabLst>
                <a:tab pos="17373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1737360" algn="l"/>
              </a:tabLst>
            </a:pPr>
            <a:r>
              <a:rPr sz="2600" b="0">
                <a:latin typeface="Cambria"/>
              </a:rPr>
              <a:t>A variable defined there is a </a:t>
            </a:r>
            <a:r>
              <a:rPr sz="2600" b="1">
                <a:latin typeface="Cambria"/>
              </a:rPr>
              <a:t>global</a:t>
            </a:r>
            <a:r>
              <a:rPr sz="2600" b="0">
                <a:latin typeface="Cambria"/>
              </a:rPr>
              <a:t> variable</a:t>
            </a:r>
          </a:p>
          <a:p>
            <a:pPr>
              <a:tabLst>
                <a:tab pos="17373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1737360" algn="l"/>
              </a:tabLst>
            </a:pPr>
            <a:r>
              <a:rPr sz="2600" b="0">
                <a:latin typeface="Cambria"/>
              </a:rPr>
              <a:t>The </a:t>
            </a:r>
            <a:r>
              <a:rPr sz="2600" b="1">
                <a:latin typeface="Cambria"/>
              </a:rPr>
              <a:t>G</a:t>
            </a:r>
            <a:r>
              <a:rPr sz="2600" b="0">
                <a:latin typeface="Cambria"/>
              </a:rPr>
              <a:t> suffix marks it as global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Function Scope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The scope of a function's </a:t>
            </a:r>
            <a:r>
              <a:rPr sz="2600" b="1">
                <a:latin typeface="Cambria"/>
              </a:rPr>
              <a:t>parameters</a:t>
            </a:r>
            <a:r>
              <a:rPr sz="2600" b="0">
                <a:latin typeface="Cambria"/>
              </a:rPr>
              <a:t> is the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complete body of the function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Local variables are in scope from their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declaration to the closing brace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At the close of the scope, the symbol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1">
                <a:latin typeface="Cambria"/>
              </a:rPr>
              <a:t>disappears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Scope Example in C  (1 of 2)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void p ( char x 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/* p, x */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char y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/* p, x, y */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char zoo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/* p, x, y, zoo */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/* p */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double expG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/* p, expG */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Scope Example in C  (2 of 2)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void qsort ( char *s1, char *s2 )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/* p, expG, qsort, s1, s2 */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char b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	int count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	/* p, expG, qsort, s1, s2, b, count */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/* p, expG, qsort, s1, s2, b */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/* p, expG, qsort */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Same Idea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4206240" algn="l"/>
              </a:tabLst>
            </a:pPr>
            <a:r>
              <a:rPr sz="2400" b="0">
                <a:latin typeface="Cambria"/>
              </a:rPr>
              <a:t>fn p ( x : u8 ) {</a:t>
            </a:r>
          </a:p>
          <a:p>
            <a:pPr>
              <a:tabLst>
                <a:tab pos="548640" algn="l"/>
                <a:tab pos="1097280" algn="l"/>
                <a:tab pos="4206240" algn="l"/>
              </a:tabLst>
            </a:pPr>
            <a:r>
              <a:rPr sz="2400" b="0">
                <a:latin typeface="Cambria"/>
              </a:rPr>
              <a:t>	// p, x</a:t>
            </a:r>
          </a:p>
          <a:p>
            <a:pPr>
              <a:tabLst>
                <a:tab pos="548640" algn="l"/>
                <a:tab pos="1097280" algn="l"/>
                <a:tab pos="4206240" algn="l"/>
              </a:tabLst>
            </a:pPr>
            <a:r>
              <a:rPr sz="2400" b="0">
                <a:latin typeface="Cambria"/>
              </a:rPr>
              <a:t>	let y : u8 = 0 ;</a:t>
            </a:r>
          </a:p>
          <a:p>
            <a:pPr>
              <a:tabLst>
                <a:tab pos="548640" algn="l"/>
                <a:tab pos="1097280" algn="l"/>
                <a:tab pos="4206240" algn="l"/>
              </a:tabLst>
            </a:pPr>
            <a:r>
              <a:rPr sz="2400" b="0">
                <a:latin typeface="Cambria"/>
              </a:rPr>
              <a:t>	// p, x, y</a:t>
            </a:r>
          </a:p>
          <a:p>
            <a:pPr>
              <a:tabLst>
                <a:tab pos="548640" algn="l"/>
                <a:tab pos="1097280" algn="l"/>
                <a:tab pos="4206240" algn="l"/>
              </a:tabLst>
            </a:pPr>
            <a:r>
              <a:rPr sz="2400" b="0">
                <a:latin typeface="Cambria"/>
              </a:rPr>
              <a:t>	{</a:t>
            </a:r>
          </a:p>
          <a:p>
            <a:pPr>
              <a:tabLst>
                <a:tab pos="548640" algn="l"/>
                <a:tab pos="1097280" algn="l"/>
                <a:tab pos="4206240" algn="l"/>
              </a:tabLst>
            </a:pPr>
            <a:r>
              <a:rPr sz="2400" b="0">
                <a:latin typeface="Cambria"/>
              </a:rPr>
              <a:t>		let count = 0 ;	// p, x, y, count</a:t>
            </a:r>
          </a:p>
          <a:p>
            <a:pPr>
              <a:tabLst>
                <a:tab pos="548640" algn="l"/>
                <a:tab pos="1097280" algn="l"/>
                <a:tab pos="4206240" algn="l"/>
              </a:tabLst>
            </a:pPr>
            <a:r>
              <a:rPr sz="24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4206240" algn="l"/>
              </a:tabLst>
            </a:pPr>
            <a:r>
              <a:rPr sz="2400" b="0">
                <a:latin typeface="Cambria"/>
              </a:rPr>
              <a:t>	// p, x, y</a:t>
            </a:r>
          </a:p>
          <a:p>
            <a:pPr>
              <a:tabLst>
                <a:tab pos="548640" algn="l"/>
                <a:tab pos="1097280" algn="l"/>
                <a:tab pos="4206240" algn="l"/>
              </a:tabLst>
            </a:pPr>
            <a:r>
              <a:rPr sz="2400" b="0">
                <a:latin typeface="Cambria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Order Matters in C, Not in Rust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C, C++:  a name is visible from its declaration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1">
                <a:latin typeface="Cambria"/>
              </a:rPr>
              <a:t>downward</a:t>
            </a:r>
            <a:r>
              <a:rPr sz="2500" b="0">
                <a:latin typeface="Cambria"/>
              </a:rPr>
              <a:t> to the end of its scope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Rust:  functions, statics, and types are visible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in the </a:t>
            </a:r>
            <a:r>
              <a:rPr sz="2500" b="1">
                <a:latin typeface="Cambria"/>
              </a:rPr>
              <a:t>whole module</a:t>
            </a:r>
            <a:r>
              <a:rPr sz="2500" b="0">
                <a:latin typeface="Cambria"/>
              </a:rPr>
              <a:t>, even above them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Rust local  let  variables still follow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top-to-bottom order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Shadowing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4114800" algn="l"/>
              </a:tabLst>
            </a:pPr>
            <a:r>
              <a:rPr sz="2500" b="0">
                <a:latin typeface="Cambria"/>
              </a:rPr>
              <a:t>An inner scope may reuse an outer name:</a:t>
            </a:r>
          </a:p>
          <a:p>
            <a:pPr>
              <a:tabLst>
                <a:tab pos="548640" algn="l"/>
                <a:tab pos="411480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4114800" algn="l"/>
              </a:tabLst>
            </a:pPr>
            <a:r>
              <a:rPr sz="2500" b="0">
                <a:latin typeface="Cambria"/>
              </a:rPr>
              <a:t>	int x = 5 ;</a:t>
            </a:r>
          </a:p>
          <a:p>
            <a:pPr>
              <a:tabLst>
                <a:tab pos="548640" algn="l"/>
                <a:tab pos="4114800" algn="l"/>
              </a:tabLst>
            </a:pPr>
            <a:r>
              <a:rPr sz="2500" b="0">
                <a:latin typeface="Cambria"/>
              </a:rPr>
              <a:t>	{  int x = 10 ;  }	inner x hides outer x</a:t>
            </a:r>
          </a:p>
          <a:p>
            <a:pPr>
              <a:tabLst>
                <a:tab pos="548640" algn="l"/>
                <a:tab pos="411480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4114800" algn="l"/>
              </a:tabLst>
            </a:pPr>
            <a:r>
              <a:rPr sz="2500" b="0">
                <a:latin typeface="Cambria"/>
              </a:rPr>
              <a:t>Rust also allows it in the </a:t>
            </a:r>
            <a:r>
              <a:rPr sz="2500" b="1">
                <a:latin typeface="Cambria"/>
              </a:rPr>
              <a:t>same</a:t>
            </a:r>
            <a:r>
              <a:rPr sz="2500" b="0">
                <a:latin typeface="Cambria"/>
              </a:rPr>
              <a:t> scope:</a:t>
            </a:r>
          </a:p>
          <a:p>
            <a:pPr>
              <a:tabLst>
                <a:tab pos="548640" algn="l"/>
                <a:tab pos="4114800" algn="l"/>
              </a:tabLst>
            </a:pPr>
            <a:r>
              <a:rPr sz="2500" b="0">
                <a:latin typeface="Cambria"/>
              </a:rPr>
              <a:t>	let x = 5 ;</a:t>
            </a:r>
          </a:p>
          <a:p>
            <a:pPr>
              <a:tabLst>
                <a:tab pos="548640" algn="l"/>
                <a:tab pos="4114800" algn="l"/>
              </a:tabLst>
            </a:pPr>
            <a:r>
              <a:rPr sz="2500" b="0">
                <a:latin typeface="Cambria"/>
              </a:rPr>
              <a:t>	let x = x * 2 ;	a new x, now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Scope and Loops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for ( int i = 0 ; i &lt; n ; i++ ) { ...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i is gone here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for i in 0..n { ...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i is gone here too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A loop variable's scope is the loop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But Where Is the Memory?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A variable definition allocates memory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Where it goes depends on the variable's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1">
                <a:latin typeface="Cambria"/>
              </a:rPr>
              <a:t>scope</a:t>
            </a:r>
            <a:r>
              <a:rPr sz="2600" b="0">
                <a:latin typeface="Cambria"/>
              </a:rPr>
              <a:t> and its </a:t>
            </a:r>
            <a:r>
              <a:rPr sz="2600" b="1">
                <a:latin typeface="Cambria"/>
              </a:rPr>
              <a:t>lifetime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Three places memory can live: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</a:t>
            </a:r>
            <a:r>
              <a:rPr sz="2600" b="1">
                <a:latin typeface="Cambria"/>
              </a:rPr>
              <a:t>data segment</a:t>
            </a:r>
            <a:r>
              <a:rPr sz="2600" b="0">
                <a:latin typeface="Cambria"/>
              </a:rPr>
              <a:t>    </a:t>
            </a:r>
            <a:r>
              <a:rPr sz="2600" b="1">
                <a:latin typeface="Cambria"/>
              </a:rPr>
              <a:t>stack</a:t>
            </a:r>
            <a:r>
              <a:rPr sz="2600" b="0">
                <a:latin typeface="Cambria"/>
              </a:rPr>
              <a:t>    </a:t>
            </a:r>
            <a:r>
              <a:rPr sz="2600" b="1">
                <a:latin typeface="Cambria"/>
              </a:rPr>
              <a:t>heap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Memory Map of a Linux Process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8" name="Picture 387" descr="mem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828800"/>
            <a:ext cx="6583680" cy="539180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Region 1:  The Data Segment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554480" algn="l"/>
              </a:tabLst>
            </a:pPr>
            <a:r>
              <a:rPr sz="2400" b="1">
                <a:latin typeface="Cambria"/>
              </a:rPr>
              <a:t>Persistent</a:t>
            </a:r>
            <a:r>
              <a:rPr sz="2400" b="0">
                <a:latin typeface="Cambria"/>
              </a:rPr>
              <a:t> variables live here</a:t>
            </a:r>
          </a:p>
          <a:p>
            <a:pPr>
              <a:tabLst>
                <a:tab pos="155448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1554480" algn="l"/>
              </a:tabLst>
            </a:pPr>
            <a:r>
              <a:rPr sz="2400" b="0">
                <a:latin typeface="Cambria"/>
              </a:rPr>
              <a:t>Size known at </a:t>
            </a:r>
            <a:r>
              <a:rPr sz="2400" b="1">
                <a:latin typeface="Cambria"/>
              </a:rPr>
              <a:t>compile time</a:t>
            </a:r>
            <a:r>
              <a:rPr sz="2400" b="0">
                <a:latin typeface="Cambria"/>
              </a:rPr>
              <a:t> - part of the object code</a:t>
            </a:r>
          </a:p>
          <a:p>
            <a:pPr>
              <a:tabLst>
                <a:tab pos="155448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1554480" algn="l"/>
              </a:tabLst>
            </a:pPr>
            <a:r>
              <a:rPr sz="2400" b="1">
                <a:latin typeface="Cambria"/>
              </a:rPr>
              <a:t>Data</a:t>
            </a:r>
            <a:r>
              <a:rPr sz="2400" b="0">
                <a:latin typeface="Cambria"/>
              </a:rPr>
              <a:t>:	variables with an initial value</a:t>
            </a:r>
          </a:p>
          <a:p>
            <a:pPr>
              <a:tabLst>
                <a:tab pos="1554480" algn="l"/>
              </a:tabLst>
            </a:pPr>
            <a:r>
              <a:rPr sz="2400" b="1">
                <a:latin typeface="Cambria"/>
              </a:rPr>
              <a:t>BSS</a:t>
            </a:r>
            <a:r>
              <a:rPr sz="2400" b="0">
                <a:latin typeface="Cambria"/>
              </a:rPr>
              <a:t>:	variables with no initial value</a:t>
            </a:r>
          </a:p>
          <a:p>
            <a:pPr>
              <a:tabLst>
                <a:tab pos="1554480" algn="l"/>
              </a:tabLst>
            </a:pPr>
            <a:r>
              <a:rPr sz="2400" b="0">
                <a:latin typeface="Cambria"/>
              </a:rPr>
              <a:t>	set to </a:t>
            </a:r>
            <a:r>
              <a:rPr sz="2400" b="1">
                <a:latin typeface="Cambria"/>
              </a:rPr>
              <a:t>zero</a:t>
            </a:r>
            <a:r>
              <a:rPr sz="2400" b="0">
                <a:latin typeface="Cambria"/>
              </a:rPr>
              <a:t> when the program loads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Region 2:  The Stack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Holds each call's </a:t>
            </a:r>
            <a:r>
              <a:rPr sz="2400" b="1">
                <a:latin typeface="Cambria"/>
              </a:rPr>
              <a:t>arguments</a:t>
            </a:r>
            <a:r>
              <a:rPr sz="2400" b="0">
                <a:latin typeface="Cambria"/>
              </a:rPr>
              <a:t> and </a:t>
            </a:r>
            <a:r>
              <a:rPr sz="2400" b="1">
                <a:latin typeface="Cambria"/>
              </a:rPr>
              <a:t>local</a:t>
            </a:r>
            <a:r>
              <a:rPr sz="2400" b="0">
                <a:latin typeface="Cambria"/>
              </a:rPr>
              <a:t> variables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A </a:t>
            </a:r>
            <a:r>
              <a:rPr sz="2400" b="1">
                <a:latin typeface="Cambria"/>
              </a:rPr>
              <a:t>stack</a:t>
            </a:r>
            <a:r>
              <a:rPr sz="2400" b="0">
                <a:latin typeface="Cambria"/>
              </a:rPr>
              <a:t> data structure:  push on call, pop on return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Located by the </a:t>
            </a:r>
            <a:r>
              <a:rPr sz="2400" b="1">
                <a:latin typeface="Cambria"/>
              </a:rPr>
              <a:t>stack pointer</a:t>
            </a:r>
            <a:r>
              <a:rPr sz="2400" b="0">
                <a:latin typeface="Cambria"/>
              </a:rPr>
              <a:t> and </a:t>
            </a:r>
            <a:r>
              <a:rPr sz="2400" b="1">
                <a:latin typeface="Cambria"/>
              </a:rPr>
              <a:t>frame pointer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Memory on the stack is </a:t>
            </a:r>
            <a:r>
              <a:rPr sz="2400" b="1">
                <a:latin typeface="Cambria"/>
              </a:rPr>
              <a:t>uninitialized</a:t>
            </a:r>
            <a:r>
              <a:rPr sz="2400" b="0">
                <a:latin typeface="Cambria"/>
              </a:rPr>
              <a:t> and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1">
                <a:latin typeface="Cambria"/>
              </a:rPr>
              <a:t>temporary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 Stack Frame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8" name="Picture 387" descr="stackfr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1225" y="1783080"/>
            <a:ext cx="3395949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Region 3:  The Heap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1">
                <a:latin typeface="Cambria"/>
              </a:rPr>
              <a:t>Dynamic</a:t>
            </a:r>
            <a:r>
              <a:rPr sz="2600" b="0">
                <a:latin typeface="Cambria"/>
              </a:rPr>
              <a:t> memory - size decided at run time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The </a:t>
            </a:r>
            <a:r>
              <a:rPr sz="2600" b="1">
                <a:latin typeface="Cambria"/>
              </a:rPr>
              <a:t>program</a:t>
            </a:r>
            <a:r>
              <a:rPr sz="2600" b="0">
                <a:latin typeface="Cambria"/>
              </a:rPr>
              <a:t> decides when it is created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and when it is released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Lives until it is freed - not tied to a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function call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Heap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float *buf = malloc ( 100 * sizeof ( float )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if ( buf == NULL )  { /* out of memory */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...  use buf[0] through buf[99]  ...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free ( buf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Also:  calloc ( zeroed ),  realloc ( resize 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Heap in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float *buf = new float[100]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...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delete[] buf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Better:  let a type own the memory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std::vector&lt;float&gt; buf ( 100 )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auto p = std::make_unique&lt;sample_t&gt; (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Freed automatically at the closing brace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Heap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let buf = vec![ 0.0f32 ; 100 ]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let s = Box::new ( sample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No free.  No delete.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When the </a:t>
            </a:r>
            <a:r>
              <a:rPr sz="2800" b="1">
                <a:latin typeface="Cambria"/>
              </a:rPr>
              <a:t>owner</a:t>
            </a:r>
            <a:r>
              <a:rPr sz="2800" b="0">
                <a:latin typeface="Cambria"/>
              </a:rPr>
              <a:t> goes out of scope,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the heap memory is released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Heap Bugs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2834640" algn="l"/>
              </a:tabLst>
            </a:pPr>
            <a:r>
              <a:rPr sz="2400" b="1">
                <a:latin typeface="Cambria"/>
              </a:rPr>
              <a:t>Leak</a:t>
            </a:r>
            <a:r>
              <a:rPr sz="2400" b="0">
                <a:latin typeface="Cambria"/>
              </a:rPr>
              <a:t>:	forget to free - memory is never returned</a:t>
            </a:r>
          </a:p>
          <a:p>
            <a:pPr>
              <a:tabLst>
                <a:tab pos="283464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2834640" algn="l"/>
              </a:tabLst>
            </a:pPr>
            <a:r>
              <a:rPr sz="2400" b="1">
                <a:latin typeface="Cambria"/>
              </a:rPr>
              <a:t>Use after free</a:t>
            </a:r>
            <a:r>
              <a:rPr sz="2400" b="0">
                <a:latin typeface="Cambria"/>
              </a:rPr>
              <a:t>:	read memory already given back</a:t>
            </a:r>
          </a:p>
          <a:p>
            <a:pPr>
              <a:tabLst>
                <a:tab pos="283464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2834640" algn="l"/>
              </a:tabLst>
            </a:pPr>
            <a:r>
              <a:rPr sz="2400" b="1">
                <a:latin typeface="Cambria"/>
              </a:rPr>
              <a:t>Double free</a:t>
            </a:r>
            <a:r>
              <a:rPr sz="2400" b="0">
                <a:latin typeface="Cambria"/>
              </a:rPr>
              <a:t>:	free the same memory twice</a:t>
            </a:r>
          </a:p>
          <a:p>
            <a:pPr>
              <a:tabLst>
                <a:tab pos="283464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2834640" algn="l"/>
              </a:tabLst>
            </a:pPr>
            <a:r>
              <a:rPr sz="2400" b="0">
                <a:latin typeface="Cambria"/>
              </a:rPr>
              <a:t>C compiles all three without complaint</a:t>
            </a:r>
          </a:p>
          <a:p>
            <a:pPr>
              <a:tabLst>
                <a:tab pos="2834640" algn="l"/>
              </a:tabLst>
            </a:pPr>
            <a:r>
              <a:rPr sz="2400" b="0">
                <a:latin typeface="Cambria"/>
              </a:rPr>
              <a:t>Rust rejects all three at compile time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Automatic Variables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Declared inside a function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Created on the </a:t>
            </a:r>
            <a:r>
              <a:rPr sz="2800" b="1">
                <a:latin typeface="Cambria"/>
              </a:rPr>
              <a:t>stack</a:t>
            </a:r>
            <a:r>
              <a:rPr sz="2800" b="0">
                <a:latin typeface="Cambria"/>
              </a:rPr>
              <a:t> when the call starts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Gone when the call returns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Called </a:t>
            </a:r>
            <a:r>
              <a:rPr sz="2800" b="1">
                <a:latin typeface="Cambria"/>
              </a:rPr>
              <a:t>auto</a:t>
            </a:r>
            <a:r>
              <a:rPr sz="2800" b="0">
                <a:latin typeface="Cambria"/>
              </a:rPr>
              <a:t> variables in C:  automatic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allocation and release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Auto Variables Start as Garbage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4389120" algn="l"/>
              </a:tabLst>
            </a:pPr>
            <a:r>
              <a:rPr sz="2400" b="0">
                <a:latin typeface="Cambria"/>
              </a:rPr>
              <a:t>void my_function ( int expand )</a:t>
            </a:r>
          </a:p>
          <a:p>
            <a:pPr>
              <a:tabLst>
                <a:tab pos="548640" algn="l"/>
                <a:tab pos="4389120" algn="l"/>
              </a:tabLst>
            </a:pPr>
            <a:r>
              <a:rPr sz="2400" b="0">
                <a:latin typeface="Cambria"/>
              </a:rPr>
              <a:t>{</a:t>
            </a:r>
          </a:p>
          <a:p>
            <a:pPr>
              <a:tabLst>
                <a:tab pos="548640" algn="l"/>
                <a:tab pos="4389120" algn="l"/>
              </a:tabLst>
            </a:pPr>
            <a:r>
              <a:rPr sz="2400" b="0">
                <a:latin typeface="Cambria"/>
              </a:rPr>
              <a:t>	int step ;</a:t>
            </a:r>
          </a:p>
          <a:p>
            <a:pPr>
              <a:tabLst>
                <a:tab pos="548640" algn="l"/>
                <a:tab pos="4389120" algn="l"/>
              </a:tabLst>
            </a:pPr>
            <a:r>
              <a:rPr sz="2400" b="0">
                <a:latin typeface="Cambria"/>
              </a:rPr>
              <a:t>	step = step + expand ;	</a:t>
            </a:r>
            <a:r>
              <a:rPr sz="2400" b="1">
                <a:latin typeface="Cambria"/>
              </a:rPr>
              <a:t>bug</a:t>
            </a:r>
          </a:p>
          <a:p>
            <a:pPr>
              <a:tabLst>
                <a:tab pos="548640" algn="l"/>
                <a:tab pos="4389120" algn="l"/>
              </a:tabLst>
            </a:pPr>
            <a:r>
              <a:rPr sz="2400" b="0">
                <a:latin typeface="Cambria"/>
              </a:rPr>
              <a:t>}</a:t>
            </a:r>
          </a:p>
          <a:p>
            <a:pPr>
              <a:tabLst>
                <a:tab pos="548640" algn="l"/>
                <a:tab pos="438912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4389120" algn="l"/>
              </a:tabLst>
            </a:pPr>
            <a:r>
              <a:rPr sz="2400" b="0">
                <a:latin typeface="Cambria"/>
              </a:rPr>
              <a:t>step was never initialized</a:t>
            </a:r>
          </a:p>
          <a:p>
            <a:pPr>
              <a:tabLst>
                <a:tab pos="548640" algn="l"/>
                <a:tab pos="4389120" algn="l"/>
              </a:tabLst>
            </a:pPr>
            <a:r>
              <a:rPr sz="2400" b="0">
                <a:latin typeface="Cambria"/>
              </a:rPr>
              <a:t>C, C++:  the program </a:t>
            </a:r>
            <a:r>
              <a:rPr sz="2400" b="1">
                <a:latin typeface="Cambria"/>
              </a:rPr>
              <a:t>does not crash</a:t>
            </a:r>
            <a:r>
              <a:rPr sz="2400" b="0">
                <a:latin typeface="Cambria"/>
              </a:rPr>
              <a:t> - it</a:t>
            </a:r>
          </a:p>
          <a:p>
            <a:pPr>
              <a:tabLst>
                <a:tab pos="548640" algn="l"/>
                <a:tab pos="4389120" algn="l"/>
              </a:tabLst>
            </a:pPr>
            <a:r>
              <a:rPr sz="2400" b="0">
                <a:latin typeface="Cambria"/>
              </a:rPr>
              <a:t>silently uses whatever was on the stack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Rust Refuses to Compile It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fn my_function ( expand : i32 )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let step : i32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let total = step + expand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error:  used binding  step  isn't initialized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Rust checks every path before any use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Persistent Variables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Their memory exists for the </a:t>
            </a:r>
            <a:r>
              <a:rPr sz="2800" b="1">
                <a:latin typeface="Cambria"/>
              </a:rPr>
              <a:t>entire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program execution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Stored in the </a:t>
            </a:r>
            <a:r>
              <a:rPr sz="2800" b="1">
                <a:latin typeface="Cambria"/>
              </a:rPr>
              <a:t>data segment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Initialized to </a:t>
            </a:r>
            <a:r>
              <a:rPr sz="2800" b="1">
                <a:latin typeface="Cambria"/>
              </a:rPr>
              <a:t>zero</a:t>
            </a:r>
            <a:r>
              <a:rPr sz="2800" b="0">
                <a:latin typeface="Cambria"/>
              </a:rPr>
              <a:t> or to a value you give,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1">
                <a:latin typeface="Cambria"/>
              </a:rPr>
              <a:t>once</a:t>
            </a:r>
            <a:r>
              <a:rPr sz="2800" b="0">
                <a:latin typeface="Cambria"/>
              </a:rPr>
              <a:t>, before main runs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Persistent Variable Visibility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3931920" algn="l"/>
              </a:tabLst>
            </a:pPr>
            <a:r>
              <a:rPr sz="2500" b="0">
                <a:latin typeface="Cambria"/>
              </a:rPr>
              <a:t>The visibility of a persistent variable is</a:t>
            </a:r>
          </a:p>
          <a:p>
            <a:pPr>
              <a:tabLst>
                <a:tab pos="548640" algn="l"/>
                <a:tab pos="3931920" algn="l"/>
              </a:tabLst>
            </a:pPr>
            <a:r>
              <a:rPr sz="2500" b="0">
                <a:latin typeface="Cambria"/>
              </a:rPr>
              <a:t>determined by its </a:t>
            </a:r>
            <a:r>
              <a:rPr sz="2500" b="1">
                <a:latin typeface="Cambria"/>
              </a:rPr>
              <a:t>scope</a:t>
            </a:r>
            <a:r>
              <a:rPr sz="2500" b="0">
                <a:latin typeface="Cambria"/>
              </a:rPr>
              <a:t>:</a:t>
            </a:r>
          </a:p>
          <a:p>
            <a:pPr>
              <a:tabLst>
                <a:tab pos="548640" algn="l"/>
                <a:tab pos="393192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3931920" algn="l"/>
              </a:tabLst>
            </a:pPr>
            <a:r>
              <a:rPr sz="2500" b="0">
                <a:latin typeface="Cambria"/>
              </a:rPr>
              <a:t>	inside a function	</a:t>
            </a:r>
            <a:r>
              <a:rPr sz="2500" b="1">
                <a:latin typeface="Cambria"/>
              </a:rPr>
              <a:t>local static</a:t>
            </a:r>
          </a:p>
          <a:p>
            <a:pPr>
              <a:tabLst>
                <a:tab pos="548640" algn="l"/>
                <a:tab pos="3931920" algn="l"/>
              </a:tabLst>
            </a:pPr>
            <a:r>
              <a:rPr sz="2500" b="0">
                <a:latin typeface="Cambria"/>
              </a:rPr>
              <a:t>	outside, file only	</a:t>
            </a:r>
            <a:r>
              <a:rPr sz="2500" b="1">
                <a:latin typeface="Cambria"/>
              </a:rPr>
              <a:t>file static</a:t>
            </a:r>
          </a:p>
          <a:p>
            <a:pPr>
              <a:tabLst>
                <a:tab pos="548640" algn="l"/>
                <a:tab pos="3931920" algn="l"/>
              </a:tabLst>
            </a:pPr>
            <a:r>
              <a:rPr sz="2500" b="0">
                <a:latin typeface="Cambria"/>
              </a:rPr>
              <a:t>	outside, all files	</a:t>
            </a:r>
            <a:r>
              <a:rPr sz="2500" b="1">
                <a:latin typeface="Cambria"/>
              </a:rPr>
              <a:t>global</a:t>
            </a:r>
          </a:p>
          <a:p>
            <a:pPr>
              <a:tabLst>
                <a:tab pos="548640" algn="l"/>
                <a:tab pos="393192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3931920" algn="l"/>
              </a:tabLst>
            </a:pPr>
            <a:r>
              <a:rPr sz="2500" b="0">
                <a:latin typeface="Cambria"/>
              </a:rPr>
              <a:t>Same lifetime - three different scopes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Local Static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void my_function ( int expand 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static int stepL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stepL = stepL + expand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Visible only </a:t>
            </a:r>
            <a:r>
              <a:rPr sz="2500" b="1">
                <a:latin typeface="Cambria"/>
              </a:rPr>
              <a:t>inside</a:t>
            </a:r>
            <a:r>
              <a:rPr sz="2500" b="0">
                <a:latin typeface="Cambria"/>
              </a:rPr>
              <a:t> my_function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But the value </a:t>
            </a:r>
            <a:r>
              <a:rPr sz="2500" b="1">
                <a:latin typeface="Cambria"/>
              </a:rPr>
              <a:t>persists</a:t>
            </a:r>
            <a:r>
              <a:rPr sz="2500" b="0">
                <a:latin typeface="Cambria"/>
              </a:rPr>
              <a:t> between calls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Example:  Counting Calls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int count_calls ( void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static int countL = 0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countL = countL + 1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return countL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Returns 1, then 2, then 3, ...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The  = 0  happens </a:t>
            </a:r>
            <a:r>
              <a:rPr sz="2500" b="1">
                <a:latin typeface="Cambria"/>
              </a:rPr>
              <a:t>once</a:t>
            </a:r>
            <a:r>
              <a:rPr sz="2500" b="0">
                <a:latin typeface="Cambria"/>
              </a:rPr>
              <a:t>, not on every call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Local Static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use std::sync::atomic::{ AtomicU32, Ordering }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fn count_calls ( ) -&gt; u32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static COUNT_L : AtomicU32 = AtomicU32::new ( 0 )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COUNT_L.fetch_add ( 1, Ordering::Relaxed ) + 1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A mutable static must be made </a:t>
            </a:r>
            <a:r>
              <a:rPr sz="2200" b="1">
                <a:latin typeface="Cambria"/>
              </a:rPr>
              <a:t>safe to share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Declarations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Used to reference a variable or a function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1">
                <a:latin typeface="Cambria"/>
              </a:rPr>
              <a:t>before</a:t>
            </a:r>
            <a:r>
              <a:rPr sz="2800" b="0">
                <a:latin typeface="Cambria"/>
              </a:rPr>
              <a:t> it is defined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Say what it </a:t>
            </a:r>
            <a:r>
              <a:rPr sz="2800" b="1">
                <a:latin typeface="Cambria"/>
              </a:rPr>
              <a:t>is</a:t>
            </a:r>
            <a:r>
              <a:rPr sz="2800" b="0">
                <a:latin typeface="Cambria"/>
              </a:rPr>
              <a:t> - its type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Apply to functions  (instruction text)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and to variables  (memory addresses)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Definitions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Describe the </a:t>
            </a:r>
            <a:r>
              <a:rPr sz="2600" b="1">
                <a:latin typeface="Cambria"/>
              </a:rPr>
              <a:t>implementation</a:t>
            </a:r>
            <a:r>
              <a:rPr sz="2600" b="0">
                <a:latin typeface="Cambria"/>
              </a:rPr>
              <a:t> of a function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or variable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Function definition:  the parameters and the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statements that implement it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Variable definition:  describes </a:t>
            </a:r>
            <a:r>
              <a:rPr sz="2600" b="1">
                <a:latin typeface="Cambria"/>
              </a:rPr>
              <a:t>and allocates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space for the address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Function Declaration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Known as a </a:t>
            </a:r>
            <a:r>
              <a:rPr sz="2400" b="1">
                <a:latin typeface="Cambria"/>
              </a:rPr>
              <a:t>prototype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extern &lt;return_type&gt; &lt;name&gt; ( arglist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extern int access_data ( char *array,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int idx, int num_elements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Takes a pointer, an index, and a count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Returns an int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extern on Functions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1">
                <a:latin typeface="Cambria"/>
              </a:rPr>
              <a:t>extern</a:t>
            </a:r>
            <a:r>
              <a:rPr sz="2600" b="0">
                <a:latin typeface="Cambria"/>
              </a:rPr>
              <a:t> extends the visibility of a function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to other files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Not strictly necessary for functions,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but recommended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Many </a:t>
            </a:r>
            <a:r>
              <a:rPr sz="2600" b="1">
                <a:latin typeface="Cambria"/>
              </a:rPr>
              <a:t>identical</a:t>
            </a:r>
            <a:r>
              <a:rPr sz="2600" b="0">
                <a:latin typeface="Cambria"/>
              </a:rPr>
              <a:t> declarations are allowed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Only </a:t>
            </a:r>
            <a:r>
              <a:rPr sz="2600" b="1">
                <a:latin typeface="Cambria"/>
              </a:rPr>
              <a:t>one</a:t>
            </a:r>
            <a:r>
              <a:rPr sz="2600" b="0">
                <a:latin typeface="Cambria"/>
              </a:rPr>
              <a:t> definition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Function Definition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3291840" algn="l"/>
              </a:tabLst>
            </a:pPr>
            <a:r>
              <a:rPr sz="2300" b="0">
                <a:latin typeface="Cambria"/>
              </a:rPr>
              <a:t>int access_data ( char *array, int idx,</a:t>
            </a:r>
          </a:p>
          <a:p>
            <a:pPr>
              <a:tabLst>
                <a:tab pos="548640" algn="l"/>
                <a:tab pos="1097280" algn="l"/>
                <a:tab pos="3291840" algn="l"/>
              </a:tabLst>
            </a:pPr>
            <a:r>
              <a:rPr sz="2300" b="0">
                <a:latin typeface="Cambria"/>
              </a:rPr>
              <a:t>		int num_elements ) {</a:t>
            </a:r>
          </a:p>
          <a:p>
            <a:pPr>
              <a:tabLst>
                <a:tab pos="548640" algn="l"/>
                <a:tab pos="1097280" algn="l"/>
                <a:tab pos="3291840" algn="l"/>
              </a:tabLst>
            </a:pPr>
            <a:r>
              <a:rPr sz="2300" b="0">
                <a:latin typeface="Cambria"/>
              </a:rPr>
              <a:t>	if ( ( idx &gt;= 0 ) &amp;&amp; ( idx &lt; num_elements ) ) {</a:t>
            </a:r>
          </a:p>
          <a:p>
            <a:pPr>
              <a:tabLst>
                <a:tab pos="548640" algn="l"/>
                <a:tab pos="1097280" algn="l"/>
                <a:tab pos="3291840" algn="l"/>
              </a:tabLst>
            </a:pPr>
            <a:r>
              <a:rPr sz="2300" b="0">
                <a:latin typeface="Cambria"/>
              </a:rPr>
              <a:t>		return array[idx] ;</a:t>
            </a:r>
          </a:p>
          <a:p>
            <a:pPr>
              <a:tabLst>
                <a:tab pos="548640" algn="l"/>
                <a:tab pos="1097280" algn="l"/>
                <a:tab pos="3291840" algn="l"/>
              </a:tabLst>
            </a:pPr>
            <a:r>
              <a:rPr sz="23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3291840" algn="l"/>
              </a:tabLst>
            </a:pPr>
            <a:r>
              <a:rPr sz="2300" b="0">
                <a:latin typeface="Cambria"/>
              </a:rPr>
              <a:t>	return -1 ;	// out of bounds</a:t>
            </a:r>
          </a:p>
          <a:p>
            <a:pPr>
              <a:tabLst>
                <a:tab pos="548640" algn="l"/>
                <a:tab pos="1097280" algn="l"/>
                <a:tab pos="3291840" algn="l"/>
              </a:tabLst>
            </a:pPr>
            <a:r>
              <a:rPr sz="23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329184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3291840" algn="l"/>
              </a:tabLst>
            </a:pPr>
            <a:r>
              <a:rPr sz="2300" b="0">
                <a:latin typeface="Cambria"/>
              </a:rPr>
              <a:t>This becomes </a:t>
            </a:r>
            <a:r>
              <a:rPr sz="2300" b="1">
                <a:latin typeface="Cambria"/>
              </a:rPr>
              <a:t>text</a:t>
            </a:r>
            <a:r>
              <a:rPr sz="2300" b="0">
                <a:latin typeface="Cambria"/>
              </a:rPr>
              <a:t>:  machine instructions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extern on Variables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extern double myNumG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Describes the </a:t>
            </a:r>
            <a:r>
              <a:rPr sz="2500" b="1">
                <a:latin typeface="Cambria"/>
              </a:rPr>
              <a:t>type</a:t>
            </a:r>
            <a:r>
              <a:rPr sz="2500" b="0">
                <a:latin typeface="Cambria"/>
              </a:rPr>
              <a:t> but does </a:t>
            </a:r>
            <a:r>
              <a:rPr sz="2500" b="1">
                <a:latin typeface="Cambria"/>
              </a:rPr>
              <a:t>not</a:t>
            </a:r>
            <a:r>
              <a:rPr sz="2500" b="0">
                <a:latin typeface="Cambria"/>
              </a:rPr>
              <a:t> allocate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A placeholder for the real address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The address is </a:t>
            </a:r>
            <a:r>
              <a:rPr sz="2500" b="1">
                <a:latin typeface="Cambria"/>
              </a:rPr>
              <a:t>resolved</a:t>
            </a:r>
            <a:r>
              <a:rPr sz="2500" b="0">
                <a:latin typeface="Cambria"/>
              </a:rPr>
              <a:t> at link time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myNumG is 8 bytes of double - defined elsewhere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Variable Definition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double myNumG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myNumG is the starting address of 8 bytes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holding a double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This statement </a:t>
            </a:r>
            <a:r>
              <a:rPr sz="2800" b="1">
                <a:latin typeface="Cambria"/>
              </a:rPr>
              <a:t>allocates</a:t>
            </a:r>
            <a:r>
              <a:rPr sz="2800" b="0">
                <a:latin typeface="Cambria"/>
              </a:rPr>
              <a:t> the memory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Exactly </a:t>
            </a:r>
            <a:r>
              <a:rPr sz="2800" b="1">
                <a:latin typeface="Cambria"/>
              </a:rPr>
              <a:t>one</a:t>
            </a:r>
            <a:r>
              <a:rPr sz="2800" b="0">
                <a:latin typeface="Cambria"/>
              </a:rPr>
              <a:t> file may contain this line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Declarations in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The same rules as C:  prototypes,  extern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Declarations go in a </a:t>
            </a:r>
            <a:r>
              <a:rPr sz="2500" b="1">
                <a:latin typeface="Cambria"/>
              </a:rPr>
              <a:t>header</a:t>
            </a:r>
            <a:r>
              <a:rPr sz="2500" b="0">
                <a:latin typeface="Cambria"/>
              </a:rPr>
              <a:t> ( .h / .hpp 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Definitions go in a </a:t>
            </a:r>
            <a:r>
              <a:rPr sz="2500" b="1">
                <a:latin typeface="Cambria"/>
              </a:rPr>
              <a:t>source</a:t>
            </a:r>
            <a:r>
              <a:rPr sz="2500" b="0">
                <a:latin typeface="Cambria"/>
              </a:rPr>
              <a:t> file ( .cpp 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Break the </a:t>
            </a:r>
            <a:r>
              <a:rPr sz="2500" b="1">
                <a:latin typeface="Cambria"/>
              </a:rPr>
              <a:t>One Definition Rule</a:t>
            </a:r>
            <a:r>
              <a:rPr sz="2500" b="0">
                <a:latin typeface="Cambria"/>
              </a:rPr>
              <a:t> and the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linker reports a duplicate symbol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Declarations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657600" algn="l"/>
              </a:tabLst>
            </a:pPr>
            <a:r>
              <a:rPr sz="2500" b="0">
                <a:latin typeface="Cambria"/>
              </a:rPr>
              <a:t>Rust has </a:t>
            </a:r>
            <a:r>
              <a:rPr sz="2500" b="1">
                <a:latin typeface="Cambria"/>
              </a:rPr>
              <a:t>no</a:t>
            </a:r>
            <a:r>
              <a:rPr sz="2500" b="0">
                <a:latin typeface="Cambria"/>
              </a:rPr>
              <a:t> separate declarations</a:t>
            </a:r>
          </a:p>
          <a:p>
            <a:pPr>
              <a:tabLst>
                <a:tab pos="3657600" algn="l"/>
              </a:tabLst>
            </a:pPr>
            <a:r>
              <a:rPr sz="2500" b="0">
                <a:latin typeface="Cambria"/>
              </a:rPr>
              <a:t>and </a:t>
            </a:r>
            <a:r>
              <a:rPr sz="2500" b="1">
                <a:latin typeface="Cambria"/>
              </a:rPr>
              <a:t>no</a:t>
            </a:r>
            <a:r>
              <a:rPr sz="2500" b="0">
                <a:latin typeface="Cambria"/>
              </a:rPr>
              <a:t> header files</a:t>
            </a:r>
          </a:p>
          <a:p>
            <a:pPr>
              <a:tabLst>
                <a:tab pos="365760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3657600" algn="l"/>
              </a:tabLst>
            </a:pPr>
            <a:r>
              <a:rPr sz="2500" b="0">
                <a:latin typeface="Cambria"/>
              </a:rPr>
              <a:t>mod sensor ;	load sensor.rs as a module</a:t>
            </a:r>
          </a:p>
          <a:p>
            <a:pPr>
              <a:tabLst>
                <a:tab pos="3657600" algn="l"/>
              </a:tabLst>
            </a:pPr>
            <a:r>
              <a:rPr sz="2500" b="0">
                <a:latin typeface="Cambria"/>
              </a:rPr>
              <a:t>use sensor::adc_to_psi ;	bring the name into scope</a:t>
            </a:r>
          </a:p>
          <a:p>
            <a:pPr>
              <a:tabLst>
                <a:tab pos="365760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3657600" algn="l"/>
              </a:tabLst>
            </a:pPr>
            <a:r>
              <a:rPr sz="2500" b="0">
                <a:latin typeface="Cambria"/>
              </a:rPr>
              <a:t>The compiler sees the whole crate at once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Global Variables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int stepG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int main ( int argc, char *argv[] 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...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Four bytes in the </a:t>
            </a:r>
            <a:r>
              <a:rPr sz="2600" b="1">
                <a:latin typeface="Cambria"/>
              </a:rPr>
              <a:t>data</a:t>
            </a:r>
            <a:r>
              <a:rPr sz="2600" b="0">
                <a:latin typeface="Cambria"/>
              </a:rPr>
              <a:t> section,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for the </a:t>
            </a:r>
            <a:r>
              <a:rPr sz="2600" b="1">
                <a:latin typeface="Cambria"/>
              </a:rPr>
              <a:t>lifetime</a:t>
            </a:r>
            <a:r>
              <a:rPr sz="2600" b="0">
                <a:latin typeface="Cambria"/>
              </a:rPr>
              <a:t> of the program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Using a Global from Another File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another.c: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extern int stepG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void reset ( void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	stepG = 10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Usable in any scope and file that declares it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Globals in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Same as C,  plus  </a:t>
            </a:r>
            <a:r>
              <a:rPr sz="2500" b="1">
                <a:latin typeface="Cambria"/>
              </a:rPr>
              <a:t>namespaces</a:t>
            </a:r>
            <a:r>
              <a:rPr sz="2500" b="0">
                <a:latin typeface="Cambria"/>
              </a:rPr>
              <a:t>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namespace sensor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	int stepG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sensor::stepG = 10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A namespace keeps global names from colliding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Globals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static mut STEP_G : i32 = 0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unsafe {  STEP_G = 10 ; 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Every read or write of a </a:t>
            </a:r>
            <a:r>
              <a:rPr sz="2600" b="1">
                <a:latin typeface="Cambria"/>
              </a:rPr>
              <a:t>mutable</a:t>
            </a:r>
            <a:r>
              <a:rPr sz="2600" b="0">
                <a:latin typeface="Cambria"/>
              </a:rPr>
              <a:t> global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needs  </a:t>
            </a:r>
            <a:r>
              <a:rPr sz="2600" b="1">
                <a:latin typeface="Cambria"/>
              </a:rPr>
              <a:t>unsafe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Rust is telling you globals are risky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Safe Globals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use std::sync::atomic::{ AtomicI32, Ordering }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static STEP_G : AtomicI32 = AtomicI32::new ( 0 )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STEP_G.store ( 10, Ordering::Relaxed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let s = STEP_G.load ( Ordering::Relaxed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No unsafe - the type makes sharing safe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Limiting Persistent Visibility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What if a persistent variable should be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visible to </a:t>
            </a:r>
            <a:r>
              <a:rPr sz="2800" b="1">
                <a:latin typeface="Cambria"/>
              </a:rPr>
              <a:t>one file</a:t>
            </a:r>
            <a:r>
              <a:rPr sz="2800" b="0">
                <a:latin typeface="Cambria"/>
              </a:rPr>
              <a:t> only?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Use a  </a:t>
            </a:r>
            <a:r>
              <a:rPr sz="2800" b="1">
                <a:latin typeface="Cambria"/>
              </a:rPr>
              <a:t>static</a:t>
            </a:r>
            <a:r>
              <a:rPr sz="2800" b="0">
                <a:latin typeface="Cambria"/>
              </a:rPr>
              <a:t>  definition: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	static int stepS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What is its scope?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File Scope:  static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Defined outside any function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Scope:  every function that </a:t>
            </a:r>
            <a:r>
              <a:rPr sz="2400" b="1">
                <a:latin typeface="Cambria"/>
              </a:rPr>
              <a:t>follows</a:t>
            </a:r>
            <a:r>
              <a:rPr sz="2400" b="0">
                <a:latin typeface="Cambria"/>
              </a:rPr>
              <a:t> in the file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static int stepS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void my_function ( int expand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	stepS = expand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Other files cannot reach it, even with extern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File Scope in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static  works as in C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Preferred:  an </a:t>
            </a:r>
            <a:r>
              <a:rPr sz="2500" b="1">
                <a:latin typeface="Cambria"/>
              </a:rPr>
              <a:t>unnamed namespace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namespace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	int stepS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Everything inside is private to this file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Module Scope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4663440" algn="l"/>
              </a:tabLst>
            </a:pPr>
            <a:r>
              <a:rPr sz="2400" b="0">
                <a:latin typeface="Cambria"/>
              </a:rPr>
              <a:t>Everything is </a:t>
            </a:r>
            <a:r>
              <a:rPr sz="2400" b="1">
                <a:latin typeface="Cambria"/>
              </a:rPr>
              <a:t>private</a:t>
            </a:r>
            <a:r>
              <a:rPr sz="2400" b="0">
                <a:latin typeface="Cambria"/>
              </a:rPr>
              <a:t> to its module</a:t>
            </a:r>
          </a:p>
          <a:p>
            <a:pPr>
              <a:tabLst>
                <a:tab pos="548640" algn="l"/>
                <a:tab pos="4663440" algn="l"/>
              </a:tabLst>
            </a:pPr>
            <a:r>
              <a:rPr sz="2400" b="0">
                <a:latin typeface="Cambria"/>
              </a:rPr>
              <a:t>unless marked  </a:t>
            </a:r>
            <a:r>
              <a:rPr sz="2400" b="1">
                <a:latin typeface="Cambria"/>
              </a:rPr>
              <a:t>pub</a:t>
            </a:r>
          </a:p>
          <a:p>
            <a:pPr>
              <a:tabLst>
                <a:tab pos="548640" algn="l"/>
                <a:tab pos="466344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4663440" algn="l"/>
              </a:tabLst>
            </a:pPr>
            <a:r>
              <a:rPr sz="2400" b="0">
                <a:latin typeface="Cambria"/>
              </a:rPr>
              <a:t>	static STEP_S : i32 = 0 ;	this module only</a:t>
            </a:r>
          </a:p>
          <a:p>
            <a:pPr>
              <a:tabLst>
                <a:tab pos="548640" algn="l"/>
                <a:tab pos="4663440" algn="l"/>
              </a:tabLst>
            </a:pPr>
            <a:r>
              <a:rPr sz="2400" b="0">
                <a:latin typeface="Cambria"/>
              </a:rPr>
              <a:t>	pub static STEP_G : i32 = 0 ;	visible to other modules</a:t>
            </a:r>
          </a:p>
          <a:p>
            <a:pPr>
              <a:tabLst>
                <a:tab pos="548640" algn="l"/>
                <a:tab pos="466344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4663440" algn="l"/>
              </a:tabLst>
            </a:pPr>
            <a:r>
              <a:rPr sz="2400" b="0">
                <a:latin typeface="Cambria"/>
              </a:rPr>
              <a:t>Rust's default is C's  static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Limiting Function Visibility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A function can be private to its file too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Declaration: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static &lt;return_type&gt; &lt;name&gt; ( arglist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Definition: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static &lt;return_type&gt; &lt;name&gt; ( arglist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	...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}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 Private Function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file:  compute.c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static int my_static_func ( int x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	return ( x * x ) - 1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This function only exists in  </a:t>
            </a:r>
            <a:r>
              <a:rPr sz="2500" b="1">
                <a:latin typeface="Cambria"/>
              </a:rPr>
              <a:t>compute.o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No other file can call it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3600" b="1" dirty="0" smtClean="0">
                <a:solidFill>
                  <a:schemeClr val="lt1"/>
                </a:solidFill>
                <a:latin typeface="Arial"/>
              </a:rPr>
              <a:t>Private Functions in C++ and Rust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3657600" algn="l"/>
              </a:tabLst>
            </a:pPr>
            <a:r>
              <a:rPr sz="2400" b="0">
                <a:latin typeface="Cambria"/>
              </a:rPr>
              <a:t>C++:</a:t>
            </a:r>
          </a:p>
          <a:p>
            <a:pPr>
              <a:tabLst>
                <a:tab pos="548640" algn="l"/>
                <a:tab pos="3657600" algn="l"/>
              </a:tabLst>
            </a:pPr>
            <a:r>
              <a:rPr sz="2400" b="0">
                <a:latin typeface="Cambria"/>
              </a:rPr>
              <a:t>	static  or an unnamed namespace</a:t>
            </a:r>
          </a:p>
          <a:p>
            <a:pPr>
              <a:tabLst>
                <a:tab pos="548640" algn="l"/>
                <a:tab pos="3657600" algn="l"/>
              </a:tabLst>
            </a:pPr>
            <a:r>
              <a:rPr sz="2400" b="0">
                <a:latin typeface="Cambria"/>
              </a:rPr>
              <a:t>	private:  member functions of a class</a:t>
            </a:r>
          </a:p>
          <a:p>
            <a:pPr>
              <a:tabLst>
                <a:tab pos="548640" algn="l"/>
                <a:tab pos="365760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3657600" algn="l"/>
              </a:tabLst>
            </a:pPr>
            <a:r>
              <a:rPr sz="2400" b="0">
                <a:latin typeface="Cambria"/>
              </a:rPr>
              <a:t>Rust:</a:t>
            </a:r>
          </a:p>
          <a:p>
            <a:pPr>
              <a:tabLst>
                <a:tab pos="548640" algn="l"/>
                <a:tab pos="3657600" algn="l"/>
              </a:tabLst>
            </a:pPr>
            <a:r>
              <a:rPr sz="2400" b="0">
                <a:latin typeface="Cambria"/>
              </a:rPr>
              <a:t>	fn helper ( )	private to the module</a:t>
            </a:r>
          </a:p>
          <a:p>
            <a:pPr>
              <a:tabLst>
                <a:tab pos="548640" algn="l"/>
                <a:tab pos="3657600" algn="l"/>
              </a:tabLst>
            </a:pPr>
            <a:r>
              <a:rPr sz="2400" b="0">
                <a:latin typeface="Cambria"/>
              </a:rPr>
              <a:t>	pub fn api ( )	visible to other modules</a:t>
            </a:r>
          </a:p>
          <a:p>
            <a:pPr>
              <a:tabLst>
                <a:tab pos="548640" algn="l"/>
                <a:tab pos="3657600" algn="l"/>
              </a:tabLst>
            </a:pPr>
            <a:r>
              <a:rPr sz="2400" b="0">
                <a:latin typeface="Cambria"/>
              </a:rPr>
              <a:t>	pub(crate) fn tool ( )	visible in this crate only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Global and Static:  main.c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4023360" algn="l"/>
              </a:tabLst>
            </a:pPr>
            <a:r>
              <a:rPr sz="1900" b="0">
                <a:latin typeface="Cambria"/>
              </a:rPr>
              <a:t>#include &lt;stdio.h&gt;</a:t>
            </a:r>
          </a:p>
          <a:p>
            <a:pPr>
              <a:tabLst>
                <a:tab pos="548640" algn="l"/>
                <a:tab pos="4023360" algn="l"/>
              </a:tabLst>
            </a:pPr>
            <a:r>
              <a:rPr sz="1900" b="0">
                <a:latin typeface="Cambria"/>
              </a:rPr>
              <a:t>extern void my_sub ( void ) ;</a:t>
            </a:r>
          </a:p>
          <a:p>
            <a:pPr>
              <a:tabLst>
                <a:tab pos="548640" algn="l"/>
                <a:tab pos="4023360" algn="l"/>
              </a:tabLst>
            </a:pPr>
            <a:r>
              <a:rPr sz="1900" b="0">
                <a:latin typeface="Cambria"/>
              </a:rPr>
              <a:t>int countG ;	global definition</a:t>
            </a:r>
          </a:p>
          <a:p>
            <a:pPr>
              <a:tabLst>
                <a:tab pos="548640" algn="l"/>
                <a:tab pos="4023360" algn="l"/>
              </a:tabLst>
            </a:pPr>
            <a:r>
              <a:rPr sz="1900" b="0">
                <a:latin typeface="Cambria"/>
              </a:rPr>
              <a:t>static int resetS ;	static definition</a:t>
            </a:r>
          </a:p>
          <a:p>
            <a:pPr>
              <a:tabLst>
                <a:tab pos="548640" algn="l"/>
                <a:tab pos="4023360" algn="l"/>
              </a:tabLst>
            </a:pPr>
            <a:r>
              <a:rPr sz="1900">
                <a:latin typeface="Cambria"/>
              </a:rPr>
              <a:t> </a:t>
            </a:r>
          </a:p>
          <a:p>
            <a:pPr>
              <a:tabLst>
                <a:tab pos="548640" algn="l"/>
                <a:tab pos="4023360" algn="l"/>
              </a:tabLst>
            </a:pPr>
            <a:r>
              <a:rPr sz="1900" b="0">
                <a:latin typeface="Cambria"/>
              </a:rPr>
              <a:t>int main ( int argc, char *argv[] ) {</a:t>
            </a:r>
          </a:p>
          <a:p>
            <a:pPr>
              <a:tabLst>
                <a:tab pos="548640" algn="l"/>
                <a:tab pos="4023360" algn="l"/>
              </a:tabLst>
            </a:pPr>
            <a:r>
              <a:rPr sz="1900" b="0">
                <a:latin typeface="Cambria"/>
              </a:rPr>
              <a:t>	countG = 1 ;</a:t>
            </a:r>
          </a:p>
          <a:p>
            <a:pPr>
              <a:tabLst>
                <a:tab pos="548640" algn="l"/>
                <a:tab pos="4023360" algn="l"/>
              </a:tabLst>
            </a:pPr>
            <a:r>
              <a:rPr sz="1900" b="0">
                <a:latin typeface="Cambria"/>
              </a:rPr>
              <a:t>	resetS = 1 ;</a:t>
            </a:r>
          </a:p>
          <a:p>
            <a:pPr>
              <a:tabLst>
                <a:tab pos="548640" algn="l"/>
                <a:tab pos="4023360" algn="l"/>
              </a:tabLst>
            </a:pPr>
            <a:r>
              <a:rPr sz="1900" b="0">
                <a:latin typeface="Cambria"/>
              </a:rPr>
              <a:t>	my_sub ( ) ;</a:t>
            </a:r>
          </a:p>
          <a:p>
            <a:pPr>
              <a:tabLst>
                <a:tab pos="548640" algn="l"/>
                <a:tab pos="4023360" algn="l"/>
              </a:tabLst>
            </a:pPr>
            <a:r>
              <a:rPr sz="1900" b="0">
                <a:latin typeface="Cambria"/>
              </a:rPr>
              <a:t>	fprintf ( stderr, "countG is %d not 1\n", countG ) ;</a:t>
            </a:r>
          </a:p>
          <a:p>
            <a:pPr>
              <a:tabLst>
                <a:tab pos="548640" algn="l"/>
                <a:tab pos="4023360" algn="l"/>
              </a:tabLst>
            </a:pPr>
            <a:r>
              <a:rPr sz="1900" b="0">
                <a:latin typeface="Cambria"/>
              </a:rPr>
              <a:t>	fprintf ( stderr, "reset is still %d\n", resetS ) ;</a:t>
            </a:r>
          </a:p>
          <a:p>
            <a:pPr>
              <a:tabLst>
                <a:tab pos="548640" algn="l"/>
                <a:tab pos="4023360" algn="l"/>
              </a:tabLst>
            </a:pPr>
            <a:r>
              <a:rPr sz="1900" b="0">
                <a:latin typeface="Cambria"/>
              </a:rPr>
              <a:t>	return 0 ;</a:t>
            </a:r>
          </a:p>
          <a:p>
            <a:pPr>
              <a:tabLst>
                <a:tab pos="548640" algn="l"/>
                <a:tab pos="4023360" algn="l"/>
              </a:tabLst>
            </a:pPr>
            <a:r>
              <a:rPr sz="1900" b="0">
                <a:latin typeface="Cambria"/>
              </a:rPr>
              <a:t>}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Global and Static:  mysub.c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4023360" algn="l"/>
              </a:tabLst>
            </a:pPr>
            <a:r>
              <a:rPr sz="1900" b="0">
                <a:latin typeface="Cambria"/>
              </a:rPr>
              <a:t>#include &lt;stdio.h&gt;</a:t>
            </a:r>
          </a:p>
          <a:p>
            <a:pPr>
              <a:tabLst>
                <a:tab pos="548640" algn="l"/>
                <a:tab pos="4023360" algn="l"/>
              </a:tabLst>
            </a:pPr>
            <a:r>
              <a:rPr sz="1900" b="0">
                <a:latin typeface="Cambria"/>
              </a:rPr>
              <a:t>extern int countG ;	global reference</a:t>
            </a:r>
          </a:p>
          <a:p>
            <a:pPr>
              <a:tabLst>
                <a:tab pos="548640" algn="l"/>
                <a:tab pos="4023360" algn="l"/>
              </a:tabLst>
            </a:pPr>
            <a:r>
              <a:rPr sz="1900" b="0">
                <a:latin typeface="Cambria"/>
              </a:rPr>
              <a:t>static int resetS ;	a </a:t>
            </a:r>
            <a:r>
              <a:rPr sz="1900" b="1">
                <a:latin typeface="Cambria"/>
              </a:rPr>
              <a:t>different</a:t>
            </a:r>
            <a:r>
              <a:rPr sz="1900" b="0">
                <a:latin typeface="Cambria"/>
              </a:rPr>
              <a:t> resetS</a:t>
            </a:r>
          </a:p>
          <a:p>
            <a:pPr>
              <a:tabLst>
                <a:tab pos="548640" algn="l"/>
                <a:tab pos="4023360" algn="l"/>
              </a:tabLst>
            </a:pPr>
            <a:r>
              <a:rPr sz="1900">
                <a:latin typeface="Cambria"/>
              </a:rPr>
              <a:t> </a:t>
            </a:r>
          </a:p>
          <a:p>
            <a:pPr>
              <a:tabLst>
                <a:tab pos="548640" algn="l"/>
                <a:tab pos="4023360" algn="l"/>
              </a:tabLst>
            </a:pPr>
            <a:r>
              <a:rPr sz="1900" b="0">
                <a:latin typeface="Cambria"/>
              </a:rPr>
              <a:t>void my_sub ( void ) {</a:t>
            </a:r>
          </a:p>
          <a:p>
            <a:pPr>
              <a:tabLst>
                <a:tab pos="548640" algn="l"/>
                <a:tab pos="4023360" algn="l"/>
              </a:tabLst>
            </a:pPr>
            <a:r>
              <a:rPr sz="1900" b="0">
                <a:latin typeface="Cambria"/>
              </a:rPr>
              <a:t>	countG = 2 ;</a:t>
            </a:r>
          </a:p>
          <a:p>
            <a:pPr>
              <a:tabLst>
                <a:tab pos="548640" algn="l"/>
                <a:tab pos="4023360" algn="l"/>
              </a:tabLst>
            </a:pPr>
            <a:r>
              <a:rPr sz="1900" b="0">
                <a:latin typeface="Cambria"/>
              </a:rPr>
              <a:t>	resetS = 0 ;</a:t>
            </a:r>
          </a:p>
          <a:p>
            <a:pPr>
              <a:tabLst>
                <a:tab pos="548640" algn="l"/>
                <a:tab pos="4023360" algn="l"/>
              </a:tabLst>
            </a:pPr>
            <a:r>
              <a:rPr sz="1900" b="0">
                <a:latin typeface="Cambria"/>
              </a:rPr>
              <a:t>	fprintf ( stderr, "countG in my_sub is %d\n", countG ) ;</a:t>
            </a:r>
          </a:p>
          <a:p>
            <a:pPr>
              <a:tabLst>
                <a:tab pos="548640" algn="l"/>
                <a:tab pos="4023360" algn="l"/>
              </a:tabLst>
            </a:pPr>
            <a:r>
              <a:rPr sz="1900" b="0">
                <a:latin typeface="Cambria"/>
              </a:rPr>
              <a:t>	fprintf ( stderr, "resetS in my_sub is %d\n", resetS ) ;</a:t>
            </a:r>
          </a:p>
          <a:p>
            <a:pPr>
              <a:tabLst>
                <a:tab pos="548640" algn="l"/>
                <a:tab pos="4023360" algn="l"/>
              </a:tabLst>
            </a:pPr>
            <a:r>
              <a:rPr sz="1900" b="0">
                <a:latin typeface="Cambria"/>
              </a:rPr>
              <a:t>}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Symbol Tables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4754880" algn="l"/>
                <a:tab pos="5303520" algn="l"/>
              </a:tabLst>
            </a:pPr>
            <a:r>
              <a:rPr sz="2000" b="0">
                <a:latin typeface="Cambria"/>
              </a:rPr>
              <a:t>gcc -c main.c  ;  nm main.o	gcc -c mysub.c  ;  nm mysub.o</a:t>
            </a:r>
          </a:p>
          <a:p>
            <a:pPr>
              <a:tabLst>
                <a:tab pos="548640" algn="l"/>
                <a:tab pos="4754880" algn="l"/>
                <a:tab pos="5303520" algn="l"/>
              </a:tabLst>
            </a:pPr>
            <a:r>
              <a:rPr sz="2000">
                <a:latin typeface="Cambria"/>
              </a:rPr>
              <a:t> </a:t>
            </a:r>
          </a:p>
          <a:p>
            <a:pPr>
              <a:tabLst>
                <a:tab pos="548640" algn="l"/>
                <a:tab pos="4754880" algn="l"/>
                <a:tab pos="5303520" algn="l"/>
              </a:tabLst>
            </a:pPr>
            <a:r>
              <a:rPr sz="2000" b="0">
                <a:latin typeface="Cambria"/>
              </a:rPr>
              <a:t>	C  _countG		U  _countG</a:t>
            </a:r>
          </a:p>
          <a:p>
            <a:pPr>
              <a:tabLst>
                <a:tab pos="548640" algn="l"/>
                <a:tab pos="4754880" algn="l"/>
                <a:tab pos="5303520" algn="l"/>
              </a:tabLst>
            </a:pPr>
            <a:r>
              <a:rPr sz="2000" b="0">
                <a:latin typeface="Cambria"/>
              </a:rPr>
              <a:t>	T  _main		T  _my_sub</a:t>
            </a:r>
          </a:p>
          <a:p>
            <a:pPr>
              <a:tabLst>
                <a:tab pos="548640" algn="l"/>
                <a:tab pos="4754880" algn="l"/>
                <a:tab pos="5303520" algn="l"/>
              </a:tabLst>
            </a:pPr>
            <a:r>
              <a:rPr sz="2000" b="0">
                <a:latin typeface="Cambria"/>
              </a:rPr>
              <a:t>	U  _my_sub		s  _resetS</a:t>
            </a:r>
          </a:p>
          <a:p>
            <a:pPr>
              <a:tabLst>
                <a:tab pos="548640" algn="l"/>
                <a:tab pos="4754880" algn="l"/>
                <a:tab pos="5303520" algn="l"/>
              </a:tabLst>
            </a:pPr>
            <a:r>
              <a:rPr sz="2000" b="0">
                <a:latin typeface="Cambria"/>
              </a:rPr>
              <a:t>	s  _resetS</a:t>
            </a:r>
          </a:p>
          <a:p>
            <a:pPr>
              <a:tabLst>
                <a:tab pos="548640" algn="l"/>
                <a:tab pos="4754880" algn="l"/>
                <a:tab pos="5303520" algn="l"/>
              </a:tabLst>
            </a:pPr>
            <a:r>
              <a:rPr sz="2000">
                <a:latin typeface="Cambria"/>
              </a:rPr>
              <a:t> </a:t>
            </a:r>
          </a:p>
          <a:p>
            <a:pPr>
              <a:tabLst>
                <a:tab pos="548640" algn="l"/>
                <a:tab pos="4754880" algn="l"/>
                <a:tab pos="5303520" algn="l"/>
              </a:tabLst>
            </a:pPr>
            <a:r>
              <a:rPr sz="2000" b="1">
                <a:latin typeface="Cambria"/>
              </a:rPr>
              <a:t>T</a:t>
            </a:r>
            <a:r>
              <a:rPr sz="2000" b="0">
                <a:latin typeface="Cambria"/>
              </a:rPr>
              <a:t> text   </a:t>
            </a:r>
            <a:r>
              <a:rPr sz="2000" b="1">
                <a:latin typeface="Cambria"/>
              </a:rPr>
              <a:t>U</a:t>
            </a:r>
            <a:r>
              <a:rPr sz="2000" b="0">
                <a:latin typeface="Cambria"/>
              </a:rPr>
              <a:t> undefined - linker must find it</a:t>
            </a:r>
          </a:p>
          <a:p>
            <a:pPr>
              <a:tabLst>
                <a:tab pos="548640" algn="l"/>
                <a:tab pos="4754880" algn="l"/>
                <a:tab pos="5303520" algn="l"/>
              </a:tabLst>
            </a:pPr>
            <a:r>
              <a:rPr sz="2000" b="1">
                <a:latin typeface="Cambria"/>
              </a:rPr>
              <a:t>C</a:t>
            </a:r>
            <a:r>
              <a:rPr sz="2000" b="0">
                <a:latin typeface="Cambria"/>
              </a:rPr>
              <a:t> global data   </a:t>
            </a:r>
            <a:r>
              <a:rPr sz="2000" b="1">
                <a:latin typeface="Cambria"/>
              </a:rPr>
              <a:t>s</a:t>
            </a:r>
            <a:r>
              <a:rPr sz="2000" b="0">
                <a:latin typeface="Cambria"/>
              </a:rPr>
              <a:t> lowercase = file private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After Linking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2926080" algn="l"/>
              </a:tabLst>
            </a:pPr>
            <a:r>
              <a:rPr sz="2200" b="0">
                <a:latin typeface="Cambria"/>
              </a:rPr>
              <a:t>gcc -o myprog main.o mysub.o  ;  nm myprog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200" b="0">
                <a:latin typeface="Cambria"/>
              </a:rPr>
              <a:t>	S  _countG	</a:t>
            </a:r>
            <a:r>
              <a:rPr sz="2200" b="1">
                <a:latin typeface="Cambria"/>
              </a:rPr>
              <a:t>one</a:t>
            </a:r>
            <a:r>
              <a:rPr sz="2200" b="0">
                <a:latin typeface="Cambria"/>
              </a:rPr>
              <a:t> common copy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200" b="0">
                <a:latin typeface="Cambria"/>
              </a:rPr>
              <a:t>	s  _resetS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200" b="0">
                <a:latin typeface="Cambria"/>
              </a:rPr>
              <a:t>	s  _resetS	</a:t>
            </a:r>
            <a:r>
              <a:rPr sz="2200" b="1">
                <a:latin typeface="Cambria"/>
              </a:rPr>
              <a:t>two</a:t>
            </a:r>
            <a:r>
              <a:rPr sz="2200" b="0">
                <a:latin typeface="Cambria"/>
              </a:rPr>
              <a:t> separate copies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200" b="0">
                <a:latin typeface="Cambria"/>
              </a:rPr>
              <a:t>	T  _main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200" b="0">
                <a:latin typeface="Cambria"/>
              </a:rPr>
              <a:t>	T  _my_sub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200" b="0">
                <a:latin typeface="Cambria"/>
              </a:rPr>
              <a:t>The linker joins globals by name;  statics stay apart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Running It:  Side Effects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4206240" algn="l"/>
              </a:tabLst>
            </a:pPr>
            <a:r>
              <a:rPr sz="2400" b="0">
                <a:latin typeface="Cambria"/>
              </a:rPr>
              <a:t>./myprog</a:t>
            </a:r>
          </a:p>
          <a:p>
            <a:pPr>
              <a:tabLst>
                <a:tab pos="548640" algn="l"/>
                <a:tab pos="4206240" algn="l"/>
              </a:tabLst>
            </a:pPr>
            <a:r>
              <a:rPr sz="2400" b="0">
                <a:latin typeface="Cambria"/>
              </a:rPr>
              <a:t>	countG in my_sub is 2</a:t>
            </a:r>
          </a:p>
          <a:p>
            <a:pPr>
              <a:tabLst>
                <a:tab pos="548640" algn="l"/>
                <a:tab pos="4206240" algn="l"/>
              </a:tabLst>
            </a:pPr>
            <a:r>
              <a:rPr sz="2400" b="0">
                <a:latin typeface="Cambria"/>
              </a:rPr>
              <a:t>	resetS in my_sub is 0</a:t>
            </a:r>
          </a:p>
          <a:p>
            <a:pPr>
              <a:tabLst>
                <a:tab pos="548640" algn="l"/>
                <a:tab pos="4206240" algn="l"/>
              </a:tabLst>
            </a:pPr>
            <a:r>
              <a:rPr sz="2400" b="0">
                <a:latin typeface="Cambria"/>
              </a:rPr>
              <a:t>	countG is 2 not 1	</a:t>
            </a:r>
            <a:r>
              <a:rPr sz="2400" b="1">
                <a:latin typeface="Cambria"/>
              </a:rPr>
              <a:t>side effect</a:t>
            </a:r>
          </a:p>
          <a:p>
            <a:pPr>
              <a:tabLst>
                <a:tab pos="548640" algn="l"/>
                <a:tab pos="4206240" algn="l"/>
              </a:tabLst>
            </a:pPr>
            <a:r>
              <a:rPr sz="2400" b="0">
                <a:latin typeface="Cambria"/>
              </a:rPr>
              <a:t>	reset is still 1	</a:t>
            </a:r>
            <a:r>
              <a:rPr sz="2400" b="1">
                <a:latin typeface="Cambria"/>
              </a:rPr>
              <a:t>no side effect</a:t>
            </a:r>
          </a:p>
          <a:p>
            <a:pPr>
              <a:tabLst>
                <a:tab pos="548640" algn="l"/>
                <a:tab pos="420624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4206240" algn="l"/>
              </a:tabLst>
            </a:pPr>
            <a:r>
              <a:rPr sz="2400" b="0">
                <a:latin typeface="Cambria"/>
              </a:rPr>
              <a:t>main set countG to 1;  my_sub changed it to 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Why Globals Are Slow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4206240" algn="l"/>
              </a:tabLst>
            </a:pPr>
            <a:r>
              <a:rPr sz="2200" b="0">
                <a:latin typeface="Cambria"/>
              </a:rPr>
              <a:t>sw   $2, %gp_rel(countG)($28)	countG = 1</a:t>
            </a:r>
          </a:p>
          <a:p>
            <a:pPr>
              <a:tabLst>
                <a:tab pos="4206240" algn="l"/>
              </a:tabLst>
            </a:pPr>
            <a:r>
              <a:rPr sz="2200" b="0">
                <a:latin typeface="Cambria"/>
              </a:rPr>
              <a:t>jal  my_sub	call</a:t>
            </a:r>
          </a:p>
          <a:p>
            <a:pPr>
              <a:tabLst>
                <a:tab pos="4206240" algn="l"/>
              </a:tabLst>
            </a:pPr>
            <a:r>
              <a:rPr sz="2200" b="0">
                <a:latin typeface="Cambria"/>
              </a:rPr>
              <a:t>lw   $2, %gp_rel(countG)($28)	reload countG</a:t>
            </a:r>
          </a:p>
          <a:p>
            <a:pPr>
              <a:tabLst>
                <a:tab pos="420624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4206240" algn="l"/>
              </a:tabLst>
            </a:pPr>
            <a:r>
              <a:rPr sz="2200" b="0">
                <a:latin typeface="Cambria"/>
              </a:rPr>
              <a:t>The compiler must assume </a:t>
            </a:r>
            <a:r>
              <a:rPr sz="2200" b="1">
                <a:latin typeface="Cambria"/>
              </a:rPr>
              <a:t>any</a:t>
            </a:r>
            <a:r>
              <a:rPr sz="2200" b="0">
                <a:latin typeface="Cambria"/>
              </a:rPr>
              <a:t> call it cannot see</a:t>
            </a:r>
          </a:p>
          <a:p>
            <a:pPr>
              <a:tabLst>
                <a:tab pos="4206240" algn="l"/>
              </a:tabLst>
            </a:pPr>
            <a:r>
              <a:rPr sz="2200" b="0">
                <a:latin typeface="Cambria"/>
              </a:rPr>
              <a:t>may change a global - so it reloads it</a:t>
            </a:r>
          </a:p>
          <a:p>
            <a:pPr>
              <a:tabLst>
                <a:tab pos="420624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4206240" algn="l"/>
              </a:tabLst>
            </a:pPr>
            <a:r>
              <a:rPr sz="2200" b="0">
                <a:latin typeface="Cambria"/>
              </a:rPr>
              <a:t>Prefer local variables and  const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Same Program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main.rs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	mod mysub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	pub static COUNT_G : AtomicI32 = AtomicI32::new ( 0 )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	static RESET_S : AtomicI32 = AtomicI32::new ( 0 )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mysub.rs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	use crate::COUNT_G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	static RESET_S : AtomicI32 = AtomicI32::new ( 0 )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Two RESET_S - one per module, like C's static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volatile Attribute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Tells the compiler the variable could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1">
                <a:latin typeface="Cambria"/>
              </a:rPr>
              <a:t>change at any time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The compiler will not optimize its reads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or writes away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Declared in C and C++ with  </a:t>
            </a:r>
            <a:r>
              <a:rPr sz="2800" b="1">
                <a:latin typeface="Cambria"/>
              </a:rPr>
              <a:t>volatile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When You Need volatile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</a:tabLst>
            </a:pPr>
            <a:r>
              <a:rPr sz="2500" b="0">
                <a:latin typeface="Cambria"/>
              </a:rPr>
              <a:t>In practice, only three kinds of variable:</a:t>
            </a:r>
          </a:p>
          <a:p>
            <a:pPr>
              <a:tabLst>
                <a:tab pos="54864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</a:tabLst>
            </a:pPr>
            <a:r>
              <a:rPr sz="2500" b="0">
                <a:latin typeface="Cambria"/>
              </a:rPr>
              <a:t>1.	Memory-mapped </a:t>
            </a:r>
            <a:r>
              <a:rPr sz="2500" b="1">
                <a:latin typeface="Cambria"/>
              </a:rPr>
              <a:t>peripheral registers</a:t>
            </a:r>
          </a:p>
          <a:p>
            <a:pPr>
              <a:tabLst>
                <a:tab pos="54864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</a:tabLst>
            </a:pPr>
            <a:r>
              <a:rPr sz="2500" b="0">
                <a:latin typeface="Cambria"/>
              </a:rPr>
              <a:t>2.	Globals changed by an </a:t>
            </a:r>
            <a:r>
              <a:rPr sz="2500" b="1">
                <a:latin typeface="Cambria"/>
              </a:rPr>
              <a:t>interrupt</a:t>
            </a:r>
            <a:r>
              <a:rPr sz="2500" b="0">
                <a:latin typeface="Cambria"/>
              </a:rPr>
              <a:t> routine</a:t>
            </a:r>
          </a:p>
          <a:p>
            <a:pPr>
              <a:tabLst>
                <a:tab pos="54864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</a:tabLst>
            </a:pPr>
            <a:r>
              <a:rPr sz="2500" b="0">
                <a:latin typeface="Cambria"/>
              </a:rPr>
              <a:t>3.	Globals shared by </a:t>
            </a:r>
            <a:r>
              <a:rPr sz="2500" b="1">
                <a:latin typeface="Cambria"/>
              </a:rPr>
              <a:t>multiple tasks</a:t>
            </a:r>
          </a:p>
          <a:p>
            <a:pPr>
              <a:tabLst>
                <a:tab pos="548640" algn="l"/>
              </a:tabLst>
            </a:pPr>
            <a:r>
              <a:rPr sz="2500" b="0">
                <a:latin typeface="Cambria"/>
              </a:rPr>
              <a:t>	in a multi-threaded program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Register Without volatile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uint8_t *my_reg = ( uint8_t * ) 0xC000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// wait for the register to read non-zero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do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} while ( ! ( *my_reg )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The optimizer reads  *my_reg  </a:t>
            </a:r>
            <a:r>
              <a:rPr sz="2400" b="1">
                <a:latin typeface="Cambria"/>
              </a:rPr>
              <a:t>once</a:t>
            </a:r>
            <a:r>
              <a:rPr sz="2400" b="0">
                <a:latin typeface="Cambria"/>
              </a:rPr>
              <a:t>,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before the loop.  It sees nothing that could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change it - so the loop never ends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Register With volatile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uint8_t volatile *my_reg = ( uint8_t * ) 0xC000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do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} while ( ! ( *my_reg )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Now every pass </a:t>
            </a:r>
            <a:r>
              <a:rPr sz="2400" b="1">
                <a:latin typeface="Cambria"/>
              </a:rPr>
              <a:t>re-reads</a:t>
            </a:r>
            <a:r>
              <a:rPr sz="2400" b="0">
                <a:latin typeface="Cambria"/>
              </a:rPr>
              <a:t> the register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The </a:t>
            </a:r>
            <a:r>
              <a:rPr sz="2400" b="1">
                <a:latin typeface="Cambria"/>
              </a:rPr>
              <a:t>data</a:t>
            </a:r>
            <a:r>
              <a:rPr sz="2400" b="0">
                <a:latin typeface="Cambria"/>
              </a:rPr>
              <a:t> is volatile, not the pointer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Interrupt Flag Without volatile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920240" algn="l"/>
              </a:tabLst>
            </a:pPr>
            <a:r>
              <a:rPr sz="2400" b="0">
                <a:latin typeface="Cambria"/>
              </a:rPr>
              <a:t>bool gb_etx_foundG = false ;</a:t>
            </a:r>
          </a:p>
          <a:p>
            <a:pPr>
              <a:tabLst>
                <a:tab pos="192024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1920240" algn="l"/>
              </a:tabLst>
            </a:pPr>
            <a:r>
              <a:rPr sz="2400" b="0">
                <a:latin typeface="Cambria"/>
              </a:rPr>
              <a:t>main:	while ( !gb_etx_foundG ) {  }</a:t>
            </a:r>
          </a:p>
          <a:p>
            <a:pPr>
              <a:tabLst>
                <a:tab pos="192024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1920240" algn="l"/>
              </a:tabLst>
            </a:pPr>
            <a:r>
              <a:rPr sz="2400" b="0">
                <a:latin typeface="Cambria"/>
              </a:rPr>
              <a:t>interrupt:	if ( ETX == rx_char )</a:t>
            </a:r>
          </a:p>
          <a:p>
            <a:pPr>
              <a:tabLst>
                <a:tab pos="1920240" algn="l"/>
              </a:tabLst>
            </a:pPr>
            <a:r>
              <a:rPr sz="2400" b="0">
                <a:latin typeface="Cambria"/>
              </a:rPr>
              <a:t>		gb_etx_foundG = true ;</a:t>
            </a:r>
          </a:p>
          <a:p>
            <a:pPr>
              <a:tabLst>
                <a:tab pos="192024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1920240" algn="l"/>
              </a:tabLst>
            </a:pPr>
            <a:r>
              <a:rPr sz="2400" b="0">
                <a:latin typeface="Cambria"/>
              </a:rPr>
              <a:t>No call in the loop - the optimizer may</a:t>
            </a:r>
          </a:p>
          <a:p>
            <a:pPr>
              <a:tabLst>
                <a:tab pos="1920240" algn="l"/>
              </a:tabLst>
            </a:pPr>
            <a:r>
              <a:rPr sz="2400" b="0">
                <a:latin typeface="Cambria"/>
              </a:rPr>
              <a:t>load the flag once and loop forever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Interrupt Flag With volatile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920240" algn="l"/>
              </a:tabLst>
            </a:pPr>
            <a:r>
              <a:rPr sz="2400" b="0">
                <a:latin typeface="Cambria"/>
              </a:rPr>
              <a:t>bool volatile gb_etx_foundG = false ;</a:t>
            </a:r>
          </a:p>
          <a:p>
            <a:pPr>
              <a:tabLst>
                <a:tab pos="192024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1920240" algn="l"/>
              </a:tabLst>
            </a:pPr>
            <a:r>
              <a:rPr sz="2400" b="0">
                <a:latin typeface="Cambria"/>
              </a:rPr>
              <a:t>main:	while ( !gb_etx_foundG ) {  }</a:t>
            </a:r>
          </a:p>
          <a:p>
            <a:pPr>
              <a:tabLst>
                <a:tab pos="192024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1920240" algn="l"/>
              </a:tabLst>
            </a:pPr>
            <a:r>
              <a:rPr sz="2400" b="0">
                <a:latin typeface="Cambria"/>
              </a:rPr>
              <a:t>interrupt:	if ( ETX == rx_char )</a:t>
            </a:r>
          </a:p>
          <a:p>
            <a:pPr>
              <a:tabLst>
                <a:tab pos="1920240" algn="l"/>
              </a:tabLst>
            </a:pPr>
            <a:r>
              <a:rPr sz="2400" b="0">
                <a:latin typeface="Cambria"/>
              </a:rPr>
              <a:t>		gb_etx_foundG = true ;</a:t>
            </a:r>
          </a:p>
          <a:p>
            <a:pPr>
              <a:tabLst>
                <a:tab pos="192024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1920240" algn="l"/>
              </a:tabLst>
            </a:pPr>
            <a:r>
              <a:rPr sz="2400" b="0">
                <a:latin typeface="Cambria"/>
              </a:rPr>
              <a:t>volatile guarantees the compiler reads the</a:t>
            </a:r>
          </a:p>
          <a:p>
            <a:pPr>
              <a:tabLst>
                <a:tab pos="1920240" algn="l"/>
              </a:tabLst>
            </a:pPr>
            <a:r>
              <a:rPr sz="2400" b="0">
                <a:latin typeface="Cambria"/>
              </a:rPr>
              <a:t>flag on every pass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volatile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Rust has </a:t>
            </a:r>
            <a:r>
              <a:rPr sz="2300" b="1">
                <a:latin typeface="Cambria"/>
              </a:rPr>
              <a:t>no</a:t>
            </a:r>
            <a:r>
              <a:rPr sz="2300" b="0">
                <a:latin typeface="Cambria"/>
              </a:rPr>
              <a:t> volatile keyword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Registers:  explicit volatile access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let my_reg = 0xC000 as *const u8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while unsafe { my_reg.read_volatile ( ) } == 0 {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Embedded register crates wrap this for you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Interrupt Flags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737360" algn="l"/>
              </a:tabLst>
            </a:pPr>
            <a:r>
              <a:rPr sz="2100" b="0">
                <a:latin typeface="Cambria"/>
              </a:rPr>
              <a:t>static ETX_FOUND_G : AtomicBool =</a:t>
            </a:r>
          </a:p>
          <a:p>
            <a:pPr>
              <a:tabLst>
                <a:tab pos="548640" algn="l"/>
                <a:tab pos="1737360" algn="l"/>
              </a:tabLst>
            </a:pPr>
            <a:r>
              <a:rPr sz="2100" b="0">
                <a:latin typeface="Cambria"/>
              </a:rPr>
              <a:t>	AtomicBool::new ( false ) ;</a:t>
            </a:r>
          </a:p>
          <a:p>
            <a:pPr>
              <a:tabLst>
                <a:tab pos="548640" algn="l"/>
                <a:tab pos="1737360" algn="l"/>
              </a:tabLst>
            </a:pPr>
            <a:r>
              <a:rPr sz="2100">
                <a:latin typeface="Cambria"/>
              </a:rPr>
              <a:t> </a:t>
            </a:r>
          </a:p>
          <a:p>
            <a:pPr>
              <a:tabLst>
                <a:tab pos="548640" algn="l"/>
                <a:tab pos="1737360" algn="l"/>
              </a:tabLst>
            </a:pPr>
            <a:r>
              <a:rPr sz="2100" b="0">
                <a:latin typeface="Cambria"/>
              </a:rPr>
              <a:t>main:	while !ETX_FOUND_G.load ( Ordering::Acquire ) { }</a:t>
            </a:r>
          </a:p>
          <a:p>
            <a:pPr>
              <a:tabLst>
                <a:tab pos="548640" algn="l"/>
                <a:tab pos="1737360" algn="l"/>
              </a:tabLst>
            </a:pPr>
            <a:r>
              <a:rPr sz="2100">
                <a:latin typeface="Cambria"/>
              </a:rPr>
              <a:t> </a:t>
            </a:r>
          </a:p>
          <a:p>
            <a:pPr>
              <a:tabLst>
                <a:tab pos="548640" algn="l"/>
                <a:tab pos="1737360" algn="l"/>
              </a:tabLst>
            </a:pPr>
            <a:r>
              <a:rPr sz="2100" b="0">
                <a:latin typeface="Cambria"/>
              </a:rPr>
              <a:t>interrupt:	ETX_FOUND_G.store ( true, Ordering::Release ) ;</a:t>
            </a:r>
          </a:p>
          <a:p>
            <a:pPr>
              <a:tabLst>
                <a:tab pos="548640" algn="l"/>
                <a:tab pos="1737360" algn="l"/>
              </a:tabLst>
            </a:pPr>
            <a:r>
              <a:rPr sz="2100">
                <a:latin typeface="Cambria"/>
              </a:rPr>
              <a:t> </a:t>
            </a:r>
          </a:p>
          <a:p>
            <a:pPr>
              <a:tabLst>
                <a:tab pos="548640" algn="l"/>
                <a:tab pos="1737360" algn="l"/>
              </a:tabLst>
            </a:pPr>
            <a:r>
              <a:rPr sz="2100" b="0">
                <a:latin typeface="Cambria"/>
              </a:rPr>
              <a:t>An atomic is both safe and never optimized away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3600" b="1" dirty="0" smtClean="0">
                <a:solidFill>
                  <a:schemeClr val="lt1"/>
                </a:solidFill>
                <a:latin typeface="Arial"/>
              </a:rPr>
              <a:t>volatile Is Not Enough for Threads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volatile stops the compiler removing accesses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It does </a:t>
            </a:r>
            <a:r>
              <a:rPr sz="2400" b="1">
                <a:latin typeface="Cambria"/>
              </a:rPr>
              <a:t>not</a:t>
            </a:r>
            <a:r>
              <a:rPr sz="2400" b="0">
                <a:latin typeface="Cambria"/>
              </a:rPr>
              <a:t> make  x = x + 1  indivisible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Two threads can still lose an update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Use atomics for shared data: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C:  &lt;stdatomic.h&gt;     C++:  std::atomic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Rust:  AtomicI32, AtomicBool, ...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Scope and Lifetime Together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Rectangle 387"/>
          <p:cNvSpPr/>
          <p:nvPr/>
        </p:nvSpPr>
        <p:spPr>
          <a:xfrm>
            <a:off x="685800" y="2011680"/>
            <a:ext cx="2011680" cy="658368"/>
          </a:xfrm>
          <a:prstGeom prst="rect">
            <a:avLst/>
          </a:prstGeom>
          <a:solidFill>
            <a:srgbClr val="D9D9D9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Kind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2697480" y="2011680"/>
            <a:ext cx="2468880" cy="658368"/>
          </a:xfrm>
          <a:prstGeom prst="rect">
            <a:avLst/>
          </a:prstGeom>
          <a:solidFill>
            <a:srgbClr val="D9D9D9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Scope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5166360" y="2011680"/>
            <a:ext cx="2011680" cy="658368"/>
          </a:xfrm>
          <a:prstGeom prst="rect">
            <a:avLst/>
          </a:prstGeom>
          <a:solidFill>
            <a:srgbClr val="D9D9D9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Lifetime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7178040" y="2011680"/>
            <a:ext cx="1463040" cy="658368"/>
          </a:xfrm>
          <a:prstGeom prst="rect">
            <a:avLst/>
          </a:prstGeom>
          <a:solidFill>
            <a:srgbClr val="D9D9D9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Lives in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685800" y="2670048"/>
            <a:ext cx="2011680" cy="658368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auto (local)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2697480" y="2670048"/>
            <a:ext cx="2468880" cy="65836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the block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5166360" y="2670048"/>
            <a:ext cx="2011680" cy="65836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the call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7178040" y="2670048"/>
            <a:ext cx="1463040" cy="65836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stack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685800" y="3328416"/>
            <a:ext cx="2011680" cy="658368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local static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2697480" y="3328416"/>
            <a:ext cx="2468880" cy="65836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the function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5166360" y="3328416"/>
            <a:ext cx="2011680" cy="65836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whole program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7178040" y="3328416"/>
            <a:ext cx="1463040" cy="65836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data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685800" y="3986784"/>
            <a:ext cx="2011680" cy="658368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file static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2697480" y="3986784"/>
            <a:ext cx="2468880" cy="65836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the file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5166360" y="3986784"/>
            <a:ext cx="2011680" cy="65836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whole program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7178040" y="3986784"/>
            <a:ext cx="1463040" cy="65836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data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685800" y="4645152"/>
            <a:ext cx="2011680" cy="658368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global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2697480" y="4645152"/>
            <a:ext cx="2468880" cy="65836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every file (extern)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5166360" y="4645152"/>
            <a:ext cx="2011680" cy="65836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whole program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7178040" y="4645152"/>
            <a:ext cx="1463040" cy="65836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data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685800" y="5303520"/>
            <a:ext cx="2011680" cy="658368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heap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2697480" y="5303520"/>
            <a:ext cx="2468880" cy="65836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via a pointer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5166360" y="5303520"/>
            <a:ext cx="2011680" cy="65836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until freed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7178040" y="5303520"/>
            <a:ext cx="1463040" cy="65836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heap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Across the Three Languages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Rectangle 387"/>
          <p:cNvSpPr/>
          <p:nvPr/>
        </p:nvSpPr>
        <p:spPr>
          <a:xfrm>
            <a:off x="667512" y="1965960"/>
            <a:ext cx="1645920" cy="621792"/>
          </a:xfrm>
          <a:prstGeom prst="rect">
            <a:avLst/>
          </a:prstGeom>
          <a:solidFill>
            <a:srgbClr val="D9D9D9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endParaRPr/>
          </a:p>
        </p:txBody>
      </p:sp>
      <p:sp>
        <p:nvSpPr>
          <p:cNvPr id="389" name="Rectangle 388"/>
          <p:cNvSpPr/>
          <p:nvPr/>
        </p:nvSpPr>
        <p:spPr>
          <a:xfrm>
            <a:off x="2313432" y="1965960"/>
            <a:ext cx="2011680" cy="621792"/>
          </a:xfrm>
          <a:prstGeom prst="rect">
            <a:avLst/>
          </a:prstGeom>
          <a:solidFill>
            <a:srgbClr val="D9D9D9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C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4325112" y="1965960"/>
            <a:ext cx="2514600" cy="621792"/>
          </a:xfrm>
          <a:prstGeom prst="rect">
            <a:avLst/>
          </a:prstGeom>
          <a:solidFill>
            <a:srgbClr val="D9D9D9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C++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6839712" y="1965960"/>
            <a:ext cx="2606040" cy="621792"/>
          </a:xfrm>
          <a:prstGeom prst="rect">
            <a:avLst/>
          </a:prstGeom>
          <a:solidFill>
            <a:srgbClr val="D9D9D9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Rust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667512" y="2587752"/>
            <a:ext cx="1645920" cy="621792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global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2313432" y="2587752"/>
            <a:ext cx="2011680" cy="621792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int xG ;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4325112" y="2587752"/>
            <a:ext cx="2514600" cy="621792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int xG ;  or namespace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6839712" y="2587752"/>
            <a:ext cx="2606040" cy="621792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pub static  (atomic)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667512" y="3209544"/>
            <a:ext cx="1645920" cy="621792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file private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2313432" y="3209544"/>
            <a:ext cx="2011680" cy="621792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static int xS ;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4325112" y="3209544"/>
            <a:ext cx="2514600" cy="621792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namespace { }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6839712" y="3209544"/>
            <a:ext cx="2606040" cy="621792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default  (no pub)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667512" y="3831335"/>
            <a:ext cx="1645920" cy="621792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local static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2313432" y="3831335"/>
            <a:ext cx="2011680" cy="621792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static int xL ;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4325112" y="3831335"/>
            <a:ext cx="2514600" cy="621792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static int xL ;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6839712" y="3831335"/>
            <a:ext cx="2606040" cy="621792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static  (atomic)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667512" y="4453128"/>
            <a:ext cx="1645920" cy="621792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declare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2313432" y="4453128"/>
            <a:ext cx="2011680" cy="621792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extern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4325112" y="4453128"/>
            <a:ext cx="2514600" cy="621792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extern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6839712" y="4453128"/>
            <a:ext cx="2606040" cy="621792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mod  +  use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667512" y="5074920"/>
            <a:ext cx="1645920" cy="621792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heap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2313432" y="5074920"/>
            <a:ext cx="2011680" cy="621792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malloc / free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4325112" y="5074920"/>
            <a:ext cx="2514600" cy="621792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vector, unique_ptr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6839712" y="5074920"/>
            <a:ext cx="2606040" cy="621792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Vec, Box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667512" y="5696712"/>
            <a:ext cx="1645920" cy="621792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volatile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2313432" y="5696712"/>
            <a:ext cx="2011680" cy="621792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volatile</a:t>
            </a:r>
          </a:p>
        </p:txBody>
      </p:sp>
      <p:sp>
        <p:nvSpPr>
          <p:cNvPr id="414" name="Rectangle 413"/>
          <p:cNvSpPr/>
          <p:nvPr/>
        </p:nvSpPr>
        <p:spPr>
          <a:xfrm>
            <a:off x="4325112" y="5696712"/>
            <a:ext cx="2514600" cy="621792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volatile</a:t>
            </a:r>
          </a:p>
        </p:txBody>
      </p:sp>
      <p:sp>
        <p:nvSpPr>
          <p:cNvPr id="415" name="Rectangle 414"/>
          <p:cNvSpPr/>
          <p:nvPr/>
        </p:nvSpPr>
        <p:spPr>
          <a:xfrm>
            <a:off x="6839712" y="5696712"/>
            <a:ext cx="2606040" cy="621792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read_volatile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Good Habits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Prefer </a:t>
            </a:r>
            <a:r>
              <a:rPr sz="2400" b="1">
                <a:latin typeface="Cambria"/>
              </a:rPr>
              <a:t>local</a:t>
            </a:r>
            <a:r>
              <a:rPr sz="2400" b="0">
                <a:latin typeface="Cambria"/>
              </a:rPr>
              <a:t> variables and parameters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Give every name the </a:t>
            </a:r>
            <a:r>
              <a:rPr sz="2400" b="1">
                <a:latin typeface="Cambria"/>
              </a:rPr>
              <a:t>smallest</a:t>
            </a:r>
            <a:r>
              <a:rPr sz="2400" b="0">
                <a:latin typeface="Cambria"/>
              </a:rPr>
              <a:t> scope that works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Make file-only data  </a:t>
            </a:r>
            <a:r>
              <a:rPr sz="2400" b="1">
                <a:latin typeface="Cambria"/>
              </a:rPr>
              <a:t>static</a:t>
            </a:r>
            <a:r>
              <a:rPr sz="2400" b="0">
                <a:latin typeface="Cambria"/>
              </a:rPr>
              <a:t>  ( C )  or private ( Rust 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Mark names:  </a:t>
            </a:r>
            <a:r>
              <a:rPr sz="2400" b="1">
                <a:latin typeface="Cambria"/>
              </a:rPr>
              <a:t>G</a:t>
            </a:r>
            <a:r>
              <a:rPr sz="2400" b="0">
                <a:latin typeface="Cambria"/>
              </a:rPr>
              <a:t> global,  </a:t>
            </a:r>
            <a:r>
              <a:rPr sz="2400" b="1">
                <a:latin typeface="Cambria"/>
              </a:rPr>
              <a:t>S</a:t>
            </a:r>
            <a:r>
              <a:rPr sz="2400" b="0">
                <a:latin typeface="Cambria"/>
              </a:rPr>
              <a:t> file static,  </a:t>
            </a:r>
            <a:r>
              <a:rPr sz="2400" b="1">
                <a:latin typeface="Cambria"/>
              </a:rPr>
              <a:t>L</a:t>
            </a:r>
            <a:r>
              <a:rPr sz="2400" b="0">
                <a:latin typeface="Cambria"/>
              </a:rPr>
              <a:t> local static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Use  </a:t>
            </a:r>
            <a:r>
              <a:rPr sz="2400" b="1">
                <a:latin typeface="Cambria"/>
              </a:rPr>
              <a:t>const</a:t>
            </a:r>
            <a:r>
              <a:rPr sz="2400" b="0">
                <a:latin typeface="Cambria"/>
              </a:rPr>
              <a:t>  for anything that should not change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What We Can Now Do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2377440" algn="l"/>
              </a:tabLst>
            </a:pPr>
            <a:r>
              <a:rPr sz="2600" b="1">
                <a:latin typeface="Cambria"/>
              </a:rPr>
              <a:t>Scope</a:t>
            </a:r>
            <a:r>
              <a:rPr sz="2600" b="0">
                <a:latin typeface="Cambria"/>
              </a:rPr>
              <a:t>	where a name is visible</a:t>
            </a:r>
          </a:p>
          <a:p>
            <a:pPr>
              <a:tabLst>
                <a:tab pos="237744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2377440" algn="l"/>
              </a:tabLst>
            </a:pPr>
            <a:r>
              <a:rPr sz="2600" b="1">
                <a:latin typeface="Cambria"/>
              </a:rPr>
              <a:t>Lifetime</a:t>
            </a:r>
            <a:r>
              <a:rPr sz="2600" b="0">
                <a:latin typeface="Cambria"/>
              </a:rPr>
              <a:t>	how long its memory exists</a:t>
            </a:r>
          </a:p>
          <a:p>
            <a:pPr>
              <a:tabLst>
                <a:tab pos="237744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2377440" algn="l"/>
              </a:tabLst>
            </a:pPr>
            <a:r>
              <a:rPr sz="2600" b="1">
                <a:latin typeface="Cambria"/>
              </a:rPr>
              <a:t>Regions</a:t>
            </a:r>
            <a:r>
              <a:rPr sz="2600" b="0">
                <a:latin typeface="Cambria"/>
              </a:rPr>
              <a:t>	data segment,  stack,  heap</a:t>
            </a:r>
          </a:p>
          <a:p>
            <a:pPr>
              <a:tabLst>
                <a:tab pos="237744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2377440" algn="l"/>
              </a:tabLst>
            </a:pPr>
            <a:r>
              <a:rPr sz="2600" b="1">
                <a:latin typeface="Cambria"/>
              </a:rPr>
              <a:t>Keywords</a:t>
            </a:r>
            <a:r>
              <a:rPr sz="2600" b="0">
                <a:latin typeface="Cambria"/>
              </a:rPr>
              <a:t>	extern   static   volatile   pub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Let's practice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Exercise:  Using </a:t>
            </a:r>
            <a:r>
              <a:rPr sz="2800" b="1">
                <a:latin typeface="Cambria"/>
              </a:rPr>
              <a:t>scopepractice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eme1">
  <a:themeElements>
    <a:clrScheme name="ECS-whitebackground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CS-whitebackground">
      <a:majorFont>
        <a:latin typeface="Arial"/>
        <a:ea typeface="Osaka"/>
        <a:cs typeface="Osaka"/>
      </a:majorFont>
      <a:minorFont>
        <a:latin typeface="Arial"/>
        <a:ea typeface="Osaka"/>
        <a:cs typeface="Osak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Theme1">
  <a:themeElements>
    <a:clrScheme name="ECS-whitebackground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CS-whitebackground">
      <a:majorFont>
        <a:latin typeface="Arial"/>
        <a:ea typeface="Osaka"/>
        <a:cs typeface="Osaka"/>
      </a:majorFont>
      <a:minorFont>
        <a:latin typeface="Arial"/>
        <a:ea typeface="Osaka"/>
        <a:cs typeface="Osak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57842</TotalTime>
  <Words>3691</Words>
  <Application>Microsoft Office PowerPoint</Application>
  <PresentationFormat>Custom</PresentationFormat>
  <Paragraphs>762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74</vt:i4>
      </vt:variant>
    </vt:vector>
  </HeadingPairs>
  <TitlesOfParts>
    <vt:vector size="87" baseType="lpstr">
      <vt:lpstr>ＭＳ Ｐゴシック</vt:lpstr>
      <vt:lpstr>Arial</vt:lpstr>
      <vt:lpstr>Calibri</vt:lpstr>
      <vt:lpstr>Cambria</vt:lpstr>
      <vt:lpstr>DejaVu Sans</vt:lpstr>
      <vt:lpstr>OpenSymbol</vt:lpstr>
      <vt:lpstr>Osaka</vt:lpstr>
      <vt:lpstr>Symbol</vt:lpstr>
      <vt:lpstr>Times New Roman</vt:lpstr>
      <vt:lpstr>Wingdings</vt:lpstr>
      <vt:lpstr>Office Theme</vt:lpstr>
      <vt:lpstr>Theme1</vt:lpstr>
      <vt:lpstr>1_Theme1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</dc:title>
  <dc:subject/>
  <dc:creator>Bill Swartz</dc:creator>
  <dc:description/>
  <cp:lastModifiedBy>Bill Swartz</cp:lastModifiedBy>
  <cp:revision>540</cp:revision>
  <dcterms:created xsi:type="dcterms:W3CDTF">2013-08-28T11:36:20Z</dcterms:created>
  <dcterms:modified xsi:type="dcterms:W3CDTF">2026-09-23T02:41:07Z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2012-08-29T00:00:00Z</vt:filetime>
  </property>
  <property fmtid="{D5CDD505-2E9C-101B-9397-08002B2CF9AE}" pid="3" name="LastSaved">
    <vt:filetime>2013-08-28T00:00:00Z</vt:filetime>
  </property>
  <property fmtid="{D5CDD505-2E9C-101B-9397-08002B2CF9AE}" pid="4" name="Notes">
    <vt:i4>8</vt:i4>
  </property>
  <property fmtid="{D5CDD505-2E9C-101B-9397-08002B2CF9AE}" pid="5" name="PresentationFormat">
    <vt:lpwstr>Custom</vt:lpwstr>
  </property>
  <property fmtid="{D5CDD505-2E9C-101B-9397-08002B2CF9AE}" pid="6" name="Slides">
    <vt:i4>8</vt:i4>
  </property>
</Properties>
</file>