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6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At last: getting data into a program and results out of it - and an important rule about what output is NOT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41317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have been using the debugger to see values from the start. That was deliberate, and today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351343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Keep the last line in mind: output exists for whoever uses the program. That becomes the rule later in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97448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numbers are the file descriptors the operating system uses. They are the same on Linux, macOS and Windows consoles.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23895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By default all three connect to the terminal. The shell can redirect any of them to a file or to another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19985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why error messages go to stderr: a user saving the program's output still sees the warnings, and the data file stays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10693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printf means print formatted. The first argument is the format string; the rest are the values,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04213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%p prints an address - the same kind of value you saw with print &amp;x in the debugger.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06412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brackets are only there to show the padding. Width is a minimum: a longer value is never cut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83378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stdint.h from the Variables lecture. The adjacent string literals are joined by the compiler into one format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78677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mismatch is undefined behavior. gcc and clang check printf formats with -Wformat, which -Wall turns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63331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fprintf is printf with a stream as the first argument - the scope lecture's example used fprintf(stderr, ...). sprintf with too small a buffer is a classic security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4649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type of each value picks the formatting automatically, so there is no format string to get wrong. &lt;&lt; is an overloaded operator - the operator overloading previewed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14915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std::hex and std::fixed are sticky - every later number is affected. setw applies only to the next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14844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{} placeholder style came from Python and is shared with Rust. Check which standard your compiler supports before using these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79523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wrong number of arguments or a wrong type is a compile error, not garbage at run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90107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{:b} is handy for the bit manipulation from the operators lecture. Inline names work for plain variables only, not expressions like my_sample.psi.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53006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derive(Debug) asks the compiler to write the printing code. For user-facing output you implement the Display trait instead - a later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46318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 has no automatic way to print a struct. The C++ overload is a preview of operator overloading.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33879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75360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Buffering makes output fast - one system call per chunk instead of per character. std::endl also flushes, which is why '\n' is faster. Rust's stdout is always line-buffered.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81986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perfect lead-in to the next section: print statements used for debugging can point you at the wrong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20919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Set this up as the central rule of the lecture. The next several slides are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505182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Everyone has written this. Acknowledge it, then take it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63722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Each point is a real cost. The last one is the subtle one -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060277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Named after the Heisenberg uncertainty principle: observing it changes it. A debugger also perturbs a program, but far less, and without changing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287372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At 8N1 each character is 10 bits, so 115200 baud is 11,520 characters per second. A motor control loop at 1 kHz has 1 ms per pass - one print line blows through three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787088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 Every question students try to answer with printf has a direct debugger command, with no edit and no recompile.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45000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conditional breakpoint from the loops lecture. This is the comparison to leave on the screen while students try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017901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State this as the course rule and grade to it. Rust's dbg! macro is print debugging too - handy, but the same rule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84259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Logging is part of the product. Rust has the log crate, C and C++ have syslog and many libraries. The difference is intent and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500747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last line is the theme of the input section: never trust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18746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Pass by pointer from the functions lecture: scanf must change the caller's variable. Note the %f / %lf asymmetry with printf - a common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44427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Without the width, a long name overflows the array - the out-of-bounds write from the arrays lecture. No &amp; for name: an array already decays to an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80290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fgets never writes past the buffer. strtol reports where it stopped, so you can tell a number from junk. #include &lt;stdlib.h&gt; for strtol.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3033335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&gt;&gt; reads by reference, so no &amp; is needed. After a failure you must call std::cin.clear() before reading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72005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read_line keeps the newline, so trim() it before parse(). expect stops the program with the message if something fails - fine for a first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942317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preview of Result and match. Unlike scanf, there is no way to forget to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377318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check looks different in each language, but no language lets you skip it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486602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loop from the loops lecture whose test is "did the read succeed?". Try it with ./prog &lt; data.txt to feed a file through stdin.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95146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same formatting functions work on files - only the destination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948967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fopen returns NULL on failure - always check. perror prints the operating system's reason, for example "Permission denied", to stderr.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810938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"w" on an existing file erases it without asking - a painful way to lose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488567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sscanf is scanf reading from a string. Checking for 2 conversions skips a header line or a damaged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696622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scope lecture again: the stream object owns the file and closes it when it goes out of scope. Reading uses std::ifstream with std::getline.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177130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? operator needs a function that returns a Result, such as fn main() -&gt; std::io::Result&lt;()&gt;. Reading a whole file: std::fs::read_to_string("log.csv")?.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419159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Unclosed files are a resource leak, like the heap leaks in the scope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249499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Structs, arrays, loops and files together. The CSV opens directly in a spreadsheet for plotting pressure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174382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slice parameter from the functions lecture, an iterator from the loops lecture, and the file closes when f leaves scope at the closing brace.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929951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Binary files written on one machine may not read correctly on another - the padding and layout lessons from the structs lecture, with real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651230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ESP32-S3 has a built-in USB JTAG interface, so OpenOCD and gdb work with just the USB cable - breakpoints and watches on real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86327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Embedded is where print debugging does the most damage, because timing is part of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109583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7064937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301428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Summary, ending on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462010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Suggested: read readings from a file, write a CSV log, then find a planted bug using only the debugger - no print statements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7119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Input and Output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We can store, compute, repeat, and organize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But every result has stayed </a:t>
            </a:r>
            <a:r>
              <a:rPr sz="2800" b="1" dirty="0">
                <a:latin typeface="Cambria"/>
              </a:rPr>
              <a:t>inside</a:t>
            </a:r>
            <a:r>
              <a:rPr sz="2800" b="0" dirty="0">
                <a:latin typeface="Cambria"/>
              </a:rPr>
              <a:t> the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So far the only way to see it has </a:t>
            </a:r>
            <a:r>
              <a:rPr sz="2800" b="0" dirty="0" smtClean="0">
                <a:latin typeface="Cambria"/>
              </a:rPr>
              <a:t>been</a:t>
            </a:r>
            <a:r>
              <a:rPr lang="en-US" sz="2800" b="0" dirty="0" smtClean="0">
                <a:latin typeface="Cambria"/>
              </a:rPr>
              <a:t> </a:t>
            </a:r>
            <a:r>
              <a:rPr sz="2800" b="0" dirty="0" smtClean="0">
                <a:latin typeface="Cambria"/>
              </a:rPr>
              <a:t>the </a:t>
            </a:r>
            <a:r>
              <a:rPr sz="2800" b="1" dirty="0">
                <a:latin typeface="Cambria"/>
              </a:rPr>
              <a:t>debugger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Today:  talking to the outside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I/O Is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Input</a:t>
            </a:r>
            <a:r>
              <a:rPr sz="2600" b="0">
                <a:latin typeface="Cambria"/>
              </a:rPr>
              <a:t>:  data coming </a:t>
            </a:r>
            <a:r>
              <a:rPr sz="2600" b="1">
                <a:latin typeface="Cambria"/>
              </a:rPr>
              <a:t>into</a:t>
            </a:r>
            <a:r>
              <a:rPr sz="2600" b="0">
                <a:latin typeface="Cambria"/>
              </a:rPr>
              <a:t> the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keyboard,  files,  sensors,  network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Output</a:t>
            </a:r>
            <a:r>
              <a:rPr sz="2600" b="0">
                <a:latin typeface="Cambria"/>
              </a:rPr>
              <a:t>:  data going </a:t>
            </a:r>
            <a:r>
              <a:rPr sz="2600" b="1">
                <a:latin typeface="Cambria"/>
              </a:rPr>
              <a:t>out</a:t>
            </a:r>
            <a:r>
              <a:rPr sz="2600" b="0">
                <a:latin typeface="Cambria"/>
              </a:rPr>
              <a:t> of the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screen,  files,  actuators,  network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I/O is how a program serves its </a:t>
            </a:r>
            <a:r>
              <a:rPr sz="2600" b="1">
                <a:latin typeface="Cambria"/>
              </a:rPr>
              <a:t>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Streams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b="0" dirty="0">
                <a:latin typeface="Cambria"/>
              </a:rPr>
              <a:t>A </a:t>
            </a:r>
            <a:r>
              <a:rPr sz="2600" b="1" dirty="0">
                <a:latin typeface="Cambria"/>
              </a:rPr>
              <a:t>stream</a:t>
            </a:r>
            <a:r>
              <a:rPr sz="2600" b="0" dirty="0">
                <a:latin typeface="Cambria"/>
              </a:rPr>
              <a:t> is a sequence of bytes </a:t>
            </a:r>
            <a:r>
              <a:rPr sz="2600" b="0" dirty="0" smtClean="0">
                <a:latin typeface="Cambria"/>
              </a:rPr>
              <a:t>flowing</a:t>
            </a:r>
            <a:r>
              <a:rPr lang="en-US" sz="2600" b="0" dirty="0" smtClean="0">
                <a:latin typeface="Cambria"/>
              </a:rPr>
              <a:t> </a:t>
            </a:r>
            <a:r>
              <a:rPr sz="2600" b="0" dirty="0" smtClean="0">
                <a:latin typeface="Cambria"/>
              </a:rPr>
              <a:t>into </a:t>
            </a:r>
            <a:r>
              <a:rPr sz="2600" b="0" dirty="0">
                <a:latin typeface="Cambria"/>
              </a:rPr>
              <a:t>or out of a program</a:t>
            </a:r>
          </a:p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b="0" dirty="0">
                <a:latin typeface="Cambria"/>
              </a:rPr>
              <a:t>Every program starts with </a:t>
            </a:r>
            <a:r>
              <a:rPr sz="2600" b="1" dirty="0">
                <a:latin typeface="Cambria"/>
              </a:rPr>
              <a:t>three</a:t>
            </a:r>
            <a:r>
              <a:rPr sz="2600" b="0" dirty="0">
                <a:latin typeface="Cambria"/>
              </a:rPr>
              <a:t>:</a:t>
            </a:r>
          </a:p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0" dirty="0" err="1">
                <a:latin typeface="Cambria"/>
              </a:rPr>
              <a:t>stdin</a:t>
            </a:r>
            <a:r>
              <a:rPr sz="2600" b="0" dirty="0">
                <a:latin typeface="Cambria"/>
              </a:rPr>
              <a:t>	0	standard input</a:t>
            </a:r>
          </a:p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0" dirty="0" err="1">
                <a:latin typeface="Cambria"/>
              </a:rPr>
              <a:t>stdout</a:t>
            </a:r>
            <a:r>
              <a:rPr sz="2600" b="0" dirty="0">
                <a:latin typeface="Cambria"/>
              </a:rPr>
              <a:t>	1	standard output</a:t>
            </a:r>
          </a:p>
          <a:p>
            <a:pPr>
              <a:tabLst>
                <a:tab pos="548640" algn="l"/>
                <a:tab pos="2011680" algn="l"/>
                <a:tab pos="274320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0" dirty="0" err="1">
                <a:latin typeface="Cambria"/>
              </a:rPr>
              <a:t>stderr</a:t>
            </a:r>
            <a:r>
              <a:rPr sz="2600" b="0" dirty="0">
                <a:latin typeface="Cambria"/>
              </a:rPr>
              <a:t>	2	standard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Three Standard Streams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85800" y="3794760"/>
            <a:ext cx="182880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keyboard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3977639" y="3337560"/>
            <a:ext cx="2103120" cy="192024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900" b="1">
                <a:solidFill>
                  <a:srgbClr val="000000"/>
                </a:solidFill>
                <a:latin typeface="Cambria"/>
              </a:rPr>
              <a:t>your program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7543800" y="3794760"/>
            <a:ext cx="182880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screen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2514600" y="4297680"/>
            <a:ext cx="1463039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2514600" y="391363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mbria"/>
              </a:rPr>
              <a:t>stdin  (0)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6080760" y="4023360"/>
            <a:ext cx="146304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6080760" y="363931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mbria"/>
              </a:rPr>
              <a:t>stdout  (1)</a:t>
            </a:r>
          </a:p>
        </p:txBody>
      </p:sp>
      <p:cxnSp>
        <p:nvCxnSpPr>
          <p:cNvPr id="395" name="Connector 394"/>
          <p:cNvCxnSpPr/>
          <p:nvPr/>
        </p:nvCxnSpPr>
        <p:spPr>
          <a:xfrm>
            <a:off x="6080760" y="4617720"/>
            <a:ext cx="146304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/>
          <p:cNvSpPr txBox="1"/>
          <p:nvPr/>
        </p:nvSpPr>
        <p:spPr>
          <a:xfrm>
            <a:off x="6080760" y="46908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mbria"/>
              </a:rPr>
              <a:t>stderr  (2)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67512" y="585216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mbria"/>
              </a:rPr>
              <a:t>By default all three are connected to the 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Why a Separate Error Stream?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./prog &gt; results.txt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stdout goes to the file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stderr </a:t>
            </a:r>
            <a:r>
              <a:rPr sz="2500" b="1">
                <a:latin typeface="Cambria"/>
              </a:rPr>
              <a:t>still</a:t>
            </a:r>
            <a:r>
              <a:rPr sz="2500" b="0">
                <a:latin typeface="Cambria"/>
              </a:rPr>
              <a:t> appears on the screen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./prog &gt; results.txt 2&gt; errors.txt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each stream to its own file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Data and error messages never mix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Output in C:  printf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#include &lt;stdio.h&gt;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printf ( "Oil pressure\n"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printf ( "psi = %f\n",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printf ( "%u counts = %.1f psi\n", counts,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1">
                <a:latin typeface="Cambria"/>
              </a:rPr>
              <a:t>%</a:t>
            </a:r>
            <a:r>
              <a:rPr sz="2400" b="0">
                <a:latin typeface="Cambria"/>
              </a:rPr>
              <a:t>  marks where a value is inserted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1">
                <a:latin typeface="Cambria"/>
              </a:rPr>
              <a:t>\n</a:t>
            </a:r>
            <a:r>
              <a:rPr sz="2400" b="0">
                <a:latin typeface="Cambria"/>
              </a:rPr>
              <a:t>  ends the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Format Specifiers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 b="0">
                <a:latin typeface="Cambria"/>
              </a:rPr>
              <a:t>%d	signed int	%x	hexadecimal</a:t>
            </a:r>
          </a:p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 b="0">
                <a:latin typeface="Cambria"/>
              </a:rPr>
              <a:t>%u	unsigned int	%c	one character</a:t>
            </a:r>
          </a:p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 b="0">
                <a:latin typeface="Cambria"/>
              </a:rPr>
              <a:t>%ld	long	%s	string</a:t>
            </a:r>
          </a:p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 b="0">
                <a:latin typeface="Cambria"/>
              </a:rPr>
              <a:t>%f	float or double	%p	pointer address</a:t>
            </a:r>
          </a:p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 b="0">
                <a:latin typeface="Cambria"/>
              </a:rPr>
              <a:t>%e	scientific	%%	a literal %</a:t>
            </a:r>
          </a:p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097280" algn="l"/>
                <a:tab pos="3840480" algn="l"/>
                <a:tab pos="4754880" algn="l"/>
              </a:tabLst>
            </a:pPr>
            <a:r>
              <a:rPr sz="2400" b="0">
                <a:latin typeface="Cambria"/>
              </a:rPr>
              <a:t>The specifier must </a:t>
            </a:r>
            <a:r>
              <a:rPr sz="2400" b="1">
                <a:latin typeface="Cambria"/>
              </a:rPr>
              <a:t>match</a:t>
            </a:r>
            <a:r>
              <a:rPr sz="2400" b="0">
                <a:latin typeface="Cambria"/>
              </a:rPr>
              <a:t> the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Width and Precision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printf ( "[%5d]", 42 ) ;	[   42]</a:t>
            </a:r>
          </a:p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printf ( "[%-5d]", 42 ) ;	[42   ]</a:t>
            </a:r>
          </a:p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printf ( "[%05d]", 42 ) ;	[00042]</a:t>
            </a:r>
          </a:p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printf ( "[%.1f]", 50.0 ) ;	[50.0]</a:t>
            </a:r>
          </a:p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printf ( "[%8.2f]", 3.14159 ) ;	[    3.14]</a:t>
            </a:r>
          </a:p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printf ( "[%#x]", 255 ) ;	[0xff]</a:t>
            </a:r>
          </a:p>
          <a:p>
            <a:pPr>
              <a:tabLst>
                <a:tab pos="420624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4206240" algn="l"/>
              </a:tabLst>
            </a:pPr>
            <a:r>
              <a:rPr sz="2300" b="0">
                <a:latin typeface="Cambria"/>
              </a:rPr>
              <a:t>Width pads, precision sets digits after the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Printing Fixed-Width Types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uint32_t may not be  unsigned int  on every machine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#include &lt;inttypes.h&gt;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printf ( "%" PRIu32 "\n", counts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printf ( "%" PRIu64 "\n", timestamp_ms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PRIu32 expands to the right specifier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Mismatch Is a Bug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023360" algn="l"/>
              </a:tabLst>
            </a:pPr>
            <a:r>
              <a:rPr sz="2500" b="0" dirty="0" err="1">
                <a:latin typeface="Cambria"/>
              </a:rPr>
              <a:t>printf</a:t>
            </a:r>
            <a:r>
              <a:rPr sz="2500" b="0" dirty="0">
                <a:latin typeface="Cambria"/>
              </a:rPr>
              <a:t> ( "%d\n", 3.5 ) ;	prints garbage</a:t>
            </a:r>
          </a:p>
          <a:p>
            <a:pPr>
              <a:tabLst>
                <a:tab pos="4023360" algn="l"/>
              </a:tabLst>
            </a:pPr>
            <a:r>
              <a:rPr sz="2500" b="0" dirty="0" err="1">
                <a:latin typeface="Cambria"/>
              </a:rPr>
              <a:t>printf</a:t>
            </a:r>
            <a:r>
              <a:rPr sz="2500" b="0" dirty="0">
                <a:latin typeface="Cambria"/>
              </a:rPr>
              <a:t> ( "%s\n", 42 ) ;	may crash</a:t>
            </a:r>
          </a:p>
          <a:p>
            <a:pPr>
              <a:tabLst>
                <a:tab pos="40233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 dirty="0" err="1">
                <a:latin typeface="Cambria"/>
              </a:rPr>
              <a:t>printf</a:t>
            </a:r>
            <a:r>
              <a:rPr sz="2500" b="0" dirty="0">
                <a:latin typeface="Cambria"/>
              </a:rPr>
              <a:t> trusts the format string completely</a:t>
            </a:r>
          </a:p>
          <a:p>
            <a:pPr>
              <a:tabLst>
                <a:tab pos="40233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 dirty="0">
                <a:latin typeface="Cambria"/>
              </a:rPr>
              <a:t>Compile with  </a:t>
            </a:r>
            <a:r>
              <a:rPr sz="2500" b="1" dirty="0">
                <a:latin typeface="Cambria"/>
              </a:rPr>
              <a:t>-Wall</a:t>
            </a:r>
            <a:r>
              <a:rPr sz="2500" b="0" dirty="0">
                <a:latin typeface="Cambria"/>
              </a:rPr>
              <a:t>  and the </a:t>
            </a:r>
            <a:r>
              <a:rPr sz="2500" b="0" dirty="0" smtClean="0">
                <a:latin typeface="Cambria"/>
              </a:rPr>
              <a:t>compiler</a:t>
            </a:r>
            <a:r>
              <a:rPr lang="en-US" sz="2500" b="0" dirty="0" smtClean="0">
                <a:latin typeface="Cambria"/>
              </a:rPr>
              <a:t> </a:t>
            </a:r>
            <a:r>
              <a:rPr sz="2500" b="0" dirty="0" smtClean="0">
                <a:latin typeface="Cambria"/>
              </a:rPr>
              <a:t>checks </a:t>
            </a:r>
            <a:r>
              <a:rPr sz="2500" b="0" dirty="0">
                <a:latin typeface="Cambria"/>
              </a:rPr>
              <a:t>every format for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More C Output Functions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120640" algn="l"/>
              </a:tabLst>
            </a:pPr>
            <a:r>
              <a:rPr sz="2300" b="0">
                <a:latin typeface="Cambria"/>
              </a:rPr>
              <a:t>fprintf ( stderr, "sensor fault\n" ) ;	to stderr</a:t>
            </a:r>
          </a:p>
          <a:p>
            <a:pPr>
              <a:tabLst>
                <a:tab pos="5120640" algn="l"/>
              </a:tabLst>
            </a:pPr>
            <a:r>
              <a:rPr sz="2300" b="0">
                <a:latin typeface="Cambria"/>
              </a:rPr>
              <a:t>puts ( "done" ) ;	string + newline</a:t>
            </a:r>
          </a:p>
          <a:p>
            <a:pPr>
              <a:tabLst>
                <a:tab pos="5120640" algn="l"/>
              </a:tabLst>
            </a:pPr>
            <a:r>
              <a:rPr sz="2300" b="0">
                <a:latin typeface="Cambria"/>
              </a:rPr>
              <a:t>putchar ( 'x' ) ;	one character</a:t>
            </a:r>
          </a:p>
          <a:p>
            <a:pPr>
              <a:tabLst>
                <a:tab pos="5120640" algn="l"/>
              </a:tabLst>
            </a:pPr>
            <a:r>
              <a:rPr sz="2300" b="0">
                <a:latin typeface="Cambria"/>
              </a:rPr>
              <a:t>sprintf ( buf, "%.1f", psi ) ;	into a string</a:t>
            </a:r>
          </a:p>
          <a:p>
            <a:pPr>
              <a:tabLst>
                <a:tab pos="5120640" algn="l"/>
              </a:tabLst>
            </a:pPr>
            <a:r>
              <a:rPr sz="2300" b="0">
                <a:latin typeface="Cambria"/>
              </a:rPr>
              <a:t>snprintf ( buf, sizeof buf, "%.1f", psi ) ;</a:t>
            </a:r>
          </a:p>
          <a:p>
            <a:pPr>
              <a:tabLst>
                <a:tab pos="512064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120640" algn="l"/>
              </a:tabLst>
            </a:pPr>
            <a:r>
              <a:rPr sz="2300" b="0">
                <a:latin typeface="Cambria"/>
              </a:rPr>
              <a:t>Prefer  </a:t>
            </a:r>
            <a:r>
              <a:rPr sz="2300" b="1">
                <a:latin typeface="Cambria"/>
              </a:rPr>
              <a:t>snprintf</a:t>
            </a:r>
            <a:r>
              <a:rPr sz="2300" b="0">
                <a:latin typeface="Cambria"/>
              </a:rPr>
              <a:t>  -  it cannot overflow  buf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Output in C++:  iostream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#include &lt;iostream&gt;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std::cout &lt;&lt; "Oil pressure\n"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std::cout &lt;&lt; "psi = " &lt;&lt; psi &lt;&lt; '\n'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std::cerr &lt;&lt; "sensor fault\n"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&lt;&lt;</a:t>
            </a:r>
            <a:r>
              <a:rPr sz="2500" b="0">
                <a:latin typeface="Cambria"/>
              </a:rPr>
              <a:t>  sends each value to the stream in turn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Formatting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5852160" algn="l"/>
              </a:tabLst>
            </a:pPr>
            <a:r>
              <a:rPr sz="2200" b="0">
                <a:latin typeface="Cambria"/>
              </a:rPr>
              <a:t>#include &lt;iomanip&gt;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 b="0">
                <a:latin typeface="Cambria"/>
              </a:rPr>
              <a:t>std::cout &lt;&lt; std::fixed &lt;&lt; std::setprecision ( 1 )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 b="0">
                <a:latin typeface="Cambria"/>
              </a:rPr>
              <a:t>	&lt;&lt; psi &lt;&lt; '\n' ;	50.0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 b="0">
                <a:latin typeface="Cambria"/>
              </a:rPr>
              <a:t>std::cout &lt;&lt; std::setw ( 8 ) &lt;&lt; counts ;	    1456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 b="0">
                <a:latin typeface="Cambria"/>
              </a:rPr>
              <a:t>std::cout &lt;&lt; std::hex &lt;&lt; 255 ;	ff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5852160" algn="l"/>
              </a:tabLst>
            </a:pPr>
            <a:r>
              <a:rPr sz="2200" b="0">
                <a:latin typeface="Cambria"/>
              </a:rPr>
              <a:t>Careful:  most settings </a:t>
            </a:r>
            <a:r>
              <a:rPr sz="2200" b="1">
                <a:latin typeface="Cambria"/>
              </a:rPr>
              <a:t>stay on</a:t>
            </a:r>
            <a:r>
              <a:rPr sz="2200" b="0">
                <a:latin typeface="Cambria"/>
              </a:rPr>
              <a:t> until changed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Modern C++:  std::format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C++20: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#include &lt;format&gt;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std::cout &lt;&lt; std::format ( "{:.1f} psi\n",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C++23: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#include &lt;print&gt;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std::println ( "{:.1f} psi",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Checked at </a:t>
            </a:r>
            <a:r>
              <a:rPr sz="2400" b="1">
                <a:latin typeface="Cambria"/>
              </a:rPr>
              <a:t>compile time</a:t>
            </a:r>
            <a:r>
              <a:rPr sz="2400" b="0">
                <a:latin typeface="Cambria"/>
              </a:rPr>
              <a:t>, like 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Output in Rust:  println!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println! ( "Oil pressure" ) ;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println! ( "psi = {}", psi ) ;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println! ( "{} counts = {:.1} psi", counts, psi ) ;</a:t>
            </a:r>
          </a:p>
          <a:p>
            <a:pPr>
              <a:tabLst>
                <a:tab pos="20116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print!	no newline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eprintln!	to stderr</a:t>
            </a:r>
          </a:p>
          <a:p>
            <a:pPr>
              <a:tabLst>
                <a:tab pos="20116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The  </a:t>
            </a:r>
            <a:r>
              <a:rPr sz="2400" b="1">
                <a:latin typeface="Cambria"/>
              </a:rPr>
              <a:t>!</a:t>
            </a:r>
            <a:r>
              <a:rPr sz="2400" b="0">
                <a:latin typeface="Cambria"/>
              </a:rPr>
              <a:t>  means a </a:t>
            </a:r>
            <a:r>
              <a:rPr sz="2400" b="1">
                <a:latin typeface="Cambria"/>
              </a:rPr>
              <a:t>macro</a:t>
            </a:r>
            <a:r>
              <a:rPr sz="2400" b="0">
                <a:latin typeface="Cambria"/>
              </a:rPr>
              <a:t>, checked at compile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 Format Strings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{:.1}	50.0	one decimal place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{:8.2}	    3.14	width 8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{:&lt;8}	42      	left align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{:08}	00000042	pad with zeros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{:x}  {:#x}	ff  0xff	hexadecimal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{:b}	11111111	binary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2011680" algn="l"/>
                <a:tab pos="4206240" algn="l"/>
              </a:tabLst>
            </a:pPr>
            <a:r>
              <a:rPr sz="2300" b="0">
                <a:latin typeface="Cambria"/>
              </a:rPr>
              <a:t>Name the variable inline:  println! ( "{psi:.1}" ) 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Printing a Struct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#[derive(Debug)]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struct Sample { adc_counts : u32, psi : f32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println! ( "{:?}", my_sample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Sample { adc_counts: 1456, psi: 50.0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{:#?}  prints one field per 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Printing a Struct in C and C++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C:  write a function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void print_sample ( const sample_t *s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	printf ( "%u counts, %.1f psi\n",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		s-&gt;adc_counts, s-&gt;psi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C++:  overload  operator&lt;&lt;  so that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std::cout &lt;&lt; my_sample ;  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One Line, Three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1828800" algn="l"/>
              </a:tabLst>
            </a:pPr>
            <a:r>
              <a:rPr sz="2300" b="0">
                <a:latin typeface="Cambria"/>
              </a:rPr>
              <a:t>C:	printf ( "%.1f psi\n", psi )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300" b="0">
                <a:latin typeface="Cambria"/>
              </a:rPr>
              <a:t>C++:	std::cout &lt;&lt; std::fixed &lt;&lt; std::setprecision ( 1 )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300" b="0">
                <a:latin typeface="Cambria"/>
              </a:rPr>
              <a:t>		&lt;&lt; psi &lt;&lt; " psi\n"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300" b="0">
                <a:latin typeface="Cambria"/>
              </a:rPr>
              <a:t>Rust:	println! ( "{:.1} psi", psi ) 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Output Is Buffered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023360" algn="l"/>
              </a:tabLst>
            </a:pPr>
            <a:r>
              <a:rPr sz="2300" b="0">
                <a:latin typeface="Cambria"/>
              </a:rPr>
              <a:t>Output is collected in a </a:t>
            </a:r>
            <a:r>
              <a:rPr sz="2300" b="1">
                <a:latin typeface="Cambria"/>
              </a:rPr>
              <a:t>buffer</a:t>
            </a:r>
            <a:r>
              <a:rPr sz="2300" b="0">
                <a:latin typeface="Cambria"/>
              </a:rPr>
              <a:t> and sent in chunks</a:t>
            </a:r>
          </a:p>
          <a:p>
            <a:pPr>
              <a:tabLst>
                <a:tab pos="40233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300" b="0">
                <a:latin typeface="Cambria"/>
              </a:rPr>
              <a:t>stdout to a terminal:	sent at each newline</a:t>
            </a:r>
          </a:p>
          <a:p>
            <a:pPr>
              <a:tabLst>
                <a:tab pos="4023360" algn="l"/>
              </a:tabLst>
            </a:pPr>
            <a:r>
              <a:rPr sz="2300" b="0">
                <a:latin typeface="Cambria"/>
              </a:rPr>
              <a:t>stdout to a file:	sent when the buffer fills</a:t>
            </a:r>
          </a:p>
          <a:p>
            <a:pPr>
              <a:tabLst>
                <a:tab pos="4023360" algn="l"/>
              </a:tabLst>
            </a:pPr>
            <a:r>
              <a:rPr sz="2300" b="0">
                <a:latin typeface="Cambria"/>
              </a:rPr>
              <a:t>stderr:	sent immediately</a:t>
            </a:r>
          </a:p>
          <a:p>
            <a:pPr>
              <a:tabLst>
                <a:tab pos="40233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300" b="0">
                <a:latin typeface="Cambria"/>
              </a:rPr>
              <a:t>Force it out:	fflush ( stdout ) ;</a:t>
            </a:r>
          </a:p>
          <a:p>
            <a:pPr>
              <a:tabLst>
                <a:tab pos="4023360" algn="l"/>
              </a:tabLst>
            </a:pPr>
            <a:r>
              <a:rPr sz="2300" b="0">
                <a:latin typeface="Cambria"/>
              </a:rPr>
              <a:t>	std::cout &lt;&lt; std::flush 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Buffering Can Lie to You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printf ( "got here" ) ;	no newline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crash ( ) ;</a:t>
            </a:r>
          </a:p>
          <a:p>
            <a:pPr>
              <a:tabLst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The program crashes - and "got here"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is </a:t>
            </a:r>
            <a:r>
              <a:rPr sz="2500" b="1">
                <a:latin typeface="Cambria"/>
              </a:rPr>
              <a:t>never printed</a:t>
            </a:r>
          </a:p>
          <a:p>
            <a:pPr>
              <a:tabLst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It was still waiting in the buffer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You conclude the crash happened </a:t>
            </a:r>
            <a:r>
              <a:rPr sz="2500" b="1">
                <a:latin typeface="Cambria"/>
              </a:rPr>
              <a:t>earlier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Print Is Not a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Output is for the program's </a:t>
            </a:r>
            <a:r>
              <a:rPr sz="2800" b="1">
                <a:latin typeface="Cambria"/>
              </a:rPr>
              <a:t>users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It is </a:t>
            </a:r>
            <a:r>
              <a:rPr sz="2800" b="1">
                <a:latin typeface="Cambria"/>
              </a:rPr>
              <a:t>not</a:t>
            </a:r>
            <a:r>
              <a:rPr sz="2800" b="0">
                <a:latin typeface="Cambria"/>
              </a:rPr>
              <a:t> a substitute for the debugger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Why not?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Temptation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printf ( "here 1\n"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x = compute ( a, b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printf ( "here 2, x = %d\n", x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y = scale ( x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printf ( "here 3, y = %d\n", y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It feels quick.  It is not.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Goes Wrong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Every new question means </a:t>
            </a:r>
            <a:r>
              <a:rPr sz="2500" b="1">
                <a:latin typeface="Cambria"/>
              </a:rPr>
              <a:t>edit, compile, run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You only see what you </a:t>
            </a:r>
            <a:r>
              <a:rPr sz="2500" b="1">
                <a:latin typeface="Cambria"/>
              </a:rPr>
              <a:t>guessed</a:t>
            </a:r>
            <a:r>
              <a:rPr sz="2500" b="0">
                <a:latin typeface="Cambria"/>
              </a:rPr>
              <a:t> to print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Buffered output can vanish in a crash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Forgotten prints end up in the final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Printing </a:t>
            </a:r>
            <a:r>
              <a:rPr sz="2500" b="1">
                <a:latin typeface="Cambria"/>
              </a:rPr>
              <a:t>changes</a:t>
            </a:r>
            <a:r>
              <a:rPr sz="2500" b="0">
                <a:latin typeface="Cambria"/>
              </a:rPr>
              <a:t> the program you are testing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Heisenbugs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Add a print statement - and the bug </a:t>
            </a:r>
            <a:r>
              <a:rPr sz="2500" b="1">
                <a:latin typeface="Cambria"/>
              </a:rPr>
              <a:t>disappears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print changed: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the timing of the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the layout of the stack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what the optimizer did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Remove the print - and the bug is 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On a Microcontroller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Printing goes out a </a:t>
            </a:r>
            <a:r>
              <a:rPr sz="2500" b="1">
                <a:latin typeface="Cambria"/>
              </a:rPr>
              <a:t>serial port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115200 baud  =  about 11,500 characters per second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One 40-character line  =  about </a:t>
            </a:r>
            <a:r>
              <a:rPr sz="2500" b="1">
                <a:latin typeface="Cambria"/>
              </a:rPr>
              <a:t>3.5 ms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Enough to break real-time timing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Never print inside an interrupt routine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Ask the Debugger Instead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822960" y="2011680"/>
            <a:ext cx="420624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The question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5029200" y="2011680"/>
            <a:ext cx="420624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The debugger answer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822960" y="2578608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Did the program get here?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029200" y="2578608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break  file:line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822960" y="3145536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What is x right now?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5029200" y="3145536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print x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822960" y="3712464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What are all the locals?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5029200" y="3712464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info locals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822960" y="4279392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How did I get here?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5029200" y="4279392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backtrace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822960" y="4846320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Who changed x?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5029200" y="4846320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watch x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822960" y="5413248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Only on pass 97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5029200" y="5413248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break ... if i == 97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822960" y="5980176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Show sum at every stop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5029200" y="5980176"/>
            <a:ext cx="420624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display sum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The Same Question, Two Ways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03120" algn="l"/>
              </a:tabLst>
            </a:pPr>
            <a:r>
              <a:rPr sz="2200" b="0">
                <a:latin typeface="Cambria"/>
              </a:rPr>
              <a:t>With print:	add  printf ( "i=%d sum=%d\n", i, sum ) ;</a:t>
            </a:r>
          </a:p>
          <a:p>
            <a:pPr>
              <a:tabLst>
                <a:tab pos="2103120" algn="l"/>
              </a:tabLst>
            </a:pPr>
            <a:r>
              <a:rPr sz="2200" b="0">
                <a:latin typeface="Cambria"/>
              </a:rPr>
              <a:t>	recompile,  rerun,  read 100 lines</a:t>
            </a:r>
          </a:p>
          <a:p>
            <a:pPr>
              <a:tabLst>
                <a:tab pos="210312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200" b="0">
                <a:latin typeface="Cambria"/>
              </a:rPr>
              <a:t>With gdb:	break main.c:12 if i == 97</a:t>
            </a:r>
          </a:p>
          <a:p>
            <a:pPr>
              <a:tabLst>
                <a:tab pos="2103120" algn="l"/>
              </a:tabLst>
            </a:pPr>
            <a:r>
              <a:rPr sz="2200" b="0">
                <a:latin typeface="Cambria"/>
              </a:rPr>
              <a:t>	display sum</a:t>
            </a:r>
          </a:p>
          <a:p>
            <a:pPr>
              <a:tabLst>
                <a:tab pos="2103120" algn="l"/>
              </a:tabLst>
            </a:pPr>
            <a:r>
              <a:rPr sz="2200" b="0">
                <a:latin typeface="Cambria"/>
              </a:rPr>
              <a:t>	run</a:t>
            </a:r>
          </a:p>
          <a:p>
            <a:pPr>
              <a:tabLst>
                <a:tab pos="210312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200" b="0">
                <a:latin typeface="Cambria"/>
              </a:rPr>
              <a:t>No edit.  No recompile.  One stop, exactly where you asked.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Our Rule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Print</a:t>
            </a:r>
            <a:r>
              <a:rPr sz="2800" b="0">
                <a:latin typeface="Cambria"/>
              </a:rPr>
              <a:t> statements are for the program's </a:t>
            </a:r>
            <a:r>
              <a:rPr sz="2800" b="1">
                <a:latin typeface="Cambria"/>
              </a:rPr>
              <a:t>users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Debugging</a:t>
            </a:r>
            <a:r>
              <a:rPr sz="2800" b="0">
                <a:latin typeface="Cambria"/>
              </a:rPr>
              <a:t> is done with the </a:t>
            </a:r>
            <a:r>
              <a:rPr sz="2800" b="1">
                <a:latin typeface="Cambria"/>
              </a:rPr>
              <a:t>debugger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Any print added while debugging is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removed</a:t>
            </a:r>
            <a:r>
              <a:rPr sz="2800" b="0">
                <a:latin typeface="Cambria"/>
              </a:rPr>
              <a:t> before you submit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When Output Is the Right Tool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1">
                <a:latin typeface="Cambria"/>
              </a:rPr>
              <a:t>Logging</a:t>
            </a:r>
            <a:r>
              <a:rPr sz="2400" b="0">
                <a:latin typeface="Cambria"/>
              </a:rPr>
              <a:t> in a system that runs for days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or in the field, where no debugger is attached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Planned, not sprinkled: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a log file or stderr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severity levels:  error,  warning,  info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can be switched off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 design decision - not a debugging shortcut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Input:  Reading From the Keyboard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program </a:t>
            </a:r>
            <a:r>
              <a:rPr sz="2800" b="1">
                <a:latin typeface="Cambria"/>
              </a:rPr>
              <a:t>waits</a:t>
            </a:r>
            <a:r>
              <a:rPr sz="2800" b="0">
                <a:latin typeface="Cambria"/>
              </a:rPr>
              <a:t> until the user types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 line and presses Enter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What arrives is </a:t>
            </a:r>
            <a:r>
              <a:rPr sz="2800" b="1">
                <a:latin typeface="Cambria"/>
              </a:rPr>
              <a:t>text</a:t>
            </a:r>
            <a:r>
              <a:rPr sz="2800" b="0">
                <a:latin typeface="Cambria"/>
              </a:rPr>
              <a:t> - characters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It must be </a:t>
            </a:r>
            <a:r>
              <a:rPr sz="2800" b="1">
                <a:latin typeface="Cambria"/>
              </a:rPr>
              <a:t>converted</a:t>
            </a:r>
            <a:r>
              <a:rPr sz="2800" b="0">
                <a:latin typeface="Cambria"/>
              </a:rPr>
              <a:t> to a number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And the user may type anything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Input in C:  scanf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645920" algn="l"/>
                <a:tab pos="5303520" algn="l"/>
              </a:tabLst>
            </a:pPr>
            <a:r>
              <a:rPr sz="2500" b="0">
                <a:latin typeface="Cambria"/>
              </a:rPr>
              <a:t>int count ;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 b="0">
                <a:latin typeface="Cambria"/>
              </a:rPr>
              <a:t>scanf ( "%d", &amp;count ) ;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 b="0">
                <a:latin typeface="Cambria"/>
              </a:rPr>
              <a:t>scanf needs the </a:t>
            </a:r>
            <a:r>
              <a:rPr sz="2500" b="1">
                <a:latin typeface="Cambria"/>
              </a:rPr>
              <a:t>address</a:t>
            </a:r>
            <a:r>
              <a:rPr sz="2500" b="0">
                <a:latin typeface="Cambria"/>
              </a:rPr>
              <a:t> of count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 b="0">
                <a:latin typeface="Cambria"/>
              </a:rPr>
              <a:t>so it can store into ( count )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 b="0">
                <a:latin typeface="Cambria"/>
              </a:rPr>
              <a:t>float:	scanf ( "%f", &amp;psi ) ;</a:t>
            </a:r>
          </a:p>
          <a:p>
            <a:pPr>
              <a:tabLst>
                <a:tab pos="1645920" algn="l"/>
                <a:tab pos="5303520" algn="l"/>
              </a:tabLst>
            </a:pPr>
            <a:r>
              <a:rPr sz="2500" b="0">
                <a:latin typeface="Cambria"/>
              </a:rPr>
              <a:t>double:	scanf ( "%lf", &amp;value ) ;	not %f 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scanf Pitfalls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Returns how many values it converted: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if ( scanf ( "%d", &amp;count ) != 1 ) { /* bad input */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Bad input stays in the buffer - the next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scanf fails on it too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Strings:  always give a width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char name[20] ;  scanf ( "%19s", name ) 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Safer Input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Read a whole line, then convert it: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char line[64]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if ( fgets ( line, sizeof line, stdin ) != NULL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char *end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long v = strtol ( line, &amp;end, 10 )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if ( end == line ) { /* not a number */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Input in C++:  cin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int count ;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if ( std::cin &gt;&gt; count ) {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	// got a number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} else {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	// not a number - the stream is now in a fail state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300" b="0">
                <a:latin typeface="Cambria"/>
              </a:rPr>
              <a:t>Whole line:	std::getline ( std::cin, line ) 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Input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let mut line = String::new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std::io::stdin ( ).read_line ( &amp;mut line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.expect ( "read failed"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let count : i32 = line.trim ( ).parse (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.expect ( "not a number"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1">
                <a:latin typeface="Cambria"/>
              </a:rPr>
              <a:t>&amp;mut</a:t>
            </a:r>
            <a:r>
              <a:rPr sz="2300" b="0">
                <a:latin typeface="Cambria"/>
              </a:rPr>
              <a:t> line  -  read_line may change 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Handling Bad Input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match line.trim ( ).parse::&lt;i32&gt; ( ) {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	Ok ( n )	=&gt; println! ( "got {}", n ),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	Err ( _ )	=&gt; eprintln! ( "not a number" ),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parse returns a </a:t>
            </a:r>
            <a:r>
              <a:rPr sz="2300" b="1">
                <a:latin typeface="Cambria"/>
              </a:rPr>
              <a:t>Result</a:t>
            </a:r>
            <a:r>
              <a:rPr sz="2300" b="0">
                <a:latin typeface="Cambria"/>
              </a:rPr>
              <a:t>:  Ok with a value,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or Err with the reason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</a:tabLst>
            </a:pPr>
            <a:r>
              <a:rPr sz="2300" b="0">
                <a:latin typeface="Cambria"/>
              </a:rPr>
              <a:t>The compiler makes you handle </a:t>
            </a:r>
            <a:r>
              <a:rPr sz="2300" b="1">
                <a:latin typeface="Cambria"/>
              </a:rPr>
              <a:t>both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Input Can Always Fail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The user types letters instead of digits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The input ends  ( Ctrl-D,  end of file )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The file does not exist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The sensor is unplugged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Always check: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	C	return value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	C++	stream state</a:t>
            </a:r>
          </a:p>
          <a:p>
            <a:pPr>
              <a:tabLst>
                <a:tab pos="548640" algn="l"/>
                <a:tab pos="1645920" algn="l"/>
              </a:tabLst>
            </a:pPr>
            <a:r>
              <a:rPr sz="2500" b="0">
                <a:latin typeface="Cambria"/>
              </a:rPr>
              <a:t>	Rust	Result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Reading Until the End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C: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while ( fgets ( line, sizeof line, stdin ) != NULL ) { ...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C++: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while ( std::getline ( std::cin, line ) ) { ...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Rust: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for line in std::io::stdin ( ).lines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	let line = line.expect ( "read failed"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Files Are Streams Too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Open</a:t>
            </a:r>
            <a:r>
              <a:rPr sz="2800" b="0">
                <a:latin typeface="Cambria"/>
              </a:rPr>
              <a:t> a file to get a stream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Read</a:t>
            </a:r>
            <a:r>
              <a:rPr sz="2800" b="0">
                <a:latin typeface="Cambria"/>
              </a:rPr>
              <a:t> or </a:t>
            </a:r>
            <a:r>
              <a:rPr sz="2800" b="1">
                <a:latin typeface="Cambria"/>
              </a:rPr>
              <a:t>write</a:t>
            </a:r>
            <a:r>
              <a:rPr sz="2800" b="0">
                <a:latin typeface="Cambria"/>
              </a:rPr>
              <a:t> it like stdin and stdout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Close</a:t>
            </a:r>
            <a:r>
              <a:rPr sz="2800" b="0">
                <a:latin typeface="Cambria"/>
              </a:rPr>
              <a:t> it when you are done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Everything you learned about printing applies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Writing a File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FILE *fp = fopen ( "log.csv", "w"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if ( fp == NULL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perror ( "log.csv"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return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fprintf ( fp, "%u,%.1f\n", counts,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fclose ( fp ) 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fopen Modes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188720" algn="l"/>
                <a:tab pos="3931920" algn="l"/>
              </a:tabLst>
            </a:pPr>
            <a:r>
              <a:rPr sz="2600" b="0">
                <a:latin typeface="Cambria"/>
              </a:rPr>
              <a:t>"r"	read - the file must exist</a:t>
            </a:r>
          </a:p>
          <a:p>
            <a:pPr>
              <a:tabLst>
                <a:tab pos="1188720" algn="l"/>
                <a:tab pos="3931920" algn="l"/>
              </a:tabLst>
            </a:pPr>
            <a:r>
              <a:rPr sz="2600" b="0">
                <a:latin typeface="Cambria"/>
              </a:rPr>
              <a:t>"w"	write - create, or </a:t>
            </a:r>
            <a:r>
              <a:rPr sz="2600" b="1">
                <a:latin typeface="Cambria"/>
              </a:rPr>
              <a:t>erase</a:t>
            </a:r>
            <a:r>
              <a:rPr sz="2600" b="0">
                <a:latin typeface="Cambria"/>
              </a:rPr>
              <a:t> an existing file</a:t>
            </a:r>
          </a:p>
          <a:p>
            <a:pPr>
              <a:tabLst>
                <a:tab pos="1188720" algn="l"/>
                <a:tab pos="3931920" algn="l"/>
              </a:tabLst>
            </a:pPr>
            <a:r>
              <a:rPr sz="2600" b="0">
                <a:latin typeface="Cambria"/>
              </a:rPr>
              <a:t>"a"	append - add to the end</a:t>
            </a:r>
          </a:p>
          <a:p>
            <a:pPr>
              <a:tabLst>
                <a:tab pos="1188720" algn="l"/>
                <a:tab pos="3931920" algn="l"/>
              </a:tabLst>
            </a:pPr>
            <a:r>
              <a:rPr sz="2600" b="0">
                <a:latin typeface="Cambria"/>
              </a:rPr>
              <a:t>"r+"	read and write</a:t>
            </a:r>
          </a:p>
          <a:p>
            <a:pPr>
              <a:tabLst>
                <a:tab pos="1188720" algn="l"/>
                <a:tab pos="393192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1188720" algn="l"/>
                <a:tab pos="3931920" algn="l"/>
              </a:tabLst>
            </a:pPr>
            <a:r>
              <a:rPr sz="2600" b="0">
                <a:latin typeface="Cambria"/>
              </a:rPr>
              <a:t>Add  </a:t>
            </a:r>
            <a:r>
              <a:rPr sz="2600" b="1">
                <a:latin typeface="Cambria"/>
              </a:rPr>
              <a:t>b</a:t>
            </a:r>
            <a:r>
              <a:rPr sz="2600" b="0">
                <a:latin typeface="Cambria"/>
              </a:rPr>
              <a:t>  for binary:	"rb"   "wb"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Reading a File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FILE *fp = fopen ( "log.csv", "r"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if ( fp == NULL ) { perror ( "log.csv" ) ; return 1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char line[128]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while ( fgets ( line, sizeof line, fp ) != NULL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unsigned counts ;  float psi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if ( sscanf ( line, "%u,%f", &amp;counts, &amp;psi ) == 2 ) { ...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fclose ( fp ) 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Files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#include &lt;fstream&gt;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std::ofstream out ( "log.csv"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if ( !out ) { std::cerr &lt;&lt; "cannot open\n" ; return 1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out &lt;&lt; counts &lt;&lt; ',' &lt;&lt; psi &lt;&lt; '\n'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Closed </a:t>
            </a:r>
            <a:r>
              <a:rPr sz="2300" b="1">
                <a:latin typeface="Cambria"/>
              </a:rPr>
              <a:t>automatically</a:t>
            </a:r>
            <a:r>
              <a:rPr sz="2300" b="0">
                <a:latin typeface="Cambria"/>
              </a:rPr>
              <a:t> at the closing brace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Files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use std::fs::File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use std::io::Write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let mut f = File::create ( "log.csv"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writeln! ( f, "{},{:.1}", counts, psi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1">
                <a:latin typeface="Cambria"/>
              </a:rPr>
              <a:t>?</a:t>
            </a:r>
            <a:r>
              <a:rPr sz="2300" b="0">
                <a:latin typeface="Cambria"/>
              </a:rPr>
              <a:t>  passes any error back to the caller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Closed </a:t>
            </a:r>
            <a:r>
              <a:rPr sz="2300" b="1">
                <a:latin typeface="Cambria"/>
              </a:rPr>
              <a:t>automatically</a:t>
            </a:r>
            <a:r>
              <a:rPr sz="2300" b="0">
                <a:latin typeface="Cambria"/>
              </a:rPr>
              <a:t> when  f  goes out of scope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Always Close Your Files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03120" algn="l"/>
              </a:tabLst>
            </a:pPr>
            <a:r>
              <a:rPr sz="2500" b="0">
                <a:latin typeface="Cambria"/>
              </a:rPr>
              <a:t>C:	forget  fclose  and buffered data may</a:t>
            </a:r>
          </a:p>
          <a:p>
            <a:pPr>
              <a:tabLst>
                <a:tab pos="2103120" algn="l"/>
              </a:tabLst>
            </a:pPr>
            <a:r>
              <a:rPr sz="2500" b="0">
                <a:latin typeface="Cambria"/>
              </a:rPr>
              <a:t>	never reach the disk</a:t>
            </a:r>
          </a:p>
          <a:p>
            <a:pPr>
              <a:tabLst>
                <a:tab pos="21031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500" b="0">
                <a:latin typeface="Cambria"/>
              </a:rPr>
              <a:t>C++, Rust:	the file closes when its owner</a:t>
            </a:r>
          </a:p>
          <a:p>
            <a:pPr>
              <a:tabLst>
                <a:tab pos="2103120" algn="l"/>
              </a:tabLst>
            </a:pPr>
            <a:r>
              <a:rPr sz="2500" b="0">
                <a:latin typeface="Cambria"/>
              </a:rPr>
              <a:t>	goes out of </a:t>
            </a:r>
            <a:r>
              <a:rPr sz="2500" b="1">
                <a:latin typeface="Cambria"/>
              </a:rPr>
              <a:t>scope</a:t>
            </a:r>
          </a:p>
          <a:p>
            <a:pPr>
              <a:tabLst>
                <a:tab pos="21031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103120" algn="l"/>
              </a:tabLst>
            </a:pPr>
            <a:r>
              <a:rPr sz="2500" b="0">
                <a:latin typeface="Cambria"/>
              </a:rPr>
              <a:t>The operating system limits how many</a:t>
            </a:r>
          </a:p>
          <a:p>
            <a:pPr>
              <a:tabLst>
                <a:tab pos="2103120" algn="l"/>
              </a:tabLst>
            </a:pPr>
            <a:r>
              <a:rPr sz="2500" b="0">
                <a:latin typeface="Cambria"/>
              </a:rPr>
              <a:t>files can be open at once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Example:  Log Samples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FILE *fp = fopen ( "log.csv", "w"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if ( fp == NULL ) { perror ( "log.csv" ) ; return 1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fprintf ( fp, "adc_counts,psi\n"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for ( int i = 0 ; i &lt; n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fprintf ( fp, "%" PRIu32 ",%.1f\n",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	history[i].adc_counts, history[i].psi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fclose ( fp ) 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Example:  Log Samples in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fn save ( history : &amp;[Sample] ) -&gt; std::io::Result&lt;()&gt;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let mut f = File::create ( "log.csv"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writeln! ( f, "adc_counts,psi"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for s in history.iter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	writeln! ( f, "{},{:.1}", s.adc_counts, s.psi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	Ok ( ( )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1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Text or Binary?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1">
                <a:latin typeface="Cambria"/>
              </a:rPr>
              <a:t>Text</a:t>
            </a:r>
            <a:r>
              <a:rPr sz="2300" b="0">
                <a:latin typeface="Cambria"/>
              </a:rPr>
              <a:t>:  fprintf ( fp, "%u,%.1f\n", ...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human readable,  portable,  larger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1">
                <a:latin typeface="Cambria"/>
              </a:rPr>
              <a:t>Binary</a:t>
            </a:r>
            <a:r>
              <a:rPr sz="2300" b="0">
                <a:latin typeface="Cambria"/>
              </a:rPr>
              <a:t>:  fwrite ( &amp;s, sizeof s, 1, fp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the raw bytes of the struct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includes </a:t>
            </a:r>
            <a:r>
              <a:rPr sz="2300" b="1">
                <a:latin typeface="Cambria"/>
              </a:rPr>
              <a:t>padding</a:t>
            </a:r>
            <a:r>
              <a:rPr sz="2300" b="0">
                <a:latin typeface="Cambria"/>
              </a:rPr>
              <a:t>, depends on byte order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Prefer text unless size or speed demands binary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I/O on a Microcontroller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No screen and no keyboard</a:t>
            </a:r>
          </a:p>
          <a:p>
            <a:pPr>
              <a:tabLst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I/O means </a:t>
            </a:r>
            <a:r>
              <a:rPr sz="2500" b="1">
                <a:latin typeface="Cambria"/>
              </a:rPr>
              <a:t>pins</a:t>
            </a:r>
            <a:r>
              <a:rPr sz="2500" b="0">
                <a:latin typeface="Cambria"/>
              </a:rPr>
              <a:t>, the </a:t>
            </a:r>
            <a:r>
              <a:rPr sz="2500" b="1">
                <a:latin typeface="Cambria"/>
              </a:rPr>
              <a:t>ADC</a:t>
            </a:r>
            <a:r>
              <a:rPr sz="2500" b="0">
                <a:latin typeface="Cambria"/>
              </a:rPr>
              <a:t>, and a </a:t>
            </a:r>
            <a:r>
              <a:rPr sz="2500" b="1">
                <a:latin typeface="Cambria"/>
              </a:rPr>
              <a:t>serial port</a:t>
            </a:r>
          </a:p>
          <a:p>
            <a:pPr>
              <a:tabLst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Serial.println ( psi ) ;	Arduino output</a:t>
            </a:r>
          </a:p>
          <a:p>
            <a:pPr>
              <a:tabLst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023360" algn="l"/>
              </a:tabLst>
            </a:pPr>
            <a:r>
              <a:rPr sz="2500" b="0">
                <a:latin typeface="Cambria"/>
              </a:rPr>
              <a:t>Many boards, including the ESP32-S3, have a</a:t>
            </a:r>
          </a:p>
          <a:p>
            <a:pPr>
              <a:tabLst>
                <a:tab pos="4023360" algn="l"/>
              </a:tabLst>
            </a:pPr>
            <a:r>
              <a:rPr sz="2500" b="1">
                <a:latin typeface="Cambria"/>
              </a:rPr>
              <a:t>hardware debugger</a:t>
            </a:r>
            <a:r>
              <a:rPr sz="2500" b="0">
                <a:latin typeface="Cambria"/>
              </a:rPr>
              <a:t> built in over USB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Same Rule on Hardware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Serial output is for </a:t>
            </a:r>
            <a:r>
              <a:rPr sz="2500" b="1">
                <a:latin typeface="Cambria"/>
              </a:rPr>
              <a:t>monitoring</a:t>
            </a:r>
            <a:r>
              <a:rPr sz="2500" b="0">
                <a:latin typeface="Cambria"/>
              </a:rPr>
              <a:t> the device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Debugging uses the </a:t>
            </a:r>
            <a:r>
              <a:rPr sz="2500" b="1">
                <a:latin typeface="Cambria"/>
              </a:rPr>
              <a:t>hardware debugger</a:t>
            </a:r>
            <a:r>
              <a:rPr sz="2500" b="0">
                <a:latin typeface="Cambria"/>
              </a:rPr>
              <a:t>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breakpoints on the real chip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watch registers and variables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no change to the program's timing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Print statements are still not a debugger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Output Compared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011680"/>
            <a:ext cx="155448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2221991" y="2011680"/>
            <a:ext cx="242316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4645152" y="2011680"/>
            <a:ext cx="251460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C++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159752" y="2011680"/>
            <a:ext cx="224028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Rust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67512" y="2615184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to stdout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2221991" y="2615184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printf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4645152" y="2615184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std::cout &lt;&lt;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7159752" y="2615184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println!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67512" y="3218688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to stderr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2221991" y="3218688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fprintf ( stderr, ... )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4645152" y="3218688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std::cerr &lt;&lt;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7159752" y="3218688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eprintln!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3822191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format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221991" y="3822191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%d  %.1f  %x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4645152" y="3822191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iomanip / std::format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159752" y="3822191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{}  {:.1}  {:x}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67512" y="4425696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to a file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2221991" y="4425696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fprintf ( fp, ... )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4645152" y="4425696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std::ofstream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7159752" y="4425696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writeln! ( f, ... )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667512" y="5029200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to a string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2221991" y="5029200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snprintf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4645152" y="5029200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std::format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159752" y="5029200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format!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667512" y="5632704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flush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2221991" y="5632704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fflush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4645152" y="5632704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std::flush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7159752" y="5632704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.flush ( 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Input Compared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011680"/>
            <a:ext cx="155448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2221991" y="2011680"/>
            <a:ext cx="242316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4645152" y="2011680"/>
            <a:ext cx="251460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C++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159752" y="2011680"/>
            <a:ext cx="224028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Rust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67512" y="2615184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a number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2221991" y="2615184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scanf ( "%d", &amp;n )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4645152" y="2615184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std::cin &gt;&gt; n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7159752" y="2615184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read_line + parse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67512" y="3218688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a line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2221991" y="3218688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fgets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4645152" y="3218688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std::getline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7159752" y="3218688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read_line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3822191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convert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221991" y="3822191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strtol,  sscanf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4645152" y="3822191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std::stoi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159752" y="3822191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.parse ( )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67512" y="4425696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open a file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2221991" y="4425696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fopen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4645152" y="4425696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std::ifstream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7159752" y="4425696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File::open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667512" y="5029200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check it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2221991" y="5029200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return value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4645152" y="5029200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stream state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159752" y="5029200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Result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667512" y="5632704"/>
            <a:ext cx="155448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close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2221991" y="5632704"/>
            <a:ext cx="242316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fclose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4645152" y="5632704"/>
            <a:ext cx="251460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end of scope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7159752" y="5632704"/>
            <a:ext cx="224028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end of scope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Print</a:t>
            </a:r>
            <a:r>
              <a:rPr sz="2500" b="0">
                <a:latin typeface="Cambria"/>
              </a:rPr>
              <a:t> formatted results in all three languages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Read</a:t>
            </a:r>
            <a:r>
              <a:rPr sz="2500" b="0">
                <a:latin typeface="Cambria"/>
              </a:rPr>
              <a:t> and check user input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Read</a:t>
            </a:r>
            <a:r>
              <a:rPr sz="2500" b="0">
                <a:latin typeface="Cambria"/>
              </a:rPr>
              <a:t> and </a:t>
            </a:r>
            <a:r>
              <a:rPr sz="2500" b="1">
                <a:latin typeface="Cambria"/>
              </a:rPr>
              <a:t>write</a:t>
            </a:r>
            <a:r>
              <a:rPr sz="2500" b="0">
                <a:latin typeface="Cambria"/>
              </a:rPr>
              <a:t> files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And keep print statements for users -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</a:t>
            </a:r>
            <a:r>
              <a:rPr sz="2500" b="1">
                <a:latin typeface="Cambria"/>
              </a:rPr>
              <a:t>debugger</a:t>
            </a:r>
            <a:r>
              <a:rPr sz="2500" b="0">
                <a:latin typeface="Cambria"/>
              </a:rPr>
              <a:t> is for debugging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iopractice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57839</TotalTime>
  <Words>2905</Words>
  <Application>Microsoft Office PowerPoint</Application>
  <PresentationFormat>Custom</PresentationFormat>
  <Paragraphs>581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69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541</cp:revision>
  <dcterms:created xsi:type="dcterms:W3CDTF">2013-08-28T11:36:20Z</dcterms:created>
  <dcterms:modified xsi:type="dcterms:W3CDTF">2026-10-28T19:15:27Z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