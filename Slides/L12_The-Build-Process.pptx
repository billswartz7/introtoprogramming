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68" r:id="rId3"/>
  </p:sldMasterIdLst>
  <p:notesMasterIdLst>
    <p:notesMasterId r:id="rId6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92" userDrawn="1">
          <p15:clr>
            <a:srgbClr val="A4A3A4"/>
          </p15:clr>
        </p15:guide>
        <p15:guide id="2" pos="33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44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2148" y="78"/>
      </p:cViewPr>
      <p:guideLst>
        <p:guide orient="horz" pos="4392"/>
        <p:guide pos="3312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38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38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8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8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BBEA29-00E4-49AD-9593-1714797B799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83319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Title slide. We have typed gcc and cargo build all term without explaining them. Today: what actually happens between source text and a program that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753357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Students have used these as magic spells. The goal is to make every step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0319475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the ALU in lecture one: the ALU only understands binary operation 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290935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same four stages for C++. gcc runs all four for you unless you ask it to stop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486519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Each stage reads one file and writes the next. Only the last stage brings files together - everything before it works on one source file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35152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the preprocessor slides in the Variables lecture. The preprocessor knows nothing about C - it only moves text around.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005248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Run gcc -E hello.c | wc -l in class. Every source file that includes a header recompiles that header's entire text - a big reason C and C++ builds are slow.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031841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Almost every error message students have seen came from this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536171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x arrives in register edi, the multiply happens in place, the result is moved to eax (the return register) and ret returns. The ALU's operation code for imull is chosen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8907740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-c means compile only, do not link. This is the step make runs once per source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262365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nm output from the scope lecture. Every U is a promise that the linker must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8719909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the only stage that sees the whole program. extern declarations are resolved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30846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Link errors confuse beginners because every file compiled without complaint. The One Definition Rule from the scope lecture, enforced by the linker.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002762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If the message mentions a line number in your source, it is a compile error. If it mentions a symbol name and ld or collect2, it is a link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176881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-save-temps is a good lab exercise: open each intermediate file and find your code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9108483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-g is what the debugger needs: without it gdb sees addresses but no names, types or line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5050865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Shared libraries save disk and memory and can be updated without relinking, but the program then depends on the right version being installed.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8453061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declaration/definition split from the scope lecture, now at the scale of whole libraries. On Linux the math library is separate from the C library.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1087487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why C compiles to object files at all: so unchanged work can be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2716451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stale object file produces the most baffling bugs: the source says one thing, the program does another.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1800145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make compares file modification times. The TAB rule is a famous historical wart - spaces give "missing separator".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2186595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first target is the default. Note that you must list the header dependencies by hand - forget mysub.h and a header change will not trigger a rebuild.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9051096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make walks this graph from the bottom. Touch mysub.h and both object files rebuild; touch main.c and only main.o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4605856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CMake finds header dependencies automatically and works on Linux, macOS and Windows. It is the most common build system for C and C++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910889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Hold this problem in mind - it is exactly what Rust's crates and Cargo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848492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Everything about object files, libraries, make and CMake carries over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4323366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j is the mangling code for unsigned int. extern "C" is how C++ programs call C libraries and why C headers often wrap their declarations 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61617194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Modules are compiled once and imported, instead of pasted as text. Support in compilers and build tools is still maturing.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8472414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rustc can be called directly for a single file, but almost nobody does - cargo calls it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7649687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borrow checker runs in the middle stage - that is where the ownership errors from the functions lecture come from. LLVM is the same optimizer back end that clang uses for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7350484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key row is the first: C compiles files, Rust compiles crates. The rest follows from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8973383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word crate is Rust-specific. Think of it as a whole C project - many files - that the compiler sees as one piece.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9874219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library crate is the Rust equivalent of a .a file plus its header, in one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0368581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.rs file that no mod line mentions is simply not part of the crate - the compiler never reads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04637784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mod lines build a tree. File names and directories mirror that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1843734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One crate, one tree. The whole tree is compiled together, so the compiler always knows every item's full signature - no headers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336232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:: is the same path separator seen in the scope lecture. A path is like a file path through the module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71776527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the scope lecture. pub(crate) is how you share within your project without promising anything to outside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80307438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People often say crate when they mean package. A typical pattern: the logic in lib.rs, and thin binaries in main.rs and src/bin that call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0338157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target/ is created by the build and should not be committed to git - cargo new adds it to .gitignore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95466997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This is the solution to "the missing piece" from the C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2923824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the git lecture: every new package is version controlled from the first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2055289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TOML is a simple configuration format. Everything cargo needs to build the package is in this file - there is no separate build script to maintain.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19691860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Each crate chooses its own edition in Cargo.toml. This is only possible because the crate is the unit of compilation.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91273645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cargo run is what students will type most. cargo doc builds browsable documentation for your code and every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59896509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overflow in the operators lecture - that difference comes from these two profiles. Use debug builds with the debugger.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7940099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Most Rust errors come from checking, not code generation, so check gives the same errors in a fraction of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55508251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Hundreds of thousands of crates are published. Judge a crate by downloads, maintenance, and documentation before depending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17553063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Every dependency is built from source with the same compiler and settings as your code - no version or flag mismatch like in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00004381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shared dependency appears once. cargo tree prints this graph for any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21868572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For versions below 1.0, the MINOR number acts as the major: 0.9 will not silently move to 0.10.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17234511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Reproducible builds: the program that passed your tests is the one your classmates and graders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23964797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simulated sensor reading for testing without hardware. No #include, no -l flag - Cargo.toml is the whole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27277741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The first build of a project with many dependencies is slow; later builds are fast because the dependency crates are already compiled.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037835235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Rust's answer to make's per-file timestamps, but tracked at a much finer grain and without any hand-written dependency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5193521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rustc also splits a single crate into parallel code generation units.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00967634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Every item in this list was a separate slide in the C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223623790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A typical split: gauge_core holds the sensor logic as a library; gauge_app is a thin binary that uses it. Change the app and the core is not recompiled.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75200664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thumbv7em is ARM Cortex-M4/M7. The ESP32-S3 uses an Xtensa core, which needs the Espressif Rust toolchain that espup installs.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88580597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Callback to the debugger lecture. Optimized code can still be debugged with debug info, but variables may show as optimized out and lines may run out of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411120334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Photograph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51707997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159043617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Lab exercise. Suggested: build main.c and mysub.c stage by stage with -save-temps and nm; write a Makefile; then make a Cargo package with a library crate and a binary crate, and add one dependency.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8"/>
          </p:nvPr>
        </p:nvSpPr>
        <p:spPr/>
      </p:sp>
    </p:spTree>
    <p:extLst>
      <p:ext uri="{BB962C8B-B14F-4D97-AF65-F5344CB8AC3E}">
        <p14:creationId xmlns:p14="http://schemas.microsoft.com/office/powerpoint/2010/main" val="338079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54560" y="2409480"/>
            <a:ext cx="8548920" cy="1631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ftr" idx="1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2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7F920929-0F69-4400-B58F-F0F9AC4A6A2D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905184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ftr" idx="4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5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5BC29054-6F74-4644-9529-D93E886B0EF0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5180040" y="1787760"/>
            <a:ext cx="4374720" cy="5128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7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dt" idx="8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9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4839A86E-239E-4764-956E-22B529859FEB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k object 16"/>
          <p:cNvSpPr/>
          <p:nvPr/>
        </p:nvSpPr>
        <p:spPr>
          <a:xfrm>
            <a:off x="2341800" y="638280"/>
            <a:ext cx="360" cy="5485680"/>
          </a:xfrm>
          <a:custGeom>
            <a:avLst/>
            <a:gdLst>
              <a:gd name="textAreaLeft" fmla="*/ 0 w 360"/>
              <a:gd name="textAreaRight" fmla="*/ 1440 w 360"/>
              <a:gd name="textAreaTop" fmla="*/ 0 h 5485680"/>
              <a:gd name="textAreaBottom" fmla="*/ 5486400 h 5485680"/>
            </a:gdLst>
            <a:ahLst/>
            <a:cxnLst/>
            <a:rect l="textAreaLeft" t="textAreaTop" r="textAreaRight" b="textAreaBottom"/>
            <a:pathLst>
              <a:path h="5486398">
                <a:moveTo>
                  <a:pt x="0" y="0"/>
                </a:moveTo>
                <a:lnTo>
                  <a:pt x="0" y="5486398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bk object 17"/>
          <p:cNvSpPr/>
          <p:nvPr/>
        </p:nvSpPr>
        <p:spPr>
          <a:xfrm>
            <a:off x="2296080" y="60789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bk object 18"/>
          <p:cNvSpPr/>
          <p:nvPr/>
        </p:nvSpPr>
        <p:spPr>
          <a:xfrm>
            <a:off x="2296080" y="55396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bk object 19"/>
          <p:cNvSpPr/>
          <p:nvPr/>
        </p:nvSpPr>
        <p:spPr>
          <a:xfrm>
            <a:off x="2296080" y="50000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bk object 20"/>
          <p:cNvSpPr/>
          <p:nvPr/>
        </p:nvSpPr>
        <p:spPr>
          <a:xfrm>
            <a:off x="2296080" y="44604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bk object 21"/>
          <p:cNvSpPr/>
          <p:nvPr/>
        </p:nvSpPr>
        <p:spPr>
          <a:xfrm>
            <a:off x="2296080" y="39211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bk object 22"/>
          <p:cNvSpPr/>
          <p:nvPr/>
        </p:nvSpPr>
        <p:spPr>
          <a:xfrm>
            <a:off x="2296080" y="338148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bk object 23"/>
          <p:cNvSpPr/>
          <p:nvPr/>
        </p:nvSpPr>
        <p:spPr>
          <a:xfrm>
            <a:off x="2296080" y="28418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bk object 24"/>
          <p:cNvSpPr/>
          <p:nvPr/>
        </p:nvSpPr>
        <p:spPr>
          <a:xfrm>
            <a:off x="2296080" y="230256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bk object 25"/>
          <p:cNvSpPr/>
          <p:nvPr/>
        </p:nvSpPr>
        <p:spPr>
          <a:xfrm>
            <a:off x="2296080" y="176292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bk object 26"/>
          <p:cNvSpPr/>
          <p:nvPr/>
        </p:nvSpPr>
        <p:spPr>
          <a:xfrm>
            <a:off x="2296080" y="122364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bk object 27"/>
          <p:cNvSpPr/>
          <p:nvPr/>
        </p:nvSpPr>
        <p:spPr>
          <a:xfrm>
            <a:off x="2296080" y="684000"/>
            <a:ext cx="45000" cy="360"/>
          </a:xfrm>
          <a:custGeom>
            <a:avLst/>
            <a:gdLst>
              <a:gd name="textAreaLeft" fmla="*/ 0 w 45000"/>
              <a:gd name="textAreaRight" fmla="*/ 45720 w 4500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45592">
                <a:moveTo>
                  <a:pt x="45592" y="0"/>
                </a:moveTo>
                <a:lnTo>
                  <a:pt x="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bk object 28"/>
          <p:cNvSpPr/>
          <p:nvPr/>
        </p:nvSpPr>
        <p:spPr>
          <a:xfrm>
            <a:off x="2107080" y="5949000"/>
            <a:ext cx="134640" cy="20448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254" h="205371">
                <a:moveTo>
                  <a:pt x="81533" y="0"/>
                </a:moveTo>
                <a:lnTo>
                  <a:pt x="54101" y="0"/>
                </a:lnTo>
                <a:lnTo>
                  <a:pt x="30098" y="11823"/>
                </a:lnTo>
                <a:lnTo>
                  <a:pt x="18033" y="20840"/>
                </a:lnTo>
                <a:lnTo>
                  <a:pt x="6095" y="44970"/>
                </a:lnTo>
                <a:lnTo>
                  <a:pt x="3175" y="53975"/>
                </a:lnTo>
                <a:lnTo>
                  <a:pt x="253" y="75196"/>
                </a:lnTo>
                <a:lnTo>
                  <a:pt x="253" y="102628"/>
                </a:lnTo>
                <a:lnTo>
                  <a:pt x="0" y="102628"/>
                </a:lnTo>
                <a:lnTo>
                  <a:pt x="0" y="130060"/>
                </a:lnTo>
                <a:lnTo>
                  <a:pt x="2920" y="151269"/>
                </a:lnTo>
                <a:lnTo>
                  <a:pt x="11937" y="169430"/>
                </a:lnTo>
                <a:lnTo>
                  <a:pt x="17906" y="184543"/>
                </a:lnTo>
                <a:lnTo>
                  <a:pt x="29971" y="193560"/>
                </a:lnTo>
                <a:lnTo>
                  <a:pt x="42036" y="199529"/>
                </a:lnTo>
                <a:lnTo>
                  <a:pt x="66166" y="205371"/>
                </a:lnTo>
                <a:lnTo>
                  <a:pt x="81279" y="202450"/>
                </a:lnTo>
                <a:lnTo>
                  <a:pt x="93344" y="199529"/>
                </a:lnTo>
                <a:lnTo>
                  <a:pt x="105409" y="193560"/>
                </a:lnTo>
                <a:lnTo>
                  <a:pt x="114426" y="184543"/>
                </a:lnTo>
                <a:lnTo>
                  <a:pt x="116397" y="181241"/>
                </a:lnTo>
                <a:lnTo>
                  <a:pt x="57276" y="181241"/>
                </a:lnTo>
                <a:lnTo>
                  <a:pt x="54356" y="178320"/>
                </a:lnTo>
                <a:lnTo>
                  <a:pt x="51434" y="178320"/>
                </a:lnTo>
                <a:lnTo>
                  <a:pt x="39623" y="166509"/>
                </a:lnTo>
                <a:lnTo>
                  <a:pt x="33654" y="157492"/>
                </a:lnTo>
                <a:lnTo>
                  <a:pt x="30709" y="139204"/>
                </a:lnTo>
                <a:lnTo>
                  <a:pt x="27812" y="124218"/>
                </a:lnTo>
                <a:lnTo>
                  <a:pt x="27812" y="103009"/>
                </a:lnTo>
                <a:lnTo>
                  <a:pt x="27558" y="102628"/>
                </a:lnTo>
                <a:lnTo>
                  <a:pt x="27558" y="78371"/>
                </a:lnTo>
                <a:lnTo>
                  <a:pt x="30479" y="66306"/>
                </a:lnTo>
                <a:lnTo>
                  <a:pt x="33400" y="48145"/>
                </a:lnTo>
                <a:lnTo>
                  <a:pt x="39369" y="39128"/>
                </a:lnTo>
                <a:lnTo>
                  <a:pt x="51181" y="27317"/>
                </a:lnTo>
                <a:lnTo>
                  <a:pt x="57150" y="24396"/>
                </a:lnTo>
                <a:lnTo>
                  <a:pt x="116294" y="24396"/>
                </a:lnTo>
                <a:lnTo>
                  <a:pt x="114553" y="20840"/>
                </a:lnTo>
                <a:lnTo>
                  <a:pt x="105536" y="11823"/>
                </a:lnTo>
                <a:lnTo>
                  <a:pt x="81533" y="0"/>
                </a:lnTo>
                <a:close/>
              </a:path>
              <a:path w="135254" h="205371">
                <a:moveTo>
                  <a:pt x="116294" y="24396"/>
                </a:moveTo>
                <a:lnTo>
                  <a:pt x="75310" y="24396"/>
                </a:lnTo>
                <a:lnTo>
                  <a:pt x="84327" y="27317"/>
                </a:lnTo>
                <a:lnTo>
                  <a:pt x="96265" y="39255"/>
                </a:lnTo>
                <a:lnTo>
                  <a:pt x="102234" y="48272"/>
                </a:lnTo>
                <a:lnTo>
                  <a:pt x="105156" y="66433"/>
                </a:lnTo>
                <a:lnTo>
                  <a:pt x="108076" y="81546"/>
                </a:lnTo>
                <a:lnTo>
                  <a:pt x="108052" y="124218"/>
                </a:lnTo>
                <a:lnTo>
                  <a:pt x="105135" y="139331"/>
                </a:lnTo>
                <a:lnTo>
                  <a:pt x="102234" y="157365"/>
                </a:lnTo>
                <a:lnTo>
                  <a:pt x="96265" y="166382"/>
                </a:lnTo>
                <a:lnTo>
                  <a:pt x="84327" y="178320"/>
                </a:lnTo>
                <a:lnTo>
                  <a:pt x="78358" y="178320"/>
                </a:lnTo>
                <a:lnTo>
                  <a:pt x="75437" y="181241"/>
                </a:lnTo>
                <a:lnTo>
                  <a:pt x="116397" y="181241"/>
                </a:lnTo>
                <a:lnTo>
                  <a:pt x="123443" y="169430"/>
                </a:lnTo>
                <a:lnTo>
                  <a:pt x="129412" y="151269"/>
                </a:lnTo>
                <a:lnTo>
                  <a:pt x="132333" y="130060"/>
                </a:lnTo>
                <a:lnTo>
                  <a:pt x="135254" y="102628"/>
                </a:lnTo>
                <a:lnTo>
                  <a:pt x="132333" y="75196"/>
                </a:lnTo>
                <a:lnTo>
                  <a:pt x="129412" y="53975"/>
                </a:lnTo>
                <a:lnTo>
                  <a:pt x="123443" y="32778"/>
                </a:lnTo>
                <a:lnTo>
                  <a:pt x="117475" y="26809"/>
                </a:lnTo>
                <a:lnTo>
                  <a:pt x="116294" y="2439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bk object 29"/>
          <p:cNvSpPr/>
          <p:nvPr/>
        </p:nvSpPr>
        <p:spPr>
          <a:xfrm>
            <a:off x="2147040" y="5409720"/>
            <a:ext cx="68400" cy="200160"/>
          </a:xfrm>
          <a:custGeom>
            <a:avLst/>
            <a:gdLst>
              <a:gd name="textAreaLeft" fmla="*/ 0 w 68400"/>
              <a:gd name="textAreaRight" fmla="*/ 69120 w 6840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69087" h="201041">
                <a:moveTo>
                  <a:pt x="69087" y="0"/>
                </a:moveTo>
                <a:lnTo>
                  <a:pt x="50927" y="0"/>
                </a:lnTo>
                <a:lnTo>
                  <a:pt x="48006" y="9004"/>
                </a:lnTo>
                <a:lnTo>
                  <a:pt x="48006" y="14986"/>
                </a:lnTo>
                <a:lnTo>
                  <a:pt x="36195" y="26797"/>
                </a:lnTo>
                <a:lnTo>
                  <a:pt x="27178" y="32766"/>
                </a:lnTo>
                <a:lnTo>
                  <a:pt x="18161" y="35687"/>
                </a:lnTo>
                <a:lnTo>
                  <a:pt x="0" y="35687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5"/>
                </a:lnTo>
                <a:lnTo>
                  <a:pt x="44831" y="201041"/>
                </a:lnTo>
                <a:lnTo>
                  <a:pt x="69087" y="201041"/>
                </a:lnTo>
                <a:lnTo>
                  <a:pt x="690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bk object 30"/>
          <p:cNvSpPr/>
          <p:nvPr/>
        </p:nvSpPr>
        <p:spPr>
          <a:xfrm>
            <a:off x="2104200" y="4871880"/>
            <a:ext cx="136800" cy="194400"/>
          </a:xfrm>
          <a:custGeom>
            <a:avLst/>
            <a:gdLst>
              <a:gd name="textAreaLeft" fmla="*/ 0 w 136800"/>
              <a:gd name="textAreaRight" fmla="*/ 137520 w 136800"/>
              <a:gd name="textAreaTop" fmla="*/ 0 h 194400"/>
              <a:gd name="textAreaBottom" fmla="*/ 195120 h 194400"/>
            </a:gdLst>
            <a:ahLst/>
            <a:cxnLst/>
            <a:rect l="textAreaLeft" t="textAreaTop" r="textAreaRight" b="textAreaBottom"/>
            <a:pathLst>
              <a:path w="137541" h="195199">
                <a:moveTo>
                  <a:pt x="123952" y="21463"/>
                </a:moveTo>
                <a:lnTo>
                  <a:pt x="77978" y="21463"/>
                </a:lnTo>
                <a:lnTo>
                  <a:pt x="95885" y="30226"/>
                </a:lnTo>
                <a:lnTo>
                  <a:pt x="101854" y="36195"/>
                </a:lnTo>
                <a:lnTo>
                  <a:pt x="107633" y="48006"/>
                </a:lnTo>
                <a:lnTo>
                  <a:pt x="107696" y="66294"/>
                </a:lnTo>
                <a:lnTo>
                  <a:pt x="104775" y="72263"/>
                </a:lnTo>
                <a:lnTo>
                  <a:pt x="101854" y="81280"/>
                </a:lnTo>
                <a:lnTo>
                  <a:pt x="90043" y="93091"/>
                </a:lnTo>
                <a:lnTo>
                  <a:pt x="81025" y="99047"/>
                </a:lnTo>
                <a:lnTo>
                  <a:pt x="62865" y="108077"/>
                </a:lnTo>
                <a:lnTo>
                  <a:pt x="53848" y="114046"/>
                </a:lnTo>
                <a:lnTo>
                  <a:pt x="14731" y="144018"/>
                </a:lnTo>
                <a:lnTo>
                  <a:pt x="2921" y="180213"/>
                </a:lnTo>
                <a:lnTo>
                  <a:pt x="0" y="186182"/>
                </a:lnTo>
                <a:lnTo>
                  <a:pt x="0" y="195199"/>
                </a:lnTo>
                <a:lnTo>
                  <a:pt x="507" y="194818"/>
                </a:lnTo>
                <a:lnTo>
                  <a:pt x="137541" y="194818"/>
                </a:lnTo>
                <a:lnTo>
                  <a:pt x="137541" y="170561"/>
                </a:lnTo>
                <a:lnTo>
                  <a:pt x="30861" y="170561"/>
                </a:lnTo>
                <a:lnTo>
                  <a:pt x="30861" y="164592"/>
                </a:lnTo>
                <a:lnTo>
                  <a:pt x="36703" y="158750"/>
                </a:lnTo>
                <a:lnTo>
                  <a:pt x="39624" y="152781"/>
                </a:lnTo>
                <a:lnTo>
                  <a:pt x="48513" y="143891"/>
                </a:lnTo>
                <a:lnTo>
                  <a:pt x="54482" y="140970"/>
                </a:lnTo>
                <a:lnTo>
                  <a:pt x="72517" y="129032"/>
                </a:lnTo>
                <a:lnTo>
                  <a:pt x="75437" y="126111"/>
                </a:lnTo>
                <a:lnTo>
                  <a:pt x="93599" y="120142"/>
                </a:lnTo>
                <a:lnTo>
                  <a:pt x="96519" y="117221"/>
                </a:lnTo>
                <a:lnTo>
                  <a:pt x="102488" y="114300"/>
                </a:lnTo>
                <a:lnTo>
                  <a:pt x="111506" y="105283"/>
                </a:lnTo>
                <a:lnTo>
                  <a:pt x="120523" y="99314"/>
                </a:lnTo>
                <a:lnTo>
                  <a:pt x="126492" y="90297"/>
                </a:lnTo>
                <a:lnTo>
                  <a:pt x="129412" y="87376"/>
                </a:lnTo>
                <a:lnTo>
                  <a:pt x="132334" y="81407"/>
                </a:lnTo>
                <a:lnTo>
                  <a:pt x="135255" y="72390"/>
                </a:lnTo>
                <a:lnTo>
                  <a:pt x="135255" y="44958"/>
                </a:lnTo>
                <a:lnTo>
                  <a:pt x="132334" y="32893"/>
                </a:lnTo>
                <a:lnTo>
                  <a:pt x="126365" y="23876"/>
                </a:lnTo>
                <a:lnTo>
                  <a:pt x="123952" y="21463"/>
                </a:lnTo>
                <a:close/>
              </a:path>
              <a:path w="137541" h="195199">
                <a:moveTo>
                  <a:pt x="84200" y="0"/>
                </a:moveTo>
                <a:lnTo>
                  <a:pt x="53848" y="0"/>
                </a:lnTo>
                <a:lnTo>
                  <a:pt x="47879" y="2921"/>
                </a:lnTo>
                <a:lnTo>
                  <a:pt x="41910" y="2921"/>
                </a:lnTo>
                <a:lnTo>
                  <a:pt x="8890" y="38989"/>
                </a:lnTo>
                <a:lnTo>
                  <a:pt x="5968" y="48006"/>
                </a:lnTo>
                <a:lnTo>
                  <a:pt x="5968" y="69215"/>
                </a:lnTo>
                <a:lnTo>
                  <a:pt x="30225" y="69215"/>
                </a:lnTo>
                <a:lnTo>
                  <a:pt x="30225" y="60198"/>
                </a:lnTo>
                <a:lnTo>
                  <a:pt x="33147" y="54229"/>
                </a:lnTo>
                <a:lnTo>
                  <a:pt x="33225" y="48006"/>
                </a:lnTo>
                <a:lnTo>
                  <a:pt x="36068" y="39243"/>
                </a:lnTo>
                <a:lnTo>
                  <a:pt x="42037" y="33274"/>
                </a:lnTo>
                <a:lnTo>
                  <a:pt x="48006" y="30353"/>
                </a:lnTo>
                <a:lnTo>
                  <a:pt x="53975" y="24384"/>
                </a:lnTo>
                <a:lnTo>
                  <a:pt x="59943" y="24384"/>
                </a:lnTo>
                <a:lnTo>
                  <a:pt x="68961" y="21463"/>
                </a:lnTo>
                <a:lnTo>
                  <a:pt x="123952" y="21463"/>
                </a:lnTo>
                <a:lnTo>
                  <a:pt x="117348" y="14859"/>
                </a:lnTo>
                <a:lnTo>
                  <a:pt x="108331" y="8890"/>
                </a:lnTo>
                <a:lnTo>
                  <a:pt x="96266" y="2921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bk object 31"/>
          <p:cNvSpPr/>
          <p:nvPr/>
        </p:nvSpPr>
        <p:spPr>
          <a:xfrm>
            <a:off x="2104200" y="4331880"/>
            <a:ext cx="134280" cy="2034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3400"/>
              <a:gd name="textAreaBottom" fmla="*/ 204120 h 203400"/>
            </a:gdLst>
            <a:ahLst/>
            <a:cxnLst/>
            <a:rect l="textAreaLeft" t="textAreaTop" r="textAreaRight" b="textAreaBottom"/>
            <a:pathLst>
              <a:path w="135128" h="203949">
                <a:moveTo>
                  <a:pt x="24256" y="134620"/>
                </a:moveTo>
                <a:lnTo>
                  <a:pt x="0" y="134620"/>
                </a:lnTo>
                <a:lnTo>
                  <a:pt x="127" y="135128"/>
                </a:lnTo>
                <a:lnTo>
                  <a:pt x="127" y="159385"/>
                </a:lnTo>
                <a:lnTo>
                  <a:pt x="3048" y="162306"/>
                </a:lnTo>
                <a:lnTo>
                  <a:pt x="3048" y="165227"/>
                </a:lnTo>
                <a:lnTo>
                  <a:pt x="9017" y="177292"/>
                </a:lnTo>
                <a:lnTo>
                  <a:pt x="26924" y="195199"/>
                </a:lnTo>
                <a:lnTo>
                  <a:pt x="38988" y="198120"/>
                </a:lnTo>
                <a:lnTo>
                  <a:pt x="57023" y="203949"/>
                </a:lnTo>
                <a:lnTo>
                  <a:pt x="72136" y="203949"/>
                </a:lnTo>
                <a:lnTo>
                  <a:pt x="78105" y="201041"/>
                </a:lnTo>
                <a:lnTo>
                  <a:pt x="90169" y="201041"/>
                </a:lnTo>
                <a:lnTo>
                  <a:pt x="114300" y="189103"/>
                </a:lnTo>
                <a:lnTo>
                  <a:pt x="117221" y="183134"/>
                </a:lnTo>
                <a:lnTo>
                  <a:pt x="123190" y="180212"/>
                </a:lnTo>
                <a:lnTo>
                  <a:pt x="123566" y="179450"/>
                </a:lnTo>
                <a:lnTo>
                  <a:pt x="66040" y="179450"/>
                </a:lnTo>
                <a:lnTo>
                  <a:pt x="53975" y="176530"/>
                </a:lnTo>
                <a:lnTo>
                  <a:pt x="48006" y="176530"/>
                </a:lnTo>
                <a:lnTo>
                  <a:pt x="38988" y="170561"/>
                </a:lnTo>
                <a:lnTo>
                  <a:pt x="33019" y="164592"/>
                </a:lnTo>
                <a:lnTo>
                  <a:pt x="24256" y="146685"/>
                </a:lnTo>
                <a:lnTo>
                  <a:pt x="24256" y="134620"/>
                </a:lnTo>
                <a:close/>
              </a:path>
              <a:path w="135128" h="203949">
                <a:moveTo>
                  <a:pt x="121424" y="105029"/>
                </a:moveTo>
                <a:lnTo>
                  <a:pt x="74930" y="105029"/>
                </a:lnTo>
                <a:lnTo>
                  <a:pt x="77850" y="107950"/>
                </a:lnTo>
                <a:lnTo>
                  <a:pt x="83819" y="107950"/>
                </a:lnTo>
                <a:lnTo>
                  <a:pt x="86741" y="110871"/>
                </a:lnTo>
                <a:lnTo>
                  <a:pt x="98679" y="116712"/>
                </a:lnTo>
                <a:lnTo>
                  <a:pt x="104648" y="125730"/>
                </a:lnTo>
                <a:lnTo>
                  <a:pt x="107568" y="131699"/>
                </a:lnTo>
                <a:lnTo>
                  <a:pt x="107568" y="149860"/>
                </a:lnTo>
                <a:lnTo>
                  <a:pt x="104648" y="155829"/>
                </a:lnTo>
                <a:lnTo>
                  <a:pt x="101727" y="164846"/>
                </a:lnTo>
                <a:lnTo>
                  <a:pt x="95885" y="170687"/>
                </a:lnTo>
                <a:lnTo>
                  <a:pt x="89916" y="173609"/>
                </a:lnTo>
                <a:lnTo>
                  <a:pt x="80899" y="176530"/>
                </a:lnTo>
                <a:lnTo>
                  <a:pt x="77978" y="176530"/>
                </a:lnTo>
                <a:lnTo>
                  <a:pt x="75056" y="179450"/>
                </a:lnTo>
                <a:lnTo>
                  <a:pt x="123566" y="179450"/>
                </a:lnTo>
                <a:lnTo>
                  <a:pt x="135128" y="156083"/>
                </a:lnTo>
                <a:lnTo>
                  <a:pt x="135128" y="125730"/>
                </a:lnTo>
                <a:lnTo>
                  <a:pt x="129159" y="113665"/>
                </a:lnTo>
                <a:lnTo>
                  <a:pt x="123190" y="107696"/>
                </a:lnTo>
                <a:lnTo>
                  <a:pt x="121424" y="105029"/>
                </a:lnTo>
                <a:close/>
              </a:path>
              <a:path w="135128" h="203949">
                <a:moveTo>
                  <a:pt x="120425" y="24257"/>
                </a:moveTo>
                <a:lnTo>
                  <a:pt x="78359" y="24257"/>
                </a:lnTo>
                <a:lnTo>
                  <a:pt x="90297" y="30099"/>
                </a:lnTo>
                <a:lnTo>
                  <a:pt x="99187" y="38989"/>
                </a:lnTo>
                <a:lnTo>
                  <a:pt x="99187" y="44958"/>
                </a:lnTo>
                <a:lnTo>
                  <a:pt x="102107" y="53975"/>
                </a:lnTo>
                <a:lnTo>
                  <a:pt x="99249" y="59817"/>
                </a:lnTo>
                <a:lnTo>
                  <a:pt x="99187" y="68961"/>
                </a:lnTo>
                <a:lnTo>
                  <a:pt x="90297" y="77850"/>
                </a:lnTo>
                <a:lnTo>
                  <a:pt x="78359" y="83693"/>
                </a:lnTo>
                <a:lnTo>
                  <a:pt x="50927" y="83693"/>
                </a:lnTo>
                <a:lnTo>
                  <a:pt x="50927" y="107950"/>
                </a:lnTo>
                <a:lnTo>
                  <a:pt x="56896" y="107950"/>
                </a:lnTo>
                <a:lnTo>
                  <a:pt x="62865" y="105029"/>
                </a:lnTo>
                <a:lnTo>
                  <a:pt x="121424" y="105029"/>
                </a:lnTo>
                <a:lnTo>
                  <a:pt x="117221" y="98679"/>
                </a:lnTo>
                <a:lnTo>
                  <a:pt x="114300" y="95758"/>
                </a:lnTo>
                <a:lnTo>
                  <a:pt x="108331" y="92824"/>
                </a:lnTo>
                <a:lnTo>
                  <a:pt x="102362" y="92824"/>
                </a:lnTo>
                <a:lnTo>
                  <a:pt x="111379" y="89916"/>
                </a:lnTo>
                <a:lnTo>
                  <a:pt x="120268" y="81025"/>
                </a:lnTo>
                <a:lnTo>
                  <a:pt x="123190" y="75057"/>
                </a:lnTo>
                <a:lnTo>
                  <a:pt x="126111" y="66040"/>
                </a:lnTo>
                <a:lnTo>
                  <a:pt x="129031" y="53975"/>
                </a:lnTo>
                <a:lnTo>
                  <a:pt x="126111" y="38849"/>
                </a:lnTo>
                <a:lnTo>
                  <a:pt x="123190" y="29845"/>
                </a:lnTo>
                <a:lnTo>
                  <a:pt x="120425" y="24257"/>
                </a:lnTo>
                <a:close/>
              </a:path>
              <a:path w="135128" h="203949">
                <a:moveTo>
                  <a:pt x="78105" y="0"/>
                </a:moveTo>
                <a:lnTo>
                  <a:pt x="66040" y="0"/>
                </a:lnTo>
                <a:lnTo>
                  <a:pt x="50927" y="2921"/>
                </a:lnTo>
                <a:lnTo>
                  <a:pt x="41910" y="2921"/>
                </a:lnTo>
                <a:lnTo>
                  <a:pt x="29972" y="8762"/>
                </a:lnTo>
                <a:lnTo>
                  <a:pt x="20955" y="14732"/>
                </a:lnTo>
                <a:lnTo>
                  <a:pt x="18034" y="20700"/>
                </a:lnTo>
                <a:lnTo>
                  <a:pt x="15112" y="23622"/>
                </a:lnTo>
                <a:lnTo>
                  <a:pt x="9143" y="35674"/>
                </a:lnTo>
                <a:lnTo>
                  <a:pt x="3302" y="53721"/>
                </a:lnTo>
                <a:lnTo>
                  <a:pt x="3302" y="65786"/>
                </a:lnTo>
                <a:lnTo>
                  <a:pt x="27559" y="65786"/>
                </a:lnTo>
                <a:lnTo>
                  <a:pt x="30417" y="59944"/>
                </a:lnTo>
                <a:lnTo>
                  <a:pt x="30480" y="50800"/>
                </a:lnTo>
                <a:lnTo>
                  <a:pt x="33338" y="44958"/>
                </a:lnTo>
                <a:lnTo>
                  <a:pt x="33400" y="41910"/>
                </a:lnTo>
                <a:lnTo>
                  <a:pt x="36322" y="38989"/>
                </a:lnTo>
                <a:lnTo>
                  <a:pt x="39243" y="33020"/>
                </a:lnTo>
                <a:lnTo>
                  <a:pt x="57150" y="24257"/>
                </a:lnTo>
                <a:lnTo>
                  <a:pt x="120425" y="24257"/>
                </a:lnTo>
                <a:lnTo>
                  <a:pt x="117221" y="17780"/>
                </a:lnTo>
                <a:lnTo>
                  <a:pt x="99187" y="5842"/>
                </a:lnTo>
                <a:lnTo>
                  <a:pt x="87122" y="2921"/>
                </a:lnTo>
                <a:lnTo>
                  <a:pt x="7810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bk object 32"/>
          <p:cNvSpPr/>
          <p:nvPr/>
        </p:nvSpPr>
        <p:spPr>
          <a:xfrm>
            <a:off x="2104200" y="379620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8" h="194817">
                <a:moveTo>
                  <a:pt x="112648" y="143001"/>
                </a:moveTo>
                <a:lnTo>
                  <a:pt x="85216" y="143001"/>
                </a:lnTo>
                <a:lnTo>
                  <a:pt x="85216" y="194817"/>
                </a:lnTo>
                <a:lnTo>
                  <a:pt x="112648" y="194817"/>
                </a:lnTo>
                <a:lnTo>
                  <a:pt x="112648" y="143001"/>
                </a:lnTo>
                <a:close/>
              </a:path>
              <a:path w="112648" h="194817">
                <a:moveTo>
                  <a:pt x="112648" y="0"/>
                </a:moveTo>
                <a:lnTo>
                  <a:pt x="85216" y="0"/>
                </a:lnTo>
                <a:lnTo>
                  <a:pt x="0" y="118744"/>
                </a:lnTo>
                <a:lnTo>
                  <a:pt x="0" y="143001"/>
                </a:lnTo>
                <a:lnTo>
                  <a:pt x="140080" y="143001"/>
                </a:lnTo>
                <a:lnTo>
                  <a:pt x="140080" y="121792"/>
                </a:lnTo>
                <a:lnTo>
                  <a:pt x="112648" y="121792"/>
                </a:lnTo>
                <a:lnTo>
                  <a:pt x="24383" y="121665"/>
                </a:lnTo>
                <a:lnTo>
                  <a:pt x="85216" y="33400"/>
                </a:lnTo>
                <a:lnTo>
                  <a:pt x="112648" y="33400"/>
                </a:lnTo>
                <a:lnTo>
                  <a:pt x="112648" y="0"/>
                </a:lnTo>
                <a:close/>
              </a:path>
              <a:path w="112648" h="194817">
                <a:moveTo>
                  <a:pt x="112648" y="33400"/>
                </a:moveTo>
                <a:lnTo>
                  <a:pt x="85216" y="33400"/>
                </a:lnTo>
                <a:lnTo>
                  <a:pt x="85216" y="121665"/>
                </a:lnTo>
                <a:lnTo>
                  <a:pt x="112648" y="121665"/>
                </a:lnTo>
                <a:lnTo>
                  <a:pt x="112648" y="3340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bk object 33"/>
          <p:cNvSpPr/>
          <p:nvPr/>
        </p:nvSpPr>
        <p:spPr>
          <a:xfrm>
            <a:off x="2104200" y="3253680"/>
            <a:ext cx="135000" cy="198720"/>
          </a:xfrm>
          <a:custGeom>
            <a:avLst/>
            <a:gdLst>
              <a:gd name="textAreaLeft" fmla="*/ 0 w 135000"/>
              <a:gd name="textAreaRight" fmla="*/ 135720 w 135000"/>
              <a:gd name="textAreaTop" fmla="*/ 0 h 198720"/>
              <a:gd name="textAreaBottom" fmla="*/ 199440 h 198720"/>
            </a:gdLst>
            <a:ahLst/>
            <a:cxnLst/>
            <a:rect l="textAreaLeft" t="textAreaTop" r="textAreaRight" b="textAreaBottom"/>
            <a:pathLst>
              <a:path w="135762" h="199389">
                <a:moveTo>
                  <a:pt x="27431" y="143001"/>
                </a:moveTo>
                <a:lnTo>
                  <a:pt x="635" y="143001"/>
                </a:lnTo>
                <a:lnTo>
                  <a:pt x="635" y="151637"/>
                </a:lnTo>
                <a:lnTo>
                  <a:pt x="21336" y="184530"/>
                </a:lnTo>
                <a:lnTo>
                  <a:pt x="51435" y="199389"/>
                </a:lnTo>
                <a:lnTo>
                  <a:pt x="81787" y="199389"/>
                </a:lnTo>
                <a:lnTo>
                  <a:pt x="93853" y="196469"/>
                </a:lnTo>
                <a:lnTo>
                  <a:pt x="105918" y="190500"/>
                </a:lnTo>
                <a:lnTo>
                  <a:pt x="120650" y="175767"/>
                </a:lnTo>
                <a:lnTo>
                  <a:pt x="57277" y="175767"/>
                </a:lnTo>
                <a:lnTo>
                  <a:pt x="48260" y="172847"/>
                </a:lnTo>
                <a:lnTo>
                  <a:pt x="42291" y="169925"/>
                </a:lnTo>
                <a:lnTo>
                  <a:pt x="27431" y="155066"/>
                </a:lnTo>
                <a:lnTo>
                  <a:pt x="27431" y="143001"/>
                </a:lnTo>
                <a:close/>
              </a:path>
              <a:path w="135762" h="199389">
                <a:moveTo>
                  <a:pt x="121920" y="89026"/>
                </a:moveTo>
                <a:lnTo>
                  <a:pt x="75437" y="89026"/>
                </a:lnTo>
                <a:lnTo>
                  <a:pt x="81406" y="91948"/>
                </a:lnTo>
                <a:lnTo>
                  <a:pt x="90424" y="94869"/>
                </a:lnTo>
                <a:lnTo>
                  <a:pt x="102362" y="106807"/>
                </a:lnTo>
                <a:lnTo>
                  <a:pt x="105282" y="115824"/>
                </a:lnTo>
                <a:lnTo>
                  <a:pt x="108204" y="118745"/>
                </a:lnTo>
                <a:lnTo>
                  <a:pt x="108204" y="143001"/>
                </a:lnTo>
                <a:lnTo>
                  <a:pt x="105282" y="148971"/>
                </a:lnTo>
                <a:lnTo>
                  <a:pt x="102362" y="157987"/>
                </a:lnTo>
                <a:lnTo>
                  <a:pt x="90424" y="169925"/>
                </a:lnTo>
                <a:lnTo>
                  <a:pt x="84455" y="172847"/>
                </a:lnTo>
                <a:lnTo>
                  <a:pt x="75437" y="175767"/>
                </a:lnTo>
                <a:lnTo>
                  <a:pt x="120650" y="175767"/>
                </a:lnTo>
                <a:lnTo>
                  <a:pt x="123952" y="172465"/>
                </a:lnTo>
                <a:lnTo>
                  <a:pt x="129793" y="160527"/>
                </a:lnTo>
                <a:lnTo>
                  <a:pt x="135762" y="148462"/>
                </a:lnTo>
                <a:lnTo>
                  <a:pt x="135762" y="118110"/>
                </a:lnTo>
                <a:lnTo>
                  <a:pt x="132842" y="106045"/>
                </a:lnTo>
                <a:lnTo>
                  <a:pt x="126873" y="93979"/>
                </a:lnTo>
                <a:lnTo>
                  <a:pt x="121920" y="89026"/>
                </a:lnTo>
                <a:close/>
              </a:path>
              <a:path w="135762" h="199389">
                <a:moveTo>
                  <a:pt x="635" y="142621"/>
                </a:moveTo>
                <a:lnTo>
                  <a:pt x="0" y="143001"/>
                </a:lnTo>
                <a:lnTo>
                  <a:pt x="635" y="143001"/>
                </a:lnTo>
                <a:lnTo>
                  <a:pt x="635" y="142621"/>
                </a:lnTo>
                <a:close/>
              </a:path>
              <a:path w="135762" h="199389">
                <a:moveTo>
                  <a:pt x="128016" y="0"/>
                </a:moveTo>
                <a:lnTo>
                  <a:pt x="21336" y="0"/>
                </a:lnTo>
                <a:lnTo>
                  <a:pt x="6223" y="106679"/>
                </a:lnTo>
                <a:lnTo>
                  <a:pt x="27431" y="106679"/>
                </a:lnTo>
                <a:lnTo>
                  <a:pt x="36322" y="97789"/>
                </a:lnTo>
                <a:lnTo>
                  <a:pt x="48260" y="91948"/>
                </a:lnTo>
                <a:lnTo>
                  <a:pt x="57277" y="89026"/>
                </a:lnTo>
                <a:lnTo>
                  <a:pt x="121920" y="89026"/>
                </a:lnTo>
                <a:lnTo>
                  <a:pt x="117856" y="84962"/>
                </a:lnTo>
                <a:lnTo>
                  <a:pt x="114997" y="79121"/>
                </a:lnTo>
                <a:lnTo>
                  <a:pt x="33781" y="79121"/>
                </a:lnTo>
                <a:lnTo>
                  <a:pt x="39750" y="24257"/>
                </a:lnTo>
                <a:lnTo>
                  <a:pt x="128016" y="24257"/>
                </a:lnTo>
                <a:lnTo>
                  <a:pt x="128016" y="0"/>
                </a:lnTo>
                <a:close/>
              </a:path>
              <a:path w="135762" h="199389">
                <a:moveTo>
                  <a:pt x="84962" y="67310"/>
                </a:moveTo>
                <a:lnTo>
                  <a:pt x="60706" y="67310"/>
                </a:lnTo>
                <a:lnTo>
                  <a:pt x="48641" y="70230"/>
                </a:lnTo>
                <a:lnTo>
                  <a:pt x="42672" y="70230"/>
                </a:lnTo>
                <a:lnTo>
                  <a:pt x="33781" y="79121"/>
                </a:lnTo>
                <a:lnTo>
                  <a:pt x="114997" y="79121"/>
                </a:lnTo>
                <a:lnTo>
                  <a:pt x="97028" y="70230"/>
                </a:lnTo>
                <a:lnTo>
                  <a:pt x="84962" y="6731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bk object 34"/>
          <p:cNvSpPr/>
          <p:nvPr/>
        </p:nvSpPr>
        <p:spPr>
          <a:xfrm>
            <a:off x="2109600" y="2711520"/>
            <a:ext cx="134280" cy="204480"/>
          </a:xfrm>
          <a:custGeom>
            <a:avLst/>
            <a:gdLst>
              <a:gd name="textAreaLeft" fmla="*/ 0 w 134280"/>
              <a:gd name="textAreaRight" fmla="*/ 135000 w 13428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5000" h="205104">
                <a:moveTo>
                  <a:pt x="84200" y="202184"/>
                </a:moveTo>
                <a:lnTo>
                  <a:pt x="53975" y="202184"/>
                </a:lnTo>
                <a:lnTo>
                  <a:pt x="69087" y="205104"/>
                </a:lnTo>
                <a:lnTo>
                  <a:pt x="84200" y="202184"/>
                </a:lnTo>
                <a:close/>
              </a:path>
              <a:path w="135000" h="205104">
                <a:moveTo>
                  <a:pt x="72008" y="0"/>
                </a:moveTo>
                <a:lnTo>
                  <a:pt x="56895" y="2920"/>
                </a:lnTo>
                <a:lnTo>
                  <a:pt x="44831" y="5841"/>
                </a:lnTo>
                <a:lnTo>
                  <a:pt x="38862" y="8762"/>
                </a:lnTo>
                <a:lnTo>
                  <a:pt x="32893" y="14731"/>
                </a:lnTo>
                <a:lnTo>
                  <a:pt x="20827" y="23749"/>
                </a:lnTo>
                <a:lnTo>
                  <a:pt x="17906" y="29717"/>
                </a:lnTo>
                <a:lnTo>
                  <a:pt x="11937" y="38735"/>
                </a:lnTo>
                <a:lnTo>
                  <a:pt x="0" y="81152"/>
                </a:lnTo>
                <a:lnTo>
                  <a:pt x="0" y="141986"/>
                </a:lnTo>
                <a:lnTo>
                  <a:pt x="2920" y="151002"/>
                </a:lnTo>
                <a:lnTo>
                  <a:pt x="11937" y="172212"/>
                </a:lnTo>
                <a:lnTo>
                  <a:pt x="20955" y="184276"/>
                </a:lnTo>
                <a:lnTo>
                  <a:pt x="29971" y="193293"/>
                </a:lnTo>
                <a:lnTo>
                  <a:pt x="45085" y="199262"/>
                </a:lnTo>
                <a:lnTo>
                  <a:pt x="48006" y="202184"/>
                </a:lnTo>
                <a:lnTo>
                  <a:pt x="90169" y="202184"/>
                </a:lnTo>
                <a:lnTo>
                  <a:pt x="96138" y="199262"/>
                </a:lnTo>
                <a:lnTo>
                  <a:pt x="102107" y="199262"/>
                </a:lnTo>
                <a:lnTo>
                  <a:pt x="108076" y="196341"/>
                </a:lnTo>
                <a:lnTo>
                  <a:pt x="117093" y="187325"/>
                </a:lnTo>
                <a:lnTo>
                  <a:pt x="121460" y="181482"/>
                </a:lnTo>
                <a:lnTo>
                  <a:pt x="53212" y="181482"/>
                </a:lnTo>
                <a:lnTo>
                  <a:pt x="50292" y="178562"/>
                </a:lnTo>
                <a:lnTo>
                  <a:pt x="44323" y="175640"/>
                </a:lnTo>
                <a:lnTo>
                  <a:pt x="32512" y="163829"/>
                </a:lnTo>
                <a:lnTo>
                  <a:pt x="32512" y="160909"/>
                </a:lnTo>
                <a:lnTo>
                  <a:pt x="29591" y="154939"/>
                </a:lnTo>
                <a:lnTo>
                  <a:pt x="38354" y="109727"/>
                </a:lnTo>
                <a:lnTo>
                  <a:pt x="62356" y="97916"/>
                </a:lnTo>
                <a:lnTo>
                  <a:pt x="122916" y="97916"/>
                </a:lnTo>
                <a:lnTo>
                  <a:pt x="121991" y="96519"/>
                </a:lnTo>
                <a:lnTo>
                  <a:pt x="26924" y="96519"/>
                </a:lnTo>
                <a:lnTo>
                  <a:pt x="26924" y="78359"/>
                </a:lnTo>
                <a:lnTo>
                  <a:pt x="29844" y="66293"/>
                </a:lnTo>
                <a:lnTo>
                  <a:pt x="32766" y="57276"/>
                </a:lnTo>
                <a:lnTo>
                  <a:pt x="38735" y="45212"/>
                </a:lnTo>
                <a:lnTo>
                  <a:pt x="41656" y="39242"/>
                </a:lnTo>
                <a:lnTo>
                  <a:pt x="50545" y="30352"/>
                </a:lnTo>
                <a:lnTo>
                  <a:pt x="62483" y="24511"/>
                </a:lnTo>
                <a:lnTo>
                  <a:pt x="124681" y="24511"/>
                </a:lnTo>
                <a:lnTo>
                  <a:pt x="120142" y="17652"/>
                </a:lnTo>
                <a:lnTo>
                  <a:pt x="114300" y="11811"/>
                </a:lnTo>
                <a:lnTo>
                  <a:pt x="102235" y="5841"/>
                </a:lnTo>
                <a:lnTo>
                  <a:pt x="72008" y="0"/>
                </a:lnTo>
                <a:close/>
              </a:path>
              <a:path w="135000" h="205104">
                <a:moveTo>
                  <a:pt x="122916" y="97916"/>
                </a:moveTo>
                <a:lnTo>
                  <a:pt x="77469" y="97916"/>
                </a:lnTo>
                <a:lnTo>
                  <a:pt x="86487" y="100837"/>
                </a:lnTo>
                <a:lnTo>
                  <a:pt x="92456" y="103759"/>
                </a:lnTo>
                <a:lnTo>
                  <a:pt x="98298" y="109600"/>
                </a:lnTo>
                <a:lnTo>
                  <a:pt x="101218" y="115569"/>
                </a:lnTo>
                <a:lnTo>
                  <a:pt x="104139" y="124587"/>
                </a:lnTo>
                <a:lnTo>
                  <a:pt x="107061" y="130555"/>
                </a:lnTo>
                <a:lnTo>
                  <a:pt x="107061" y="139573"/>
                </a:lnTo>
                <a:lnTo>
                  <a:pt x="107314" y="139700"/>
                </a:lnTo>
                <a:lnTo>
                  <a:pt x="107314" y="148716"/>
                </a:lnTo>
                <a:lnTo>
                  <a:pt x="104393" y="154686"/>
                </a:lnTo>
                <a:lnTo>
                  <a:pt x="101473" y="163702"/>
                </a:lnTo>
                <a:lnTo>
                  <a:pt x="98551" y="169672"/>
                </a:lnTo>
                <a:lnTo>
                  <a:pt x="92582" y="175640"/>
                </a:lnTo>
                <a:lnTo>
                  <a:pt x="80644" y="181482"/>
                </a:lnTo>
                <a:lnTo>
                  <a:pt x="121460" y="181482"/>
                </a:lnTo>
                <a:lnTo>
                  <a:pt x="126111" y="175260"/>
                </a:lnTo>
                <a:lnTo>
                  <a:pt x="132080" y="163194"/>
                </a:lnTo>
                <a:lnTo>
                  <a:pt x="132080" y="157225"/>
                </a:lnTo>
                <a:lnTo>
                  <a:pt x="135000" y="154304"/>
                </a:lnTo>
                <a:lnTo>
                  <a:pt x="135000" y="126873"/>
                </a:lnTo>
                <a:lnTo>
                  <a:pt x="132080" y="114807"/>
                </a:lnTo>
                <a:lnTo>
                  <a:pt x="126111" y="102742"/>
                </a:lnTo>
                <a:lnTo>
                  <a:pt x="122916" y="97916"/>
                </a:lnTo>
                <a:close/>
              </a:path>
              <a:path w="135000" h="205104">
                <a:moveTo>
                  <a:pt x="68833" y="72898"/>
                </a:moveTo>
                <a:lnTo>
                  <a:pt x="59817" y="75818"/>
                </a:lnTo>
                <a:lnTo>
                  <a:pt x="47751" y="78739"/>
                </a:lnTo>
                <a:lnTo>
                  <a:pt x="38735" y="81661"/>
                </a:lnTo>
                <a:lnTo>
                  <a:pt x="29844" y="90550"/>
                </a:lnTo>
                <a:lnTo>
                  <a:pt x="26924" y="96519"/>
                </a:lnTo>
                <a:lnTo>
                  <a:pt x="121991" y="96519"/>
                </a:lnTo>
                <a:lnTo>
                  <a:pt x="120142" y="93725"/>
                </a:lnTo>
                <a:lnTo>
                  <a:pt x="108076" y="84709"/>
                </a:lnTo>
                <a:lnTo>
                  <a:pt x="96012" y="78739"/>
                </a:lnTo>
                <a:lnTo>
                  <a:pt x="83946" y="75818"/>
                </a:lnTo>
                <a:lnTo>
                  <a:pt x="68833" y="72898"/>
                </a:lnTo>
                <a:close/>
              </a:path>
              <a:path w="135000" h="205104">
                <a:moveTo>
                  <a:pt x="124681" y="24511"/>
                </a:moveTo>
                <a:lnTo>
                  <a:pt x="80644" y="24511"/>
                </a:lnTo>
                <a:lnTo>
                  <a:pt x="86613" y="27431"/>
                </a:lnTo>
                <a:lnTo>
                  <a:pt x="95631" y="30352"/>
                </a:lnTo>
                <a:lnTo>
                  <a:pt x="98551" y="33274"/>
                </a:lnTo>
                <a:lnTo>
                  <a:pt x="101473" y="33274"/>
                </a:lnTo>
                <a:lnTo>
                  <a:pt x="107314" y="45212"/>
                </a:lnTo>
                <a:lnTo>
                  <a:pt x="107314" y="54228"/>
                </a:lnTo>
                <a:lnTo>
                  <a:pt x="134746" y="54228"/>
                </a:lnTo>
                <a:lnTo>
                  <a:pt x="134874" y="53593"/>
                </a:lnTo>
                <a:lnTo>
                  <a:pt x="134874" y="47625"/>
                </a:lnTo>
                <a:lnTo>
                  <a:pt x="129031" y="35687"/>
                </a:lnTo>
                <a:lnTo>
                  <a:pt x="126111" y="26669"/>
                </a:lnTo>
                <a:lnTo>
                  <a:pt x="124681" y="2451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bk object 35"/>
          <p:cNvSpPr/>
          <p:nvPr/>
        </p:nvSpPr>
        <p:spPr>
          <a:xfrm>
            <a:off x="2106000" y="2179080"/>
            <a:ext cx="28080" cy="192960"/>
          </a:xfrm>
          <a:custGeom>
            <a:avLst/>
            <a:gdLst>
              <a:gd name="textAreaLeft" fmla="*/ 0 w 28080"/>
              <a:gd name="textAreaRight" fmla="*/ 28800 w 2808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28722" h="193675">
                <a:moveTo>
                  <a:pt x="28722" y="193548"/>
                </a:moveTo>
              </a:path>
              <a:path w="28722" h="193675">
                <a:moveTo>
                  <a:pt x="137032" y="0"/>
                </a:moveTo>
                <a:lnTo>
                  <a:pt x="0" y="0"/>
                </a:lnTo>
                <a:lnTo>
                  <a:pt x="0" y="24256"/>
                </a:lnTo>
                <a:lnTo>
                  <a:pt x="109727" y="24256"/>
                </a:lnTo>
                <a:lnTo>
                  <a:pt x="97662" y="39370"/>
                </a:lnTo>
                <a:lnTo>
                  <a:pt x="91693" y="45338"/>
                </a:lnTo>
                <a:lnTo>
                  <a:pt x="79628" y="63500"/>
                </a:lnTo>
                <a:lnTo>
                  <a:pt x="67563" y="78612"/>
                </a:lnTo>
                <a:lnTo>
                  <a:pt x="55499" y="102870"/>
                </a:lnTo>
                <a:lnTo>
                  <a:pt x="46481" y="124078"/>
                </a:lnTo>
                <a:lnTo>
                  <a:pt x="40512" y="145287"/>
                </a:lnTo>
                <a:lnTo>
                  <a:pt x="34543" y="169545"/>
                </a:lnTo>
                <a:lnTo>
                  <a:pt x="31622" y="175513"/>
                </a:lnTo>
                <a:lnTo>
                  <a:pt x="28722" y="193548"/>
                </a:lnTo>
                <a:lnTo>
                  <a:pt x="59054" y="193548"/>
                </a:lnTo>
                <a:lnTo>
                  <a:pt x="61975" y="172338"/>
                </a:lnTo>
                <a:lnTo>
                  <a:pt x="61975" y="163322"/>
                </a:lnTo>
                <a:lnTo>
                  <a:pt x="67944" y="142112"/>
                </a:lnTo>
                <a:lnTo>
                  <a:pt x="70865" y="133096"/>
                </a:lnTo>
                <a:lnTo>
                  <a:pt x="73787" y="121030"/>
                </a:lnTo>
                <a:lnTo>
                  <a:pt x="82803" y="102870"/>
                </a:lnTo>
                <a:lnTo>
                  <a:pt x="94868" y="81661"/>
                </a:lnTo>
                <a:lnTo>
                  <a:pt x="103885" y="63500"/>
                </a:lnTo>
                <a:lnTo>
                  <a:pt x="115950" y="48387"/>
                </a:lnTo>
                <a:lnTo>
                  <a:pt x="121919" y="39370"/>
                </a:lnTo>
                <a:lnTo>
                  <a:pt x="137032" y="24256"/>
                </a:lnTo>
                <a:lnTo>
                  <a:pt x="13703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bk object 36"/>
          <p:cNvSpPr/>
          <p:nvPr/>
        </p:nvSpPr>
        <p:spPr>
          <a:xfrm>
            <a:off x="2107800" y="1636560"/>
            <a:ext cx="134640" cy="2001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135509" h="200913">
                <a:moveTo>
                  <a:pt x="32584" y="89815"/>
                </a:moveTo>
                <a:lnTo>
                  <a:pt x="26670" y="92709"/>
                </a:lnTo>
                <a:lnTo>
                  <a:pt x="23749" y="92709"/>
                </a:lnTo>
                <a:lnTo>
                  <a:pt x="17780" y="98678"/>
                </a:lnTo>
                <a:lnTo>
                  <a:pt x="11811" y="101600"/>
                </a:lnTo>
                <a:lnTo>
                  <a:pt x="5842" y="110616"/>
                </a:lnTo>
                <a:lnTo>
                  <a:pt x="0" y="128650"/>
                </a:lnTo>
                <a:lnTo>
                  <a:pt x="0" y="152907"/>
                </a:lnTo>
                <a:lnTo>
                  <a:pt x="2921" y="164972"/>
                </a:lnTo>
                <a:lnTo>
                  <a:pt x="11938" y="177037"/>
                </a:lnTo>
                <a:lnTo>
                  <a:pt x="29972" y="195071"/>
                </a:lnTo>
                <a:lnTo>
                  <a:pt x="54102" y="200913"/>
                </a:lnTo>
                <a:lnTo>
                  <a:pt x="81534" y="200913"/>
                </a:lnTo>
                <a:lnTo>
                  <a:pt x="90551" y="197992"/>
                </a:lnTo>
                <a:lnTo>
                  <a:pt x="105664" y="195071"/>
                </a:lnTo>
                <a:lnTo>
                  <a:pt x="123444" y="177291"/>
                </a:lnTo>
                <a:lnTo>
                  <a:pt x="53213" y="177291"/>
                </a:lnTo>
                <a:lnTo>
                  <a:pt x="47244" y="174370"/>
                </a:lnTo>
                <a:lnTo>
                  <a:pt x="44323" y="174370"/>
                </a:lnTo>
                <a:lnTo>
                  <a:pt x="32385" y="162432"/>
                </a:lnTo>
                <a:lnTo>
                  <a:pt x="29464" y="156463"/>
                </a:lnTo>
                <a:lnTo>
                  <a:pt x="26543" y="147446"/>
                </a:lnTo>
                <a:lnTo>
                  <a:pt x="26543" y="138429"/>
                </a:lnTo>
                <a:lnTo>
                  <a:pt x="26797" y="138429"/>
                </a:lnTo>
                <a:lnTo>
                  <a:pt x="26859" y="129412"/>
                </a:lnTo>
                <a:lnTo>
                  <a:pt x="32639" y="117601"/>
                </a:lnTo>
                <a:lnTo>
                  <a:pt x="38608" y="111632"/>
                </a:lnTo>
                <a:lnTo>
                  <a:pt x="44577" y="108712"/>
                </a:lnTo>
                <a:lnTo>
                  <a:pt x="53594" y="105790"/>
                </a:lnTo>
                <a:lnTo>
                  <a:pt x="59563" y="102869"/>
                </a:lnTo>
                <a:lnTo>
                  <a:pt x="121406" y="102869"/>
                </a:lnTo>
                <a:lnTo>
                  <a:pt x="120650" y="101726"/>
                </a:lnTo>
                <a:lnTo>
                  <a:pt x="114681" y="98805"/>
                </a:lnTo>
                <a:lnTo>
                  <a:pt x="108712" y="92837"/>
                </a:lnTo>
                <a:lnTo>
                  <a:pt x="102743" y="89915"/>
                </a:lnTo>
                <a:lnTo>
                  <a:pt x="32893" y="89915"/>
                </a:lnTo>
                <a:lnTo>
                  <a:pt x="32584" y="89815"/>
                </a:lnTo>
                <a:close/>
              </a:path>
              <a:path w="135509" h="200913">
                <a:moveTo>
                  <a:pt x="121406" y="102869"/>
                </a:moveTo>
                <a:lnTo>
                  <a:pt x="74676" y="102869"/>
                </a:lnTo>
                <a:lnTo>
                  <a:pt x="92583" y="111632"/>
                </a:lnTo>
                <a:lnTo>
                  <a:pt x="101473" y="120522"/>
                </a:lnTo>
                <a:lnTo>
                  <a:pt x="101473" y="123443"/>
                </a:lnTo>
                <a:lnTo>
                  <a:pt x="104394" y="129412"/>
                </a:lnTo>
                <a:lnTo>
                  <a:pt x="107315" y="138429"/>
                </a:lnTo>
                <a:lnTo>
                  <a:pt x="104394" y="147446"/>
                </a:lnTo>
                <a:lnTo>
                  <a:pt x="104394" y="156463"/>
                </a:lnTo>
                <a:lnTo>
                  <a:pt x="98425" y="162432"/>
                </a:lnTo>
                <a:lnTo>
                  <a:pt x="95504" y="168401"/>
                </a:lnTo>
                <a:lnTo>
                  <a:pt x="89535" y="174370"/>
                </a:lnTo>
                <a:lnTo>
                  <a:pt x="83566" y="174370"/>
                </a:lnTo>
                <a:lnTo>
                  <a:pt x="80645" y="177291"/>
                </a:lnTo>
                <a:lnTo>
                  <a:pt x="123444" y="177291"/>
                </a:lnTo>
                <a:lnTo>
                  <a:pt x="123698" y="177037"/>
                </a:lnTo>
                <a:lnTo>
                  <a:pt x="129667" y="164972"/>
                </a:lnTo>
                <a:lnTo>
                  <a:pt x="135509" y="140842"/>
                </a:lnTo>
                <a:lnTo>
                  <a:pt x="132588" y="128777"/>
                </a:lnTo>
                <a:lnTo>
                  <a:pt x="132588" y="119760"/>
                </a:lnTo>
                <a:lnTo>
                  <a:pt x="121406" y="102869"/>
                </a:lnTo>
                <a:close/>
              </a:path>
              <a:path w="135509" h="200913">
                <a:moveTo>
                  <a:pt x="26797" y="138429"/>
                </a:moveTo>
                <a:lnTo>
                  <a:pt x="26543" y="138429"/>
                </a:lnTo>
                <a:lnTo>
                  <a:pt x="26797" y="138556"/>
                </a:lnTo>
                <a:close/>
              </a:path>
              <a:path w="135509" h="200913">
                <a:moveTo>
                  <a:pt x="103002" y="89788"/>
                </a:moveTo>
                <a:lnTo>
                  <a:pt x="32639" y="89788"/>
                </a:lnTo>
                <a:lnTo>
                  <a:pt x="32893" y="89915"/>
                </a:lnTo>
                <a:lnTo>
                  <a:pt x="102743" y="89915"/>
                </a:lnTo>
                <a:lnTo>
                  <a:pt x="103002" y="89788"/>
                </a:lnTo>
                <a:close/>
              </a:path>
              <a:path w="135509" h="200913">
                <a:moveTo>
                  <a:pt x="87503" y="0"/>
                </a:moveTo>
                <a:lnTo>
                  <a:pt x="44958" y="0"/>
                </a:lnTo>
                <a:lnTo>
                  <a:pt x="32893" y="5968"/>
                </a:lnTo>
                <a:lnTo>
                  <a:pt x="23876" y="11937"/>
                </a:lnTo>
                <a:lnTo>
                  <a:pt x="17907" y="17906"/>
                </a:lnTo>
                <a:lnTo>
                  <a:pt x="11938" y="26923"/>
                </a:lnTo>
                <a:lnTo>
                  <a:pt x="6096" y="38862"/>
                </a:lnTo>
                <a:lnTo>
                  <a:pt x="6096" y="60070"/>
                </a:lnTo>
                <a:lnTo>
                  <a:pt x="9017" y="69087"/>
                </a:lnTo>
                <a:lnTo>
                  <a:pt x="14986" y="78104"/>
                </a:lnTo>
                <a:lnTo>
                  <a:pt x="23876" y="86994"/>
                </a:lnTo>
                <a:lnTo>
                  <a:pt x="32584" y="89815"/>
                </a:lnTo>
                <a:lnTo>
                  <a:pt x="103002" y="89788"/>
                </a:lnTo>
                <a:lnTo>
                  <a:pt x="114681" y="84073"/>
                </a:lnTo>
                <a:lnTo>
                  <a:pt x="115823" y="82930"/>
                </a:lnTo>
                <a:lnTo>
                  <a:pt x="65659" y="82930"/>
                </a:lnTo>
                <a:lnTo>
                  <a:pt x="59690" y="80009"/>
                </a:lnTo>
                <a:lnTo>
                  <a:pt x="53721" y="80009"/>
                </a:lnTo>
                <a:lnTo>
                  <a:pt x="41783" y="74167"/>
                </a:lnTo>
                <a:lnTo>
                  <a:pt x="38862" y="71246"/>
                </a:lnTo>
                <a:lnTo>
                  <a:pt x="33020" y="59308"/>
                </a:lnTo>
                <a:lnTo>
                  <a:pt x="33020" y="50291"/>
                </a:lnTo>
                <a:lnTo>
                  <a:pt x="32893" y="50291"/>
                </a:lnTo>
                <a:lnTo>
                  <a:pt x="32893" y="44322"/>
                </a:lnTo>
                <a:lnTo>
                  <a:pt x="41656" y="26415"/>
                </a:lnTo>
                <a:lnTo>
                  <a:pt x="47625" y="23494"/>
                </a:lnTo>
                <a:lnTo>
                  <a:pt x="53594" y="23494"/>
                </a:lnTo>
                <a:lnTo>
                  <a:pt x="56515" y="20573"/>
                </a:lnTo>
                <a:lnTo>
                  <a:pt x="119367" y="20573"/>
                </a:lnTo>
                <a:lnTo>
                  <a:pt x="117602" y="17906"/>
                </a:lnTo>
                <a:lnTo>
                  <a:pt x="99568" y="5968"/>
                </a:lnTo>
                <a:lnTo>
                  <a:pt x="87503" y="0"/>
                </a:lnTo>
                <a:close/>
              </a:path>
              <a:path w="135509" h="200913">
                <a:moveTo>
                  <a:pt x="119367" y="20573"/>
                </a:moveTo>
                <a:lnTo>
                  <a:pt x="74676" y="20573"/>
                </a:lnTo>
                <a:lnTo>
                  <a:pt x="77597" y="23494"/>
                </a:lnTo>
                <a:lnTo>
                  <a:pt x="83566" y="23494"/>
                </a:lnTo>
                <a:lnTo>
                  <a:pt x="89535" y="26415"/>
                </a:lnTo>
                <a:lnTo>
                  <a:pt x="95504" y="32384"/>
                </a:lnTo>
                <a:lnTo>
                  <a:pt x="98425" y="38353"/>
                </a:lnTo>
                <a:lnTo>
                  <a:pt x="98425" y="44322"/>
                </a:lnTo>
                <a:lnTo>
                  <a:pt x="101346" y="50291"/>
                </a:lnTo>
                <a:lnTo>
                  <a:pt x="98425" y="59308"/>
                </a:lnTo>
                <a:lnTo>
                  <a:pt x="98425" y="65277"/>
                </a:lnTo>
                <a:lnTo>
                  <a:pt x="95504" y="71246"/>
                </a:lnTo>
                <a:lnTo>
                  <a:pt x="77597" y="80009"/>
                </a:lnTo>
                <a:lnTo>
                  <a:pt x="71628" y="80009"/>
                </a:lnTo>
                <a:lnTo>
                  <a:pt x="65659" y="82930"/>
                </a:lnTo>
                <a:lnTo>
                  <a:pt x="115823" y="82930"/>
                </a:lnTo>
                <a:lnTo>
                  <a:pt x="120650" y="78104"/>
                </a:lnTo>
                <a:lnTo>
                  <a:pt x="126492" y="60070"/>
                </a:lnTo>
                <a:lnTo>
                  <a:pt x="129413" y="48005"/>
                </a:lnTo>
                <a:lnTo>
                  <a:pt x="126461" y="38862"/>
                </a:lnTo>
                <a:lnTo>
                  <a:pt x="123571" y="26923"/>
                </a:lnTo>
                <a:lnTo>
                  <a:pt x="119367" y="20573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bk object 37"/>
          <p:cNvSpPr/>
          <p:nvPr/>
        </p:nvSpPr>
        <p:spPr>
          <a:xfrm>
            <a:off x="2104200" y="1094040"/>
            <a:ext cx="137160" cy="204480"/>
          </a:xfrm>
          <a:custGeom>
            <a:avLst/>
            <a:gdLst>
              <a:gd name="textAreaLeft" fmla="*/ 0 w 137160"/>
              <a:gd name="textAreaRight" fmla="*/ 137880 w 137160"/>
              <a:gd name="textAreaTop" fmla="*/ 0 h 204480"/>
              <a:gd name="textAreaBottom" fmla="*/ 205200 h 204480"/>
            </a:gdLst>
            <a:ahLst/>
            <a:cxnLst/>
            <a:rect l="textAreaLeft" t="textAreaTop" r="textAreaRight" b="textAreaBottom"/>
            <a:pathLst>
              <a:path w="137922" h="205104">
                <a:moveTo>
                  <a:pt x="27431" y="150749"/>
                </a:moveTo>
                <a:lnTo>
                  <a:pt x="3175" y="150749"/>
                </a:lnTo>
                <a:lnTo>
                  <a:pt x="2667" y="151129"/>
                </a:lnTo>
                <a:lnTo>
                  <a:pt x="2667" y="169290"/>
                </a:lnTo>
                <a:lnTo>
                  <a:pt x="8636" y="178307"/>
                </a:lnTo>
                <a:lnTo>
                  <a:pt x="23622" y="193293"/>
                </a:lnTo>
                <a:lnTo>
                  <a:pt x="47625" y="205104"/>
                </a:lnTo>
                <a:lnTo>
                  <a:pt x="62737" y="205104"/>
                </a:lnTo>
                <a:lnTo>
                  <a:pt x="105029" y="193293"/>
                </a:lnTo>
                <a:lnTo>
                  <a:pt x="114576" y="180339"/>
                </a:lnTo>
                <a:lnTo>
                  <a:pt x="54102" y="180339"/>
                </a:lnTo>
                <a:lnTo>
                  <a:pt x="36194" y="171576"/>
                </a:lnTo>
                <a:lnTo>
                  <a:pt x="30353" y="159638"/>
                </a:lnTo>
                <a:lnTo>
                  <a:pt x="30353" y="156717"/>
                </a:lnTo>
                <a:lnTo>
                  <a:pt x="27431" y="150749"/>
                </a:lnTo>
                <a:close/>
              </a:path>
              <a:path w="137922" h="205104">
                <a:moveTo>
                  <a:pt x="136650" y="111378"/>
                </a:moveTo>
                <a:lnTo>
                  <a:pt x="110871" y="111378"/>
                </a:lnTo>
                <a:lnTo>
                  <a:pt x="107950" y="120395"/>
                </a:lnTo>
                <a:lnTo>
                  <a:pt x="107950" y="132460"/>
                </a:lnTo>
                <a:lnTo>
                  <a:pt x="105029" y="138429"/>
                </a:lnTo>
                <a:lnTo>
                  <a:pt x="87249" y="174498"/>
                </a:lnTo>
                <a:lnTo>
                  <a:pt x="78231" y="177418"/>
                </a:lnTo>
                <a:lnTo>
                  <a:pt x="72262" y="180339"/>
                </a:lnTo>
                <a:lnTo>
                  <a:pt x="114576" y="180339"/>
                </a:lnTo>
                <a:lnTo>
                  <a:pt x="123062" y="166115"/>
                </a:lnTo>
                <a:lnTo>
                  <a:pt x="132080" y="144906"/>
                </a:lnTo>
                <a:lnTo>
                  <a:pt x="135000" y="135889"/>
                </a:lnTo>
                <a:lnTo>
                  <a:pt x="135109" y="125856"/>
                </a:lnTo>
                <a:lnTo>
                  <a:pt x="136650" y="111378"/>
                </a:lnTo>
                <a:close/>
              </a:path>
              <a:path w="137922" h="205104">
                <a:moveTo>
                  <a:pt x="65912" y="0"/>
                </a:moveTo>
                <a:lnTo>
                  <a:pt x="41782" y="5841"/>
                </a:lnTo>
                <a:lnTo>
                  <a:pt x="17653" y="17779"/>
                </a:lnTo>
                <a:lnTo>
                  <a:pt x="11811" y="29717"/>
                </a:lnTo>
                <a:lnTo>
                  <a:pt x="5842" y="35686"/>
                </a:lnTo>
                <a:lnTo>
                  <a:pt x="5842" y="41655"/>
                </a:lnTo>
                <a:lnTo>
                  <a:pt x="123" y="65276"/>
                </a:lnTo>
                <a:lnTo>
                  <a:pt x="0" y="80899"/>
                </a:lnTo>
                <a:lnTo>
                  <a:pt x="20828" y="116966"/>
                </a:lnTo>
                <a:lnTo>
                  <a:pt x="53975" y="131825"/>
                </a:lnTo>
                <a:lnTo>
                  <a:pt x="72136" y="131825"/>
                </a:lnTo>
                <a:lnTo>
                  <a:pt x="78105" y="128904"/>
                </a:lnTo>
                <a:lnTo>
                  <a:pt x="96138" y="123062"/>
                </a:lnTo>
                <a:lnTo>
                  <a:pt x="104902" y="114300"/>
                </a:lnTo>
                <a:lnTo>
                  <a:pt x="110871" y="111378"/>
                </a:lnTo>
                <a:lnTo>
                  <a:pt x="136650" y="111378"/>
                </a:lnTo>
                <a:lnTo>
                  <a:pt x="137097" y="107187"/>
                </a:lnTo>
                <a:lnTo>
                  <a:pt x="57150" y="107187"/>
                </a:lnTo>
                <a:lnTo>
                  <a:pt x="54229" y="104266"/>
                </a:lnTo>
                <a:lnTo>
                  <a:pt x="51307" y="104266"/>
                </a:lnTo>
                <a:lnTo>
                  <a:pt x="42291" y="101345"/>
                </a:lnTo>
                <a:lnTo>
                  <a:pt x="39369" y="95376"/>
                </a:lnTo>
                <a:lnTo>
                  <a:pt x="33400" y="89407"/>
                </a:lnTo>
                <a:lnTo>
                  <a:pt x="30480" y="83438"/>
                </a:lnTo>
                <a:lnTo>
                  <a:pt x="27559" y="74421"/>
                </a:lnTo>
                <a:lnTo>
                  <a:pt x="27559" y="65404"/>
                </a:lnTo>
                <a:lnTo>
                  <a:pt x="27431" y="65276"/>
                </a:lnTo>
                <a:lnTo>
                  <a:pt x="27431" y="56260"/>
                </a:lnTo>
                <a:lnTo>
                  <a:pt x="33274" y="44323"/>
                </a:lnTo>
                <a:lnTo>
                  <a:pt x="33274" y="41401"/>
                </a:lnTo>
                <a:lnTo>
                  <a:pt x="39243" y="35432"/>
                </a:lnTo>
                <a:lnTo>
                  <a:pt x="42163" y="29463"/>
                </a:lnTo>
                <a:lnTo>
                  <a:pt x="51181" y="26542"/>
                </a:lnTo>
                <a:lnTo>
                  <a:pt x="57150" y="23621"/>
                </a:lnTo>
                <a:lnTo>
                  <a:pt x="118523" y="23621"/>
                </a:lnTo>
                <a:lnTo>
                  <a:pt x="117093" y="20700"/>
                </a:lnTo>
                <a:lnTo>
                  <a:pt x="105029" y="11683"/>
                </a:lnTo>
                <a:lnTo>
                  <a:pt x="93091" y="5841"/>
                </a:lnTo>
                <a:lnTo>
                  <a:pt x="81025" y="2920"/>
                </a:lnTo>
                <a:lnTo>
                  <a:pt x="65912" y="0"/>
                </a:lnTo>
                <a:close/>
              </a:path>
              <a:path w="137922" h="205104">
                <a:moveTo>
                  <a:pt x="118523" y="23621"/>
                </a:moveTo>
                <a:lnTo>
                  <a:pt x="78359" y="23621"/>
                </a:lnTo>
                <a:lnTo>
                  <a:pt x="84328" y="26542"/>
                </a:lnTo>
                <a:lnTo>
                  <a:pt x="93344" y="29463"/>
                </a:lnTo>
                <a:lnTo>
                  <a:pt x="99313" y="35432"/>
                </a:lnTo>
                <a:lnTo>
                  <a:pt x="102235" y="41401"/>
                </a:lnTo>
                <a:lnTo>
                  <a:pt x="105156" y="50418"/>
                </a:lnTo>
                <a:lnTo>
                  <a:pt x="108014" y="56260"/>
                </a:lnTo>
                <a:lnTo>
                  <a:pt x="107984" y="65785"/>
                </a:lnTo>
                <a:lnTo>
                  <a:pt x="105156" y="77469"/>
                </a:lnTo>
                <a:lnTo>
                  <a:pt x="105156" y="83438"/>
                </a:lnTo>
                <a:lnTo>
                  <a:pt x="102235" y="89407"/>
                </a:lnTo>
                <a:lnTo>
                  <a:pt x="90297" y="101345"/>
                </a:lnTo>
                <a:lnTo>
                  <a:pt x="81280" y="104266"/>
                </a:lnTo>
                <a:lnTo>
                  <a:pt x="75311" y="107187"/>
                </a:lnTo>
                <a:lnTo>
                  <a:pt x="137097" y="107187"/>
                </a:lnTo>
                <a:lnTo>
                  <a:pt x="137922" y="99440"/>
                </a:lnTo>
                <a:lnTo>
                  <a:pt x="137922" y="72008"/>
                </a:lnTo>
                <a:lnTo>
                  <a:pt x="131953" y="53848"/>
                </a:lnTo>
                <a:lnTo>
                  <a:pt x="125984" y="32638"/>
                </a:lnTo>
                <a:lnTo>
                  <a:pt x="120015" y="26669"/>
                </a:lnTo>
                <a:lnTo>
                  <a:pt x="118523" y="2362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bk object 38"/>
          <p:cNvSpPr/>
          <p:nvPr/>
        </p:nvSpPr>
        <p:spPr>
          <a:xfrm>
            <a:off x="1991520" y="55440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1881" h="201040">
                <a:moveTo>
                  <a:pt x="71881" y="0"/>
                </a:moveTo>
                <a:lnTo>
                  <a:pt x="53721" y="0"/>
                </a:lnTo>
                <a:lnTo>
                  <a:pt x="50800" y="9016"/>
                </a:lnTo>
                <a:lnTo>
                  <a:pt x="47879" y="14985"/>
                </a:lnTo>
                <a:lnTo>
                  <a:pt x="44958" y="24002"/>
                </a:lnTo>
                <a:lnTo>
                  <a:pt x="42037" y="26923"/>
                </a:lnTo>
                <a:lnTo>
                  <a:pt x="24130" y="35686"/>
                </a:lnTo>
                <a:lnTo>
                  <a:pt x="15112" y="35686"/>
                </a:lnTo>
                <a:lnTo>
                  <a:pt x="0" y="38607"/>
                </a:lnTo>
                <a:lnTo>
                  <a:pt x="0" y="56768"/>
                </a:lnTo>
                <a:lnTo>
                  <a:pt x="45593" y="56768"/>
                </a:lnTo>
                <a:lnTo>
                  <a:pt x="45593" y="199897"/>
                </a:lnTo>
                <a:lnTo>
                  <a:pt x="44450" y="201040"/>
                </a:lnTo>
                <a:lnTo>
                  <a:pt x="71881" y="201040"/>
                </a:lnTo>
                <a:lnTo>
                  <a:pt x="718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bk object 39"/>
          <p:cNvSpPr/>
          <p:nvPr/>
        </p:nvSpPr>
        <p:spPr>
          <a:xfrm>
            <a:off x="2107080" y="553680"/>
            <a:ext cx="134640" cy="2048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4840"/>
              <a:gd name="textAreaBottom" fmla="*/ 205560 h 204840"/>
            </a:gdLst>
            <a:ahLst/>
            <a:cxnLst/>
            <a:rect l="textAreaLeft" t="textAreaTop" r="textAreaRight" b="textAreaBottom"/>
            <a:pathLst>
              <a:path w="135509" h="205611">
                <a:moveTo>
                  <a:pt x="81534" y="0"/>
                </a:moveTo>
                <a:lnTo>
                  <a:pt x="54102" y="0"/>
                </a:lnTo>
                <a:lnTo>
                  <a:pt x="29972" y="11938"/>
                </a:lnTo>
                <a:lnTo>
                  <a:pt x="17906" y="20954"/>
                </a:lnTo>
                <a:lnTo>
                  <a:pt x="11937" y="33020"/>
                </a:lnTo>
                <a:lnTo>
                  <a:pt x="2921" y="54228"/>
                </a:lnTo>
                <a:lnTo>
                  <a:pt x="0" y="75438"/>
                </a:lnTo>
                <a:lnTo>
                  <a:pt x="0" y="102870"/>
                </a:lnTo>
                <a:lnTo>
                  <a:pt x="254" y="102870"/>
                </a:lnTo>
                <a:lnTo>
                  <a:pt x="254" y="130301"/>
                </a:lnTo>
                <a:lnTo>
                  <a:pt x="3175" y="151511"/>
                </a:lnTo>
                <a:lnTo>
                  <a:pt x="12192" y="169672"/>
                </a:lnTo>
                <a:lnTo>
                  <a:pt x="18161" y="184785"/>
                </a:lnTo>
                <a:lnTo>
                  <a:pt x="30225" y="193801"/>
                </a:lnTo>
                <a:lnTo>
                  <a:pt x="42291" y="199771"/>
                </a:lnTo>
                <a:lnTo>
                  <a:pt x="66421" y="205611"/>
                </a:lnTo>
                <a:lnTo>
                  <a:pt x="81534" y="202692"/>
                </a:lnTo>
                <a:lnTo>
                  <a:pt x="93599" y="199771"/>
                </a:lnTo>
                <a:lnTo>
                  <a:pt x="105663" y="193801"/>
                </a:lnTo>
                <a:lnTo>
                  <a:pt x="114681" y="184785"/>
                </a:lnTo>
                <a:lnTo>
                  <a:pt x="116726" y="181355"/>
                </a:lnTo>
                <a:lnTo>
                  <a:pt x="57023" y="181355"/>
                </a:lnTo>
                <a:lnTo>
                  <a:pt x="51054" y="178435"/>
                </a:lnTo>
                <a:lnTo>
                  <a:pt x="39243" y="166624"/>
                </a:lnTo>
                <a:lnTo>
                  <a:pt x="33274" y="157606"/>
                </a:lnTo>
                <a:lnTo>
                  <a:pt x="30353" y="139446"/>
                </a:lnTo>
                <a:lnTo>
                  <a:pt x="27431" y="124333"/>
                </a:lnTo>
                <a:lnTo>
                  <a:pt x="27305" y="78611"/>
                </a:lnTo>
                <a:lnTo>
                  <a:pt x="30225" y="66548"/>
                </a:lnTo>
                <a:lnTo>
                  <a:pt x="33147" y="48387"/>
                </a:lnTo>
                <a:lnTo>
                  <a:pt x="39116" y="39370"/>
                </a:lnTo>
                <a:lnTo>
                  <a:pt x="50927" y="27559"/>
                </a:lnTo>
                <a:lnTo>
                  <a:pt x="56896" y="24638"/>
                </a:lnTo>
                <a:lnTo>
                  <a:pt x="117433" y="24638"/>
                </a:lnTo>
                <a:lnTo>
                  <a:pt x="114681" y="20954"/>
                </a:lnTo>
                <a:lnTo>
                  <a:pt x="105663" y="11938"/>
                </a:lnTo>
                <a:lnTo>
                  <a:pt x="81534" y="0"/>
                </a:lnTo>
                <a:close/>
              </a:path>
              <a:path w="135509" h="205611">
                <a:moveTo>
                  <a:pt x="117433" y="24638"/>
                </a:moveTo>
                <a:lnTo>
                  <a:pt x="75056" y="24638"/>
                </a:lnTo>
                <a:lnTo>
                  <a:pt x="84074" y="27559"/>
                </a:lnTo>
                <a:lnTo>
                  <a:pt x="96012" y="39497"/>
                </a:lnTo>
                <a:lnTo>
                  <a:pt x="101981" y="48514"/>
                </a:lnTo>
                <a:lnTo>
                  <a:pt x="104902" y="66675"/>
                </a:lnTo>
                <a:lnTo>
                  <a:pt x="107823" y="81788"/>
                </a:lnTo>
                <a:lnTo>
                  <a:pt x="107823" y="124333"/>
                </a:lnTo>
                <a:lnTo>
                  <a:pt x="104902" y="139446"/>
                </a:lnTo>
                <a:lnTo>
                  <a:pt x="101981" y="157606"/>
                </a:lnTo>
                <a:lnTo>
                  <a:pt x="96012" y="166624"/>
                </a:lnTo>
                <a:lnTo>
                  <a:pt x="84200" y="178435"/>
                </a:lnTo>
                <a:lnTo>
                  <a:pt x="75184" y="181355"/>
                </a:lnTo>
                <a:lnTo>
                  <a:pt x="116726" y="181355"/>
                </a:lnTo>
                <a:lnTo>
                  <a:pt x="123698" y="169672"/>
                </a:lnTo>
                <a:lnTo>
                  <a:pt x="129667" y="151511"/>
                </a:lnTo>
                <a:lnTo>
                  <a:pt x="132587" y="130301"/>
                </a:lnTo>
                <a:lnTo>
                  <a:pt x="135509" y="102870"/>
                </a:lnTo>
                <a:lnTo>
                  <a:pt x="132587" y="75438"/>
                </a:lnTo>
                <a:lnTo>
                  <a:pt x="129667" y="54228"/>
                </a:lnTo>
                <a:lnTo>
                  <a:pt x="123698" y="33020"/>
                </a:lnTo>
                <a:lnTo>
                  <a:pt x="117433" y="2463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bk object 40"/>
          <p:cNvSpPr/>
          <p:nvPr/>
        </p:nvSpPr>
        <p:spPr>
          <a:xfrm>
            <a:off x="2341800" y="6124680"/>
            <a:ext cx="6009840" cy="360"/>
          </a:xfrm>
          <a:custGeom>
            <a:avLst/>
            <a:gdLst>
              <a:gd name="textAreaLeft" fmla="*/ 0 w 6009840"/>
              <a:gd name="textAreaRight" fmla="*/ 6010560 w 600984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6010529">
                <a:moveTo>
                  <a:pt x="6010529" y="0"/>
                </a:moveTo>
                <a:lnTo>
                  <a:pt x="0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bk object 41"/>
          <p:cNvSpPr/>
          <p:nvPr/>
        </p:nvSpPr>
        <p:spPr>
          <a:xfrm>
            <a:off x="2387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bk object 42"/>
          <p:cNvSpPr/>
          <p:nvPr/>
        </p:nvSpPr>
        <p:spPr>
          <a:xfrm>
            <a:off x="29818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bk object 43"/>
          <p:cNvSpPr/>
          <p:nvPr/>
        </p:nvSpPr>
        <p:spPr>
          <a:xfrm>
            <a:off x="35733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bk object 44"/>
          <p:cNvSpPr/>
          <p:nvPr/>
        </p:nvSpPr>
        <p:spPr>
          <a:xfrm>
            <a:off x="41644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bk object 45"/>
          <p:cNvSpPr/>
          <p:nvPr/>
        </p:nvSpPr>
        <p:spPr>
          <a:xfrm>
            <a:off x="47559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bk object 46"/>
          <p:cNvSpPr/>
          <p:nvPr/>
        </p:nvSpPr>
        <p:spPr>
          <a:xfrm>
            <a:off x="534708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bk object 47"/>
          <p:cNvSpPr/>
          <p:nvPr/>
        </p:nvSpPr>
        <p:spPr>
          <a:xfrm>
            <a:off x="593856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bk object 48"/>
          <p:cNvSpPr/>
          <p:nvPr/>
        </p:nvSpPr>
        <p:spPr>
          <a:xfrm>
            <a:off x="65329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bk object 49"/>
          <p:cNvSpPr/>
          <p:nvPr/>
        </p:nvSpPr>
        <p:spPr>
          <a:xfrm>
            <a:off x="71240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bk object 50"/>
          <p:cNvSpPr/>
          <p:nvPr/>
        </p:nvSpPr>
        <p:spPr>
          <a:xfrm>
            <a:off x="771552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bk object 51"/>
          <p:cNvSpPr/>
          <p:nvPr/>
        </p:nvSpPr>
        <p:spPr>
          <a:xfrm>
            <a:off x="8306640" y="6124680"/>
            <a:ext cx="360" cy="45000"/>
          </a:xfrm>
          <a:custGeom>
            <a:avLst/>
            <a:gdLst>
              <a:gd name="textAreaLeft" fmla="*/ 0 w 360"/>
              <a:gd name="textAreaRight" fmla="*/ 1440 w 360"/>
              <a:gd name="textAreaTop" fmla="*/ 0 h 45000"/>
              <a:gd name="textAreaBottom" fmla="*/ 45720 h 45000"/>
            </a:gdLst>
            <a:ahLst/>
            <a:cxnLst/>
            <a:rect l="textAreaLeft" t="textAreaTop" r="textAreaRight" b="textAreaBottom"/>
            <a:pathLst>
              <a:path h="45593">
                <a:moveTo>
                  <a:pt x="0" y="0"/>
                </a:moveTo>
                <a:lnTo>
                  <a:pt x="0" y="45592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bk object 52"/>
          <p:cNvSpPr/>
          <p:nvPr/>
        </p:nvSpPr>
        <p:spPr>
          <a:xfrm>
            <a:off x="220428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7" y="26924"/>
                </a:lnTo>
                <a:lnTo>
                  <a:pt x="12318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29845" y="193675"/>
                </a:lnTo>
                <a:lnTo>
                  <a:pt x="53975" y="202565"/>
                </a:lnTo>
                <a:lnTo>
                  <a:pt x="81406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7602" y="181610"/>
                </a:lnTo>
                <a:lnTo>
                  <a:pt x="69850" y="181483"/>
                </a:lnTo>
                <a:lnTo>
                  <a:pt x="60833" y="178562"/>
                </a:lnTo>
                <a:lnTo>
                  <a:pt x="54864" y="178562"/>
                </a:lnTo>
                <a:lnTo>
                  <a:pt x="45847" y="172593"/>
                </a:lnTo>
                <a:lnTo>
                  <a:pt x="39878" y="166624"/>
                </a:lnTo>
                <a:lnTo>
                  <a:pt x="36956" y="154559"/>
                </a:lnTo>
                <a:lnTo>
                  <a:pt x="30987" y="139446"/>
                </a:lnTo>
                <a:lnTo>
                  <a:pt x="30987" y="124333"/>
                </a:lnTo>
                <a:lnTo>
                  <a:pt x="28067" y="103124"/>
                </a:lnTo>
                <a:lnTo>
                  <a:pt x="27940" y="102616"/>
                </a:lnTo>
                <a:lnTo>
                  <a:pt x="30861" y="78359"/>
                </a:lnTo>
                <a:lnTo>
                  <a:pt x="30861" y="63246"/>
                </a:lnTo>
                <a:lnTo>
                  <a:pt x="36830" y="48133"/>
                </a:lnTo>
                <a:lnTo>
                  <a:pt x="39751" y="39116"/>
                </a:lnTo>
                <a:lnTo>
                  <a:pt x="45720" y="30099"/>
                </a:lnTo>
                <a:lnTo>
                  <a:pt x="54737" y="27178"/>
                </a:lnTo>
                <a:lnTo>
                  <a:pt x="60706" y="24257"/>
                </a:lnTo>
                <a:lnTo>
                  <a:pt x="119344" y="24257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509" h="202564">
                <a:moveTo>
                  <a:pt x="119344" y="24257"/>
                </a:moveTo>
                <a:lnTo>
                  <a:pt x="78867" y="24257"/>
                </a:lnTo>
                <a:lnTo>
                  <a:pt x="90805" y="30099"/>
                </a:lnTo>
                <a:lnTo>
                  <a:pt x="102743" y="48133"/>
                </a:lnTo>
                <a:lnTo>
                  <a:pt x="108712" y="63246"/>
                </a:lnTo>
                <a:lnTo>
                  <a:pt x="108712" y="139446"/>
                </a:lnTo>
                <a:lnTo>
                  <a:pt x="102743" y="154559"/>
                </a:lnTo>
                <a:lnTo>
                  <a:pt x="96774" y="166624"/>
                </a:lnTo>
                <a:lnTo>
                  <a:pt x="84836" y="178562"/>
                </a:lnTo>
                <a:lnTo>
                  <a:pt x="78867" y="178562"/>
                </a:lnTo>
                <a:lnTo>
                  <a:pt x="69850" y="181483"/>
                </a:lnTo>
                <a:lnTo>
                  <a:pt x="117664" y="181483"/>
                </a:lnTo>
                <a:lnTo>
                  <a:pt x="123571" y="169545"/>
                </a:lnTo>
                <a:lnTo>
                  <a:pt x="132587" y="148336"/>
                </a:lnTo>
                <a:lnTo>
                  <a:pt x="135509" y="130175"/>
                </a:lnTo>
                <a:lnTo>
                  <a:pt x="135491" y="75184"/>
                </a:lnTo>
                <a:lnTo>
                  <a:pt x="132587" y="54102"/>
                </a:lnTo>
                <a:lnTo>
                  <a:pt x="123571" y="32893"/>
                </a:lnTo>
                <a:lnTo>
                  <a:pt x="119344" y="24257"/>
                </a:lnTo>
                <a:close/>
              </a:path>
              <a:path w="135509" h="202564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bk object 53"/>
          <p:cNvSpPr/>
          <p:nvPr/>
        </p:nvSpPr>
        <p:spPr>
          <a:xfrm>
            <a:off x="237240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2" h="33401">
                <a:moveTo>
                  <a:pt x="0" y="16700"/>
                </a:moveTo>
                <a:lnTo>
                  <a:pt x="3035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bk object 54"/>
          <p:cNvSpPr/>
          <p:nvPr/>
        </p:nvSpPr>
        <p:spPr>
          <a:xfrm>
            <a:off x="243252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361" h="202564">
                <a:moveTo>
                  <a:pt x="93472" y="2920"/>
                </a:moveTo>
                <a:lnTo>
                  <a:pt x="42163" y="2920"/>
                </a:lnTo>
                <a:lnTo>
                  <a:pt x="36194" y="5841"/>
                </a:lnTo>
                <a:lnTo>
                  <a:pt x="21208" y="20827"/>
                </a:lnTo>
                <a:lnTo>
                  <a:pt x="18287" y="26796"/>
                </a:lnTo>
                <a:lnTo>
                  <a:pt x="12318" y="32765"/>
                </a:lnTo>
                <a:lnTo>
                  <a:pt x="9398" y="41782"/>
                </a:lnTo>
                <a:lnTo>
                  <a:pt x="6476" y="53847"/>
                </a:lnTo>
                <a:lnTo>
                  <a:pt x="3528" y="75310"/>
                </a:lnTo>
                <a:lnTo>
                  <a:pt x="635" y="102488"/>
                </a:lnTo>
                <a:lnTo>
                  <a:pt x="0" y="102869"/>
                </a:lnTo>
                <a:lnTo>
                  <a:pt x="5842" y="148462"/>
                </a:lnTo>
                <a:lnTo>
                  <a:pt x="29844" y="193801"/>
                </a:lnTo>
                <a:lnTo>
                  <a:pt x="53848" y="202564"/>
                </a:lnTo>
                <a:lnTo>
                  <a:pt x="81280" y="202564"/>
                </a:lnTo>
                <a:lnTo>
                  <a:pt x="93344" y="199643"/>
                </a:lnTo>
                <a:lnTo>
                  <a:pt x="105410" y="193674"/>
                </a:lnTo>
                <a:lnTo>
                  <a:pt x="117475" y="181609"/>
                </a:lnTo>
                <a:lnTo>
                  <a:pt x="117537" y="181482"/>
                </a:lnTo>
                <a:lnTo>
                  <a:pt x="69976" y="181482"/>
                </a:lnTo>
                <a:lnTo>
                  <a:pt x="60960" y="178561"/>
                </a:lnTo>
                <a:lnTo>
                  <a:pt x="54991" y="178561"/>
                </a:lnTo>
                <a:lnTo>
                  <a:pt x="45974" y="172592"/>
                </a:lnTo>
                <a:lnTo>
                  <a:pt x="40005" y="166611"/>
                </a:lnTo>
                <a:lnTo>
                  <a:pt x="37083" y="160654"/>
                </a:lnTo>
                <a:lnTo>
                  <a:pt x="37033" y="154558"/>
                </a:lnTo>
                <a:lnTo>
                  <a:pt x="31114" y="139572"/>
                </a:lnTo>
                <a:lnTo>
                  <a:pt x="31114" y="124459"/>
                </a:lnTo>
                <a:lnTo>
                  <a:pt x="28193" y="103250"/>
                </a:lnTo>
                <a:lnTo>
                  <a:pt x="28067" y="102488"/>
                </a:lnTo>
                <a:lnTo>
                  <a:pt x="30987" y="78231"/>
                </a:lnTo>
                <a:lnTo>
                  <a:pt x="30987" y="63118"/>
                </a:lnTo>
                <a:lnTo>
                  <a:pt x="36906" y="48132"/>
                </a:lnTo>
                <a:lnTo>
                  <a:pt x="36956" y="42036"/>
                </a:lnTo>
                <a:lnTo>
                  <a:pt x="39878" y="39115"/>
                </a:lnTo>
                <a:lnTo>
                  <a:pt x="45847" y="30086"/>
                </a:lnTo>
                <a:lnTo>
                  <a:pt x="54863" y="27177"/>
                </a:lnTo>
                <a:lnTo>
                  <a:pt x="60832" y="24256"/>
                </a:lnTo>
                <a:lnTo>
                  <a:pt x="119217" y="24256"/>
                </a:lnTo>
                <a:lnTo>
                  <a:pt x="117601" y="20954"/>
                </a:lnTo>
                <a:lnTo>
                  <a:pt x="93472" y="2920"/>
                </a:lnTo>
                <a:close/>
              </a:path>
              <a:path w="135361" h="202564">
                <a:moveTo>
                  <a:pt x="119217" y="24256"/>
                </a:moveTo>
                <a:lnTo>
                  <a:pt x="78993" y="24256"/>
                </a:lnTo>
                <a:lnTo>
                  <a:pt x="90931" y="30086"/>
                </a:lnTo>
                <a:lnTo>
                  <a:pt x="102869" y="48132"/>
                </a:lnTo>
                <a:lnTo>
                  <a:pt x="108788" y="63118"/>
                </a:lnTo>
                <a:lnTo>
                  <a:pt x="108788" y="139572"/>
                </a:lnTo>
                <a:lnTo>
                  <a:pt x="102807" y="154685"/>
                </a:lnTo>
                <a:lnTo>
                  <a:pt x="96900" y="166611"/>
                </a:lnTo>
                <a:lnTo>
                  <a:pt x="84962" y="178561"/>
                </a:lnTo>
                <a:lnTo>
                  <a:pt x="78993" y="178561"/>
                </a:lnTo>
                <a:lnTo>
                  <a:pt x="69976" y="181482"/>
                </a:lnTo>
                <a:lnTo>
                  <a:pt x="117537" y="181482"/>
                </a:lnTo>
                <a:lnTo>
                  <a:pt x="123443" y="169544"/>
                </a:lnTo>
                <a:lnTo>
                  <a:pt x="132461" y="148335"/>
                </a:lnTo>
                <a:lnTo>
                  <a:pt x="135361" y="130301"/>
                </a:lnTo>
                <a:lnTo>
                  <a:pt x="135347" y="75056"/>
                </a:lnTo>
                <a:lnTo>
                  <a:pt x="132461" y="54101"/>
                </a:lnTo>
                <a:lnTo>
                  <a:pt x="123381" y="32765"/>
                </a:lnTo>
                <a:lnTo>
                  <a:pt x="119217" y="24256"/>
                </a:lnTo>
                <a:close/>
              </a:path>
              <a:path w="135361" h="202564">
                <a:moveTo>
                  <a:pt x="81533" y="0"/>
                </a:moveTo>
                <a:lnTo>
                  <a:pt x="54101" y="0"/>
                </a:lnTo>
                <a:lnTo>
                  <a:pt x="48132" y="2920"/>
                </a:lnTo>
                <a:lnTo>
                  <a:pt x="87503" y="2920"/>
                </a:lnTo>
                <a:lnTo>
                  <a:pt x="81533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bk object 55"/>
          <p:cNvSpPr/>
          <p:nvPr/>
        </p:nvSpPr>
        <p:spPr>
          <a:xfrm>
            <a:off x="2816640" y="6293160"/>
            <a:ext cx="137520" cy="20196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8289" h="202564">
                <a:moveTo>
                  <a:pt x="96519" y="2921"/>
                </a:moveTo>
                <a:lnTo>
                  <a:pt x="45338" y="2921"/>
                </a:lnTo>
                <a:lnTo>
                  <a:pt x="21208" y="20955"/>
                </a:lnTo>
                <a:lnTo>
                  <a:pt x="15367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3542" y="75311"/>
                </a:lnTo>
                <a:lnTo>
                  <a:pt x="635" y="102616"/>
                </a:lnTo>
                <a:lnTo>
                  <a:pt x="0" y="102743"/>
                </a:lnTo>
                <a:lnTo>
                  <a:pt x="5842" y="148336"/>
                </a:lnTo>
                <a:lnTo>
                  <a:pt x="32893" y="193675"/>
                </a:lnTo>
                <a:lnTo>
                  <a:pt x="53975" y="202565"/>
                </a:lnTo>
                <a:lnTo>
                  <a:pt x="84328" y="202565"/>
                </a:lnTo>
                <a:lnTo>
                  <a:pt x="96393" y="199644"/>
                </a:lnTo>
                <a:lnTo>
                  <a:pt x="105410" y="193675"/>
                </a:lnTo>
                <a:lnTo>
                  <a:pt x="117475" y="181610"/>
                </a:lnTo>
                <a:lnTo>
                  <a:pt x="117854" y="181102"/>
                </a:lnTo>
                <a:lnTo>
                  <a:pt x="69976" y="181102"/>
                </a:lnTo>
                <a:lnTo>
                  <a:pt x="60960" y="178181"/>
                </a:lnTo>
                <a:lnTo>
                  <a:pt x="54991" y="178181"/>
                </a:lnTo>
                <a:lnTo>
                  <a:pt x="45974" y="172212"/>
                </a:lnTo>
                <a:lnTo>
                  <a:pt x="40005" y="166243"/>
                </a:lnTo>
                <a:lnTo>
                  <a:pt x="37083" y="160274"/>
                </a:lnTo>
                <a:lnTo>
                  <a:pt x="37033" y="154178"/>
                </a:lnTo>
                <a:lnTo>
                  <a:pt x="31114" y="139192"/>
                </a:lnTo>
                <a:lnTo>
                  <a:pt x="31097" y="123952"/>
                </a:lnTo>
                <a:lnTo>
                  <a:pt x="28193" y="102870"/>
                </a:lnTo>
                <a:lnTo>
                  <a:pt x="28067" y="102616"/>
                </a:lnTo>
                <a:lnTo>
                  <a:pt x="30972" y="78486"/>
                </a:lnTo>
                <a:lnTo>
                  <a:pt x="30987" y="63246"/>
                </a:lnTo>
                <a:lnTo>
                  <a:pt x="36906" y="48260"/>
                </a:lnTo>
                <a:lnTo>
                  <a:pt x="36956" y="42164"/>
                </a:lnTo>
                <a:lnTo>
                  <a:pt x="39878" y="39243"/>
                </a:lnTo>
                <a:lnTo>
                  <a:pt x="45847" y="30213"/>
                </a:lnTo>
                <a:lnTo>
                  <a:pt x="54863" y="27305"/>
                </a:lnTo>
                <a:lnTo>
                  <a:pt x="60832" y="24384"/>
                </a:lnTo>
                <a:lnTo>
                  <a:pt x="119280" y="24384"/>
                </a:lnTo>
                <a:lnTo>
                  <a:pt x="117601" y="20955"/>
                </a:lnTo>
                <a:lnTo>
                  <a:pt x="105537" y="11938"/>
                </a:lnTo>
                <a:lnTo>
                  <a:pt x="96519" y="2921"/>
                </a:lnTo>
                <a:close/>
              </a:path>
              <a:path w="138289" h="202564">
                <a:moveTo>
                  <a:pt x="119280" y="24384"/>
                </a:moveTo>
                <a:lnTo>
                  <a:pt x="78993" y="24384"/>
                </a:lnTo>
                <a:lnTo>
                  <a:pt x="84962" y="27305"/>
                </a:lnTo>
                <a:lnTo>
                  <a:pt x="93980" y="30213"/>
                </a:lnTo>
                <a:lnTo>
                  <a:pt x="99949" y="39243"/>
                </a:lnTo>
                <a:lnTo>
                  <a:pt x="102869" y="48260"/>
                </a:lnTo>
                <a:lnTo>
                  <a:pt x="108788" y="63246"/>
                </a:lnTo>
                <a:lnTo>
                  <a:pt x="108838" y="78486"/>
                </a:lnTo>
                <a:lnTo>
                  <a:pt x="111744" y="102616"/>
                </a:lnTo>
                <a:lnTo>
                  <a:pt x="111742" y="102870"/>
                </a:lnTo>
                <a:lnTo>
                  <a:pt x="108838" y="123952"/>
                </a:lnTo>
                <a:lnTo>
                  <a:pt x="108788" y="139192"/>
                </a:lnTo>
                <a:lnTo>
                  <a:pt x="102869" y="154178"/>
                </a:lnTo>
                <a:lnTo>
                  <a:pt x="99949" y="166243"/>
                </a:lnTo>
                <a:lnTo>
                  <a:pt x="93980" y="172212"/>
                </a:lnTo>
                <a:lnTo>
                  <a:pt x="84962" y="178181"/>
                </a:lnTo>
                <a:lnTo>
                  <a:pt x="78993" y="178181"/>
                </a:lnTo>
                <a:lnTo>
                  <a:pt x="69976" y="181102"/>
                </a:lnTo>
                <a:lnTo>
                  <a:pt x="117854" y="181102"/>
                </a:lnTo>
                <a:lnTo>
                  <a:pt x="126492" y="169545"/>
                </a:lnTo>
                <a:lnTo>
                  <a:pt x="132461" y="148336"/>
                </a:lnTo>
                <a:lnTo>
                  <a:pt x="135381" y="130175"/>
                </a:lnTo>
                <a:lnTo>
                  <a:pt x="138289" y="102870"/>
                </a:lnTo>
                <a:lnTo>
                  <a:pt x="138289" y="102616"/>
                </a:lnTo>
                <a:lnTo>
                  <a:pt x="135364" y="75184"/>
                </a:lnTo>
                <a:lnTo>
                  <a:pt x="132461" y="54102"/>
                </a:lnTo>
                <a:lnTo>
                  <a:pt x="126492" y="32893"/>
                </a:lnTo>
                <a:lnTo>
                  <a:pt x="120523" y="26924"/>
                </a:lnTo>
                <a:lnTo>
                  <a:pt x="119280" y="24384"/>
                </a:lnTo>
                <a:close/>
              </a:path>
              <a:path w="138289" h="202564">
                <a:moveTo>
                  <a:pt x="8458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90550" y="2921"/>
                </a:lnTo>
                <a:lnTo>
                  <a:pt x="8458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bk object 56"/>
          <p:cNvSpPr/>
          <p:nvPr/>
        </p:nvSpPr>
        <p:spPr>
          <a:xfrm>
            <a:off x="298800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bk object 57"/>
          <p:cNvSpPr/>
          <p:nvPr/>
        </p:nvSpPr>
        <p:spPr>
          <a:xfrm>
            <a:off x="30430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6" h="201040">
                <a:moveTo>
                  <a:pt x="72136" y="0"/>
                </a:moveTo>
                <a:lnTo>
                  <a:pt x="53975" y="0"/>
                </a:lnTo>
                <a:lnTo>
                  <a:pt x="51054" y="9016"/>
                </a:lnTo>
                <a:lnTo>
                  <a:pt x="45212" y="20954"/>
                </a:lnTo>
                <a:lnTo>
                  <a:pt x="36194" y="26911"/>
                </a:lnTo>
                <a:lnTo>
                  <a:pt x="30225" y="32892"/>
                </a:lnTo>
                <a:lnTo>
                  <a:pt x="21208" y="35813"/>
                </a:lnTo>
                <a:lnTo>
                  <a:pt x="0" y="35813"/>
                </a:lnTo>
                <a:lnTo>
                  <a:pt x="0" y="57022"/>
                </a:lnTo>
                <a:lnTo>
                  <a:pt x="45593" y="57022"/>
                </a:lnTo>
                <a:lnTo>
                  <a:pt x="45593" y="200151"/>
                </a:lnTo>
                <a:lnTo>
                  <a:pt x="44704" y="201040"/>
                </a:lnTo>
                <a:lnTo>
                  <a:pt x="72136" y="201040"/>
                </a:lnTo>
                <a:lnTo>
                  <a:pt x="7213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bk object 58"/>
          <p:cNvSpPr/>
          <p:nvPr/>
        </p:nvSpPr>
        <p:spPr>
          <a:xfrm>
            <a:off x="3386520" y="6293520"/>
            <a:ext cx="137160" cy="201600"/>
          </a:xfrm>
          <a:custGeom>
            <a:avLst/>
            <a:gdLst>
              <a:gd name="textAreaLeft" fmla="*/ 0 w 137160"/>
              <a:gd name="textAreaRight" fmla="*/ 137880 w 13716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049" h="202311">
                <a:moveTo>
                  <a:pt x="96393" y="2920"/>
                </a:moveTo>
                <a:lnTo>
                  <a:pt x="45212" y="2920"/>
                </a:lnTo>
                <a:lnTo>
                  <a:pt x="33147" y="11937"/>
                </a:lnTo>
                <a:lnTo>
                  <a:pt x="27178" y="14858"/>
                </a:lnTo>
                <a:lnTo>
                  <a:pt x="21209" y="20827"/>
                </a:lnTo>
                <a:lnTo>
                  <a:pt x="15367" y="32765"/>
                </a:lnTo>
                <a:lnTo>
                  <a:pt x="9398" y="41782"/>
                </a:lnTo>
                <a:lnTo>
                  <a:pt x="6477" y="53847"/>
                </a:lnTo>
                <a:lnTo>
                  <a:pt x="3542" y="75183"/>
                </a:lnTo>
                <a:lnTo>
                  <a:pt x="635" y="102488"/>
                </a:lnTo>
                <a:lnTo>
                  <a:pt x="0" y="102615"/>
                </a:lnTo>
                <a:lnTo>
                  <a:pt x="5842" y="148208"/>
                </a:lnTo>
                <a:lnTo>
                  <a:pt x="32766" y="193420"/>
                </a:lnTo>
                <a:lnTo>
                  <a:pt x="53848" y="202310"/>
                </a:lnTo>
                <a:lnTo>
                  <a:pt x="84201" y="202310"/>
                </a:lnTo>
                <a:lnTo>
                  <a:pt x="96266" y="199389"/>
                </a:lnTo>
                <a:lnTo>
                  <a:pt x="105283" y="193420"/>
                </a:lnTo>
                <a:lnTo>
                  <a:pt x="117221" y="181482"/>
                </a:lnTo>
                <a:lnTo>
                  <a:pt x="118075" y="180339"/>
                </a:lnTo>
                <a:lnTo>
                  <a:pt x="70231" y="180339"/>
                </a:lnTo>
                <a:lnTo>
                  <a:pt x="61214" y="177418"/>
                </a:lnTo>
                <a:lnTo>
                  <a:pt x="55245" y="177418"/>
                </a:lnTo>
                <a:lnTo>
                  <a:pt x="49276" y="171449"/>
                </a:lnTo>
                <a:lnTo>
                  <a:pt x="40259" y="165480"/>
                </a:lnTo>
                <a:lnTo>
                  <a:pt x="37337" y="153415"/>
                </a:lnTo>
                <a:lnTo>
                  <a:pt x="31419" y="138429"/>
                </a:lnTo>
                <a:lnTo>
                  <a:pt x="31369" y="102488"/>
                </a:lnTo>
                <a:lnTo>
                  <a:pt x="31292" y="62737"/>
                </a:lnTo>
                <a:lnTo>
                  <a:pt x="37252" y="47624"/>
                </a:lnTo>
                <a:lnTo>
                  <a:pt x="40132" y="38734"/>
                </a:lnTo>
                <a:lnTo>
                  <a:pt x="49149" y="29717"/>
                </a:lnTo>
                <a:lnTo>
                  <a:pt x="61087" y="23875"/>
                </a:lnTo>
                <a:lnTo>
                  <a:pt x="118839" y="23875"/>
                </a:lnTo>
                <a:lnTo>
                  <a:pt x="117348" y="20827"/>
                </a:lnTo>
                <a:lnTo>
                  <a:pt x="111379" y="14858"/>
                </a:lnTo>
                <a:lnTo>
                  <a:pt x="105410" y="11937"/>
                </a:lnTo>
                <a:lnTo>
                  <a:pt x="96393" y="2920"/>
                </a:lnTo>
                <a:close/>
              </a:path>
              <a:path w="138049" h="202311">
                <a:moveTo>
                  <a:pt x="118839" y="23875"/>
                </a:moveTo>
                <a:lnTo>
                  <a:pt x="79248" y="23875"/>
                </a:lnTo>
                <a:lnTo>
                  <a:pt x="85217" y="26796"/>
                </a:lnTo>
                <a:lnTo>
                  <a:pt x="94234" y="29717"/>
                </a:lnTo>
                <a:lnTo>
                  <a:pt x="100203" y="38734"/>
                </a:lnTo>
                <a:lnTo>
                  <a:pt x="103124" y="41655"/>
                </a:lnTo>
                <a:lnTo>
                  <a:pt x="103174" y="47751"/>
                </a:lnTo>
                <a:lnTo>
                  <a:pt x="109093" y="62737"/>
                </a:lnTo>
                <a:lnTo>
                  <a:pt x="109093" y="77850"/>
                </a:lnTo>
                <a:lnTo>
                  <a:pt x="111983" y="101853"/>
                </a:lnTo>
                <a:lnTo>
                  <a:pt x="111944" y="102615"/>
                </a:lnTo>
                <a:lnTo>
                  <a:pt x="109093" y="123316"/>
                </a:lnTo>
                <a:lnTo>
                  <a:pt x="109093" y="138429"/>
                </a:lnTo>
                <a:lnTo>
                  <a:pt x="103174" y="153415"/>
                </a:lnTo>
                <a:lnTo>
                  <a:pt x="103124" y="159511"/>
                </a:lnTo>
                <a:lnTo>
                  <a:pt x="100203" y="165480"/>
                </a:lnTo>
                <a:lnTo>
                  <a:pt x="94234" y="171449"/>
                </a:lnTo>
                <a:lnTo>
                  <a:pt x="85217" y="177418"/>
                </a:lnTo>
                <a:lnTo>
                  <a:pt x="79248" y="177418"/>
                </a:lnTo>
                <a:lnTo>
                  <a:pt x="70231" y="180339"/>
                </a:lnTo>
                <a:lnTo>
                  <a:pt x="118075" y="180339"/>
                </a:lnTo>
                <a:lnTo>
                  <a:pt x="126237" y="169417"/>
                </a:lnTo>
                <a:lnTo>
                  <a:pt x="132207" y="148208"/>
                </a:lnTo>
                <a:lnTo>
                  <a:pt x="135128" y="130047"/>
                </a:lnTo>
                <a:lnTo>
                  <a:pt x="138049" y="102615"/>
                </a:lnTo>
                <a:lnTo>
                  <a:pt x="135110" y="75056"/>
                </a:lnTo>
                <a:lnTo>
                  <a:pt x="132207" y="53974"/>
                </a:lnTo>
                <a:lnTo>
                  <a:pt x="126237" y="32765"/>
                </a:lnTo>
                <a:lnTo>
                  <a:pt x="120269" y="26796"/>
                </a:lnTo>
                <a:lnTo>
                  <a:pt x="118839" y="23875"/>
                </a:lnTo>
                <a:close/>
              </a:path>
              <a:path w="138049" h="202311">
                <a:moveTo>
                  <a:pt x="31369" y="101853"/>
                </a:moveTo>
                <a:lnTo>
                  <a:pt x="31242" y="102488"/>
                </a:lnTo>
                <a:lnTo>
                  <a:pt x="31369" y="101853"/>
                </a:lnTo>
                <a:close/>
              </a:path>
              <a:path w="138049" h="202311">
                <a:moveTo>
                  <a:pt x="84455" y="0"/>
                </a:moveTo>
                <a:lnTo>
                  <a:pt x="54102" y="0"/>
                </a:lnTo>
                <a:lnTo>
                  <a:pt x="51181" y="2920"/>
                </a:lnTo>
                <a:lnTo>
                  <a:pt x="90424" y="2920"/>
                </a:lnTo>
                <a:lnTo>
                  <a:pt x="8445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bk object 59"/>
          <p:cNvSpPr/>
          <p:nvPr/>
        </p:nvSpPr>
        <p:spPr>
          <a:xfrm>
            <a:off x="355788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bk object 60"/>
          <p:cNvSpPr/>
          <p:nvPr/>
        </p:nvSpPr>
        <p:spPr>
          <a:xfrm>
            <a:off x="3615840" y="6294960"/>
            <a:ext cx="136440" cy="197640"/>
          </a:xfrm>
          <a:custGeom>
            <a:avLst/>
            <a:gdLst>
              <a:gd name="textAreaLeft" fmla="*/ 0 w 136440"/>
              <a:gd name="textAreaRight" fmla="*/ 137160 w 136440"/>
              <a:gd name="textAreaTop" fmla="*/ 0 h 197640"/>
              <a:gd name="textAreaBottom" fmla="*/ 198360 h 197640"/>
            </a:gdLst>
            <a:ahLst/>
            <a:cxnLst/>
            <a:rect l="textAreaLeft" t="textAreaTop" r="textAreaRight" b="textAreaBottom"/>
            <a:pathLst>
              <a:path w="137287" h="198500">
                <a:moveTo>
                  <a:pt x="126675" y="24510"/>
                </a:moveTo>
                <a:lnTo>
                  <a:pt x="84200" y="24510"/>
                </a:lnTo>
                <a:lnTo>
                  <a:pt x="96138" y="30352"/>
                </a:lnTo>
                <a:lnTo>
                  <a:pt x="102108" y="36321"/>
                </a:lnTo>
                <a:lnTo>
                  <a:pt x="104966" y="42163"/>
                </a:lnTo>
                <a:lnTo>
                  <a:pt x="105029" y="45211"/>
                </a:lnTo>
                <a:lnTo>
                  <a:pt x="107823" y="48005"/>
                </a:lnTo>
                <a:lnTo>
                  <a:pt x="90170" y="93217"/>
                </a:lnTo>
                <a:lnTo>
                  <a:pt x="62992" y="108203"/>
                </a:lnTo>
                <a:lnTo>
                  <a:pt x="44958" y="120141"/>
                </a:lnTo>
                <a:lnTo>
                  <a:pt x="32893" y="126110"/>
                </a:lnTo>
                <a:lnTo>
                  <a:pt x="14859" y="144144"/>
                </a:lnTo>
                <a:lnTo>
                  <a:pt x="2921" y="168274"/>
                </a:lnTo>
                <a:lnTo>
                  <a:pt x="0" y="183387"/>
                </a:lnTo>
                <a:lnTo>
                  <a:pt x="0" y="198500"/>
                </a:lnTo>
                <a:lnTo>
                  <a:pt x="254" y="197992"/>
                </a:lnTo>
                <a:lnTo>
                  <a:pt x="137287" y="197992"/>
                </a:lnTo>
                <a:lnTo>
                  <a:pt x="137287" y="170560"/>
                </a:lnTo>
                <a:lnTo>
                  <a:pt x="30607" y="170560"/>
                </a:lnTo>
                <a:lnTo>
                  <a:pt x="30607" y="167639"/>
                </a:lnTo>
                <a:lnTo>
                  <a:pt x="33527" y="164718"/>
                </a:lnTo>
                <a:lnTo>
                  <a:pt x="39370" y="152780"/>
                </a:lnTo>
                <a:lnTo>
                  <a:pt x="45338" y="149859"/>
                </a:lnTo>
                <a:lnTo>
                  <a:pt x="48260" y="143890"/>
                </a:lnTo>
                <a:lnTo>
                  <a:pt x="54229" y="140969"/>
                </a:lnTo>
                <a:lnTo>
                  <a:pt x="63246" y="135000"/>
                </a:lnTo>
                <a:lnTo>
                  <a:pt x="72262" y="132079"/>
                </a:lnTo>
                <a:lnTo>
                  <a:pt x="75184" y="129158"/>
                </a:lnTo>
                <a:lnTo>
                  <a:pt x="93345" y="120141"/>
                </a:lnTo>
                <a:lnTo>
                  <a:pt x="96266" y="117220"/>
                </a:lnTo>
                <a:lnTo>
                  <a:pt x="102235" y="114299"/>
                </a:lnTo>
                <a:lnTo>
                  <a:pt x="111251" y="108330"/>
                </a:lnTo>
                <a:lnTo>
                  <a:pt x="126237" y="93344"/>
                </a:lnTo>
                <a:lnTo>
                  <a:pt x="129159" y="84327"/>
                </a:lnTo>
                <a:lnTo>
                  <a:pt x="135127" y="72262"/>
                </a:lnTo>
                <a:lnTo>
                  <a:pt x="135127" y="44830"/>
                </a:lnTo>
                <a:lnTo>
                  <a:pt x="132207" y="35813"/>
                </a:lnTo>
                <a:lnTo>
                  <a:pt x="126675" y="24510"/>
                </a:lnTo>
                <a:close/>
              </a:path>
              <a:path w="137287" h="198500">
                <a:moveTo>
                  <a:pt x="84200" y="0"/>
                </a:moveTo>
                <a:lnTo>
                  <a:pt x="53848" y="0"/>
                </a:lnTo>
                <a:lnTo>
                  <a:pt x="29845" y="11810"/>
                </a:lnTo>
                <a:lnTo>
                  <a:pt x="17907" y="23748"/>
                </a:lnTo>
                <a:lnTo>
                  <a:pt x="14986" y="29717"/>
                </a:lnTo>
                <a:lnTo>
                  <a:pt x="9017" y="38734"/>
                </a:lnTo>
                <a:lnTo>
                  <a:pt x="6096" y="47751"/>
                </a:lnTo>
                <a:lnTo>
                  <a:pt x="6096" y="68960"/>
                </a:lnTo>
                <a:lnTo>
                  <a:pt x="30352" y="68960"/>
                </a:lnTo>
                <a:lnTo>
                  <a:pt x="30352" y="59943"/>
                </a:lnTo>
                <a:lnTo>
                  <a:pt x="33274" y="53974"/>
                </a:lnTo>
                <a:lnTo>
                  <a:pt x="33274" y="48005"/>
                </a:lnTo>
                <a:lnTo>
                  <a:pt x="36068" y="45211"/>
                </a:lnTo>
                <a:lnTo>
                  <a:pt x="36195" y="42163"/>
                </a:lnTo>
                <a:lnTo>
                  <a:pt x="48006" y="30352"/>
                </a:lnTo>
                <a:lnTo>
                  <a:pt x="59944" y="24510"/>
                </a:lnTo>
                <a:lnTo>
                  <a:pt x="126675" y="24510"/>
                </a:lnTo>
                <a:lnTo>
                  <a:pt x="126364" y="23875"/>
                </a:lnTo>
                <a:lnTo>
                  <a:pt x="117348" y="14858"/>
                </a:lnTo>
                <a:lnTo>
                  <a:pt x="108331" y="8889"/>
                </a:lnTo>
                <a:lnTo>
                  <a:pt x="96266" y="2920"/>
                </a:lnTo>
                <a:lnTo>
                  <a:pt x="8420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61"/>
          <p:cNvSpPr/>
          <p:nvPr/>
        </p:nvSpPr>
        <p:spPr>
          <a:xfrm>
            <a:off x="3980880" y="6293160"/>
            <a:ext cx="134640" cy="20160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509" h="202437">
                <a:moveTo>
                  <a:pt x="28448" y="102616"/>
                </a:moveTo>
                <a:lnTo>
                  <a:pt x="0" y="102616"/>
                </a:lnTo>
                <a:lnTo>
                  <a:pt x="0" y="130048"/>
                </a:lnTo>
                <a:lnTo>
                  <a:pt x="11937" y="169418"/>
                </a:lnTo>
                <a:lnTo>
                  <a:pt x="42037" y="199517"/>
                </a:lnTo>
                <a:lnTo>
                  <a:pt x="54101" y="202438"/>
                </a:lnTo>
                <a:lnTo>
                  <a:pt x="81534" y="202438"/>
                </a:lnTo>
                <a:lnTo>
                  <a:pt x="93599" y="199517"/>
                </a:lnTo>
                <a:lnTo>
                  <a:pt x="105663" y="193548"/>
                </a:lnTo>
                <a:lnTo>
                  <a:pt x="115155" y="180848"/>
                </a:lnTo>
                <a:lnTo>
                  <a:pt x="67183" y="180848"/>
                </a:lnTo>
                <a:lnTo>
                  <a:pt x="58165" y="177927"/>
                </a:lnTo>
                <a:lnTo>
                  <a:pt x="52197" y="177927"/>
                </a:lnTo>
                <a:lnTo>
                  <a:pt x="40259" y="165989"/>
                </a:lnTo>
                <a:lnTo>
                  <a:pt x="34289" y="153924"/>
                </a:lnTo>
                <a:lnTo>
                  <a:pt x="28472" y="123825"/>
                </a:lnTo>
                <a:lnTo>
                  <a:pt x="28448" y="102616"/>
                </a:lnTo>
                <a:close/>
              </a:path>
              <a:path w="135509" h="202437">
                <a:moveTo>
                  <a:pt x="116486" y="24257"/>
                </a:moveTo>
                <a:lnTo>
                  <a:pt x="76200" y="24257"/>
                </a:lnTo>
                <a:lnTo>
                  <a:pt x="85216" y="27178"/>
                </a:lnTo>
                <a:lnTo>
                  <a:pt x="91186" y="30099"/>
                </a:lnTo>
                <a:lnTo>
                  <a:pt x="97154" y="39116"/>
                </a:lnTo>
                <a:lnTo>
                  <a:pt x="100075" y="42037"/>
                </a:lnTo>
                <a:lnTo>
                  <a:pt x="102997" y="48006"/>
                </a:lnTo>
                <a:lnTo>
                  <a:pt x="108838" y="78232"/>
                </a:lnTo>
                <a:lnTo>
                  <a:pt x="108838" y="123825"/>
                </a:lnTo>
                <a:lnTo>
                  <a:pt x="102997" y="154038"/>
                </a:lnTo>
                <a:lnTo>
                  <a:pt x="97154" y="165989"/>
                </a:lnTo>
                <a:lnTo>
                  <a:pt x="85216" y="177927"/>
                </a:lnTo>
                <a:lnTo>
                  <a:pt x="76200" y="177927"/>
                </a:lnTo>
                <a:lnTo>
                  <a:pt x="67183" y="180848"/>
                </a:lnTo>
                <a:lnTo>
                  <a:pt x="115155" y="180848"/>
                </a:lnTo>
                <a:lnTo>
                  <a:pt x="123698" y="169418"/>
                </a:lnTo>
                <a:lnTo>
                  <a:pt x="129666" y="148209"/>
                </a:lnTo>
                <a:lnTo>
                  <a:pt x="132587" y="130048"/>
                </a:lnTo>
                <a:lnTo>
                  <a:pt x="135509" y="102616"/>
                </a:lnTo>
                <a:lnTo>
                  <a:pt x="132587" y="75184"/>
                </a:lnTo>
                <a:lnTo>
                  <a:pt x="129666" y="53975"/>
                </a:lnTo>
                <a:lnTo>
                  <a:pt x="123698" y="32766"/>
                </a:lnTo>
                <a:lnTo>
                  <a:pt x="117728" y="26797"/>
                </a:lnTo>
                <a:lnTo>
                  <a:pt x="116486" y="24257"/>
                </a:lnTo>
                <a:close/>
              </a:path>
              <a:path w="135509" h="202437">
                <a:moveTo>
                  <a:pt x="93852" y="2921"/>
                </a:moveTo>
                <a:lnTo>
                  <a:pt x="42545" y="2921"/>
                </a:lnTo>
                <a:lnTo>
                  <a:pt x="18414" y="20955"/>
                </a:lnTo>
                <a:lnTo>
                  <a:pt x="12573" y="32893"/>
                </a:lnTo>
                <a:lnTo>
                  <a:pt x="6603" y="41910"/>
                </a:lnTo>
                <a:lnTo>
                  <a:pt x="3683" y="53975"/>
                </a:lnTo>
                <a:lnTo>
                  <a:pt x="762" y="75184"/>
                </a:lnTo>
                <a:lnTo>
                  <a:pt x="762" y="102616"/>
                </a:lnTo>
                <a:lnTo>
                  <a:pt x="28321" y="102616"/>
                </a:lnTo>
                <a:lnTo>
                  <a:pt x="28345" y="78232"/>
                </a:lnTo>
                <a:lnTo>
                  <a:pt x="34162" y="48133"/>
                </a:lnTo>
                <a:lnTo>
                  <a:pt x="46100" y="30099"/>
                </a:lnTo>
                <a:lnTo>
                  <a:pt x="58038" y="24257"/>
                </a:lnTo>
                <a:lnTo>
                  <a:pt x="116486" y="24257"/>
                </a:lnTo>
                <a:lnTo>
                  <a:pt x="114808" y="20828"/>
                </a:lnTo>
                <a:lnTo>
                  <a:pt x="99822" y="5842"/>
                </a:lnTo>
                <a:lnTo>
                  <a:pt x="93852" y="2921"/>
                </a:lnTo>
                <a:close/>
              </a:path>
              <a:path w="135509" h="202437">
                <a:moveTo>
                  <a:pt x="28448" y="102489"/>
                </a:moveTo>
              </a:path>
              <a:path w="135509" h="202437">
                <a:moveTo>
                  <a:pt x="81914" y="0"/>
                </a:moveTo>
                <a:lnTo>
                  <a:pt x="54483" y="0"/>
                </a:lnTo>
                <a:lnTo>
                  <a:pt x="48513" y="2921"/>
                </a:lnTo>
                <a:lnTo>
                  <a:pt x="87884" y="2921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bk object 62"/>
          <p:cNvSpPr/>
          <p:nvPr/>
        </p:nvSpPr>
        <p:spPr>
          <a:xfrm>
            <a:off x="414936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bk object 63"/>
          <p:cNvSpPr/>
          <p:nvPr/>
        </p:nvSpPr>
        <p:spPr>
          <a:xfrm>
            <a:off x="4207320" y="6294600"/>
            <a:ext cx="134640" cy="200520"/>
          </a:xfrm>
          <a:custGeom>
            <a:avLst/>
            <a:gdLst>
              <a:gd name="textAreaLeft" fmla="*/ 0 w 134640"/>
              <a:gd name="textAreaRight" fmla="*/ 135360 w 134640"/>
              <a:gd name="textAreaTop" fmla="*/ 0 h 200520"/>
              <a:gd name="textAreaBottom" fmla="*/ 201240 h 200520"/>
            </a:gdLst>
            <a:ahLst/>
            <a:cxnLst/>
            <a:rect l="textAreaLeft" t="textAreaTop" r="textAreaRight" b="textAreaBottom"/>
            <a:pathLst>
              <a:path w="135509" h="201167">
                <a:moveTo>
                  <a:pt x="24257" y="135000"/>
                </a:moveTo>
                <a:lnTo>
                  <a:pt x="0" y="135000"/>
                </a:lnTo>
                <a:lnTo>
                  <a:pt x="0" y="156209"/>
                </a:lnTo>
                <a:lnTo>
                  <a:pt x="26924" y="192278"/>
                </a:lnTo>
                <a:lnTo>
                  <a:pt x="48006" y="201167"/>
                </a:lnTo>
                <a:lnTo>
                  <a:pt x="78359" y="201167"/>
                </a:lnTo>
                <a:lnTo>
                  <a:pt x="102488" y="195325"/>
                </a:lnTo>
                <a:lnTo>
                  <a:pt x="114554" y="186308"/>
                </a:lnTo>
                <a:lnTo>
                  <a:pt x="123571" y="177291"/>
                </a:lnTo>
                <a:lnTo>
                  <a:pt x="123907" y="176783"/>
                </a:lnTo>
                <a:lnTo>
                  <a:pt x="53975" y="176783"/>
                </a:lnTo>
                <a:lnTo>
                  <a:pt x="48006" y="173862"/>
                </a:lnTo>
                <a:lnTo>
                  <a:pt x="38988" y="170941"/>
                </a:lnTo>
                <a:lnTo>
                  <a:pt x="33020" y="164972"/>
                </a:lnTo>
                <a:lnTo>
                  <a:pt x="30099" y="159003"/>
                </a:lnTo>
                <a:lnTo>
                  <a:pt x="27178" y="149986"/>
                </a:lnTo>
                <a:lnTo>
                  <a:pt x="24257" y="147065"/>
                </a:lnTo>
                <a:lnTo>
                  <a:pt x="24257" y="135000"/>
                </a:lnTo>
                <a:close/>
              </a:path>
              <a:path w="135509" h="201167">
                <a:moveTo>
                  <a:pt x="119998" y="21335"/>
                </a:moveTo>
                <a:lnTo>
                  <a:pt x="66294" y="21335"/>
                </a:lnTo>
                <a:lnTo>
                  <a:pt x="72262" y="24256"/>
                </a:lnTo>
                <a:lnTo>
                  <a:pt x="84328" y="24256"/>
                </a:lnTo>
                <a:lnTo>
                  <a:pt x="87249" y="27178"/>
                </a:lnTo>
                <a:lnTo>
                  <a:pt x="90170" y="27178"/>
                </a:lnTo>
                <a:lnTo>
                  <a:pt x="93091" y="33146"/>
                </a:lnTo>
                <a:lnTo>
                  <a:pt x="98933" y="38988"/>
                </a:lnTo>
                <a:lnTo>
                  <a:pt x="99060" y="45084"/>
                </a:lnTo>
                <a:lnTo>
                  <a:pt x="101981" y="51053"/>
                </a:lnTo>
                <a:lnTo>
                  <a:pt x="99060" y="60070"/>
                </a:lnTo>
                <a:lnTo>
                  <a:pt x="99060" y="66039"/>
                </a:lnTo>
                <a:lnTo>
                  <a:pt x="96138" y="72008"/>
                </a:lnTo>
                <a:lnTo>
                  <a:pt x="90170" y="77978"/>
                </a:lnTo>
                <a:lnTo>
                  <a:pt x="87249" y="77978"/>
                </a:lnTo>
                <a:lnTo>
                  <a:pt x="84328" y="80898"/>
                </a:lnTo>
                <a:lnTo>
                  <a:pt x="78359" y="83819"/>
                </a:lnTo>
                <a:lnTo>
                  <a:pt x="50927" y="83819"/>
                </a:lnTo>
                <a:lnTo>
                  <a:pt x="50927" y="105028"/>
                </a:lnTo>
                <a:lnTo>
                  <a:pt x="78359" y="105028"/>
                </a:lnTo>
                <a:lnTo>
                  <a:pt x="87375" y="107950"/>
                </a:lnTo>
                <a:lnTo>
                  <a:pt x="93345" y="110870"/>
                </a:lnTo>
                <a:lnTo>
                  <a:pt x="105283" y="122808"/>
                </a:lnTo>
                <a:lnTo>
                  <a:pt x="108204" y="131825"/>
                </a:lnTo>
                <a:lnTo>
                  <a:pt x="108204" y="153034"/>
                </a:lnTo>
                <a:lnTo>
                  <a:pt x="105283" y="155943"/>
                </a:lnTo>
                <a:lnTo>
                  <a:pt x="102362" y="161925"/>
                </a:lnTo>
                <a:lnTo>
                  <a:pt x="90424" y="173862"/>
                </a:lnTo>
                <a:lnTo>
                  <a:pt x="81407" y="176783"/>
                </a:lnTo>
                <a:lnTo>
                  <a:pt x="123907" y="176783"/>
                </a:lnTo>
                <a:lnTo>
                  <a:pt x="129540" y="168275"/>
                </a:lnTo>
                <a:lnTo>
                  <a:pt x="135509" y="153161"/>
                </a:lnTo>
                <a:lnTo>
                  <a:pt x="135509" y="125729"/>
                </a:lnTo>
                <a:lnTo>
                  <a:pt x="129540" y="113664"/>
                </a:lnTo>
                <a:lnTo>
                  <a:pt x="123571" y="104647"/>
                </a:lnTo>
                <a:lnTo>
                  <a:pt x="114681" y="95757"/>
                </a:lnTo>
                <a:lnTo>
                  <a:pt x="108712" y="92836"/>
                </a:lnTo>
                <a:lnTo>
                  <a:pt x="105791" y="92836"/>
                </a:lnTo>
                <a:lnTo>
                  <a:pt x="102870" y="89915"/>
                </a:lnTo>
                <a:lnTo>
                  <a:pt x="111887" y="86994"/>
                </a:lnTo>
                <a:lnTo>
                  <a:pt x="114808" y="86994"/>
                </a:lnTo>
                <a:lnTo>
                  <a:pt x="120777" y="81025"/>
                </a:lnTo>
                <a:lnTo>
                  <a:pt x="126619" y="62991"/>
                </a:lnTo>
                <a:lnTo>
                  <a:pt x="129509" y="51053"/>
                </a:lnTo>
                <a:lnTo>
                  <a:pt x="129540" y="44957"/>
                </a:lnTo>
                <a:lnTo>
                  <a:pt x="126619" y="38988"/>
                </a:lnTo>
                <a:lnTo>
                  <a:pt x="123698" y="26923"/>
                </a:lnTo>
                <a:lnTo>
                  <a:pt x="119998" y="21335"/>
                </a:lnTo>
                <a:close/>
              </a:path>
              <a:path w="135509" h="201167">
                <a:moveTo>
                  <a:pt x="87757" y="0"/>
                </a:moveTo>
                <a:lnTo>
                  <a:pt x="51308" y="0"/>
                </a:lnTo>
                <a:lnTo>
                  <a:pt x="42291" y="2920"/>
                </a:lnTo>
                <a:lnTo>
                  <a:pt x="9271" y="35940"/>
                </a:lnTo>
                <a:lnTo>
                  <a:pt x="3429" y="53975"/>
                </a:lnTo>
                <a:lnTo>
                  <a:pt x="3429" y="62991"/>
                </a:lnTo>
                <a:lnTo>
                  <a:pt x="27686" y="62991"/>
                </a:lnTo>
                <a:lnTo>
                  <a:pt x="30607" y="60070"/>
                </a:lnTo>
                <a:lnTo>
                  <a:pt x="30607" y="47993"/>
                </a:lnTo>
                <a:lnTo>
                  <a:pt x="36449" y="36067"/>
                </a:lnTo>
                <a:lnTo>
                  <a:pt x="45338" y="27178"/>
                </a:lnTo>
                <a:lnTo>
                  <a:pt x="51308" y="24256"/>
                </a:lnTo>
                <a:lnTo>
                  <a:pt x="57277" y="24256"/>
                </a:lnTo>
                <a:lnTo>
                  <a:pt x="66294" y="21335"/>
                </a:lnTo>
                <a:lnTo>
                  <a:pt x="119998" y="21335"/>
                </a:lnTo>
                <a:lnTo>
                  <a:pt x="117729" y="17906"/>
                </a:lnTo>
                <a:lnTo>
                  <a:pt x="108712" y="8889"/>
                </a:lnTo>
                <a:lnTo>
                  <a:pt x="102743" y="5968"/>
                </a:lnTo>
                <a:lnTo>
                  <a:pt x="99822" y="5968"/>
                </a:lnTo>
                <a:lnTo>
                  <a:pt x="8775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bk object 64"/>
          <p:cNvSpPr/>
          <p:nvPr/>
        </p:nvSpPr>
        <p:spPr>
          <a:xfrm>
            <a:off x="457236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9" h="202564">
                <a:moveTo>
                  <a:pt x="93725" y="2921"/>
                </a:moveTo>
                <a:lnTo>
                  <a:pt x="42418" y="2921"/>
                </a:lnTo>
                <a:lnTo>
                  <a:pt x="30352" y="11938"/>
                </a:lnTo>
                <a:lnTo>
                  <a:pt x="15367" y="26924"/>
                </a:lnTo>
                <a:lnTo>
                  <a:pt x="12446" y="32893"/>
                </a:lnTo>
                <a:lnTo>
                  <a:pt x="9525" y="41910"/>
                </a:lnTo>
                <a:lnTo>
                  <a:pt x="3556" y="53975"/>
                </a:lnTo>
                <a:lnTo>
                  <a:pt x="635" y="75184"/>
                </a:lnTo>
                <a:lnTo>
                  <a:pt x="635" y="102616"/>
                </a:lnTo>
                <a:lnTo>
                  <a:pt x="0" y="102743"/>
                </a:lnTo>
                <a:lnTo>
                  <a:pt x="0" y="130175"/>
                </a:lnTo>
                <a:lnTo>
                  <a:pt x="2921" y="148336"/>
                </a:lnTo>
                <a:lnTo>
                  <a:pt x="11937" y="169545"/>
                </a:lnTo>
                <a:lnTo>
                  <a:pt x="29972" y="193675"/>
                </a:lnTo>
                <a:lnTo>
                  <a:pt x="42037" y="199644"/>
                </a:lnTo>
                <a:lnTo>
                  <a:pt x="54101" y="202565"/>
                </a:lnTo>
                <a:lnTo>
                  <a:pt x="81534" y="202565"/>
                </a:lnTo>
                <a:lnTo>
                  <a:pt x="93599" y="199644"/>
                </a:lnTo>
                <a:lnTo>
                  <a:pt x="105663" y="193675"/>
                </a:lnTo>
                <a:lnTo>
                  <a:pt x="115440" y="180594"/>
                </a:lnTo>
                <a:lnTo>
                  <a:pt x="66929" y="180594"/>
                </a:lnTo>
                <a:lnTo>
                  <a:pt x="57912" y="177673"/>
                </a:lnTo>
                <a:lnTo>
                  <a:pt x="51943" y="177673"/>
                </a:lnTo>
                <a:lnTo>
                  <a:pt x="40005" y="165735"/>
                </a:lnTo>
                <a:lnTo>
                  <a:pt x="34036" y="153670"/>
                </a:lnTo>
                <a:lnTo>
                  <a:pt x="28243" y="123698"/>
                </a:lnTo>
                <a:lnTo>
                  <a:pt x="28194" y="102616"/>
                </a:lnTo>
                <a:lnTo>
                  <a:pt x="28116" y="78105"/>
                </a:lnTo>
                <a:lnTo>
                  <a:pt x="33909" y="48133"/>
                </a:lnTo>
                <a:lnTo>
                  <a:pt x="45847" y="30099"/>
                </a:lnTo>
                <a:lnTo>
                  <a:pt x="57785" y="24257"/>
                </a:lnTo>
                <a:lnTo>
                  <a:pt x="118109" y="24257"/>
                </a:lnTo>
                <a:lnTo>
                  <a:pt x="105790" y="11938"/>
                </a:lnTo>
                <a:lnTo>
                  <a:pt x="93725" y="2921"/>
                </a:lnTo>
                <a:close/>
              </a:path>
              <a:path w="135509" h="202564">
                <a:moveTo>
                  <a:pt x="118109" y="24257"/>
                </a:moveTo>
                <a:lnTo>
                  <a:pt x="75946" y="24257"/>
                </a:lnTo>
                <a:lnTo>
                  <a:pt x="84962" y="27178"/>
                </a:lnTo>
                <a:lnTo>
                  <a:pt x="90932" y="30099"/>
                </a:lnTo>
                <a:lnTo>
                  <a:pt x="93852" y="33020"/>
                </a:lnTo>
                <a:lnTo>
                  <a:pt x="96774" y="38989"/>
                </a:lnTo>
                <a:lnTo>
                  <a:pt x="102743" y="48006"/>
                </a:lnTo>
                <a:lnTo>
                  <a:pt x="105663" y="63119"/>
                </a:lnTo>
                <a:lnTo>
                  <a:pt x="105663" y="72136"/>
                </a:lnTo>
                <a:lnTo>
                  <a:pt x="108585" y="78105"/>
                </a:lnTo>
                <a:lnTo>
                  <a:pt x="108585" y="123698"/>
                </a:lnTo>
                <a:lnTo>
                  <a:pt x="105663" y="129667"/>
                </a:lnTo>
                <a:lnTo>
                  <a:pt x="105663" y="138684"/>
                </a:lnTo>
                <a:lnTo>
                  <a:pt x="102743" y="153797"/>
                </a:lnTo>
                <a:lnTo>
                  <a:pt x="96774" y="165862"/>
                </a:lnTo>
                <a:lnTo>
                  <a:pt x="84962" y="177673"/>
                </a:lnTo>
                <a:lnTo>
                  <a:pt x="75946" y="177673"/>
                </a:lnTo>
                <a:lnTo>
                  <a:pt x="66929" y="180594"/>
                </a:lnTo>
                <a:lnTo>
                  <a:pt x="115440" y="180594"/>
                </a:lnTo>
                <a:lnTo>
                  <a:pt x="123698" y="169545"/>
                </a:lnTo>
                <a:lnTo>
                  <a:pt x="129667" y="148336"/>
                </a:lnTo>
                <a:lnTo>
                  <a:pt x="132587" y="130175"/>
                </a:lnTo>
                <a:lnTo>
                  <a:pt x="135509" y="102743"/>
                </a:lnTo>
                <a:lnTo>
                  <a:pt x="132570" y="75184"/>
                </a:lnTo>
                <a:lnTo>
                  <a:pt x="129667" y="54102"/>
                </a:lnTo>
                <a:lnTo>
                  <a:pt x="123698" y="32893"/>
                </a:lnTo>
                <a:lnTo>
                  <a:pt x="120776" y="26924"/>
                </a:lnTo>
                <a:lnTo>
                  <a:pt x="118109" y="24257"/>
                </a:lnTo>
                <a:close/>
              </a:path>
              <a:path w="135509" h="202564">
                <a:moveTo>
                  <a:pt x="28194" y="102235"/>
                </a:moveTo>
                <a:lnTo>
                  <a:pt x="28067" y="102616"/>
                </a:lnTo>
                <a:lnTo>
                  <a:pt x="28194" y="102235"/>
                </a:lnTo>
                <a:close/>
              </a:path>
              <a:path w="135509" h="202564">
                <a:moveTo>
                  <a:pt x="81787" y="0"/>
                </a:moveTo>
                <a:lnTo>
                  <a:pt x="54356" y="0"/>
                </a:lnTo>
                <a:lnTo>
                  <a:pt x="48387" y="2921"/>
                </a:lnTo>
                <a:lnTo>
                  <a:pt x="87757" y="2921"/>
                </a:lnTo>
                <a:lnTo>
                  <a:pt x="81787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bk object 65"/>
          <p:cNvSpPr/>
          <p:nvPr/>
        </p:nvSpPr>
        <p:spPr>
          <a:xfrm>
            <a:off x="4740840" y="6460200"/>
            <a:ext cx="26640" cy="32760"/>
          </a:xfrm>
          <a:custGeom>
            <a:avLst/>
            <a:gdLst>
              <a:gd name="textAreaLeft" fmla="*/ 0 w 26640"/>
              <a:gd name="textAreaRight" fmla="*/ 27360 w 2664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27432" h="33401">
                <a:moveTo>
                  <a:pt x="0" y="16700"/>
                </a:moveTo>
                <a:lnTo>
                  <a:pt x="27432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bk object 66"/>
          <p:cNvSpPr/>
          <p:nvPr/>
        </p:nvSpPr>
        <p:spPr>
          <a:xfrm>
            <a:off x="4798800" y="6298560"/>
            <a:ext cx="111960" cy="194040"/>
          </a:xfrm>
          <a:custGeom>
            <a:avLst/>
            <a:gdLst>
              <a:gd name="textAreaLeft" fmla="*/ 0 w 111960"/>
              <a:gd name="textAreaRight" fmla="*/ 112680 w 111960"/>
              <a:gd name="textAreaTop" fmla="*/ 0 h 194040"/>
              <a:gd name="textAreaBottom" fmla="*/ 194760 h 194040"/>
            </a:gdLst>
            <a:ahLst/>
            <a:cxnLst/>
            <a:rect l="textAreaLeft" t="textAreaTop" r="textAreaRight" b="textAreaBottom"/>
            <a:pathLst>
              <a:path w="112649" h="194817">
                <a:moveTo>
                  <a:pt x="112649" y="143002"/>
                </a:moveTo>
                <a:lnTo>
                  <a:pt x="85217" y="143002"/>
                </a:lnTo>
                <a:lnTo>
                  <a:pt x="85217" y="194818"/>
                </a:lnTo>
                <a:lnTo>
                  <a:pt x="112649" y="194818"/>
                </a:lnTo>
                <a:lnTo>
                  <a:pt x="112649" y="143002"/>
                </a:lnTo>
                <a:close/>
              </a:path>
              <a:path w="112649" h="194817">
                <a:moveTo>
                  <a:pt x="112649" y="0"/>
                </a:moveTo>
                <a:lnTo>
                  <a:pt x="85217" y="0"/>
                </a:lnTo>
                <a:lnTo>
                  <a:pt x="0" y="118745"/>
                </a:lnTo>
                <a:lnTo>
                  <a:pt x="0" y="143002"/>
                </a:lnTo>
                <a:lnTo>
                  <a:pt x="140081" y="143002"/>
                </a:lnTo>
                <a:lnTo>
                  <a:pt x="140081" y="121793"/>
                </a:lnTo>
                <a:lnTo>
                  <a:pt x="112649" y="121793"/>
                </a:lnTo>
                <a:lnTo>
                  <a:pt x="24130" y="121666"/>
                </a:lnTo>
                <a:lnTo>
                  <a:pt x="84963" y="33401"/>
                </a:lnTo>
                <a:lnTo>
                  <a:pt x="112649" y="33401"/>
                </a:lnTo>
                <a:lnTo>
                  <a:pt x="112649" y="0"/>
                </a:lnTo>
                <a:close/>
              </a:path>
              <a:path w="112649" h="194817">
                <a:moveTo>
                  <a:pt x="112649" y="33401"/>
                </a:moveTo>
                <a:lnTo>
                  <a:pt x="84963" y="33401"/>
                </a:lnTo>
                <a:lnTo>
                  <a:pt x="84963" y="121666"/>
                </a:lnTo>
                <a:lnTo>
                  <a:pt x="112649" y="121666"/>
                </a:lnTo>
                <a:lnTo>
                  <a:pt x="112649" y="3340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bk object 67"/>
          <p:cNvSpPr/>
          <p:nvPr/>
        </p:nvSpPr>
        <p:spPr>
          <a:xfrm>
            <a:off x="5163480" y="6293520"/>
            <a:ext cx="135000" cy="201600"/>
          </a:xfrm>
          <a:custGeom>
            <a:avLst/>
            <a:gdLst>
              <a:gd name="textAreaLeft" fmla="*/ 0 w 135000"/>
              <a:gd name="textAreaRight" fmla="*/ 135720 w 13500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5636" h="202437">
                <a:moveTo>
                  <a:pt x="93852" y="2920"/>
                </a:moveTo>
                <a:lnTo>
                  <a:pt x="42545" y="2920"/>
                </a:lnTo>
                <a:lnTo>
                  <a:pt x="30479" y="11937"/>
                </a:lnTo>
                <a:lnTo>
                  <a:pt x="15494" y="26911"/>
                </a:lnTo>
                <a:lnTo>
                  <a:pt x="15367" y="29971"/>
                </a:lnTo>
                <a:lnTo>
                  <a:pt x="12573" y="32765"/>
                </a:lnTo>
                <a:lnTo>
                  <a:pt x="9651" y="41782"/>
                </a:lnTo>
                <a:lnTo>
                  <a:pt x="6730" y="53847"/>
                </a:lnTo>
                <a:lnTo>
                  <a:pt x="762" y="75056"/>
                </a:lnTo>
                <a:lnTo>
                  <a:pt x="762" y="102488"/>
                </a:lnTo>
                <a:lnTo>
                  <a:pt x="0" y="102615"/>
                </a:lnTo>
                <a:lnTo>
                  <a:pt x="0" y="130047"/>
                </a:lnTo>
                <a:lnTo>
                  <a:pt x="5969" y="148208"/>
                </a:lnTo>
                <a:lnTo>
                  <a:pt x="11937" y="169417"/>
                </a:lnTo>
                <a:lnTo>
                  <a:pt x="29972" y="193547"/>
                </a:lnTo>
                <a:lnTo>
                  <a:pt x="42037" y="199516"/>
                </a:lnTo>
                <a:lnTo>
                  <a:pt x="54101" y="202437"/>
                </a:lnTo>
                <a:lnTo>
                  <a:pt x="81534" y="202437"/>
                </a:lnTo>
                <a:lnTo>
                  <a:pt x="93599" y="199516"/>
                </a:lnTo>
                <a:lnTo>
                  <a:pt x="105663" y="193547"/>
                </a:lnTo>
                <a:lnTo>
                  <a:pt x="115250" y="180720"/>
                </a:lnTo>
                <a:lnTo>
                  <a:pt x="67183" y="180720"/>
                </a:lnTo>
                <a:lnTo>
                  <a:pt x="61213" y="177799"/>
                </a:lnTo>
                <a:lnTo>
                  <a:pt x="52197" y="177799"/>
                </a:lnTo>
                <a:lnTo>
                  <a:pt x="40259" y="165861"/>
                </a:lnTo>
                <a:lnTo>
                  <a:pt x="34289" y="153796"/>
                </a:lnTo>
                <a:lnTo>
                  <a:pt x="28472" y="123697"/>
                </a:lnTo>
                <a:lnTo>
                  <a:pt x="28448" y="102488"/>
                </a:lnTo>
                <a:lnTo>
                  <a:pt x="34162" y="48005"/>
                </a:lnTo>
                <a:lnTo>
                  <a:pt x="61087" y="24129"/>
                </a:lnTo>
                <a:lnTo>
                  <a:pt x="118109" y="24129"/>
                </a:lnTo>
                <a:lnTo>
                  <a:pt x="105917" y="11937"/>
                </a:lnTo>
                <a:lnTo>
                  <a:pt x="93852" y="2920"/>
                </a:lnTo>
                <a:close/>
              </a:path>
              <a:path w="135636" h="202437">
                <a:moveTo>
                  <a:pt x="118109" y="24129"/>
                </a:moveTo>
                <a:lnTo>
                  <a:pt x="76200" y="24129"/>
                </a:lnTo>
                <a:lnTo>
                  <a:pt x="85216" y="27050"/>
                </a:lnTo>
                <a:lnTo>
                  <a:pt x="91186" y="29971"/>
                </a:lnTo>
                <a:lnTo>
                  <a:pt x="103124" y="48005"/>
                </a:lnTo>
                <a:lnTo>
                  <a:pt x="106045" y="57022"/>
                </a:lnTo>
                <a:lnTo>
                  <a:pt x="106045" y="62991"/>
                </a:lnTo>
                <a:lnTo>
                  <a:pt x="108965" y="78104"/>
                </a:lnTo>
                <a:lnTo>
                  <a:pt x="108965" y="123697"/>
                </a:lnTo>
                <a:lnTo>
                  <a:pt x="106045" y="138810"/>
                </a:lnTo>
                <a:lnTo>
                  <a:pt x="106045" y="147827"/>
                </a:lnTo>
                <a:lnTo>
                  <a:pt x="103124" y="153796"/>
                </a:lnTo>
                <a:lnTo>
                  <a:pt x="97154" y="165861"/>
                </a:lnTo>
                <a:lnTo>
                  <a:pt x="85216" y="177799"/>
                </a:lnTo>
                <a:lnTo>
                  <a:pt x="76200" y="177799"/>
                </a:lnTo>
                <a:lnTo>
                  <a:pt x="67183" y="180720"/>
                </a:lnTo>
                <a:lnTo>
                  <a:pt x="115250" y="180720"/>
                </a:lnTo>
                <a:lnTo>
                  <a:pt x="123698" y="169417"/>
                </a:lnTo>
                <a:lnTo>
                  <a:pt x="129666" y="148208"/>
                </a:lnTo>
                <a:lnTo>
                  <a:pt x="135636" y="130047"/>
                </a:lnTo>
                <a:lnTo>
                  <a:pt x="135600" y="75056"/>
                </a:lnTo>
                <a:lnTo>
                  <a:pt x="123698" y="32765"/>
                </a:lnTo>
                <a:lnTo>
                  <a:pt x="120776" y="26796"/>
                </a:lnTo>
                <a:lnTo>
                  <a:pt x="118109" y="24129"/>
                </a:lnTo>
                <a:close/>
              </a:path>
              <a:path w="135636" h="202437">
                <a:moveTo>
                  <a:pt x="28448" y="102361"/>
                </a:moveTo>
              </a:path>
              <a:path w="135636" h="202437">
                <a:moveTo>
                  <a:pt x="81914" y="0"/>
                </a:moveTo>
                <a:lnTo>
                  <a:pt x="54483" y="0"/>
                </a:lnTo>
                <a:lnTo>
                  <a:pt x="48513" y="2920"/>
                </a:lnTo>
                <a:lnTo>
                  <a:pt x="87884" y="2920"/>
                </a:lnTo>
                <a:lnTo>
                  <a:pt x="8191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bk object 68"/>
          <p:cNvSpPr/>
          <p:nvPr/>
        </p:nvSpPr>
        <p:spPr>
          <a:xfrm>
            <a:off x="533196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bk object 69"/>
          <p:cNvSpPr/>
          <p:nvPr/>
        </p:nvSpPr>
        <p:spPr>
          <a:xfrm>
            <a:off x="5389920" y="6298560"/>
            <a:ext cx="138240" cy="195480"/>
          </a:xfrm>
          <a:custGeom>
            <a:avLst/>
            <a:gdLst>
              <a:gd name="textAreaLeft" fmla="*/ 0 w 138240"/>
              <a:gd name="textAreaRight" fmla="*/ 138960 w 138240"/>
              <a:gd name="textAreaTop" fmla="*/ 0 h 195480"/>
              <a:gd name="textAreaBottom" fmla="*/ 196200 h 195480"/>
            </a:gdLst>
            <a:ahLst/>
            <a:cxnLst/>
            <a:rect l="textAreaLeft" t="textAreaTop" r="textAreaRight" b="textAreaBottom"/>
            <a:pathLst>
              <a:path w="139064" h="196341">
                <a:moveTo>
                  <a:pt x="27432" y="142875"/>
                </a:moveTo>
                <a:lnTo>
                  <a:pt x="1270" y="142875"/>
                </a:lnTo>
                <a:lnTo>
                  <a:pt x="1311" y="148844"/>
                </a:lnTo>
                <a:lnTo>
                  <a:pt x="21971" y="181610"/>
                </a:lnTo>
                <a:lnTo>
                  <a:pt x="51955" y="196342"/>
                </a:lnTo>
                <a:lnTo>
                  <a:pt x="82296" y="196342"/>
                </a:lnTo>
                <a:lnTo>
                  <a:pt x="121412" y="175514"/>
                </a:lnTo>
                <a:lnTo>
                  <a:pt x="122903" y="172466"/>
                </a:lnTo>
                <a:lnTo>
                  <a:pt x="57023" y="172466"/>
                </a:lnTo>
                <a:lnTo>
                  <a:pt x="48006" y="169545"/>
                </a:lnTo>
                <a:lnTo>
                  <a:pt x="45085" y="169545"/>
                </a:lnTo>
                <a:lnTo>
                  <a:pt x="33274" y="157734"/>
                </a:lnTo>
                <a:lnTo>
                  <a:pt x="30352" y="151752"/>
                </a:lnTo>
                <a:lnTo>
                  <a:pt x="27432" y="148844"/>
                </a:lnTo>
                <a:lnTo>
                  <a:pt x="27432" y="142875"/>
                </a:lnTo>
                <a:close/>
              </a:path>
              <a:path w="139064" h="196341">
                <a:moveTo>
                  <a:pt x="123638" y="85852"/>
                </a:moveTo>
                <a:lnTo>
                  <a:pt x="75311" y="85852"/>
                </a:lnTo>
                <a:lnTo>
                  <a:pt x="78232" y="88773"/>
                </a:lnTo>
                <a:lnTo>
                  <a:pt x="84200" y="88773"/>
                </a:lnTo>
                <a:lnTo>
                  <a:pt x="90170" y="91694"/>
                </a:lnTo>
                <a:lnTo>
                  <a:pt x="102108" y="103632"/>
                </a:lnTo>
                <a:lnTo>
                  <a:pt x="108076" y="112649"/>
                </a:lnTo>
                <a:lnTo>
                  <a:pt x="108076" y="124714"/>
                </a:lnTo>
                <a:lnTo>
                  <a:pt x="110998" y="130683"/>
                </a:lnTo>
                <a:lnTo>
                  <a:pt x="108076" y="133604"/>
                </a:lnTo>
                <a:lnTo>
                  <a:pt x="107950" y="148844"/>
                </a:lnTo>
                <a:lnTo>
                  <a:pt x="90170" y="166624"/>
                </a:lnTo>
                <a:lnTo>
                  <a:pt x="84200" y="169545"/>
                </a:lnTo>
                <a:lnTo>
                  <a:pt x="75184" y="172466"/>
                </a:lnTo>
                <a:lnTo>
                  <a:pt x="122903" y="172466"/>
                </a:lnTo>
                <a:lnTo>
                  <a:pt x="124333" y="169545"/>
                </a:lnTo>
                <a:lnTo>
                  <a:pt x="133223" y="160655"/>
                </a:lnTo>
                <a:lnTo>
                  <a:pt x="133223" y="151638"/>
                </a:lnTo>
                <a:lnTo>
                  <a:pt x="136144" y="145669"/>
                </a:lnTo>
                <a:lnTo>
                  <a:pt x="139064" y="130556"/>
                </a:lnTo>
                <a:lnTo>
                  <a:pt x="136144" y="115443"/>
                </a:lnTo>
                <a:lnTo>
                  <a:pt x="133223" y="103378"/>
                </a:lnTo>
                <a:lnTo>
                  <a:pt x="127253" y="91313"/>
                </a:lnTo>
                <a:lnTo>
                  <a:pt x="123638" y="85852"/>
                </a:lnTo>
                <a:close/>
              </a:path>
              <a:path w="139064" h="196341">
                <a:moveTo>
                  <a:pt x="1270" y="142748"/>
                </a:moveTo>
                <a:lnTo>
                  <a:pt x="0" y="142875"/>
                </a:lnTo>
                <a:lnTo>
                  <a:pt x="1270" y="142875"/>
                </a:lnTo>
                <a:lnTo>
                  <a:pt x="1270" y="142748"/>
                </a:lnTo>
                <a:close/>
              </a:path>
              <a:path w="139064" h="196341">
                <a:moveTo>
                  <a:pt x="128155" y="0"/>
                </a:moveTo>
                <a:lnTo>
                  <a:pt x="21462" y="0"/>
                </a:lnTo>
                <a:lnTo>
                  <a:pt x="6350" y="103632"/>
                </a:lnTo>
                <a:lnTo>
                  <a:pt x="30607" y="103632"/>
                </a:lnTo>
                <a:lnTo>
                  <a:pt x="33527" y="97663"/>
                </a:lnTo>
                <a:lnTo>
                  <a:pt x="36449" y="97663"/>
                </a:lnTo>
                <a:lnTo>
                  <a:pt x="42430" y="91694"/>
                </a:lnTo>
                <a:lnTo>
                  <a:pt x="45338" y="91694"/>
                </a:lnTo>
                <a:lnTo>
                  <a:pt x="51308" y="88773"/>
                </a:lnTo>
                <a:lnTo>
                  <a:pt x="57276" y="88773"/>
                </a:lnTo>
                <a:lnTo>
                  <a:pt x="66294" y="85852"/>
                </a:lnTo>
                <a:lnTo>
                  <a:pt x="123638" y="85852"/>
                </a:lnTo>
                <a:lnTo>
                  <a:pt x="121285" y="82296"/>
                </a:lnTo>
                <a:lnTo>
                  <a:pt x="112958" y="76073"/>
                </a:lnTo>
                <a:lnTo>
                  <a:pt x="33909" y="76073"/>
                </a:lnTo>
                <a:lnTo>
                  <a:pt x="39877" y="21209"/>
                </a:lnTo>
                <a:lnTo>
                  <a:pt x="128155" y="21209"/>
                </a:lnTo>
                <a:lnTo>
                  <a:pt x="128155" y="0"/>
                </a:lnTo>
                <a:close/>
              </a:path>
              <a:path w="139064" h="196341">
                <a:moveTo>
                  <a:pt x="85089" y="64389"/>
                </a:moveTo>
                <a:lnTo>
                  <a:pt x="60833" y="64389"/>
                </a:lnTo>
                <a:lnTo>
                  <a:pt x="42799" y="70231"/>
                </a:lnTo>
                <a:lnTo>
                  <a:pt x="36830" y="73152"/>
                </a:lnTo>
                <a:lnTo>
                  <a:pt x="33909" y="76073"/>
                </a:lnTo>
                <a:lnTo>
                  <a:pt x="112958" y="76073"/>
                </a:lnTo>
                <a:lnTo>
                  <a:pt x="109220" y="73279"/>
                </a:lnTo>
                <a:lnTo>
                  <a:pt x="97155" y="67310"/>
                </a:lnTo>
                <a:lnTo>
                  <a:pt x="85089" y="6438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bk object 70"/>
          <p:cNvSpPr/>
          <p:nvPr/>
        </p:nvSpPr>
        <p:spPr>
          <a:xfrm>
            <a:off x="5758200" y="629316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473" h="202564">
                <a:moveTo>
                  <a:pt x="93599" y="2921"/>
                </a:moveTo>
                <a:lnTo>
                  <a:pt x="42290" y="2921"/>
                </a:lnTo>
                <a:lnTo>
                  <a:pt x="30225" y="11938"/>
                </a:lnTo>
                <a:lnTo>
                  <a:pt x="15239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6" y="53975"/>
                </a:lnTo>
                <a:lnTo>
                  <a:pt x="508" y="75184"/>
                </a:lnTo>
                <a:lnTo>
                  <a:pt x="508" y="102616"/>
                </a:lnTo>
                <a:lnTo>
                  <a:pt x="0" y="102870"/>
                </a:lnTo>
                <a:lnTo>
                  <a:pt x="0" y="130302"/>
                </a:lnTo>
                <a:lnTo>
                  <a:pt x="5969" y="148463"/>
                </a:lnTo>
                <a:lnTo>
                  <a:pt x="8889" y="160528"/>
                </a:lnTo>
                <a:lnTo>
                  <a:pt x="11811" y="169545"/>
                </a:lnTo>
                <a:lnTo>
                  <a:pt x="29845" y="193675"/>
                </a:lnTo>
                <a:lnTo>
                  <a:pt x="41910" y="199644"/>
                </a:lnTo>
                <a:lnTo>
                  <a:pt x="53975" y="202565"/>
                </a:lnTo>
                <a:lnTo>
                  <a:pt x="81407" y="202565"/>
                </a:lnTo>
                <a:lnTo>
                  <a:pt x="93472" y="199644"/>
                </a:lnTo>
                <a:lnTo>
                  <a:pt x="105537" y="193675"/>
                </a:lnTo>
                <a:lnTo>
                  <a:pt x="115123" y="180848"/>
                </a:lnTo>
                <a:lnTo>
                  <a:pt x="66675" y="180848"/>
                </a:lnTo>
                <a:lnTo>
                  <a:pt x="60706" y="177927"/>
                </a:lnTo>
                <a:lnTo>
                  <a:pt x="51688" y="177927"/>
                </a:lnTo>
                <a:lnTo>
                  <a:pt x="39877" y="166116"/>
                </a:lnTo>
                <a:lnTo>
                  <a:pt x="33909" y="154038"/>
                </a:lnTo>
                <a:lnTo>
                  <a:pt x="28066" y="123825"/>
                </a:lnTo>
                <a:lnTo>
                  <a:pt x="27939" y="102616"/>
                </a:lnTo>
                <a:lnTo>
                  <a:pt x="27964" y="78232"/>
                </a:lnTo>
                <a:lnTo>
                  <a:pt x="33782" y="48133"/>
                </a:lnTo>
                <a:lnTo>
                  <a:pt x="45720" y="30099"/>
                </a:lnTo>
                <a:lnTo>
                  <a:pt x="48640" y="27178"/>
                </a:lnTo>
                <a:lnTo>
                  <a:pt x="51562" y="27178"/>
                </a:lnTo>
                <a:lnTo>
                  <a:pt x="60578" y="24257"/>
                </a:lnTo>
                <a:lnTo>
                  <a:pt x="117982" y="24257"/>
                </a:lnTo>
                <a:lnTo>
                  <a:pt x="105663" y="11938"/>
                </a:lnTo>
                <a:lnTo>
                  <a:pt x="93599" y="2921"/>
                </a:lnTo>
                <a:close/>
              </a:path>
              <a:path w="135473" h="202564">
                <a:moveTo>
                  <a:pt x="117982" y="24257"/>
                </a:moveTo>
                <a:lnTo>
                  <a:pt x="75691" y="24257"/>
                </a:lnTo>
                <a:lnTo>
                  <a:pt x="84709" y="27178"/>
                </a:lnTo>
                <a:lnTo>
                  <a:pt x="90677" y="30099"/>
                </a:lnTo>
                <a:lnTo>
                  <a:pt x="102615" y="48133"/>
                </a:lnTo>
                <a:lnTo>
                  <a:pt x="105537" y="57150"/>
                </a:lnTo>
                <a:lnTo>
                  <a:pt x="105537" y="63119"/>
                </a:lnTo>
                <a:lnTo>
                  <a:pt x="108458" y="78232"/>
                </a:lnTo>
                <a:lnTo>
                  <a:pt x="108458" y="123825"/>
                </a:lnTo>
                <a:lnTo>
                  <a:pt x="105537" y="138938"/>
                </a:lnTo>
                <a:lnTo>
                  <a:pt x="105537" y="147955"/>
                </a:lnTo>
                <a:lnTo>
                  <a:pt x="102559" y="154038"/>
                </a:lnTo>
                <a:lnTo>
                  <a:pt x="96647" y="165989"/>
                </a:lnTo>
                <a:lnTo>
                  <a:pt x="84709" y="177927"/>
                </a:lnTo>
                <a:lnTo>
                  <a:pt x="75691" y="177927"/>
                </a:lnTo>
                <a:lnTo>
                  <a:pt x="66675" y="180848"/>
                </a:lnTo>
                <a:lnTo>
                  <a:pt x="115123" y="180848"/>
                </a:lnTo>
                <a:lnTo>
                  <a:pt x="123571" y="169545"/>
                </a:lnTo>
                <a:lnTo>
                  <a:pt x="129539" y="148336"/>
                </a:lnTo>
                <a:lnTo>
                  <a:pt x="135467" y="130302"/>
                </a:lnTo>
                <a:lnTo>
                  <a:pt x="135473" y="75184"/>
                </a:lnTo>
                <a:lnTo>
                  <a:pt x="123571" y="32893"/>
                </a:lnTo>
                <a:lnTo>
                  <a:pt x="120650" y="26924"/>
                </a:lnTo>
                <a:lnTo>
                  <a:pt x="117982" y="24257"/>
                </a:lnTo>
                <a:close/>
              </a:path>
              <a:path w="135473" h="202564">
                <a:moveTo>
                  <a:pt x="81661" y="0"/>
                </a:moveTo>
                <a:lnTo>
                  <a:pt x="54228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bk object 71"/>
          <p:cNvSpPr/>
          <p:nvPr/>
        </p:nvSpPr>
        <p:spPr>
          <a:xfrm>
            <a:off x="59263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bk object 72"/>
          <p:cNvSpPr/>
          <p:nvPr/>
        </p:nvSpPr>
        <p:spPr>
          <a:xfrm>
            <a:off x="5986800" y="6292440"/>
            <a:ext cx="137520" cy="201600"/>
          </a:xfrm>
          <a:custGeom>
            <a:avLst/>
            <a:gdLst>
              <a:gd name="textAreaLeft" fmla="*/ 0 w 137520"/>
              <a:gd name="textAreaRight" fmla="*/ 138240 w 13752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8303" h="202311">
                <a:moveTo>
                  <a:pt x="90424" y="0"/>
                </a:moveTo>
                <a:lnTo>
                  <a:pt x="60071" y="0"/>
                </a:lnTo>
                <a:lnTo>
                  <a:pt x="48006" y="5969"/>
                </a:lnTo>
                <a:lnTo>
                  <a:pt x="32893" y="11925"/>
                </a:lnTo>
                <a:lnTo>
                  <a:pt x="14859" y="36068"/>
                </a:lnTo>
                <a:lnTo>
                  <a:pt x="5842" y="57277"/>
                </a:lnTo>
                <a:lnTo>
                  <a:pt x="2921" y="78486"/>
                </a:lnTo>
                <a:lnTo>
                  <a:pt x="0" y="90551"/>
                </a:lnTo>
                <a:lnTo>
                  <a:pt x="87" y="130810"/>
                </a:lnTo>
                <a:lnTo>
                  <a:pt x="2921" y="151384"/>
                </a:lnTo>
                <a:lnTo>
                  <a:pt x="11937" y="169545"/>
                </a:lnTo>
                <a:lnTo>
                  <a:pt x="14859" y="178562"/>
                </a:lnTo>
                <a:lnTo>
                  <a:pt x="20700" y="184404"/>
                </a:lnTo>
                <a:lnTo>
                  <a:pt x="32766" y="193421"/>
                </a:lnTo>
                <a:lnTo>
                  <a:pt x="44831" y="199390"/>
                </a:lnTo>
                <a:lnTo>
                  <a:pt x="56896" y="202311"/>
                </a:lnTo>
                <a:lnTo>
                  <a:pt x="84328" y="202311"/>
                </a:lnTo>
                <a:lnTo>
                  <a:pt x="96393" y="199390"/>
                </a:lnTo>
                <a:lnTo>
                  <a:pt x="108458" y="193421"/>
                </a:lnTo>
                <a:lnTo>
                  <a:pt x="120142" y="181737"/>
                </a:lnTo>
                <a:lnTo>
                  <a:pt x="59182" y="181737"/>
                </a:lnTo>
                <a:lnTo>
                  <a:pt x="50164" y="178816"/>
                </a:lnTo>
                <a:lnTo>
                  <a:pt x="44196" y="172847"/>
                </a:lnTo>
                <a:lnTo>
                  <a:pt x="38226" y="169926"/>
                </a:lnTo>
                <a:lnTo>
                  <a:pt x="38226" y="167005"/>
                </a:lnTo>
                <a:lnTo>
                  <a:pt x="32385" y="155067"/>
                </a:lnTo>
                <a:lnTo>
                  <a:pt x="29463" y="146050"/>
                </a:lnTo>
                <a:lnTo>
                  <a:pt x="29463" y="127889"/>
                </a:lnTo>
                <a:lnTo>
                  <a:pt x="32385" y="121920"/>
                </a:lnTo>
                <a:lnTo>
                  <a:pt x="35306" y="112903"/>
                </a:lnTo>
                <a:lnTo>
                  <a:pt x="41275" y="106934"/>
                </a:lnTo>
                <a:lnTo>
                  <a:pt x="47244" y="104000"/>
                </a:lnTo>
                <a:lnTo>
                  <a:pt x="53212" y="98044"/>
                </a:lnTo>
                <a:lnTo>
                  <a:pt x="127508" y="98044"/>
                </a:lnTo>
                <a:lnTo>
                  <a:pt x="123444" y="93980"/>
                </a:lnTo>
                <a:lnTo>
                  <a:pt x="27050" y="93980"/>
                </a:lnTo>
                <a:lnTo>
                  <a:pt x="29972" y="81915"/>
                </a:lnTo>
                <a:lnTo>
                  <a:pt x="29972" y="66802"/>
                </a:lnTo>
                <a:lnTo>
                  <a:pt x="32893" y="54737"/>
                </a:lnTo>
                <a:lnTo>
                  <a:pt x="38862" y="42672"/>
                </a:lnTo>
                <a:lnTo>
                  <a:pt x="53721" y="27800"/>
                </a:lnTo>
                <a:lnTo>
                  <a:pt x="59689" y="24892"/>
                </a:lnTo>
                <a:lnTo>
                  <a:pt x="65659" y="24892"/>
                </a:lnTo>
                <a:lnTo>
                  <a:pt x="74675" y="21971"/>
                </a:lnTo>
                <a:lnTo>
                  <a:pt x="125432" y="21971"/>
                </a:lnTo>
                <a:lnTo>
                  <a:pt x="123444" y="17907"/>
                </a:lnTo>
                <a:lnTo>
                  <a:pt x="114426" y="8890"/>
                </a:lnTo>
                <a:lnTo>
                  <a:pt x="102362" y="2921"/>
                </a:lnTo>
                <a:lnTo>
                  <a:pt x="96393" y="2921"/>
                </a:lnTo>
                <a:lnTo>
                  <a:pt x="90424" y="0"/>
                </a:lnTo>
                <a:close/>
              </a:path>
              <a:path w="138303" h="202311">
                <a:moveTo>
                  <a:pt x="127508" y="98044"/>
                </a:moveTo>
                <a:lnTo>
                  <a:pt x="80645" y="98044"/>
                </a:lnTo>
                <a:lnTo>
                  <a:pt x="92583" y="103886"/>
                </a:lnTo>
                <a:lnTo>
                  <a:pt x="104521" y="115824"/>
                </a:lnTo>
                <a:lnTo>
                  <a:pt x="107442" y="121793"/>
                </a:lnTo>
                <a:lnTo>
                  <a:pt x="107442" y="130810"/>
                </a:lnTo>
                <a:lnTo>
                  <a:pt x="110362" y="139827"/>
                </a:lnTo>
                <a:lnTo>
                  <a:pt x="110109" y="139954"/>
                </a:lnTo>
                <a:lnTo>
                  <a:pt x="107187" y="145923"/>
                </a:lnTo>
                <a:lnTo>
                  <a:pt x="107146" y="155067"/>
                </a:lnTo>
                <a:lnTo>
                  <a:pt x="104267" y="163957"/>
                </a:lnTo>
                <a:lnTo>
                  <a:pt x="98298" y="169926"/>
                </a:lnTo>
                <a:lnTo>
                  <a:pt x="92329" y="172847"/>
                </a:lnTo>
                <a:lnTo>
                  <a:pt x="86360" y="178816"/>
                </a:lnTo>
                <a:lnTo>
                  <a:pt x="80391" y="181737"/>
                </a:lnTo>
                <a:lnTo>
                  <a:pt x="120142" y="181737"/>
                </a:lnTo>
                <a:lnTo>
                  <a:pt x="126492" y="175387"/>
                </a:lnTo>
                <a:lnTo>
                  <a:pt x="132461" y="163322"/>
                </a:lnTo>
                <a:lnTo>
                  <a:pt x="138303" y="139192"/>
                </a:lnTo>
                <a:lnTo>
                  <a:pt x="135382" y="124079"/>
                </a:lnTo>
                <a:lnTo>
                  <a:pt x="135382" y="115062"/>
                </a:lnTo>
                <a:lnTo>
                  <a:pt x="129412" y="99949"/>
                </a:lnTo>
                <a:lnTo>
                  <a:pt x="127508" y="98044"/>
                </a:lnTo>
                <a:close/>
              </a:path>
              <a:path w="138303" h="202311">
                <a:moveTo>
                  <a:pt x="84328" y="73152"/>
                </a:moveTo>
                <a:lnTo>
                  <a:pt x="60071" y="73152"/>
                </a:lnTo>
                <a:lnTo>
                  <a:pt x="51054" y="76073"/>
                </a:lnTo>
                <a:lnTo>
                  <a:pt x="33020" y="88011"/>
                </a:lnTo>
                <a:lnTo>
                  <a:pt x="27050" y="93980"/>
                </a:lnTo>
                <a:lnTo>
                  <a:pt x="123444" y="93980"/>
                </a:lnTo>
                <a:lnTo>
                  <a:pt x="111379" y="81915"/>
                </a:lnTo>
                <a:lnTo>
                  <a:pt x="99441" y="76073"/>
                </a:lnTo>
                <a:lnTo>
                  <a:pt x="84328" y="73152"/>
                </a:lnTo>
                <a:close/>
              </a:path>
              <a:path w="138303" h="202311">
                <a:moveTo>
                  <a:pt x="125432" y="21971"/>
                </a:moveTo>
                <a:lnTo>
                  <a:pt x="74675" y="21971"/>
                </a:lnTo>
                <a:lnTo>
                  <a:pt x="83693" y="24892"/>
                </a:lnTo>
                <a:lnTo>
                  <a:pt x="89662" y="24892"/>
                </a:lnTo>
                <a:lnTo>
                  <a:pt x="95631" y="27800"/>
                </a:lnTo>
                <a:lnTo>
                  <a:pt x="101600" y="33782"/>
                </a:lnTo>
                <a:lnTo>
                  <a:pt x="107442" y="45720"/>
                </a:lnTo>
                <a:lnTo>
                  <a:pt x="107442" y="51689"/>
                </a:lnTo>
                <a:lnTo>
                  <a:pt x="110362" y="54610"/>
                </a:lnTo>
                <a:lnTo>
                  <a:pt x="134620" y="54610"/>
                </a:lnTo>
                <a:lnTo>
                  <a:pt x="135255" y="53848"/>
                </a:lnTo>
                <a:lnTo>
                  <a:pt x="135255" y="44831"/>
                </a:lnTo>
                <a:lnTo>
                  <a:pt x="132334" y="38862"/>
                </a:lnTo>
                <a:lnTo>
                  <a:pt x="132334" y="32893"/>
                </a:lnTo>
                <a:lnTo>
                  <a:pt x="126364" y="23876"/>
                </a:lnTo>
                <a:lnTo>
                  <a:pt x="125432" y="21971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bk object 73"/>
          <p:cNvSpPr/>
          <p:nvPr/>
        </p:nvSpPr>
        <p:spPr>
          <a:xfrm>
            <a:off x="6350040" y="6293520"/>
            <a:ext cx="134280" cy="20160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600"/>
              <a:gd name="textAreaBottom" fmla="*/ 202320 h 201600"/>
            </a:gdLst>
            <a:ahLst/>
            <a:cxnLst/>
            <a:rect l="textAreaLeft" t="textAreaTop" r="textAreaRight" b="textAreaBottom"/>
            <a:pathLst>
              <a:path w="134929" h="202437">
                <a:moveTo>
                  <a:pt x="93090" y="2920"/>
                </a:moveTo>
                <a:lnTo>
                  <a:pt x="41782" y="2920"/>
                </a:lnTo>
                <a:lnTo>
                  <a:pt x="29717" y="11937"/>
                </a:lnTo>
                <a:lnTo>
                  <a:pt x="14731" y="26911"/>
                </a:lnTo>
                <a:lnTo>
                  <a:pt x="11811" y="32892"/>
                </a:lnTo>
                <a:lnTo>
                  <a:pt x="8889" y="41909"/>
                </a:lnTo>
                <a:lnTo>
                  <a:pt x="5968" y="53974"/>
                </a:lnTo>
                <a:lnTo>
                  <a:pt x="3048" y="62991"/>
                </a:lnTo>
                <a:lnTo>
                  <a:pt x="126" y="75056"/>
                </a:lnTo>
                <a:lnTo>
                  <a:pt x="0" y="130428"/>
                </a:lnTo>
                <a:lnTo>
                  <a:pt x="5841" y="148462"/>
                </a:lnTo>
                <a:lnTo>
                  <a:pt x="8762" y="160527"/>
                </a:lnTo>
                <a:lnTo>
                  <a:pt x="11683" y="169544"/>
                </a:lnTo>
                <a:lnTo>
                  <a:pt x="14604" y="175513"/>
                </a:lnTo>
                <a:lnTo>
                  <a:pt x="20574" y="181482"/>
                </a:lnTo>
                <a:lnTo>
                  <a:pt x="29590" y="193547"/>
                </a:lnTo>
                <a:lnTo>
                  <a:pt x="47625" y="202437"/>
                </a:lnTo>
                <a:lnTo>
                  <a:pt x="81025" y="202437"/>
                </a:lnTo>
                <a:lnTo>
                  <a:pt x="93090" y="199516"/>
                </a:lnTo>
                <a:lnTo>
                  <a:pt x="105155" y="193547"/>
                </a:lnTo>
                <a:lnTo>
                  <a:pt x="114185" y="181482"/>
                </a:lnTo>
                <a:lnTo>
                  <a:pt x="114692" y="180974"/>
                </a:lnTo>
                <a:lnTo>
                  <a:pt x="69341" y="180974"/>
                </a:lnTo>
                <a:lnTo>
                  <a:pt x="60325" y="178053"/>
                </a:lnTo>
                <a:lnTo>
                  <a:pt x="51307" y="178053"/>
                </a:lnTo>
                <a:lnTo>
                  <a:pt x="39369" y="166115"/>
                </a:lnTo>
                <a:lnTo>
                  <a:pt x="33400" y="154050"/>
                </a:lnTo>
                <a:lnTo>
                  <a:pt x="27558" y="123824"/>
                </a:lnTo>
                <a:lnTo>
                  <a:pt x="27431" y="78231"/>
                </a:lnTo>
                <a:lnTo>
                  <a:pt x="33274" y="48005"/>
                </a:lnTo>
                <a:lnTo>
                  <a:pt x="45212" y="29971"/>
                </a:lnTo>
                <a:lnTo>
                  <a:pt x="51180" y="27050"/>
                </a:lnTo>
                <a:lnTo>
                  <a:pt x="60198" y="24129"/>
                </a:lnTo>
                <a:lnTo>
                  <a:pt x="117358" y="24129"/>
                </a:lnTo>
                <a:lnTo>
                  <a:pt x="105155" y="11937"/>
                </a:lnTo>
                <a:lnTo>
                  <a:pt x="93090" y="2920"/>
                </a:lnTo>
                <a:close/>
              </a:path>
              <a:path w="134929" h="202437">
                <a:moveTo>
                  <a:pt x="117358" y="24129"/>
                </a:moveTo>
                <a:lnTo>
                  <a:pt x="75311" y="24129"/>
                </a:lnTo>
                <a:lnTo>
                  <a:pt x="84327" y="27050"/>
                </a:lnTo>
                <a:lnTo>
                  <a:pt x="90296" y="29971"/>
                </a:lnTo>
                <a:lnTo>
                  <a:pt x="102235" y="48005"/>
                </a:lnTo>
                <a:lnTo>
                  <a:pt x="108076" y="78231"/>
                </a:lnTo>
                <a:lnTo>
                  <a:pt x="108076" y="123824"/>
                </a:lnTo>
                <a:lnTo>
                  <a:pt x="102235" y="154050"/>
                </a:lnTo>
                <a:lnTo>
                  <a:pt x="96265" y="166115"/>
                </a:lnTo>
                <a:lnTo>
                  <a:pt x="84327" y="178053"/>
                </a:lnTo>
                <a:lnTo>
                  <a:pt x="75311" y="178053"/>
                </a:lnTo>
                <a:lnTo>
                  <a:pt x="69341" y="180974"/>
                </a:lnTo>
                <a:lnTo>
                  <a:pt x="114692" y="180974"/>
                </a:lnTo>
                <a:lnTo>
                  <a:pt x="120141" y="175513"/>
                </a:lnTo>
                <a:lnTo>
                  <a:pt x="123062" y="169544"/>
                </a:lnTo>
                <a:lnTo>
                  <a:pt x="129031" y="148335"/>
                </a:lnTo>
                <a:lnTo>
                  <a:pt x="134917" y="130428"/>
                </a:lnTo>
                <a:lnTo>
                  <a:pt x="134929" y="75056"/>
                </a:lnTo>
                <a:lnTo>
                  <a:pt x="123062" y="32892"/>
                </a:lnTo>
                <a:lnTo>
                  <a:pt x="120141" y="26911"/>
                </a:lnTo>
                <a:lnTo>
                  <a:pt x="117358" y="24129"/>
                </a:lnTo>
                <a:close/>
              </a:path>
              <a:path w="134929" h="202437">
                <a:moveTo>
                  <a:pt x="81152" y="0"/>
                </a:moveTo>
                <a:lnTo>
                  <a:pt x="53720" y="0"/>
                </a:lnTo>
                <a:lnTo>
                  <a:pt x="47751" y="2920"/>
                </a:lnTo>
                <a:lnTo>
                  <a:pt x="87121" y="2920"/>
                </a:lnTo>
                <a:lnTo>
                  <a:pt x="81152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bk object 74"/>
          <p:cNvSpPr/>
          <p:nvPr/>
        </p:nvSpPr>
        <p:spPr>
          <a:xfrm>
            <a:off x="65174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bk object 75"/>
          <p:cNvSpPr/>
          <p:nvPr/>
        </p:nvSpPr>
        <p:spPr>
          <a:xfrm>
            <a:off x="6577200" y="6300000"/>
            <a:ext cx="133200" cy="192960"/>
          </a:xfrm>
          <a:custGeom>
            <a:avLst/>
            <a:gdLst>
              <a:gd name="textAreaLeft" fmla="*/ 0 w 133200"/>
              <a:gd name="textAreaRight" fmla="*/ 133920 w 133200"/>
              <a:gd name="textAreaTop" fmla="*/ 0 h 192960"/>
              <a:gd name="textAreaBottom" fmla="*/ 193680 h 192960"/>
            </a:gdLst>
            <a:ahLst/>
            <a:cxnLst/>
            <a:rect l="textAreaLeft" t="textAreaTop" r="textAreaRight" b="textAreaBottom"/>
            <a:pathLst>
              <a:path w="133984" h="193675">
                <a:moveTo>
                  <a:pt x="133984" y="0"/>
                </a:moveTo>
                <a:lnTo>
                  <a:pt x="0" y="0"/>
                </a:lnTo>
                <a:lnTo>
                  <a:pt x="0" y="24256"/>
                </a:lnTo>
                <a:lnTo>
                  <a:pt x="106679" y="24256"/>
                </a:lnTo>
                <a:lnTo>
                  <a:pt x="94615" y="39369"/>
                </a:lnTo>
                <a:lnTo>
                  <a:pt x="91694" y="45338"/>
                </a:lnTo>
                <a:lnTo>
                  <a:pt x="76580" y="60451"/>
                </a:lnTo>
                <a:lnTo>
                  <a:pt x="70611" y="69468"/>
                </a:lnTo>
                <a:lnTo>
                  <a:pt x="67691" y="78485"/>
                </a:lnTo>
                <a:lnTo>
                  <a:pt x="55625" y="102730"/>
                </a:lnTo>
                <a:lnTo>
                  <a:pt x="43687" y="120776"/>
                </a:lnTo>
                <a:lnTo>
                  <a:pt x="37656" y="142240"/>
                </a:lnTo>
                <a:lnTo>
                  <a:pt x="31750" y="166230"/>
                </a:lnTo>
                <a:lnTo>
                  <a:pt x="31750" y="175259"/>
                </a:lnTo>
                <a:lnTo>
                  <a:pt x="28828" y="193420"/>
                </a:lnTo>
                <a:lnTo>
                  <a:pt x="28575" y="193675"/>
                </a:lnTo>
                <a:lnTo>
                  <a:pt x="56006" y="193675"/>
                </a:lnTo>
                <a:lnTo>
                  <a:pt x="58927" y="172465"/>
                </a:lnTo>
                <a:lnTo>
                  <a:pt x="61849" y="160400"/>
                </a:lnTo>
                <a:lnTo>
                  <a:pt x="67889" y="141985"/>
                </a:lnTo>
                <a:lnTo>
                  <a:pt x="73786" y="121031"/>
                </a:lnTo>
                <a:lnTo>
                  <a:pt x="82803" y="99822"/>
                </a:lnTo>
                <a:lnTo>
                  <a:pt x="91821" y="81660"/>
                </a:lnTo>
                <a:lnTo>
                  <a:pt x="103885" y="63500"/>
                </a:lnTo>
                <a:lnTo>
                  <a:pt x="112902" y="48387"/>
                </a:lnTo>
                <a:lnTo>
                  <a:pt x="121920" y="39369"/>
                </a:lnTo>
                <a:lnTo>
                  <a:pt x="133984" y="21209"/>
                </a:lnTo>
                <a:lnTo>
                  <a:pt x="133984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bk object 76"/>
          <p:cNvSpPr/>
          <p:nvPr/>
        </p:nvSpPr>
        <p:spPr>
          <a:xfrm>
            <a:off x="6941160" y="6293160"/>
            <a:ext cx="134280" cy="201240"/>
          </a:xfrm>
          <a:custGeom>
            <a:avLst/>
            <a:gdLst>
              <a:gd name="textAreaLeft" fmla="*/ 0 w 134280"/>
              <a:gd name="textAreaRight" fmla="*/ 135000 w 1342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127" h="201929">
                <a:moveTo>
                  <a:pt x="93345" y="2921"/>
                </a:moveTo>
                <a:lnTo>
                  <a:pt x="42037" y="2921"/>
                </a:lnTo>
                <a:lnTo>
                  <a:pt x="29972" y="11938"/>
                </a:lnTo>
                <a:lnTo>
                  <a:pt x="6223" y="53975"/>
                </a:lnTo>
                <a:lnTo>
                  <a:pt x="380" y="102616"/>
                </a:lnTo>
                <a:lnTo>
                  <a:pt x="40" y="102616"/>
                </a:lnTo>
                <a:lnTo>
                  <a:pt x="5842" y="147828"/>
                </a:lnTo>
                <a:lnTo>
                  <a:pt x="20700" y="180975"/>
                </a:lnTo>
                <a:lnTo>
                  <a:pt x="29718" y="193040"/>
                </a:lnTo>
                <a:lnTo>
                  <a:pt x="41782" y="199009"/>
                </a:lnTo>
                <a:lnTo>
                  <a:pt x="53848" y="201930"/>
                </a:lnTo>
                <a:lnTo>
                  <a:pt x="81279" y="201930"/>
                </a:lnTo>
                <a:lnTo>
                  <a:pt x="93345" y="199009"/>
                </a:lnTo>
                <a:lnTo>
                  <a:pt x="105410" y="193040"/>
                </a:lnTo>
                <a:lnTo>
                  <a:pt x="114332" y="181102"/>
                </a:lnTo>
                <a:lnTo>
                  <a:pt x="69596" y="181102"/>
                </a:lnTo>
                <a:lnTo>
                  <a:pt x="60578" y="178181"/>
                </a:lnTo>
                <a:lnTo>
                  <a:pt x="51562" y="178181"/>
                </a:lnTo>
                <a:lnTo>
                  <a:pt x="39624" y="166243"/>
                </a:lnTo>
                <a:lnTo>
                  <a:pt x="33654" y="154178"/>
                </a:lnTo>
                <a:lnTo>
                  <a:pt x="27813" y="123952"/>
                </a:lnTo>
                <a:lnTo>
                  <a:pt x="27686" y="102616"/>
                </a:lnTo>
                <a:lnTo>
                  <a:pt x="380" y="102616"/>
                </a:lnTo>
                <a:lnTo>
                  <a:pt x="0" y="102235"/>
                </a:lnTo>
                <a:lnTo>
                  <a:pt x="27686" y="102235"/>
                </a:lnTo>
                <a:lnTo>
                  <a:pt x="27686" y="78359"/>
                </a:lnTo>
                <a:lnTo>
                  <a:pt x="33527" y="48133"/>
                </a:lnTo>
                <a:lnTo>
                  <a:pt x="45466" y="30099"/>
                </a:lnTo>
                <a:lnTo>
                  <a:pt x="51435" y="27178"/>
                </a:lnTo>
                <a:lnTo>
                  <a:pt x="60451" y="24257"/>
                </a:lnTo>
                <a:lnTo>
                  <a:pt x="117728" y="24257"/>
                </a:lnTo>
                <a:lnTo>
                  <a:pt x="105410" y="11938"/>
                </a:lnTo>
                <a:lnTo>
                  <a:pt x="93345" y="2921"/>
                </a:lnTo>
                <a:close/>
              </a:path>
              <a:path w="135127" h="201929">
                <a:moveTo>
                  <a:pt x="117728" y="24257"/>
                </a:moveTo>
                <a:lnTo>
                  <a:pt x="78613" y="24257"/>
                </a:lnTo>
                <a:lnTo>
                  <a:pt x="90550" y="30099"/>
                </a:lnTo>
                <a:lnTo>
                  <a:pt x="102489" y="48133"/>
                </a:lnTo>
                <a:lnTo>
                  <a:pt x="108330" y="78359"/>
                </a:lnTo>
                <a:lnTo>
                  <a:pt x="108330" y="123952"/>
                </a:lnTo>
                <a:lnTo>
                  <a:pt x="102489" y="154178"/>
                </a:lnTo>
                <a:lnTo>
                  <a:pt x="96520" y="166243"/>
                </a:lnTo>
                <a:lnTo>
                  <a:pt x="84581" y="178181"/>
                </a:lnTo>
                <a:lnTo>
                  <a:pt x="78613" y="178181"/>
                </a:lnTo>
                <a:lnTo>
                  <a:pt x="69596" y="181102"/>
                </a:lnTo>
                <a:lnTo>
                  <a:pt x="114332" y="181102"/>
                </a:lnTo>
                <a:lnTo>
                  <a:pt x="114426" y="180975"/>
                </a:lnTo>
                <a:lnTo>
                  <a:pt x="120396" y="175006"/>
                </a:lnTo>
                <a:lnTo>
                  <a:pt x="123317" y="169037"/>
                </a:lnTo>
                <a:lnTo>
                  <a:pt x="129286" y="160020"/>
                </a:lnTo>
                <a:lnTo>
                  <a:pt x="132206" y="147955"/>
                </a:lnTo>
                <a:lnTo>
                  <a:pt x="132206" y="138938"/>
                </a:lnTo>
                <a:lnTo>
                  <a:pt x="135127" y="129921"/>
                </a:lnTo>
                <a:lnTo>
                  <a:pt x="135127" y="75057"/>
                </a:lnTo>
                <a:lnTo>
                  <a:pt x="132206" y="62992"/>
                </a:lnTo>
                <a:lnTo>
                  <a:pt x="132206" y="53975"/>
                </a:lnTo>
                <a:lnTo>
                  <a:pt x="129286" y="41910"/>
                </a:lnTo>
                <a:lnTo>
                  <a:pt x="123317" y="32893"/>
                </a:lnTo>
                <a:lnTo>
                  <a:pt x="120396" y="26924"/>
                </a:lnTo>
                <a:lnTo>
                  <a:pt x="117728" y="24257"/>
                </a:lnTo>
                <a:close/>
              </a:path>
              <a:path w="135127" h="201929">
                <a:moveTo>
                  <a:pt x="81406" y="0"/>
                </a:moveTo>
                <a:lnTo>
                  <a:pt x="53975" y="0"/>
                </a:lnTo>
                <a:lnTo>
                  <a:pt x="48005" y="2921"/>
                </a:lnTo>
                <a:lnTo>
                  <a:pt x="87375" y="2921"/>
                </a:lnTo>
                <a:lnTo>
                  <a:pt x="81406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bk object 77"/>
          <p:cNvSpPr/>
          <p:nvPr/>
        </p:nvSpPr>
        <p:spPr>
          <a:xfrm>
            <a:off x="710892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bk object 78"/>
          <p:cNvSpPr/>
          <p:nvPr/>
        </p:nvSpPr>
        <p:spPr>
          <a:xfrm>
            <a:off x="7170480" y="6293880"/>
            <a:ext cx="134640" cy="199800"/>
          </a:xfrm>
          <a:custGeom>
            <a:avLst/>
            <a:gdLst>
              <a:gd name="textAreaLeft" fmla="*/ 0 w 134640"/>
              <a:gd name="textAreaRight" fmla="*/ 135360 w 134640"/>
              <a:gd name="textAreaTop" fmla="*/ 0 h 199800"/>
              <a:gd name="textAreaBottom" fmla="*/ 200520 h 199800"/>
            </a:gdLst>
            <a:ahLst/>
            <a:cxnLst/>
            <a:rect l="textAreaLeft" t="textAreaTop" r="textAreaRight" b="textAreaBottom"/>
            <a:pathLst>
              <a:path w="135254" h="200405">
                <a:moveTo>
                  <a:pt x="32493" y="89606"/>
                </a:moveTo>
                <a:lnTo>
                  <a:pt x="26669" y="92456"/>
                </a:lnTo>
                <a:lnTo>
                  <a:pt x="23749" y="95377"/>
                </a:lnTo>
                <a:lnTo>
                  <a:pt x="17779" y="98298"/>
                </a:lnTo>
                <a:lnTo>
                  <a:pt x="14858" y="101219"/>
                </a:lnTo>
                <a:lnTo>
                  <a:pt x="2920" y="119253"/>
                </a:lnTo>
                <a:lnTo>
                  <a:pt x="0" y="128270"/>
                </a:lnTo>
                <a:lnTo>
                  <a:pt x="0" y="140335"/>
                </a:lnTo>
                <a:lnTo>
                  <a:pt x="20827" y="188595"/>
                </a:lnTo>
                <a:lnTo>
                  <a:pt x="44957" y="197485"/>
                </a:lnTo>
                <a:lnTo>
                  <a:pt x="53975" y="200406"/>
                </a:lnTo>
                <a:lnTo>
                  <a:pt x="81406" y="200406"/>
                </a:lnTo>
                <a:lnTo>
                  <a:pt x="105536" y="194551"/>
                </a:lnTo>
                <a:lnTo>
                  <a:pt x="114553" y="188595"/>
                </a:lnTo>
                <a:lnTo>
                  <a:pt x="120523" y="182626"/>
                </a:lnTo>
                <a:lnTo>
                  <a:pt x="123071" y="177419"/>
                </a:lnTo>
                <a:lnTo>
                  <a:pt x="53593" y="177419"/>
                </a:lnTo>
                <a:lnTo>
                  <a:pt x="44576" y="174498"/>
                </a:lnTo>
                <a:lnTo>
                  <a:pt x="38734" y="168656"/>
                </a:lnTo>
                <a:lnTo>
                  <a:pt x="35813" y="162687"/>
                </a:lnTo>
                <a:lnTo>
                  <a:pt x="29844" y="156718"/>
                </a:lnTo>
                <a:lnTo>
                  <a:pt x="29844" y="150749"/>
                </a:lnTo>
                <a:lnTo>
                  <a:pt x="26924" y="141732"/>
                </a:lnTo>
                <a:lnTo>
                  <a:pt x="29844" y="132588"/>
                </a:lnTo>
                <a:lnTo>
                  <a:pt x="29844" y="123571"/>
                </a:lnTo>
                <a:lnTo>
                  <a:pt x="41655" y="111760"/>
                </a:lnTo>
                <a:lnTo>
                  <a:pt x="53593" y="105918"/>
                </a:lnTo>
                <a:lnTo>
                  <a:pt x="126386" y="105918"/>
                </a:lnTo>
                <a:lnTo>
                  <a:pt x="123443" y="101473"/>
                </a:lnTo>
                <a:lnTo>
                  <a:pt x="111505" y="95631"/>
                </a:lnTo>
                <a:lnTo>
                  <a:pt x="108584" y="92710"/>
                </a:lnTo>
                <a:lnTo>
                  <a:pt x="102615" y="89776"/>
                </a:lnTo>
                <a:lnTo>
                  <a:pt x="33019" y="89776"/>
                </a:lnTo>
                <a:lnTo>
                  <a:pt x="32493" y="89606"/>
                </a:lnTo>
                <a:close/>
              </a:path>
              <a:path w="135254" h="200405">
                <a:moveTo>
                  <a:pt x="126386" y="105918"/>
                </a:moveTo>
                <a:lnTo>
                  <a:pt x="81025" y="105918"/>
                </a:lnTo>
                <a:lnTo>
                  <a:pt x="90042" y="108826"/>
                </a:lnTo>
                <a:lnTo>
                  <a:pt x="96011" y="111760"/>
                </a:lnTo>
                <a:lnTo>
                  <a:pt x="101980" y="117729"/>
                </a:lnTo>
                <a:lnTo>
                  <a:pt x="104839" y="123571"/>
                </a:lnTo>
                <a:lnTo>
                  <a:pt x="104901" y="126619"/>
                </a:lnTo>
                <a:lnTo>
                  <a:pt x="107823" y="132588"/>
                </a:lnTo>
                <a:lnTo>
                  <a:pt x="107823" y="150749"/>
                </a:lnTo>
                <a:lnTo>
                  <a:pt x="104901" y="156718"/>
                </a:lnTo>
                <a:lnTo>
                  <a:pt x="104901" y="159626"/>
                </a:lnTo>
                <a:lnTo>
                  <a:pt x="90042" y="174498"/>
                </a:lnTo>
                <a:lnTo>
                  <a:pt x="81025" y="177419"/>
                </a:lnTo>
                <a:lnTo>
                  <a:pt x="123071" y="177419"/>
                </a:lnTo>
                <a:lnTo>
                  <a:pt x="126364" y="170688"/>
                </a:lnTo>
                <a:lnTo>
                  <a:pt x="132333" y="164719"/>
                </a:lnTo>
                <a:lnTo>
                  <a:pt x="132333" y="158750"/>
                </a:lnTo>
                <a:lnTo>
                  <a:pt x="135254" y="152781"/>
                </a:lnTo>
                <a:lnTo>
                  <a:pt x="135172" y="128270"/>
                </a:lnTo>
                <a:lnTo>
                  <a:pt x="129412" y="110490"/>
                </a:lnTo>
                <a:lnTo>
                  <a:pt x="126386" y="105918"/>
                </a:lnTo>
                <a:close/>
              </a:path>
              <a:path w="135254" h="200405">
                <a:moveTo>
                  <a:pt x="103364" y="89535"/>
                </a:moveTo>
                <a:lnTo>
                  <a:pt x="32638" y="89535"/>
                </a:lnTo>
                <a:lnTo>
                  <a:pt x="33019" y="89776"/>
                </a:lnTo>
                <a:lnTo>
                  <a:pt x="102615" y="89776"/>
                </a:lnTo>
                <a:lnTo>
                  <a:pt x="103364" y="89535"/>
                </a:lnTo>
                <a:close/>
              </a:path>
              <a:path w="135254" h="200405">
                <a:moveTo>
                  <a:pt x="78485" y="0"/>
                </a:moveTo>
                <a:lnTo>
                  <a:pt x="57276" y="0"/>
                </a:lnTo>
                <a:lnTo>
                  <a:pt x="48259" y="2921"/>
                </a:lnTo>
                <a:lnTo>
                  <a:pt x="36194" y="5842"/>
                </a:lnTo>
                <a:lnTo>
                  <a:pt x="18160" y="17780"/>
                </a:lnTo>
                <a:lnTo>
                  <a:pt x="12191" y="26797"/>
                </a:lnTo>
                <a:lnTo>
                  <a:pt x="6350" y="50927"/>
                </a:lnTo>
                <a:lnTo>
                  <a:pt x="15112" y="77978"/>
                </a:lnTo>
                <a:lnTo>
                  <a:pt x="24002" y="86868"/>
                </a:lnTo>
                <a:lnTo>
                  <a:pt x="32493" y="89606"/>
                </a:lnTo>
                <a:lnTo>
                  <a:pt x="32638" y="89535"/>
                </a:lnTo>
                <a:lnTo>
                  <a:pt x="103364" y="89535"/>
                </a:lnTo>
                <a:lnTo>
                  <a:pt x="111632" y="86868"/>
                </a:lnTo>
                <a:lnTo>
                  <a:pt x="115570" y="82931"/>
                </a:lnTo>
                <a:lnTo>
                  <a:pt x="59689" y="82931"/>
                </a:lnTo>
                <a:lnTo>
                  <a:pt x="59689" y="80010"/>
                </a:lnTo>
                <a:lnTo>
                  <a:pt x="56768" y="80010"/>
                </a:lnTo>
                <a:lnTo>
                  <a:pt x="38861" y="71247"/>
                </a:lnTo>
                <a:lnTo>
                  <a:pt x="35940" y="65278"/>
                </a:lnTo>
                <a:lnTo>
                  <a:pt x="35940" y="59309"/>
                </a:lnTo>
                <a:lnTo>
                  <a:pt x="33019" y="50292"/>
                </a:lnTo>
                <a:lnTo>
                  <a:pt x="35940" y="44196"/>
                </a:lnTo>
                <a:lnTo>
                  <a:pt x="35940" y="38227"/>
                </a:lnTo>
                <a:lnTo>
                  <a:pt x="38861" y="32258"/>
                </a:lnTo>
                <a:lnTo>
                  <a:pt x="44830" y="29337"/>
                </a:lnTo>
                <a:lnTo>
                  <a:pt x="50800" y="23368"/>
                </a:lnTo>
                <a:lnTo>
                  <a:pt x="56768" y="23368"/>
                </a:lnTo>
                <a:lnTo>
                  <a:pt x="59689" y="20447"/>
                </a:lnTo>
                <a:lnTo>
                  <a:pt x="119367" y="20447"/>
                </a:lnTo>
                <a:lnTo>
                  <a:pt x="117601" y="17780"/>
                </a:lnTo>
                <a:lnTo>
                  <a:pt x="111632" y="11811"/>
                </a:lnTo>
                <a:lnTo>
                  <a:pt x="102615" y="5842"/>
                </a:lnTo>
                <a:lnTo>
                  <a:pt x="78485" y="0"/>
                </a:lnTo>
                <a:close/>
              </a:path>
              <a:path w="135254" h="200405">
                <a:moveTo>
                  <a:pt x="119367" y="20447"/>
                </a:moveTo>
                <a:lnTo>
                  <a:pt x="74815" y="20447"/>
                </a:lnTo>
                <a:lnTo>
                  <a:pt x="80772" y="23368"/>
                </a:lnTo>
                <a:lnTo>
                  <a:pt x="86740" y="23368"/>
                </a:lnTo>
                <a:lnTo>
                  <a:pt x="89661" y="29337"/>
                </a:lnTo>
                <a:lnTo>
                  <a:pt x="95630" y="32258"/>
                </a:lnTo>
                <a:lnTo>
                  <a:pt x="101473" y="44196"/>
                </a:lnTo>
                <a:lnTo>
                  <a:pt x="101473" y="59309"/>
                </a:lnTo>
                <a:lnTo>
                  <a:pt x="95630" y="71247"/>
                </a:lnTo>
                <a:lnTo>
                  <a:pt x="92709" y="74168"/>
                </a:lnTo>
                <a:lnTo>
                  <a:pt x="74815" y="82931"/>
                </a:lnTo>
                <a:lnTo>
                  <a:pt x="115570" y="82931"/>
                </a:lnTo>
                <a:lnTo>
                  <a:pt x="120523" y="77978"/>
                </a:lnTo>
                <a:lnTo>
                  <a:pt x="126491" y="68961"/>
                </a:lnTo>
                <a:lnTo>
                  <a:pt x="129412" y="59944"/>
                </a:lnTo>
                <a:lnTo>
                  <a:pt x="129412" y="50927"/>
                </a:lnTo>
                <a:lnTo>
                  <a:pt x="123570" y="26797"/>
                </a:lnTo>
                <a:lnTo>
                  <a:pt x="119367" y="20447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bk object 79"/>
          <p:cNvSpPr/>
          <p:nvPr/>
        </p:nvSpPr>
        <p:spPr>
          <a:xfrm>
            <a:off x="7531920" y="6293160"/>
            <a:ext cx="134640" cy="20124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5394" h="202056">
                <a:moveTo>
                  <a:pt x="0" y="102235"/>
                </a:moveTo>
                <a:lnTo>
                  <a:pt x="5842" y="147828"/>
                </a:lnTo>
                <a:lnTo>
                  <a:pt x="29845" y="193167"/>
                </a:lnTo>
                <a:lnTo>
                  <a:pt x="53975" y="202057"/>
                </a:lnTo>
                <a:lnTo>
                  <a:pt x="81407" y="202057"/>
                </a:lnTo>
                <a:lnTo>
                  <a:pt x="93472" y="199136"/>
                </a:lnTo>
                <a:lnTo>
                  <a:pt x="105537" y="193167"/>
                </a:lnTo>
                <a:lnTo>
                  <a:pt x="117221" y="181483"/>
                </a:lnTo>
                <a:lnTo>
                  <a:pt x="69723" y="181483"/>
                </a:lnTo>
                <a:lnTo>
                  <a:pt x="60706" y="178562"/>
                </a:lnTo>
                <a:lnTo>
                  <a:pt x="51689" y="178562"/>
                </a:lnTo>
                <a:lnTo>
                  <a:pt x="39751" y="166624"/>
                </a:lnTo>
                <a:lnTo>
                  <a:pt x="36830" y="154559"/>
                </a:lnTo>
                <a:lnTo>
                  <a:pt x="33909" y="148590"/>
                </a:lnTo>
                <a:lnTo>
                  <a:pt x="30988" y="139573"/>
                </a:lnTo>
                <a:lnTo>
                  <a:pt x="30988" y="124460"/>
                </a:lnTo>
                <a:lnTo>
                  <a:pt x="28067" y="103238"/>
                </a:lnTo>
                <a:lnTo>
                  <a:pt x="27927" y="102616"/>
                </a:lnTo>
                <a:lnTo>
                  <a:pt x="635" y="102616"/>
                </a:lnTo>
                <a:lnTo>
                  <a:pt x="0" y="102235"/>
                </a:lnTo>
                <a:close/>
              </a:path>
              <a:path w="135394" h="202056">
                <a:moveTo>
                  <a:pt x="119407" y="24384"/>
                </a:moveTo>
                <a:lnTo>
                  <a:pt x="78740" y="24384"/>
                </a:lnTo>
                <a:lnTo>
                  <a:pt x="84709" y="27305"/>
                </a:lnTo>
                <a:lnTo>
                  <a:pt x="87630" y="27305"/>
                </a:lnTo>
                <a:lnTo>
                  <a:pt x="90551" y="30213"/>
                </a:lnTo>
                <a:lnTo>
                  <a:pt x="102489" y="48260"/>
                </a:lnTo>
                <a:lnTo>
                  <a:pt x="108407" y="63246"/>
                </a:lnTo>
                <a:lnTo>
                  <a:pt x="108458" y="139573"/>
                </a:lnTo>
                <a:lnTo>
                  <a:pt x="102489" y="154686"/>
                </a:lnTo>
                <a:lnTo>
                  <a:pt x="96520" y="166738"/>
                </a:lnTo>
                <a:lnTo>
                  <a:pt x="84709" y="178562"/>
                </a:lnTo>
                <a:lnTo>
                  <a:pt x="78740" y="178562"/>
                </a:lnTo>
                <a:lnTo>
                  <a:pt x="69723" y="181483"/>
                </a:lnTo>
                <a:lnTo>
                  <a:pt x="117221" y="181483"/>
                </a:lnTo>
                <a:lnTo>
                  <a:pt x="117602" y="181102"/>
                </a:lnTo>
                <a:lnTo>
                  <a:pt x="123571" y="169037"/>
                </a:lnTo>
                <a:lnTo>
                  <a:pt x="129540" y="160020"/>
                </a:lnTo>
                <a:lnTo>
                  <a:pt x="132461" y="147955"/>
                </a:lnTo>
                <a:lnTo>
                  <a:pt x="132461" y="138938"/>
                </a:lnTo>
                <a:lnTo>
                  <a:pt x="135394" y="129921"/>
                </a:lnTo>
                <a:lnTo>
                  <a:pt x="135394" y="75057"/>
                </a:lnTo>
                <a:lnTo>
                  <a:pt x="132553" y="63373"/>
                </a:lnTo>
                <a:lnTo>
                  <a:pt x="132461" y="53975"/>
                </a:lnTo>
                <a:lnTo>
                  <a:pt x="129540" y="41910"/>
                </a:lnTo>
                <a:lnTo>
                  <a:pt x="123571" y="32893"/>
                </a:lnTo>
                <a:lnTo>
                  <a:pt x="119407" y="24384"/>
                </a:lnTo>
                <a:close/>
              </a:path>
              <a:path w="135394" h="202056">
                <a:moveTo>
                  <a:pt x="93599" y="2921"/>
                </a:moveTo>
                <a:lnTo>
                  <a:pt x="42291" y="2921"/>
                </a:lnTo>
                <a:lnTo>
                  <a:pt x="30226" y="11938"/>
                </a:lnTo>
                <a:lnTo>
                  <a:pt x="21209" y="20955"/>
                </a:lnTo>
                <a:lnTo>
                  <a:pt x="18288" y="26924"/>
                </a:lnTo>
                <a:lnTo>
                  <a:pt x="12319" y="32893"/>
                </a:lnTo>
                <a:lnTo>
                  <a:pt x="9398" y="41910"/>
                </a:lnTo>
                <a:lnTo>
                  <a:pt x="6477" y="53975"/>
                </a:lnTo>
                <a:lnTo>
                  <a:pt x="3556" y="75184"/>
                </a:lnTo>
                <a:lnTo>
                  <a:pt x="635" y="102616"/>
                </a:lnTo>
                <a:lnTo>
                  <a:pt x="27927" y="102616"/>
                </a:lnTo>
                <a:lnTo>
                  <a:pt x="30861" y="78359"/>
                </a:lnTo>
                <a:lnTo>
                  <a:pt x="30985" y="62992"/>
                </a:lnTo>
                <a:lnTo>
                  <a:pt x="33782" y="57277"/>
                </a:lnTo>
                <a:lnTo>
                  <a:pt x="39624" y="39243"/>
                </a:lnTo>
                <a:lnTo>
                  <a:pt x="45593" y="30213"/>
                </a:lnTo>
                <a:lnTo>
                  <a:pt x="51562" y="27305"/>
                </a:lnTo>
                <a:lnTo>
                  <a:pt x="60579" y="24384"/>
                </a:lnTo>
                <a:lnTo>
                  <a:pt x="119407" y="24384"/>
                </a:lnTo>
                <a:lnTo>
                  <a:pt x="117729" y="20955"/>
                </a:lnTo>
                <a:lnTo>
                  <a:pt x="93599" y="2921"/>
                </a:lnTo>
                <a:close/>
              </a:path>
              <a:path w="135394" h="202056">
                <a:moveTo>
                  <a:pt x="81661" y="0"/>
                </a:moveTo>
                <a:lnTo>
                  <a:pt x="54229" y="0"/>
                </a:lnTo>
                <a:lnTo>
                  <a:pt x="48260" y="2921"/>
                </a:lnTo>
                <a:lnTo>
                  <a:pt x="87630" y="2921"/>
                </a:lnTo>
                <a:lnTo>
                  <a:pt x="81661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bk object 80"/>
          <p:cNvSpPr/>
          <p:nvPr/>
        </p:nvSpPr>
        <p:spPr>
          <a:xfrm>
            <a:off x="770004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65" h="33401">
                <a:moveTo>
                  <a:pt x="0" y="16700"/>
                </a:moveTo>
                <a:lnTo>
                  <a:pt x="30365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bk object 81"/>
          <p:cNvSpPr/>
          <p:nvPr/>
        </p:nvSpPr>
        <p:spPr>
          <a:xfrm>
            <a:off x="7761240" y="6293520"/>
            <a:ext cx="137880" cy="201240"/>
          </a:xfrm>
          <a:custGeom>
            <a:avLst/>
            <a:gdLst>
              <a:gd name="textAreaLeft" fmla="*/ 0 w 137880"/>
              <a:gd name="textAreaRight" fmla="*/ 138600 w 137880"/>
              <a:gd name="textAreaTop" fmla="*/ 0 h 201240"/>
              <a:gd name="textAreaBottom" fmla="*/ 201960 h 201240"/>
            </a:gdLst>
            <a:ahLst/>
            <a:cxnLst/>
            <a:rect l="textAreaLeft" t="textAreaTop" r="textAreaRight" b="textAreaBottom"/>
            <a:pathLst>
              <a:path w="138429" h="202056">
                <a:moveTo>
                  <a:pt x="27558" y="147954"/>
                </a:moveTo>
                <a:lnTo>
                  <a:pt x="126" y="147954"/>
                </a:lnTo>
                <a:lnTo>
                  <a:pt x="0" y="157225"/>
                </a:lnTo>
                <a:lnTo>
                  <a:pt x="2802" y="162940"/>
                </a:lnTo>
                <a:lnTo>
                  <a:pt x="2921" y="166115"/>
                </a:lnTo>
                <a:lnTo>
                  <a:pt x="32893" y="199135"/>
                </a:lnTo>
                <a:lnTo>
                  <a:pt x="44957" y="202056"/>
                </a:lnTo>
                <a:lnTo>
                  <a:pt x="78358" y="202056"/>
                </a:lnTo>
                <a:lnTo>
                  <a:pt x="90436" y="199135"/>
                </a:lnTo>
                <a:lnTo>
                  <a:pt x="114553" y="181101"/>
                </a:lnTo>
                <a:lnTo>
                  <a:pt x="114781" y="180720"/>
                </a:lnTo>
                <a:lnTo>
                  <a:pt x="54355" y="180720"/>
                </a:lnTo>
                <a:lnTo>
                  <a:pt x="48386" y="177799"/>
                </a:lnTo>
                <a:lnTo>
                  <a:pt x="39370" y="174878"/>
                </a:lnTo>
                <a:lnTo>
                  <a:pt x="33400" y="168909"/>
                </a:lnTo>
                <a:lnTo>
                  <a:pt x="30479" y="162940"/>
                </a:lnTo>
                <a:lnTo>
                  <a:pt x="27558" y="160007"/>
                </a:lnTo>
                <a:lnTo>
                  <a:pt x="27558" y="147954"/>
                </a:lnTo>
                <a:close/>
              </a:path>
              <a:path w="138429" h="202056">
                <a:moveTo>
                  <a:pt x="136073" y="108584"/>
                </a:moveTo>
                <a:lnTo>
                  <a:pt x="108203" y="108584"/>
                </a:lnTo>
                <a:lnTo>
                  <a:pt x="108203" y="126745"/>
                </a:lnTo>
                <a:lnTo>
                  <a:pt x="105282" y="138810"/>
                </a:lnTo>
                <a:lnTo>
                  <a:pt x="102361" y="147827"/>
                </a:lnTo>
                <a:lnTo>
                  <a:pt x="96393" y="159892"/>
                </a:lnTo>
                <a:lnTo>
                  <a:pt x="93472" y="168909"/>
                </a:lnTo>
                <a:lnTo>
                  <a:pt x="84454" y="174878"/>
                </a:lnTo>
                <a:lnTo>
                  <a:pt x="72516" y="180720"/>
                </a:lnTo>
                <a:lnTo>
                  <a:pt x="114781" y="180720"/>
                </a:lnTo>
                <a:lnTo>
                  <a:pt x="123571" y="165988"/>
                </a:lnTo>
                <a:lnTo>
                  <a:pt x="135508" y="123570"/>
                </a:lnTo>
                <a:lnTo>
                  <a:pt x="135533" y="111378"/>
                </a:lnTo>
                <a:lnTo>
                  <a:pt x="136073" y="108584"/>
                </a:lnTo>
                <a:close/>
              </a:path>
              <a:path w="138429" h="202056">
                <a:moveTo>
                  <a:pt x="81533" y="0"/>
                </a:moveTo>
                <a:lnTo>
                  <a:pt x="51180" y="0"/>
                </a:lnTo>
                <a:lnTo>
                  <a:pt x="39115" y="2920"/>
                </a:lnTo>
                <a:lnTo>
                  <a:pt x="27050" y="8889"/>
                </a:lnTo>
                <a:lnTo>
                  <a:pt x="9144" y="26796"/>
                </a:lnTo>
                <a:lnTo>
                  <a:pt x="3175" y="38861"/>
                </a:lnTo>
                <a:lnTo>
                  <a:pt x="253" y="50926"/>
                </a:lnTo>
                <a:lnTo>
                  <a:pt x="253" y="78358"/>
                </a:lnTo>
                <a:lnTo>
                  <a:pt x="27050" y="120395"/>
                </a:lnTo>
                <a:lnTo>
                  <a:pt x="45084" y="129285"/>
                </a:lnTo>
                <a:lnTo>
                  <a:pt x="78485" y="129285"/>
                </a:lnTo>
                <a:lnTo>
                  <a:pt x="87502" y="126364"/>
                </a:lnTo>
                <a:lnTo>
                  <a:pt x="96520" y="120395"/>
                </a:lnTo>
                <a:lnTo>
                  <a:pt x="99440" y="117474"/>
                </a:lnTo>
                <a:lnTo>
                  <a:pt x="102361" y="117474"/>
                </a:lnTo>
                <a:lnTo>
                  <a:pt x="105282" y="114553"/>
                </a:lnTo>
                <a:lnTo>
                  <a:pt x="108203" y="108584"/>
                </a:lnTo>
                <a:lnTo>
                  <a:pt x="136073" y="108584"/>
                </a:lnTo>
                <a:lnTo>
                  <a:pt x="136196" y="107949"/>
                </a:lnTo>
                <a:lnTo>
                  <a:pt x="66166" y="107949"/>
                </a:lnTo>
                <a:lnTo>
                  <a:pt x="48132" y="102107"/>
                </a:lnTo>
                <a:lnTo>
                  <a:pt x="36195" y="96265"/>
                </a:lnTo>
                <a:lnTo>
                  <a:pt x="33286" y="90296"/>
                </a:lnTo>
                <a:lnTo>
                  <a:pt x="30352" y="81279"/>
                </a:lnTo>
                <a:lnTo>
                  <a:pt x="27419" y="75310"/>
                </a:lnTo>
                <a:lnTo>
                  <a:pt x="27419" y="56768"/>
                </a:lnTo>
                <a:lnTo>
                  <a:pt x="30352" y="47751"/>
                </a:lnTo>
                <a:lnTo>
                  <a:pt x="33161" y="42036"/>
                </a:lnTo>
                <a:lnTo>
                  <a:pt x="33286" y="38861"/>
                </a:lnTo>
                <a:lnTo>
                  <a:pt x="48005" y="24129"/>
                </a:lnTo>
                <a:lnTo>
                  <a:pt x="57023" y="24129"/>
                </a:lnTo>
                <a:lnTo>
                  <a:pt x="66039" y="21208"/>
                </a:lnTo>
                <a:lnTo>
                  <a:pt x="117982" y="21208"/>
                </a:lnTo>
                <a:lnTo>
                  <a:pt x="105663" y="8889"/>
                </a:lnTo>
                <a:lnTo>
                  <a:pt x="93611" y="2920"/>
                </a:lnTo>
                <a:lnTo>
                  <a:pt x="81533" y="0"/>
                </a:lnTo>
                <a:close/>
              </a:path>
              <a:path w="138429" h="202056">
                <a:moveTo>
                  <a:pt x="117982" y="21208"/>
                </a:moveTo>
                <a:lnTo>
                  <a:pt x="66039" y="21208"/>
                </a:lnTo>
                <a:lnTo>
                  <a:pt x="75044" y="24129"/>
                </a:lnTo>
                <a:lnTo>
                  <a:pt x="84086" y="24129"/>
                </a:lnTo>
                <a:lnTo>
                  <a:pt x="101980" y="42036"/>
                </a:lnTo>
                <a:lnTo>
                  <a:pt x="104777" y="47751"/>
                </a:lnTo>
                <a:lnTo>
                  <a:pt x="104901" y="78358"/>
                </a:lnTo>
                <a:lnTo>
                  <a:pt x="101980" y="81279"/>
                </a:lnTo>
                <a:lnTo>
                  <a:pt x="99059" y="90296"/>
                </a:lnTo>
                <a:lnTo>
                  <a:pt x="99059" y="93217"/>
                </a:lnTo>
                <a:lnTo>
                  <a:pt x="96138" y="96138"/>
                </a:lnTo>
                <a:lnTo>
                  <a:pt x="90170" y="99059"/>
                </a:lnTo>
                <a:lnTo>
                  <a:pt x="81152" y="105028"/>
                </a:lnTo>
                <a:lnTo>
                  <a:pt x="75183" y="105028"/>
                </a:lnTo>
                <a:lnTo>
                  <a:pt x="66166" y="107949"/>
                </a:lnTo>
                <a:lnTo>
                  <a:pt x="136196" y="107949"/>
                </a:lnTo>
                <a:lnTo>
                  <a:pt x="138429" y="96392"/>
                </a:lnTo>
                <a:lnTo>
                  <a:pt x="135508" y="72135"/>
                </a:lnTo>
                <a:lnTo>
                  <a:pt x="132587" y="50926"/>
                </a:lnTo>
                <a:lnTo>
                  <a:pt x="123571" y="32765"/>
                </a:lnTo>
                <a:lnTo>
                  <a:pt x="123571" y="29832"/>
                </a:lnTo>
                <a:lnTo>
                  <a:pt x="120650" y="23875"/>
                </a:lnTo>
                <a:lnTo>
                  <a:pt x="117982" y="2120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bk object 82"/>
          <p:cNvSpPr/>
          <p:nvPr/>
        </p:nvSpPr>
        <p:spPr>
          <a:xfrm>
            <a:off x="8142480" y="6293520"/>
            <a:ext cx="71280" cy="200160"/>
          </a:xfrm>
          <a:custGeom>
            <a:avLst/>
            <a:gdLst>
              <a:gd name="textAreaLeft" fmla="*/ 0 w 71280"/>
              <a:gd name="textAreaRight" fmla="*/ 72000 w 71280"/>
              <a:gd name="textAreaTop" fmla="*/ 0 h 200160"/>
              <a:gd name="textAreaBottom" fmla="*/ 200880 h 200160"/>
            </a:gdLst>
            <a:ahLst/>
            <a:cxnLst/>
            <a:rect l="textAreaLeft" t="textAreaTop" r="textAreaRight" b="textAreaBottom"/>
            <a:pathLst>
              <a:path w="72135" h="201041">
                <a:moveTo>
                  <a:pt x="72135" y="0"/>
                </a:moveTo>
                <a:lnTo>
                  <a:pt x="53975" y="0"/>
                </a:lnTo>
                <a:lnTo>
                  <a:pt x="51053" y="2920"/>
                </a:lnTo>
                <a:lnTo>
                  <a:pt x="51053" y="8889"/>
                </a:lnTo>
                <a:lnTo>
                  <a:pt x="45211" y="20827"/>
                </a:lnTo>
                <a:lnTo>
                  <a:pt x="36207" y="26784"/>
                </a:lnTo>
                <a:lnTo>
                  <a:pt x="30225" y="32765"/>
                </a:lnTo>
                <a:lnTo>
                  <a:pt x="21208" y="35686"/>
                </a:lnTo>
                <a:lnTo>
                  <a:pt x="0" y="35686"/>
                </a:lnTo>
                <a:lnTo>
                  <a:pt x="0" y="56895"/>
                </a:lnTo>
                <a:lnTo>
                  <a:pt x="45593" y="56895"/>
                </a:lnTo>
                <a:lnTo>
                  <a:pt x="45593" y="200024"/>
                </a:lnTo>
                <a:lnTo>
                  <a:pt x="44703" y="201040"/>
                </a:lnTo>
                <a:lnTo>
                  <a:pt x="72135" y="201040"/>
                </a:lnTo>
                <a:lnTo>
                  <a:pt x="72135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bk object 83"/>
          <p:cNvSpPr/>
          <p:nvPr/>
        </p:nvSpPr>
        <p:spPr>
          <a:xfrm>
            <a:off x="8270280" y="6460200"/>
            <a:ext cx="29520" cy="32760"/>
          </a:xfrm>
          <a:custGeom>
            <a:avLst/>
            <a:gdLst>
              <a:gd name="textAreaLeft" fmla="*/ 0 w 29520"/>
              <a:gd name="textAreaRight" fmla="*/ 30240 w 29520"/>
              <a:gd name="textAreaTop" fmla="*/ 0 h 32760"/>
              <a:gd name="textAreaBottom" fmla="*/ 33480 h 32760"/>
            </a:gdLst>
            <a:ahLst/>
            <a:cxnLst/>
            <a:rect l="textAreaLeft" t="textAreaTop" r="textAreaRight" b="textAreaBottom"/>
            <a:pathLst>
              <a:path w="30353" h="33401">
                <a:moveTo>
                  <a:pt x="0" y="16700"/>
                </a:moveTo>
                <a:lnTo>
                  <a:pt x="30353" y="16700"/>
                </a:lnTo>
              </a:path>
            </a:pathLst>
          </a:custGeom>
          <a:noFill/>
          <a:ln w="34671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bk object 84"/>
          <p:cNvSpPr/>
          <p:nvPr/>
        </p:nvSpPr>
        <p:spPr>
          <a:xfrm>
            <a:off x="8330760" y="6293520"/>
            <a:ext cx="134640" cy="201960"/>
          </a:xfrm>
          <a:custGeom>
            <a:avLst/>
            <a:gdLst>
              <a:gd name="textAreaLeft" fmla="*/ 0 w 134640"/>
              <a:gd name="textAreaRight" fmla="*/ 135360 w 134640"/>
              <a:gd name="textAreaTop" fmla="*/ 0 h 201960"/>
              <a:gd name="textAreaBottom" fmla="*/ 202680 h 201960"/>
            </a:gdLst>
            <a:ahLst/>
            <a:cxnLst/>
            <a:rect l="textAreaLeft" t="textAreaTop" r="textAreaRight" b="textAreaBottom"/>
            <a:pathLst>
              <a:path w="135508" h="202564">
                <a:moveTo>
                  <a:pt x="93598" y="2920"/>
                </a:moveTo>
                <a:lnTo>
                  <a:pt x="42290" y="2920"/>
                </a:lnTo>
                <a:lnTo>
                  <a:pt x="30225" y="11937"/>
                </a:lnTo>
                <a:lnTo>
                  <a:pt x="18287" y="23875"/>
                </a:lnTo>
                <a:lnTo>
                  <a:pt x="18287" y="26784"/>
                </a:lnTo>
                <a:lnTo>
                  <a:pt x="12318" y="32765"/>
                </a:lnTo>
                <a:lnTo>
                  <a:pt x="12318" y="38734"/>
                </a:lnTo>
                <a:lnTo>
                  <a:pt x="9397" y="41655"/>
                </a:lnTo>
                <a:lnTo>
                  <a:pt x="6476" y="53720"/>
                </a:lnTo>
                <a:lnTo>
                  <a:pt x="3527" y="75310"/>
                </a:lnTo>
                <a:lnTo>
                  <a:pt x="634" y="102361"/>
                </a:lnTo>
                <a:lnTo>
                  <a:pt x="0" y="102742"/>
                </a:lnTo>
                <a:lnTo>
                  <a:pt x="5841" y="148335"/>
                </a:lnTo>
                <a:lnTo>
                  <a:pt x="29844" y="193674"/>
                </a:lnTo>
                <a:lnTo>
                  <a:pt x="53975" y="202564"/>
                </a:lnTo>
                <a:lnTo>
                  <a:pt x="81406" y="202564"/>
                </a:lnTo>
                <a:lnTo>
                  <a:pt x="93471" y="199643"/>
                </a:lnTo>
                <a:lnTo>
                  <a:pt x="105536" y="193674"/>
                </a:lnTo>
                <a:lnTo>
                  <a:pt x="117601" y="181609"/>
                </a:lnTo>
                <a:lnTo>
                  <a:pt x="117727" y="181355"/>
                </a:lnTo>
                <a:lnTo>
                  <a:pt x="69722" y="181355"/>
                </a:lnTo>
                <a:lnTo>
                  <a:pt x="60718" y="178434"/>
                </a:lnTo>
                <a:lnTo>
                  <a:pt x="54736" y="178434"/>
                </a:lnTo>
                <a:lnTo>
                  <a:pt x="45719" y="172465"/>
                </a:lnTo>
                <a:lnTo>
                  <a:pt x="39750" y="166484"/>
                </a:lnTo>
                <a:lnTo>
                  <a:pt x="36829" y="154431"/>
                </a:lnTo>
                <a:lnTo>
                  <a:pt x="33908" y="148462"/>
                </a:lnTo>
                <a:lnTo>
                  <a:pt x="30987" y="139445"/>
                </a:lnTo>
                <a:lnTo>
                  <a:pt x="30987" y="124332"/>
                </a:lnTo>
                <a:lnTo>
                  <a:pt x="28066" y="103123"/>
                </a:lnTo>
                <a:lnTo>
                  <a:pt x="27939" y="102361"/>
                </a:lnTo>
                <a:lnTo>
                  <a:pt x="30860" y="78104"/>
                </a:lnTo>
                <a:lnTo>
                  <a:pt x="30860" y="62991"/>
                </a:lnTo>
                <a:lnTo>
                  <a:pt x="33781" y="57022"/>
                </a:lnTo>
                <a:lnTo>
                  <a:pt x="39623" y="38988"/>
                </a:lnTo>
                <a:lnTo>
                  <a:pt x="45592" y="29959"/>
                </a:lnTo>
                <a:lnTo>
                  <a:pt x="54609" y="27050"/>
                </a:lnTo>
                <a:lnTo>
                  <a:pt x="60578" y="24129"/>
                </a:lnTo>
                <a:lnTo>
                  <a:pt x="119282" y="24129"/>
                </a:lnTo>
                <a:lnTo>
                  <a:pt x="117728" y="20954"/>
                </a:lnTo>
                <a:lnTo>
                  <a:pt x="93598" y="2920"/>
                </a:lnTo>
                <a:close/>
              </a:path>
              <a:path w="135508" h="202564">
                <a:moveTo>
                  <a:pt x="119282" y="24129"/>
                </a:moveTo>
                <a:lnTo>
                  <a:pt x="78739" y="24129"/>
                </a:lnTo>
                <a:lnTo>
                  <a:pt x="90677" y="29959"/>
                </a:lnTo>
                <a:lnTo>
                  <a:pt x="102615" y="48005"/>
                </a:lnTo>
                <a:lnTo>
                  <a:pt x="108534" y="62991"/>
                </a:lnTo>
                <a:lnTo>
                  <a:pt x="108534" y="139445"/>
                </a:lnTo>
                <a:lnTo>
                  <a:pt x="102615" y="154431"/>
                </a:lnTo>
                <a:lnTo>
                  <a:pt x="96646" y="166484"/>
                </a:lnTo>
                <a:lnTo>
                  <a:pt x="84708" y="178434"/>
                </a:lnTo>
                <a:lnTo>
                  <a:pt x="78739" y="178434"/>
                </a:lnTo>
                <a:lnTo>
                  <a:pt x="69722" y="181355"/>
                </a:lnTo>
                <a:lnTo>
                  <a:pt x="117727" y="181355"/>
                </a:lnTo>
                <a:lnTo>
                  <a:pt x="123570" y="169544"/>
                </a:lnTo>
                <a:lnTo>
                  <a:pt x="132587" y="148335"/>
                </a:lnTo>
                <a:lnTo>
                  <a:pt x="135508" y="130174"/>
                </a:lnTo>
                <a:lnTo>
                  <a:pt x="135456" y="74929"/>
                </a:lnTo>
                <a:lnTo>
                  <a:pt x="132587" y="54101"/>
                </a:lnTo>
                <a:lnTo>
                  <a:pt x="123508" y="32765"/>
                </a:lnTo>
                <a:lnTo>
                  <a:pt x="119282" y="24129"/>
                </a:lnTo>
                <a:close/>
              </a:path>
              <a:path w="135508" h="202564">
                <a:moveTo>
                  <a:pt x="81660" y="0"/>
                </a:moveTo>
                <a:lnTo>
                  <a:pt x="54228" y="0"/>
                </a:lnTo>
                <a:lnTo>
                  <a:pt x="48259" y="2920"/>
                </a:lnTo>
                <a:lnTo>
                  <a:pt x="87629" y="2920"/>
                </a:lnTo>
                <a:lnTo>
                  <a:pt x="8166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bk object 85"/>
          <p:cNvSpPr/>
          <p:nvPr/>
        </p:nvSpPr>
        <p:spPr>
          <a:xfrm>
            <a:off x="2387520" y="5539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bk object 86"/>
          <p:cNvSpPr/>
          <p:nvPr/>
        </p:nvSpPr>
        <p:spPr>
          <a:xfrm>
            <a:off x="2448360" y="5533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bk object 87"/>
          <p:cNvSpPr/>
          <p:nvPr/>
        </p:nvSpPr>
        <p:spPr>
          <a:xfrm>
            <a:off x="2506320" y="552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bk object 88"/>
          <p:cNvSpPr/>
          <p:nvPr/>
        </p:nvSpPr>
        <p:spPr>
          <a:xfrm>
            <a:off x="2567520" y="5524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bk object 89"/>
          <p:cNvSpPr/>
          <p:nvPr/>
        </p:nvSpPr>
        <p:spPr>
          <a:xfrm>
            <a:off x="2625120" y="551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bk object 90"/>
          <p:cNvSpPr/>
          <p:nvPr/>
        </p:nvSpPr>
        <p:spPr>
          <a:xfrm>
            <a:off x="2683440" y="5511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bk object 91"/>
          <p:cNvSpPr/>
          <p:nvPr/>
        </p:nvSpPr>
        <p:spPr>
          <a:xfrm>
            <a:off x="2744280" y="5505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bk object 92"/>
          <p:cNvSpPr/>
          <p:nvPr/>
        </p:nvSpPr>
        <p:spPr>
          <a:xfrm>
            <a:off x="2802240" y="5502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bk object 93"/>
          <p:cNvSpPr/>
          <p:nvPr/>
        </p:nvSpPr>
        <p:spPr>
          <a:xfrm>
            <a:off x="2863080" y="5496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bk object 94"/>
          <p:cNvSpPr/>
          <p:nvPr/>
        </p:nvSpPr>
        <p:spPr>
          <a:xfrm>
            <a:off x="2921040" y="5490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bk object 95"/>
          <p:cNvSpPr/>
          <p:nvPr/>
        </p:nvSpPr>
        <p:spPr>
          <a:xfrm>
            <a:off x="2981880" y="5484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bk object 96"/>
          <p:cNvSpPr/>
          <p:nvPr/>
        </p:nvSpPr>
        <p:spPr>
          <a:xfrm>
            <a:off x="3039840" y="5478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bk object 97"/>
          <p:cNvSpPr/>
          <p:nvPr/>
        </p:nvSpPr>
        <p:spPr>
          <a:xfrm>
            <a:off x="3097800" y="5472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bk object 98"/>
          <p:cNvSpPr/>
          <p:nvPr/>
        </p:nvSpPr>
        <p:spPr>
          <a:xfrm>
            <a:off x="3158640" y="5466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bk object 99"/>
          <p:cNvSpPr/>
          <p:nvPr/>
        </p:nvSpPr>
        <p:spPr>
          <a:xfrm>
            <a:off x="3216600" y="5460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bk object 100"/>
          <p:cNvSpPr/>
          <p:nvPr/>
        </p:nvSpPr>
        <p:spPr>
          <a:xfrm>
            <a:off x="3277440" y="545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bk object 101"/>
          <p:cNvSpPr/>
          <p:nvPr/>
        </p:nvSpPr>
        <p:spPr>
          <a:xfrm>
            <a:off x="3335400" y="544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bk object 102"/>
          <p:cNvSpPr/>
          <p:nvPr/>
        </p:nvSpPr>
        <p:spPr>
          <a:xfrm>
            <a:off x="3393360" y="5441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bk object 103"/>
          <p:cNvSpPr/>
          <p:nvPr/>
        </p:nvSpPr>
        <p:spPr>
          <a:xfrm>
            <a:off x="3454560" y="5432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bk object 104"/>
          <p:cNvSpPr/>
          <p:nvPr/>
        </p:nvSpPr>
        <p:spPr>
          <a:xfrm>
            <a:off x="3512520" y="5426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bk object 105"/>
          <p:cNvSpPr/>
          <p:nvPr/>
        </p:nvSpPr>
        <p:spPr>
          <a:xfrm>
            <a:off x="3573360" y="5420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bk object 106"/>
          <p:cNvSpPr/>
          <p:nvPr/>
        </p:nvSpPr>
        <p:spPr>
          <a:xfrm>
            <a:off x="3630960" y="5411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bk object 107"/>
          <p:cNvSpPr/>
          <p:nvPr/>
        </p:nvSpPr>
        <p:spPr>
          <a:xfrm>
            <a:off x="3692160" y="5405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bk object 108"/>
          <p:cNvSpPr/>
          <p:nvPr/>
        </p:nvSpPr>
        <p:spPr>
          <a:xfrm>
            <a:off x="3750120" y="539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bk object 109"/>
          <p:cNvSpPr/>
          <p:nvPr/>
        </p:nvSpPr>
        <p:spPr>
          <a:xfrm>
            <a:off x="3808080" y="539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bk object 110"/>
          <p:cNvSpPr/>
          <p:nvPr/>
        </p:nvSpPr>
        <p:spPr>
          <a:xfrm>
            <a:off x="3868920" y="5380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bk object 111"/>
          <p:cNvSpPr/>
          <p:nvPr/>
        </p:nvSpPr>
        <p:spPr>
          <a:xfrm>
            <a:off x="3926880" y="5374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1" name="bk object 112"/>
          <p:cNvSpPr/>
          <p:nvPr/>
        </p:nvSpPr>
        <p:spPr>
          <a:xfrm>
            <a:off x="3987720" y="536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bk object 113"/>
          <p:cNvSpPr/>
          <p:nvPr/>
        </p:nvSpPr>
        <p:spPr>
          <a:xfrm>
            <a:off x="4045680" y="5356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bk object 114"/>
          <p:cNvSpPr/>
          <p:nvPr/>
        </p:nvSpPr>
        <p:spPr>
          <a:xfrm>
            <a:off x="4103640" y="5347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bk object 115"/>
          <p:cNvSpPr/>
          <p:nvPr/>
        </p:nvSpPr>
        <p:spPr>
          <a:xfrm>
            <a:off x="4164480" y="5338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bk object 116"/>
          <p:cNvSpPr/>
          <p:nvPr/>
        </p:nvSpPr>
        <p:spPr>
          <a:xfrm>
            <a:off x="4222440" y="5329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6" name="bk object 117"/>
          <p:cNvSpPr/>
          <p:nvPr/>
        </p:nvSpPr>
        <p:spPr>
          <a:xfrm>
            <a:off x="4283640" y="5320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bk object 118"/>
          <p:cNvSpPr/>
          <p:nvPr/>
        </p:nvSpPr>
        <p:spPr>
          <a:xfrm>
            <a:off x="4341600" y="53110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bk object 119"/>
          <p:cNvSpPr/>
          <p:nvPr/>
        </p:nvSpPr>
        <p:spPr>
          <a:xfrm>
            <a:off x="4402080" y="530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bk object 120"/>
          <p:cNvSpPr/>
          <p:nvPr/>
        </p:nvSpPr>
        <p:spPr>
          <a:xfrm>
            <a:off x="4460040" y="5289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bk object 121"/>
          <p:cNvSpPr/>
          <p:nvPr/>
        </p:nvSpPr>
        <p:spPr>
          <a:xfrm>
            <a:off x="4518000" y="52804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bk object 122"/>
          <p:cNvSpPr/>
          <p:nvPr/>
        </p:nvSpPr>
        <p:spPr>
          <a:xfrm>
            <a:off x="4579200" y="5268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bk object 123"/>
          <p:cNvSpPr/>
          <p:nvPr/>
        </p:nvSpPr>
        <p:spPr>
          <a:xfrm>
            <a:off x="4637160" y="525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bk object 124"/>
          <p:cNvSpPr/>
          <p:nvPr/>
        </p:nvSpPr>
        <p:spPr>
          <a:xfrm>
            <a:off x="4698000" y="5247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bk object 125"/>
          <p:cNvSpPr/>
          <p:nvPr/>
        </p:nvSpPr>
        <p:spPr>
          <a:xfrm>
            <a:off x="4755960" y="5234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bk object 126"/>
          <p:cNvSpPr/>
          <p:nvPr/>
        </p:nvSpPr>
        <p:spPr>
          <a:xfrm>
            <a:off x="4816800" y="522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bk object 127"/>
          <p:cNvSpPr/>
          <p:nvPr/>
        </p:nvSpPr>
        <p:spPr>
          <a:xfrm>
            <a:off x="4874760" y="5210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bk object 128"/>
          <p:cNvSpPr/>
          <p:nvPr/>
        </p:nvSpPr>
        <p:spPr>
          <a:xfrm>
            <a:off x="4932720" y="5198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8" name="bk object 129"/>
          <p:cNvSpPr/>
          <p:nvPr/>
        </p:nvSpPr>
        <p:spPr>
          <a:xfrm>
            <a:off x="4993560" y="51858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bk object 130"/>
          <p:cNvSpPr/>
          <p:nvPr/>
        </p:nvSpPr>
        <p:spPr>
          <a:xfrm>
            <a:off x="5051520" y="517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0" name="bk object 131"/>
          <p:cNvSpPr/>
          <p:nvPr/>
        </p:nvSpPr>
        <p:spPr>
          <a:xfrm>
            <a:off x="5112720" y="5158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bk object 132"/>
          <p:cNvSpPr/>
          <p:nvPr/>
        </p:nvSpPr>
        <p:spPr>
          <a:xfrm>
            <a:off x="5170320" y="51433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bk object 133"/>
          <p:cNvSpPr/>
          <p:nvPr/>
        </p:nvSpPr>
        <p:spPr>
          <a:xfrm>
            <a:off x="5228280" y="51278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bk object 134"/>
          <p:cNvSpPr/>
          <p:nvPr/>
        </p:nvSpPr>
        <p:spPr>
          <a:xfrm>
            <a:off x="5289120" y="5112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bk object 135"/>
          <p:cNvSpPr/>
          <p:nvPr/>
        </p:nvSpPr>
        <p:spPr>
          <a:xfrm>
            <a:off x="5347080" y="5097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bk object 136"/>
          <p:cNvSpPr/>
          <p:nvPr/>
        </p:nvSpPr>
        <p:spPr>
          <a:xfrm>
            <a:off x="5407920" y="5079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bk object 137"/>
          <p:cNvSpPr/>
          <p:nvPr/>
        </p:nvSpPr>
        <p:spPr>
          <a:xfrm>
            <a:off x="5465880" y="5064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7" name="bk object 138"/>
          <p:cNvSpPr/>
          <p:nvPr/>
        </p:nvSpPr>
        <p:spPr>
          <a:xfrm>
            <a:off x="5527080" y="5045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bk object 139"/>
          <p:cNvSpPr/>
          <p:nvPr/>
        </p:nvSpPr>
        <p:spPr>
          <a:xfrm>
            <a:off x="5585040" y="50274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bk object 140"/>
          <p:cNvSpPr/>
          <p:nvPr/>
        </p:nvSpPr>
        <p:spPr>
          <a:xfrm>
            <a:off x="5642640" y="5009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bk object 141"/>
          <p:cNvSpPr/>
          <p:nvPr/>
        </p:nvSpPr>
        <p:spPr>
          <a:xfrm>
            <a:off x="5703840" y="4991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bk object 142"/>
          <p:cNvSpPr/>
          <p:nvPr/>
        </p:nvSpPr>
        <p:spPr>
          <a:xfrm>
            <a:off x="5761800" y="4969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bk object 143"/>
          <p:cNvSpPr/>
          <p:nvPr/>
        </p:nvSpPr>
        <p:spPr>
          <a:xfrm>
            <a:off x="5822640" y="494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3" name="bk object 144"/>
          <p:cNvSpPr/>
          <p:nvPr/>
        </p:nvSpPr>
        <p:spPr>
          <a:xfrm>
            <a:off x="5880600" y="492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bk object 145"/>
          <p:cNvSpPr/>
          <p:nvPr/>
        </p:nvSpPr>
        <p:spPr>
          <a:xfrm>
            <a:off x="5938560" y="4905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bk object 146"/>
          <p:cNvSpPr/>
          <p:nvPr/>
        </p:nvSpPr>
        <p:spPr>
          <a:xfrm>
            <a:off x="5999400" y="4880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bk object 147"/>
          <p:cNvSpPr/>
          <p:nvPr/>
        </p:nvSpPr>
        <p:spPr>
          <a:xfrm>
            <a:off x="6057360" y="4856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bk object 148"/>
          <p:cNvSpPr/>
          <p:nvPr/>
        </p:nvSpPr>
        <p:spPr>
          <a:xfrm>
            <a:off x="6118200" y="4832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bk object 149"/>
          <p:cNvSpPr/>
          <p:nvPr/>
        </p:nvSpPr>
        <p:spPr>
          <a:xfrm>
            <a:off x="6176160" y="4804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9" name="bk object 150"/>
          <p:cNvSpPr/>
          <p:nvPr/>
        </p:nvSpPr>
        <p:spPr>
          <a:xfrm>
            <a:off x="6237360" y="4777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bk object 151"/>
          <p:cNvSpPr/>
          <p:nvPr/>
        </p:nvSpPr>
        <p:spPr>
          <a:xfrm>
            <a:off x="6295320" y="4750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bk object 152"/>
          <p:cNvSpPr/>
          <p:nvPr/>
        </p:nvSpPr>
        <p:spPr>
          <a:xfrm>
            <a:off x="6353280" y="4719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2" name="bk object 153"/>
          <p:cNvSpPr/>
          <p:nvPr/>
        </p:nvSpPr>
        <p:spPr>
          <a:xfrm>
            <a:off x="6413760" y="468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3" name="bk object 154"/>
          <p:cNvSpPr/>
          <p:nvPr/>
        </p:nvSpPr>
        <p:spPr>
          <a:xfrm>
            <a:off x="6471720" y="4655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4" name="bk object 155"/>
          <p:cNvSpPr/>
          <p:nvPr/>
        </p:nvSpPr>
        <p:spPr>
          <a:xfrm>
            <a:off x="6532920" y="4619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bk object 156"/>
          <p:cNvSpPr/>
          <p:nvPr/>
        </p:nvSpPr>
        <p:spPr>
          <a:xfrm>
            <a:off x="6590880" y="45824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bk object 157"/>
          <p:cNvSpPr/>
          <p:nvPr/>
        </p:nvSpPr>
        <p:spPr>
          <a:xfrm>
            <a:off x="6651720" y="4545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33">
                <a:moveTo>
                  <a:pt x="0" y="0"/>
                </a:moveTo>
                <a:lnTo>
                  <a:pt x="2933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bk object 158"/>
          <p:cNvSpPr/>
          <p:nvPr/>
        </p:nvSpPr>
        <p:spPr>
          <a:xfrm>
            <a:off x="6709680" y="45061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8" name="bk object 159"/>
          <p:cNvSpPr/>
          <p:nvPr/>
        </p:nvSpPr>
        <p:spPr>
          <a:xfrm>
            <a:off x="6767640" y="4463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9" name="bk object 160"/>
          <p:cNvSpPr/>
          <p:nvPr/>
        </p:nvSpPr>
        <p:spPr>
          <a:xfrm>
            <a:off x="6828480" y="44179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bk object 161"/>
          <p:cNvSpPr/>
          <p:nvPr/>
        </p:nvSpPr>
        <p:spPr>
          <a:xfrm>
            <a:off x="6886440" y="4372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1" name="bk object 162"/>
          <p:cNvSpPr/>
          <p:nvPr/>
        </p:nvSpPr>
        <p:spPr>
          <a:xfrm>
            <a:off x="6947280" y="4320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2" name="bk object 163"/>
          <p:cNvSpPr/>
          <p:nvPr/>
        </p:nvSpPr>
        <p:spPr>
          <a:xfrm>
            <a:off x="7005240" y="426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3" name="bk object 164"/>
          <p:cNvSpPr/>
          <p:nvPr/>
        </p:nvSpPr>
        <p:spPr>
          <a:xfrm>
            <a:off x="7063200" y="42105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4" name="bk object 165"/>
          <p:cNvSpPr/>
          <p:nvPr/>
        </p:nvSpPr>
        <p:spPr>
          <a:xfrm>
            <a:off x="7124040" y="41526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5" name="bk object 166"/>
          <p:cNvSpPr/>
          <p:nvPr/>
        </p:nvSpPr>
        <p:spPr>
          <a:xfrm>
            <a:off x="7182000" y="4088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bk object 167"/>
          <p:cNvSpPr/>
          <p:nvPr/>
        </p:nvSpPr>
        <p:spPr>
          <a:xfrm>
            <a:off x="7242840" y="4018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bk object 168"/>
          <p:cNvSpPr/>
          <p:nvPr/>
        </p:nvSpPr>
        <p:spPr>
          <a:xfrm>
            <a:off x="7300800" y="3945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bk object 169"/>
          <p:cNvSpPr/>
          <p:nvPr/>
        </p:nvSpPr>
        <p:spPr>
          <a:xfrm>
            <a:off x="7362000" y="38660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bk object 170"/>
          <p:cNvSpPr/>
          <p:nvPr/>
        </p:nvSpPr>
        <p:spPr>
          <a:xfrm>
            <a:off x="7419960" y="3783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bk object 171"/>
          <p:cNvSpPr/>
          <p:nvPr/>
        </p:nvSpPr>
        <p:spPr>
          <a:xfrm>
            <a:off x="7477560" y="36925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1" name="bk object 172"/>
          <p:cNvSpPr/>
          <p:nvPr/>
        </p:nvSpPr>
        <p:spPr>
          <a:xfrm>
            <a:off x="7538760" y="359172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2" name="bk object 173"/>
          <p:cNvSpPr/>
          <p:nvPr/>
        </p:nvSpPr>
        <p:spPr>
          <a:xfrm>
            <a:off x="7596720" y="3485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bk object 174"/>
          <p:cNvSpPr/>
          <p:nvPr/>
        </p:nvSpPr>
        <p:spPr>
          <a:xfrm>
            <a:off x="7657560" y="33663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bk object 175"/>
          <p:cNvSpPr/>
          <p:nvPr/>
        </p:nvSpPr>
        <p:spPr>
          <a:xfrm>
            <a:off x="7715520" y="32382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bk object 176"/>
          <p:cNvSpPr/>
          <p:nvPr/>
        </p:nvSpPr>
        <p:spPr>
          <a:xfrm>
            <a:off x="7773480" y="30981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2">
                <a:moveTo>
                  <a:pt x="0" y="0"/>
                </a:moveTo>
                <a:lnTo>
                  <a:pt x="2922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6" name="bk object 177"/>
          <p:cNvSpPr/>
          <p:nvPr/>
        </p:nvSpPr>
        <p:spPr>
          <a:xfrm>
            <a:off x="7834320" y="29426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7" name="bk object 178"/>
          <p:cNvSpPr/>
          <p:nvPr/>
        </p:nvSpPr>
        <p:spPr>
          <a:xfrm>
            <a:off x="7892280" y="27687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8" name="bk object 179"/>
          <p:cNvSpPr/>
          <p:nvPr/>
        </p:nvSpPr>
        <p:spPr>
          <a:xfrm>
            <a:off x="7953480" y="25768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bk object 180"/>
          <p:cNvSpPr/>
          <p:nvPr/>
        </p:nvSpPr>
        <p:spPr>
          <a:xfrm>
            <a:off x="8011080" y="23572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08">
                <a:moveTo>
                  <a:pt x="0" y="0"/>
                </a:moveTo>
                <a:lnTo>
                  <a:pt x="2908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bk object 181"/>
          <p:cNvSpPr/>
          <p:nvPr/>
        </p:nvSpPr>
        <p:spPr>
          <a:xfrm>
            <a:off x="8071920" y="211068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19">
                <a:moveTo>
                  <a:pt x="0" y="0"/>
                </a:moveTo>
                <a:lnTo>
                  <a:pt x="2919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1" name="bk object 182"/>
          <p:cNvSpPr/>
          <p:nvPr/>
        </p:nvSpPr>
        <p:spPr>
          <a:xfrm>
            <a:off x="8129880" y="183024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bk object 183"/>
          <p:cNvSpPr/>
          <p:nvPr/>
        </p:nvSpPr>
        <p:spPr>
          <a:xfrm>
            <a:off x="8187840" y="1506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bk object 184"/>
          <p:cNvSpPr/>
          <p:nvPr/>
        </p:nvSpPr>
        <p:spPr>
          <a:xfrm>
            <a:off x="8248680" y="112896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1">
                <a:moveTo>
                  <a:pt x="0" y="0"/>
                </a:moveTo>
                <a:lnTo>
                  <a:pt x="2921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4" name="bk object 185"/>
          <p:cNvSpPr/>
          <p:nvPr/>
        </p:nvSpPr>
        <p:spPr>
          <a:xfrm>
            <a:off x="8306640" y="684000"/>
            <a:ext cx="2160" cy="360"/>
          </a:xfrm>
          <a:custGeom>
            <a:avLst/>
            <a:gdLst>
              <a:gd name="textAreaLeft" fmla="*/ 0 w 2160"/>
              <a:gd name="textAreaRight" fmla="*/ 2880 w 2160"/>
              <a:gd name="textAreaTop" fmla="*/ 0 h 360"/>
              <a:gd name="textAreaBottom" fmla="*/ 1440 h 360"/>
            </a:gdLst>
            <a:ahLst/>
            <a:cxnLst/>
            <a:rect l="textAreaLeft" t="textAreaTop" r="textAreaRight" b="textAreaBottom"/>
            <a:pathLst>
              <a:path w="2920">
                <a:moveTo>
                  <a:pt x="0" y="0"/>
                </a:moveTo>
                <a:lnTo>
                  <a:pt x="2920" y="0"/>
                </a:lnTo>
              </a:path>
            </a:pathLst>
          </a:custGeom>
          <a:noFill/>
          <a:ln w="317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5" name="bk object 186"/>
          <p:cNvSpPr/>
          <p:nvPr/>
        </p:nvSpPr>
        <p:spPr>
          <a:xfrm>
            <a:off x="2387520" y="695160"/>
            <a:ext cx="5905800" cy="4843440"/>
          </a:xfrm>
          <a:custGeom>
            <a:avLst/>
            <a:gdLst>
              <a:gd name="textAreaLeft" fmla="*/ 0 w 5905800"/>
              <a:gd name="textAreaRight" fmla="*/ 5906520 w 5905800"/>
              <a:gd name="textAreaTop" fmla="*/ 0 h 4843440"/>
              <a:gd name="textAreaBottom" fmla="*/ 4844160 h 4843440"/>
            </a:gdLst>
            <a:ahLst/>
            <a:cxnLst/>
            <a:rect l="textAreaLeft" t="textAreaTop" r="textAreaRight" b="textAreaBottom"/>
            <a:pathLst>
              <a:path w="5906515" h="4844288">
                <a:moveTo>
                  <a:pt x="0" y="4844288"/>
                </a:moveTo>
                <a:lnTo>
                  <a:pt x="60832" y="4838319"/>
                </a:lnTo>
                <a:lnTo>
                  <a:pt x="118617" y="4832350"/>
                </a:lnTo>
                <a:lnTo>
                  <a:pt x="179450" y="4829429"/>
                </a:lnTo>
                <a:lnTo>
                  <a:pt x="237235" y="4823459"/>
                </a:lnTo>
                <a:lnTo>
                  <a:pt x="295020" y="4817491"/>
                </a:lnTo>
                <a:lnTo>
                  <a:pt x="355853" y="4811521"/>
                </a:lnTo>
                <a:lnTo>
                  <a:pt x="413638" y="4808601"/>
                </a:lnTo>
                <a:lnTo>
                  <a:pt x="474471" y="4802632"/>
                </a:lnTo>
                <a:lnTo>
                  <a:pt x="532256" y="4796663"/>
                </a:lnTo>
                <a:lnTo>
                  <a:pt x="593089" y="4790694"/>
                </a:lnTo>
                <a:lnTo>
                  <a:pt x="650874" y="4784725"/>
                </a:lnTo>
                <a:lnTo>
                  <a:pt x="708659" y="4778756"/>
                </a:lnTo>
                <a:lnTo>
                  <a:pt x="769492" y="4772786"/>
                </a:lnTo>
                <a:lnTo>
                  <a:pt x="827277" y="4766818"/>
                </a:lnTo>
                <a:lnTo>
                  <a:pt x="888110" y="4760849"/>
                </a:lnTo>
                <a:lnTo>
                  <a:pt x="1003680" y="4748910"/>
                </a:lnTo>
                <a:lnTo>
                  <a:pt x="1064513" y="4739894"/>
                </a:lnTo>
                <a:lnTo>
                  <a:pt x="1122298" y="4733925"/>
                </a:lnTo>
                <a:lnTo>
                  <a:pt x="1183131" y="4727956"/>
                </a:lnTo>
                <a:lnTo>
                  <a:pt x="1240916" y="4718938"/>
                </a:lnTo>
                <a:lnTo>
                  <a:pt x="1301749" y="4712970"/>
                </a:lnTo>
                <a:lnTo>
                  <a:pt x="1359534" y="4703953"/>
                </a:lnTo>
                <a:lnTo>
                  <a:pt x="1417319" y="4697983"/>
                </a:lnTo>
                <a:lnTo>
                  <a:pt x="1478152" y="4688967"/>
                </a:lnTo>
                <a:lnTo>
                  <a:pt x="1535937" y="4682998"/>
                </a:lnTo>
                <a:lnTo>
                  <a:pt x="1596770" y="4673981"/>
                </a:lnTo>
                <a:lnTo>
                  <a:pt x="1654555" y="4664963"/>
                </a:lnTo>
                <a:lnTo>
                  <a:pt x="1712340" y="4655947"/>
                </a:lnTo>
                <a:lnTo>
                  <a:pt x="1773173" y="4646930"/>
                </a:lnTo>
                <a:lnTo>
                  <a:pt x="1830958" y="4637912"/>
                </a:lnTo>
                <a:lnTo>
                  <a:pt x="1891791" y="4628896"/>
                </a:lnTo>
                <a:lnTo>
                  <a:pt x="1949576" y="4619879"/>
                </a:lnTo>
                <a:lnTo>
                  <a:pt x="2010409" y="4610861"/>
                </a:lnTo>
                <a:lnTo>
                  <a:pt x="2068194" y="4598797"/>
                </a:lnTo>
                <a:lnTo>
                  <a:pt x="2125979" y="4589780"/>
                </a:lnTo>
                <a:lnTo>
                  <a:pt x="2186812" y="4577715"/>
                </a:lnTo>
                <a:lnTo>
                  <a:pt x="2244597" y="4568698"/>
                </a:lnTo>
                <a:lnTo>
                  <a:pt x="2305430" y="4556633"/>
                </a:lnTo>
                <a:lnTo>
                  <a:pt x="2363215" y="4544568"/>
                </a:lnTo>
                <a:lnTo>
                  <a:pt x="2424048" y="4532503"/>
                </a:lnTo>
                <a:lnTo>
                  <a:pt x="2481833" y="4520437"/>
                </a:lnTo>
                <a:lnTo>
                  <a:pt x="2539618" y="4508373"/>
                </a:lnTo>
                <a:lnTo>
                  <a:pt x="2600451" y="4496308"/>
                </a:lnTo>
                <a:lnTo>
                  <a:pt x="2658236" y="4481195"/>
                </a:lnTo>
                <a:lnTo>
                  <a:pt x="2719069" y="4469130"/>
                </a:lnTo>
                <a:lnTo>
                  <a:pt x="2776854" y="4454017"/>
                </a:lnTo>
                <a:lnTo>
                  <a:pt x="2834639" y="4438904"/>
                </a:lnTo>
                <a:lnTo>
                  <a:pt x="2895472" y="4423791"/>
                </a:lnTo>
                <a:lnTo>
                  <a:pt x="2953257" y="4408678"/>
                </a:lnTo>
                <a:lnTo>
                  <a:pt x="3014090" y="4390517"/>
                </a:lnTo>
                <a:lnTo>
                  <a:pt x="3071875" y="4375404"/>
                </a:lnTo>
                <a:lnTo>
                  <a:pt x="3132708" y="4357243"/>
                </a:lnTo>
                <a:lnTo>
                  <a:pt x="3190493" y="4339082"/>
                </a:lnTo>
                <a:lnTo>
                  <a:pt x="3248278" y="4320921"/>
                </a:lnTo>
                <a:lnTo>
                  <a:pt x="3309111" y="4302759"/>
                </a:lnTo>
                <a:lnTo>
                  <a:pt x="3366896" y="4281551"/>
                </a:lnTo>
                <a:lnTo>
                  <a:pt x="3427729" y="4260342"/>
                </a:lnTo>
                <a:lnTo>
                  <a:pt x="3543299" y="4217924"/>
                </a:lnTo>
                <a:lnTo>
                  <a:pt x="3604132" y="4193666"/>
                </a:lnTo>
                <a:lnTo>
                  <a:pt x="3661917" y="4169409"/>
                </a:lnTo>
                <a:lnTo>
                  <a:pt x="3722750" y="4145153"/>
                </a:lnTo>
                <a:lnTo>
                  <a:pt x="3780535" y="4117721"/>
                </a:lnTo>
                <a:lnTo>
                  <a:pt x="3841368" y="4090288"/>
                </a:lnTo>
                <a:lnTo>
                  <a:pt x="3899153" y="4062856"/>
                </a:lnTo>
                <a:lnTo>
                  <a:pt x="3956938" y="4032504"/>
                </a:lnTo>
                <a:lnTo>
                  <a:pt x="4017771" y="3999103"/>
                </a:lnTo>
                <a:lnTo>
                  <a:pt x="4075556" y="3968750"/>
                </a:lnTo>
                <a:lnTo>
                  <a:pt x="4136389" y="3932301"/>
                </a:lnTo>
                <a:lnTo>
                  <a:pt x="4194174" y="3895852"/>
                </a:lnTo>
                <a:lnTo>
                  <a:pt x="4255007" y="3859403"/>
                </a:lnTo>
                <a:lnTo>
                  <a:pt x="4312792" y="3819779"/>
                </a:lnTo>
                <a:lnTo>
                  <a:pt x="4370577" y="3777221"/>
                </a:lnTo>
                <a:lnTo>
                  <a:pt x="4431410" y="3731641"/>
                </a:lnTo>
                <a:lnTo>
                  <a:pt x="4489195" y="3686048"/>
                </a:lnTo>
                <a:lnTo>
                  <a:pt x="4550028" y="3634231"/>
                </a:lnTo>
                <a:lnTo>
                  <a:pt x="4607812" y="3582416"/>
                </a:lnTo>
                <a:lnTo>
                  <a:pt x="4665598" y="3524630"/>
                </a:lnTo>
                <a:lnTo>
                  <a:pt x="4726431" y="3466846"/>
                </a:lnTo>
                <a:lnTo>
                  <a:pt x="4784216" y="3402837"/>
                </a:lnTo>
                <a:lnTo>
                  <a:pt x="4845049" y="3332860"/>
                </a:lnTo>
                <a:lnTo>
                  <a:pt x="4902834" y="3259835"/>
                </a:lnTo>
                <a:lnTo>
                  <a:pt x="4963667" y="3180587"/>
                </a:lnTo>
                <a:lnTo>
                  <a:pt x="5021452" y="3098418"/>
                </a:lnTo>
                <a:lnTo>
                  <a:pt x="5079237" y="3007105"/>
                </a:lnTo>
                <a:lnTo>
                  <a:pt x="5140070" y="2906649"/>
                </a:lnTo>
                <a:lnTo>
                  <a:pt x="5197855" y="2799968"/>
                </a:lnTo>
                <a:lnTo>
                  <a:pt x="5258687" y="2681224"/>
                </a:lnTo>
                <a:lnTo>
                  <a:pt x="5316473" y="2553207"/>
                </a:lnTo>
                <a:lnTo>
                  <a:pt x="5374258" y="2413127"/>
                </a:lnTo>
                <a:lnTo>
                  <a:pt x="5435091" y="2257679"/>
                </a:lnTo>
                <a:lnTo>
                  <a:pt x="5492875" y="2084069"/>
                </a:lnTo>
                <a:lnTo>
                  <a:pt x="5553709" y="1892172"/>
                </a:lnTo>
                <a:lnTo>
                  <a:pt x="5611494" y="1672716"/>
                </a:lnTo>
                <a:lnTo>
                  <a:pt x="5672327" y="1425955"/>
                </a:lnTo>
                <a:lnTo>
                  <a:pt x="5730112" y="1145666"/>
                </a:lnTo>
                <a:lnTo>
                  <a:pt x="5787897" y="822705"/>
                </a:lnTo>
                <a:lnTo>
                  <a:pt x="5848730" y="444880"/>
                </a:lnTo>
                <a:lnTo>
                  <a:pt x="5906515" y="0"/>
                </a:lnTo>
              </a:path>
            </a:pathLst>
          </a:custGeom>
          <a:noFill/>
          <a:ln w="635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6" name="bk object 187"/>
          <p:cNvSpPr/>
          <p:nvPr/>
        </p:nvSpPr>
        <p:spPr>
          <a:xfrm>
            <a:off x="3711600" y="1895040"/>
            <a:ext cx="2564640" cy="659520"/>
          </a:xfrm>
          <a:custGeom>
            <a:avLst/>
            <a:gdLst>
              <a:gd name="textAreaLeft" fmla="*/ 0 w 2564640"/>
              <a:gd name="textAreaRight" fmla="*/ 2565360 w 2564640"/>
              <a:gd name="textAreaTop" fmla="*/ 0 h 659520"/>
              <a:gd name="textAreaBottom" fmla="*/ 660240 h 659520"/>
            </a:gdLst>
            <a:ahLst/>
            <a:cxnLst/>
            <a:rect l="textAreaLeft" t="textAreaTop" r="textAreaRight" b="textAreaBottom"/>
            <a:pathLst>
              <a:path w="2565400" h="660400">
                <a:moveTo>
                  <a:pt x="0" y="660400"/>
                </a:moveTo>
                <a:lnTo>
                  <a:pt x="2565400" y="660400"/>
                </a:lnTo>
                <a:lnTo>
                  <a:pt x="2565400" y="0"/>
                </a:lnTo>
                <a:lnTo>
                  <a:pt x="0" y="0"/>
                </a:lnTo>
                <a:lnTo>
                  <a:pt x="0" y="66040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3568320" y="1161000"/>
            <a:ext cx="2920680" cy="48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ftr" idx="10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89" name="PlaceHolder 3"/>
          <p:cNvSpPr>
            <a:spLocks noGrp="1"/>
          </p:cNvSpPr>
          <p:nvPr>
            <p:ph type="dt" idx="11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sldNum" idx="12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61F9705-5889-4F40-9C66-F2C11886F55A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ftr" idx="13"/>
          </p:nvPr>
        </p:nvSpPr>
        <p:spPr>
          <a:xfrm>
            <a:off x="3420000" y="7228440"/>
            <a:ext cx="32180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192" name="PlaceHolder 2"/>
          <p:cNvSpPr>
            <a:spLocks noGrp="1"/>
          </p:cNvSpPr>
          <p:nvPr>
            <p:ph type="dt" idx="14"/>
          </p:nvPr>
        </p:nvSpPr>
        <p:spPr>
          <a:xfrm>
            <a:off x="502920" y="7228440"/>
            <a:ext cx="2312640" cy="388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15"/>
          </p:nvPr>
        </p:nvSpPr>
        <p:spPr>
          <a:xfrm>
            <a:off x="8089920" y="7223400"/>
            <a:ext cx="1568160" cy="20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12600"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marL="12600"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O</a:t>
            </a:r>
            <a:r>
              <a:rPr lang="en-US" sz="1500" b="0" i="1" u="none" strike="noStrike" spc="-88" baseline="2000">
                <a:solidFill>
                  <a:schemeClr val="dk1"/>
                </a:solidFill>
                <a:effectLst/>
                <a:uFillTx/>
                <a:latin typeface="Arial"/>
              </a:rPr>
              <a:t>c </a:t>
            </a:r>
            <a:r>
              <a:rPr lang="en-US" sz="1500" b="0" i="1" u="none" strike="noStrike" spc="74" baseline="2000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510">
                <a:solidFill>
                  <a:schemeClr val="dk1"/>
                </a:solidFill>
                <a:effectLst/>
                <a:uFillTx/>
                <a:latin typeface="Arial"/>
              </a:rPr>
              <a:t>C.</a:t>
            </a:r>
            <a:r>
              <a:rPr lang="en-US" sz="1000" b="0" i="1" u="none" strike="noStrike" spc="51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20">
                <a:solidFill>
                  <a:schemeClr val="dk1"/>
                </a:solidFill>
                <a:effectLst/>
                <a:uFillTx/>
                <a:latin typeface="Arial"/>
              </a:rPr>
              <a:t>D.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-31">
                <a:solidFill>
                  <a:schemeClr val="dk1"/>
                </a:solidFill>
                <a:effectLst/>
                <a:uFillTx/>
                <a:latin typeface="Arial"/>
              </a:rPr>
              <a:t>Ca</a:t>
            </a:r>
            <a:r>
              <a:rPr lang="en-US" sz="1000" b="0" i="1" u="none" strike="noStrike" spc="-60">
                <a:solidFill>
                  <a:schemeClr val="dk1"/>
                </a:solidFill>
                <a:effectLst/>
                <a:uFillTx/>
                <a:latin typeface="Arial"/>
              </a:rPr>
              <a:t>n</a:t>
            </a:r>
            <a:r>
              <a:rPr lang="en-US" sz="1000" b="0" i="1" u="none" strike="noStrike" spc="31">
                <a:solidFill>
                  <a:schemeClr val="dk1"/>
                </a:solidFill>
                <a:effectLst/>
                <a:uFillTx/>
                <a:latin typeface="Arial"/>
              </a:rPr>
              <a:t>trell</a:t>
            </a:r>
            <a:r>
              <a:rPr lang="en-US" sz="1000" b="0" i="1" u="none" strike="noStrike" spc="45">
                <a:solidFill>
                  <a:schemeClr val="dk1"/>
                </a:solidFill>
                <a:effectLst/>
                <a:uFillTx/>
                <a:latin typeface="Arial"/>
              </a:rPr>
              <a:t> </a:t>
            </a:r>
            <a:r>
              <a:rPr lang="en-US" sz="1000" b="0" i="1" u="none" strike="noStrike" spc="34">
                <a:solidFill>
                  <a:schemeClr val="dk1"/>
                </a:solidFill>
                <a:effectLst/>
                <a:uFillTx/>
                <a:latin typeface="Arial"/>
              </a:rPr>
              <a:t>(09/</a:t>
            </a:r>
            <a:fld id="{0EBD7EAC-8FD1-4434-9C95-79BE485A3A12}" type="slidenum">
              <a:rPr lang="en-US" sz="1000" b="0" i="1" u="none" strike="noStrike" spc="-65">
                <a:solidFill>
                  <a:schemeClr val="dk1"/>
                </a:solidFill>
                <a:effectLst/>
                <a:uFillTx/>
                <a:latin typeface="Arial"/>
              </a:rPr>
              <a:t>‹#›</a:t>
            </a:fld>
            <a:r>
              <a:rPr lang="en-US" sz="1000" b="0" i="1" u="none" strike="noStrike" spc="-20">
                <a:solidFill>
                  <a:schemeClr val="dk1"/>
                </a:solidFill>
                <a:effectLst/>
                <a:uFillTx/>
                <a:latin typeface="Arial"/>
              </a:rPr>
              <a:t>98)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1840" cy="1297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body"/>
          </p:nvPr>
        </p:nvSpPr>
        <p:spPr>
          <a:xfrm>
            <a:off x="502920" y="1818720"/>
            <a:ext cx="9051840" cy="450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19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1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3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5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6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7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29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1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2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3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4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5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6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39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1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0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1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2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8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3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89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0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91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02920" y="311400"/>
            <a:ext cx="905184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502920" y="1739880"/>
            <a:ext cx="44434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502920" y="2464920"/>
            <a:ext cx="44434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5109480" y="1739880"/>
            <a:ext cx="4445280" cy="724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527"/>
              </a:spcBef>
              <a:buNone/>
              <a:tabLst>
                <a:tab pos="0" algn="l"/>
              </a:tabLst>
            </a:pPr>
            <a:r>
              <a:rPr lang="en-US" sz="2640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5109480" y="2464920"/>
            <a:ext cx="4445280" cy="44773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14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29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5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3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4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5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07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8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9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2920" y="309600"/>
            <a:ext cx="3308400" cy="13161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3932640" y="309600"/>
            <a:ext cx="5622120" cy="663264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703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502920" y="1626480"/>
            <a:ext cx="3308400" cy="53157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1971360" y="5440680"/>
            <a:ext cx="6034320" cy="64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1971360" y="694440"/>
            <a:ext cx="6034320" cy="466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2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picture</a:t>
            </a:r>
            <a:endParaRPr lang="en-US" sz="35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body"/>
          </p:nvPr>
        </p:nvSpPr>
        <p:spPr>
          <a:xfrm>
            <a:off x="1971360" y="6082920"/>
            <a:ext cx="6034320" cy="911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309"/>
              </a:spcBef>
              <a:buNone/>
              <a:tabLst>
                <a:tab pos="0" algn="l"/>
              </a:tabLst>
            </a:pPr>
            <a:r>
              <a:rPr lang="en-US" sz="15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15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tangle 21" hidden="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1" name="Text Box 22" hidden="1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2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3" name="Rectangle 29" hidden="1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4" name="Rectangle 3"/>
          <p:cNvSpPr/>
          <p:nvPr/>
        </p:nvSpPr>
        <p:spPr>
          <a:xfrm>
            <a:off x="2514600" y="0"/>
            <a:ext cx="7543080" cy="603720"/>
          </a:xfrm>
          <a:prstGeom prst="rect">
            <a:avLst/>
          </a:prstGeom>
          <a:solidFill>
            <a:srgbClr val="6C9D30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5" name="Rectangle 4"/>
          <p:cNvSpPr/>
          <p:nvPr/>
        </p:nvSpPr>
        <p:spPr>
          <a:xfrm>
            <a:off x="0" y="0"/>
            <a:ext cx="2513880" cy="603720"/>
          </a:xfrm>
          <a:prstGeom prst="rect">
            <a:avLst/>
          </a:prstGeom>
          <a:solidFill>
            <a:srgbClr val="E4701D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6" name="Line 9"/>
          <p:cNvSpPr/>
          <p:nvPr/>
        </p:nvSpPr>
        <p:spPr>
          <a:xfrm>
            <a:off x="0" y="60444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7" name="Line 10"/>
          <p:cNvSpPr/>
          <p:nvPr/>
        </p:nvSpPr>
        <p:spPr>
          <a:xfrm>
            <a:off x="2514600" y="0"/>
            <a:ext cx="360" cy="60444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28" name="Text Box 11"/>
          <p:cNvSpPr/>
          <p:nvPr/>
        </p:nvSpPr>
        <p:spPr>
          <a:xfrm>
            <a:off x="381600" y="102600"/>
            <a:ext cx="1625400" cy="396360"/>
          </a:xfrm>
          <a:prstGeom prst="rect">
            <a:avLst/>
          </a:prstGeom>
          <a:noFill/>
          <a:ln w="9525">
            <a:noFill/>
          </a:ln>
          <a:effectLst>
            <a:outerShdw dist="25455" dir="2700000" algn="ctr" rotWithShape="0">
              <a:srgbClr val="808080"/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79" b="1" u="none" strike="noStrike">
                <a:solidFill>
                  <a:srgbClr val="FFFFFF"/>
                </a:solidFill>
                <a:effectLst/>
                <a:uFillTx/>
                <a:latin typeface="Times New Roman"/>
                <a:ea typeface="ＭＳ Ｐゴシック"/>
              </a:rPr>
              <a:t>UT DALLAS</a:t>
            </a:r>
            <a:endParaRPr lang="en-US" sz="19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Box 12"/>
          <p:cNvSpPr/>
          <p:nvPr/>
        </p:nvSpPr>
        <p:spPr>
          <a:xfrm>
            <a:off x="2682360" y="136800"/>
            <a:ext cx="6788880" cy="32868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771"/>
              </a:spcBef>
            </a:pPr>
            <a:r>
              <a:rPr lang="en-US" sz="154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Erik Jonsson School of Engineering &amp; Computer Science</a:t>
            </a:r>
            <a:endParaRPr lang="en-US" sz="15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Rectangle 9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1" name="Text Box 14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2" name="Picture 16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3" name="Line 17"/>
          <p:cNvSpPr/>
          <p:nvPr/>
        </p:nvSpPr>
        <p:spPr>
          <a:xfrm>
            <a:off x="0" y="7081200"/>
            <a:ext cx="10058400" cy="360"/>
          </a:xfrm>
          <a:prstGeom prst="line">
            <a:avLst/>
          </a:prstGeom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ctr">
            <a:noAutofit/>
          </a:bodyPr>
          <a:lstStyle/>
          <a:p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754560" y="1986120"/>
            <a:ext cx="8548920" cy="1294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959" b="1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9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Default 6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3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efault 7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7166520" y="172800"/>
            <a:ext cx="213660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754560" y="172800"/>
            <a:ext cx="6243840" cy="5180760"/>
          </a:xfrm>
          <a:prstGeom prst="rect">
            <a:avLst/>
          </a:prstGeom>
          <a:noFill/>
          <a:ln w="9360">
            <a:noFill/>
          </a:ln>
        </p:spPr>
        <p:txBody>
          <a:bodyPr vert="eaVert"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Default 8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4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 type="body"/>
          </p:nvPr>
        </p:nvSpPr>
        <p:spPr>
          <a:xfrm>
            <a:off x="5113080" y="3670200"/>
            <a:ext cx="4190400" cy="16833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Default 9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6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7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8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59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icon to add table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0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2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3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64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854892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51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76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7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1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68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0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1" name="PlaceHolder 1"/>
          <p:cNvSpPr>
            <a:spLocks noGrp="1"/>
          </p:cNvSpPr>
          <p:nvPr>
            <p:ph type="title"/>
          </p:nvPr>
        </p:nvSpPr>
        <p:spPr>
          <a:xfrm>
            <a:off x="794520" y="4994640"/>
            <a:ext cx="8548920" cy="15429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1" u="none" strike="noStrike" cap="all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2"/>
          <p:cNvSpPr>
            <a:spLocks noGrp="1"/>
          </p:cNvSpPr>
          <p:nvPr>
            <p:ph type="body"/>
          </p:nvPr>
        </p:nvSpPr>
        <p:spPr>
          <a:xfrm>
            <a:off x="794520" y="3294360"/>
            <a:ext cx="8548920" cy="169956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b">
            <a:noAutofit/>
          </a:bodyPr>
          <a:lstStyle/>
          <a:p>
            <a:pPr indent="0">
              <a:lnSpc>
                <a:spcPct val="100000"/>
              </a:lnSpc>
              <a:spcBef>
                <a:spcPts val="439"/>
              </a:spcBef>
              <a:buNone/>
              <a:tabLst>
                <a:tab pos="0" algn="l"/>
              </a:tabLst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 12">
    <p:bg>
      <p:bgPr>
        <a:solidFill>
          <a:srgbClr val="6C9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Rectangle 21"/>
          <p:cNvSpPr/>
          <p:nvPr/>
        </p:nvSpPr>
        <p:spPr>
          <a:xfrm>
            <a:off x="0" y="7081560"/>
            <a:ext cx="10057680" cy="69012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4" name="Text Box 22"/>
          <p:cNvSpPr/>
          <p:nvPr/>
        </p:nvSpPr>
        <p:spPr>
          <a:xfrm>
            <a:off x="167760" y="7296480"/>
            <a:ext cx="4357800" cy="29484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660"/>
              </a:spcBef>
            </a:pPr>
            <a:r>
              <a:rPr lang="en-US" sz="1320" b="1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FEARLESS</a:t>
            </a:r>
            <a:r>
              <a:rPr lang="en-US" sz="1320" b="0" u="none" strike="noStrike">
                <a:solidFill>
                  <a:srgbClr val="FFFFFF"/>
                </a:solidFill>
                <a:effectLst/>
                <a:uFillTx/>
                <a:latin typeface="Arial"/>
                <a:ea typeface="ＭＳ Ｐゴシック"/>
              </a:rPr>
              <a:t> engineering</a:t>
            </a:r>
            <a:endParaRPr lang="en-US" sz="132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5" name="Picture 24" descr="utdlogo"/>
          <p:cNvPicPr/>
          <p:nvPr/>
        </p:nvPicPr>
        <p:blipFill>
          <a:blip r:embed="rId2"/>
          <a:stretch/>
        </p:blipFill>
        <p:spPr>
          <a:xfrm>
            <a:off x="9304200" y="7254360"/>
            <a:ext cx="619200" cy="2728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76" name="Rectangle 29"/>
          <p:cNvSpPr/>
          <p:nvPr/>
        </p:nvSpPr>
        <p:spPr>
          <a:xfrm>
            <a:off x="0" y="1036440"/>
            <a:ext cx="10057680" cy="60444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3080" b="0" u="none" strike="noStrike">
              <a:solidFill>
                <a:srgbClr val="000000"/>
              </a:solidFill>
              <a:effectLst/>
              <a:uFillTx/>
              <a:latin typeface="Arial"/>
              <a:ea typeface="ＭＳ Ｐゴシック"/>
            </a:endParaRPr>
          </a:p>
        </p:txBody>
      </p:sp>
      <p:sp>
        <p:nvSpPr>
          <p:cNvPr id="377" name="PlaceHolder 1"/>
          <p:cNvSpPr>
            <a:spLocks noGrp="1"/>
          </p:cNvSpPr>
          <p:nvPr>
            <p:ph type="title"/>
          </p:nvPr>
        </p:nvSpPr>
        <p:spPr>
          <a:xfrm>
            <a:off x="754560" y="172800"/>
            <a:ext cx="8548920" cy="77652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080" b="1" u="none" strike="noStrike">
                <a:solidFill>
                  <a:schemeClr val="lt1"/>
                </a:solidFill>
                <a:effectLst/>
                <a:uFillTx/>
                <a:latin typeface="Arial"/>
                <a:ea typeface="Osaka"/>
              </a:rPr>
              <a:t>Click to edit Master title style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2"/>
          <p:cNvSpPr>
            <a:spLocks noGrp="1"/>
          </p:cNvSpPr>
          <p:nvPr>
            <p:ph type="body"/>
          </p:nvPr>
        </p:nvSpPr>
        <p:spPr>
          <a:xfrm>
            <a:off x="75456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3"/>
          <p:cNvSpPr>
            <a:spLocks noGrp="1"/>
          </p:cNvSpPr>
          <p:nvPr>
            <p:ph type="body"/>
          </p:nvPr>
        </p:nvSpPr>
        <p:spPr>
          <a:xfrm>
            <a:off x="5113080" y="1813680"/>
            <a:ext cx="4190400" cy="3539880"/>
          </a:xfrm>
          <a:prstGeom prst="rect">
            <a:avLst/>
          </a:prstGeom>
          <a:noFill/>
          <a:ln w="9360">
            <a:noFill/>
          </a:ln>
        </p:spPr>
        <p:txBody>
          <a:bodyPr lIns="91440" tIns="45720" rIns="91440" bIns="45720" numCol="1" spcCol="0" anchor="t">
            <a:noAutofit/>
          </a:bodyPr>
          <a:lstStyle/>
          <a:p>
            <a:pPr marL="377280" indent="-377280">
              <a:lnSpc>
                <a:spcPct val="100000"/>
              </a:lnSpc>
              <a:spcBef>
                <a:spcPts val="615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08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Click to edit Master text styles</a:t>
            </a:r>
            <a:endParaRPr lang="en-US" sz="30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817200" lvl="1" indent="-314280">
              <a:lnSpc>
                <a:spcPct val="100000"/>
              </a:lnSpc>
              <a:spcBef>
                <a:spcPts val="52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64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Second level</a:t>
            </a:r>
            <a:endParaRPr lang="en-US" sz="26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257480" lvl="2" indent="-251640">
              <a:lnSpc>
                <a:spcPct val="100000"/>
              </a:lnSpc>
              <a:spcBef>
                <a:spcPts val="43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Third level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760400" lvl="3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Fourth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263320" lvl="4" indent="-251640">
              <a:lnSpc>
                <a:spcPct val="100000"/>
              </a:lnSpc>
              <a:spcBef>
                <a:spcPts val="397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1979" b="0" u="none" strike="noStrike">
                <a:solidFill>
                  <a:schemeClr val="dk1"/>
                </a:solidFill>
                <a:effectLst/>
                <a:uFillTx/>
                <a:latin typeface="Arial"/>
                <a:ea typeface="Osaka"/>
              </a:rPr>
              <a:t>Fifth level</a:t>
            </a:r>
            <a:endParaRPr lang="en-US" sz="1979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Build Process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Where We Left Off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We have been typing commands like: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gcc -g -O0 main.c -o main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cargo build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and getting a program that runs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Today:  what happens in between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Source Code Is Not a Program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The CPU runs </a:t>
            </a:r>
            <a:r>
              <a:rPr sz="2800" b="1">
                <a:latin typeface="Cambria"/>
              </a:rPr>
              <a:t>machine instructions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Source code is </a:t>
            </a:r>
            <a:r>
              <a:rPr sz="2800" b="1">
                <a:latin typeface="Cambria"/>
              </a:rPr>
              <a:t>text</a:t>
            </a:r>
            <a:r>
              <a:rPr sz="2800" b="0">
                <a:latin typeface="Cambria"/>
              </a:rPr>
              <a:t> written for humans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The </a:t>
            </a:r>
            <a:r>
              <a:rPr sz="2800" b="1">
                <a:latin typeface="Cambria"/>
              </a:rPr>
              <a:t>build</a:t>
            </a:r>
            <a:r>
              <a:rPr sz="2800" b="0">
                <a:latin typeface="Cambria"/>
              </a:rPr>
              <a:t> translates the text into an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1">
                <a:latin typeface="Cambria"/>
              </a:rPr>
              <a:t>executable</a:t>
            </a:r>
            <a:r>
              <a:rPr sz="2800" b="0">
                <a:latin typeface="Cambria"/>
              </a:rPr>
              <a:t> the operating system can load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Many steps - and many ways to go wrong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Building C:  Four Stages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743200" algn="l"/>
              </a:tabLst>
            </a:pPr>
            <a:r>
              <a:rPr sz="2600" b="0">
                <a:latin typeface="Cambria"/>
              </a:rPr>
              <a:t>1.	</a:t>
            </a:r>
            <a:r>
              <a:rPr sz="2600" b="1">
                <a:latin typeface="Cambria"/>
              </a:rPr>
              <a:t>Preprocess</a:t>
            </a:r>
            <a:r>
              <a:rPr sz="2600" b="0">
                <a:latin typeface="Cambria"/>
              </a:rPr>
              <a:t>	handle the  #  lines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600" b="0">
                <a:latin typeface="Cambria"/>
              </a:rPr>
              <a:t>2.	</a:t>
            </a:r>
            <a:r>
              <a:rPr sz="2600" b="1">
                <a:latin typeface="Cambria"/>
              </a:rPr>
              <a:t>Compile</a:t>
            </a:r>
            <a:r>
              <a:rPr sz="2600" b="0">
                <a:latin typeface="Cambria"/>
              </a:rPr>
              <a:t>	C  to  assembly language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600" b="0">
                <a:latin typeface="Cambria"/>
              </a:rPr>
              <a:t>3.	</a:t>
            </a:r>
            <a:r>
              <a:rPr sz="2600" b="1">
                <a:latin typeface="Cambria"/>
              </a:rPr>
              <a:t>Assemble</a:t>
            </a:r>
            <a:r>
              <a:rPr sz="2600" b="0">
                <a:latin typeface="Cambria"/>
              </a:rPr>
              <a:t>	assembly  to  object code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600" b="0">
                <a:latin typeface="Cambria"/>
              </a:rPr>
              <a:t>4.	</a:t>
            </a:r>
            <a:r>
              <a:rPr sz="2600" b="1">
                <a:latin typeface="Cambria"/>
              </a:rPr>
              <a:t>Link</a:t>
            </a:r>
            <a:r>
              <a:rPr sz="2600" b="0">
                <a:latin typeface="Cambria"/>
              </a:rPr>
              <a:t>	object code  to  executable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C Pipeline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3291840" y="1965960"/>
            <a:ext cx="2011680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main.c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5486400" y="2071115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Cambria"/>
              </a:rPr>
              <a:t>source text</a:t>
            </a:r>
          </a:p>
        </p:txBody>
      </p:sp>
      <p:cxnSp>
        <p:nvCxnSpPr>
          <p:cNvPr id="390" name="Connector 389"/>
          <p:cNvCxnSpPr/>
          <p:nvPr/>
        </p:nvCxnSpPr>
        <p:spPr>
          <a:xfrm>
            <a:off x="4297680" y="2468880"/>
            <a:ext cx="0" cy="475488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TextBox 390"/>
          <p:cNvSpPr txBox="1"/>
          <p:nvPr/>
        </p:nvSpPr>
        <p:spPr>
          <a:xfrm>
            <a:off x="457200" y="2551176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 i="0">
                <a:solidFill>
                  <a:srgbClr val="000000"/>
                </a:solidFill>
                <a:latin typeface="Cambria"/>
              </a:rPr>
              <a:t>preprocessor   gcc -E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3291840" y="2944368"/>
            <a:ext cx="2011680" cy="50292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main.i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5486400" y="3049523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Cambria"/>
              </a:rPr>
              <a:t>preprocessed text</a:t>
            </a:r>
          </a:p>
        </p:txBody>
      </p:sp>
      <p:cxnSp>
        <p:nvCxnSpPr>
          <p:cNvPr id="394" name="Connector 393"/>
          <p:cNvCxnSpPr/>
          <p:nvPr/>
        </p:nvCxnSpPr>
        <p:spPr>
          <a:xfrm>
            <a:off x="4297680" y="3447287"/>
            <a:ext cx="0" cy="475488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5" name="TextBox 394"/>
          <p:cNvSpPr txBox="1"/>
          <p:nvPr/>
        </p:nvSpPr>
        <p:spPr>
          <a:xfrm>
            <a:off x="457200" y="3529583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 i="0">
                <a:solidFill>
                  <a:srgbClr val="000000"/>
                </a:solidFill>
                <a:latin typeface="Cambria"/>
              </a:rPr>
              <a:t>compiler   gcc -S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3291840" y="3922776"/>
            <a:ext cx="2011680" cy="50292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main.s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5486400" y="4027932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Cambria"/>
              </a:rPr>
              <a:t>assembly text</a:t>
            </a:r>
          </a:p>
        </p:txBody>
      </p:sp>
      <p:cxnSp>
        <p:nvCxnSpPr>
          <p:cNvPr id="398" name="Connector 397"/>
          <p:cNvCxnSpPr/>
          <p:nvPr/>
        </p:nvCxnSpPr>
        <p:spPr>
          <a:xfrm>
            <a:off x="4297680" y="4425696"/>
            <a:ext cx="0" cy="475487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9" name="TextBox 398"/>
          <p:cNvSpPr txBox="1"/>
          <p:nvPr/>
        </p:nvSpPr>
        <p:spPr>
          <a:xfrm>
            <a:off x="457200" y="4507992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 i="0">
                <a:solidFill>
                  <a:srgbClr val="000000"/>
                </a:solidFill>
                <a:latin typeface="Cambria"/>
              </a:rPr>
              <a:t>assembler   gcc -c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3291840" y="4901184"/>
            <a:ext cx="2011680" cy="50292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main.o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5486400" y="5006340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Cambria"/>
              </a:rPr>
              <a:t>object code</a:t>
            </a:r>
          </a:p>
        </p:txBody>
      </p:sp>
      <p:cxnSp>
        <p:nvCxnSpPr>
          <p:cNvPr id="402" name="Connector 401"/>
          <p:cNvCxnSpPr/>
          <p:nvPr/>
        </p:nvCxnSpPr>
        <p:spPr>
          <a:xfrm>
            <a:off x="4297680" y="5404104"/>
            <a:ext cx="0" cy="475488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3" name="TextBox 402"/>
          <p:cNvSpPr txBox="1"/>
          <p:nvPr/>
        </p:nvSpPr>
        <p:spPr>
          <a:xfrm>
            <a:off x="457200" y="5486400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 i="0">
                <a:solidFill>
                  <a:srgbClr val="000000"/>
                </a:solidFill>
                <a:latin typeface="Cambria"/>
              </a:rPr>
              <a:t>linker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3291840" y="5879592"/>
            <a:ext cx="2011680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myprog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5486400" y="5984748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Cambria"/>
              </a:rPr>
              <a:t>executable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6995160" y="5321807"/>
            <a:ext cx="2194560" cy="64008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mysub.o,  libc</a:t>
            </a:r>
          </a:p>
        </p:txBody>
      </p:sp>
      <p:cxnSp>
        <p:nvCxnSpPr>
          <p:cNvPr id="407" name="Connector 406"/>
          <p:cNvCxnSpPr/>
          <p:nvPr/>
        </p:nvCxnSpPr>
        <p:spPr>
          <a:xfrm flipH="1">
            <a:off x="4343400" y="5641847"/>
            <a:ext cx="2651760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Stage 1:  Preprocess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743200" algn="l"/>
                <a:tab pos="4754880" algn="l"/>
              </a:tabLst>
            </a:pPr>
            <a:r>
              <a:rPr sz="2500" b="0">
                <a:latin typeface="Cambria"/>
              </a:rPr>
              <a:t>Handles every line that begins with  </a:t>
            </a:r>
            <a:r>
              <a:rPr sz="2500" b="1">
                <a:latin typeface="Cambria"/>
              </a:rPr>
              <a:t>#</a:t>
            </a:r>
          </a:p>
          <a:p>
            <a:pPr>
              <a:tabLst>
                <a:tab pos="548640" algn="l"/>
                <a:tab pos="2743200" algn="l"/>
                <a:tab pos="47548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2743200" algn="l"/>
                <a:tab pos="4754880" algn="l"/>
              </a:tabLst>
            </a:pPr>
            <a:r>
              <a:rPr sz="2500" b="0">
                <a:latin typeface="Cambria"/>
              </a:rPr>
              <a:t>	#include	paste in another file</a:t>
            </a:r>
          </a:p>
          <a:p>
            <a:pPr>
              <a:tabLst>
                <a:tab pos="548640" algn="l"/>
                <a:tab pos="2743200" algn="l"/>
                <a:tab pos="4754880" algn="l"/>
              </a:tabLst>
            </a:pPr>
            <a:r>
              <a:rPr sz="2500" b="0">
                <a:latin typeface="Cambria"/>
              </a:rPr>
              <a:t>	#define	substitute text</a:t>
            </a:r>
          </a:p>
          <a:p>
            <a:pPr>
              <a:tabLst>
                <a:tab pos="548640" algn="l"/>
                <a:tab pos="2743200" algn="l"/>
                <a:tab pos="4754880" algn="l"/>
              </a:tabLst>
            </a:pPr>
            <a:r>
              <a:rPr sz="2500" b="0">
                <a:latin typeface="Cambria"/>
              </a:rPr>
              <a:t>	#if  #ifdef	keep or drop code</a:t>
            </a:r>
          </a:p>
          <a:p>
            <a:pPr>
              <a:tabLst>
                <a:tab pos="548640" algn="l"/>
                <a:tab pos="2743200" algn="l"/>
                <a:tab pos="47548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2743200" algn="l"/>
                <a:tab pos="4754880" algn="l"/>
              </a:tabLst>
            </a:pPr>
            <a:r>
              <a:rPr sz="2500" b="0">
                <a:latin typeface="Cambria"/>
              </a:rPr>
              <a:t>gcc -E main.c -o main.i	stop after this stage</a:t>
            </a:r>
          </a:p>
          <a:p>
            <a:pPr>
              <a:tabLst>
                <a:tab pos="548640" algn="l"/>
                <a:tab pos="2743200" algn="l"/>
                <a:tab pos="47548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2743200" algn="l"/>
                <a:tab pos="4754880" algn="l"/>
              </a:tabLst>
            </a:pPr>
            <a:r>
              <a:rPr sz="2500" b="0">
                <a:latin typeface="Cambria"/>
              </a:rPr>
              <a:t>Pure </a:t>
            </a:r>
            <a:r>
              <a:rPr sz="2500" b="1">
                <a:latin typeface="Cambria"/>
              </a:rPr>
              <a:t>text</a:t>
            </a:r>
            <a:r>
              <a:rPr sz="2500" b="0">
                <a:latin typeface="Cambria"/>
              </a:rPr>
              <a:t> in, text out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What the Preprocessor Makes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2743200" algn="l"/>
              </a:tabLst>
            </a:pPr>
            <a:r>
              <a:rPr sz="2500" b="0">
                <a:latin typeface="Cambria"/>
              </a:rPr>
              <a:t>hello.c	5 lines</a:t>
            </a:r>
          </a:p>
          <a:p>
            <a:pPr>
              <a:tabLst>
                <a:tab pos="548640" algn="l"/>
                <a:tab pos="1097280" algn="l"/>
                <a:tab pos="274320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2743200" algn="l"/>
              </a:tabLst>
            </a:pPr>
            <a:r>
              <a:rPr sz="2500" b="0">
                <a:latin typeface="Cambria"/>
              </a:rPr>
              <a:t>	#include &lt;stdio.h&gt;</a:t>
            </a:r>
          </a:p>
          <a:p>
            <a:pPr>
              <a:tabLst>
                <a:tab pos="548640" algn="l"/>
                <a:tab pos="1097280" algn="l"/>
                <a:tab pos="2743200" algn="l"/>
              </a:tabLst>
            </a:pPr>
            <a:r>
              <a:rPr sz="2500" b="0">
                <a:latin typeface="Cambria"/>
              </a:rPr>
              <a:t>	int main ( void ) {</a:t>
            </a:r>
          </a:p>
          <a:p>
            <a:pPr>
              <a:tabLst>
                <a:tab pos="548640" algn="l"/>
                <a:tab pos="1097280" algn="l"/>
                <a:tab pos="2743200" algn="l"/>
              </a:tabLst>
            </a:pPr>
            <a:r>
              <a:rPr sz="2500" b="0">
                <a:latin typeface="Cambria"/>
              </a:rPr>
              <a:t>		printf ( "hello\n" ) ;</a:t>
            </a:r>
          </a:p>
          <a:p>
            <a:pPr>
              <a:tabLst>
                <a:tab pos="548640" algn="l"/>
                <a:tab pos="1097280" algn="l"/>
                <a:tab pos="2743200" algn="l"/>
              </a:tabLst>
            </a:pPr>
            <a:r>
              <a:rPr sz="2500" b="0">
                <a:latin typeface="Cambria"/>
              </a:rPr>
              <a:t>	}</a:t>
            </a:r>
          </a:p>
          <a:p>
            <a:pPr>
              <a:tabLst>
                <a:tab pos="548640" algn="l"/>
                <a:tab pos="1097280" algn="l"/>
                <a:tab pos="274320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2743200" algn="l"/>
              </a:tabLst>
            </a:pPr>
            <a:r>
              <a:rPr sz="2500" b="0">
                <a:latin typeface="Cambria"/>
              </a:rPr>
              <a:t>hello.i	</a:t>
            </a:r>
            <a:r>
              <a:rPr sz="2500" b="1">
                <a:latin typeface="Cambria"/>
              </a:rPr>
              <a:t>hundreds</a:t>
            </a:r>
            <a:r>
              <a:rPr sz="2500" b="0">
                <a:latin typeface="Cambria"/>
              </a:rPr>
              <a:t> of lines</a:t>
            </a:r>
          </a:p>
          <a:p>
            <a:pPr>
              <a:tabLst>
                <a:tab pos="548640" algn="l"/>
                <a:tab pos="1097280" algn="l"/>
                <a:tab pos="2743200" algn="l"/>
              </a:tabLst>
            </a:pPr>
            <a:r>
              <a:rPr sz="2500" b="0">
                <a:latin typeface="Cambria"/>
              </a:rPr>
              <a:t>	all of stdio.h, pasted 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Stage 2:  Compile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Translate the C in  main.i  into </a:t>
            </a:r>
            <a:r>
              <a:rPr sz="2500" b="1">
                <a:latin typeface="Cambria"/>
              </a:rPr>
              <a:t>assembly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This is where the compiler: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	checks types and syntax - </a:t>
            </a:r>
            <a:r>
              <a:rPr sz="2500" b="1">
                <a:latin typeface="Cambria"/>
              </a:rPr>
              <a:t>errors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	spots suspicious code - </a:t>
            </a:r>
            <a:r>
              <a:rPr sz="2500" b="1">
                <a:latin typeface="Cambria"/>
              </a:rPr>
              <a:t>warnings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	optimizes  ( -O0, -O2 )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3840480" algn="l"/>
              </a:tabLst>
            </a:pPr>
            <a:r>
              <a:rPr sz="2500" b="0">
                <a:latin typeface="Cambria"/>
              </a:rPr>
              <a:t>gcc -S main.c	produces  main.s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Assembly Looks Like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int square ( int x ) {  return x * x ;  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gcc -O2 -S  on x86-64: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square: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imull   %edi, %edi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movl    %edi, %eax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	ret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One line of C,  three machine instructions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Stage 3:  Assemble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108960" algn="l"/>
              </a:tabLst>
            </a:pPr>
            <a:r>
              <a:rPr sz="2600" b="0">
                <a:latin typeface="Cambria"/>
              </a:rPr>
              <a:t>Assembly text  to  </a:t>
            </a:r>
            <a:r>
              <a:rPr sz="2600" b="1">
                <a:latin typeface="Cambria"/>
              </a:rPr>
              <a:t>machine code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 b="0">
                <a:latin typeface="Cambria"/>
              </a:rPr>
              <a:t>gcc -c main.c	produces  main.o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 b="0">
                <a:latin typeface="Cambria"/>
              </a:rPr>
              <a:t>An </a:t>
            </a:r>
            <a:r>
              <a:rPr sz="2600" b="1">
                <a:latin typeface="Cambria"/>
              </a:rPr>
              <a:t>object file</a:t>
            </a:r>
            <a:r>
              <a:rPr sz="2600" b="0">
                <a:latin typeface="Cambria"/>
              </a:rPr>
              <a:t> holds: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 b="0">
                <a:latin typeface="Cambria"/>
              </a:rPr>
              <a:t>	the machine code  ( text )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 b="0">
                <a:latin typeface="Cambria"/>
              </a:rPr>
              <a:t>	the data</a:t>
            </a:r>
          </a:p>
          <a:p>
            <a:pPr>
              <a:tabLst>
                <a:tab pos="548640" algn="l"/>
                <a:tab pos="3108960" algn="l"/>
              </a:tabLst>
            </a:pPr>
            <a:r>
              <a:rPr sz="2600" b="0">
                <a:latin typeface="Cambria"/>
              </a:rPr>
              <a:t>	a </a:t>
            </a:r>
            <a:r>
              <a:rPr sz="2600" b="1">
                <a:latin typeface="Cambria"/>
              </a:rPr>
              <a:t>symbol 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Object Files Are Incomplete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743200" algn="l"/>
              </a:tabLst>
            </a:pPr>
            <a:r>
              <a:rPr sz="2500" b="0">
                <a:latin typeface="Cambria"/>
              </a:rPr>
              <a:t>nm main.o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500" b="0">
                <a:latin typeface="Cambria"/>
              </a:rPr>
              <a:t>	T  main	defined here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500" b="0">
                <a:latin typeface="Cambria"/>
              </a:rPr>
              <a:t>	U  my_sub	</a:t>
            </a:r>
            <a:r>
              <a:rPr sz="2500" b="1">
                <a:latin typeface="Cambria"/>
              </a:rPr>
              <a:t>undefined</a:t>
            </a:r>
            <a:r>
              <a:rPr sz="2500" b="0">
                <a:latin typeface="Cambria"/>
              </a:rPr>
              <a:t> - somewhere else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500" b="0">
                <a:latin typeface="Cambria"/>
              </a:rPr>
              <a:t>	U  printf	</a:t>
            </a:r>
            <a:r>
              <a:rPr sz="2500" b="1">
                <a:latin typeface="Cambria"/>
              </a:rPr>
              <a:t>undefined</a:t>
            </a:r>
            <a:r>
              <a:rPr sz="2500" b="0">
                <a:latin typeface="Cambria"/>
              </a:rPr>
              <a:t> - in the C library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500" b="0">
                <a:latin typeface="Cambria"/>
              </a:rPr>
              <a:t>Calls to other files point to a </a:t>
            </a:r>
            <a:r>
              <a:rPr sz="2500" b="1">
                <a:latin typeface="Cambria"/>
              </a:rPr>
              <a:t>placeholder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2743200" algn="l"/>
              </a:tabLst>
            </a:pPr>
            <a:r>
              <a:rPr sz="2500" b="0">
                <a:latin typeface="Cambria"/>
              </a:rPr>
              <a:t>The final addresses are not known yet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Stage 4:  Link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Combine all the object files and libraries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Match every  </a:t>
            </a:r>
            <a:r>
              <a:rPr sz="2600" b="1">
                <a:latin typeface="Cambria"/>
              </a:rPr>
              <a:t>U</a:t>
            </a:r>
            <a:r>
              <a:rPr sz="2600" b="0">
                <a:latin typeface="Cambria"/>
              </a:rPr>
              <a:t>  with a  </a:t>
            </a:r>
            <a:r>
              <a:rPr sz="2600" b="1">
                <a:latin typeface="Cambria"/>
              </a:rPr>
              <a:t>T</a:t>
            </a:r>
            <a:r>
              <a:rPr sz="2600" b="0">
                <a:latin typeface="Cambria"/>
              </a:rPr>
              <a:t>  somewhere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Assign every symbol its </a:t>
            </a:r>
            <a:r>
              <a:rPr sz="2600" b="1">
                <a:latin typeface="Cambria"/>
              </a:rPr>
              <a:t>final address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gcc main.o mysub.o -o myprog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The result:  one executable file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Link Errors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undefined reference to  'my_sub'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you forgot to link  mysub.o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or misspelled the name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multiple definition of  'countG'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two files </a:t>
            </a:r>
            <a:r>
              <a:rPr sz="2500" b="1">
                <a:latin typeface="Cambria"/>
              </a:rPr>
              <a:t>define</a:t>
            </a:r>
            <a:r>
              <a:rPr sz="2500" b="0">
                <a:latin typeface="Cambria"/>
              </a:rPr>
              <a:t> it - one should say  extern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The code compiled fine - the </a:t>
            </a:r>
            <a:r>
              <a:rPr sz="2500" b="1">
                <a:latin typeface="Cambria"/>
              </a:rPr>
              <a:t>pieces</a:t>
            </a:r>
            <a:r>
              <a:rPr sz="2500" b="0">
                <a:latin typeface="Cambria"/>
              </a:rPr>
              <a:t> do not fit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Compile Errors vs Link Errors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667512" y="2057400"/>
            <a:ext cx="2011680" cy="65836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endParaRPr/>
          </a:p>
        </p:txBody>
      </p:sp>
      <p:sp>
        <p:nvSpPr>
          <p:cNvPr id="389" name="Rectangle 388"/>
          <p:cNvSpPr/>
          <p:nvPr/>
        </p:nvSpPr>
        <p:spPr>
          <a:xfrm>
            <a:off x="2679192" y="2057400"/>
            <a:ext cx="3108960" cy="65836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Compile error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5788152" y="2057400"/>
            <a:ext cx="3566160" cy="65836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Link error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667512" y="2715768"/>
            <a:ext cx="201168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Found by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2679192" y="2715768"/>
            <a:ext cx="310896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the compiler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5788152" y="2715768"/>
            <a:ext cx="356616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the linker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667512" y="3374136"/>
            <a:ext cx="201168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Looks at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2679192" y="3374136"/>
            <a:ext cx="310896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one source file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5788152" y="3374136"/>
            <a:ext cx="356616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all object files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667512" y="4032504"/>
            <a:ext cx="201168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Message has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2679192" y="4032504"/>
            <a:ext cx="310896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file and line number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5788152" y="4032504"/>
            <a:ext cx="356616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a symbol name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667512" y="4690872"/>
            <a:ext cx="201168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Typical cause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2679192" y="4690872"/>
            <a:ext cx="310896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syntax, types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5788152" y="4690872"/>
            <a:ext cx="356616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missing or duplicate definition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667512" y="5349240"/>
            <a:ext cx="201168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Fix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2679192" y="5349240"/>
            <a:ext cx="310896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edit that line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5788152" y="5349240"/>
            <a:ext cx="356616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add a file, library, or extern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One Command, Four Stages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gcc -Wall -g main.c mysub.c -o myprog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Preprocesses, compiles, and assembles each file,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then links them - intermediate files are deleted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Keep them to look at: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gcc -save-temps main.c -o main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You get  main.i,  main.s,  main.o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gcc Flags You Will Use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926080" algn="l"/>
              </a:tabLst>
            </a:pPr>
            <a:r>
              <a:rPr sz="2400" b="0">
                <a:latin typeface="Cambria"/>
              </a:rPr>
              <a:t>-Wall -Wextra	turn on warnings</a:t>
            </a:r>
          </a:p>
          <a:p>
            <a:pPr>
              <a:tabLst>
                <a:tab pos="2926080" algn="l"/>
              </a:tabLst>
            </a:pPr>
            <a:r>
              <a:rPr sz="2400" b="0">
                <a:latin typeface="Cambria"/>
              </a:rPr>
              <a:t>-g	include debug information</a:t>
            </a:r>
          </a:p>
          <a:p>
            <a:pPr>
              <a:tabLst>
                <a:tab pos="2926080" algn="l"/>
              </a:tabLst>
            </a:pPr>
            <a:r>
              <a:rPr sz="2400" b="0">
                <a:latin typeface="Cambria"/>
              </a:rPr>
              <a:t>-O0  -O2	optimization level</a:t>
            </a:r>
          </a:p>
          <a:p>
            <a:pPr>
              <a:tabLst>
                <a:tab pos="2926080" algn="l"/>
              </a:tabLst>
            </a:pPr>
            <a:r>
              <a:rPr sz="2400" b="0">
                <a:latin typeface="Cambria"/>
              </a:rPr>
              <a:t>-std=c17	language version</a:t>
            </a:r>
          </a:p>
          <a:p>
            <a:pPr>
              <a:tabLst>
                <a:tab pos="2926080" algn="l"/>
              </a:tabLst>
            </a:pPr>
            <a:r>
              <a:rPr sz="2400" b="0">
                <a:latin typeface="Cambria"/>
              </a:rPr>
              <a:t>-c	compile only, no link</a:t>
            </a:r>
          </a:p>
          <a:p>
            <a:pPr>
              <a:tabLst>
                <a:tab pos="2926080" algn="l"/>
              </a:tabLst>
            </a:pPr>
            <a:r>
              <a:rPr sz="2400" b="0">
                <a:latin typeface="Cambria"/>
              </a:rPr>
              <a:t>-o name	name the output</a:t>
            </a:r>
          </a:p>
          <a:p>
            <a:pPr>
              <a:tabLst>
                <a:tab pos="2926080" algn="l"/>
              </a:tabLst>
            </a:pPr>
            <a:r>
              <a:rPr sz="2400" b="0">
                <a:latin typeface="Cambria"/>
              </a:rPr>
              <a:t>-I dir	where to find headers</a:t>
            </a:r>
          </a:p>
          <a:p>
            <a:pPr>
              <a:tabLst>
                <a:tab pos="2926080" algn="l"/>
              </a:tabLst>
            </a:pPr>
            <a:r>
              <a:rPr sz="2400" b="0">
                <a:latin typeface="Cambria"/>
              </a:rPr>
              <a:t>-L dir  -lname	where and which libraries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Libraries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011680" algn="l"/>
                <a:tab pos="4023360" algn="l"/>
              </a:tabLst>
            </a:pPr>
            <a:r>
              <a:rPr sz="2500" b="0">
                <a:latin typeface="Cambria"/>
              </a:rPr>
              <a:t>A </a:t>
            </a:r>
            <a:r>
              <a:rPr sz="2500" b="1">
                <a:latin typeface="Cambria"/>
              </a:rPr>
              <a:t>library</a:t>
            </a:r>
            <a:r>
              <a:rPr sz="2500" b="0">
                <a:latin typeface="Cambria"/>
              </a:rPr>
              <a:t> is a collection of object files</a:t>
            </a:r>
          </a:p>
          <a:p>
            <a:pPr>
              <a:tabLst>
                <a:tab pos="548640" algn="l"/>
                <a:tab pos="2011680" algn="l"/>
                <a:tab pos="40233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2011680" algn="l"/>
                <a:tab pos="4023360" algn="l"/>
              </a:tabLst>
            </a:pPr>
            <a:r>
              <a:rPr sz="2500" b="1">
                <a:latin typeface="Cambria"/>
              </a:rPr>
              <a:t>Static</a:t>
            </a:r>
            <a:r>
              <a:rPr sz="2500" b="0">
                <a:latin typeface="Cambria"/>
              </a:rPr>
              <a:t>:	.a  ( .lib )</a:t>
            </a:r>
          </a:p>
          <a:p>
            <a:pPr>
              <a:tabLst>
                <a:tab pos="548640" algn="l"/>
                <a:tab pos="2011680" algn="l"/>
                <a:tab pos="4023360" algn="l"/>
              </a:tabLst>
            </a:pPr>
            <a:r>
              <a:rPr sz="2500" b="0">
                <a:latin typeface="Cambria"/>
              </a:rPr>
              <a:t>	copied </a:t>
            </a:r>
            <a:r>
              <a:rPr sz="2500" b="1">
                <a:latin typeface="Cambria"/>
              </a:rPr>
              <a:t>into</a:t>
            </a:r>
            <a:r>
              <a:rPr sz="2500" b="0">
                <a:latin typeface="Cambria"/>
              </a:rPr>
              <a:t> your executable</a:t>
            </a:r>
          </a:p>
          <a:p>
            <a:pPr>
              <a:tabLst>
                <a:tab pos="548640" algn="l"/>
                <a:tab pos="2011680" algn="l"/>
                <a:tab pos="40233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2011680" algn="l"/>
                <a:tab pos="4023360" algn="l"/>
              </a:tabLst>
            </a:pPr>
            <a:r>
              <a:rPr sz="2500" b="1">
                <a:latin typeface="Cambria"/>
              </a:rPr>
              <a:t>Shared</a:t>
            </a:r>
            <a:r>
              <a:rPr sz="2500" b="0">
                <a:latin typeface="Cambria"/>
              </a:rPr>
              <a:t>:	.so  .dylib  .dll</a:t>
            </a:r>
          </a:p>
          <a:p>
            <a:pPr>
              <a:tabLst>
                <a:tab pos="548640" algn="l"/>
                <a:tab pos="2011680" algn="l"/>
                <a:tab pos="4023360" algn="l"/>
              </a:tabLst>
            </a:pPr>
            <a:r>
              <a:rPr sz="2500" b="0">
                <a:latin typeface="Cambria"/>
              </a:rPr>
              <a:t>	loaded when the program </a:t>
            </a:r>
            <a:r>
              <a:rPr sz="2500" b="1">
                <a:latin typeface="Cambria"/>
              </a:rPr>
              <a:t>starts</a:t>
            </a:r>
          </a:p>
          <a:p>
            <a:pPr>
              <a:tabLst>
                <a:tab pos="548640" algn="l"/>
                <a:tab pos="2011680" algn="l"/>
                <a:tab pos="40233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2011680" algn="l"/>
                <a:tab pos="4023360" algn="l"/>
              </a:tabLst>
            </a:pPr>
            <a:r>
              <a:rPr sz="2500" b="0">
                <a:latin typeface="Cambria"/>
              </a:rPr>
              <a:t>gcc main.c -lm		link the math library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3600" b="1" dirty="0" smtClean="0">
                <a:solidFill>
                  <a:schemeClr val="lt1"/>
                </a:solidFill>
                <a:latin typeface="Arial"/>
              </a:rPr>
              <a:t>Headers and Libraries Are Different</a:t>
            </a:r>
            <a:endParaRPr lang="en-US" sz="3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Header</a:t>
            </a:r>
            <a:r>
              <a:rPr sz="2500" b="0">
                <a:latin typeface="Cambria"/>
              </a:rPr>
              <a:t>  ( .h )  gives </a:t>
            </a:r>
            <a:r>
              <a:rPr sz="2500" b="1">
                <a:latin typeface="Cambria"/>
              </a:rPr>
              <a:t>declarations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used by the </a:t>
            </a:r>
            <a:r>
              <a:rPr sz="2500" b="1">
                <a:latin typeface="Cambria"/>
              </a:rPr>
              <a:t>compiler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Library</a:t>
            </a:r>
            <a:r>
              <a:rPr sz="2500" b="0">
                <a:latin typeface="Cambria"/>
              </a:rPr>
              <a:t>  ( .a  .so )  gives </a:t>
            </a:r>
            <a:r>
              <a:rPr sz="2500" b="1">
                <a:latin typeface="Cambria"/>
              </a:rPr>
              <a:t>definitions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used by the </a:t>
            </a:r>
            <a:r>
              <a:rPr sz="2500" b="1">
                <a:latin typeface="Cambria"/>
              </a:rPr>
              <a:t>linker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#include &lt;math.h&gt;  without  -lm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compiles fine,  then fails to </a:t>
            </a:r>
            <a:r>
              <a:rPr sz="2500" b="1">
                <a:latin typeface="Cambria"/>
              </a:rPr>
              <a:t>link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Separate Compilation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Each  .c  file compiles </a:t>
            </a:r>
            <a:r>
              <a:rPr sz="2600" b="1">
                <a:latin typeface="Cambria"/>
              </a:rPr>
              <a:t>on its own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Change one file: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recompile only that file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relink everything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A large project has </a:t>
            </a:r>
            <a:r>
              <a:rPr sz="2600" b="1">
                <a:latin typeface="Cambria"/>
              </a:rPr>
              <a:t>thousands</a:t>
            </a:r>
            <a:r>
              <a:rPr sz="2600" b="0">
                <a:latin typeface="Cambria"/>
              </a:rPr>
              <a:t> of files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Rebuilding all of them takes a long time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But Which Files Changed?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377440" algn="l"/>
              </a:tabLst>
            </a:pPr>
            <a:r>
              <a:rPr sz="2500" b="0">
                <a:latin typeface="Cambria"/>
              </a:rPr>
              <a:t>Edit  mysub.c	only  mysub.o  is stale</a:t>
            </a:r>
          </a:p>
          <a:p>
            <a:pPr>
              <a:tabLst>
                <a:tab pos="237744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2377440" algn="l"/>
              </a:tabLst>
            </a:pPr>
            <a:r>
              <a:rPr sz="2500" b="0">
                <a:latin typeface="Cambria"/>
              </a:rPr>
              <a:t>Edit  mysub.h	every file that </a:t>
            </a:r>
            <a:r>
              <a:rPr sz="2500" b="1">
                <a:latin typeface="Cambria"/>
              </a:rPr>
              <a:t>includes</a:t>
            </a:r>
          </a:p>
          <a:p>
            <a:pPr>
              <a:tabLst>
                <a:tab pos="2377440" algn="l"/>
              </a:tabLst>
            </a:pPr>
            <a:r>
              <a:rPr sz="2500" b="0">
                <a:latin typeface="Cambria"/>
              </a:rPr>
              <a:t>	it is stale</a:t>
            </a:r>
          </a:p>
          <a:p>
            <a:pPr>
              <a:tabLst>
                <a:tab pos="237744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2377440" algn="l"/>
              </a:tabLst>
            </a:pPr>
            <a:r>
              <a:rPr sz="2500" b="0">
                <a:latin typeface="Cambria"/>
              </a:rPr>
              <a:t>Keeping track by hand is error prone</a:t>
            </a:r>
          </a:p>
          <a:p>
            <a:pPr>
              <a:tabLst>
                <a:tab pos="237744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2377440" algn="l"/>
              </a:tabLst>
            </a:pPr>
            <a:r>
              <a:rPr sz="2500" b="0">
                <a:latin typeface="Cambria"/>
              </a:rPr>
              <a:t>Forget one, and you link </a:t>
            </a:r>
            <a:r>
              <a:rPr sz="2500" b="1">
                <a:latin typeface="Cambria"/>
              </a:rPr>
              <a:t>old</a:t>
            </a:r>
            <a:r>
              <a:rPr sz="2500" b="0">
                <a:latin typeface="Cambria"/>
              </a:rPr>
              <a:t> code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make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 </a:t>
            </a:r>
            <a:r>
              <a:rPr sz="2500" b="1">
                <a:latin typeface="Cambria"/>
              </a:rPr>
              <a:t>Makefile</a:t>
            </a:r>
            <a:r>
              <a:rPr sz="2500" b="0">
                <a:latin typeface="Cambria"/>
              </a:rPr>
              <a:t> lists rules: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target :  dependencies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&lt;TAB&gt;  command to build the target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make  rebuilds a target only if a dependency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is </a:t>
            </a:r>
            <a:r>
              <a:rPr sz="2500" b="1">
                <a:latin typeface="Cambria"/>
              </a:rPr>
              <a:t>newer</a:t>
            </a:r>
            <a:r>
              <a:rPr sz="2500" b="0">
                <a:latin typeface="Cambria"/>
              </a:rPr>
              <a:t> than the target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The command line </a:t>
            </a:r>
            <a:r>
              <a:rPr sz="2500" b="1">
                <a:latin typeface="Cambria"/>
              </a:rPr>
              <a:t>must</a:t>
            </a:r>
            <a:r>
              <a:rPr sz="2500" b="0">
                <a:latin typeface="Cambria"/>
              </a:rPr>
              <a:t> start with a TAB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 Makefile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CFLAGS = -Wall -g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myprog :  main.o  mysub.o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gcc main.o mysub.o -o myprog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main.o :  main.c  mysub.h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gcc $(CFLAGS) -c main.c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mysub.o :  mysub.c  mysub.h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gcc $(CFLAGS) -c mysub.c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Dependency Graph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4069080" y="2148840"/>
            <a:ext cx="1920240" cy="566928"/>
          </a:xfrm>
          <a:prstGeom prst="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myprog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2377440" y="3703320"/>
            <a:ext cx="1920240" cy="566928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main.o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5760720" y="3703320"/>
            <a:ext cx="1920240" cy="566928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mysub.o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1188720" y="5257800"/>
            <a:ext cx="1920240" cy="566928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main.c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4069080" y="5257800"/>
            <a:ext cx="1920240" cy="566928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mysub.h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6949440" y="5257800"/>
            <a:ext cx="1920240" cy="566928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mysub.c</a:t>
            </a:r>
          </a:p>
        </p:txBody>
      </p:sp>
      <p:cxnSp>
        <p:nvCxnSpPr>
          <p:cNvPr id="394" name="Connector 393"/>
          <p:cNvCxnSpPr/>
          <p:nvPr/>
        </p:nvCxnSpPr>
        <p:spPr>
          <a:xfrm flipV="1">
            <a:off x="3337560" y="2715768"/>
            <a:ext cx="1691640" cy="987552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H="1" flipV="1">
            <a:off x="5029200" y="2715768"/>
            <a:ext cx="1691640" cy="987552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2148840" y="4270248"/>
            <a:ext cx="1188720" cy="987552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H="1" flipV="1">
            <a:off x="3337560" y="4270248"/>
            <a:ext cx="1691640" cy="987552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5029200" y="4270248"/>
            <a:ext cx="1691640" cy="987552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 flipH="1" flipV="1">
            <a:off x="6720840" y="4270248"/>
            <a:ext cx="1188720" cy="987552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TextBox 399"/>
          <p:cNvSpPr txBox="1"/>
          <p:nvPr/>
        </p:nvSpPr>
        <p:spPr>
          <a:xfrm>
            <a:off x="667512" y="6172200"/>
            <a:ext cx="8686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 i="1">
                <a:solidFill>
                  <a:srgbClr val="000000"/>
                </a:solidFill>
                <a:latin typeface="Cambria"/>
              </a:rPr>
              <a:t>Arrows point from a dependency to what is built from 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CMake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474720" algn="l"/>
              </a:tabLst>
            </a:pPr>
            <a:r>
              <a:rPr sz="2400" b="0">
                <a:latin typeface="Cambria"/>
              </a:rPr>
              <a:t>Writes the Makefiles </a:t>
            </a:r>
            <a:r>
              <a:rPr sz="2400" b="1">
                <a:latin typeface="Cambria"/>
              </a:rPr>
              <a:t>for</a:t>
            </a:r>
            <a:r>
              <a:rPr sz="2400" b="0">
                <a:latin typeface="Cambria"/>
              </a:rPr>
              <a:t> you</a:t>
            </a:r>
          </a:p>
          <a:p>
            <a:pPr>
              <a:tabLst>
                <a:tab pos="548640" algn="l"/>
                <a:tab pos="34747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3474720" algn="l"/>
              </a:tabLst>
            </a:pPr>
            <a:r>
              <a:rPr sz="2400" b="0">
                <a:latin typeface="Cambria"/>
              </a:rPr>
              <a:t>CMakeLists.txt:</a:t>
            </a:r>
          </a:p>
          <a:p>
            <a:pPr>
              <a:tabLst>
                <a:tab pos="548640" algn="l"/>
                <a:tab pos="3474720" algn="l"/>
              </a:tabLst>
            </a:pPr>
            <a:r>
              <a:rPr sz="2400" b="0">
                <a:latin typeface="Cambria"/>
              </a:rPr>
              <a:t>	cmake_minimum_required ( VERSION 3.16 )</a:t>
            </a:r>
          </a:p>
          <a:p>
            <a:pPr>
              <a:tabLst>
                <a:tab pos="548640" algn="l"/>
                <a:tab pos="3474720" algn="l"/>
              </a:tabLst>
            </a:pPr>
            <a:r>
              <a:rPr sz="2400" b="0">
                <a:latin typeface="Cambria"/>
              </a:rPr>
              <a:t>	project ( myprog C )</a:t>
            </a:r>
          </a:p>
          <a:p>
            <a:pPr>
              <a:tabLst>
                <a:tab pos="548640" algn="l"/>
                <a:tab pos="3474720" algn="l"/>
              </a:tabLst>
            </a:pPr>
            <a:r>
              <a:rPr sz="2400" b="0">
                <a:latin typeface="Cambria"/>
              </a:rPr>
              <a:t>	add_executable ( myprog main.c mysub.c )</a:t>
            </a:r>
          </a:p>
          <a:p>
            <a:pPr>
              <a:tabLst>
                <a:tab pos="548640" algn="l"/>
                <a:tab pos="347472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3474720" algn="l"/>
              </a:tabLst>
            </a:pPr>
            <a:r>
              <a:rPr sz="2400" b="0">
                <a:latin typeface="Cambria"/>
              </a:rPr>
              <a:t>cmake -B build	cmake --build build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Missing Piece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How do you use code </a:t>
            </a:r>
            <a:r>
              <a:rPr sz="2500" b="1">
                <a:latin typeface="Cambria"/>
              </a:rPr>
              <a:t>someone else</a:t>
            </a:r>
            <a:r>
              <a:rPr sz="2500" b="0">
                <a:latin typeface="Cambria"/>
              </a:rPr>
              <a:t> wrote?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C and C++ have </a:t>
            </a:r>
            <a:r>
              <a:rPr sz="2500" b="1">
                <a:latin typeface="Cambria"/>
              </a:rPr>
              <a:t>no standard</a:t>
            </a:r>
            <a:r>
              <a:rPr sz="2500" b="0">
                <a:latin typeface="Cambria"/>
              </a:rPr>
              <a:t> answer: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install a system package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copy the source into your project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tools such as vcpkg or Conan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Versions, flags, and platforms must all match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Building C++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The </a:t>
            </a:r>
            <a:r>
              <a:rPr sz="2500" b="1">
                <a:latin typeface="Cambria"/>
              </a:rPr>
              <a:t>same</a:t>
            </a:r>
            <a:r>
              <a:rPr sz="2500" b="0">
                <a:latin typeface="Cambria"/>
              </a:rPr>
              <a:t> four stages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g++ -std=c++20 -Wall -g main.cpp sample.cpp -o prog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Use  g++  or  clang++,  not  gcc,  to link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so the C++ standard library is included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Name Mangling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4023360" algn="l"/>
              </a:tabLst>
            </a:pPr>
            <a:r>
              <a:rPr sz="2400" b="0">
                <a:latin typeface="Cambria"/>
              </a:rPr>
              <a:t>C++ allows overloading - many  to_psi  functions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400" b="0">
                <a:latin typeface="Cambria"/>
              </a:rPr>
              <a:t>So symbol names encode the parameter types: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400" b="0">
                <a:latin typeface="Cambria"/>
              </a:rPr>
              <a:t>	float to_psi ( unsigned )	_Z6to_psij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400" b="0">
                <a:latin typeface="Cambria"/>
              </a:rPr>
              <a:t>nm -C  shows readable names</a:t>
            </a:r>
          </a:p>
          <a:p>
            <a:pPr>
              <a:tabLst>
                <a:tab pos="548640" algn="l"/>
                <a:tab pos="4023360" algn="l"/>
              </a:tabLst>
            </a:pPr>
            <a:r>
              <a:rPr sz="2400" b="0">
                <a:latin typeface="Cambria"/>
              </a:rPr>
              <a:t>extern "C"  turns mangling off, to call C code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Why C++ Builds Are Slow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Templates live in </a:t>
            </a:r>
            <a:r>
              <a:rPr sz="2500" b="1">
                <a:latin typeface="Cambria"/>
              </a:rPr>
              <a:t>headers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Every file that includes them compiles them again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#include &lt;iostream&gt;  alone adds tens of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thousands of lines to each file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C++20 </a:t>
            </a:r>
            <a:r>
              <a:rPr sz="2500" b="1">
                <a:latin typeface="Cambria"/>
              </a:rPr>
              <a:t>modules</a:t>
            </a:r>
            <a:r>
              <a:rPr sz="2500" b="0">
                <a:latin typeface="Cambria"/>
              </a:rPr>
              <a:t> begin to fix this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Building Rust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2926080" algn="l"/>
              </a:tabLst>
            </a:pPr>
            <a:r>
              <a:rPr sz="2500" b="0">
                <a:latin typeface="Cambria"/>
              </a:rPr>
              <a:t>No preprocessor.  No header files.</a:t>
            </a:r>
          </a:p>
          <a:p>
            <a:pPr>
              <a:tabLst>
                <a:tab pos="29260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2926080" algn="l"/>
              </a:tabLst>
            </a:pPr>
            <a:r>
              <a:rPr sz="2500" b="0">
                <a:latin typeface="Cambria"/>
              </a:rPr>
              <a:t>The compiler,  </a:t>
            </a:r>
            <a:r>
              <a:rPr sz="2500" b="1">
                <a:latin typeface="Cambria"/>
              </a:rPr>
              <a:t>rustc</a:t>
            </a:r>
            <a:r>
              <a:rPr sz="2500" b="0">
                <a:latin typeface="Cambria"/>
              </a:rPr>
              <a:t>,  compiles a whole</a:t>
            </a:r>
          </a:p>
          <a:p>
            <a:pPr>
              <a:tabLst>
                <a:tab pos="2926080" algn="l"/>
              </a:tabLst>
            </a:pPr>
            <a:r>
              <a:rPr sz="2500" b="1">
                <a:latin typeface="Cambria"/>
              </a:rPr>
              <a:t>crate</a:t>
            </a:r>
            <a:r>
              <a:rPr sz="2500" b="0">
                <a:latin typeface="Cambria"/>
              </a:rPr>
              <a:t> at once - not one file at a time</a:t>
            </a:r>
          </a:p>
          <a:p>
            <a:pPr>
              <a:tabLst>
                <a:tab pos="29260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2926080" algn="l"/>
              </a:tabLst>
            </a:pPr>
            <a:r>
              <a:rPr sz="2500" b="0">
                <a:latin typeface="Cambria"/>
              </a:rPr>
              <a:t>Linking still happens, using the system linker</a:t>
            </a:r>
          </a:p>
          <a:p>
            <a:pPr>
              <a:tabLst>
                <a:tab pos="29260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2926080" algn="l"/>
              </a:tabLst>
            </a:pPr>
            <a:r>
              <a:rPr sz="2500" b="0">
                <a:latin typeface="Cambria"/>
              </a:rPr>
              <a:t>rustc main.rs	makes  main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Rust Pipeline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3291840" y="1965960"/>
            <a:ext cx="2194560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the crate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5669280" y="2071115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Cambria"/>
              </a:rPr>
              <a:t>main.rs + every module</a:t>
            </a:r>
          </a:p>
        </p:txBody>
      </p:sp>
      <p:cxnSp>
        <p:nvCxnSpPr>
          <p:cNvPr id="390" name="Connector 389"/>
          <p:cNvCxnSpPr/>
          <p:nvPr/>
        </p:nvCxnSpPr>
        <p:spPr>
          <a:xfrm>
            <a:off x="4389120" y="2468880"/>
            <a:ext cx="0" cy="475488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1" name="TextBox 390"/>
          <p:cNvSpPr txBox="1"/>
          <p:nvPr/>
        </p:nvSpPr>
        <p:spPr>
          <a:xfrm>
            <a:off x="457200" y="2551176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 i="0">
                <a:solidFill>
                  <a:srgbClr val="000000"/>
                </a:solidFill>
                <a:latin typeface="Cambria"/>
              </a:rPr>
              <a:t>type + borrow check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3291840" y="2944368"/>
            <a:ext cx="2194560" cy="50292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checked program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5669280" y="3049523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Cambria"/>
              </a:rPr>
              <a:t>types and borrows OK</a:t>
            </a:r>
          </a:p>
        </p:txBody>
      </p:sp>
      <p:cxnSp>
        <p:nvCxnSpPr>
          <p:cNvPr id="394" name="Connector 393"/>
          <p:cNvCxnSpPr/>
          <p:nvPr/>
        </p:nvCxnSpPr>
        <p:spPr>
          <a:xfrm>
            <a:off x="4389120" y="3447287"/>
            <a:ext cx="0" cy="475488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5" name="TextBox 394"/>
          <p:cNvSpPr txBox="1"/>
          <p:nvPr/>
        </p:nvSpPr>
        <p:spPr>
          <a:xfrm>
            <a:off x="457200" y="3529583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 i="0">
                <a:solidFill>
                  <a:srgbClr val="000000"/>
                </a:solidFill>
                <a:latin typeface="Cambria"/>
              </a:rPr>
              <a:t>lower to LLVM IR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3291840" y="3922776"/>
            <a:ext cx="2194560" cy="50292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LLVM IR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5669280" y="4027932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Cambria"/>
              </a:rPr>
              <a:t>portable intermediate code</a:t>
            </a:r>
          </a:p>
        </p:txBody>
      </p:sp>
      <p:cxnSp>
        <p:nvCxnSpPr>
          <p:cNvPr id="398" name="Connector 397"/>
          <p:cNvCxnSpPr/>
          <p:nvPr/>
        </p:nvCxnSpPr>
        <p:spPr>
          <a:xfrm>
            <a:off x="4389120" y="4425696"/>
            <a:ext cx="0" cy="475487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9" name="TextBox 398"/>
          <p:cNvSpPr txBox="1"/>
          <p:nvPr/>
        </p:nvSpPr>
        <p:spPr>
          <a:xfrm>
            <a:off x="457200" y="4507992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 i="0">
                <a:solidFill>
                  <a:srgbClr val="000000"/>
                </a:solidFill>
                <a:latin typeface="Cambria"/>
              </a:rPr>
              <a:t>optimize + codegen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3291840" y="4901184"/>
            <a:ext cx="2194560" cy="50292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object code</a:t>
            </a:r>
          </a:p>
        </p:txBody>
      </p:sp>
      <p:cxnSp>
        <p:nvCxnSpPr>
          <p:cNvPr id="401" name="Connector 400"/>
          <p:cNvCxnSpPr/>
          <p:nvPr/>
        </p:nvCxnSpPr>
        <p:spPr>
          <a:xfrm>
            <a:off x="4389120" y="5404104"/>
            <a:ext cx="0" cy="475488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TextBox 401"/>
          <p:cNvSpPr txBox="1"/>
          <p:nvPr/>
        </p:nvSpPr>
        <p:spPr>
          <a:xfrm>
            <a:off x="457200" y="5486400"/>
            <a:ext cx="2697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500" b="1" i="0">
                <a:solidFill>
                  <a:srgbClr val="000000"/>
                </a:solidFill>
                <a:latin typeface="Cambria"/>
              </a:rPr>
              <a:t>linker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3291840" y="5879592"/>
            <a:ext cx="2194560" cy="502920"/>
          </a:xfrm>
          <a:prstGeom prst="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executable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7086600" y="5321807"/>
            <a:ext cx="2194560" cy="640080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500" b="1">
                <a:solidFill>
                  <a:srgbClr val="000000"/>
                </a:solidFill>
                <a:latin typeface="Cambria"/>
              </a:rPr>
              <a:t>dependency crates</a:t>
            </a:r>
          </a:p>
        </p:txBody>
      </p:sp>
      <p:cxnSp>
        <p:nvCxnSpPr>
          <p:cNvPr id="405" name="Connector 404"/>
          <p:cNvCxnSpPr/>
          <p:nvPr/>
        </p:nvCxnSpPr>
        <p:spPr>
          <a:xfrm flipH="1">
            <a:off x="4434840" y="5641847"/>
            <a:ext cx="2651760" cy="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 and Rust Compared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667512" y="2057400"/>
            <a:ext cx="2743200" cy="65836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endParaRPr/>
          </a:p>
        </p:txBody>
      </p:sp>
      <p:sp>
        <p:nvSpPr>
          <p:cNvPr id="389" name="Rectangle 388"/>
          <p:cNvSpPr/>
          <p:nvPr/>
        </p:nvSpPr>
        <p:spPr>
          <a:xfrm>
            <a:off x="3410712" y="2057400"/>
            <a:ext cx="2834640" cy="65836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C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6245352" y="2057400"/>
            <a:ext cx="3108960" cy="658368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Rust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667512" y="2715768"/>
            <a:ext cx="274320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Unit of compilation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3410712" y="2715768"/>
            <a:ext cx="283464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one .c file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6245352" y="2715768"/>
            <a:ext cx="310896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one crate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667512" y="3374136"/>
            <a:ext cx="274320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Declarations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3410712" y="3374136"/>
            <a:ext cx="283464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header files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6245352" y="3374136"/>
            <a:ext cx="310896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the compiler sees all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667512" y="4032504"/>
            <a:ext cx="274320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Text inclusion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3410712" y="4032504"/>
            <a:ext cx="283464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#include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6245352" y="4032504"/>
            <a:ext cx="310896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none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667512" y="4690872"/>
            <a:ext cx="274320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Build description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3410712" y="4690872"/>
            <a:ext cx="283464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Makefile, CMake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6245352" y="4690872"/>
            <a:ext cx="310896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Cargo.toml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667512" y="5349240"/>
            <a:ext cx="2743200" cy="658368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1">
                <a:solidFill>
                  <a:srgbClr val="000000"/>
                </a:solidFill>
                <a:latin typeface="Cambria"/>
              </a:rPr>
              <a:t>Other people's code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3410712" y="5349240"/>
            <a:ext cx="283464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install by hand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6245352" y="5349240"/>
            <a:ext cx="3108960" cy="658368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700" b="0">
                <a:solidFill>
                  <a:srgbClr val="000000"/>
                </a:solidFill>
                <a:latin typeface="Cambria"/>
              </a:rPr>
              <a:t>crates.io + Cargo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Is a Crate?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The </a:t>
            </a:r>
            <a:r>
              <a:rPr sz="2800" b="1">
                <a:latin typeface="Cambria"/>
              </a:rPr>
              <a:t>unit of compilation</a:t>
            </a:r>
            <a:r>
              <a:rPr sz="2800" b="0">
                <a:latin typeface="Cambria"/>
              </a:rPr>
              <a:t> in Rust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One crate  =  one run of  rustc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Produces either an </a:t>
            </a:r>
            <a:r>
              <a:rPr sz="2800" b="1">
                <a:latin typeface="Cambria"/>
              </a:rPr>
              <a:t>executable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or a </a:t>
            </a:r>
            <a:r>
              <a:rPr sz="2800" b="1">
                <a:latin typeface="Cambria"/>
              </a:rPr>
              <a:t>library</a:t>
            </a:r>
            <a:r>
              <a:rPr sz="2800" b="0">
                <a:latin typeface="Cambria"/>
              </a:rPr>
              <a:t> other crates can use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A crate may be one file or hundreds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Binary and Library Crates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Binary crate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has a  main  function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builds an </a:t>
            </a:r>
            <a:r>
              <a:rPr sz="2500" b="1">
                <a:latin typeface="Cambria"/>
              </a:rPr>
              <a:t>executable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Library crate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no  main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builds a  .rlib  for other crates to use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Like a C program versus a C library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Crate Root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291840" algn="l"/>
              </a:tabLst>
            </a:pPr>
            <a:r>
              <a:rPr sz="2600" b="0">
                <a:latin typeface="Cambria"/>
              </a:rPr>
              <a:t>The file  rustc  starts from: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 b="0">
                <a:latin typeface="Cambria"/>
              </a:rPr>
              <a:t>	src/main.rs	binary crate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 b="0">
                <a:latin typeface="Cambria"/>
              </a:rPr>
              <a:t>	src/lib.rs	library crate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 b="0">
                <a:latin typeface="Cambria"/>
              </a:rPr>
              <a:t>Every other file joins the crate through</a:t>
            </a:r>
          </a:p>
          <a:p>
            <a:pPr>
              <a:tabLst>
                <a:tab pos="548640" algn="l"/>
                <a:tab pos="3291840" algn="l"/>
              </a:tabLst>
            </a:pPr>
            <a:r>
              <a:rPr sz="2600" b="0">
                <a:latin typeface="Cambria"/>
              </a:rPr>
              <a:t>a  </a:t>
            </a:r>
            <a:r>
              <a:rPr sz="2600" b="1">
                <a:latin typeface="Cambria"/>
              </a:rPr>
              <a:t>mod</a:t>
            </a:r>
            <a:r>
              <a:rPr sz="2600" b="0">
                <a:latin typeface="Cambria"/>
              </a:rPr>
              <a:t>  line in the root or its children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Modules Inside a Crate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3566160" algn="l"/>
              </a:tabLst>
            </a:pPr>
            <a:r>
              <a:rPr sz="2300" b="0">
                <a:latin typeface="Cambria"/>
              </a:rPr>
              <a:t>src/main.rs</a:t>
            </a:r>
          </a:p>
          <a:p>
            <a:pPr>
              <a:tabLst>
                <a:tab pos="548640" algn="l"/>
                <a:tab pos="3566160" algn="l"/>
              </a:tabLst>
            </a:pPr>
            <a:r>
              <a:rPr sz="2300" b="0">
                <a:latin typeface="Cambria"/>
              </a:rPr>
              <a:t>	mod sensor ;	loads  src/sensor.rs</a:t>
            </a:r>
          </a:p>
          <a:p>
            <a:pPr>
              <a:tabLst>
                <a:tab pos="548640" algn="l"/>
                <a:tab pos="3566160" algn="l"/>
              </a:tabLst>
            </a:pPr>
            <a:r>
              <a:rPr sz="2300" b="0">
                <a:latin typeface="Cambria"/>
              </a:rPr>
              <a:t>	mod display ;	loads  src/display.rs</a:t>
            </a:r>
          </a:p>
          <a:p>
            <a:pPr>
              <a:tabLst>
                <a:tab pos="548640" algn="l"/>
                <a:tab pos="35661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3566160" algn="l"/>
              </a:tabLst>
            </a:pPr>
            <a:r>
              <a:rPr sz="2300" b="0">
                <a:latin typeface="Cambria"/>
              </a:rPr>
              <a:t>src/sensor.rs</a:t>
            </a:r>
          </a:p>
          <a:p>
            <a:pPr>
              <a:tabLst>
                <a:tab pos="548640" algn="l"/>
                <a:tab pos="3566160" algn="l"/>
              </a:tabLst>
            </a:pPr>
            <a:r>
              <a:rPr sz="2300" b="0">
                <a:latin typeface="Cambria"/>
              </a:rPr>
              <a:t>	pub mod calibrate ;	loads  src/sensor/calibrate.rs</a:t>
            </a:r>
          </a:p>
          <a:p>
            <a:pPr>
              <a:tabLst>
                <a:tab pos="548640" algn="l"/>
                <a:tab pos="3566160" algn="l"/>
              </a:tabLst>
            </a:pPr>
            <a:r>
              <a:rPr sz="2300" b="0">
                <a:latin typeface="Cambria"/>
              </a:rPr>
              <a:t>	pub fn adc_to_psi ( counts : u32 ) -&gt; f32 { ... 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Module Tree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3611880" y="2103120"/>
            <a:ext cx="2377440" cy="658368"/>
          </a:xfrm>
          <a:prstGeom prst="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crate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3337560" y="2807207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mbria"/>
              </a:rPr>
              <a:t>src/main.rs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1463040" y="3657600"/>
            <a:ext cx="2377440" cy="658368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sensor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188720" y="4361688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mbria"/>
              </a:rPr>
              <a:t>src/sensor.rs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5760720" y="3657600"/>
            <a:ext cx="2377440" cy="658368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display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5486400" y="4361688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mbria"/>
              </a:rPr>
              <a:t>src/display.rs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1463040" y="5212080"/>
            <a:ext cx="2377440" cy="658368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calibrate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1188720" y="5916168"/>
            <a:ext cx="29260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mbria"/>
              </a:rPr>
              <a:t>src/sensor/calibrate.rs</a:t>
            </a:r>
          </a:p>
        </p:txBody>
      </p:sp>
      <p:cxnSp>
        <p:nvCxnSpPr>
          <p:cNvPr id="396" name="Connector 395"/>
          <p:cNvCxnSpPr/>
          <p:nvPr/>
        </p:nvCxnSpPr>
        <p:spPr>
          <a:xfrm flipH="1">
            <a:off x="2651760" y="3108959"/>
            <a:ext cx="2148840" cy="548641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4800600" y="3108959"/>
            <a:ext cx="2148840" cy="548641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2651760" y="4663440"/>
            <a:ext cx="0" cy="548640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9" name="TextBox 398"/>
          <p:cNvSpPr txBox="1"/>
          <p:nvPr/>
        </p:nvSpPr>
        <p:spPr>
          <a:xfrm>
            <a:off x="4572000" y="5486400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mbria"/>
              </a:rPr>
              <a:t>crate::sensor::calibrate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Paths to Items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4572000" algn="l"/>
              </a:tabLst>
            </a:pPr>
            <a:r>
              <a:rPr sz="2400" b="0">
                <a:latin typeface="Cambria"/>
              </a:rPr>
              <a:t>crate::sensor::adc_to_psi	from the crate root</a:t>
            </a:r>
          </a:p>
          <a:p>
            <a:pPr>
              <a:tabLst>
                <a:tab pos="548640" algn="l"/>
                <a:tab pos="4572000" algn="l"/>
              </a:tabLst>
            </a:pPr>
            <a:r>
              <a:rPr sz="2400" b="0">
                <a:latin typeface="Cambria"/>
              </a:rPr>
              <a:t>self::helper	this module</a:t>
            </a:r>
          </a:p>
          <a:p>
            <a:pPr>
              <a:tabLst>
                <a:tab pos="548640" algn="l"/>
                <a:tab pos="4572000" algn="l"/>
              </a:tabLst>
            </a:pPr>
            <a:r>
              <a:rPr sz="2400" b="0">
                <a:latin typeface="Cambria"/>
              </a:rPr>
              <a:t>super::adc_to_psi	the parent module</a:t>
            </a:r>
          </a:p>
          <a:p>
            <a:pPr>
              <a:tabLst>
                <a:tab pos="548640" algn="l"/>
                <a:tab pos="457200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4572000" algn="l"/>
              </a:tabLst>
            </a:pPr>
            <a:r>
              <a:rPr sz="2400" b="0">
                <a:latin typeface="Cambria"/>
              </a:rPr>
              <a:t>use  shortens a path:</a:t>
            </a:r>
          </a:p>
          <a:p>
            <a:pPr>
              <a:tabLst>
                <a:tab pos="548640" algn="l"/>
                <a:tab pos="4572000" algn="l"/>
              </a:tabLst>
            </a:pPr>
            <a:r>
              <a:rPr sz="2400" b="0">
                <a:latin typeface="Cambria"/>
              </a:rPr>
              <a:t>	use crate::sensor::adc_to_psi ;</a:t>
            </a:r>
          </a:p>
          <a:p>
            <a:pPr>
              <a:tabLst>
                <a:tab pos="548640" algn="l"/>
                <a:tab pos="4572000" algn="l"/>
              </a:tabLst>
            </a:pPr>
            <a:r>
              <a:rPr sz="2400" b="0">
                <a:latin typeface="Cambria"/>
              </a:rPr>
              <a:t>	let psi = adc_to_psi ( 1456 ) 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Visibility in a Crate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4206240" algn="l"/>
              </a:tabLst>
            </a:pPr>
            <a:r>
              <a:rPr sz="2400" b="0">
                <a:latin typeface="Cambria"/>
              </a:rPr>
              <a:t>fn helper ( )	private to its module</a:t>
            </a:r>
          </a:p>
          <a:p>
            <a:pPr>
              <a:tabLst>
                <a:tab pos="4206240" algn="l"/>
              </a:tabLst>
            </a:pPr>
            <a:r>
              <a:rPr sz="2400" b="0">
                <a:latin typeface="Cambria"/>
              </a:rPr>
              <a:t>pub fn adc_to_psi ( )	visible to parent and beyond</a:t>
            </a:r>
          </a:p>
          <a:p>
            <a:pPr>
              <a:tabLst>
                <a:tab pos="4206240" algn="l"/>
              </a:tabLst>
            </a:pPr>
            <a:r>
              <a:rPr sz="2400" b="0">
                <a:latin typeface="Cambria"/>
              </a:rPr>
              <a:t>pub(crate) fn tool ( )	anywhere in </a:t>
            </a:r>
            <a:r>
              <a:rPr sz="2400" b="1">
                <a:latin typeface="Cambria"/>
              </a:rPr>
              <a:t>this</a:t>
            </a:r>
            <a:r>
              <a:rPr sz="2400" b="0">
                <a:latin typeface="Cambria"/>
              </a:rPr>
              <a:t> crate</a:t>
            </a:r>
          </a:p>
          <a:p>
            <a:pPr>
              <a:tabLst>
                <a:tab pos="42062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4206240" algn="l"/>
              </a:tabLst>
            </a:pPr>
            <a:r>
              <a:rPr sz="2400" b="0">
                <a:latin typeface="Cambria"/>
              </a:rPr>
              <a:t>Only  </a:t>
            </a:r>
            <a:r>
              <a:rPr sz="2400" b="1">
                <a:latin typeface="Cambria"/>
              </a:rPr>
              <a:t>pub</a:t>
            </a:r>
            <a:r>
              <a:rPr sz="2400" b="0">
                <a:latin typeface="Cambria"/>
              </a:rPr>
              <a:t>  items can be used by other crates</a:t>
            </a:r>
          </a:p>
          <a:p>
            <a:pPr>
              <a:tabLst>
                <a:tab pos="420624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4206240" algn="l"/>
              </a:tabLst>
            </a:pPr>
            <a:r>
              <a:rPr sz="2400" b="0">
                <a:latin typeface="Cambria"/>
              </a:rPr>
              <a:t>The crate is the boundary of a library's API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Packages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A </a:t>
            </a:r>
            <a:r>
              <a:rPr sz="2600" b="1">
                <a:latin typeface="Cambria"/>
              </a:rPr>
              <a:t>package</a:t>
            </a:r>
            <a:r>
              <a:rPr sz="2600" b="0">
                <a:latin typeface="Cambria"/>
              </a:rPr>
              <a:t> is a  Cargo.toml  plus its crates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At most </a:t>
            </a:r>
            <a:r>
              <a:rPr sz="2600" b="1">
                <a:latin typeface="Cambria"/>
              </a:rPr>
              <a:t>one</a:t>
            </a:r>
            <a:r>
              <a:rPr sz="2600" b="0">
                <a:latin typeface="Cambria"/>
              </a:rPr>
              <a:t> library crate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Any number of binary crates: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src/main.rs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src/bin/calibrate.rs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600" b="0">
                <a:latin typeface="Cambria"/>
              </a:rPr>
              <a:t>	src/bin/log_dump.rs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A Package on Disk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3657600" algn="l"/>
              </a:tabLst>
            </a:pPr>
            <a:r>
              <a:rPr sz="2300" b="0">
                <a:latin typeface="Cambria"/>
              </a:rPr>
              <a:t>oil_gauge/</a:t>
            </a:r>
          </a:p>
          <a:p>
            <a:pPr>
              <a:tabLst>
                <a:tab pos="548640" algn="l"/>
                <a:tab pos="1097280" algn="l"/>
                <a:tab pos="3657600" algn="l"/>
              </a:tabLst>
            </a:pPr>
            <a:r>
              <a:rPr sz="2300" b="0">
                <a:latin typeface="Cambria"/>
              </a:rPr>
              <a:t>	Cargo.toml	the manifest</a:t>
            </a:r>
          </a:p>
          <a:p>
            <a:pPr>
              <a:tabLst>
                <a:tab pos="548640" algn="l"/>
                <a:tab pos="1097280" algn="l"/>
                <a:tab pos="3657600" algn="l"/>
              </a:tabLst>
            </a:pPr>
            <a:r>
              <a:rPr sz="2300" b="0">
                <a:latin typeface="Cambria"/>
              </a:rPr>
              <a:t>	Cargo.lock	exact dependency versions</a:t>
            </a:r>
          </a:p>
          <a:p>
            <a:pPr>
              <a:tabLst>
                <a:tab pos="548640" algn="l"/>
                <a:tab pos="1097280" algn="l"/>
                <a:tab pos="3657600" algn="l"/>
              </a:tabLst>
            </a:pPr>
            <a:r>
              <a:rPr sz="2300" b="0">
                <a:latin typeface="Cambria"/>
              </a:rPr>
              <a:t>	src/</a:t>
            </a:r>
          </a:p>
          <a:p>
            <a:pPr>
              <a:tabLst>
                <a:tab pos="548640" algn="l"/>
                <a:tab pos="1097280" algn="l"/>
                <a:tab pos="3657600" algn="l"/>
              </a:tabLst>
            </a:pPr>
            <a:r>
              <a:rPr sz="2300" b="0">
                <a:latin typeface="Cambria"/>
              </a:rPr>
              <a:t>		main.rs	binary crate root</a:t>
            </a:r>
          </a:p>
          <a:p>
            <a:pPr>
              <a:tabLst>
                <a:tab pos="548640" algn="l"/>
                <a:tab pos="1097280" algn="l"/>
                <a:tab pos="3657600" algn="l"/>
              </a:tabLst>
            </a:pPr>
            <a:r>
              <a:rPr sz="2300" b="0">
                <a:latin typeface="Cambria"/>
              </a:rPr>
              <a:t>		lib.rs	library crate root</a:t>
            </a:r>
          </a:p>
          <a:p>
            <a:pPr>
              <a:tabLst>
                <a:tab pos="548640" algn="l"/>
                <a:tab pos="1097280" algn="l"/>
                <a:tab pos="3657600" algn="l"/>
              </a:tabLst>
            </a:pPr>
            <a:r>
              <a:rPr sz="2300" b="0">
                <a:latin typeface="Cambria"/>
              </a:rPr>
              <a:t>		sensor.rs	a module</a:t>
            </a:r>
          </a:p>
          <a:p>
            <a:pPr>
              <a:tabLst>
                <a:tab pos="548640" algn="l"/>
                <a:tab pos="1097280" algn="l"/>
                <a:tab pos="3657600" algn="l"/>
              </a:tabLst>
            </a:pPr>
            <a:r>
              <a:rPr sz="2300" b="0">
                <a:latin typeface="Cambria"/>
              </a:rPr>
              <a:t>	tests/	integration tests</a:t>
            </a:r>
          </a:p>
          <a:p>
            <a:pPr>
              <a:tabLst>
                <a:tab pos="548640" algn="l"/>
                <a:tab pos="1097280" algn="l"/>
                <a:tab pos="3657600" algn="l"/>
              </a:tabLst>
            </a:pPr>
            <a:r>
              <a:rPr sz="2300" b="0">
                <a:latin typeface="Cambria"/>
              </a:rPr>
              <a:t>	target/	all build output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Cargo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Rust's </a:t>
            </a:r>
            <a:r>
              <a:rPr sz="2500" b="1">
                <a:latin typeface="Cambria"/>
              </a:rPr>
              <a:t>build tool</a:t>
            </a:r>
            <a:r>
              <a:rPr sz="2500" b="0">
                <a:latin typeface="Cambria"/>
              </a:rPr>
              <a:t> and </a:t>
            </a:r>
            <a:r>
              <a:rPr sz="2500" b="1">
                <a:latin typeface="Cambria"/>
              </a:rPr>
              <a:t>package manager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One tool to: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create a package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build and run it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test it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fetch and build its dependencies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Replaces make,  CMake,  and hand-installed libraries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cargo new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4754880" algn="l"/>
              </a:tabLst>
            </a:pPr>
            <a:r>
              <a:rPr sz="2500" b="0">
                <a:latin typeface="Cambria"/>
              </a:rPr>
              <a:t>cargo new oil_gauge</a:t>
            </a:r>
          </a:p>
          <a:p>
            <a:pPr>
              <a:tabLst>
                <a:tab pos="548640" algn="l"/>
                <a:tab pos="47548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4754880" algn="l"/>
              </a:tabLst>
            </a:pPr>
            <a:r>
              <a:rPr sz="2500" b="0">
                <a:latin typeface="Cambria"/>
              </a:rPr>
              <a:t>Creates:</a:t>
            </a:r>
          </a:p>
          <a:p>
            <a:pPr>
              <a:tabLst>
                <a:tab pos="548640" algn="l"/>
                <a:tab pos="4754880" algn="l"/>
              </a:tabLst>
            </a:pPr>
            <a:r>
              <a:rPr sz="2500" b="0">
                <a:latin typeface="Cambria"/>
              </a:rPr>
              <a:t>	Cargo.toml</a:t>
            </a:r>
          </a:p>
          <a:p>
            <a:pPr>
              <a:tabLst>
                <a:tab pos="548640" algn="l"/>
                <a:tab pos="4754880" algn="l"/>
              </a:tabLst>
            </a:pPr>
            <a:r>
              <a:rPr sz="2500" b="0">
                <a:latin typeface="Cambria"/>
              </a:rPr>
              <a:t>	src/main.rs  with a hello world</a:t>
            </a:r>
          </a:p>
          <a:p>
            <a:pPr>
              <a:tabLst>
                <a:tab pos="548640" algn="l"/>
                <a:tab pos="4754880" algn="l"/>
              </a:tabLst>
            </a:pPr>
            <a:r>
              <a:rPr sz="2500" b="0">
                <a:latin typeface="Cambria"/>
              </a:rPr>
              <a:t>	a </a:t>
            </a:r>
            <a:r>
              <a:rPr sz="2500" b="1">
                <a:latin typeface="Cambria"/>
              </a:rPr>
              <a:t>git</a:t>
            </a:r>
            <a:r>
              <a:rPr sz="2500" b="0">
                <a:latin typeface="Cambria"/>
              </a:rPr>
              <a:t> repository and  .gitignore</a:t>
            </a:r>
          </a:p>
          <a:p>
            <a:pPr>
              <a:tabLst>
                <a:tab pos="548640" algn="l"/>
                <a:tab pos="475488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4754880" algn="l"/>
              </a:tabLst>
            </a:pPr>
            <a:r>
              <a:rPr sz="2500" b="0">
                <a:latin typeface="Cambria"/>
              </a:rPr>
              <a:t>cargo new --lib gauge_core	for a library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Cargo.toml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[package]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name = "oil_gauge"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version = "0.1.0"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edition = "2024"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[dependencies]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The </a:t>
            </a:r>
            <a:r>
              <a:rPr sz="2500" b="1">
                <a:latin typeface="Cambria"/>
              </a:rPr>
              <a:t>manifest</a:t>
            </a:r>
            <a:r>
              <a:rPr sz="2500" b="0">
                <a:latin typeface="Cambria"/>
              </a:rPr>
              <a:t>:  what the package is,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and what it needs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Editions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An </a:t>
            </a:r>
            <a:r>
              <a:rPr sz="2500" b="1">
                <a:latin typeface="Cambria"/>
              </a:rPr>
              <a:t>edition</a:t>
            </a:r>
            <a:r>
              <a:rPr sz="2500" b="0">
                <a:latin typeface="Cambria"/>
              </a:rPr>
              <a:t> fixes the language rules for a crate: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2015,  2018,  2021,  2024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New editions can change syntax without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breaking old code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Crates of </a:t>
            </a:r>
            <a:r>
              <a:rPr sz="2500" b="1">
                <a:latin typeface="Cambria"/>
              </a:rPr>
              <a:t>different</a:t>
            </a:r>
            <a:r>
              <a:rPr sz="2500" b="0">
                <a:latin typeface="Cambria"/>
              </a:rPr>
              <a:t> editions link together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without any problem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Everyday Cargo Commands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840480" algn="l"/>
              </a:tabLst>
            </a:pPr>
            <a:r>
              <a:rPr sz="2300" b="0">
                <a:latin typeface="Cambria"/>
              </a:rPr>
              <a:t>cargo build	compile into  target/debug</a:t>
            </a:r>
          </a:p>
          <a:p>
            <a:pPr>
              <a:tabLst>
                <a:tab pos="3840480" algn="l"/>
              </a:tabLst>
            </a:pPr>
            <a:r>
              <a:rPr sz="2300" b="0">
                <a:latin typeface="Cambria"/>
              </a:rPr>
              <a:t>cargo run	build if needed, then run</a:t>
            </a:r>
          </a:p>
          <a:p>
            <a:pPr>
              <a:tabLst>
                <a:tab pos="3840480" algn="l"/>
              </a:tabLst>
            </a:pPr>
            <a:r>
              <a:rPr sz="2300" b="0">
                <a:latin typeface="Cambria"/>
              </a:rPr>
              <a:t>cargo check	type check only - fast</a:t>
            </a:r>
          </a:p>
          <a:p>
            <a:pPr>
              <a:tabLst>
                <a:tab pos="3840480" algn="l"/>
              </a:tabLst>
            </a:pPr>
            <a:r>
              <a:rPr sz="2300" b="0">
                <a:latin typeface="Cambria"/>
              </a:rPr>
              <a:t>cargo test	build and run the tests</a:t>
            </a:r>
          </a:p>
          <a:p>
            <a:pPr>
              <a:tabLst>
                <a:tab pos="3840480" algn="l"/>
              </a:tabLst>
            </a:pPr>
            <a:r>
              <a:rPr sz="2300" b="0">
                <a:latin typeface="Cambria"/>
              </a:rPr>
              <a:t>cargo build --release	optimized, into  target/release</a:t>
            </a:r>
          </a:p>
          <a:p>
            <a:pPr>
              <a:tabLst>
                <a:tab pos="3840480" algn="l"/>
              </a:tabLst>
            </a:pPr>
            <a:r>
              <a:rPr sz="2300" b="0">
                <a:latin typeface="Cambria"/>
              </a:rPr>
              <a:t>cargo clean	delete  target/</a:t>
            </a:r>
          </a:p>
          <a:p>
            <a:pPr>
              <a:tabLst>
                <a:tab pos="3840480" algn="l"/>
              </a:tabLst>
            </a:pPr>
            <a:r>
              <a:rPr sz="2300" b="0">
                <a:latin typeface="Cambria"/>
              </a:rPr>
              <a:t>cargo doc --open	documentation for every crate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Debug and Release Profiles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2194560" algn="l"/>
              </a:tabLst>
            </a:pPr>
            <a:r>
              <a:rPr sz="2500" b="1">
                <a:latin typeface="Cambria"/>
              </a:rPr>
              <a:t>debug</a:t>
            </a:r>
            <a:r>
              <a:rPr sz="2500" b="0">
                <a:latin typeface="Cambria"/>
              </a:rPr>
              <a:t>	( cargo build )</a:t>
            </a:r>
          </a:p>
          <a:p>
            <a:pPr>
              <a:tabLst>
                <a:tab pos="548640" algn="l"/>
                <a:tab pos="2194560" algn="l"/>
              </a:tabLst>
            </a:pPr>
            <a:r>
              <a:rPr sz="2500" b="0">
                <a:latin typeface="Cambria"/>
              </a:rPr>
              <a:t>	no optimization,  full debug info</a:t>
            </a:r>
          </a:p>
          <a:p>
            <a:pPr>
              <a:tabLst>
                <a:tab pos="548640" algn="l"/>
                <a:tab pos="2194560" algn="l"/>
              </a:tabLst>
            </a:pPr>
            <a:r>
              <a:rPr sz="2500" b="0">
                <a:latin typeface="Cambria"/>
              </a:rPr>
              <a:t>	overflow </a:t>
            </a:r>
            <a:r>
              <a:rPr sz="2500" b="1">
                <a:latin typeface="Cambria"/>
              </a:rPr>
              <a:t>panics</a:t>
            </a:r>
          </a:p>
          <a:p>
            <a:pPr>
              <a:tabLst>
                <a:tab pos="54864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2194560" algn="l"/>
              </a:tabLst>
            </a:pPr>
            <a:r>
              <a:rPr sz="2500" b="1">
                <a:latin typeface="Cambria"/>
              </a:rPr>
              <a:t>release</a:t>
            </a:r>
            <a:r>
              <a:rPr sz="2500" b="0">
                <a:latin typeface="Cambria"/>
              </a:rPr>
              <a:t>	( cargo build --release )</a:t>
            </a:r>
          </a:p>
          <a:p>
            <a:pPr>
              <a:tabLst>
                <a:tab pos="548640" algn="l"/>
                <a:tab pos="2194560" algn="l"/>
              </a:tabLst>
            </a:pPr>
            <a:r>
              <a:rPr sz="2500" b="0">
                <a:latin typeface="Cambria"/>
              </a:rPr>
              <a:t>	fully optimized,  no debug info</a:t>
            </a:r>
          </a:p>
          <a:p>
            <a:pPr>
              <a:tabLst>
                <a:tab pos="548640" algn="l"/>
                <a:tab pos="2194560" algn="l"/>
              </a:tabLst>
            </a:pPr>
            <a:r>
              <a:rPr sz="2500" b="0">
                <a:latin typeface="Cambria"/>
              </a:rPr>
              <a:t>	overflow </a:t>
            </a:r>
            <a:r>
              <a:rPr sz="2500" b="1">
                <a:latin typeface="Cambria"/>
              </a:rPr>
              <a:t>wraps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cargo check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Runs the </a:t>
            </a:r>
            <a:r>
              <a:rPr sz="2800" b="1">
                <a:latin typeface="Cambria"/>
              </a:rPr>
              <a:t>type</a:t>
            </a:r>
            <a:r>
              <a:rPr sz="2800" b="0">
                <a:latin typeface="Cambria"/>
              </a:rPr>
              <a:t> and </a:t>
            </a:r>
            <a:r>
              <a:rPr sz="2800" b="1">
                <a:latin typeface="Cambria"/>
              </a:rPr>
              <a:t>borrow</a:t>
            </a:r>
            <a:r>
              <a:rPr sz="2800" b="0">
                <a:latin typeface="Cambria"/>
              </a:rPr>
              <a:t> checks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but generates no machine code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Much faster than  cargo build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Use it constantly while writing code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Build when you are ready to run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Using Someone Else's Crate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1">
                <a:latin typeface="Cambria"/>
              </a:rPr>
              <a:t>crates.io</a:t>
            </a:r>
            <a:r>
              <a:rPr sz="2500" b="0">
                <a:latin typeface="Cambria"/>
              </a:rPr>
              <a:t>  is the public registry of Rust crates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Add a dependency: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cargo add rand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or edit  Cargo.toml  by hand: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[dependencies]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rand = "0.9"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Cargo Does With It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</a:tabLst>
            </a:pPr>
            <a:r>
              <a:rPr sz="2600" b="0">
                <a:latin typeface="Cambria"/>
              </a:rPr>
              <a:t>1.	</a:t>
            </a:r>
            <a:r>
              <a:rPr sz="2600" b="1">
                <a:latin typeface="Cambria"/>
              </a:rPr>
              <a:t>Download</a:t>
            </a:r>
            <a:r>
              <a:rPr sz="2600" b="0">
                <a:latin typeface="Cambria"/>
              </a:rPr>
              <a:t> the crate's source</a:t>
            </a:r>
          </a:p>
          <a:p>
            <a:pPr>
              <a:tabLst>
                <a:tab pos="54864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</a:tabLst>
            </a:pPr>
            <a:r>
              <a:rPr sz="2600" b="0">
                <a:latin typeface="Cambria"/>
              </a:rPr>
              <a:t>2.	Do the same for </a:t>
            </a:r>
            <a:r>
              <a:rPr sz="2600" b="1">
                <a:latin typeface="Cambria"/>
              </a:rPr>
              <a:t>its</a:t>
            </a:r>
            <a:r>
              <a:rPr sz="2600" b="0">
                <a:latin typeface="Cambria"/>
              </a:rPr>
              <a:t> dependencies</a:t>
            </a:r>
          </a:p>
          <a:p>
            <a:pPr>
              <a:tabLst>
                <a:tab pos="54864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</a:tabLst>
            </a:pPr>
            <a:r>
              <a:rPr sz="2600" b="0">
                <a:latin typeface="Cambria"/>
              </a:rPr>
              <a:t>3.	</a:t>
            </a:r>
            <a:r>
              <a:rPr sz="2600" b="1">
                <a:latin typeface="Cambria"/>
              </a:rPr>
              <a:t>Compile</a:t>
            </a:r>
            <a:r>
              <a:rPr sz="2600" b="0">
                <a:latin typeface="Cambria"/>
              </a:rPr>
              <a:t> each one as its own crate</a:t>
            </a:r>
          </a:p>
          <a:p>
            <a:pPr>
              <a:tabLst>
                <a:tab pos="548640" algn="l"/>
              </a:tabLst>
            </a:pPr>
            <a:r>
              <a:rPr sz="2600">
                <a:latin typeface="Cambria"/>
              </a:rPr>
              <a:t> </a:t>
            </a:r>
          </a:p>
          <a:p>
            <a:pPr>
              <a:tabLst>
                <a:tab pos="548640" algn="l"/>
              </a:tabLst>
            </a:pPr>
            <a:r>
              <a:rPr sz="2600" b="0">
                <a:latin typeface="Cambria"/>
              </a:rPr>
              <a:t>4.	</a:t>
            </a:r>
            <a:r>
              <a:rPr sz="2600" b="1">
                <a:latin typeface="Cambria"/>
              </a:rPr>
              <a:t>Link</a:t>
            </a:r>
            <a:r>
              <a:rPr sz="2600" b="0">
                <a:latin typeface="Cambria"/>
              </a:rPr>
              <a:t> them all into your program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Crate Dependency Graph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3931920" y="2148840"/>
            <a:ext cx="2194560" cy="603504"/>
          </a:xfrm>
          <a:prstGeom prst="rect">
            <a:avLst/>
          </a:prstGeom>
          <a:solidFill>
            <a:srgbClr val="F2F2F2"/>
          </a:solidFill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oil_gauge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2011680" y="3657600"/>
            <a:ext cx="2194560" cy="603504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rand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5852160" y="3657600"/>
            <a:ext cx="2194560" cy="603504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serde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3931920" y="5166360"/>
            <a:ext cx="2194560" cy="603504"/>
          </a:xfrm>
          <a:prstGeom prst="rect">
            <a:avLst/>
          </a:prstGeom>
          <a:noFill/>
          <a:ln w="1905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0" rIns="18000" bIns="0" rtlCol="0" anchor="ctr"/>
          <a:lstStyle/>
          <a:p>
            <a:pPr algn="ctr"/>
            <a:r>
              <a:rPr sz="1800" b="1">
                <a:solidFill>
                  <a:srgbClr val="000000"/>
                </a:solidFill>
                <a:latin typeface="Cambria"/>
              </a:rPr>
              <a:t>shared crate</a:t>
            </a:r>
          </a:p>
        </p:txBody>
      </p:sp>
      <p:cxnSp>
        <p:nvCxnSpPr>
          <p:cNvPr id="392" name="Connector 391"/>
          <p:cNvCxnSpPr/>
          <p:nvPr/>
        </p:nvCxnSpPr>
        <p:spPr>
          <a:xfrm flipH="1">
            <a:off x="3108960" y="2752344"/>
            <a:ext cx="1920240" cy="905256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5029200" y="2752344"/>
            <a:ext cx="1920240" cy="905256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3108960" y="4261104"/>
            <a:ext cx="1920240" cy="905256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H="1">
            <a:off x="5029200" y="4261104"/>
            <a:ext cx="1920240" cy="905256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TextBox 395"/>
          <p:cNvSpPr txBox="1"/>
          <p:nvPr/>
        </p:nvSpPr>
        <p:spPr>
          <a:xfrm>
            <a:off x="667512" y="6126480"/>
            <a:ext cx="8686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0" i="1">
                <a:solidFill>
                  <a:srgbClr val="000000"/>
                </a:solidFill>
                <a:latin typeface="Cambria"/>
              </a:rPr>
              <a:t>Arrows point to dependencies.  The shared crate is built only once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Version Requirements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566160" algn="l"/>
              </a:tabLst>
            </a:pPr>
            <a:r>
              <a:rPr sz="2300" b="0">
                <a:latin typeface="Cambria"/>
              </a:rPr>
              <a:t>Semantic versioning:	MAJOR . MINOR . PATCH</a:t>
            </a:r>
          </a:p>
          <a:p>
            <a:pPr>
              <a:tabLst>
                <a:tab pos="35661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3566160" algn="l"/>
              </a:tabLst>
            </a:pPr>
            <a:r>
              <a:rPr sz="2300" b="0">
                <a:latin typeface="Cambria"/>
              </a:rPr>
              <a:t>rand = "0.9"	any compatible 0.9.x</a:t>
            </a:r>
          </a:p>
          <a:p>
            <a:pPr>
              <a:tabLst>
                <a:tab pos="3566160" algn="l"/>
              </a:tabLst>
            </a:pPr>
            <a:r>
              <a:rPr sz="2300" b="0">
                <a:latin typeface="Cambria"/>
              </a:rPr>
              <a:t>serde = "1.0"	1.0.0 up to, not including, 2.0.0</a:t>
            </a:r>
          </a:p>
          <a:p>
            <a:pPr>
              <a:tabLst>
                <a:tab pos="3566160" algn="l"/>
              </a:tabLst>
            </a:pPr>
            <a:r>
              <a:rPr sz="2300" b="0">
                <a:latin typeface="Cambria"/>
              </a:rPr>
              <a:t>foo = "=1.2.3"	exactly 1.2.3</a:t>
            </a:r>
          </a:p>
          <a:p>
            <a:pPr>
              <a:tabLst>
                <a:tab pos="35661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3566160" algn="l"/>
              </a:tabLst>
            </a:pPr>
            <a:r>
              <a:rPr sz="2300" b="0">
                <a:latin typeface="Cambria"/>
              </a:rPr>
              <a:t>A new </a:t>
            </a:r>
            <a:r>
              <a:rPr sz="2300" b="1">
                <a:latin typeface="Cambria"/>
              </a:rPr>
              <a:t>MAJOR</a:t>
            </a:r>
            <a:r>
              <a:rPr sz="2300" b="0">
                <a:latin typeface="Cambria"/>
              </a:rPr>
              <a:t> version may break your code</a:t>
            </a:r>
          </a:p>
          <a:p>
            <a:pPr>
              <a:tabLst>
                <a:tab pos="3566160" algn="l"/>
              </a:tabLst>
            </a:pPr>
            <a:r>
              <a:rPr sz="2300" b="0">
                <a:latin typeface="Cambria"/>
              </a:rPr>
              <a:t>Cargo will not pick one without being told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Cargo.lock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3108960" algn="l"/>
              </a:tabLst>
            </a:pPr>
            <a:r>
              <a:rPr sz="2500" b="0">
                <a:latin typeface="Cambria"/>
              </a:rPr>
              <a:t>Records the </a:t>
            </a:r>
            <a:r>
              <a:rPr sz="2500" b="1">
                <a:latin typeface="Cambria"/>
              </a:rPr>
              <a:t>exact</a:t>
            </a:r>
            <a:r>
              <a:rPr sz="2500" b="0">
                <a:latin typeface="Cambria"/>
              </a:rPr>
              <a:t> version of every crate</a:t>
            </a:r>
          </a:p>
          <a:p>
            <a:pPr>
              <a:tabLst>
                <a:tab pos="3108960" algn="l"/>
              </a:tabLst>
            </a:pPr>
            <a:r>
              <a:rPr sz="2500" b="0">
                <a:latin typeface="Cambria"/>
              </a:rPr>
              <a:t>that was chosen</a:t>
            </a:r>
          </a:p>
          <a:p>
            <a:pPr>
              <a:tabLst>
                <a:tab pos="31089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3108960" algn="l"/>
              </a:tabLst>
            </a:pPr>
            <a:r>
              <a:rPr sz="2500" b="0">
                <a:latin typeface="Cambria"/>
              </a:rPr>
              <a:t>Everyone who builds gets the </a:t>
            </a:r>
            <a:r>
              <a:rPr sz="2500" b="1">
                <a:latin typeface="Cambria"/>
              </a:rPr>
              <a:t>same</a:t>
            </a:r>
            <a:r>
              <a:rPr sz="2500" b="0">
                <a:latin typeface="Cambria"/>
              </a:rPr>
              <a:t> code</a:t>
            </a:r>
          </a:p>
          <a:p>
            <a:pPr>
              <a:tabLst>
                <a:tab pos="31089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3108960" algn="l"/>
              </a:tabLst>
            </a:pPr>
            <a:r>
              <a:rPr sz="2500" b="0">
                <a:latin typeface="Cambria"/>
              </a:rPr>
              <a:t>Commit it to git</a:t>
            </a:r>
          </a:p>
          <a:p>
            <a:pPr>
              <a:tabLst>
                <a:tab pos="31089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3108960" algn="l"/>
              </a:tabLst>
            </a:pPr>
            <a:r>
              <a:rPr sz="2500" b="0">
                <a:latin typeface="Cambria"/>
              </a:rPr>
              <a:t>cargo update	move to newer compatible versions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Using a Dependency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[dependencies]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rand = "0.9"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fn main ( ) {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let noise : f32 = rand::random (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	println! ( "simulated psi = {:.1}", 50.0 + noise ) ;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}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300" b="0">
                <a:latin typeface="Cambria"/>
              </a:rPr>
              <a:t>The crate name is the first part of the path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How Crates Speed Up the Build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Each crate compiles </a:t>
            </a:r>
            <a:r>
              <a:rPr sz="2800" b="1">
                <a:latin typeface="Cambria"/>
              </a:rPr>
              <a:t>once</a:t>
            </a:r>
            <a:r>
              <a:rPr sz="2800" b="0">
                <a:latin typeface="Cambria"/>
              </a:rPr>
              <a:t> and is cached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in  target/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Change your code:  only </a:t>
            </a:r>
            <a:r>
              <a:rPr sz="2800" b="1">
                <a:latin typeface="Cambria"/>
              </a:rPr>
              <a:t>your</a:t>
            </a:r>
            <a:r>
              <a:rPr sz="2800" b="0">
                <a:latin typeface="Cambria"/>
              </a:rPr>
              <a:t> crate rebuilds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Dependencies are reused until their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version or settings change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Incremental Compilation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Inside </a:t>
            </a:r>
            <a:r>
              <a:rPr sz="2800" b="1">
                <a:latin typeface="Cambria"/>
              </a:rPr>
              <a:t>your</a:t>
            </a:r>
            <a:r>
              <a:rPr sz="2800" b="0">
                <a:latin typeface="Cambria"/>
              </a:rPr>
              <a:t> crate, rustc also remembers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what it did last time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Only the parts affected by your edit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are recompiled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On by default in debug builds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Parallel Builds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Crates that do not depend on each other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compile </a:t>
            </a:r>
            <a:r>
              <a:rPr sz="2800" b="1">
                <a:latin typeface="Cambria"/>
              </a:rPr>
              <a:t>at the same time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Cargo uses every core in the machine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A project split into several crates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builds faster than one giant crate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No Header Bookkeeping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The compiler sees the whole crate, so there are: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no prototypes to keep in sync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no include guards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no hand-written dependency lists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no stale object files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A whole class of C build bugs cannot happen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Workspaces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Several crates, one  Cargo.lock,  one  target/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Cargo.toml  at the top: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[workspace]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	members = [ "gauge_core", "gauge_app" ]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Split a big project into crates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for faster rebuilds and clearer boundaries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Building for a Microcontroller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The same crate can target another CPU: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rustup target add thumbv7em-none-eabihf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	cargo build --target thumbv7em-none-eabihf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Cross compiling is built in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400" b="0">
                <a:latin typeface="Cambria"/>
              </a:rPr>
              <a:t>ESP32 chips use the  espup  toolchain installer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The Build and the Debugger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645920" algn="l"/>
              </a:tabLst>
            </a:pPr>
            <a:r>
              <a:rPr sz="2500" b="0">
                <a:latin typeface="Cambria"/>
              </a:rPr>
              <a:t>The debugger needs the build's </a:t>
            </a:r>
            <a:r>
              <a:rPr sz="2500" b="1">
                <a:latin typeface="Cambria"/>
              </a:rPr>
              <a:t>debug info</a:t>
            </a:r>
          </a:p>
          <a:p>
            <a:pPr>
              <a:tabLst>
                <a:tab pos="164592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1645920" algn="l"/>
              </a:tabLst>
            </a:pPr>
            <a:r>
              <a:rPr sz="2500" b="0">
                <a:latin typeface="Cambria"/>
              </a:rPr>
              <a:t>C, C++:	-g -O0</a:t>
            </a:r>
          </a:p>
          <a:p>
            <a:pPr>
              <a:tabLst>
                <a:tab pos="1645920" algn="l"/>
              </a:tabLst>
            </a:pPr>
            <a:r>
              <a:rPr sz="2500" b="0">
                <a:latin typeface="Cambria"/>
              </a:rPr>
              <a:t>Rust:	cargo build  ( debug profile )</a:t>
            </a:r>
          </a:p>
          <a:p>
            <a:pPr>
              <a:tabLst>
                <a:tab pos="164592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1645920" algn="l"/>
              </a:tabLst>
            </a:pPr>
            <a:r>
              <a:rPr sz="2500" b="0">
                <a:latin typeface="Cambria"/>
              </a:rPr>
              <a:t>Debugging a release build?</a:t>
            </a:r>
          </a:p>
          <a:p>
            <a:pPr>
              <a:tabLst>
                <a:tab pos="1645920" algn="l"/>
              </a:tabLst>
            </a:pPr>
            <a:r>
              <a:rPr sz="2500" b="0">
                <a:latin typeface="Cambria"/>
              </a:rPr>
              <a:t>	[profile.release]</a:t>
            </a:r>
          </a:p>
          <a:p>
            <a:pPr>
              <a:tabLst>
                <a:tab pos="1645920" algn="l"/>
              </a:tabLst>
            </a:pPr>
            <a:r>
              <a:rPr sz="2500" b="0">
                <a:latin typeface="Cambria"/>
              </a:rPr>
              <a:t>	debug = true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000" b="1" dirty="0" smtClean="0">
                <a:solidFill>
                  <a:schemeClr val="lt1"/>
                </a:solidFill>
                <a:latin typeface="Arial"/>
              </a:rPr>
              <a:t>The Two Builds Side by Side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87"/>
          <p:cNvSpPr/>
          <p:nvPr/>
        </p:nvSpPr>
        <p:spPr>
          <a:xfrm>
            <a:off x="667512" y="1965960"/>
            <a:ext cx="2377440" cy="585216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Step</a:t>
            </a:r>
          </a:p>
        </p:txBody>
      </p:sp>
      <p:sp>
        <p:nvSpPr>
          <p:cNvPr id="389" name="Rectangle 388"/>
          <p:cNvSpPr/>
          <p:nvPr/>
        </p:nvSpPr>
        <p:spPr>
          <a:xfrm>
            <a:off x="3044952" y="1965960"/>
            <a:ext cx="3017520" cy="585216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C  /  C++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6062472" y="1965960"/>
            <a:ext cx="3291840" cy="585216"/>
          </a:xfrm>
          <a:prstGeom prst="rect">
            <a:avLst/>
          </a:prstGeom>
          <a:solidFill>
            <a:srgbClr val="D9D9D9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Rust</a:t>
            </a:r>
          </a:p>
        </p:txBody>
      </p:sp>
      <p:sp>
        <p:nvSpPr>
          <p:cNvPr id="391" name="Rectangle 390"/>
          <p:cNvSpPr/>
          <p:nvPr/>
        </p:nvSpPr>
        <p:spPr>
          <a:xfrm>
            <a:off x="667512" y="2551176"/>
            <a:ext cx="2377440" cy="585216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Compile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3044952" y="2551176"/>
            <a:ext cx="3017520" cy="58521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gcc -c  per file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6062472" y="2551176"/>
            <a:ext cx="3291840" cy="58521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rustc  per crate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667512" y="3136391"/>
            <a:ext cx="2377440" cy="585216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Link</a:t>
            </a:r>
          </a:p>
        </p:txBody>
      </p:sp>
      <p:sp>
        <p:nvSpPr>
          <p:cNvPr id="395" name="Rectangle 394"/>
          <p:cNvSpPr/>
          <p:nvPr/>
        </p:nvSpPr>
        <p:spPr>
          <a:xfrm>
            <a:off x="3044952" y="3136391"/>
            <a:ext cx="3017520" cy="58521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gcc  *.o  -l...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6062472" y="3136391"/>
            <a:ext cx="3291840" cy="58521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automatic</a:t>
            </a:r>
          </a:p>
        </p:txBody>
      </p:sp>
      <p:sp>
        <p:nvSpPr>
          <p:cNvPr id="397" name="Rectangle 396"/>
          <p:cNvSpPr/>
          <p:nvPr/>
        </p:nvSpPr>
        <p:spPr>
          <a:xfrm>
            <a:off x="667512" y="3721608"/>
            <a:ext cx="2377440" cy="585216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Rebuild rules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3044952" y="3721608"/>
            <a:ext cx="3017520" cy="58521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Makefile,  CMake</a:t>
            </a:r>
          </a:p>
        </p:txBody>
      </p:sp>
      <p:sp>
        <p:nvSpPr>
          <p:cNvPr id="399" name="Rectangle 398"/>
          <p:cNvSpPr/>
          <p:nvPr/>
        </p:nvSpPr>
        <p:spPr>
          <a:xfrm>
            <a:off x="6062472" y="3721608"/>
            <a:ext cx="3291840" cy="58521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Cargo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667512" y="4306824"/>
            <a:ext cx="2377440" cy="585216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Libraries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3044952" y="4306824"/>
            <a:ext cx="3017520" cy="58521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install,  -I  -L  -l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6062472" y="4306824"/>
            <a:ext cx="3291840" cy="58521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Cargo.toml</a:t>
            </a:r>
          </a:p>
        </p:txBody>
      </p:sp>
      <p:sp>
        <p:nvSpPr>
          <p:cNvPr id="403" name="Rectangle 402"/>
          <p:cNvSpPr/>
          <p:nvPr/>
        </p:nvSpPr>
        <p:spPr>
          <a:xfrm>
            <a:off x="667512" y="4892040"/>
            <a:ext cx="2377440" cy="585216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Lock versions</a:t>
            </a:r>
          </a:p>
        </p:txBody>
      </p:sp>
      <p:sp>
        <p:nvSpPr>
          <p:cNvPr id="404" name="Rectangle 403"/>
          <p:cNvSpPr/>
          <p:nvPr/>
        </p:nvSpPr>
        <p:spPr>
          <a:xfrm>
            <a:off x="3044952" y="4892040"/>
            <a:ext cx="3017520" cy="58521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by hand</a:t>
            </a:r>
          </a:p>
        </p:txBody>
      </p:sp>
      <p:sp>
        <p:nvSpPr>
          <p:cNvPr id="405" name="Rectangle 404"/>
          <p:cNvSpPr/>
          <p:nvPr/>
        </p:nvSpPr>
        <p:spPr>
          <a:xfrm>
            <a:off x="6062472" y="4892040"/>
            <a:ext cx="3291840" cy="58521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Cargo.lock</a:t>
            </a:r>
          </a:p>
        </p:txBody>
      </p:sp>
      <p:sp>
        <p:nvSpPr>
          <p:cNvPr id="406" name="Rectangle 405"/>
          <p:cNvSpPr/>
          <p:nvPr/>
        </p:nvSpPr>
        <p:spPr>
          <a:xfrm>
            <a:off x="667512" y="5477256"/>
            <a:ext cx="2377440" cy="585216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Debug build</a:t>
            </a:r>
          </a:p>
        </p:txBody>
      </p:sp>
      <p:sp>
        <p:nvSpPr>
          <p:cNvPr id="407" name="Rectangle 406"/>
          <p:cNvSpPr/>
          <p:nvPr/>
        </p:nvSpPr>
        <p:spPr>
          <a:xfrm>
            <a:off x="3044952" y="5477256"/>
            <a:ext cx="3017520" cy="58521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-g -O0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6062472" y="5477256"/>
            <a:ext cx="3291840" cy="58521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cargo build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667512" y="6062472"/>
            <a:ext cx="2377440" cy="585216"/>
          </a:xfrm>
          <a:prstGeom prst="rect">
            <a:avLst/>
          </a:prstGeom>
          <a:solidFill>
            <a:srgbClr val="F2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1">
                <a:solidFill>
                  <a:srgbClr val="000000"/>
                </a:solidFill>
                <a:latin typeface="Cambria"/>
              </a:rPr>
              <a:t>Optimized build</a:t>
            </a:r>
          </a:p>
        </p:txBody>
      </p:sp>
      <p:sp>
        <p:nvSpPr>
          <p:cNvPr id="410" name="Rectangle 409"/>
          <p:cNvSpPr/>
          <p:nvPr/>
        </p:nvSpPr>
        <p:spPr>
          <a:xfrm>
            <a:off x="3044952" y="6062472"/>
            <a:ext cx="3017520" cy="58521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-O2</a:t>
            </a:r>
          </a:p>
        </p:txBody>
      </p:sp>
      <p:sp>
        <p:nvSpPr>
          <p:cNvPr id="411" name="Rectangle 410"/>
          <p:cNvSpPr/>
          <p:nvPr/>
        </p:nvSpPr>
        <p:spPr>
          <a:xfrm>
            <a:off x="6062472" y="6062472"/>
            <a:ext cx="3291840" cy="585216"/>
          </a:xfrm>
          <a:prstGeom prst="rect">
            <a:avLst/>
          </a:prstGeom>
          <a:noFill/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000" tIns="0" rIns="9000" bIns="0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Cambria"/>
              </a:rPr>
              <a:t>cargo build --release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What We Can Now Do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Name the </a:t>
            </a:r>
            <a:r>
              <a:rPr sz="2500" b="1">
                <a:latin typeface="Cambria"/>
              </a:rPr>
              <a:t>four</a:t>
            </a:r>
            <a:r>
              <a:rPr sz="2500" b="0">
                <a:latin typeface="Cambria"/>
              </a:rPr>
              <a:t> stages of a C build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Tell a </a:t>
            </a:r>
            <a:r>
              <a:rPr sz="2500" b="1">
                <a:latin typeface="Cambria"/>
              </a:rPr>
              <a:t>compile</a:t>
            </a:r>
            <a:r>
              <a:rPr sz="2500" b="0">
                <a:latin typeface="Cambria"/>
              </a:rPr>
              <a:t> error from a </a:t>
            </a:r>
            <a:r>
              <a:rPr sz="2500" b="1">
                <a:latin typeface="Cambria"/>
              </a:rPr>
              <a:t>link</a:t>
            </a:r>
            <a:r>
              <a:rPr sz="2500" b="0">
                <a:latin typeface="Cambria"/>
              </a:rPr>
              <a:t> error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Read a </a:t>
            </a:r>
            <a:r>
              <a:rPr sz="2500" b="1">
                <a:latin typeface="Cambria"/>
              </a:rPr>
              <a:t>Makefile</a:t>
            </a:r>
            <a:r>
              <a:rPr sz="2500" b="0">
                <a:latin typeface="Cambria"/>
              </a:rPr>
              <a:t> and use </a:t>
            </a:r>
            <a:r>
              <a:rPr sz="2500" b="1">
                <a:latin typeface="Cambria"/>
              </a:rPr>
              <a:t>CMake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Organize Rust code into </a:t>
            </a:r>
            <a:r>
              <a:rPr sz="2500" b="1">
                <a:latin typeface="Cambria"/>
              </a:rPr>
              <a:t>crates</a:t>
            </a:r>
            <a:r>
              <a:rPr sz="2500" b="0">
                <a:latin typeface="Cambria"/>
              </a:rPr>
              <a:t> and </a:t>
            </a:r>
            <a:r>
              <a:rPr sz="2500" b="1">
                <a:latin typeface="Cambria"/>
              </a:rPr>
              <a:t>modules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500" b="0">
                <a:latin typeface="Cambria"/>
              </a:rPr>
              <a:t>Use </a:t>
            </a:r>
            <a:r>
              <a:rPr sz="2500" b="1">
                <a:latin typeface="Cambria"/>
              </a:rPr>
              <a:t>Cargo</a:t>
            </a:r>
            <a:r>
              <a:rPr sz="2500" b="0">
                <a:latin typeface="Cambria"/>
              </a:rPr>
              <a:t> to build, test, and add dependencies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387" name="AutoShape 2"/>
          <p:cNvSpPr/>
          <p:nvPr/>
        </p:nvSpPr>
        <p:spPr>
          <a:xfrm>
            <a:off x="502920" y="202680"/>
            <a:ext cx="9051840" cy="1340280"/>
          </a:xfrm>
          <a:prstGeom prst="bevel">
            <a:avLst>
              <a:gd name="adj" fmla="val 8931"/>
            </a:avLst>
          </a:prstGeom>
          <a:gradFill rotWithShape="0">
            <a:gsLst>
              <a:gs pos="0">
                <a:srgbClr val="004600"/>
              </a:gs>
              <a:gs pos="50000">
                <a:srgbClr val="009900"/>
              </a:gs>
              <a:gs pos="100000">
                <a:srgbClr val="004600"/>
              </a:gs>
            </a:gsLst>
            <a:lin ang="5400000"/>
          </a:gradFill>
          <a:ln w="9525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400" b="1" dirty="0" smtClean="0">
                <a:solidFill>
                  <a:schemeClr val="lt1"/>
                </a:solidFill>
                <a:latin typeface="Arial"/>
              </a:rPr>
              <a:t>Let's practice</a:t>
            </a:r>
            <a:endParaRPr lang="en-US" sz="4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580041" y="1949942"/>
            <a:ext cx="8135334" cy="5593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>
                <a:latin typeface="Cambria"/>
              </a:rPr>
              <a:t> </a:t>
            </a:r>
          </a:p>
          <a:p>
            <a:pPr>
              <a:tabLst>
                <a:tab pos="548640" algn="l"/>
                <a:tab pos="1097280" algn="l"/>
                <a:tab pos="1645920" algn="l"/>
                <a:tab pos="2194560" algn="l"/>
              </a:tabLst>
            </a:pPr>
            <a:r>
              <a:rPr sz="2800" b="0">
                <a:latin typeface="Cambria"/>
              </a:rPr>
              <a:t>Exercise:  Using </a:t>
            </a:r>
            <a:r>
              <a:rPr sz="2800" b="1">
                <a:latin typeface="Cambria"/>
              </a:rPr>
              <a:t>buildpractice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heme1">
  <a:themeElements>
    <a:clrScheme name="ECS-whitebackground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CS-whitebackground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57837</TotalTime>
  <Words>2705</Words>
  <Application>Microsoft Office PowerPoint</Application>
  <PresentationFormat>Custom</PresentationFormat>
  <Paragraphs>661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63</vt:i4>
      </vt:variant>
    </vt:vector>
  </HeadingPairs>
  <TitlesOfParts>
    <vt:vector size="76" baseType="lpstr">
      <vt:lpstr>ＭＳ Ｐゴシック</vt:lpstr>
      <vt:lpstr>Arial</vt:lpstr>
      <vt:lpstr>Calibri</vt:lpstr>
      <vt:lpstr>Cambria</vt:lpstr>
      <vt:lpstr>DejaVu Sans</vt:lpstr>
      <vt:lpstr>OpenSymbol</vt:lpstr>
      <vt:lpstr>Osaka</vt:lpstr>
      <vt:lpstr>Symbol</vt:lpstr>
      <vt:lpstr>Times New Roman</vt:lpstr>
      <vt:lpstr>Wingdings</vt:lpstr>
      <vt:lpstr>Office Theme</vt:lpstr>
      <vt:lpstr>Theme1</vt:lpstr>
      <vt:lpstr>1_Theme1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</dc:title>
  <dc:subject/>
  <dc:creator>Bill Swartz</dc:creator>
  <dc:description/>
  <cp:lastModifiedBy>Bill Swartz</cp:lastModifiedBy>
  <cp:revision>540</cp:revision>
  <dcterms:created xsi:type="dcterms:W3CDTF">2013-08-28T11:36:20Z</dcterms:created>
  <dcterms:modified xsi:type="dcterms:W3CDTF">2026-09-23T02:42:17Z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2012-08-29T00:00:00Z</vt:filetime>
  </property>
  <property fmtid="{D5CDD505-2E9C-101B-9397-08002B2CF9AE}" pid="3" name="LastSaved">
    <vt:filetime>2013-08-28T00:00:00Z</vt:filetime>
  </property>
  <property fmtid="{D5CDD505-2E9C-101B-9397-08002B2CF9AE}" pid="4" name="Notes">
    <vt:i4>8</vt:i4>
  </property>
  <property fmtid="{D5CDD505-2E9C-101B-9397-08002B2CF9AE}" pid="5" name="PresentationFormat">
    <vt:lpwstr>Custom</vt:lpwstr>
  </property>
  <property fmtid="{D5CDD505-2E9C-101B-9397-08002B2CF9AE}" pid="6" name="Slides">
    <vt:i4>8</vt:i4>
  </property>
</Properties>
</file>