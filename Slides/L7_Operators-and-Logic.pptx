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 id="2147483668" r:id="rId3"/>
  </p:sldMasterIdLst>
  <p:notesMasterIdLst>
    <p:notesMasterId r:id="rId7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Lst>
  <p:sldSz cx="10058400" cy="7772400"/>
  <p:notesSz cx="10058400" cy="7772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92" userDrawn="1">
          <p15:clr>
            <a:srgbClr val="A4A3A4"/>
          </p15:clr>
        </p15:guide>
        <p15:guide id="2" pos="331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60"/>
  </p:normalViewPr>
  <p:slideViewPr>
    <p:cSldViewPr snapToGrid="0" showGuides="1">
      <p:cViewPr varScale="1">
        <p:scale>
          <a:sx n="97" d="100"/>
          <a:sy n="97" d="100"/>
        </p:scale>
        <p:origin x="2148" y="72"/>
      </p:cViewPr>
      <p:guideLst>
        <p:guide orient="horz" pos="4392"/>
        <p:guide pos="3312"/>
      </p:guideLst>
    </p:cSldViewPr>
  </p:slideViewPr>
  <p:notesTextViewPr>
    <p:cViewPr>
      <p:scale>
        <a:sx n="66" d="100"/>
        <a:sy n="66"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slide" Target="slides/slide60.xml"/><Relationship Id="rId68" Type="http://schemas.openxmlformats.org/officeDocument/2006/relationships/slide" Target="slides/slide65.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slide" Target="slides/slide58.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80"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pPr algn="ctr"/>
            <a:r>
              <a:rPr lang="en-US" sz="4400" b="0" u="none" strike="noStrike">
                <a:solidFill>
                  <a:srgbClr val="000000"/>
                </a:solidFill>
                <a:effectLst/>
                <a:uFillTx/>
                <a:latin typeface="Arial"/>
              </a:rPr>
              <a:t>Click to move the slide</a:t>
            </a:r>
          </a:p>
        </p:txBody>
      </p:sp>
      <p:sp>
        <p:nvSpPr>
          <p:cNvPr id="38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82"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83" name="PlaceHolder 4"/>
          <p:cNvSpPr>
            <a:spLocks noGrp="1"/>
          </p:cNvSpPr>
          <p:nvPr>
            <p:ph type="dt" idx="1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84" name="PlaceHolder 5"/>
          <p:cNvSpPr>
            <a:spLocks noGrp="1"/>
          </p:cNvSpPr>
          <p:nvPr>
            <p:ph type="ftr" idx="17"/>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85" name="PlaceHolder 6"/>
          <p:cNvSpPr>
            <a:spLocks noGrp="1"/>
          </p:cNvSpPr>
          <p:nvPr>
            <p:ph type="sldNum" idx="1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0BBEA29-00E4-49AD-9593-1714797B7997}"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83319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Title slide. Last lecture built new types out of old ones. This lecture is about what we can DO with all of those values.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932892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Quick review using the vocabulary from last time: a struct defines a new type &lt;T&gt;, and a declared variable is an instance of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100336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Callback to the very first slides of the course. The same box that added our numbers can subtract, multiply, and do logic. An operator in the source code selects the operation.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605313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Use the ( variable ) notation from last lecture: the operator works on the contents of a and b, not on their addresses.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52536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easy part: the five arithmetic operators are spelled the same in all three languages. The differences are in what happens at the edges, which is the next several slides.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85628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classic beginner bug: average = sum / count with integers. If you want a fraction, at least one operand has to be floating point.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09285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 negative case surprises mathematicians, who expect 2. Rust offers rem_euclid() for the always-positive version.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22369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Undefined behavior means the language makes no promise at all. On many embedded parts integer divide by zero silently returns garbage rather than crashing.</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49965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 dropped ++ deliberately, to remove the prefix/postfix confusion on the next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25861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 = i++ + ++i is undefined behavior in C. The safe habit is to use ++ only as a statement on its own line.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07105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Read the right column out loud in the course notation: x receives the contents of x plus five. The bit operators get the same shorthand later.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188607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Tie back to machine size: an 8 bit register cannot hold 256. Unsigned arithmetic is defined as modulo 2^n; signed overflow lets the optimizer assume it never happens.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12027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Rust makes you choose the behavior explicitly. saturating is what you usually want for a sensor value; wrapping is what you want for a counter or a checksum.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2299584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integer promotion. 300 does not fit in 8 bits, so storing it keeps only the low byte: 300 - 256 = 44. No warning by default.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195143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More typing, but every conversion is visible in the source. The C bug on the previous slide cannot happen silently in Rust.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6543527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0.1 in binary is a repeating fraction, like 1/3 in decimal. Never test floats with ==.</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07405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symbols in all three languages. C predates bool, so comparisons produce int.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800436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One of the most famous bugs in C. Compilers warn about it with -Wall, which is another reason to always build with warnings 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8771729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This one is caught by Rust and silently accepted by C. The &amp;&amp; operator is coming up in the logic section.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827963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member access happens first, producing an ordinary value of the member type, then the operator applies. Nothing new here, which is the point.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693446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Assignment is the one operator that works on a whole struct in every language. Ownership is a forward reference; one sentence is enough here.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505002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padding bytes from last lecture hold garbage, so two structs with equal members can still differ byte for byte.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0360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Before C++20 you wrote operator== by hand. This is the first taste of operator overloading: C++ lets a type define what an operator means for 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067874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derive asks the compiler to generate the comparison. PartialEq rather than Eq because f32 has NaN, which is not equal to itself.</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634349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Plant the idea only. Adding two samples does not even make sense; adding two vectors does, which is where overloading earns its keep.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18854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Same message as for struct members: index first, then operate. The last line combines an array of structs with a member and an operator.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93616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array name decays to a pointer to element 0. So a == b asks whether the two arrays live at the same address, which they never do.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6957968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std::array behaves like a value, the way students expect an array to behave.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966620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Rust arrays are values. The compiler knows both lengths, so it can compare them safely.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2722518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None of the three languages has a + for whole arrays. This is exactly what a vector math library provides - and what hardware SIMD instructions do in one step.</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478770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Frame the rest of the lecture. Same Boolean logic, two different scales: whole conditions, or each bit independently.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621516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C inherited this from assembly, where branch-if-zero is the natural test. Rust makes you write the comparison, which removes a class of bugs.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5067879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These operate on whole conditions. The result is 1/0 in C and a bool in C++ and Rust.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784079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Evaluation is left to right and stops as soon as the answer is known. In C the same idiom guards pointers: if ( p != NULL &amp;&amp; p-&gt;psi &gt; 50.0 ).</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5486698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This is where the EE and CS halves of the curriculum meet. The same seven tables describe the gates in a chip and the operators in a program.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0426334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Also written with a bar over A. The only one-input operation. Note that Rust spells bitwise NOT with ! - it has no ~ operator.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5216663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AND is multiplication on 0 and 1, which is why it is written with a dot.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86535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Inclusive or. In English "or" is often exclusive; in logic it is not.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4493548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 language has a NAND operator - you compose it. In hardware NAND is the cheapest gate to build in CMOS, which is why it matters so much.</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5094472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Like NAND, NOR is universal - every other gate can be built from it alone.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1098644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Exclusive or. C has no logical XOR operator; != works when both sides are already 0 or 1. For arbitrary ints in C, write !a != !b. XOR is also a one-bit adder without the carry.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3430472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XNOR is the equality gate. A comparator that checks two numbers for equality is a row of XNOR gates feeding one big AND.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87395616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Have students photograph this one. Read down a column to see an operation; read across a row to see all seven answers for the same inputs.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0507198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Worth checking one line against the truth tables together in class. This is the bridge to digital logic courses.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483355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Useful every day for rewriting a condition so it reads naturally: "not (in range)" becomes "below the minimum or above the maximum".</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845436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Now the same logic applied to every bit of an integer at once. One instruction, eight or thirty-two or sixty-four gates working in parallel.</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71203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Point at one column and read it as a row of the AND table. b here acts as a mask that keeps the top four bits of a and clears the bottom four.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38832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OR with a mask forces bits to 1. That is how you turn a bit 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348808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XOR with a mask flips exactly the masked bits. XOR the result with b again and you get a back - the basis of simple checksums and ciphers.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835540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For an 8 bit value, ~a equals 255 - a. Watch out in C: ~ on a uint8_t promotes to int first, so ~a is 0xFFFFFF35 until you store it back into 8 bits.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148023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A one-character typo that compiles in C and changes the meaning completely. Rust catches it because &amp;&amp; demands bool operands.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242841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202 * 2 = 404, which does not fit in 8 bits. 404 - 256 = 148: the top bit was shifted out. Shifting is how the hardware multiplies by powers of two.</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7453399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For an unsigned value a 0 enters on the left. The next slide covers signed values.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05874257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Every mainstream C compiler does arithmetic shift, but the standard does not promise it. The simple rule: do bit manipulation on unsigned types only.</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712661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1 &lt;&lt; 31 on a 32 bit int shifts into the sign bit, which is undefined in C. The u suffix makes the 1 unsigned and the shift well defined.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1224491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These are the forms you will use most when working with hardware registers.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91916092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Write the mask as a shift, not as 0x80. The reader sees immediately which bit it is.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8252488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Rust is identical except the literal: x |= 1 &lt;&lt; 3. Turning on an LED or enabling a peripheral is exactly this line.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3502851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Invert the mask so it has a 0 only at the bit to clear, then AND. The most common mistake is forgetting the ~ and clearing every OTHER bit.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037900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classic blinking LED: toggle the pin, wait, repeat.</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658572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763588"/>
            <a:ext cx="0" cy="0"/>
          </a:xfrm>
        </p:spPr>
      </p:sp>
      <p:sp>
        <p:nvSpPr>
          <p:cNvPr id="3" name="Notes Placeholder 2"/>
          <p:cNvSpPr>
            <a:spLocks noGrp="1"/>
          </p:cNvSpPr>
          <p:nvPr>
            <p:ph type="body"/>
          </p:nvPr>
        </p:nvSpPr>
        <p:spPr/>
        <p:txBody>
          <a:bodyPr/>
          <a:lstStyle/>
          <a:p>
            <a:r>
              <a:t>Both are common. The parentheses in the second form are not optional in C - next slide.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8725929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In C, == binds tighter than &amp;, a historical accident from before &amp;&amp; existed. Rust fixed the order. Parenthesize anyway, so the code reads the same in every language.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7551120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Hardware control registers look exactly like this. Different bit ranges mean different things, and you use masks and shifts to reach each one.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74740725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read-modify-write in the middle line is the single most important bit manipulation idiom in embedded programming: clear the field, then OR in the new value.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48225434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Tie back to the sample_t running example. Masking to the converter width is a real defensive step when a register returns stray upper bits.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37009951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Receiver computes the same XOR; a mismatch means a byte was corrupted. Real protocols use CRCs, which are the same idea with shifts added.</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135345985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Note where &amp; sits: below ==. That is the precedence trap from earlier.</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4290012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The bit operators sit ABOVE comparison in Rust, which is what you would expect. When in doubt in any language, use parentheses.</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24396858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Summary. The ALU from lecture one does every one of these in a single instruction.</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2509382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Lab exercise. Have students predict each result on paper first - division, remainder, overflow, and each bitwise operation - then run it and compare.</a:t>
            </a:r>
          </a:p>
        </p:txBody>
      </p:sp>
      <p:sp>
        <p:nvSpPr>
          <p:cNvPr id="4" name="Slide Number Placeholder 3"/>
          <p:cNvSpPr>
            <a:spLocks noGrp="1"/>
          </p:cNvSpPr>
          <p:nvPr>
            <p:ph type="sldNum" idx="18"/>
          </p:nvPr>
        </p:nvSpPr>
        <p:spPr/>
      </p:sp>
    </p:spTree>
    <p:extLst>
      <p:ext uri="{BB962C8B-B14F-4D97-AF65-F5344CB8AC3E}">
        <p14:creationId xmlns:p14="http://schemas.microsoft.com/office/powerpoint/2010/main" val="310734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54560" y="2409480"/>
            <a:ext cx="8548920" cy="163152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ftr" idx="1"/>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2" name="PlaceHolder 3"/>
          <p:cNvSpPr>
            <a:spLocks noGrp="1"/>
          </p:cNvSpPr>
          <p:nvPr>
            <p:ph type="dt" idx="2"/>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3" name="PlaceHolder 4"/>
          <p:cNvSpPr>
            <a:spLocks noGrp="1"/>
          </p:cNvSpPr>
          <p:nvPr>
            <p:ph type="sldNum" idx="3"/>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7F920929-0F69-4400-B58F-F0F9AC4A6A2D}"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502920" y="1787760"/>
            <a:ext cx="905184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6" name="PlaceHolder 3"/>
          <p:cNvSpPr>
            <a:spLocks noGrp="1"/>
          </p:cNvSpPr>
          <p:nvPr>
            <p:ph type="ftr" idx="4"/>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7" name="PlaceHolder 4"/>
          <p:cNvSpPr>
            <a:spLocks noGrp="1"/>
          </p:cNvSpPr>
          <p:nvPr>
            <p:ph type="dt" idx="5"/>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8" name="PlaceHolder 5"/>
          <p:cNvSpPr>
            <a:spLocks noGrp="1"/>
          </p:cNvSpPr>
          <p:nvPr>
            <p:ph type="sldNum" idx="6"/>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5BC29054-6F74-4644-9529-D93E886B0EF0}"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bg>
      <p:bgPr>
        <a:solidFill>
          <a:schemeClr val="lt1"/>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0" name="PlaceHolder 2"/>
          <p:cNvSpPr>
            <a:spLocks noGrp="1"/>
          </p:cNvSpPr>
          <p:nvPr>
            <p:ph type="body"/>
          </p:nvPr>
        </p:nvSpPr>
        <p:spPr>
          <a:xfrm>
            <a:off x="50292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1" name="PlaceHolder 3"/>
          <p:cNvSpPr>
            <a:spLocks noGrp="1"/>
          </p:cNvSpPr>
          <p:nvPr>
            <p:ph type="body"/>
          </p:nvPr>
        </p:nvSpPr>
        <p:spPr>
          <a:xfrm>
            <a:off x="5180040" y="1787760"/>
            <a:ext cx="4374720" cy="5128920"/>
          </a:xfrm>
          <a:prstGeom prst="rect">
            <a:avLst/>
          </a:prstGeom>
          <a:noFill/>
          <a:ln w="0">
            <a:noFill/>
          </a:ln>
        </p:spPr>
        <p:txBody>
          <a:bodyPr lIns="0" tIns="0" rIns="0" bIns="0" anchor="t">
            <a:no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2800" b="0" u="none" strike="noStrike">
                <a:solidFill>
                  <a:schemeClr val="dk1"/>
                </a:solidFill>
                <a:effectLst/>
                <a:uFillTx/>
                <a:latin typeface="Calibri"/>
              </a:rPr>
              <a:t>Third Outline Level</a:t>
            </a:r>
            <a:endParaRPr lang="en-US" sz="2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2800" b="0" u="none" strike="noStrike">
                <a:solidFill>
                  <a:schemeClr val="dk1"/>
                </a:solidFill>
                <a:effectLst/>
                <a:uFillTx/>
                <a:latin typeface="Calibri"/>
              </a:rPr>
              <a:t>Fourth Outline Level</a:t>
            </a:r>
            <a:endParaRPr lang="en-US" sz="2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Fifth Outline Level</a:t>
            </a:r>
            <a:endParaRPr lang="en-US" sz="28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Sixth Outline Level</a:t>
            </a:r>
            <a:endParaRPr lang="en-US" sz="28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800" b="0" u="none" strike="noStrike">
                <a:solidFill>
                  <a:schemeClr val="dk1"/>
                </a:solidFill>
                <a:effectLst/>
                <a:uFillTx/>
                <a:latin typeface="Calibri"/>
              </a:rPr>
              <a:t>Seventh Outline Level</a:t>
            </a:r>
            <a:endParaRPr lang="en-US" sz="2800" b="0" u="none" strike="noStrike">
              <a:solidFill>
                <a:srgbClr val="000000"/>
              </a:solidFill>
              <a:effectLst/>
              <a:uFillTx/>
              <a:latin typeface="Arial"/>
            </a:endParaRPr>
          </a:p>
        </p:txBody>
      </p:sp>
      <p:sp>
        <p:nvSpPr>
          <p:cNvPr id="12" name="PlaceHolder 4"/>
          <p:cNvSpPr>
            <a:spLocks noGrp="1"/>
          </p:cNvSpPr>
          <p:nvPr>
            <p:ph type="ftr" idx="7"/>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3" name="PlaceHolder 5"/>
          <p:cNvSpPr>
            <a:spLocks noGrp="1"/>
          </p:cNvSpPr>
          <p:nvPr>
            <p:ph type="dt" idx="8"/>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4" name="PlaceHolder 6"/>
          <p:cNvSpPr>
            <a:spLocks noGrp="1"/>
          </p:cNvSpPr>
          <p:nvPr>
            <p:ph type="sldNum" idx="9"/>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4839A86E-239E-4764-956E-22B529859FEB}"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bg>
      <p:bgPr>
        <a:solidFill>
          <a:schemeClr val="lt1"/>
        </a:solidFill>
        <a:effectLst/>
      </p:bgPr>
    </p:bg>
    <p:spTree>
      <p:nvGrpSpPr>
        <p:cNvPr id="1" name=""/>
        <p:cNvGrpSpPr/>
        <p:nvPr/>
      </p:nvGrpSpPr>
      <p:grpSpPr>
        <a:xfrm>
          <a:off x="0" y="0"/>
          <a:ext cx="0" cy="0"/>
          <a:chOff x="0" y="0"/>
          <a:chExt cx="0" cy="0"/>
        </a:xfrm>
      </p:grpSpPr>
      <p:sp>
        <p:nvSpPr>
          <p:cNvPr id="15" name="bk object 16"/>
          <p:cNvSpPr/>
          <p:nvPr/>
        </p:nvSpPr>
        <p:spPr>
          <a:xfrm>
            <a:off x="2341800" y="638280"/>
            <a:ext cx="360" cy="5485680"/>
          </a:xfrm>
          <a:custGeom>
            <a:avLst/>
            <a:gdLst>
              <a:gd name="textAreaLeft" fmla="*/ 0 w 360"/>
              <a:gd name="textAreaRight" fmla="*/ 1440 w 360"/>
              <a:gd name="textAreaTop" fmla="*/ 0 h 5485680"/>
              <a:gd name="textAreaBottom" fmla="*/ 5486400 h 5485680"/>
            </a:gdLst>
            <a:ahLst/>
            <a:cxnLst/>
            <a:rect l="textAreaLeft" t="textAreaTop" r="textAreaRight" b="textAreaBottom"/>
            <a:pathLst>
              <a:path h="5486398">
                <a:moveTo>
                  <a:pt x="0" y="0"/>
                </a:moveTo>
                <a:lnTo>
                  <a:pt x="0" y="5486398"/>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 name="bk object 17"/>
          <p:cNvSpPr/>
          <p:nvPr/>
        </p:nvSpPr>
        <p:spPr>
          <a:xfrm>
            <a:off x="2296080" y="60789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 name="bk object 18"/>
          <p:cNvSpPr/>
          <p:nvPr/>
        </p:nvSpPr>
        <p:spPr>
          <a:xfrm>
            <a:off x="2296080" y="55396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 name="bk object 19"/>
          <p:cNvSpPr/>
          <p:nvPr/>
        </p:nvSpPr>
        <p:spPr>
          <a:xfrm>
            <a:off x="2296080" y="50000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9" name="bk object 20"/>
          <p:cNvSpPr/>
          <p:nvPr/>
        </p:nvSpPr>
        <p:spPr>
          <a:xfrm>
            <a:off x="2296080" y="44604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0" name="bk object 21"/>
          <p:cNvSpPr/>
          <p:nvPr/>
        </p:nvSpPr>
        <p:spPr>
          <a:xfrm>
            <a:off x="2296080" y="39211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1" name="bk object 22"/>
          <p:cNvSpPr/>
          <p:nvPr/>
        </p:nvSpPr>
        <p:spPr>
          <a:xfrm>
            <a:off x="2296080" y="338148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2" name="bk object 23"/>
          <p:cNvSpPr/>
          <p:nvPr/>
        </p:nvSpPr>
        <p:spPr>
          <a:xfrm>
            <a:off x="2296080" y="28418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3" name="bk object 24"/>
          <p:cNvSpPr/>
          <p:nvPr/>
        </p:nvSpPr>
        <p:spPr>
          <a:xfrm>
            <a:off x="2296080" y="230256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4" name="bk object 25"/>
          <p:cNvSpPr/>
          <p:nvPr/>
        </p:nvSpPr>
        <p:spPr>
          <a:xfrm>
            <a:off x="2296080" y="176292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5" name="bk object 26"/>
          <p:cNvSpPr/>
          <p:nvPr/>
        </p:nvSpPr>
        <p:spPr>
          <a:xfrm>
            <a:off x="2296080" y="122364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6" name="bk object 27"/>
          <p:cNvSpPr/>
          <p:nvPr/>
        </p:nvSpPr>
        <p:spPr>
          <a:xfrm>
            <a:off x="2296080" y="684000"/>
            <a:ext cx="45000" cy="360"/>
          </a:xfrm>
          <a:custGeom>
            <a:avLst/>
            <a:gdLst>
              <a:gd name="textAreaLeft" fmla="*/ 0 w 45000"/>
              <a:gd name="textAreaRight" fmla="*/ 45720 w 45000"/>
              <a:gd name="textAreaTop" fmla="*/ 0 h 360"/>
              <a:gd name="textAreaBottom" fmla="*/ 1440 h 360"/>
            </a:gdLst>
            <a:ahLst/>
            <a:cxnLst/>
            <a:rect l="textAreaLeft" t="textAreaTop" r="textAreaRight" b="textAreaBottom"/>
            <a:pathLst>
              <a:path w="45592">
                <a:moveTo>
                  <a:pt x="45592" y="0"/>
                </a:moveTo>
                <a:lnTo>
                  <a:pt x="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7" name="bk object 28"/>
          <p:cNvSpPr/>
          <p:nvPr/>
        </p:nvSpPr>
        <p:spPr>
          <a:xfrm>
            <a:off x="2107080" y="5949000"/>
            <a:ext cx="134640" cy="204480"/>
          </a:xfrm>
          <a:custGeom>
            <a:avLst/>
            <a:gdLst>
              <a:gd name="textAreaLeft" fmla="*/ 0 w 134640"/>
              <a:gd name="textAreaRight" fmla="*/ 135360 w 134640"/>
              <a:gd name="textAreaTop" fmla="*/ 0 h 204480"/>
              <a:gd name="textAreaBottom" fmla="*/ 205200 h 204480"/>
            </a:gdLst>
            <a:ahLst/>
            <a:cxnLst/>
            <a:rect l="textAreaLeft" t="textAreaTop" r="textAreaRight" b="textAreaBottom"/>
            <a:pathLst>
              <a:path w="135254" h="205371">
                <a:moveTo>
                  <a:pt x="81533" y="0"/>
                </a:moveTo>
                <a:lnTo>
                  <a:pt x="54101" y="0"/>
                </a:lnTo>
                <a:lnTo>
                  <a:pt x="30098" y="11823"/>
                </a:lnTo>
                <a:lnTo>
                  <a:pt x="18033" y="20840"/>
                </a:lnTo>
                <a:lnTo>
                  <a:pt x="6095" y="44970"/>
                </a:lnTo>
                <a:lnTo>
                  <a:pt x="3175" y="53975"/>
                </a:lnTo>
                <a:lnTo>
                  <a:pt x="253" y="75196"/>
                </a:lnTo>
                <a:lnTo>
                  <a:pt x="253" y="102628"/>
                </a:lnTo>
                <a:lnTo>
                  <a:pt x="0" y="102628"/>
                </a:lnTo>
                <a:lnTo>
                  <a:pt x="0" y="130060"/>
                </a:lnTo>
                <a:lnTo>
                  <a:pt x="2920" y="151269"/>
                </a:lnTo>
                <a:lnTo>
                  <a:pt x="11937" y="169430"/>
                </a:lnTo>
                <a:lnTo>
                  <a:pt x="17906" y="184543"/>
                </a:lnTo>
                <a:lnTo>
                  <a:pt x="29971" y="193560"/>
                </a:lnTo>
                <a:lnTo>
                  <a:pt x="42036" y="199529"/>
                </a:lnTo>
                <a:lnTo>
                  <a:pt x="66166" y="205371"/>
                </a:lnTo>
                <a:lnTo>
                  <a:pt x="81279" y="202450"/>
                </a:lnTo>
                <a:lnTo>
                  <a:pt x="93344" y="199529"/>
                </a:lnTo>
                <a:lnTo>
                  <a:pt x="105409" y="193560"/>
                </a:lnTo>
                <a:lnTo>
                  <a:pt x="114426" y="184543"/>
                </a:lnTo>
                <a:lnTo>
                  <a:pt x="116397" y="181241"/>
                </a:lnTo>
                <a:lnTo>
                  <a:pt x="57276" y="181241"/>
                </a:lnTo>
                <a:lnTo>
                  <a:pt x="54356" y="178320"/>
                </a:lnTo>
                <a:lnTo>
                  <a:pt x="51434" y="178320"/>
                </a:lnTo>
                <a:lnTo>
                  <a:pt x="39623" y="166509"/>
                </a:lnTo>
                <a:lnTo>
                  <a:pt x="33654" y="157492"/>
                </a:lnTo>
                <a:lnTo>
                  <a:pt x="30709" y="139204"/>
                </a:lnTo>
                <a:lnTo>
                  <a:pt x="27812" y="124218"/>
                </a:lnTo>
                <a:lnTo>
                  <a:pt x="27812" y="103009"/>
                </a:lnTo>
                <a:lnTo>
                  <a:pt x="27558" y="102628"/>
                </a:lnTo>
                <a:lnTo>
                  <a:pt x="27558" y="78371"/>
                </a:lnTo>
                <a:lnTo>
                  <a:pt x="30479" y="66306"/>
                </a:lnTo>
                <a:lnTo>
                  <a:pt x="33400" y="48145"/>
                </a:lnTo>
                <a:lnTo>
                  <a:pt x="39369" y="39128"/>
                </a:lnTo>
                <a:lnTo>
                  <a:pt x="51181" y="27317"/>
                </a:lnTo>
                <a:lnTo>
                  <a:pt x="57150" y="24396"/>
                </a:lnTo>
                <a:lnTo>
                  <a:pt x="116294" y="24396"/>
                </a:lnTo>
                <a:lnTo>
                  <a:pt x="114553" y="20840"/>
                </a:lnTo>
                <a:lnTo>
                  <a:pt x="105536" y="11823"/>
                </a:lnTo>
                <a:lnTo>
                  <a:pt x="81533" y="0"/>
                </a:lnTo>
                <a:close/>
              </a:path>
              <a:path w="135254" h="205371">
                <a:moveTo>
                  <a:pt x="116294" y="24396"/>
                </a:moveTo>
                <a:lnTo>
                  <a:pt x="75310" y="24396"/>
                </a:lnTo>
                <a:lnTo>
                  <a:pt x="84327" y="27317"/>
                </a:lnTo>
                <a:lnTo>
                  <a:pt x="96265" y="39255"/>
                </a:lnTo>
                <a:lnTo>
                  <a:pt x="102234" y="48272"/>
                </a:lnTo>
                <a:lnTo>
                  <a:pt x="105156" y="66433"/>
                </a:lnTo>
                <a:lnTo>
                  <a:pt x="108076" y="81546"/>
                </a:lnTo>
                <a:lnTo>
                  <a:pt x="108052" y="124218"/>
                </a:lnTo>
                <a:lnTo>
                  <a:pt x="105135" y="139331"/>
                </a:lnTo>
                <a:lnTo>
                  <a:pt x="102234" y="157365"/>
                </a:lnTo>
                <a:lnTo>
                  <a:pt x="96265" y="166382"/>
                </a:lnTo>
                <a:lnTo>
                  <a:pt x="84327" y="178320"/>
                </a:lnTo>
                <a:lnTo>
                  <a:pt x="78358" y="178320"/>
                </a:lnTo>
                <a:lnTo>
                  <a:pt x="75437" y="181241"/>
                </a:lnTo>
                <a:lnTo>
                  <a:pt x="116397" y="181241"/>
                </a:lnTo>
                <a:lnTo>
                  <a:pt x="123443" y="169430"/>
                </a:lnTo>
                <a:lnTo>
                  <a:pt x="129412" y="151269"/>
                </a:lnTo>
                <a:lnTo>
                  <a:pt x="132333" y="130060"/>
                </a:lnTo>
                <a:lnTo>
                  <a:pt x="135254" y="102628"/>
                </a:lnTo>
                <a:lnTo>
                  <a:pt x="132333" y="75196"/>
                </a:lnTo>
                <a:lnTo>
                  <a:pt x="129412" y="53975"/>
                </a:lnTo>
                <a:lnTo>
                  <a:pt x="123443" y="32778"/>
                </a:lnTo>
                <a:lnTo>
                  <a:pt x="117475" y="26809"/>
                </a:lnTo>
                <a:lnTo>
                  <a:pt x="116294" y="24396"/>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8" name="bk object 29"/>
          <p:cNvSpPr/>
          <p:nvPr/>
        </p:nvSpPr>
        <p:spPr>
          <a:xfrm>
            <a:off x="2147040" y="5409720"/>
            <a:ext cx="68400" cy="200160"/>
          </a:xfrm>
          <a:custGeom>
            <a:avLst/>
            <a:gdLst>
              <a:gd name="textAreaLeft" fmla="*/ 0 w 68400"/>
              <a:gd name="textAreaRight" fmla="*/ 69120 w 68400"/>
              <a:gd name="textAreaTop" fmla="*/ 0 h 200160"/>
              <a:gd name="textAreaBottom" fmla="*/ 200880 h 200160"/>
            </a:gdLst>
            <a:ahLst/>
            <a:cxnLst/>
            <a:rect l="textAreaLeft" t="textAreaTop" r="textAreaRight" b="textAreaBottom"/>
            <a:pathLst>
              <a:path w="69087" h="201041">
                <a:moveTo>
                  <a:pt x="69087" y="0"/>
                </a:moveTo>
                <a:lnTo>
                  <a:pt x="50927" y="0"/>
                </a:lnTo>
                <a:lnTo>
                  <a:pt x="48006" y="9004"/>
                </a:lnTo>
                <a:lnTo>
                  <a:pt x="48006" y="14986"/>
                </a:lnTo>
                <a:lnTo>
                  <a:pt x="36195" y="26797"/>
                </a:lnTo>
                <a:lnTo>
                  <a:pt x="27178" y="32766"/>
                </a:lnTo>
                <a:lnTo>
                  <a:pt x="18161" y="35687"/>
                </a:lnTo>
                <a:lnTo>
                  <a:pt x="0" y="35687"/>
                </a:lnTo>
                <a:lnTo>
                  <a:pt x="0" y="56895"/>
                </a:lnTo>
                <a:lnTo>
                  <a:pt x="45593" y="56895"/>
                </a:lnTo>
                <a:lnTo>
                  <a:pt x="45593" y="200025"/>
                </a:lnTo>
                <a:lnTo>
                  <a:pt x="44831" y="201041"/>
                </a:lnTo>
                <a:lnTo>
                  <a:pt x="69087" y="201041"/>
                </a:lnTo>
                <a:lnTo>
                  <a:pt x="690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29" name="bk object 30"/>
          <p:cNvSpPr/>
          <p:nvPr/>
        </p:nvSpPr>
        <p:spPr>
          <a:xfrm>
            <a:off x="2104200" y="4871880"/>
            <a:ext cx="136800" cy="194400"/>
          </a:xfrm>
          <a:custGeom>
            <a:avLst/>
            <a:gdLst>
              <a:gd name="textAreaLeft" fmla="*/ 0 w 136800"/>
              <a:gd name="textAreaRight" fmla="*/ 137520 w 136800"/>
              <a:gd name="textAreaTop" fmla="*/ 0 h 194400"/>
              <a:gd name="textAreaBottom" fmla="*/ 195120 h 194400"/>
            </a:gdLst>
            <a:ahLst/>
            <a:cxnLst/>
            <a:rect l="textAreaLeft" t="textAreaTop" r="textAreaRight" b="textAreaBottom"/>
            <a:pathLst>
              <a:path w="137541" h="195199">
                <a:moveTo>
                  <a:pt x="123952" y="21463"/>
                </a:moveTo>
                <a:lnTo>
                  <a:pt x="77978" y="21463"/>
                </a:lnTo>
                <a:lnTo>
                  <a:pt x="95885" y="30226"/>
                </a:lnTo>
                <a:lnTo>
                  <a:pt x="101854" y="36195"/>
                </a:lnTo>
                <a:lnTo>
                  <a:pt x="107633" y="48006"/>
                </a:lnTo>
                <a:lnTo>
                  <a:pt x="107696" y="66294"/>
                </a:lnTo>
                <a:lnTo>
                  <a:pt x="104775" y="72263"/>
                </a:lnTo>
                <a:lnTo>
                  <a:pt x="101854" y="81280"/>
                </a:lnTo>
                <a:lnTo>
                  <a:pt x="90043" y="93091"/>
                </a:lnTo>
                <a:lnTo>
                  <a:pt x="81025" y="99047"/>
                </a:lnTo>
                <a:lnTo>
                  <a:pt x="62865" y="108077"/>
                </a:lnTo>
                <a:lnTo>
                  <a:pt x="53848" y="114046"/>
                </a:lnTo>
                <a:lnTo>
                  <a:pt x="14731" y="144018"/>
                </a:lnTo>
                <a:lnTo>
                  <a:pt x="2921" y="180213"/>
                </a:lnTo>
                <a:lnTo>
                  <a:pt x="0" y="186182"/>
                </a:lnTo>
                <a:lnTo>
                  <a:pt x="0" y="195199"/>
                </a:lnTo>
                <a:lnTo>
                  <a:pt x="507" y="194818"/>
                </a:lnTo>
                <a:lnTo>
                  <a:pt x="137541" y="194818"/>
                </a:lnTo>
                <a:lnTo>
                  <a:pt x="137541" y="170561"/>
                </a:lnTo>
                <a:lnTo>
                  <a:pt x="30861" y="170561"/>
                </a:lnTo>
                <a:lnTo>
                  <a:pt x="30861" y="164592"/>
                </a:lnTo>
                <a:lnTo>
                  <a:pt x="36703" y="158750"/>
                </a:lnTo>
                <a:lnTo>
                  <a:pt x="39624" y="152781"/>
                </a:lnTo>
                <a:lnTo>
                  <a:pt x="48513" y="143891"/>
                </a:lnTo>
                <a:lnTo>
                  <a:pt x="54482" y="140970"/>
                </a:lnTo>
                <a:lnTo>
                  <a:pt x="72517" y="129032"/>
                </a:lnTo>
                <a:lnTo>
                  <a:pt x="75437" y="126111"/>
                </a:lnTo>
                <a:lnTo>
                  <a:pt x="93599" y="120142"/>
                </a:lnTo>
                <a:lnTo>
                  <a:pt x="96519" y="117221"/>
                </a:lnTo>
                <a:lnTo>
                  <a:pt x="102488" y="114300"/>
                </a:lnTo>
                <a:lnTo>
                  <a:pt x="111506" y="105283"/>
                </a:lnTo>
                <a:lnTo>
                  <a:pt x="120523" y="99314"/>
                </a:lnTo>
                <a:lnTo>
                  <a:pt x="126492" y="90297"/>
                </a:lnTo>
                <a:lnTo>
                  <a:pt x="129412" y="87376"/>
                </a:lnTo>
                <a:lnTo>
                  <a:pt x="132334" y="81407"/>
                </a:lnTo>
                <a:lnTo>
                  <a:pt x="135255" y="72390"/>
                </a:lnTo>
                <a:lnTo>
                  <a:pt x="135255" y="44958"/>
                </a:lnTo>
                <a:lnTo>
                  <a:pt x="132334" y="32893"/>
                </a:lnTo>
                <a:lnTo>
                  <a:pt x="126365" y="23876"/>
                </a:lnTo>
                <a:lnTo>
                  <a:pt x="123952" y="21463"/>
                </a:lnTo>
                <a:close/>
              </a:path>
              <a:path w="137541" h="195199">
                <a:moveTo>
                  <a:pt x="84200" y="0"/>
                </a:moveTo>
                <a:lnTo>
                  <a:pt x="53848" y="0"/>
                </a:lnTo>
                <a:lnTo>
                  <a:pt x="47879" y="2921"/>
                </a:lnTo>
                <a:lnTo>
                  <a:pt x="41910" y="2921"/>
                </a:lnTo>
                <a:lnTo>
                  <a:pt x="8890" y="38989"/>
                </a:lnTo>
                <a:lnTo>
                  <a:pt x="5968" y="48006"/>
                </a:lnTo>
                <a:lnTo>
                  <a:pt x="5968" y="69215"/>
                </a:lnTo>
                <a:lnTo>
                  <a:pt x="30225" y="69215"/>
                </a:lnTo>
                <a:lnTo>
                  <a:pt x="30225" y="60198"/>
                </a:lnTo>
                <a:lnTo>
                  <a:pt x="33147" y="54229"/>
                </a:lnTo>
                <a:lnTo>
                  <a:pt x="33225" y="48006"/>
                </a:lnTo>
                <a:lnTo>
                  <a:pt x="36068" y="39243"/>
                </a:lnTo>
                <a:lnTo>
                  <a:pt x="42037" y="33274"/>
                </a:lnTo>
                <a:lnTo>
                  <a:pt x="48006" y="30353"/>
                </a:lnTo>
                <a:lnTo>
                  <a:pt x="53975" y="24384"/>
                </a:lnTo>
                <a:lnTo>
                  <a:pt x="59943" y="24384"/>
                </a:lnTo>
                <a:lnTo>
                  <a:pt x="68961" y="21463"/>
                </a:lnTo>
                <a:lnTo>
                  <a:pt x="123952" y="21463"/>
                </a:lnTo>
                <a:lnTo>
                  <a:pt x="117348" y="14859"/>
                </a:lnTo>
                <a:lnTo>
                  <a:pt x="108331" y="8890"/>
                </a:lnTo>
                <a:lnTo>
                  <a:pt x="96266" y="2921"/>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0" name="bk object 31"/>
          <p:cNvSpPr/>
          <p:nvPr/>
        </p:nvSpPr>
        <p:spPr>
          <a:xfrm>
            <a:off x="2104200" y="4331880"/>
            <a:ext cx="134280" cy="203400"/>
          </a:xfrm>
          <a:custGeom>
            <a:avLst/>
            <a:gdLst>
              <a:gd name="textAreaLeft" fmla="*/ 0 w 134280"/>
              <a:gd name="textAreaRight" fmla="*/ 135000 w 134280"/>
              <a:gd name="textAreaTop" fmla="*/ 0 h 203400"/>
              <a:gd name="textAreaBottom" fmla="*/ 204120 h 203400"/>
            </a:gdLst>
            <a:ahLst/>
            <a:cxnLst/>
            <a:rect l="textAreaLeft" t="textAreaTop" r="textAreaRight" b="textAreaBottom"/>
            <a:pathLst>
              <a:path w="135128" h="203949">
                <a:moveTo>
                  <a:pt x="24256" y="134620"/>
                </a:moveTo>
                <a:lnTo>
                  <a:pt x="0" y="134620"/>
                </a:lnTo>
                <a:lnTo>
                  <a:pt x="127" y="135128"/>
                </a:lnTo>
                <a:lnTo>
                  <a:pt x="127" y="159385"/>
                </a:lnTo>
                <a:lnTo>
                  <a:pt x="3048" y="162306"/>
                </a:lnTo>
                <a:lnTo>
                  <a:pt x="3048" y="165227"/>
                </a:lnTo>
                <a:lnTo>
                  <a:pt x="9017" y="177292"/>
                </a:lnTo>
                <a:lnTo>
                  <a:pt x="26924" y="195199"/>
                </a:lnTo>
                <a:lnTo>
                  <a:pt x="38988" y="198120"/>
                </a:lnTo>
                <a:lnTo>
                  <a:pt x="57023" y="203949"/>
                </a:lnTo>
                <a:lnTo>
                  <a:pt x="72136" y="203949"/>
                </a:lnTo>
                <a:lnTo>
                  <a:pt x="78105" y="201041"/>
                </a:lnTo>
                <a:lnTo>
                  <a:pt x="90169" y="201041"/>
                </a:lnTo>
                <a:lnTo>
                  <a:pt x="114300" y="189103"/>
                </a:lnTo>
                <a:lnTo>
                  <a:pt x="117221" y="183134"/>
                </a:lnTo>
                <a:lnTo>
                  <a:pt x="123190" y="180212"/>
                </a:lnTo>
                <a:lnTo>
                  <a:pt x="123566" y="179450"/>
                </a:lnTo>
                <a:lnTo>
                  <a:pt x="66040" y="179450"/>
                </a:lnTo>
                <a:lnTo>
                  <a:pt x="53975" y="176530"/>
                </a:lnTo>
                <a:lnTo>
                  <a:pt x="48006" y="176530"/>
                </a:lnTo>
                <a:lnTo>
                  <a:pt x="38988" y="170561"/>
                </a:lnTo>
                <a:lnTo>
                  <a:pt x="33019" y="164592"/>
                </a:lnTo>
                <a:lnTo>
                  <a:pt x="24256" y="146685"/>
                </a:lnTo>
                <a:lnTo>
                  <a:pt x="24256" y="134620"/>
                </a:lnTo>
                <a:close/>
              </a:path>
              <a:path w="135128" h="203949">
                <a:moveTo>
                  <a:pt x="121424" y="105029"/>
                </a:moveTo>
                <a:lnTo>
                  <a:pt x="74930" y="105029"/>
                </a:lnTo>
                <a:lnTo>
                  <a:pt x="77850" y="107950"/>
                </a:lnTo>
                <a:lnTo>
                  <a:pt x="83819" y="107950"/>
                </a:lnTo>
                <a:lnTo>
                  <a:pt x="86741" y="110871"/>
                </a:lnTo>
                <a:lnTo>
                  <a:pt x="98679" y="116712"/>
                </a:lnTo>
                <a:lnTo>
                  <a:pt x="104648" y="125730"/>
                </a:lnTo>
                <a:lnTo>
                  <a:pt x="107568" y="131699"/>
                </a:lnTo>
                <a:lnTo>
                  <a:pt x="107568" y="149860"/>
                </a:lnTo>
                <a:lnTo>
                  <a:pt x="104648" y="155829"/>
                </a:lnTo>
                <a:lnTo>
                  <a:pt x="101727" y="164846"/>
                </a:lnTo>
                <a:lnTo>
                  <a:pt x="95885" y="170687"/>
                </a:lnTo>
                <a:lnTo>
                  <a:pt x="89916" y="173609"/>
                </a:lnTo>
                <a:lnTo>
                  <a:pt x="80899" y="176530"/>
                </a:lnTo>
                <a:lnTo>
                  <a:pt x="77978" y="176530"/>
                </a:lnTo>
                <a:lnTo>
                  <a:pt x="75056" y="179450"/>
                </a:lnTo>
                <a:lnTo>
                  <a:pt x="123566" y="179450"/>
                </a:lnTo>
                <a:lnTo>
                  <a:pt x="135128" y="156083"/>
                </a:lnTo>
                <a:lnTo>
                  <a:pt x="135128" y="125730"/>
                </a:lnTo>
                <a:lnTo>
                  <a:pt x="129159" y="113665"/>
                </a:lnTo>
                <a:lnTo>
                  <a:pt x="123190" y="107696"/>
                </a:lnTo>
                <a:lnTo>
                  <a:pt x="121424" y="105029"/>
                </a:lnTo>
                <a:close/>
              </a:path>
              <a:path w="135128" h="203949">
                <a:moveTo>
                  <a:pt x="120425" y="24257"/>
                </a:moveTo>
                <a:lnTo>
                  <a:pt x="78359" y="24257"/>
                </a:lnTo>
                <a:lnTo>
                  <a:pt x="90297" y="30099"/>
                </a:lnTo>
                <a:lnTo>
                  <a:pt x="99187" y="38989"/>
                </a:lnTo>
                <a:lnTo>
                  <a:pt x="99187" y="44958"/>
                </a:lnTo>
                <a:lnTo>
                  <a:pt x="102107" y="53975"/>
                </a:lnTo>
                <a:lnTo>
                  <a:pt x="99249" y="59817"/>
                </a:lnTo>
                <a:lnTo>
                  <a:pt x="99187" y="68961"/>
                </a:lnTo>
                <a:lnTo>
                  <a:pt x="90297" y="77850"/>
                </a:lnTo>
                <a:lnTo>
                  <a:pt x="78359" y="83693"/>
                </a:lnTo>
                <a:lnTo>
                  <a:pt x="50927" y="83693"/>
                </a:lnTo>
                <a:lnTo>
                  <a:pt x="50927" y="107950"/>
                </a:lnTo>
                <a:lnTo>
                  <a:pt x="56896" y="107950"/>
                </a:lnTo>
                <a:lnTo>
                  <a:pt x="62865" y="105029"/>
                </a:lnTo>
                <a:lnTo>
                  <a:pt x="121424" y="105029"/>
                </a:lnTo>
                <a:lnTo>
                  <a:pt x="117221" y="98679"/>
                </a:lnTo>
                <a:lnTo>
                  <a:pt x="114300" y="95758"/>
                </a:lnTo>
                <a:lnTo>
                  <a:pt x="108331" y="92824"/>
                </a:lnTo>
                <a:lnTo>
                  <a:pt x="102362" y="92824"/>
                </a:lnTo>
                <a:lnTo>
                  <a:pt x="111379" y="89916"/>
                </a:lnTo>
                <a:lnTo>
                  <a:pt x="120268" y="81025"/>
                </a:lnTo>
                <a:lnTo>
                  <a:pt x="123190" y="75057"/>
                </a:lnTo>
                <a:lnTo>
                  <a:pt x="126111" y="66040"/>
                </a:lnTo>
                <a:lnTo>
                  <a:pt x="129031" y="53975"/>
                </a:lnTo>
                <a:lnTo>
                  <a:pt x="126111" y="38849"/>
                </a:lnTo>
                <a:lnTo>
                  <a:pt x="123190" y="29845"/>
                </a:lnTo>
                <a:lnTo>
                  <a:pt x="120425" y="24257"/>
                </a:lnTo>
                <a:close/>
              </a:path>
              <a:path w="135128" h="203949">
                <a:moveTo>
                  <a:pt x="78105" y="0"/>
                </a:moveTo>
                <a:lnTo>
                  <a:pt x="66040" y="0"/>
                </a:lnTo>
                <a:lnTo>
                  <a:pt x="50927" y="2921"/>
                </a:lnTo>
                <a:lnTo>
                  <a:pt x="41910" y="2921"/>
                </a:lnTo>
                <a:lnTo>
                  <a:pt x="29972" y="8762"/>
                </a:lnTo>
                <a:lnTo>
                  <a:pt x="20955" y="14732"/>
                </a:lnTo>
                <a:lnTo>
                  <a:pt x="18034" y="20700"/>
                </a:lnTo>
                <a:lnTo>
                  <a:pt x="15112" y="23622"/>
                </a:lnTo>
                <a:lnTo>
                  <a:pt x="9143" y="35674"/>
                </a:lnTo>
                <a:lnTo>
                  <a:pt x="3302" y="53721"/>
                </a:lnTo>
                <a:lnTo>
                  <a:pt x="3302" y="65786"/>
                </a:lnTo>
                <a:lnTo>
                  <a:pt x="27559" y="65786"/>
                </a:lnTo>
                <a:lnTo>
                  <a:pt x="30417" y="59944"/>
                </a:lnTo>
                <a:lnTo>
                  <a:pt x="30480" y="50800"/>
                </a:lnTo>
                <a:lnTo>
                  <a:pt x="33338" y="44958"/>
                </a:lnTo>
                <a:lnTo>
                  <a:pt x="33400" y="41910"/>
                </a:lnTo>
                <a:lnTo>
                  <a:pt x="36322" y="38989"/>
                </a:lnTo>
                <a:lnTo>
                  <a:pt x="39243" y="33020"/>
                </a:lnTo>
                <a:lnTo>
                  <a:pt x="57150" y="24257"/>
                </a:lnTo>
                <a:lnTo>
                  <a:pt x="120425" y="24257"/>
                </a:lnTo>
                <a:lnTo>
                  <a:pt x="117221" y="17780"/>
                </a:lnTo>
                <a:lnTo>
                  <a:pt x="99187" y="5842"/>
                </a:lnTo>
                <a:lnTo>
                  <a:pt x="87122" y="2921"/>
                </a:lnTo>
                <a:lnTo>
                  <a:pt x="7810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1" name="bk object 32"/>
          <p:cNvSpPr/>
          <p:nvPr/>
        </p:nvSpPr>
        <p:spPr>
          <a:xfrm>
            <a:off x="2104200" y="379620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8" h="194817">
                <a:moveTo>
                  <a:pt x="112648" y="143001"/>
                </a:moveTo>
                <a:lnTo>
                  <a:pt x="85216" y="143001"/>
                </a:lnTo>
                <a:lnTo>
                  <a:pt x="85216" y="194817"/>
                </a:lnTo>
                <a:lnTo>
                  <a:pt x="112648" y="194817"/>
                </a:lnTo>
                <a:lnTo>
                  <a:pt x="112648" y="143001"/>
                </a:lnTo>
                <a:close/>
              </a:path>
              <a:path w="112648" h="194817">
                <a:moveTo>
                  <a:pt x="112648" y="0"/>
                </a:moveTo>
                <a:lnTo>
                  <a:pt x="85216" y="0"/>
                </a:lnTo>
                <a:lnTo>
                  <a:pt x="0" y="118744"/>
                </a:lnTo>
                <a:lnTo>
                  <a:pt x="0" y="143001"/>
                </a:lnTo>
                <a:lnTo>
                  <a:pt x="140080" y="143001"/>
                </a:lnTo>
                <a:lnTo>
                  <a:pt x="140080" y="121792"/>
                </a:lnTo>
                <a:lnTo>
                  <a:pt x="112648" y="121792"/>
                </a:lnTo>
                <a:lnTo>
                  <a:pt x="24383" y="121665"/>
                </a:lnTo>
                <a:lnTo>
                  <a:pt x="85216" y="33400"/>
                </a:lnTo>
                <a:lnTo>
                  <a:pt x="112648" y="33400"/>
                </a:lnTo>
                <a:lnTo>
                  <a:pt x="112648" y="0"/>
                </a:lnTo>
                <a:close/>
              </a:path>
              <a:path w="112648" h="194817">
                <a:moveTo>
                  <a:pt x="112648" y="33400"/>
                </a:moveTo>
                <a:lnTo>
                  <a:pt x="85216" y="33400"/>
                </a:lnTo>
                <a:lnTo>
                  <a:pt x="85216" y="121665"/>
                </a:lnTo>
                <a:lnTo>
                  <a:pt x="112648" y="121665"/>
                </a:lnTo>
                <a:lnTo>
                  <a:pt x="112648" y="3340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2" name="bk object 33"/>
          <p:cNvSpPr/>
          <p:nvPr/>
        </p:nvSpPr>
        <p:spPr>
          <a:xfrm>
            <a:off x="2104200" y="3253680"/>
            <a:ext cx="135000" cy="198720"/>
          </a:xfrm>
          <a:custGeom>
            <a:avLst/>
            <a:gdLst>
              <a:gd name="textAreaLeft" fmla="*/ 0 w 135000"/>
              <a:gd name="textAreaRight" fmla="*/ 135720 w 135000"/>
              <a:gd name="textAreaTop" fmla="*/ 0 h 198720"/>
              <a:gd name="textAreaBottom" fmla="*/ 199440 h 198720"/>
            </a:gdLst>
            <a:ahLst/>
            <a:cxnLst/>
            <a:rect l="textAreaLeft" t="textAreaTop" r="textAreaRight" b="textAreaBottom"/>
            <a:pathLst>
              <a:path w="135762" h="199389">
                <a:moveTo>
                  <a:pt x="27431" y="143001"/>
                </a:moveTo>
                <a:lnTo>
                  <a:pt x="635" y="143001"/>
                </a:lnTo>
                <a:lnTo>
                  <a:pt x="635" y="151637"/>
                </a:lnTo>
                <a:lnTo>
                  <a:pt x="21336" y="184530"/>
                </a:lnTo>
                <a:lnTo>
                  <a:pt x="51435" y="199389"/>
                </a:lnTo>
                <a:lnTo>
                  <a:pt x="81787" y="199389"/>
                </a:lnTo>
                <a:lnTo>
                  <a:pt x="93853" y="196469"/>
                </a:lnTo>
                <a:lnTo>
                  <a:pt x="105918" y="190500"/>
                </a:lnTo>
                <a:lnTo>
                  <a:pt x="120650" y="175767"/>
                </a:lnTo>
                <a:lnTo>
                  <a:pt x="57277" y="175767"/>
                </a:lnTo>
                <a:lnTo>
                  <a:pt x="48260" y="172847"/>
                </a:lnTo>
                <a:lnTo>
                  <a:pt x="42291" y="169925"/>
                </a:lnTo>
                <a:lnTo>
                  <a:pt x="27431" y="155066"/>
                </a:lnTo>
                <a:lnTo>
                  <a:pt x="27431" y="143001"/>
                </a:lnTo>
                <a:close/>
              </a:path>
              <a:path w="135762" h="199389">
                <a:moveTo>
                  <a:pt x="121920" y="89026"/>
                </a:moveTo>
                <a:lnTo>
                  <a:pt x="75437" y="89026"/>
                </a:lnTo>
                <a:lnTo>
                  <a:pt x="81406" y="91948"/>
                </a:lnTo>
                <a:lnTo>
                  <a:pt x="90424" y="94869"/>
                </a:lnTo>
                <a:lnTo>
                  <a:pt x="102362" y="106807"/>
                </a:lnTo>
                <a:lnTo>
                  <a:pt x="105282" y="115824"/>
                </a:lnTo>
                <a:lnTo>
                  <a:pt x="108204" y="118745"/>
                </a:lnTo>
                <a:lnTo>
                  <a:pt x="108204" y="143001"/>
                </a:lnTo>
                <a:lnTo>
                  <a:pt x="105282" y="148971"/>
                </a:lnTo>
                <a:lnTo>
                  <a:pt x="102362" y="157987"/>
                </a:lnTo>
                <a:lnTo>
                  <a:pt x="90424" y="169925"/>
                </a:lnTo>
                <a:lnTo>
                  <a:pt x="84455" y="172847"/>
                </a:lnTo>
                <a:lnTo>
                  <a:pt x="75437" y="175767"/>
                </a:lnTo>
                <a:lnTo>
                  <a:pt x="120650" y="175767"/>
                </a:lnTo>
                <a:lnTo>
                  <a:pt x="123952" y="172465"/>
                </a:lnTo>
                <a:lnTo>
                  <a:pt x="129793" y="160527"/>
                </a:lnTo>
                <a:lnTo>
                  <a:pt x="135762" y="148462"/>
                </a:lnTo>
                <a:lnTo>
                  <a:pt x="135762" y="118110"/>
                </a:lnTo>
                <a:lnTo>
                  <a:pt x="132842" y="106045"/>
                </a:lnTo>
                <a:lnTo>
                  <a:pt x="126873" y="93979"/>
                </a:lnTo>
                <a:lnTo>
                  <a:pt x="121920" y="89026"/>
                </a:lnTo>
                <a:close/>
              </a:path>
              <a:path w="135762" h="199389">
                <a:moveTo>
                  <a:pt x="635" y="142621"/>
                </a:moveTo>
                <a:lnTo>
                  <a:pt x="0" y="143001"/>
                </a:lnTo>
                <a:lnTo>
                  <a:pt x="635" y="143001"/>
                </a:lnTo>
                <a:lnTo>
                  <a:pt x="635" y="142621"/>
                </a:lnTo>
                <a:close/>
              </a:path>
              <a:path w="135762" h="199389">
                <a:moveTo>
                  <a:pt x="128016" y="0"/>
                </a:moveTo>
                <a:lnTo>
                  <a:pt x="21336" y="0"/>
                </a:lnTo>
                <a:lnTo>
                  <a:pt x="6223" y="106679"/>
                </a:lnTo>
                <a:lnTo>
                  <a:pt x="27431" y="106679"/>
                </a:lnTo>
                <a:lnTo>
                  <a:pt x="36322" y="97789"/>
                </a:lnTo>
                <a:lnTo>
                  <a:pt x="48260" y="91948"/>
                </a:lnTo>
                <a:lnTo>
                  <a:pt x="57277" y="89026"/>
                </a:lnTo>
                <a:lnTo>
                  <a:pt x="121920" y="89026"/>
                </a:lnTo>
                <a:lnTo>
                  <a:pt x="117856" y="84962"/>
                </a:lnTo>
                <a:lnTo>
                  <a:pt x="114997" y="79121"/>
                </a:lnTo>
                <a:lnTo>
                  <a:pt x="33781" y="79121"/>
                </a:lnTo>
                <a:lnTo>
                  <a:pt x="39750" y="24257"/>
                </a:lnTo>
                <a:lnTo>
                  <a:pt x="128016" y="24257"/>
                </a:lnTo>
                <a:lnTo>
                  <a:pt x="128016" y="0"/>
                </a:lnTo>
                <a:close/>
              </a:path>
              <a:path w="135762" h="199389">
                <a:moveTo>
                  <a:pt x="84962" y="67310"/>
                </a:moveTo>
                <a:lnTo>
                  <a:pt x="60706" y="67310"/>
                </a:lnTo>
                <a:lnTo>
                  <a:pt x="48641" y="70230"/>
                </a:lnTo>
                <a:lnTo>
                  <a:pt x="42672" y="70230"/>
                </a:lnTo>
                <a:lnTo>
                  <a:pt x="33781" y="79121"/>
                </a:lnTo>
                <a:lnTo>
                  <a:pt x="114997" y="79121"/>
                </a:lnTo>
                <a:lnTo>
                  <a:pt x="97028" y="70230"/>
                </a:lnTo>
                <a:lnTo>
                  <a:pt x="84962" y="6731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3" name="bk object 34"/>
          <p:cNvSpPr/>
          <p:nvPr/>
        </p:nvSpPr>
        <p:spPr>
          <a:xfrm>
            <a:off x="2109600" y="2711520"/>
            <a:ext cx="134280" cy="204480"/>
          </a:xfrm>
          <a:custGeom>
            <a:avLst/>
            <a:gdLst>
              <a:gd name="textAreaLeft" fmla="*/ 0 w 134280"/>
              <a:gd name="textAreaRight" fmla="*/ 135000 w 134280"/>
              <a:gd name="textAreaTop" fmla="*/ 0 h 204480"/>
              <a:gd name="textAreaBottom" fmla="*/ 205200 h 204480"/>
            </a:gdLst>
            <a:ahLst/>
            <a:cxnLst/>
            <a:rect l="textAreaLeft" t="textAreaTop" r="textAreaRight" b="textAreaBottom"/>
            <a:pathLst>
              <a:path w="135000" h="205104">
                <a:moveTo>
                  <a:pt x="84200" y="202184"/>
                </a:moveTo>
                <a:lnTo>
                  <a:pt x="53975" y="202184"/>
                </a:lnTo>
                <a:lnTo>
                  <a:pt x="69087" y="205104"/>
                </a:lnTo>
                <a:lnTo>
                  <a:pt x="84200" y="202184"/>
                </a:lnTo>
                <a:close/>
              </a:path>
              <a:path w="135000" h="205104">
                <a:moveTo>
                  <a:pt x="72008" y="0"/>
                </a:moveTo>
                <a:lnTo>
                  <a:pt x="56895" y="2920"/>
                </a:lnTo>
                <a:lnTo>
                  <a:pt x="44831" y="5841"/>
                </a:lnTo>
                <a:lnTo>
                  <a:pt x="38862" y="8762"/>
                </a:lnTo>
                <a:lnTo>
                  <a:pt x="32893" y="14731"/>
                </a:lnTo>
                <a:lnTo>
                  <a:pt x="20827" y="23749"/>
                </a:lnTo>
                <a:lnTo>
                  <a:pt x="17906" y="29717"/>
                </a:lnTo>
                <a:lnTo>
                  <a:pt x="11937" y="38735"/>
                </a:lnTo>
                <a:lnTo>
                  <a:pt x="0" y="81152"/>
                </a:lnTo>
                <a:lnTo>
                  <a:pt x="0" y="141986"/>
                </a:lnTo>
                <a:lnTo>
                  <a:pt x="2920" y="151002"/>
                </a:lnTo>
                <a:lnTo>
                  <a:pt x="11937" y="172212"/>
                </a:lnTo>
                <a:lnTo>
                  <a:pt x="20955" y="184276"/>
                </a:lnTo>
                <a:lnTo>
                  <a:pt x="29971" y="193293"/>
                </a:lnTo>
                <a:lnTo>
                  <a:pt x="45085" y="199262"/>
                </a:lnTo>
                <a:lnTo>
                  <a:pt x="48006" y="202184"/>
                </a:lnTo>
                <a:lnTo>
                  <a:pt x="90169" y="202184"/>
                </a:lnTo>
                <a:lnTo>
                  <a:pt x="96138" y="199262"/>
                </a:lnTo>
                <a:lnTo>
                  <a:pt x="102107" y="199262"/>
                </a:lnTo>
                <a:lnTo>
                  <a:pt x="108076" y="196341"/>
                </a:lnTo>
                <a:lnTo>
                  <a:pt x="117093" y="187325"/>
                </a:lnTo>
                <a:lnTo>
                  <a:pt x="121460" y="181482"/>
                </a:lnTo>
                <a:lnTo>
                  <a:pt x="53212" y="181482"/>
                </a:lnTo>
                <a:lnTo>
                  <a:pt x="50292" y="178562"/>
                </a:lnTo>
                <a:lnTo>
                  <a:pt x="44323" y="175640"/>
                </a:lnTo>
                <a:lnTo>
                  <a:pt x="32512" y="163829"/>
                </a:lnTo>
                <a:lnTo>
                  <a:pt x="32512" y="160909"/>
                </a:lnTo>
                <a:lnTo>
                  <a:pt x="29591" y="154939"/>
                </a:lnTo>
                <a:lnTo>
                  <a:pt x="38354" y="109727"/>
                </a:lnTo>
                <a:lnTo>
                  <a:pt x="62356" y="97916"/>
                </a:lnTo>
                <a:lnTo>
                  <a:pt x="122916" y="97916"/>
                </a:lnTo>
                <a:lnTo>
                  <a:pt x="121991" y="96519"/>
                </a:lnTo>
                <a:lnTo>
                  <a:pt x="26924" y="96519"/>
                </a:lnTo>
                <a:lnTo>
                  <a:pt x="26924" y="78359"/>
                </a:lnTo>
                <a:lnTo>
                  <a:pt x="29844" y="66293"/>
                </a:lnTo>
                <a:lnTo>
                  <a:pt x="32766" y="57276"/>
                </a:lnTo>
                <a:lnTo>
                  <a:pt x="38735" y="45212"/>
                </a:lnTo>
                <a:lnTo>
                  <a:pt x="41656" y="39242"/>
                </a:lnTo>
                <a:lnTo>
                  <a:pt x="50545" y="30352"/>
                </a:lnTo>
                <a:lnTo>
                  <a:pt x="62483" y="24511"/>
                </a:lnTo>
                <a:lnTo>
                  <a:pt x="124681" y="24511"/>
                </a:lnTo>
                <a:lnTo>
                  <a:pt x="120142" y="17652"/>
                </a:lnTo>
                <a:lnTo>
                  <a:pt x="114300" y="11811"/>
                </a:lnTo>
                <a:lnTo>
                  <a:pt x="102235" y="5841"/>
                </a:lnTo>
                <a:lnTo>
                  <a:pt x="72008" y="0"/>
                </a:lnTo>
                <a:close/>
              </a:path>
              <a:path w="135000" h="205104">
                <a:moveTo>
                  <a:pt x="122916" y="97916"/>
                </a:moveTo>
                <a:lnTo>
                  <a:pt x="77469" y="97916"/>
                </a:lnTo>
                <a:lnTo>
                  <a:pt x="86487" y="100837"/>
                </a:lnTo>
                <a:lnTo>
                  <a:pt x="92456" y="103759"/>
                </a:lnTo>
                <a:lnTo>
                  <a:pt x="98298" y="109600"/>
                </a:lnTo>
                <a:lnTo>
                  <a:pt x="101218" y="115569"/>
                </a:lnTo>
                <a:lnTo>
                  <a:pt x="104139" y="124587"/>
                </a:lnTo>
                <a:lnTo>
                  <a:pt x="107061" y="130555"/>
                </a:lnTo>
                <a:lnTo>
                  <a:pt x="107061" y="139573"/>
                </a:lnTo>
                <a:lnTo>
                  <a:pt x="107314" y="139700"/>
                </a:lnTo>
                <a:lnTo>
                  <a:pt x="107314" y="148716"/>
                </a:lnTo>
                <a:lnTo>
                  <a:pt x="104393" y="154686"/>
                </a:lnTo>
                <a:lnTo>
                  <a:pt x="101473" y="163702"/>
                </a:lnTo>
                <a:lnTo>
                  <a:pt x="98551" y="169672"/>
                </a:lnTo>
                <a:lnTo>
                  <a:pt x="92582" y="175640"/>
                </a:lnTo>
                <a:lnTo>
                  <a:pt x="80644" y="181482"/>
                </a:lnTo>
                <a:lnTo>
                  <a:pt x="121460" y="181482"/>
                </a:lnTo>
                <a:lnTo>
                  <a:pt x="126111" y="175260"/>
                </a:lnTo>
                <a:lnTo>
                  <a:pt x="132080" y="163194"/>
                </a:lnTo>
                <a:lnTo>
                  <a:pt x="132080" y="157225"/>
                </a:lnTo>
                <a:lnTo>
                  <a:pt x="135000" y="154304"/>
                </a:lnTo>
                <a:lnTo>
                  <a:pt x="135000" y="126873"/>
                </a:lnTo>
                <a:lnTo>
                  <a:pt x="132080" y="114807"/>
                </a:lnTo>
                <a:lnTo>
                  <a:pt x="126111" y="102742"/>
                </a:lnTo>
                <a:lnTo>
                  <a:pt x="122916" y="97916"/>
                </a:lnTo>
                <a:close/>
              </a:path>
              <a:path w="135000" h="205104">
                <a:moveTo>
                  <a:pt x="68833" y="72898"/>
                </a:moveTo>
                <a:lnTo>
                  <a:pt x="59817" y="75818"/>
                </a:lnTo>
                <a:lnTo>
                  <a:pt x="47751" y="78739"/>
                </a:lnTo>
                <a:lnTo>
                  <a:pt x="38735" y="81661"/>
                </a:lnTo>
                <a:lnTo>
                  <a:pt x="29844" y="90550"/>
                </a:lnTo>
                <a:lnTo>
                  <a:pt x="26924" y="96519"/>
                </a:lnTo>
                <a:lnTo>
                  <a:pt x="121991" y="96519"/>
                </a:lnTo>
                <a:lnTo>
                  <a:pt x="120142" y="93725"/>
                </a:lnTo>
                <a:lnTo>
                  <a:pt x="108076" y="84709"/>
                </a:lnTo>
                <a:lnTo>
                  <a:pt x="96012" y="78739"/>
                </a:lnTo>
                <a:lnTo>
                  <a:pt x="83946" y="75818"/>
                </a:lnTo>
                <a:lnTo>
                  <a:pt x="68833" y="72898"/>
                </a:lnTo>
                <a:close/>
              </a:path>
              <a:path w="135000" h="205104">
                <a:moveTo>
                  <a:pt x="124681" y="24511"/>
                </a:moveTo>
                <a:lnTo>
                  <a:pt x="80644" y="24511"/>
                </a:lnTo>
                <a:lnTo>
                  <a:pt x="86613" y="27431"/>
                </a:lnTo>
                <a:lnTo>
                  <a:pt x="95631" y="30352"/>
                </a:lnTo>
                <a:lnTo>
                  <a:pt x="98551" y="33274"/>
                </a:lnTo>
                <a:lnTo>
                  <a:pt x="101473" y="33274"/>
                </a:lnTo>
                <a:lnTo>
                  <a:pt x="107314" y="45212"/>
                </a:lnTo>
                <a:lnTo>
                  <a:pt x="107314" y="54228"/>
                </a:lnTo>
                <a:lnTo>
                  <a:pt x="134746" y="54228"/>
                </a:lnTo>
                <a:lnTo>
                  <a:pt x="134874" y="53593"/>
                </a:lnTo>
                <a:lnTo>
                  <a:pt x="134874" y="47625"/>
                </a:lnTo>
                <a:lnTo>
                  <a:pt x="129031" y="35687"/>
                </a:lnTo>
                <a:lnTo>
                  <a:pt x="126111" y="26669"/>
                </a:lnTo>
                <a:lnTo>
                  <a:pt x="124681" y="2451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4" name="bk object 35"/>
          <p:cNvSpPr/>
          <p:nvPr/>
        </p:nvSpPr>
        <p:spPr>
          <a:xfrm>
            <a:off x="2106000" y="2179080"/>
            <a:ext cx="28080" cy="192960"/>
          </a:xfrm>
          <a:custGeom>
            <a:avLst/>
            <a:gdLst>
              <a:gd name="textAreaLeft" fmla="*/ 0 w 28080"/>
              <a:gd name="textAreaRight" fmla="*/ 28800 w 28080"/>
              <a:gd name="textAreaTop" fmla="*/ 0 h 192960"/>
              <a:gd name="textAreaBottom" fmla="*/ 193680 h 192960"/>
            </a:gdLst>
            <a:ahLst/>
            <a:cxnLst/>
            <a:rect l="textAreaLeft" t="textAreaTop" r="textAreaRight" b="textAreaBottom"/>
            <a:pathLst>
              <a:path w="28722" h="193675">
                <a:moveTo>
                  <a:pt x="28722" y="193548"/>
                </a:moveTo>
              </a:path>
              <a:path w="28722" h="193675">
                <a:moveTo>
                  <a:pt x="137032" y="0"/>
                </a:moveTo>
                <a:lnTo>
                  <a:pt x="0" y="0"/>
                </a:lnTo>
                <a:lnTo>
                  <a:pt x="0" y="24256"/>
                </a:lnTo>
                <a:lnTo>
                  <a:pt x="109727" y="24256"/>
                </a:lnTo>
                <a:lnTo>
                  <a:pt x="97662" y="39370"/>
                </a:lnTo>
                <a:lnTo>
                  <a:pt x="91693" y="45338"/>
                </a:lnTo>
                <a:lnTo>
                  <a:pt x="79628" y="63500"/>
                </a:lnTo>
                <a:lnTo>
                  <a:pt x="67563" y="78612"/>
                </a:lnTo>
                <a:lnTo>
                  <a:pt x="55499" y="102870"/>
                </a:lnTo>
                <a:lnTo>
                  <a:pt x="46481" y="124078"/>
                </a:lnTo>
                <a:lnTo>
                  <a:pt x="40512" y="145287"/>
                </a:lnTo>
                <a:lnTo>
                  <a:pt x="34543" y="169545"/>
                </a:lnTo>
                <a:lnTo>
                  <a:pt x="31622" y="175513"/>
                </a:lnTo>
                <a:lnTo>
                  <a:pt x="28722" y="193548"/>
                </a:lnTo>
                <a:lnTo>
                  <a:pt x="59054" y="193548"/>
                </a:lnTo>
                <a:lnTo>
                  <a:pt x="61975" y="172338"/>
                </a:lnTo>
                <a:lnTo>
                  <a:pt x="61975" y="163322"/>
                </a:lnTo>
                <a:lnTo>
                  <a:pt x="67944" y="142112"/>
                </a:lnTo>
                <a:lnTo>
                  <a:pt x="70865" y="133096"/>
                </a:lnTo>
                <a:lnTo>
                  <a:pt x="73787" y="121030"/>
                </a:lnTo>
                <a:lnTo>
                  <a:pt x="82803" y="102870"/>
                </a:lnTo>
                <a:lnTo>
                  <a:pt x="94868" y="81661"/>
                </a:lnTo>
                <a:lnTo>
                  <a:pt x="103885" y="63500"/>
                </a:lnTo>
                <a:lnTo>
                  <a:pt x="115950" y="48387"/>
                </a:lnTo>
                <a:lnTo>
                  <a:pt x="121919" y="39370"/>
                </a:lnTo>
                <a:lnTo>
                  <a:pt x="137032" y="24256"/>
                </a:lnTo>
                <a:lnTo>
                  <a:pt x="13703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5" name="bk object 36"/>
          <p:cNvSpPr/>
          <p:nvPr/>
        </p:nvSpPr>
        <p:spPr>
          <a:xfrm>
            <a:off x="2107800" y="1636560"/>
            <a:ext cx="134640" cy="200160"/>
          </a:xfrm>
          <a:custGeom>
            <a:avLst/>
            <a:gdLst>
              <a:gd name="textAreaLeft" fmla="*/ 0 w 134640"/>
              <a:gd name="textAreaRight" fmla="*/ 135360 w 134640"/>
              <a:gd name="textAreaTop" fmla="*/ 0 h 200160"/>
              <a:gd name="textAreaBottom" fmla="*/ 200880 h 200160"/>
            </a:gdLst>
            <a:ahLst/>
            <a:cxnLst/>
            <a:rect l="textAreaLeft" t="textAreaTop" r="textAreaRight" b="textAreaBottom"/>
            <a:pathLst>
              <a:path w="135509" h="200913">
                <a:moveTo>
                  <a:pt x="32584" y="89815"/>
                </a:moveTo>
                <a:lnTo>
                  <a:pt x="26670" y="92709"/>
                </a:lnTo>
                <a:lnTo>
                  <a:pt x="23749" y="92709"/>
                </a:lnTo>
                <a:lnTo>
                  <a:pt x="17780" y="98678"/>
                </a:lnTo>
                <a:lnTo>
                  <a:pt x="11811" y="101600"/>
                </a:lnTo>
                <a:lnTo>
                  <a:pt x="5842" y="110616"/>
                </a:lnTo>
                <a:lnTo>
                  <a:pt x="0" y="128650"/>
                </a:lnTo>
                <a:lnTo>
                  <a:pt x="0" y="152907"/>
                </a:lnTo>
                <a:lnTo>
                  <a:pt x="2921" y="164972"/>
                </a:lnTo>
                <a:lnTo>
                  <a:pt x="11938" y="177037"/>
                </a:lnTo>
                <a:lnTo>
                  <a:pt x="29972" y="195071"/>
                </a:lnTo>
                <a:lnTo>
                  <a:pt x="54102" y="200913"/>
                </a:lnTo>
                <a:lnTo>
                  <a:pt x="81534" y="200913"/>
                </a:lnTo>
                <a:lnTo>
                  <a:pt x="90551" y="197992"/>
                </a:lnTo>
                <a:lnTo>
                  <a:pt x="105664" y="195071"/>
                </a:lnTo>
                <a:lnTo>
                  <a:pt x="123444" y="177291"/>
                </a:lnTo>
                <a:lnTo>
                  <a:pt x="53213" y="177291"/>
                </a:lnTo>
                <a:lnTo>
                  <a:pt x="47244" y="174370"/>
                </a:lnTo>
                <a:lnTo>
                  <a:pt x="44323" y="174370"/>
                </a:lnTo>
                <a:lnTo>
                  <a:pt x="32385" y="162432"/>
                </a:lnTo>
                <a:lnTo>
                  <a:pt x="29464" y="156463"/>
                </a:lnTo>
                <a:lnTo>
                  <a:pt x="26543" y="147446"/>
                </a:lnTo>
                <a:lnTo>
                  <a:pt x="26543" y="138429"/>
                </a:lnTo>
                <a:lnTo>
                  <a:pt x="26797" y="138429"/>
                </a:lnTo>
                <a:lnTo>
                  <a:pt x="26859" y="129412"/>
                </a:lnTo>
                <a:lnTo>
                  <a:pt x="32639" y="117601"/>
                </a:lnTo>
                <a:lnTo>
                  <a:pt x="38608" y="111632"/>
                </a:lnTo>
                <a:lnTo>
                  <a:pt x="44577" y="108712"/>
                </a:lnTo>
                <a:lnTo>
                  <a:pt x="53594" y="105790"/>
                </a:lnTo>
                <a:lnTo>
                  <a:pt x="59563" y="102869"/>
                </a:lnTo>
                <a:lnTo>
                  <a:pt x="121406" y="102869"/>
                </a:lnTo>
                <a:lnTo>
                  <a:pt x="120650" y="101726"/>
                </a:lnTo>
                <a:lnTo>
                  <a:pt x="114681" y="98805"/>
                </a:lnTo>
                <a:lnTo>
                  <a:pt x="108712" y="92837"/>
                </a:lnTo>
                <a:lnTo>
                  <a:pt x="102743" y="89915"/>
                </a:lnTo>
                <a:lnTo>
                  <a:pt x="32893" y="89915"/>
                </a:lnTo>
                <a:lnTo>
                  <a:pt x="32584" y="89815"/>
                </a:lnTo>
                <a:close/>
              </a:path>
              <a:path w="135509" h="200913">
                <a:moveTo>
                  <a:pt x="121406" y="102869"/>
                </a:moveTo>
                <a:lnTo>
                  <a:pt x="74676" y="102869"/>
                </a:lnTo>
                <a:lnTo>
                  <a:pt x="92583" y="111632"/>
                </a:lnTo>
                <a:lnTo>
                  <a:pt x="101473" y="120522"/>
                </a:lnTo>
                <a:lnTo>
                  <a:pt x="101473" y="123443"/>
                </a:lnTo>
                <a:lnTo>
                  <a:pt x="104394" y="129412"/>
                </a:lnTo>
                <a:lnTo>
                  <a:pt x="107315" y="138429"/>
                </a:lnTo>
                <a:lnTo>
                  <a:pt x="104394" y="147446"/>
                </a:lnTo>
                <a:lnTo>
                  <a:pt x="104394" y="156463"/>
                </a:lnTo>
                <a:lnTo>
                  <a:pt x="98425" y="162432"/>
                </a:lnTo>
                <a:lnTo>
                  <a:pt x="95504" y="168401"/>
                </a:lnTo>
                <a:lnTo>
                  <a:pt x="89535" y="174370"/>
                </a:lnTo>
                <a:lnTo>
                  <a:pt x="83566" y="174370"/>
                </a:lnTo>
                <a:lnTo>
                  <a:pt x="80645" y="177291"/>
                </a:lnTo>
                <a:lnTo>
                  <a:pt x="123444" y="177291"/>
                </a:lnTo>
                <a:lnTo>
                  <a:pt x="123698" y="177037"/>
                </a:lnTo>
                <a:lnTo>
                  <a:pt x="129667" y="164972"/>
                </a:lnTo>
                <a:lnTo>
                  <a:pt x="135509" y="140842"/>
                </a:lnTo>
                <a:lnTo>
                  <a:pt x="132588" y="128777"/>
                </a:lnTo>
                <a:lnTo>
                  <a:pt x="132588" y="119760"/>
                </a:lnTo>
                <a:lnTo>
                  <a:pt x="121406" y="102869"/>
                </a:lnTo>
                <a:close/>
              </a:path>
              <a:path w="135509" h="200913">
                <a:moveTo>
                  <a:pt x="26797" y="138429"/>
                </a:moveTo>
                <a:lnTo>
                  <a:pt x="26543" y="138429"/>
                </a:lnTo>
                <a:lnTo>
                  <a:pt x="26797" y="138556"/>
                </a:lnTo>
                <a:close/>
              </a:path>
              <a:path w="135509" h="200913">
                <a:moveTo>
                  <a:pt x="103002" y="89788"/>
                </a:moveTo>
                <a:lnTo>
                  <a:pt x="32639" y="89788"/>
                </a:lnTo>
                <a:lnTo>
                  <a:pt x="32893" y="89915"/>
                </a:lnTo>
                <a:lnTo>
                  <a:pt x="102743" y="89915"/>
                </a:lnTo>
                <a:lnTo>
                  <a:pt x="103002" y="89788"/>
                </a:lnTo>
                <a:close/>
              </a:path>
              <a:path w="135509" h="200913">
                <a:moveTo>
                  <a:pt x="87503" y="0"/>
                </a:moveTo>
                <a:lnTo>
                  <a:pt x="44958" y="0"/>
                </a:lnTo>
                <a:lnTo>
                  <a:pt x="32893" y="5968"/>
                </a:lnTo>
                <a:lnTo>
                  <a:pt x="23876" y="11937"/>
                </a:lnTo>
                <a:lnTo>
                  <a:pt x="17907" y="17906"/>
                </a:lnTo>
                <a:lnTo>
                  <a:pt x="11938" y="26923"/>
                </a:lnTo>
                <a:lnTo>
                  <a:pt x="6096" y="38862"/>
                </a:lnTo>
                <a:lnTo>
                  <a:pt x="6096" y="60070"/>
                </a:lnTo>
                <a:lnTo>
                  <a:pt x="9017" y="69087"/>
                </a:lnTo>
                <a:lnTo>
                  <a:pt x="14986" y="78104"/>
                </a:lnTo>
                <a:lnTo>
                  <a:pt x="23876" y="86994"/>
                </a:lnTo>
                <a:lnTo>
                  <a:pt x="32584" y="89815"/>
                </a:lnTo>
                <a:lnTo>
                  <a:pt x="103002" y="89788"/>
                </a:lnTo>
                <a:lnTo>
                  <a:pt x="114681" y="84073"/>
                </a:lnTo>
                <a:lnTo>
                  <a:pt x="115823" y="82930"/>
                </a:lnTo>
                <a:lnTo>
                  <a:pt x="65659" y="82930"/>
                </a:lnTo>
                <a:lnTo>
                  <a:pt x="59690" y="80009"/>
                </a:lnTo>
                <a:lnTo>
                  <a:pt x="53721" y="80009"/>
                </a:lnTo>
                <a:lnTo>
                  <a:pt x="41783" y="74167"/>
                </a:lnTo>
                <a:lnTo>
                  <a:pt x="38862" y="71246"/>
                </a:lnTo>
                <a:lnTo>
                  <a:pt x="33020" y="59308"/>
                </a:lnTo>
                <a:lnTo>
                  <a:pt x="33020" y="50291"/>
                </a:lnTo>
                <a:lnTo>
                  <a:pt x="32893" y="50291"/>
                </a:lnTo>
                <a:lnTo>
                  <a:pt x="32893" y="44322"/>
                </a:lnTo>
                <a:lnTo>
                  <a:pt x="41656" y="26415"/>
                </a:lnTo>
                <a:lnTo>
                  <a:pt x="47625" y="23494"/>
                </a:lnTo>
                <a:lnTo>
                  <a:pt x="53594" y="23494"/>
                </a:lnTo>
                <a:lnTo>
                  <a:pt x="56515" y="20573"/>
                </a:lnTo>
                <a:lnTo>
                  <a:pt x="119367" y="20573"/>
                </a:lnTo>
                <a:lnTo>
                  <a:pt x="117602" y="17906"/>
                </a:lnTo>
                <a:lnTo>
                  <a:pt x="99568" y="5968"/>
                </a:lnTo>
                <a:lnTo>
                  <a:pt x="87503" y="0"/>
                </a:lnTo>
                <a:close/>
              </a:path>
              <a:path w="135509" h="200913">
                <a:moveTo>
                  <a:pt x="119367" y="20573"/>
                </a:moveTo>
                <a:lnTo>
                  <a:pt x="74676" y="20573"/>
                </a:lnTo>
                <a:lnTo>
                  <a:pt x="77597" y="23494"/>
                </a:lnTo>
                <a:lnTo>
                  <a:pt x="83566" y="23494"/>
                </a:lnTo>
                <a:lnTo>
                  <a:pt x="89535" y="26415"/>
                </a:lnTo>
                <a:lnTo>
                  <a:pt x="95504" y="32384"/>
                </a:lnTo>
                <a:lnTo>
                  <a:pt x="98425" y="38353"/>
                </a:lnTo>
                <a:lnTo>
                  <a:pt x="98425" y="44322"/>
                </a:lnTo>
                <a:lnTo>
                  <a:pt x="101346" y="50291"/>
                </a:lnTo>
                <a:lnTo>
                  <a:pt x="98425" y="59308"/>
                </a:lnTo>
                <a:lnTo>
                  <a:pt x="98425" y="65277"/>
                </a:lnTo>
                <a:lnTo>
                  <a:pt x="95504" y="71246"/>
                </a:lnTo>
                <a:lnTo>
                  <a:pt x="77597" y="80009"/>
                </a:lnTo>
                <a:lnTo>
                  <a:pt x="71628" y="80009"/>
                </a:lnTo>
                <a:lnTo>
                  <a:pt x="65659" y="82930"/>
                </a:lnTo>
                <a:lnTo>
                  <a:pt x="115823" y="82930"/>
                </a:lnTo>
                <a:lnTo>
                  <a:pt x="120650" y="78104"/>
                </a:lnTo>
                <a:lnTo>
                  <a:pt x="126492" y="60070"/>
                </a:lnTo>
                <a:lnTo>
                  <a:pt x="129413" y="48005"/>
                </a:lnTo>
                <a:lnTo>
                  <a:pt x="126461" y="38862"/>
                </a:lnTo>
                <a:lnTo>
                  <a:pt x="123571" y="26923"/>
                </a:lnTo>
                <a:lnTo>
                  <a:pt x="119367" y="20573"/>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6" name="bk object 37"/>
          <p:cNvSpPr/>
          <p:nvPr/>
        </p:nvSpPr>
        <p:spPr>
          <a:xfrm>
            <a:off x="2104200" y="1094040"/>
            <a:ext cx="137160" cy="204480"/>
          </a:xfrm>
          <a:custGeom>
            <a:avLst/>
            <a:gdLst>
              <a:gd name="textAreaLeft" fmla="*/ 0 w 137160"/>
              <a:gd name="textAreaRight" fmla="*/ 137880 w 137160"/>
              <a:gd name="textAreaTop" fmla="*/ 0 h 204480"/>
              <a:gd name="textAreaBottom" fmla="*/ 205200 h 204480"/>
            </a:gdLst>
            <a:ahLst/>
            <a:cxnLst/>
            <a:rect l="textAreaLeft" t="textAreaTop" r="textAreaRight" b="textAreaBottom"/>
            <a:pathLst>
              <a:path w="137922" h="205104">
                <a:moveTo>
                  <a:pt x="27431" y="150749"/>
                </a:moveTo>
                <a:lnTo>
                  <a:pt x="3175" y="150749"/>
                </a:lnTo>
                <a:lnTo>
                  <a:pt x="2667" y="151129"/>
                </a:lnTo>
                <a:lnTo>
                  <a:pt x="2667" y="169290"/>
                </a:lnTo>
                <a:lnTo>
                  <a:pt x="8636" y="178307"/>
                </a:lnTo>
                <a:lnTo>
                  <a:pt x="23622" y="193293"/>
                </a:lnTo>
                <a:lnTo>
                  <a:pt x="47625" y="205104"/>
                </a:lnTo>
                <a:lnTo>
                  <a:pt x="62737" y="205104"/>
                </a:lnTo>
                <a:lnTo>
                  <a:pt x="105029" y="193293"/>
                </a:lnTo>
                <a:lnTo>
                  <a:pt x="114576" y="180339"/>
                </a:lnTo>
                <a:lnTo>
                  <a:pt x="54102" y="180339"/>
                </a:lnTo>
                <a:lnTo>
                  <a:pt x="36194" y="171576"/>
                </a:lnTo>
                <a:lnTo>
                  <a:pt x="30353" y="159638"/>
                </a:lnTo>
                <a:lnTo>
                  <a:pt x="30353" y="156717"/>
                </a:lnTo>
                <a:lnTo>
                  <a:pt x="27431" y="150749"/>
                </a:lnTo>
                <a:close/>
              </a:path>
              <a:path w="137922" h="205104">
                <a:moveTo>
                  <a:pt x="136650" y="111378"/>
                </a:moveTo>
                <a:lnTo>
                  <a:pt x="110871" y="111378"/>
                </a:lnTo>
                <a:lnTo>
                  <a:pt x="107950" y="120395"/>
                </a:lnTo>
                <a:lnTo>
                  <a:pt x="107950" y="132460"/>
                </a:lnTo>
                <a:lnTo>
                  <a:pt x="105029" y="138429"/>
                </a:lnTo>
                <a:lnTo>
                  <a:pt x="87249" y="174498"/>
                </a:lnTo>
                <a:lnTo>
                  <a:pt x="78231" y="177418"/>
                </a:lnTo>
                <a:lnTo>
                  <a:pt x="72262" y="180339"/>
                </a:lnTo>
                <a:lnTo>
                  <a:pt x="114576" y="180339"/>
                </a:lnTo>
                <a:lnTo>
                  <a:pt x="123062" y="166115"/>
                </a:lnTo>
                <a:lnTo>
                  <a:pt x="132080" y="144906"/>
                </a:lnTo>
                <a:lnTo>
                  <a:pt x="135000" y="135889"/>
                </a:lnTo>
                <a:lnTo>
                  <a:pt x="135109" y="125856"/>
                </a:lnTo>
                <a:lnTo>
                  <a:pt x="136650" y="111378"/>
                </a:lnTo>
                <a:close/>
              </a:path>
              <a:path w="137922" h="205104">
                <a:moveTo>
                  <a:pt x="65912" y="0"/>
                </a:moveTo>
                <a:lnTo>
                  <a:pt x="41782" y="5841"/>
                </a:lnTo>
                <a:lnTo>
                  <a:pt x="17653" y="17779"/>
                </a:lnTo>
                <a:lnTo>
                  <a:pt x="11811" y="29717"/>
                </a:lnTo>
                <a:lnTo>
                  <a:pt x="5842" y="35686"/>
                </a:lnTo>
                <a:lnTo>
                  <a:pt x="5842" y="41655"/>
                </a:lnTo>
                <a:lnTo>
                  <a:pt x="123" y="65276"/>
                </a:lnTo>
                <a:lnTo>
                  <a:pt x="0" y="80899"/>
                </a:lnTo>
                <a:lnTo>
                  <a:pt x="20828" y="116966"/>
                </a:lnTo>
                <a:lnTo>
                  <a:pt x="53975" y="131825"/>
                </a:lnTo>
                <a:lnTo>
                  <a:pt x="72136" y="131825"/>
                </a:lnTo>
                <a:lnTo>
                  <a:pt x="78105" y="128904"/>
                </a:lnTo>
                <a:lnTo>
                  <a:pt x="96138" y="123062"/>
                </a:lnTo>
                <a:lnTo>
                  <a:pt x="104902" y="114300"/>
                </a:lnTo>
                <a:lnTo>
                  <a:pt x="110871" y="111378"/>
                </a:lnTo>
                <a:lnTo>
                  <a:pt x="136650" y="111378"/>
                </a:lnTo>
                <a:lnTo>
                  <a:pt x="137097" y="107187"/>
                </a:lnTo>
                <a:lnTo>
                  <a:pt x="57150" y="107187"/>
                </a:lnTo>
                <a:lnTo>
                  <a:pt x="54229" y="104266"/>
                </a:lnTo>
                <a:lnTo>
                  <a:pt x="51307" y="104266"/>
                </a:lnTo>
                <a:lnTo>
                  <a:pt x="42291" y="101345"/>
                </a:lnTo>
                <a:lnTo>
                  <a:pt x="39369" y="95376"/>
                </a:lnTo>
                <a:lnTo>
                  <a:pt x="33400" y="89407"/>
                </a:lnTo>
                <a:lnTo>
                  <a:pt x="30480" y="83438"/>
                </a:lnTo>
                <a:lnTo>
                  <a:pt x="27559" y="74421"/>
                </a:lnTo>
                <a:lnTo>
                  <a:pt x="27559" y="65404"/>
                </a:lnTo>
                <a:lnTo>
                  <a:pt x="27431" y="65276"/>
                </a:lnTo>
                <a:lnTo>
                  <a:pt x="27431" y="56260"/>
                </a:lnTo>
                <a:lnTo>
                  <a:pt x="33274" y="44323"/>
                </a:lnTo>
                <a:lnTo>
                  <a:pt x="33274" y="41401"/>
                </a:lnTo>
                <a:lnTo>
                  <a:pt x="39243" y="35432"/>
                </a:lnTo>
                <a:lnTo>
                  <a:pt x="42163" y="29463"/>
                </a:lnTo>
                <a:lnTo>
                  <a:pt x="51181" y="26542"/>
                </a:lnTo>
                <a:lnTo>
                  <a:pt x="57150" y="23621"/>
                </a:lnTo>
                <a:lnTo>
                  <a:pt x="118523" y="23621"/>
                </a:lnTo>
                <a:lnTo>
                  <a:pt x="117093" y="20700"/>
                </a:lnTo>
                <a:lnTo>
                  <a:pt x="105029" y="11683"/>
                </a:lnTo>
                <a:lnTo>
                  <a:pt x="93091" y="5841"/>
                </a:lnTo>
                <a:lnTo>
                  <a:pt x="81025" y="2920"/>
                </a:lnTo>
                <a:lnTo>
                  <a:pt x="65912" y="0"/>
                </a:lnTo>
                <a:close/>
              </a:path>
              <a:path w="137922" h="205104">
                <a:moveTo>
                  <a:pt x="118523" y="23621"/>
                </a:moveTo>
                <a:lnTo>
                  <a:pt x="78359" y="23621"/>
                </a:lnTo>
                <a:lnTo>
                  <a:pt x="84328" y="26542"/>
                </a:lnTo>
                <a:lnTo>
                  <a:pt x="93344" y="29463"/>
                </a:lnTo>
                <a:lnTo>
                  <a:pt x="99313" y="35432"/>
                </a:lnTo>
                <a:lnTo>
                  <a:pt x="102235" y="41401"/>
                </a:lnTo>
                <a:lnTo>
                  <a:pt x="105156" y="50418"/>
                </a:lnTo>
                <a:lnTo>
                  <a:pt x="108014" y="56260"/>
                </a:lnTo>
                <a:lnTo>
                  <a:pt x="107984" y="65785"/>
                </a:lnTo>
                <a:lnTo>
                  <a:pt x="105156" y="77469"/>
                </a:lnTo>
                <a:lnTo>
                  <a:pt x="105156" y="83438"/>
                </a:lnTo>
                <a:lnTo>
                  <a:pt x="102235" y="89407"/>
                </a:lnTo>
                <a:lnTo>
                  <a:pt x="90297" y="101345"/>
                </a:lnTo>
                <a:lnTo>
                  <a:pt x="81280" y="104266"/>
                </a:lnTo>
                <a:lnTo>
                  <a:pt x="75311" y="107187"/>
                </a:lnTo>
                <a:lnTo>
                  <a:pt x="137097" y="107187"/>
                </a:lnTo>
                <a:lnTo>
                  <a:pt x="137922" y="99440"/>
                </a:lnTo>
                <a:lnTo>
                  <a:pt x="137922" y="72008"/>
                </a:lnTo>
                <a:lnTo>
                  <a:pt x="131953" y="53848"/>
                </a:lnTo>
                <a:lnTo>
                  <a:pt x="125984" y="32638"/>
                </a:lnTo>
                <a:lnTo>
                  <a:pt x="120015" y="26669"/>
                </a:lnTo>
                <a:lnTo>
                  <a:pt x="118523" y="2362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7" name="bk object 38"/>
          <p:cNvSpPr/>
          <p:nvPr/>
        </p:nvSpPr>
        <p:spPr>
          <a:xfrm>
            <a:off x="1991520" y="55440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1881" h="201040">
                <a:moveTo>
                  <a:pt x="71881" y="0"/>
                </a:moveTo>
                <a:lnTo>
                  <a:pt x="53721" y="0"/>
                </a:lnTo>
                <a:lnTo>
                  <a:pt x="50800" y="9016"/>
                </a:lnTo>
                <a:lnTo>
                  <a:pt x="47879" y="14985"/>
                </a:lnTo>
                <a:lnTo>
                  <a:pt x="44958" y="24002"/>
                </a:lnTo>
                <a:lnTo>
                  <a:pt x="42037" y="26923"/>
                </a:lnTo>
                <a:lnTo>
                  <a:pt x="24130" y="35686"/>
                </a:lnTo>
                <a:lnTo>
                  <a:pt x="15112" y="35686"/>
                </a:lnTo>
                <a:lnTo>
                  <a:pt x="0" y="38607"/>
                </a:lnTo>
                <a:lnTo>
                  <a:pt x="0" y="56768"/>
                </a:lnTo>
                <a:lnTo>
                  <a:pt x="45593" y="56768"/>
                </a:lnTo>
                <a:lnTo>
                  <a:pt x="45593" y="199897"/>
                </a:lnTo>
                <a:lnTo>
                  <a:pt x="44450" y="201040"/>
                </a:lnTo>
                <a:lnTo>
                  <a:pt x="71881" y="201040"/>
                </a:lnTo>
                <a:lnTo>
                  <a:pt x="718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8" name="bk object 39"/>
          <p:cNvSpPr/>
          <p:nvPr/>
        </p:nvSpPr>
        <p:spPr>
          <a:xfrm>
            <a:off x="2107080" y="553680"/>
            <a:ext cx="134640" cy="204840"/>
          </a:xfrm>
          <a:custGeom>
            <a:avLst/>
            <a:gdLst>
              <a:gd name="textAreaLeft" fmla="*/ 0 w 134640"/>
              <a:gd name="textAreaRight" fmla="*/ 135360 w 134640"/>
              <a:gd name="textAreaTop" fmla="*/ 0 h 204840"/>
              <a:gd name="textAreaBottom" fmla="*/ 205560 h 204840"/>
            </a:gdLst>
            <a:ahLst/>
            <a:cxnLst/>
            <a:rect l="textAreaLeft" t="textAreaTop" r="textAreaRight" b="textAreaBottom"/>
            <a:pathLst>
              <a:path w="135509" h="205611">
                <a:moveTo>
                  <a:pt x="81534" y="0"/>
                </a:moveTo>
                <a:lnTo>
                  <a:pt x="54102" y="0"/>
                </a:lnTo>
                <a:lnTo>
                  <a:pt x="29972" y="11938"/>
                </a:lnTo>
                <a:lnTo>
                  <a:pt x="17906" y="20954"/>
                </a:lnTo>
                <a:lnTo>
                  <a:pt x="11937" y="33020"/>
                </a:lnTo>
                <a:lnTo>
                  <a:pt x="2921" y="54228"/>
                </a:lnTo>
                <a:lnTo>
                  <a:pt x="0" y="75438"/>
                </a:lnTo>
                <a:lnTo>
                  <a:pt x="0" y="102870"/>
                </a:lnTo>
                <a:lnTo>
                  <a:pt x="254" y="102870"/>
                </a:lnTo>
                <a:lnTo>
                  <a:pt x="254" y="130301"/>
                </a:lnTo>
                <a:lnTo>
                  <a:pt x="3175" y="151511"/>
                </a:lnTo>
                <a:lnTo>
                  <a:pt x="12192" y="169672"/>
                </a:lnTo>
                <a:lnTo>
                  <a:pt x="18161" y="184785"/>
                </a:lnTo>
                <a:lnTo>
                  <a:pt x="30225" y="193801"/>
                </a:lnTo>
                <a:lnTo>
                  <a:pt x="42291" y="199771"/>
                </a:lnTo>
                <a:lnTo>
                  <a:pt x="66421" y="205611"/>
                </a:lnTo>
                <a:lnTo>
                  <a:pt x="81534" y="202692"/>
                </a:lnTo>
                <a:lnTo>
                  <a:pt x="93599" y="199771"/>
                </a:lnTo>
                <a:lnTo>
                  <a:pt x="105663" y="193801"/>
                </a:lnTo>
                <a:lnTo>
                  <a:pt x="114681" y="184785"/>
                </a:lnTo>
                <a:lnTo>
                  <a:pt x="116726" y="181355"/>
                </a:lnTo>
                <a:lnTo>
                  <a:pt x="57023" y="181355"/>
                </a:lnTo>
                <a:lnTo>
                  <a:pt x="51054" y="178435"/>
                </a:lnTo>
                <a:lnTo>
                  <a:pt x="39243" y="166624"/>
                </a:lnTo>
                <a:lnTo>
                  <a:pt x="33274" y="157606"/>
                </a:lnTo>
                <a:lnTo>
                  <a:pt x="30353" y="139446"/>
                </a:lnTo>
                <a:lnTo>
                  <a:pt x="27431" y="124333"/>
                </a:lnTo>
                <a:lnTo>
                  <a:pt x="27305" y="78611"/>
                </a:lnTo>
                <a:lnTo>
                  <a:pt x="30225" y="66548"/>
                </a:lnTo>
                <a:lnTo>
                  <a:pt x="33147" y="48387"/>
                </a:lnTo>
                <a:lnTo>
                  <a:pt x="39116" y="39370"/>
                </a:lnTo>
                <a:lnTo>
                  <a:pt x="50927" y="27559"/>
                </a:lnTo>
                <a:lnTo>
                  <a:pt x="56896" y="24638"/>
                </a:lnTo>
                <a:lnTo>
                  <a:pt x="117433" y="24638"/>
                </a:lnTo>
                <a:lnTo>
                  <a:pt x="114681" y="20954"/>
                </a:lnTo>
                <a:lnTo>
                  <a:pt x="105663" y="11938"/>
                </a:lnTo>
                <a:lnTo>
                  <a:pt x="81534" y="0"/>
                </a:lnTo>
                <a:close/>
              </a:path>
              <a:path w="135509" h="205611">
                <a:moveTo>
                  <a:pt x="117433" y="24638"/>
                </a:moveTo>
                <a:lnTo>
                  <a:pt x="75056" y="24638"/>
                </a:lnTo>
                <a:lnTo>
                  <a:pt x="84074" y="27559"/>
                </a:lnTo>
                <a:lnTo>
                  <a:pt x="96012" y="39497"/>
                </a:lnTo>
                <a:lnTo>
                  <a:pt x="101981" y="48514"/>
                </a:lnTo>
                <a:lnTo>
                  <a:pt x="104902" y="66675"/>
                </a:lnTo>
                <a:lnTo>
                  <a:pt x="107823" y="81788"/>
                </a:lnTo>
                <a:lnTo>
                  <a:pt x="107823" y="124333"/>
                </a:lnTo>
                <a:lnTo>
                  <a:pt x="104902" y="139446"/>
                </a:lnTo>
                <a:lnTo>
                  <a:pt x="101981" y="157606"/>
                </a:lnTo>
                <a:lnTo>
                  <a:pt x="96012" y="166624"/>
                </a:lnTo>
                <a:lnTo>
                  <a:pt x="84200" y="178435"/>
                </a:lnTo>
                <a:lnTo>
                  <a:pt x="75184" y="181355"/>
                </a:lnTo>
                <a:lnTo>
                  <a:pt x="116726" y="181355"/>
                </a:lnTo>
                <a:lnTo>
                  <a:pt x="123698" y="169672"/>
                </a:lnTo>
                <a:lnTo>
                  <a:pt x="129667" y="151511"/>
                </a:lnTo>
                <a:lnTo>
                  <a:pt x="132587" y="130301"/>
                </a:lnTo>
                <a:lnTo>
                  <a:pt x="135509" y="102870"/>
                </a:lnTo>
                <a:lnTo>
                  <a:pt x="132587" y="75438"/>
                </a:lnTo>
                <a:lnTo>
                  <a:pt x="129667" y="54228"/>
                </a:lnTo>
                <a:lnTo>
                  <a:pt x="123698" y="33020"/>
                </a:lnTo>
                <a:lnTo>
                  <a:pt x="117433" y="2463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39" name="bk object 40"/>
          <p:cNvSpPr/>
          <p:nvPr/>
        </p:nvSpPr>
        <p:spPr>
          <a:xfrm>
            <a:off x="2341800" y="6124680"/>
            <a:ext cx="6009840" cy="360"/>
          </a:xfrm>
          <a:custGeom>
            <a:avLst/>
            <a:gdLst>
              <a:gd name="textAreaLeft" fmla="*/ 0 w 6009840"/>
              <a:gd name="textAreaRight" fmla="*/ 6010560 w 6009840"/>
              <a:gd name="textAreaTop" fmla="*/ 0 h 360"/>
              <a:gd name="textAreaBottom" fmla="*/ 1440 h 360"/>
            </a:gdLst>
            <a:ahLst/>
            <a:cxnLst/>
            <a:rect l="textAreaLeft" t="textAreaTop" r="textAreaRight" b="textAreaBottom"/>
            <a:pathLst>
              <a:path w="6010529">
                <a:moveTo>
                  <a:pt x="6010529" y="0"/>
                </a:moveTo>
                <a:lnTo>
                  <a:pt x="0"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0" name="bk object 41"/>
          <p:cNvSpPr/>
          <p:nvPr/>
        </p:nvSpPr>
        <p:spPr>
          <a:xfrm>
            <a:off x="2387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1" name="bk object 42"/>
          <p:cNvSpPr/>
          <p:nvPr/>
        </p:nvSpPr>
        <p:spPr>
          <a:xfrm>
            <a:off x="29818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2" name="bk object 43"/>
          <p:cNvSpPr/>
          <p:nvPr/>
        </p:nvSpPr>
        <p:spPr>
          <a:xfrm>
            <a:off x="35733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3" name="bk object 44"/>
          <p:cNvSpPr/>
          <p:nvPr/>
        </p:nvSpPr>
        <p:spPr>
          <a:xfrm>
            <a:off x="41644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4" name="bk object 45"/>
          <p:cNvSpPr/>
          <p:nvPr/>
        </p:nvSpPr>
        <p:spPr>
          <a:xfrm>
            <a:off x="47559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5" name="bk object 46"/>
          <p:cNvSpPr/>
          <p:nvPr/>
        </p:nvSpPr>
        <p:spPr>
          <a:xfrm>
            <a:off x="534708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6" name="bk object 47"/>
          <p:cNvSpPr/>
          <p:nvPr/>
        </p:nvSpPr>
        <p:spPr>
          <a:xfrm>
            <a:off x="593856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7" name="bk object 48"/>
          <p:cNvSpPr/>
          <p:nvPr/>
        </p:nvSpPr>
        <p:spPr>
          <a:xfrm>
            <a:off x="65329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8" name="bk object 49"/>
          <p:cNvSpPr/>
          <p:nvPr/>
        </p:nvSpPr>
        <p:spPr>
          <a:xfrm>
            <a:off x="71240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49" name="bk object 50"/>
          <p:cNvSpPr/>
          <p:nvPr/>
        </p:nvSpPr>
        <p:spPr>
          <a:xfrm>
            <a:off x="771552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0" name="bk object 51"/>
          <p:cNvSpPr/>
          <p:nvPr/>
        </p:nvSpPr>
        <p:spPr>
          <a:xfrm>
            <a:off x="8306640" y="6124680"/>
            <a:ext cx="360" cy="45000"/>
          </a:xfrm>
          <a:custGeom>
            <a:avLst/>
            <a:gdLst>
              <a:gd name="textAreaLeft" fmla="*/ 0 w 360"/>
              <a:gd name="textAreaRight" fmla="*/ 1440 w 360"/>
              <a:gd name="textAreaTop" fmla="*/ 0 h 45000"/>
              <a:gd name="textAreaBottom" fmla="*/ 45720 h 45000"/>
            </a:gdLst>
            <a:ahLst/>
            <a:cxnLst/>
            <a:rect l="textAreaLeft" t="textAreaTop" r="textAreaRight" b="textAreaBottom"/>
            <a:pathLst>
              <a:path h="45593">
                <a:moveTo>
                  <a:pt x="0" y="0"/>
                </a:moveTo>
                <a:lnTo>
                  <a:pt x="0" y="45592"/>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1" name="bk object 52"/>
          <p:cNvSpPr/>
          <p:nvPr/>
        </p:nvSpPr>
        <p:spPr>
          <a:xfrm>
            <a:off x="220428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599" y="2921"/>
                </a:moveTo>
                <a:lnTo>
                  <a:pt x="42291" y="2921"/>
                </a:lnTo>
                <a:lnTo>
                  <a:pt x="30226" y="11938"/>
                </a:lnTo>
                <a:lnTo>
                  <a:pt x="21209" y="20955"/>
                </a:lnTo>
                <a:lnTo>
                  <a:pt x="18287" y="26924"/>
                </a:lnTo>
                <a:lnTo>
                  <a:pt x="12318" y="32893"/>
                </a:lnTo>
                <a:lnTo>
                  <a:pt x="9398" y="41910"/>
                </a:lnTo>
                <a:lnTo>
                  <a:pt x="6477" y="53975"/>
                </a:lnTo>
                <a:lnTo>
                  <a:pt x="3542" y="75311"/>
                </a:lnTo>
                <a:lnTo>
                  <a:pt x="635" y="102616"/>
                </a:lnTo>
                <a:lnTo>
                  <a:pt x="0" y="102743"/>
                </a:lnTo>
                <a:lnTo>
                  <a:pt x="5842" y="148336"/>
                </a:lnTo>
                <a:lnTo>
                  <a:pt x="29845" y="193675"/>
                </a:lnTo>
                <a:lnTo>
                  <a:pt x="53975" y="202565"/>
                </a:lnTo>
                <a:lnTo>
                  <a:pt x="81406" y="202565"/>
                </a:lnTo>
                <a:lnTo>
                  <a:pt x="93472" y="199644"/>
                </a:lnTo>
                <a:lnTo>
                  <a:pt x="105537" y="193675"/>
                </a:lnTo>
                <a:lnTo>
                  <a:pt x="117602" y="181610"/>
                </a:lnTo>
                <a:lnTo>
                  <a:pt x="69850" y="181483"/>
                </a:lnTo>
                <a:lnTo>
                  <a:pt x="60833" y="178562"/>
                </a:lnTo>
                <a:lnTo>
                  <a:pt x="54864" y="178562"/>
                </a:lnTo>
                <a:lnTo>
                  <a:pt x="45847" y="172593"/>
                </a:lnTo>
                <a:lnTo>
                  <a:pt x="39878" y="166624"/>
                </a:lnTo>
                <a:lnTo>
                  <a:pt x="36956" y="154559"/>
                </a:lnTo>
                <a:lnTo>
                  <a:pt x="30987" y="139446"/>
                </a:lnTo>
                <a:lnTo>
                  <a:pt x="30987" y="124333"/>
                </a:lnTo>
                <a:lnTo>
                  <a:pt x="28067" y="103124"/>
                </a:lnTo>
                <a:lnTo>
                  <a:pt x="27940" y="102616"/>
                </a:lnTo>
                <a:lnTo>
                  <a:pt x="30861" y="78359"/>
                </a:lnTo>
                <a:lnTo>
                  <a:pt x="30861" y="63246"/>
                </a:lnTo>
                <a:lnTo>
                  <a:pt x="36830" y="48133"/>
                </a:lnTo>
                <a:lnTo>
                  <a:pt x="39751" y="39116"/>
                </a:lnTo>
                <a:lnTo>
                  <a:pt x="45720" y="30099"/>
                </a:lnTo>
                <a:lnTo>
                  <a:pt x="54737" y="27178"/>
                </a:lnTo>
                <a:lnTo>
                  <a:pt x="60706" y="24257"/>
                </a:lnTo>
                <a:lnTo>
                  <a:pt x="119344" y="24257"/>
                </a:lnTo>
                <a:lnTo>
                  <a:pt x="117729" y="20955"/>
                </a:lnTo>
                <a:lnTo>
                  <a:pt x="93599" y="2921"/>
                </a:lnTo>
                <a:close/>
              </a:path>
              <a:path w="135509" h="202564">
                <a:moveTo>
                  <a:pt x="119344" y="24257"/>
                </a:moveTo>
                <a:lnTo>
                  <a:pt x="78867" y="24257"/>
                </a:lnTo>
                <a:lnTo>
                  <a:pt x="90805" y="30099"/>
                </a:lnTo>
                <a:lnTo>
                  <a:pt x="102743" y="48133"/>
                </a:lnTo>
                <a:lnTo>
                  <a:pt x="108712" y="63246"/>
                </a:lnTo>
                <a:lnTo>
                  <a:pt x="108712" y="139446"/>
                </a:lnTo>
                <a:lnTo>
                  <a:pt x="102743" y="154559"/>
                </a:lnTo>
                <a:lnTo>
                  <a:pt x="96774" y="166624"/>
                </a:lnTo>
                <a:lnTo>
                  <a:pt x="84836" y="178562"/>
                </a:lnTo>
                <a:lnTo>
                  <a:pt x="78867" y="178562"/>
                </a:lnTo>
                <a:lnTo>
                  <a:pt x="69850" y="181483"/>
                </a:lnTo>
                <a:lnTo>
                  <a:pt x="117664" y="181483"/>
                </a:lnTo>
                <a:lnTo>
                  <a:pt x="123571" y="169545"/>
                </a:lnTo>
                <a:lnTo>
                  <a:pt x="132587" y="148336"/>
                </a:lnTo>
                <a:lnTo>
                  <a:pt x="135509" y="130175"/>
                </a:lnTo>
                <a:lnTo>
                  <a:pt x="135491" y="75184"/>
                </a:lnTo>
                <a:lnTo>
                  <a:pt x="132587" y="54102"/>
                </a:lnTo>
                <a:lnTo>
                  <a:pt x="123571" y="32893"/>
                </a:lnTo>
                <a:lnTo>
                  <a:pt x="119344" y="24257"/>
                </a:lnTo>
                <a:close/>
              </a:path>
              <a:path w="135509" h="202564">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2" name="bk object 53"/>
          <p:cNvSpPr/>
          <p:nvPr/>
        </p:nvSpPr>
        <p:spPr>
          <a:xfrm>
            <a:off x="237240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2" h="33401">
                <a:moveTo>
                  <a:pt x="0" y="16700"/>
                </a:moveTo>
                <a:lnTo>
                  <a:pt x="3035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3" name="bk object 54"/>
          <p:cNvSpPr/>
          <p:nvPr/>
        </p:nvSpPr>
        <p:spPr>
          <a:xfrm>
            <a:off x="243252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361" h="202564">
                <a:moveTo>
                  <a:pt x="93472" y="2920"/>
                </a:moveTo>
                <a:lnTo>
                  <a:pt x="42163" y="2920"/>
                </a:lnTo>
                <a:lnTo>
                  <a:pt x="36194" y="5841"/>
                </a:lnTo>
                <a:lnTo>
                  <a:pt x="21208" y="20827"/>
                </a:lnTo>
                <a:lnTo>
                  <a:pt x="18287" y="26796"/>
                </a:lnTo>
                <a:lnTo>
                  <a:pt x="12318" y="32765"/>
                </a:lnTo>
                <a:lnTo>
                  <a:pt x="9398" y="41782"/>
                </a:lnTo>
                <a:lnTo>
                  <a:pt x="6476" y="53847"/>
                </a:lnTo>
                <a:lnTo>
                  <a:pt x="3528" y="75310"/>
                </a:lnTo>
                <a:lnTo>
                  <a:pt x="635" y="102488"/>
                </a:lnTo>
                <a:lnTo>
                  <a:pt x="0" y="102869"/>
                </a:lnTo>
                <a:lnTo>
                  <a:pt x="5842" y="148462"/>
                </a:lnTo>
                <a:lnTo>
                  <a:pt x="29844" y="193801"/>
                </a:lnTo>
                <a:lnTo>
                  <a:pt x="53848" y="202564"/>
                </a:lnTo>
                <a:lnTo>
                  <a:pt x="81280" y="202564"/>
                </a:lnTo>
                <a:lnTo>
                  <a:pt x="93344" y="199643"/>
                </a:lnTo>
                <a:lnTo>
                  <a:pt x="105410" y="193674"/>
                </a:lnTo>
                <a:lnTo>
                  <a:pt x="117475" y="181609"/>
                </a:lnTo>
                <a:lnTo>
                  <a:pt x="117537" y="181482"/>
                </a:lnTo>
                <a:lnTo>
                  <a:pt x="69976" y="181482"/>
                </a:lnTo>
                <a:lnTo>
                  <a:pt x="60960" y="178561"/>
                </a:lnTo>
                <a:lnTo>
                  <a:pt x="54991" y="178561"/>
                </a:lnTo>
                <a:lnTo>
                  <a:pt x="45974" y="172592"/>
                </a:lnTo>
                <a:lnTo>
                  <a:pt x="40005" y="166611"/>
                </a:lnTo>
                <a:lnTo>
                  <a:pt x="37083" y="160654"/>
                </a:lnTo>
                <a:lnTo>
                  <a:pt x="37033" y="154558"/>
                </a:lnTo>
                <a:lnTo>
                  <a:pt x="31114" y="139572"/>
                </a:lnTo>
                <a:lnTo>
                  <a:pt x="31114" y="124459"/>
                </a:lnTo>
                <a:lnTo>
                  <a:pt x="28193" y="103250"/>
                </a:lnTo>
                <a:lnTo>
                  <a:pt x="28067" y="102488"/>
                </a:lnTo>
                <a:lnTo>
                  <a:pt x="30987" y="78231"/>
                </a:lnTo>
                <a:lnTo>
                  <a:pt x="30987" y="63118"/>
                </a:lnTo>
                <a:lnTo>
                  <a:pt x="36906" y="48132"/>
                </a:lnTo>
                <a:lnTo>
                  <a:pt x="36956" y="42036"/>
                </a:lnTo>
                <a:lnTo>
                  <a:pt x="39878" y="39115"/>
                </a:lnTo>
                <a:lnTo>
                  <a:pt x="45847" y="30086"/>
                </a:lnTo>
                <a:lnTo>
                  <a:pt x="54863" y="27177"/>
                </a:lnTo>
                <a:lnTo>
                  <a:pt x="60832" y="24256"/>
                </a:lnTo>
                <a:lnTo>
                  <a:pt x="119217" y="24256"/>
                </a:lnTo>
                <a:lnTo>
                  <a:pt x="117601" y="20954"/>
                </a:lnTo>
                <a:lnTo>
                  <a:pt x="93472" y="2920"/>
                </a:lnTo>
                <a:close/>
              </a:path>
              <a:path w="135361" h="202564">
                <a:moveTo>
                  <a:pt x="119217" y="24256"/>
                </a:moveTo>
                <a:lnTo>
                  <a:pt x="78993" y="24256"/>
                </a:lnTo>
                <a:lnTo>
                  <a:pt x="90931" y="30086"/>
                </a:lnTo>
                <a:lnTo>
                  <a:pt x="102869" y="48132"/>
                </a:lnTo>
                <a:lnTo>
                  <a:pt x="108788" y="63118"/>
                </a:lnTo>
                <a:lnTo>
                  <a:pt x="108788" y="139572"/>
                </a:lnTo>
                <a:lnTo>
                  <a:pt x="102807" y="154685"/>
                </a:lnTo>
                <a:lnTo>
                  <a:pt x="96900" y="166611"/>
                </a:lnTo>
                <a:lnTo>
                  <a:pt x="84962" y="178561"/>
                </a:lnTo>
                <a:lnTo>
                  <a:pt x="78993" y="178561"/>
                </a:lnTo>
                <a:lnTo>
                  <a:pt x="69976" y="181482"/>
                </a:lnTo>
                <a:lnTo>
                  <a:pt x="117537" y="181482"/>
                </a:lnTo>
                <a:lnTo>
                  <a:pt x="123443" y="169544"/>
                </a:lnTo>
                <a:lnTo>
                  <a:pt x="132461" y="148335"/>
                </a:lnTo>
                <a:lnTo>
                  <a:pt x="135361" y="130301"/>
                </a:lnTo>
                <a:lnTo>
                  <a:pt x="135347" y="75056"/>
                </a:lnTo>
                <a:lnTo>
                  <a:pt x="132461" y="54101"/>
                </a:lnTo>
                <a:lnTo>
                  <a:pt x="123381" y="32765"/>
                </a:lnTo>
                <a:lnTo>
                  <a:pt x="119217" y="24256"/>
                </a:lnTo>
                <a:close/>
              </a:path>
              <a:path w="135361" h="202564">
                <a:moveTo>
                  <a:pt x="81533" y="0"/>
                </a:moveTo>
                <a:lnTo>
                  <a:pt x="54101" y="0"/>
                </a:lnTo>
                <a:lnTo>
                  <a:pt x="48132" y="2920"/>
                </a:lnTo>
                <a:lnTo>
                  <a:pt x="87503" y="2920"/>
                </a:lnTo>
                <a:lnTo>
                  <a:pt x="81533"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4" name="bk object 55"/>
          <p:cNvSpPr/>
          <p:nvPr/>
        </p:nvSpPr>
        <p:spPr>
          <a:xfrm>
            <a:off x="2816640" y="6293160"/>
            <a:ext cx="137520" cy="201960"/>
          </a:xfrm>
          <a:custGeom>
            <a:avLst/>
            <a:gdLst>
              <a:gd name="textAreaLeft" fmla="*/ 0 w 137520"/>
              <a:gd name="textAreaRight" fmla="*/ 138240 w 137520"/>
              <a:gd name="textAreaTop" fmla="*/ 0 h 201960"/>
              <a:gd name="textAreaBottom" fmla="*/ 202680 h 201960"/>
            </a:gdLst>
            <a:ahLst/>
            <a:cxnLst/>
            <a:rect l="textAreaLeft" t="textAreaTop" r="textAreaRight" b="textAreaBottom"/>
            <a:pathLst>
              <a:path w="138289" h="202564">
                <a:moveTo>
                  <a:pt x="96519" y="2921"/>
                </a:moveTo>
                <a:lnTo>
                  <a:pt x="45338" y="2921"/>
                </a:lnTo>
                <a:lnTo>
                  <a:pt x="21208" y="20955"/>
                </a:lnTo>
                <a:lnTo>
                  <a:pt x="15367" y="32893"/>
                </a:lnTo>
                <a:lnTo>
                  <a:pt x="9398" y="41910"/>
                </a:lnTo>
                <a:lnTo>
                  <a:pt x="6476" y="53975"/>
                </a:lnTo>
                <a:lnTo>
                  <a:pt x="3542" y="75311"/>
                </a:lnTo>
                <a:lnTo>
                  <a:pt x="635" y="102616"/>
                </a:lnTo>
                <a:lnTo>
                  <a:pt x="0" y="102743"/>
                </a:lnTo>
                <a:lnTo>
                  <a:pt x="5842" y="148336"/>
                </a:lnTo>
                <a:lnTo>
                  <a:pt x="32893" y="193675"/>
                </a:lnTo>
                <a:lnTo>
                  <a:pt x="53975" y="202565"/>
                </a:lnTo>
                <a:lnTo>
                  <a:pt x="84328" y="202565"/>
                </a:lnTo>
                <a:lnTo>
                  <a:pt x="96393" y="199644"/>
                </a:lnTo>
                <a:lnTo>
                  <a:pt x="105410" y="193675"/>
                </a:lnTo>
                <a:lnTo>
                  <a:pt x="117475" y="181610"/>
                </a:lnTo>
                <a:lnTo>
                  <a:pt x="117854" y="181102"/>
                </a:lnTo>
                <a:lnTo>
                  <a:pt x="69976" y="181102"/>
                </a:lnTo>
                <a:lnTo>
                  <a:pt x="60960" y="178181"/>
                </a:lnTo>
                <a:lnTo>
                  <a:pt x="54991" y="178181"/>
                </a:lnTo>
                <a:lnTo>
                  <a:pt x="45974" y="172212"/>
                </a:lnTo>
                <a:lnTo>
                  <a:pt x="40005" y="166243"/>
                </a:lnTo>
                <a:lnTo>
                  <a:pt x="37083" y="160274"/>
                </a:lnTo>
                <a:lnTo>
                  <a:pt x="37033" y="154178"/>
                </a:lnTo>
                <a:lnTo>
                  <a:pt x="31114" y="139192"/>
                </a:lnTo>
                <a:lnTo>
                  <a:pt x="31097" y="123952"/>
                </a:lnTo>
                <a:lnTo>
                  <a:pt x="28193" y="102870"/>
                </a:lnTo>
                <a:lnTo>
                  <a:pt x="28067" y="102616"/>
                </a:lnTo>
                <a:lnTo>
                  <a:pt x="30972" y="78486"/>
                </a:lnTo>
                <a:lnTo>
                  <a:pt x="30987" y="63246"/>
                </a:lnTo>
                <a:lnTo>
                  <a:pt x="36906" y="48260"/>
                </a:lnTo>
                <a:lnTo>
                  <a:pt x="36956" y="42164"/>
                </a:lnTo>
                <a:lnTo>
                  <a:pt x="39878" y="39243"/>
                </a:lnTo>
                <a:lnTo>
                  <a:pt x="45847" y="30213"/>
                </a:lnTo>
                <a:lnTo>
                  <a:pt x="54863" y="27305"/>
                </a:lnTo>
                <a:lnTo>
                  <a:pt x="60832" y="24384"/>
                </a:lnTo>
                <a:lnTo>
                  <a:pt x="119280" y="24384"/>
                </a:lnTo>
                <a:lnTo>
                  <a:pt x="117601" y="20955"/>
                </a:lnTo>
                <a:lnTo>
                  <a:pt x="105537" y="11938"/>
                </a:lnTo>
                <a:lnTo>
                  <a:pt x="96519" y="2921"/>
                </a:lnTo>
                <a:close/>
              </a:path>
              <a:path w="138289" h="202564">
                <a:moveTo>
                  <a:pt x="119280" y="24384"/>
                </a:moveTo>
                <a:lnTo>
                  <a:pt x="78993" y="24384"/>
                </a:lnTo>
                <a:lnTo>
                  <a:pt x="84962" y="27305"/>
                </a:lnTo>
                <a:lnTo>
                  <a:pt x="93980" y="30213"/>
                </a:lnTo>
                <a:lnTo>
                  <a:pt x="99949" y="39243"/>
                </a:lnTo>
                <a:lnTo>
                  <a:pt x="102869" y="48260"/>
                </a:lnTo>
                <a:lnTo>
                  <a:pt x="108788" y="63246"/>
                </a:lnTo>
                <a:lnTo>
                  <a:pt x="108838" y="78486"/>
                </a:lnTo>
                <a:lnTo>
                  <a:pt x="111744" y="102616"/>
                </a:lnTo>
                <a:lnTo>
                  <a:pt x="111742" y="102870"/>
                </a:lnTo>
                <a:lnTo>
                  <a:pt x="108838" y="123952"/>
                </a:lnTo>
                <a:lnTo>
                  <a:pt x="108788" y="139192"/>
                </a:lnTo>
                <a:lnTo>
                  <a:pt x="102869" y="154178"/>
                </a:lnTo>
                <a:lnTo>
                  <a:pt x="99949" y="166243"/>
                </a:lnTo>
                <a:lnTo>
                  <a:pt x="93980" y="172212"/>
                </a:lnTo>
                <a:lnTo>
                  <a:pt x="84962" y="178181"/>
                </a:lnTo>
                <a:lnTo>
                  <a:pt x="78993" y="178181"/>
                </a:lnTo>
                <a:lnTo>
                  <a:pt x="69976" y="181102"/>
                </a:lnTo>
                <a:lnTo>
                  <a:pt x="117854" y="181102"/>
                </a:lnTo>
                <a:lnTo>
                  <a:pt x="126492" y="169545"/>
                </a:lnTo>
                <a:lnTo>
                  <a:pt x="132461" y="148336"/>
                </a:lnTo>
                <a:lnTo>
                  <a:pt x="135381" y="130175"/>
                </a:lnTo>
                <a:lnTo>
                  <a:pt x="138289" y="102870"/>
                </a:lnTo>
                <a:lnTo>
                  <a:pt x="138289" y="102616"/>
                </a:lnTo>
                <a:lnTo>
                  <a:pt x="135364" y="75184"/>
                </a:lnTo>
                <a:lnTo>
                  <a:pt x="132461" y="54102"/>
                </a:lnTo>
                <a:lnTo>
                  <a:pt x="126492" y="32893"/>
                </a:lnTo>
                <a:lnTo>
                  <a:pt x="120523" y="26924"/>
                </a:lnTo>
                <a:lnTo>
                  <a:pt x="119280" y="24384"/>
                </a:lnTo>
                <a:close/>
              </a:path>
              <a:path w="138289" h="202564">
                <a:moveTo>
                  <a:pt x="84581" y="0"/>
                </a:moveTo>
                <a:lnTo>
                  <a:pt x="54229" y="0"/>
                </a:lnTo>
                <a:lnTo>
                  <a:pt x="48260" y="2921"/>
                </a:lnTo>
                <a:lnTo>
                  <a:pt x="90550" y="2921"/>
                </a:lnTo>
                <a:lnTo>
                  <a:pt x="8458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5" name="bk object 56"/>
          <p:cNvSpPr/>
          <p:nvPr/>
        </p:nvSpPr>
        <p:spPr>
          <a:xfrm>
            <a:off x="298800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6" name="bk object 57"/>
          <p:cNvSpPr/>
          <p:nvPr/>
        </p:nvSpPr>
        <p:spPr>
          <a:xfrm>
            <a:off x="30430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6" h="201040">
                <a:moveTo>
                  <a:pt x="72136" y="0"/>
                </a:moveTo>
                <a:lnTo>
                  <a:pt x="53975" y="0"/>
                </a:lnTo>
                <a:lnTo>
                  <a:pt x="51054" y="9016"/>
                </a:lnTo>
                <a:lnTo>
                  <a:pt x="45212" y="20954"/>
                </a:lnTo>
                <a:lnTo>
                  <a:pt x="36194" y="26911"/>
                </a:lnTo>
                <a:lnTo>
                  <a:pt x="30225" y="32892"/>
                </a:lnTo>
                <a:lnTo>
                  <a:pt x="21208" y="35813"/>
                </a:lnTo>
                <a:lnTo>
                  <a:pt x="0" y="35813"/>
                </a:lnTo>
                <a:lnTo>
                  <a:pt x="0" y="57022"/>
                </a:lnTo>
                <a:lnTo>
                  <a:pt x="45593" y="57022"/>
                </a:lnTo>
                <a:lnTo>
                  <a:pt x="45593" y="200151"/>
                </a:lnTo>
                <a:lnTo>
                  <a:pt x="44704" y="201040"/>
                </a:lnTo>
                <a:lnTo>
                  <a:pt x="72136" y="201040"/>
                </a:lnTo>
                <a:lnTo>
                  <a:pt x="7213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7" name="bk object 58"/>
          <p:cNvSpPr/>
          <p:nvPr/>
        </p:nvSpPr>
        <p:spPr>
          <a:xfrm>
            <a:off x="3386520" y="6293520"/>
            <a:ext cx="137160" cy="201600"/>
          </a:xfrm>
          <a:custGeom>
            <a:avLst/>
            <a:gdLst>
              <a:gd name="textAreaLeft" fmla="*/ 0 w 137160"/>
              <a:gd name="textAreaRight" fmla="*/ 137880 w 137160"/>
              <a:gd name="textAreaTop" fmla="*/ 0 h 201600"/>
              <a:gd name="textAreaBottom" fmla="*/ 202320 h 201600"/>
            </a:gdLst>
            <a:ahLst/>
            <a:cxnLst/>
            <a:rect l="textAreaLeft" t="textAreaTop" r="textAreaRight" b="textAreaBottom"/>
            <a:pathLst>
              <a:path w="138049" h="202311">
                <a:moveTo>
                  <a:pt x="96393" y="2920"/>
                </a:moveTo>
                <a:lnTo>
                  <a:pt x="45212" y="2920"/>
                </a:lnTo>
                <a:lnTo>
                  <a:pt x="33147" y="11937"/>
                </a:lnTo>
                <a:lnTo>
                  <a:pt x="27178" y="14858"/>
                </a:lnTo>
                <a:lnTo>
                  <a:pt x="21209" y="20827"/>
                </a:lnTo>
                <a:lnTo>
                  <a:pt x="15367" y="32765"/>
                </a:lnTo>
                <a:lnTo>
                  <a:pt x="9398" y="41782"/>
                </a:lnTo>
                <a:lnTo>
                  <a:pt x="6477" y="53847"/>
                </a:lnTo>
                <a:lnTo>
                  <a:pt x="3542" y="75183"/>
                </a:lnTo>
                <a:lnTo>
                  <a:pt x="635" y="102488"/>
                </a:lnTo>
                <a:lnTo>
                  <a:pt x="0" y="102615"/>
                </a:lnTo>
                <a:lnTo>
                  <a:pt x="5842" y="148208"/>
                </a:lnTo>
                <a:lnTo>
                  <a:pt x="32766" y="193420"/>
                </a:lnTo>
                <a:lnTo>
                  <a:pt x="53848" y="202310"/>
                </a:lnTo>
                <a:lnTo>
                  <a:pt x="84201" y="202310"/>
                </a:lnTo>
                <a:lnTo>
                  <a:pt x="96266" y="199389"/>
                </a:lnTo>
                <a:lnTo>
                  <a:pt x="105283" y="193420"/>
                </a:lnTo>
                <a:lnTo>
                  <a:pt x="117221" y="181482"/>
                </a:lnTo>
                <a:lnTo>
                  <a:pt x="118075" y="180339"/>
                </a:lnTo>
                <a:lnTo>
                  <a:pt x="70231" y="180339"/>
                </a:lnTo>
                <a:lnTo>
                  <a:pt x="61214" y="177418"/>
                </a:lnTo>
                <a:lnTo>
                  <a:pt x="55245" y="177418"/>
                </a:lnTo>
                <a:lnTo>
                  <a:pt x="49276" y="171449"/>
                </a:lnTo>
                <a:lnTo>
                  <a:pt x="40259" y="165480"/>
                </a:lnTo>
                <a:lnTo>
                  <a:pt x="37337" y="153415"/>
                </a:lnTo>
                <a:lnTo>
                  <a:pt x="31419" y="138429"/>
                </a:lnTo>
                <a:lnTo>
                  <a:pt x="31369" y="102488"/>
                </a:lnTo>
                <a:lnTo>
                  <a:pt x="31292" y="62737"/>
                </a:lnTo>
                <a:lnTo>
                  <a:pt x="37252" y="47624"/>
                </a:lnTo>
                <a:lnTo>
                  <a:pt x="40132" y="38734"/>
                </a:lnTo>
                <a:lnTo>
                  <a:pt x="49149" y="29717"/>
                </a:lnTo>
                <a:lnTo>
                  <a:pt x="61087" y="23875"/>
                </a:lnTo>
                <a:lnTo>
                  <a:pt x="118839" y="23875"/>
                </a:lnTo>
                <a:lnTo>
                  <a:pt x="117348" y="20827"/>
                </a:lnTo>
                <a:lnTo>
                  <a:pt x="111379" y="14858"/>
                </a:lnTo>
                <a:lnTo>
                  <a:pt x="105410" y="11937"/>
                </a:lnTo>
                <a:lnTo>
                  <a:pt x="96393" y="2920"/>
                </a:lnTo>
                <a:close/>
              </a:path>
              <a:path w="138049" h="202311">
                <a:moveTo>
                  <a:pt x="118839" y="23875"/>
                </a:moveTo>
                <a:lnTo>
                  <a:pt x="79248" y="23875"/>
                </a:lnTo>
                <a:lnTo>
                  <a:pt x="85217" y="26796"/>
                </a:lnTo>
                <a:lnTo>
                  <a:pt x="94234" y="29717"/>
                </a:lnTo>
                <a:lnTo>
                  <a:pt x="100203" y="38734"/>
                </a:lnTo>
                <a:lnTo>
                  <a:pt x="103124" y="41655"/>
                </a:lnTo>
                <a:lnTo>
                  <a:pt x="103174" y="47751"/>
                </a:lnTo>
                <a:lnTo>
                  <a:pt x="109093" y="62737"/>
                </a:lnTo>
                <a:lnTo>
                  <a:pt x="109093" y="77850"/>
                </a:lnTo>
                <a:lnTo>
                  <a:pt x="111983" y="101853"/>
                </a:lnTo>
                <a:lnTo>
                  <a:pt x="111944" y="102615"/>
                </a:lnTo>
                <a:lnTo>
                  <a:pt x="109093" y="123316"/>
                </a:lnTo>
                <a:lnTo>
                  <a:pt x="109093" y="138429"/>
                </a:lnTo>
                <a:lnTo>
                  <a:pt x="103174" y="153415"/>
                </a:lnTo>
                <a:lnTo>
                  <a:pt x="103124" y="159511"/>
                </a:lnTo>
                <a:lnTo>
                  <a:pt x="100203" y="165480"/>
                </a:lnTo>
                <a:lnTo>
                  <a:pt x="94234" y="171449"/>
                </a:lnTo>
                <a:lnTo>
                  <a:pt x="85217" y="177418"/>
                </a:lnTo>
                <a:lnTo>
                  <a:pt x="79248" y="177418"/>
                </a:lnTo>
                <a:lnTo>
                  <a:pt x="70231" y="180339"/>
                </a:lnTo>
                <a:lnTo>
                  <a:pt x="118075" y="180339"/>
                </a:lnTo>
                <a:lnTo>
                  <a:pt x="126237" y="169417"/>
                </a:lnTo>
                <a:lnTo>
                  <a:pt x="132207" y="148208"/>
                </a:lnTo>
                <a:lnTo>
                  <a:pt x="135128" y="130047"/>
                </a:lnTo>
                <a:lnTo>
                  <a:pt x="138049" y="102615"/>
                </a:lnTo>
                <a:lnTo>
                  <a:pt x="135110" y="75056"/>
                </a:lnTo>
                <a:lnTo>
                  <a:pt x="132207" y="53974"/>
                </a:lnTo>
                <a:lnTo>
                  <a:pt x="126237" y="32765"/>
                </a:lnTo>
                <a:lnTo>
                  <a:pt x="120269" y="26796"/>
                </a:lnTo>
                <a:lnTo>
                  <a:pt x="118839" y="23875"/>
                </a:lnTo>
                <a:close/>
              </a:path>
              <a:path w="138049" h="202311">
                <a:moveTo>
                  <a:pt x="31369" y="101853"/>
                </a:moveTo>
                <a:lnTo>
                  <a:pt x="31242" y="102488"/>
                </a:lnTo>
                <a:lnTo>
                  <a:pt x="31369" y="101853"/>
                </a:lnTo>
                <a:close/>
              </a:path>
              <a:path w="138049" h="202311">
                <a:moveTo>
                  <a:pt x="84455" y="0"/>
                </a:moveTo>
                <a:lnTo>
                  <a:pt x="54102" y="0"/>
                </a:lnTo>
                <a:lnTo>
                  <a:pt x="51181" y="2920"/>
                </a:lnTo>
                <a:lnTo>
                  <a:pt x="90424" y="2920"/>
                </a:lnTo>
                <a:lnTo>
                  <a:pt x="8445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8" name="bk object 59"/>
          <p:cNvSpPr/>
          <p:nvPr/>
        </p:nvSpPr>
        <p:spPr>
          <a:xfrm>
            <a:off x="355788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59" name="bk object 60"/>
          <p:cNvSpPr/>
          <p:nvPr/>
        </p:nvSpPr>
        <p:spPr>
          <a:xfrm>
            <a:off x="3615840" y="6294960"/>
            <a:ext cx="136440" cy="197640"/>
          </a:xfrm>
          <a:custGeom>
            <a:avLst/>
            <a:gdLst>
              <a:gd name="textAreaLeft" fmla="*/ 0 w 136440"/>
              <a:gd name="textAreaRight" fmla="*/ 137160 w 136440"/>
              <a:gd name="textAreaTop" fmla="*/ 0 h 197640"/>
              <a:gd name="textAreaBottom" fmla="*/ 198360 h 197640"/>
            </a:gdLst>
            <a:ahLst/>
            <a:cxnLst/>
            <a:rect l="textAreaLeft" t="textAreaTop" r="textAreaRight" b="textAreaBottom"/>
            <a:pathLst>
              <a:path w="137287" h="198500">
                <a:moveTo>
                  <a:pt x="126675" y="24510"/>
                </a:moveTo>
                <a:lnTo>
                  <a:pt x="84200" y="24510"/>
                </a:lnTo>
                <a:lnTo>
                  <a:pt x="96138" y="30352"/>
                </a:lnTo>
                <a:lnTo>
                  <a:pt x="102108" y="36321"/>
                </a:lnTo>
                <a:lnTo>
                  <a:pt x="104966" y="42163"/>
                </a:lnTo>
                <a:lnTo>
                  <a:pt x="105029" y="45211"/>
                </a:lnTo>
                <a:lnTo>
                  <a:pt x="107823" y="48005"/>
                </a:lnTo>
                <a:lnTo>
                  <a:pt x="90170" y="93217"/>
                </a:lnTo>
                <a:lnTo>
                  <a:pt x="62992" y="108203"/>
                </a:lnTo>
                <a:lnTo>
                  <a:pt x="44958" y="120141"/>
                </a:lnTo>
                <a:lnTo>
                  <a:pt x="32893" y="126110"/>
                </a:lnTo>
                <a:lnTo>
                  <a:pt x="14859" y="144144"/>
                </a:lnTo>
                <a:lnTo>
                  <a:pt x="2921" y="168274"/>
                </a:lnTo>
                <a:lnTo>
                  <a:pt x="0" y="183387"/>
                </a:lnTo>
                <a:lnTo>
                  <a:pt x="0" y="198500"/>
                </a:lnTo>
                <a:lnTo>
                  <a:pt x="254" y="197992"/>
                </a:lnTo>
                <a:lnTo>
                  <a:pt x="137287" y="197992"/>
                </a:lnTo>
                <a:lnTo>
                  <a:pt x="137287" y="170560"/>
                </a:lnTo>
                <a:lnTo>
                  <a:pt x="30607" y="170560"/>
                </a:lnTo>
                <a:lnTo>
                  <a:pt x="30607" y="167639"/>
                </a:lnTo>
                <a:lnTo>
                  <a:pt x="33527" y="164718"/>
                </a:lnTo>
                <a:lnTo>
                  <a:pt x="39370" y="152780"/>
                </a:lnTo>
                <a:lnTo>
                  <a:pt x="45338" y="149859"/>
                </a:lnTo>
                <a:lnTo>
                  <a:pt x="48260" y="143890"/>
                </a:lnTo>
                <a:lnTo>
                  <a:pt x="54229" y="140969"/>
                </a:lnTo>
                <a:lnTo>
                  <a:pt x="63246" y="135000"/>
                </a:lnTo>
                <a:lnTo>
                  <a:pt x="72262" y="132079"/>
                </a:lnTo>
                <a:lnTo>
                  <a:pt x="75184" y="129158"/>
                </a:lnTo>
                <a:lnTo>
                  <a:pt x="93345" y="120141"/>
                </a:lnTo>
                <a:lnTo>
                  <a:pt x="96266" y="117220"/>
                </a:lnTo>
                <a:lnTo>
                  <a:pt x="102235" y="114299"/>
                </a:lnTo>
                <a:lnTo>
                  <a:pt x="111251" y="108330"/>
                </a:lnTo>
                <a:lnTo>
                  <a:pt x="126237" y="93344"/>
                </a:lnTo>
                <a:lnTo>
                  <a:pt x="129159" y="84327"/>
                </a:lnTo>
                <a:lnTo>
                  <a:pt x="135127" y="72262"/>
                </a:lnTo>
                <a:lnTo>
                  <a:pt x="135127" y="44830"/>
                </a:lnTo>
                <a:lnTo>
                  <a:pt x="132207" y="35813"/>
                </a:lnTo>
                <a:lnTo>
                  <a:pt x="126675" y="24510"/>
                </a:lnTo>
                <a:close/>
              </a:path>
              <a:path w="137287" h="198500">
                <a:moveTo>
                  <a:pt x="84200" y="0"/>
                </a:moveTo>
                <a:lnTo>
                  <a:pt x="53848" y="0"/>
                </a:lnTo>
                <a:lnTo>
                  <a:pt x="29845" y="11810"/>
                </a:lnTo>
                <a:lnTo>
                  <a:pt x="17907" y="23748"/>
                </a:lnTo>
                <a:lnTo>
                  <a:pt x="14986" y="29717"/>
                </a:lnTo>
                <a:lnTo>
                  <a:pt x="9017" y="38734"/>
                </a:lnTo>
                <a:lnTo>
                  <a:pt x="6096" y="47751"/>
                </a:lnTo>
                <a:lnTo>
                  <a:pt x="6096" y="68960"/>
                </a:lnTo>
                <a:lnTo>
                  <a:pt x="30352" y="68960"/>
                </a:lnTo>
                <a:lnTo>
                  <a:pt x="30352" y="59943"/>
                </a:lnTo>
                <a:lnTo>
                  <a:pt x="33274" y="53974"/>
                </a:lnTo>
                <a:lnTo>
                  <a:pt x="33274" y="48005"/>
                </a:lnTo>
                <a:lnTo>
                  <a:pt x="36068" y="45211"/>
                </a:lnTo>
                <a:lnTo>
                  <a:pt x="36195" y="42163"/>
                </a:lnTo>
                <a:lnTo>
                  <a:pt x="48006" y="30352"/>
                </a:lnTo>
                <a:lnTo>
                  <a:pt x="59944" y="24510"/>
                </a:lnTo>
                <a:lnTo>
                  <a:pt x="126675" y="24510"/>
                </a:lnTo>
                <a:lnTo>
                  <a:pt x="126364" y="23875"/>
                </a:lnTo>
                <a:lnTo>
                  <a:pt x="117348" y="14858"/>
                </a:lnTo>
                <a:lnTo>
                  <a:pt x="108331" y="8889"/>
                </a:lnTo>
                <a:lnTo>
                  <a:pt x="96266" y="2920"/>
                </a:lnTo>
                <a:lnTo>
                  <a:pt x="8420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0" name="bk object 61"/>
          <p:cNvSpPr/>
          <p:nvPr/>
        </p:nvSpPr>
        <p:spPr>
          <a:xfrm>
            <a:off x="3980880" y="6293160"/>
            <a:ext cx="134640" cy="201600"/>
          </a:xfrm>
          <a:custGeom>
            <a:avLst/>
            <a:gdLst>
              <a:gd name="textAreaLeft" fmla="*/ 0 w 134640"/>
              <a:gd name="textAreaRight" fmla="*/ 135360 w 134640"/>
              <a:gd name="textAreaTop" fmla="*/ 0 h 201600"/>
              <a:gd name="textAreaBottom" fmla="*/ 202320 h 201600"/>
            </a:gdLst>
            <a:ahLst/>
            <a:cxnLst/>
            <a:rect l="textAreaLeft" t="textAreaTop" r="textAreaRight" b="textAreaBottom"/>
            <a:pathLst>
              <a:path w="135509" h="202437">
                <a:moveTo>
                  <a:pt x="28448" y="102616"/>
                </a:moveTo>
                <a:lnTo>
                  <a:pt x="0" y="102616"/>
                </a:lnTo>
                <a:lnTo>
                  <a:pt x="0" y="130048"/>
                </a:lnTo>
                <a:lnTo>
                  <a:pt x="11937" y="169418"/>
                </a:lnTo>
                <a:lnTo>
                  <a:pt x="42037" y="199517"/>
                </a:lnTo>
                <a:lnTo>
                  <a:pt x="54101" y="202438"/>
                </a:lnTo>
                <a:lnTo>
                  <a:pt x="81534" y="202438"/>
                </a:lnTo>
                <a:lnTo>
                  <a:pt x="93599" y="199517"/>
                </a:lnTo>
                <a:lnTo>
                  <a:pt x="105663" y="193548"/>
                </a:lnTo>
                <a:lnTo>
                  <a:pt x="115155" y="180848"/>
                </a:lnTo>
                <a:lnTo>
                  <a:pt x="67183" y="180848"/>
                </a:lnTo>
                <a:lnTo>
                  <a:pt x="58165" y="177927"/>
                </a:lnTo>
                <a:lnTo>
                  <a:pt x="52197" y="177927"/>
                </a:lnTo>
                <a:lnTo>
                  <a:pt x="40259" y="165989"/>
                </a:lnTo>
                <a:lnTo>
                  <a:pt x="34289" y="153924"/>
                </a:lnTo>
                <a:lnTo>
                  <a:pt x="28472" y="123825"/>
                </a:lnTo>
                <a:lnTo>
                  <a:pt x="28448" y="102616"/>
                </a:lnTo>
                <a:close/>
              </a:path>
              <a:path w="135509" h="202437">
                <a:moveTo>
                  <a:pt x="116486" y="24257"/>
                </a:moveTo>
                <a:lnTo>
                  <a:pt x="76200" y="24257"/>
                </a:lnTo>
                <a:lnTo>
                  <a:pt x="85216" y="27178"/>
                </a:lnTo>
                <a:lnTo>
                  <a:pt x="91186" y="30099"/>
                </a:lnTo>
                <a:lnTo>
                  <a:pt x="97154" y="39116"/>
                </a:lnTo>
                <a:lnTo>
                  <a:pt x="100075" y="42037"/>
                </a:lnTo>
                <a:lnTo>
                  <a:pt x="102997" y="48006"/>
                </a:lnTo>
                <a:lnTo>
                  <a:pt x="108838" y="78232"/>
                </a:lnTo>
                <a:lnTo>
                  <a:pt x="108838" y="123825"/>
                </a:lnTo>
                <a:lnTo>
                  <a:pt x="102997" y="154038"/>
                </a:lnTo>
                <a:lnTo>
                  <a:pt x="97154" y="165989"/>
                </a:lnTo>
                <a:lnTo>
                  <a:pt x="85216" y="177927"/>
                </a:lnTo>
                <a:lnTo>
                  <a:pt x="76200" y="177927"/>
                </a:lnTo>
                <a:lnTo>
                  <a:pt x="67183" y="180848"/>
                </a:lnTo>
                <a:lnTo>
                  <a:pt x="115155" y="180848"/>
                </a:lnTo>
                <a:lnTo>
                  <a:pt x="123698" y="169418"/>
                </a:lnTo>
                <a:lnTo>
                  <a:pt x="129666" y="148209"/>
                </a:lnTo>
                <a:lnTo>
                  <a:pt x="132587" y="130048"/>
                </a:lnTo>
                <a:lnTo>
                  <a:pt x="135509" y="102616"/>
                </a:lnTo>
                <a:lnTo>
                  <a:pt x="132587" y="75184"/>
                </a:lnTo>
                <a:lnTo>
                  <a:pt x="129666" y="53975"/>
                </a:lnTo>
                <a:lnTo>
                  <a:pt x="123698" y="32766"/>
                </a:lnTo>
                <a:lnTo>
                  <a:pt x="117728" y="26797"/>
                </a:lnTo>
                <a:lnTo>
                  <a:pt x="116486" y="24257"/>
                </a:lnTo>
                <a:close/>
              </a:path>
              <a:path w="135509" h="202437">
                <a:moveTo>
                  <a:pt x="93852" y="2921"/>
                </a:moveTo>
                <a:lnTo>
                  <a:pt x="42545" y="2921"/>
                </a:lnTo>
                <a:lnTo>
                  <a:pt x="18414" y="20955"/>
                </a:lnTo>
                <a:lnTo>
                  <a:pt x="12573" y="32893"/>
                </a:lnTo>
                <a:lnTo>
                  <a:pt x="6603" y="41910"/>
                </a:lnTo>
                <a:lnTo>
                  <a:pt x="3683" y="53975"/>
                </a:lnTo>
                <a:lnTo>
                  <a:pt x="762" y="75184"/>
                </a:lnTo>
                <a:lnTo>
                  <a:pt x="762" y="102616"/>
                </a:lnTo>
                <a:lnTo>
                  <a:pt x="28321" y="102616"/>
                </a:lnTo>
                <a:lnTo>
                  <a:pt x="28345" y="78232"/>
                </a:lnTo>
                <a:lnTo>
                  <a:pt x="34162" y="48133"/>
                </a:lnTo>
                <a:lnTo>
                  <a:pt x="46100" y="30099"/>
                </a:lnTo>
                <a:lnTo>
                  <a:pt x="58038" y="24257"/>
                </a:lnTo>
                <a:lnTo>
                  <a:pt x="116486" y="24257"/>
                </a:lnTo>
                <a:lnTo>
                  <a:pt x="114808" y="20828"/>
                </a:lnTo>
                <a:lnTo>
                  <a:pt x="99822" y="5842"/>
                </a:lnTo>
                <a:lnTo>
                  <a:pt x="93852" y="2921"/>
                </a:lnTo>
                <a:close/>
              </a:path>
              <a:path w="135509" h="202437">
                <a:moveTo>
                  <a:pt x="28448" y="102489"/>
                </a:moveTo>
              </a:path>
              <a:path w="135509" h="202437">
                <a:moveTo>
                  <a:pt x="81914" y="0"/>
                </a:moveTo>
                <a:lnTo>
                  <a:pt x="54483" y="0"/>
                </a:lnTo>
                <a:lnTo>
                  <a:pt x="48513" y="2921"/>
                </a:lnTo>
                <a:lnTo>
                  <a:pt x="87884" y="2921"/>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1" name="bk object 62"/>
          <p:cNvSpPr/>
          <p:nvPr/>
        </p:nvSpPr>
        <p:spPr>
          <a:xfrm>
            <a:off x="414936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2" name="bk object 63"/>
          <p:cNvSpPr/>
          <p:nvPr/>
        </p:nvSpPr>
        <p:spPr>
          <a:xfrm>
            <a:off x="4207320" y="6294600"/>
            <a:ext cx="134640" cy="200520"/>
          </a:xfrm>
          <a:custGeom>
            <a:avLst/>
            <a:gdLst>
              <a:gd name="textAreaLeft" fmla="*/ 0 w 134640"/>
              <a:gd name="textAreaRight" fmla="*/ 135360 w 134640"/>
              <a:gd name="textAreaTop" fmla="*/ 0 h 200520"/>
              <a:gd name="textAreaBottom" fmla="*/ 201240 h 200520"/>
            </a:gdLst>
            <a:ahLst/>
            <a:cxnLst/>
            <a:rect l="textAreaLeft" t="textAreaTop" r="textAreaRight" b="textAreaBottom"/>
            <a:pathLst>
              <a:path w="135509" h="201167">
                <a:moveTo>
                  <a:pt x="24257" y="135000"/>
                </a:moveTo>
                <a:lnTo>
                  <a:pt x="0" y="135000"/>
                </a:lnTo>
                <a:lnTo>
                  <a:pt x="0" y="156209"/>
                </a:lnTo>
                <a:lnTo>
                  <a:pt x="26924" y="192278"/>
                </a:lnTo>
                <a:lnTo>
                  <a:pt x="48006" y="201167"/>
                </a:lnTo>
                <a:lnTo>
                  <a:pt x="78359" y="201167"/>
                </a:lnTo>
                <a:lnTo>
                  <a:pt x="102488" y="195325"/>
                </a:lnTo>
                <a:lnTo>
                  <a:pt x="114554" y="186308"/>
                </a:lnTo>
                <a:lnTo>
                  <a:pt x="123571" y="177291"/>
                </a:lnTo>
                <a:lnTo>
                  <a:pt x="123907" y="176783"/>
                </a:lnTo>
                <a:lnTo>
                  <a:pt x="53975" y="176783"/>
                </a:lnTo>
                <a:lnTo>
                  <a:pt x="48006" y="173862"/>
                </a:lnTo>
                <a:lnTo>
                  <a:pt x="38988" y="170941"/>
                </a:lnTo>
                <a:lnTo>
                  <a:pt x="33020" y="164972"/>
                </a:lnTo>
                <a:lnTo>
                  <a:pt x="30099" y="159003"/>
                </a:lnTo>
                <a:lnTo>
                  <a:pt x="27178" y="149986"/>
                </a:lnTo>
                <a:lnTo>
                  <a:pt x="24257" y="147065"/>
                </a:lnTo>
                <a:lnTo>
                  <a:pt x="24257" y="135000"/>
                </a:lnTo>
                <a:close/>
              </a:path>
              <a:path w="135509" h="201167">
                <a:moveTo>
                  <a:pt x="119998" y="21335"/>
                </a:moveTo>
                <a:lnTo>
                  <a:pt x="66294" y="21335"/>
                </a:lnTo>
                <a:lnTo>
                  <a:pt x="72262" y="24256"/>
                </a:lnTo>
                <a:lnTo>
                  <a:pt x="84328" y="24256"/>
                </a:lnTo>
                <a:lnTo>
                  <a:pt x="87249" y="27178"/>
                </a:lnTo>
                <a:lnTo>
                  <a:pt x="90170" y="27178"/>
                </a:lnTo>
                <a:lnTo>
                  <a:pt x="93091" y="33146"/>
                </a:lnTo>
                <a:lnTo>
                  <a:pt x="98933" y="38988"/>
                </a:lnTo>
                <a:lnTo>
                  <a:pt x="99060" y="45084"/>
                </a:lnTo>
                <a:lnTo>
                  <a:pt x="101981" y="51053"/>
                </a:lnTo>
                <a:lnTo>
                  <a:pt x="99060" y="60070"/>
                </a:lnTo>
                <a:lnTo>
                  <a:pt x="99060" y="66039"/>
                </a:lnTo>
                <a:lnTo>
                  <a:pt x="96138" y="72008"/>
                </a:lnTo>
                <a:lnTo>
                  <a:pt x="90170" y="77978"/>
                </a:lnTo>
                <a:lnTo>
                  <a:pt x="87249" y="77978"/>
                </a:lnTo>
                <a:lnTo>
                  <a:pt x="84328" y="80898"/>
                </a:lnTo>
                <a:lnTo>
                  <a:pt x="78359" y="83819"/>
                </a:lnTo>
                <a:lnTo>
                  <a:pt x="50927" y="83819"/>
                </a:lnTo>
                <a:lnTo>
                  <a:pt x="50927" y="105028"/>
                </a:lnTo>
                <a:lnTo>
                  <a:pt x="78359" y="105028"/>
                </a:lnTo>
                <a:lnTo>
                  <a:pt x="87375" y="107950"/>
                </a:lnTo>
                <a:lnTo>
                  <a:pt x="93345" y="110870"/>
                </a:lnTo>
                <a:lnTo>
                  <a:pt x="105283" y="122808"/>
                </a:lnTo>
                <a:lnTo>
                  <a:pt x="108204" y="131825"/>
                </a:lnTo>
                <a:lnTo>
                  <a:pt x="108204" y="153034"/>
                </a:lnTo>
                <a:lnTo>
                  <a:pt x="105283" y="155943"/>
                </a:lnTo>
                <a:lnTo>
                  <a:pt x="102362" y="161925"/>
                </a:lnTo>
                <a:lnTo>
                  <a:pt x="90424" y="173862"/>
                </a:lnTo>
                <a:lnTo>
                  <a:pt x="81407" y="176783"/>
                </a:lnTo>
                <a:lnTo>
                  <a:pt x="123907" y="176783"/>
                </a:lnTo>
                <a:lnTo>
                  <a:pt x="129540" y="168275"/>
                </a:lnTo>
                <a:lnTo>
                  <a:pt x="135509" y="153161"/>
                </a:lnTo>
                <a:lnTo>
                  <a:pt x="135509" y="125729"/>
                </a:lnTo>
                <a:lnTo>
                  <a:pt x="129540" y="113664"/>
                </a:lnTo>
                <a:lnTo>
                  <a:pt x="123571" y="104647"/>
                </a:lnTo>
                <a:lnTo>
                  <a:pt x="114681" y="95757"/>
                </a:lnTo>
                <a:lnTo>
                  <a:pt x="108712" y="92836"/>
                </a:lnTo>
                <a:lnTo>
                  <a:pt x="105791" y="92836"/>
                </a:lnTo>
                <a:lnTo>
                  <a:pt x="102870" y="89915"/>
                </a:lnTo>
                <a:lnTo>
                  <a:pt x="111887" y="86994"/>
                </a:lnTo>
                <a:lnTo>
                  <a:pt x="114808" y="86994"/>
                </a:lnTo>
                <a:lnTo>
                  <a:pt x="120777" y="81025"/>
                </a:lnTo>
                <a:lnTo>
                  <a:pt x="126619" y="62991"/>
                </a:lnTo>
                <a:lnTo>
                  <a:pt x="129509" y="51053"/>
                </a:lnTo>
                <a:lnTo>
                  <a:pt x="129540" y="44957"/>
                </a:lnTo>
                <a:lnTo>
                  <a:pt x="126619" y="38988"/>
                </a:lnTo>
                <a:lnTo>
                  <a:pt x="123698" y="26923"/>
                </a:lnTo>
                <a:lnTo>
                  <a:pt x="119998" y="21335"/>
                </a:lnTo>
                <a:close/>
              </a:path>
              <a:path w="135509" h="201167">
                <a:moveTo>
                  <a:pt x="87757" y="0"/>
                </a:moveTo>
                <a:lnTo>
                  <a:pt x="51308" y="0"/>
                </a:lnTo>
                <a:lnTo>
                  <a:pt x="42291" y="2920"/>
                </a:lnTo>
                <a:lnTo>
                  <a:pt x="9271" y="35940"/>
                </a:lnTo>
                <a:lnTo>
                  <a:pt x="3429" y="53975"/>
                </a:lnTo>
                <a:lnTo>
                  <a:pt x="3429" y="62991"/>
                </a:lnTo>
                <a:lnTo>
                  <a:pt x="27686" y="62991"/>
                </a:lnTo>
                <a:lnTo>
                  <a:pt x="30607" y="60070"/>
                </a:lnTo>
                <a:lnTo>
                  <a:pt x="30607" y="47993"/>
                </a:lnTo>
                <a:lnTo>
                  <a:pt x="36449" y="36067"/>
                </a:lnTo>
                <a:lnTo>
                  <a:pt x="45338" y="27178"/>
                </a:lnTo>
                <a:lnTo>
                  <a:pt x="51308" y="24256"/>
                </a:lnTo>
                <a:lnTo>
                  <a:pt x="57277" y="24256"/>
                </a:lnTo>
                <a:lnTo>
                  <a:pt x="66294" y="21335"/>
                </a:lnTo>
                <a:lnTo>
                  <a:pt x="119998" y="21335"/>
                </a:lnTo>
                <a:lnTo>
                  <a:pt x="117729" y="17906"/>
                </a:lnTo>
                <a:lnTo>
                  <a:pt x="108712" y="8889"/>
                </a:lnTo>
                <a:lnTo>
                  <a:pt x="102743" y="5968"/>
                </a:lnTo>
                <a:lnTo>
                  <a:pt x="99822" y="5968"/>
                </a:lnTo>
                <a:lnTo>
                  <a:pt x="8775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3" name="bk object 64"/>
          <p:cNvSpPr/>
          <p:nvPr/>
        </p:nvSpPr>
        <p:spPr>
          <a:xfrm>
            <a:off x="457236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9" h="202564">
                <a:moveTo>
                  <a:pt x="93725" y="2921"/>
                </a:moveTo>
                <a:lnTo>
                  <a:pt x="42418" y="2921"/>
                </a:lnTo>
                <a:lnTo>
                  <a:pt x="30352" y="11938"/>
                </a:lnTo>
                <a:lnTo>
                  <a:pt x="15367" y="26924"/>
                </a:lnTo>
                <a:lnTo>
                  <a:pt x="12446" y="32893"/>
                </a:lnTo>
                <a:lnTo>
                  <a:pt x="9525" y="41910"/>
                </a:lnTo>
                <a:lnTo>
                  <a:pt x="3556" y="53975"/>
                </a:lnTo>
                <a:lnTo>
                  <a:pt x="635" y="75184"/>
                </a:lnTo>
                <a:lnTo>
                  <a:pt x="635" y="102616"/>
                </a:lnTo>
                <a:lnTo>
                  <a:pt x="0" y="102743"/>
                </a:lnTo>
                <a:lnTo>
                  <a:pt x="0" y="130175"/>
                </a:lnTo>
                <a:lnTo>
                  <a:pt x="2921" y="148336"/>
                </a:lnTo>
                <a:lnTo>
                  <a:pt x="11937" y="169545"/>
                </a:lnTo>
                <a:lnTo>
                  <a:pt x="29972" y="193675"/>
                </a:lnTo>
                <a:lnTo>
                  <a:pt x="42037" y="199644"/>
                </a:lnTo>
                <a:lnTo>
                  <a:pt x="54101" y="202565"/>
                </a:lnTo>
                <a:lnTo>
                  <a:pt x="81534" y="202565"/>
                </a:lnTo>
                <a:lnTo>
                  <a:pt x="93599" y="199644"/>
                </a:lnTo>
                <a:lnTo>
                  <a:pt x="105663" y="193675"/>
                </a:lnTo>
                <a:lnTo>
                  <a:pt x="115440" y="180594"/>
                </a:lnTo>
                <a:lnTo>
                  <a:pt x="66929" y="180594"/>
                </a:lnTo>
                <a:lnTo>
                  <a:pt x="57912" y="177673"/>
                </a:lnTo>
                <a:lnTo>
                  <a:pt x="51943" y="177673"/>
                </a:lnTo>
                <a:lnTo>
                  <a:pt x="40005" y="165735"/>
                </a:lnTo>
                <a:lnTo>
                  <a:pt x="34036" y="153670"/>
                </a:lnTo>
                <a:lnTo>
                  <a:pt x="28243" y="123698"/>
                </a:lnTo>
                <a:lnTo>
                  <a:pt x="28194" y="102616"/>
                </a:lnTo>
                <a:lnTo>
                  <a:pt x="28116" y="78105"/>
                </a:lnTo>
                <a:lnTo>
                  <a:pt x="33909" y="48133"/>
                </a:lnTo>
                <a:lnTo>
                  <a:pt x="45847" y="30099"/>
                </a:lnTo>
                <a:lnTo>
                  <a:pt x="57785" y="24257"/>
                </a:lnTo>
                <a:lnTo>
                  <a:pt x="118109" y="24257"/>
                </a:lnTo>
                <a:lnTo>
                  <a:pt x="105790" y="11938"/>
                </a:lnTo>
                <a:lnTo>
                  <a:pt x="93725" y="2921"/>
                </a:lnTo>
                <a:close/>
              </a:path>
              <a:path w="135509" h="202564">
                <a:moveTo>
                  <a:pt x="118109" y="24257"/>
                </a:moveTo>
                <a:lnTo>
                  <a:pt x="75946" y="24257"/>
                </a:lnTo>
                <a:lnTo>
                  <a:pt x="84962" y="27178"/>
                </a:lnTo>
                <a:lnTo>
                  <a:pt x="90932" y="30099"/>
                </a:lnTo>
                <a:lnTo>
                  <a:pt x="93852" y="33020"/>
                </a:lnTo>
                <a:lnTo>
                  <a:pt x="96774" y="38989"/>
                </a:lnTo>
                <a:lnTo>
                  <a:pt x="102743" y="48006"/>
                </a:lnTo>
                <a:lnTo>
                  <a:pt x="105663" y="63119"/>
                </a:lnTo>
                <a:lnTo>
                  <a:pt x="105663" y="72136"/>
                </a:lnTo>
                <a:lnTo>
                  <a:pt x="108585" y="78105"/>
                </a:lnTo>
                <a:lnTo>
                  <a:pt x="108585" y="123698"/>
                </a:lnTo>
                <a:lnTo>
                  <a:pt x="105663" y="129667"/>
                </a:lnTo>
                <a:lnTo>
                  <a:pt x="105663" y="138684"/>
                </a:lnTo>
                <a:lnTo>
                  <a:pt x="102743" y="153797"/>
                </a:lnTo>
                <a:lnTo>
                  <a:pt x="96774" y="165862"/>
                </a:lnTo>
                <a:lnTo>
                  <a:pt x="84962" y="177673"/>
                </a:lnTo>
                <a:lnTo>
                  <a:pt x="75946" y="177673"/>
                </a:lnTo>
                <a:lnTo>
                  <a:pt x="66929" y="180594"/>
                </a:lnTo>
                <a:lnTo>
                  <a:pt x="115440" y="180594"/>
                </a:lnTo>
                <a:lnTo>
                  <a:pt x="123698" y="169545"/>
                </a:lnTo>
                <a:lnTo>
                  <a:pt x="129667" y="148336"/>
                </a:lnTo>
                <a:lnTo>
                  <a:pt x="132587" y="130175"/>
                </a:lnTo>
                <a:lnTo>
                  <a:pt x="135509" y="102743"/>
                </a:lnTo>
                <a:lnTo>
                  <a:pt x="132570" y="75184"/>
                </a:lnTo>
                <a:lnTo>
                  <a:pt x="129667" y="54102"/>
                </a:lnTo>
                <a:lnTo>
                  <a:pt x="123698" y="32893"/>
                </a:lnTo>
                <a:lnTo>
                  <a:pt x="120776" y="26924"/>
                </a:lnTo>
                <a:lnTo>
                  <a:pt x="118109" y="24257"/>
                </a:lnTo>
                <a:close/>
              </a:path>
              <a:path w="135509" h="202564">
                <a:moveTo>
                  <a:pt x="28194" y="102235"/>
                </a:moveTo>
                <a:lnTo>
                  <a:pt x="28067" y="102616"/>
                </a:lnTo>
                <a:lnTo>
                  <a:pt x="28194" y="102235"/>
                </a:lnTo>
                <a:close/>
              </a:path>
              <a:path w="135509" h="202564">
                <a:moveTo>
                  <a:pt x="81787" y="0"/>
                </a:moveTo>
                <a:lnTo>
                  <a:pt x="54356" y="0"/>
                </a:lnTo>
                <a:lnTo>
                  <a:pt x="48387" y="2921"/>
                </a:lnTo>
                <a:lnTo>
                  <a:pt x="87757" y="2921"/>
                </a:lnTo>
                <a:lnTo>
                  <a:pt x="81787"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4" name="bk object 65"/>
          <p:cNvSpPr/>
          <p:nvPr/>
        </p:nvSpPr>
        <p:spPr>
          <a:xfrm>
            <a:off x="4740840" y="6460200"/>
            <a:ext cx="26640" cy="32760"/>
          </a:xfrm>
          <a:custGeom>
            <a:avLst/>
            <a:gdLst>
              <a:gd name="textAreaLeft" fmla="*/ 0 w 26640"/>
              <a:gd name="textAreaRight" fmla="*/ 27360 w 26640"/>
              <a:gd name="textAreaTop" fmla="*/ 0 h 32760"/>
              <a:gd name="textAreaBottom" fmla="*/ 33480 h 32760"/>
            </a:gdLst>
            <a:ahLst/>
            <a:cxnLst/>
            <a:rect l="textAreaLeft" t="textAreaTop" r="textAreaRight" b="textAreaBottom"/>
            <a:pathLst>
              <a:path w="27432" h="33401">
                <a:moveTo>
                  <a:pt x="0" y="16700"/>
                </a:moveTo>
                <a:lnTo>
                  <a:pt x="27432"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5" name="bk object 66"/>
          <p:cNvSpPr/>
          <p:nvPr/>
        </p:nvSpPr>
        <p:spPr>
          <a:xfrm>
            <a:off x="4798800" y="6298560"/>
            <a:ext cx="111960" cy="194040"/>
          </a:xfrm>
          <a:custGeom>
            <a:avLst/>
            <a:gdLst>
              <a:gd name="textAreaLeft" fmla="*/ 0 w 111960"/>
              <a:gd name="textAreaRight" fmla="*/ 112680 w 111960"/>
              <a:gd name="textAreaTop" fmla="*/ 0 h 194040"/>
              <a:gd name="textAreaBottom" fmla="*/ 194760 h 194040"/>
            </a:gdLst>
            <a:ahLst/>
            <a:cxnLst/>
            <a:rect l="textAreaLeft" t="textAreaTop" r="textAreaRight" b="textAreaBottom"/>
            <a:pathLst>
              <a:path w="112649" h="194817">
                <a:moveTo>
                  <a:pt x="112649" y="143002"/>
                </a:moveTo>
                <a:lnTo>
                  <a:pt x="85217" y="143002"/>
                </a:lnTo>
                <a:lnTo>
                  <a:pt x="85217" y="194818"/>
                </a:lnTo>
                <a:lnTo>
                  <a:pt x="112649" y="194818"/>
                </a:lnTo>
                <a:lnTo>
                  <a:pt x="112649" y="143002"/>
                </a:lnTo>
                <a:close/>
              </a:path>
              <a:path w="112649" h="194817">
                <a:moveTo>
                  <a:pt x="112649" y="0"/>
                </a:moveTo>
                <a:lnTo>
                  <a:pt x="85217" y="0"/>
                </a:lnTo>
                <a:lnTo>
                  <a:pt x="0" y="118745"/>
                </a:lnTo>
                <a:lnTo>
                  <a:pt x="0" y="143002"/>
                </a:lnTo>
                <a:lnTo>
                  <a:pt x="140081" y="143002"/>
                </a:lnTo>
                <a:lnTo>
                  <a:pt x="140081" y="121793"/>
                </a:lnTo>
                <a:lnTo>
                  <a:pt x="112649" y="121793"/>
                </a:lnTo>
                <a:lnTo>
                  <a:pt x="24130" y="121666"/>
                </a:lnTo>
                <a:lnTo>
                  <a:pt x="84963" y="33401"/>
                </a:lnTo>
                <a:lnTo>
                  <a:pt x="112649" y="33401"/>
                </a:lnTo>
                <a:lnTo>
                  <a:pt x="112649" y="0"/>
                </a:lnTo>
                <a:close/>
              </a:path>
              <a:path w="112649" h="194817">
                <a:moveTo>
                  <a:pt x="112649" y="33401"/>
                </a:moveTo>
                <a:lnTo>
                  <a:pt x="84963" y="33401"/>
                </a:lnTo>
                <a:lnTo>
                  <a:pt x="84963" y="121666"/>
                </a:lnTo>
                <a:lnTo>
                  <a:pt x="112649" y="121666"/>
                </a:lnTo>
                <a:lnTo>
                  <a:pt x="112649" y="3340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6" name="bk object 67"/>
          <p:cNvSpPr/>
          <p:nvPr/>
        </p:nvSpPr>
        <p:spPr>
          <a:xfrm>
            <a:off x="5163480" y="6293520"/>
            <a:ext cx="135000" cy="201600"/>
          </a:xfrm>
          <a:custGeom>
            <a:avLst/>
            <a:gdLst>
              <a:gd name="textAreaLeft" fmla="*/ 0 w 135000"/>
              <a:gd name="textAreaRight" fmla="*/ 135720 w 135000"/>
              <a:gd name="textAreaTop" fmla="*/ 0 h 201600"/>
              <a:gd name="textAreaBottom" fmla="*/ 202320 h 201600"/>
            </a:gdLst>
            <a:ahLst/>
            <a:cxnLst/>
            <a:rect l="textAreaLeft" t="textAreaTop" r="textAreaRight" b="textAreaBottom"/>
            <a:pathLst>
              <a:path w="135636" h="202437">
                <a:moveTo>
                  <a:pt x="93852" y="2920"/>
                </a:moveTo>
                <a:lnTo>
                  <a:pt x="42545" y="2920"/>
                </a:lnTo>
                <a:lnTo>
                  <a:pt x="30479" y="11937"/>
                </a:lnTo>
                <a:lnTo>
                  <a:pt x="15494" y="26911"/>
                </a:lnTo>
                <a:lnTo>
                  <a:pt x="15367" y="29971"/>
                </a:lnTo>
                <a:lnTo>
                  <a:pt x="12573" y="32765"/>
                </a:lnTo>
                <a:lnTo>
                  <a:pt x="9651" y="41782"/>
                </a:lnTo>
                <a:lnTo>
                  <a:pt x="6730" y="53847"/>
                </a:lnTo>
                <a:lnTo>
                  <a:pt x="762" y="75056"/>
                </a:lnTo>
                <a:lnTo>
                  <a:pt x="762" y="102488"/>
                </a:lnTo>
                <a:lnTo>
                  <a:pt x="0" y="102615"/>
                </a:lnTo>
                <a:lnTo>
                  <a:pt x="0" y="130047"/>
                </a:lnTo>
                <a:lnTo>
                  <a:pt x="5969" y="148208"/>
                </a:lnTo>
                <a:lnTo>
                  <a:pt x="11937" y="169417"/>
                </a:lnTo>
                <a:lnTo>
                  <a:pt x="29972" y="193547"/>
                </a:lnTo>
                <a:lnTo>
                  <a:pt x="42037" y="199516"/>
                </a:lnTo>
                <a:lnTo>
                  <a:pt x="54101" y="202437"/>
                </a:lnTo>
                <a:lnTo>
                  <a:pt x="81534" y="202437"/>
                </a:lnTo>
                <a:lnTo>
                  <a:pt x="93599" y="199516"/>
                </a:lnTo>
                <a:lnTo>
                  <a:pt x="105663" y="193547"/>
                </a:lnTo>
                <a:lnTo>
                  <a:pt x="115250" y="180720"/>
                </a:lnTo>
                <a:lnTo>
                  <a:pt x="67183" y="180720"/>
                </a:lnTo>
                <a:lnTo>
                  <a:pt x="61213" y="177799"/>
                </a:lnTo>
                <a:lnTo>
                  <a:pt x="52197" y="177799"/>
                </a:lnTo>
                <a:lnTo>
                  <a:pt x="40259" y="165861"/>
                </a:lnTo>
                <a:lnTo>
                  <a:pt x="34289" y="153796"/>
                </a:lnTo>
                <a:lnTo>
                  <a:pt x="28472" y="123697"/>
                </a:lnTo>
                <a:lnTo>
                  <a:pt x="28448" y="102488"/>
                </a:lnTo>
                <a:lnTo>
                  <a:pt x="34162" y="48005"/>
                </a:lnTo>
                <a:lnTo>
                  <a:pt x="61087" y="24129"/>
                </a:lnTo>
                <a:lnTo>
                  <a:pt x="118109" y="24129"/>
                </a:lnTo>
                <a:lnTo>
                  <a:pt x="105917" y="11937"/>
                </a:lnTo>
                <a:lnTo>
                  <a:pt x="93852" y="2920"/>
                </a:lnTo>
                <a:close/>
              </a:path>
              <a:path w="135636" h="202437">
                <a:moveTo>
                  <a:pt x="118109" y="24129"/>
                </a:moveTo>
                <a:lnTo>
                  <a:pt x="76200" y="24129"/>
                </a:lnTo>
                <a:lnTo>
                  <a:pt x="85216" y="27050"/>
                </a:lnTo>
                <a:lnTo>
                  <a:pt x="91186" y="29971"/>
                </a:lnTo>
                <a:lnTo>
                  <a:pt x="103124" y="48005"/>
                </a:lnTo>
                <a:lnTo>
                  <a:pt x="106045" y="57022"/>
                </a:lnTo>
                <a:lnTo>
                  <a:pt x="106045" y="62991"/>
                </a:lnTo>
                <a:lnTo>
                  <a:pt x="108965" y="78104"/>
                </a:lnTo>
                <a:lnTo>
                  <a:pt x="108965" y="123697"/>
                </a:lnTo>
                <a:lnTo>
                  <a:pt x="106045" y="138810"/>
                </a:lnTo>
                <a:lnTo>
                  <a:pt x="106045" y="147827"/>
                </a:lnTo>
                <a:lnTo>
                  <a:pt x="103124" y="153796"/>
                </a:lnTo>
                <a:lnTo>
                  <a:pt x="97154" y="165861"/>
                </a:lnTo>
                <a:lnTo>
                  <a:pt x="85216" y="177799"/>
                </a:lnTo>
                <a:lnTo>
                  <a:pt x="76200" y="177799"/>
                </a:lnTo>
                <a:lnTo>
                  <a:pt x="67183" y="180720"/>
                </a:lnTo>
                <a:lnTo>
                  <a:pt x="115250" y="180720"/>
                </a:lnTo>
                <a:lnTo>
                  <a:pt x="123698" y="169417"/>
                </a:lnTo>
                <a:lnTo>
                  <a:pt x="129666" y="148208"/>
                </a:lnTo>
                <a:lnTo>
                  <a:pt x="135636" y="130047"/>
                </a:lnTo>
                <a:lnTo>
                  <a:pt x="135600" y="75056"/>
                </a:lnTo>
                <a:lnTo>
                  <a:pt x="123698" y="32765"/>
                </a:lnTo>
                <a:lnTo>
                  <a:pt x="120776" y="26796"/>
                </a:lnTo>
                <a:lnTo>
                  <a:pt x="118109" y="24129"/>
                </a:lnTo>
                <a:close/>
              </a:path>
              <a:path w="135636" h="202437">
                <a:moveTo>
                  <a:pt x="28448" y="102361"/>
                </a:moveTo>
              </a:path>
              <a:path w="135636" h="202437">
                <a:moveTo>
                  <a:pt x="81914" y="0"/>
                </a:moveTo>
                <a:lnTo>
                  <a:pt x="54483" y="0"/>
                </a:lnTo>
                <a:lnTo>
                  <a:pt x="48513" y="2920"/>
                </a:lnTo>
                <a:lnTo>
                  <a:pt x="87884" y="2920"/>
                </a:lnTo>
                <a:lnTo>
                  <a:pt x="8191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7" name="bk object 68"/>
          <p:cNvSpPr/>
          <p:nvPr/>
        </p:nvSpPr>
        <p:spPr>
          <a:xfrm>
            <a:off x="533196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8" name="bk object 69"/>
          <p:cNvSpPr/>
          <p:nvPr/>
        </p:nvSpPr>
        <p:spPr>
          <a:xfrm>
            <a:off x="5389920" y="6298560"/>
            <a:ext cx="138240" cy="195480"/>
          </a:xfrm>
          <a:custGeom>
            <a:avLst/>
            <a:gdLst>
              <a:gd name="textAreaLeft" fmla="*/ 0 w 138240"/>
              <a:gd name="textAreaRight" fmla="*/ 138960 w 138240"/>
              <a:gd name="textAreaTop" fmla="*/ 0 h 195480"/>
              <a:gd name="textAreaBottom" fmla="*/ 196200 h 195480"/>
            </a:gdLst>
            <a:ahLst/>
            <a:cxnLst/>
            <a:rect l="textAreaLeft" t="textAreaTop" r="textAreaRight" b="textAreaBottom"/>
            <a:pathLst>
              <a:path w="139064" h="196341">
                <a:moveTo>
                  <a:pt x="27432" y="142875"/>
                </a:moveTo>
                <a:lnTo>
                  <a:pt x="1270" y="142875"/>
                </a:lnTo>
                <a:lnTo>
                  <a:pt x="1311" y="148844"/>
                </a:lnTo>
                <a:lnTo>
                  <a:pt x="21971" y="181610"/>
                </a:lnTo>
                <a:lnTo>
                  <a:pt x="51955" y="196342"/>
                </a:lnTo>
                <a:lnTo>
                  <a:pt x="82296" y="196342"/>
                </a:lnTo>
                <a:lnTo>
                  <a:pt x="121412" y="175514"/>
                </a:lnTo>
                <a:lnTo>
                  <a:pt x="122903" y="172466"/>
                </a:lnTo>
                <a:lnTo>
                  <a:pt x="57023" y="172466"/>
                </a:lnTo>
                <a:lnTo>
                  <a:pt x="48006" y="169545"/>
                </a:lnTo>
                <a:lnTo>
                  <a:pt x="45085" y="169545"/>
                </a:lnTo>
                <a:lnTo>
                  <a:pt x="33274" y="157734"/>
                </a:lnTo>
                <a:lnTo>
                  <a:pt x="30352" y="151752"/>
                </a:lnTo>
                <a:lnTo>
                  <a:pt x="27432" y="148844"/>
                </a:lnTo>
                <a:lnTo>
                  <a:pt x="27432" y="142875"/>
                </a:lnTo>
                <a:close/>
              </a:path>
              <a:path w="139064" h="196341">
                <a:moveTo>
                  <a:pt x="123638" y="85852"/>
                </a:moveTo>
                <a:lnTo>
                  <a:pt x="75311" y="85852"/>
                </a:lnTo>
                <a:lnTo>
                  <a:pt x="78232" y="88773"/>
                </a:lnTo>
                <a:lnTo>
                  <a:pt x="84200" y="88773"/>
                </a:lnTo>
                <a:lnTo>
                  <a:pt x="90170" y="91694"/>
                </a:lnTo>
                <a:lnTo>
                  <a:pt x="102108" y="103632"/>
                </a:lnTo>
                <a:lnTo>
                  <a:pt x="108076" y="112649"/>
                </a:lnTo>
                <a:lnTo>
                  <a:pt x="108076" y="124714"/>
                </a:lnTo>
                <a:lnTo>
                  <a:pt x="110998" y="130683"/>
                </a:lnTo>
                <a:lnTo>
                  <a:pt x="108076" y="133604"/>
                </a:lnTo>
                <a:lnTo>
                  <a:pt x="107950" y="148844"/>
                </a:lnTo>
                <a:lnTo>
                  <a:pt x="90170" y="166624"/>
                </a:lnTo>
                <a:lnTo>
                  <a:pt x="84200" y="169545"/>
                </a:lnTo>
                <a:lnTo>
                  <a:pt x="75184" y="172466"/>
                </a:lnTo>
                <a:lnTo>
                  <a:pt x="122903" y="172466"/>
                </a:lnTo>
                <a:lnTo>
                  <a:pt x="124333" y="169545"/>
                </a:lnTo>
                <a:lnTo>
                  <a:pt x="133223" y="160655"/>
                </a:lnTo>
                <a:lnTo>
                  <a:pt x="133223" y="151638"/>
                </a:lnTo>
                <a:lnTo>
                  <a:pt x="136144" y="145669"/>
                </a:lnTo>
                <a:lnTo>
                  <a:pt x="139064" y="130556"/>
                </a:lnTo>
                <a:lnTo>
                  <a:pt x="136144" y="115443"/>
                </a:lnTo>
                <a:lnTo>
                  <a:pt x="133223" y="103378"/>
                </a:lnTo>
                <a:lnTo>
                  <a:pt x="127253" y="91313"/>
                </a:lnTo>
                <a:lnTo>
                  <a:pt x="123638" y="85852"/>
                </a:lnTo>
                <a:close/>
              </a:path>
              <a:path w="139064" h="196341">
                <a:moveTo>
                  <a:pt x="1270" y="142748"/>
                </a:moveTo>
                <a:lnTo>
                  <a:pt x="0" y="142875"/>
                </a:lnTo>
                <a:lnTo>
                  <a:pt x="1270" y="142875"/>
                </a:lnTo>
                <a:lnTo>
                  <a:pt x="1270" y="142748"/>
                </a:lnTo>
                <a:close/>
              </a:path>
              <a:path w="139064" h="196341">
                <a:moveTo>
                  <a:pt x="128155" y="0"/>
                </a:moveTo>
                <a:lnTo>
                  <a:pt x="21462" y="0"/>
                </a:lnTo>
                <a:lnTo>
                  <a:pt x="6350" y="103632"/>
                </a:lnTo>
                <a:lnTo>
                  <a:pt x="30607" y="103632"/>
                </a:lnTo>
                <a:lnTo>
                  <a:pt x="33527" y="97663"/>
                </a:lnTo>
                <a:lnTo>
                  <a:pt x="36449" y="97663"/>
                </a:lnTo>
                <a:lnTo>
                  <a:pt x="42430" y="91694"/>
                </a:lnTo>
                <a:lnTo>
                  <a:pt x="45338" y="91694"/>
                </a:lnTo>
                <a:lnTo>
                  <a:pt x="51308" y="88773"/>
                </a:lnTo>
                <a:lnTo>
                  <a:pt x="57276" y="88773"/>
                </a:lnTo>
                <a:lnTo>
                  <a:pt x="66294" y="85852"/>
                </a:lnTo>
                <a:lnTo>
                  <a:pt x="123638" y="85852"/>
                </a:lnTo>
                <a:lnTo>
                  <a:pt x="121285" y="82296"/>
                </a:lnTo>
                <a:lnTo>
                  <a:pt x="112958" y="76073"/>
                </a:lnTo>
                <a:lnTo>
                  <a:pt x="33909" y="76073"/>
                </a:lnTo>
                <a:lnTo>
                  <a:pt x="39877" y="21209"/>
                </a:lnTo>
                <a:lnTo>
                  <a:pt x="128155" y="21209"/>
                </a:lnTo>
                <a:lnTo>
                  <a:pt x="128155" y="0"/>
                </a:lnTo>
                <a:close/>
              </a:path>
              <a:path w="139064" h="196341">
                <a:moveTo>
                  <a:pt x="85089" y="64389"/>
                </a:moveTo>
                <a:lnTo>
                  <a:pt x="60833" y="64389"/>
                </a:lnTo>
                <a:lnTo>
                  <a:pt x="42799" y="70231"/>
                </a:lnTo>
                <a:lnTo>
                  <a:pt x="36830" y="73152"/>
                </a:lnTo>
                <a:lnTo>
                  <a:pt x="33909" y="76073"/>
                </a:lnTo>
                <a:lnTo>
                  <a:pt x="112958" y="76073"/>
                </a:lnTo>
                <a:lnTo>
                  <a:pt x="109220" y="73279"/>
                </a:lnTo>
                <a:lnTo>
                  <a:pt x="97155" y="67310"/>
                </a:lnTo>
                <a:lnTo>
                  <a:pt x="85089" y="64389"/>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69" name="bk object 70"/>
          <p:cNvSpPr/>
          <p:nvPr/>
        </p:nvSpPr>
        <p:spPr>
          <a:xfrm>
            <a:off x="5758200" y="629316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473" h="202564">
                <a:moveTo>
                  <a:pt x="93599" y="2921"/>
                </a:moveTo>
                <a:lnTo>
                  <a:pt x="42290" y="2921"/>
                </a:lnTo>
                <a:lnTo>
                  <a:pt x="30225" y="11938"/>
                </a:lnTo>
                <a:lnTo>
                  <a:pt x="15239" y="26924"/>
                </a:lnTo>
                <a:lnTo>
                  <a:pt x="12319" y="32893"/>
                </a:lnTo>
                <a:lnTo>
                  <a:pt x="9398" y="41910"/>
                </a:lnTo>
                <a:lnTo>
                  <a:pt x="6476" y="53975"/>
                </a:lnTo>
                <a:lnTo>
                  <a:pt x="508" y="75184"/>
                </a:lnTo>
                <a:lnTo>
                  <a:pt x="508" y="102616"/>
                </a:lnTo>
                <a:lnTo>
                  <a:pt x="0" y="102870"/>
                </a:lnTo>
                <a:lnTo>
                  <a:pt x="0" y="130302"/>
                </a:lnTo>
                <a:lnTo>
                  <a:pt x="5969" y="148463"/>
                </a:lnTo>
                <a:lnTo>
                  <a:pt x="8889" y="160528"/>
                </a:lnTo>
                <a:lnTo>
                  <a:pt x="11811" y="169545"/>
                </a:lnTo>
                <a:lnTo>
                  <a:pt x="29845" y="193675"/>
                </a:lnTo>
                <a:lnTo>
                  <a:pt x="41910" y="199644"/>
                </a:lnTo>
                <a:lnTo>
                  <a:pt x="53975" y="202565"/>
                </a:lnTo>
                <a:lnTo>
                  <a:pt x="81407" y="202565"/>
                </a:lnTo>
                <a:lnTo>
                  <a:pt x="93472" y="199644"/>
                </a:lnTo>
                <a:lnTo>
                  <a:pt x="105537" y="193675"/>
                </a:lnTo>
                <a:lnTo>
                  <a:pt x="115123" y="180848"/>
                </a:lnTo>
                <a:lnTo>
                  <a:pt x="66675" y="180848"/>
                </a:lnTo>
                <a:lnTo>
                  <a:pt x="60706" y="177927"/>
                </a:lnTo>
                <a:lnTo>
                  <a:pt x="51688" y="177927"/>
                </a:lnTo>
                <a:lnTo>
                  <a:pt x="39877" y="166116"/>
                </a:lnTo>
                <a:lnTo>
                  <a:pt x="33909" y="154038"/>
                </a:lnTo>
                <a:lnTo>
                  <a:pt x="28066" y="123825"/>
                </a:lnTo>
                <a:lnTo>
                  <a:pt x="27939" y="102616"/>
                </a:lnTo>
                <a:lnTo>
                  <a:pt x="27964" y="78232"/>
                </a:lnTo>
                <a:lnTo>
                  <a:pt x="33782" y="48133"/>
                </a:lnTo>
                <a:lnTo>
                  <a:pt x="45720" y="30099"/>
                </a:lnTo>
                <a:lnTo>
                  <a:pt x="48640" y="27178"/>
                </a:lnTo>
                <a:lnTo>
                  <a:pt x="51562" y="27178"/>
                </a:lnTo>
                <a:lnTo>
                  <a:pt x="60578" y="24257"/>
                </a:lnTo>
                <a:lnTo>
                  <a:pt x="117982" y="24257"/>
                </a:lnTo>
                <a:lnTo>
                  <a:pt x="105663" y="11938"/>
                </a:lnTo>
                <a:lnTo>
                  <a:pt x="93599" y="2921"/>
                </a:lnTo>
                <a:close/>
              </a:path>
              <a:path w="135473" h="202564">
                <a:moveTo>
                  <a:pt x="117982" y="24257"/>
                </a:moveTo>
                <a:lnTo>
                  <a:pt x="75691" y="24257"/>
                </a:lnTo>
                <a:lnTo>
                  <a:pt x="84709" y="27178"/>
                </a:lnTo>
                <a:lnTo>
                  <a:pt x="90677" y="30099"/>
                </a:lnTo>
                <a:lnTo>
                  <a:pt x="102615" y="48133"/>
                </a:lnTo>
                <a:lnTo>
                  <a:pt x="105537" y="57150"/>
                </a:lnTo>
                <a:lnTo>
                  <a:pt x="105537" y="63119"/>
                </a:lnTo>
                <a:lnTo>
                  <a:pt x="108458" y="78232"/>
                </a:lnTo>
                <a:lnTo>
                  <a:pt x="108458" y="123825"/>
                </a:lnTo>
                <a:lnTo>
                  <a:pt x="105537" y="138938"/>
                </a:lnTo>
                <a:lnTo>
                  <a:pt x="105537" y="147955"/>
                </a:lnTo>
                <a:lnTo>
                  <a:pt x="102559" y="154038"/>
                </a:lnTo>
                <a:lnTo>
                  <a:pt x="96647" y="165989"/>
                </a:lnTo>
                <a:lnTo>
                  <a:pt x="84709" y="177927"/>
                </a:lnTo>
                <a:lnTo>
                  <a:pt x="75691" y="177927"/>
                </a:lnTo>
                <a:lnTo>
                  <a:pt x="66675" y="180848"/>
                </a:lnTo>
                <a:lnTo>
                  <a:pt x="115123" y="180848"/>
                </a:lnTo>
                <a:lnTo>
                  <a:pt x="123571" y="169545"/>
                </a:lnTo>
                <a:lnTo>
                  <a:pt x="129539" y="148336"/>
                </a:lnTo>
                <a:lnTo>
                  <a:pt x="135467" y="130302"/>
                </a:lnTo>
                <a:lnTo>
                  <a:pt x="135473" y="75184"/>
                </a:lnTo>
                <a:lnTo>
                  <a:pt x="123571" y="32893"/>
                </a:lnTo>
                <a:lnTo>
                  <a:pt x="120650" y="26924"/>
                </a:lnTo>
                <a:lnTo>
                  <a:pt x="117982" y="24257"/>
                </a:lnTo>
                <a:close/>
              </a:path>
              <a:path w="135473" h="202564">
                <a:moveTo>
                  <a:pt x="81661" y="0"/>
                </a:moveTo>
                <a:lnTo>
                  <a:pt x="54228"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0" name="bk object 71"/>
          <p:cNvSpPr/>
          <p:nvPr/>
        </p:nvSpPr>
        <p:spPr>
          <a:xfrm>
            <a:off x="59263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1" name="bk object 72"/>
          <p:cNvSpPr/>
          <p:nvPr/>
        </p:nvSpPr>
        <p:spPr>
          <a:xfrm>
            <a:off x="5986800" y="6292440"/>
            <a:ext cx="137520" cy="201600"/>
          </a:xfrm>
          <a:custGeom>
            <a:avLst/>
            <a:gdLst>
              <a:gd name="textAreaLeft" fmla="*/ 0 w 137520"/>
              <a:gd name="textAreaRight" fmla="*/ 138240 w 137520"/>
              <a:gd name="textAreaTop" fmla="*/ 0 h 201600"/>
              <a:gd name="textAreaBottom" fmla="*/ 202320 h 201600"/>
            </a:gdLst>
            <a:ahLst/>
            <a:cxnLst/>
            <a:rect l="textAreaLeft" t="textAreaTop" r="textAreaRight" b="textAreaBottom"/>
            <a:pathLst>
              <a:path w="138303" h="202311">
                <a:moveTo>
                  <a:pt x="90424" y="0"/>
                </a:moveTo>
                <a:lnTo>
                  <a:pt x="60071" y="0"/>
                </a:lnTo>
                <a:lnTo>
                  <a:pt x="48006" y="5969"/>
                </a:lnTo>
                <a:lnTo>
                  <a:pt x="32893" y="11925"/>
                </a:lnTo>
                <a:lnTo>
                  <a:pt x="14859" y="36068"/>
                </a:lnTo>
                <a:lnTo>
                  <a:pt x="5842" y="57277"/>
                </a:lnTo>
                <a:lnTo>
                  <a:pt x="2921" y="78486"/>
                </a:lnTo>
                <a:lnTo>
                  <a:pt x="0" y="90551"/>
                </a:lnTo>
                <a:lnTo>
                  <a:pt x="87" y="130810"/>
                </a:lnTo>
                <a:lnTo>
                  <a:pt x="2921" y="151384"/>
                </a:lnTo>
                <a:lnTo>
                  <a:pt x="11937" y="169545"/>
                </a:lnTo>
                <a:lnTo>
                  <a:pt x="14859" y="178562"/>
                </a:lnTo>
                <a:lnTo>
                  <a:pt x="20700" y="184404"/>
                </a:lnTo>
                <a:lnTo>
                  <a:pt x="32766" y="193421"/>
                </a:lnTo>
                <a:lnTo>
                  <a:pt x="44831" y="199390"/>
                </a:lnTo>
                <a:lnTo>
                  <a:pt x="56896" y="202311"/>
                </a:lnTo>
                <a:lnTo>
                  <a:pt x="84328" y="202311"/>
                </a:lnTo>
                <a:lnTo>
                  <a:pt x="96393" y="199390"/>
                </a:lnTo>
                <a:lnTo>
                  <a:pt x="108458" y="193421"/>
                </a:lnTo>
                <a:lnTo>
                  <a:pt x="120142" y="181737"/>
                </a:lnTo>
                <a:lnTo>
                  <a:pt x="59182" y="181737"/>
                </a:lnTo>
                <a:lnTo>
                  <a:pt x="50164" y="178816"/>
                </a:lnTo>
                <a:lnTo>
                  <a:pt x="44196" y="172847"/>
                </a:lnTo>
                <a:lnTo>
                  <a:pt x="38226" y="169926"/>
                </a:lnTo>
                <a:lnTo>
                  <a:pt x="38226" y="167005"/>
                </a:lnTo>
                <a:lnTo>
                  <a:pt x="32385" y="155067"/>
                </a:lnTo>
                <a:lnTo>
                  <a:pt x="29463" y="146050"/>
                </a:lnTo>
                <a:lnTo>
                  <a:pt x="29463" y="127889"/>
                </a:lnTo>
                <a:lnTo>
                  <a:pt x="32385" y="121920"/>
                </a:lnTo>
                <a:lnTo>
                  <a:pt x="35306" y="112903"/>
                </a:lnTo>
                <a:lnTo>
                  <a:pt x="41275" y="106934"/>
                </a:lnTo>
                <a:lnTo>
                  <a:pt x="47244" y="104000"/>
                </a:lnTo>
                <a:lnTo>
                  <a:pt x="53212" y="98044"/>
                </a:lnTo>
                <a:lnTo>
                  <a:pt x="127508" y="98044"/>
                </a:lnTo>
                <a:lnTo>
                  <a:pt x="123444" y="93980"/>
                </a:lnTo>
                <a:lnTo>
                  <a:pt x="27050" y="93980"/>
                </a:lnTo>
                <a:lnTo>
                  <a:pt x="29972" y="81915"/>
                </a:lnTo>
                <a:lnTo>
                  <a:pt x="29972" y="66802"/>
                </a:lnTo>
                <a:lnTo>
                  <a:pt x="32893" y="54737"/>
                </a:lnTo>
                <a:lnTo>
                  <a:pt x="38862" y="42672"/>
                </a:lnTo>
                <a:lnTo>
                  <a:pt x="53721" y="27800"/>
                </a:lnTo>
                <a:lnTo>
                  <a:pt x="59689" y="24892"/>
                </a:lnTo>
                <a:lnTo>
                  <a:pt x="65659" y="24892"/>
                </a:lnTo>
                <a:lnTo>
                  <a:pt x="74675" y="21971"/>
                </a:lnTo>
                <a:lnTo>
                  <a:pt x="125432" y="21971"/>
                </a:lnTo>
                <a:lnTo>
                  <a:pt x="123444" y="17907"/>
                </a:lnTo>
                <a:lnTo>
                  <a:pt x="114426" y="8890"/>
                </a:lnTo>
                <a:lnTo>
                  <a:pt x="102362" y="2921"/>
                </a:lnTo>
                <a:lnTo>
                  <a:pt x="96393" y="2921"/>
                </a:lnTo>
                <a:lnTo>
                  <a:pt x="90424" y="0"/>
                </a:lnTo>
                <a:close/>
              </a:path>
              <a:path w="138303" h="202311">
                <a:moveTo>
                  <a:pt x="127508" y="98044"/>
                </a:moveTo>
                <a:lnTo>
                  <a:pt x="80645" y="98044"/>
                </a:lnTo>
                <a:lnTo>
                  <a:pt x="92583" y="103886"/>
                </a:lnTo>
                <a:lnTo>
                  <a:pt x="104521" y="115824"/>
                </a:lnTo>
                <a:lnTo>
                  <a:pt x="107442" y="121793"/>
                </a:lnTo>
                <a:lnTo>
                  <a:pt x="107442" y="130810"/>
                </a:lnTo>
                <a:lnTo>
                  <a:pt x="110362" y="139827"/>
                </a:lnTo>
                <a:lnTo>
                  <a:pt x="110109" y="139954"/>
                </a:lnTo>
                <a:lnTo>
                  <a:pt x="107187" y="145923"/>
                </a:lnTo>
                <a:lnTo>
                  <a:pt x="107146" y="155067"/>
                </a:lnTo>
                <a:lnTo>
                  <a:pt x="104267" y="163957"/>
                </a:lnTo>
                <a:lnTo>
                  <a:pt x="98298" y="169926"/>
                </a:lnTo>
                <a:lnTo>
                  <a:pt x="92329" y="172847"/>
                </a:lnTo>
                <a:lnTo>
                  <a:pt x="86360" y="178816"/>
                </a:lnTo>
                <a:lnTo>
                  <a:pt x="80391" y="181737"/>
                </a:lnTo>
                <a:lnTo>
                  <a:pt x="120142" y="181737"/>
                </a:lnTo>
                <a:lnTo>
                  <a:pt x="126492" y="175387"/>
                </a:lnTo>
                <a:lnTo>
                  <a:pt x="132461" y="163322"/>
                </a:lnTo>
                <a:lnTo>
                  <a:pt x="138303" y="139192"/>
                </a:lnTo>
                <a:lnTo>
                  <a:pt x="135382" y="124079"/>
                </a:lnTo>
                <a:lnTo>
                  <a:pt x="135382" y="115062"/>
                </a:lnTo>
                <a:lnTo>
                  <a:pt x="129412" y="99949"/>
                </a:lnTo>
                <a:lnTo>
                  <a:pt x="127508" y="98044"/>
                </a:lnTo>
                <a:close/>
              </a:path>
              <a:path w="138303" h="202311">
                <a:moveTo>
                  <a:pt x="84328" y="73152"/>
                </a:moveTo>
                <a:lnTo>
                  <a:pt x="60071" y="73152"/>
                </a:lnTo>
                <a:lnTo>
                  <a:pt x="51054" y="76073"/>
                </a:lnTo>
                <a:lnTo>
                  <a:pt x="33020" y="88011"/>
                </a:lnTo>
                <a:lnTo>
                  <a:pt x="27050" y="93980"/>
                </a:lnTo>
                <a:lnTo>
                  <a:pt x="123444" y="93980"/>
                </a:lnTo>
                <a:lnTo>
                  <a:pt x="111379" y="81915"/>
                </a:lnTo>
                <a:lnTo>
                  <a:pt x="99441" y="76073"/>
                </a:lnTo>
                <a:lnTo>
                  <a:pt x="84328" y="73152"/>
                </a:lnTo>
                <a:close/>
              </a:path>
              <a:path w="138303" h="202311">
                <a:moveTo>
                  <a:pt x="125432" y="21971"/>
                </a:moveTo>
                <a:lnTo>
                  <a:pt x="74675" y="21971"/>
                </a:lnTo>
                <a:lnTo>
                  <a:pt x="83693" y="24892"/>
                </a:lnTo>
                <a:lnTo>
                  <a:pt x="89662" y="24892"/>
                </a:lnTo>
                <a:lnTo>
                  <a:pt x="95631" y="27800"/>
                </a:lnTo>
                <a:lnTo>
                  <a:pt x="101600" y="33782"/>
                </a:lnTo>
                <a:lnTo>
                  <a:pt x="107442" y="45720"/>
                </a:lnTo>
                <a:lnTo>
                  <a:pt x="107442" y="51689"/>
                </a:lnTo>
                <a:lnTo>
                  <a:pt x="110362" y="54610"/>
                </a:lnTo>
                <a:lnTo>
                  <a:pt x="134620" y="54610"/>
                </a:lnTo>
                <a:lnTo>
                  <a:pt x="135255" y="53848"/>
                </a:lnTo>
                <a:lnTo>
                  <a:pt x="135255" y="44831"/>
                </a:lnTo>
                <a:lnTo>
                  <a:pt x="132334" y="38862"/>
                </a:lnTo>
                <a:lnTo>
                  <a:pt x="132334" y="32893"/>
                </a:lnTo>
                <a:lnTo>
                  <a:pt x="126364" y="23876"/>
                </a:lnTo>
                <a:lnTo>
                  <a:pt x="125432" y="21971"/>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2" name="bk object 73"/>
          <p:cNvSpPr/>
          <p:nvPr/>
        </p:nvSpPr>
        <p:spPr>
          <a:xfrm>
            <a:off x="6350040" y="6293520"/>
            <a:ext cx="134280" cy="201600"/>
          </a:xfrm>
          <a:custGeom>
            <a:avLst/>
            <a:gdLst>
              <a:gd name="textAreaLeft" fmla="*/ 0 w 134280"/>
              <a:gd name="textAreaRight" fmla="*/ 135000 w 134280"/>
              <a:gd name="textAreaTop" fmla="*/ 0 h 201600"/>
              <a:gd name="textAreaBottom" fmla="*/ 202320 h 201600"/>
            </a:gdLst>
            <a:ahLst/>
            <a:cxnLst/>
            <a:rect l="textAreaLeft" t="textAreaTop" r="textAreaRight" b="textAreaBottom"/>
            <a:pathLst>
              <a:path w="134929" h="202437">
                <a:moveTo>
                  <a:pt x="93090" y="2920"/>
                </a:moveTo>
                <a:lnTo>
                  <a:pt x="41782" y="2920"/>
                </a:lnTo>
                <a:lnTo>
                  <a:pt x="29717" y="11937"/>
                </a:lnTo>
                <a:lnTo>
                  <a:pt x="14731" y="26911"/>
                </a:lnTo>
                <a:lnTo>
                  <a:pt x="11811" y="32892"/>
                </a:lnTo>
                <a:lnTo>
                  <a:pt x="8889" y="41909"/>
                </a:lnTo>
                <a:lnTo>
                  <a:pt x="5968" y="53974"/>
                </a:lnTo>
                <a:lnTo>
                  <a:pt x="3048" y="62991"/>
                </a:lnTo>
                <a:lnTo>
                  <a:pt x="126" y="75056"/>
                </a:lnTo>
                <a:lnTo>
                  <a:pt x="0" y="130428"/>
                </a:lnTo>
                <a:lnTo>
                  <a:pt x="5841" y="148462"/>
                </a:lnTo>
                <a:lnTo>
                  <a:pt x="8762" y="160527"/>
                </a:lnTo>
                <a:lnTo>
                  <a:pt x="11683" y="169544"/>
                </a:lnTo>
                <a:lnTo>
                  <a:pt x="14604" y="175513"/>
                </a:lnTo>
                <a:lnTo>
                  <a:pt x="20574" y="181482"/>
                </a:lnTo>
                <a:lnTo>
                  <a:pt x="29590" y="193547"/>
                </a:lnTo>
                <a:lnTo>
                  <a:pt x="47625" y="202437"/>
                </a:lnTo>
                <a:lnTo>
                  <a:pt x="81025" y="202437"/>
                </a:lnTo>
                <a:lnTo>
                  <a:pt x="93090" y="199516"/>
                </a:lnTo>
                <a:lnTo>
                  <a:pt x="105155" y="193547"/>
                </a:lnTo>
                <a:lnTo>
                  <a:pt x="114185" y="181482"/>
                </a:lnTo>
                <a:lnTo>
                  <a:pt x="114692" y="180974"/>
                </a:lnTo>
                <a:lnTo>
                  <a:pt x="69341" y="180974"/>
                </a:lnTo>
                <a:lnTo>
                  <a:pt x="60325" y="178053"/>
                </a:lnTo>
                <a:lnTo>
                  <a:pt x="51307" y="178053"/>
                </a:lnTo>
                <a:lnTo>
                  <a:pt x="39369" y="166115"/>
                </a:lnTo>
                <a:lnTo>
                  <a:pt x="33400" y="154050"/>
                </a:lnTo>
                <a:lnTo>
                  <a:pt x="27558" y="123824"/>
                </a:lnTo>
                <a:lnTo>
                  <a:pt x="27431" y="78231"/>
                </a:lnTo>
                <a:lnTo>
                  <a:pt x="33274" y="48005"/>
                </a:lnTo>
                <a:lnTo>
                  <a:pt x="45212" y="29971"/>
                </a:lnTo>
                <a:lnTo>
                  <a:pt x="51180" y="27050"/>
                </a:lnTo>
                <a:lnTo>
                  <a:pt x="60198" y="24129"/>
                </a:lnTo>
                <a:lnTo>
                  <a:pt x="117358" y="24129"/>
                </a:lnTo>
                <a:lnTo>
                  <a:pt x="105155" y="11937"/>
                </a:lnTo>
                <a:lnTo>
                  <a:pt x="93090" y="2920"/>
                </a:lnTo>
                <a:close/>
              </a:path>
              <a:path w="134929" h="202437">
                <a:moveTo>
                  <a:pt x="117358" y="24129"/>
                </a:moveTo>
                <a:lnTo>
                  <a:pt x="75311" y="24129"/>
                </a:lnTo>
                <a:lnTo>
                  <a:pt x="84327" y="27050"/>
                </a:lnTo>
                <a:lnTo>
                  <a:pt x="90296" y="29971"/>
                </a:lnTo>
                <a:lnTo>
                  <a:pt x="102235" y="48005"/>
                </a:lnTo>
                <a:lnTo>
                  <a:pt x="108076" y="78231"/>
                </a:lnTo>
                <a:lnTo>
                  <a:pt x="108076" y="123824"/>
                </a:lnTo>
                <a:lnTo>
                  <a:pt x="102235" y="154050"/>
                </a:lnTo>
                <a:lnTo>
                  <a:pt x="96265" y="166115"/>
                </a:lnTo>
                <a:lnTo>
                  <a:pt x="84327" y="178053"/>
                </a:lnTo>
                <a:lnTo>
                  <a:pt x="75311" y="178053"/>
                </a:lnTo>
                <a:lnTo>
                  <a:pt x="69341" y="180974"/>
                </a:lnTo>
                <a:lnTo>
                  <a:pt x="114692" y="180974"/>
                </a:lnTo>
                <a:lnTo>
                  <a:pt x="120141" y="175513"/>
                </a:lnTo>
                <a:lnTo>
                  <a:pt x="123062" y="169544"/>
                </a:lnTo>
                <a:lnTo>
                  <a:pt x="129031" y="148335"/>
                </a:lnTo>
                <a:lnTo>
                  <a:pt x="134917" y="130428"/>
                </a:lnTo>
                <a:lnTo>
                  <a:pt x="134929" y="75056"/>
                </a:lnTo>
                <a:lnTo>
                  <a:pt x="123062" y="32892"/>
                </a:lnTo>
                <a:lnTo>
                  <a:pt x="120141" y="26911"/>
                </a:lnTo>
                <a:lnTo>
                  <a:pt x="117358" y="24129"/>
                </a:lnTo>
                <a:close/>
              </a:path>
              <a:path w="134929" h="202437">
                <a:moveTo>
                  <a:pt x="81152" y="0"/>
                </a:moveTo>
                <a:lnTo>
                  <a:pt x="53720" y="0"/>
                </a:lnTo>
                <a:lnTo>
                  <a:pt x="47751" y="2920"/>
                </a:lnTo>
                <a:lnTo>
                  <a:pt x="87121" y="2920"/>
                </a:lnTo>
                <a:lnTo>
                  <a:pt x="81152"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3" name="bk object 74"/>
          <p:cNvSpPr/>
          <p:nvPr/>
        </p:nvSpPr>
        <p:spPr>
          <a:xfrm>
            <a:off x="65174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4" name="bk object 75"/>
          <p:cNvSpPr/>
          <p:nvPr/>
        </p:nvSpPr>
        <p:spPr>
          <a:xfrm>
            <a:off x="6577200" y="6300000"/>
            <a:ext cx="133200" cy="192960"/>
          </a:xfrm>
          <a:custGeom>
            <a:avLst/>
            <a:gdLst>
              <a:gd name="textAreaLeft" fmla="*/ 0 w 133200"/>
              <a:gd name="textAreaRight" fmla="*/ 133920 w 133200"/>
              <a:gd name="textAreaTop" fmla="*/ 0 h 192960"/>
              <a:gd name="textAreaBottom" fmla="*/ 193680 h 192960"/>
            </a:gdLst>
            <a:ahLst/>
            <a:cxnLst/>
            <a:rect l="textAreaLeft" t="textAreaTop" r="textAreaRight" b="textAreaBottom"/>
            <a:pathLst>
              <a:path w="133984" h="193675">
                <a:moveTo>
                  <a:pt x="133984" y="0"/>
                </a:moveTo>
                <a:lnTo>
                  <a:pt x="0" y="0"/>
                </a:lnTo>
                <a:lnTo>
                  <a:pt x="0" y="24256"/>
                </a:lnTo>
                <a:lnTo>
                  <a:pt x="106679" y="24256"/>
                </a:lnTo>
                <a:lnTo>
                  <a:pt x="94615" y="39369"/>
                </a:lnTo>
                <a:lnTo>
                  <a:pt x="91694" y="45338"/>
                </a:lnTo>
                <a:lnTo>
                  <a:pt x="76580" y="60451"/>
                </a:lnTo>
                <a:lnTo>
                  <a:pt x="70611" y="69468"/>
                </a:lnTo>
                <a:lnTo>
                  <a:pt x="67691" y="78485"/>
                </a:lnTo>
                <a:lnTo>
                  <a:pt x="55625" y="102730"/>
                </a:lnTo>
                <a:lnTo>
                  <a:pt x="43687" y="120776"/>
                </a:lnTo>
                <a:lnTo>
                  <a:pt x="37656" y="142240"/>
                </a:lnTo>
                <a:lnTo>
                  <a:pt x="31750" y="166230"/>
                </a:lnTo>
                <a:lnTo>
                  <a:pt x="31750" y="175259"/>
                </a:lnTo>
                <a:lnTo>
                  <a:pt x="28828" y="193420"/>
                </a:lnTo>
                <a:lnTo>
                  <a:pt x="28575" y="193675"/>
                </a:lnTo>
                <a:lnTo>
                  <a:pt x="56006" y="193675"/>
                </a:lnTo>
                <a:lnTo>
                  <a:pt x="58927" y="172465"/>
                </a:lnTo>
                <a:lnTo>
                  <a:pt x="61849" y="160400"/>
                </a:lnTo>
                <a:lnTo>
                  <a:pt x="67889" y="141985"/>
                </a:lnTo>
                <a:lnTo>
                  <a:pt x="73786" y="121031"/>
                </a:lnTo>
                <a:lnTo>
                  <a:pt x="82803" y="99822"/>
                </a:lnTo>
                <a:lnTo>
                  <a:pt x="91821" y="81660"/>
                </a:lnTo>
                <a:lnTo>
                  <a:pt x="103885" y="63500"/>
                </a:lnTo>
                <a:lnTo>
                  <a:pt x="112902" y="48387"/>
                </a:lnTo>
                <a:lnTo>
                  <a:pt x="121920" y="39369"/>
                </a:lnTo>
                <a:lnTo>
                  <a:pt x="133984" y="21209"/>
                </a:lnTo>
                <a:lnTo>
                  <a:pt x="133984"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5" name="bk object 76"/>
          <p:cNvSpPr/>
          <p:nvPr/>
        </p:nvSpPr>
        <p:spPr>
          <a:xfrm>
            <a:off x="6941160" y="6293160"/>
            <a:ext cx="134280" cy="201240"/>
          </a:xfrm>
          <a:custGeom>
            <a:avLst/>
            <a:gdLst>
              <a:gd name="textAreaLeft" fmla="*/ 0 w 134280"/>
              <a:gd name="textAreaRight" fmla="*/ 135000 w 134280"/>
              <a:gd name="textAreaTop" fmla="*/ 0 h 201240"/>
              <a:gd name="textAreaBottom" fmla="*/ 201960 h 201240"/>
            </a:gdLst>
            <a:ahLst/>
            <a:cxnLst/>
            <a:rect l="textAreaLeft" t="textAreaTop" r="textAreaRight" b="textAreaBottom"/>
            <a:pathLst>
              <a:path w="135127" h="201929">
                <a:moveTo>
                  <a:pt x="93345" y="2921"/>
                </a:moveTo>
                <a:lnTo>
                  <a:pt x="42037" y="2921"/>
                </a:lnTo>
                <a:lnTo>
                  <a:pt x="29972" y="11938"/>
                </a:lnTo>
                <a:lnTo>
                  <a:pt x="6223" y="53975"/>
                </a:lnTo>
                <a:lnTo>
                  <a:pt x="380" y="102616"/>
                </a:lnTo>
                <a:lnTo>
                  <a:pt x="40" y="102616"/>
                </a:lnTo>
                <a:lnTo>
                  <a:pt x="5842" y="147828"/>
                </a:lnTo>
                <a:lnTo>
                  <a:pt x="20700" y="180975"/>
                </a:lnTo>
                <a:lnTo>
                  <a:pt x="29718" y="193040"/>
                </a:lnTo>
                <a:lnTo>
                  <a:pt x="41782" y="199009"/>
                </a:lnTo>
                <a:lnTo>
                  <a:pt x="53848" y="201930"/>
                </a:lnTo>
                <a:lnTo>
                  <a:pt x="81279" y="201930"/>
                </a:lnTo>
                <a:lnTo>
                  <a:pt x="93345" y="199009"/>
                </a:lnTo>
                <a:lnTo>
                  <a:pt x="105410" y="193040"/>
                </a:lnTo>
                <a:lnTo>
                  <a:pt x="114332" y="181102"/>
                </a:lnTo>
                <a:lnTo>
                  <a:pt x="69596" y="181102"/>
                </a:lnTo>
                <a:lnTo>
                  <a:pt x="60578" y="178181"/>
                </a:lnTo>
                <a:lnTo>
                  <a:pt x="51562" y="178181"/>
                </a:lnTo>
                <a:lnTo>
                  <a:pt x="39624" y="166243"/>
                </a:lnTo>
                <a:lnTo>
                  <a:pt x="33654" y="154178"/>
                </a:lnTo>
                <a:lnTo>
                  <a:pt x="27813" y="123952"/>
                </a:lnTo>
                <a:lnTo>
                  <a:pt x="27686" y="102616"/>
                </a:lnTo>
                <a:lnTo>
                  <a:pt x="380" y="102616"/>
                </a:lnTo>
                <a:lnTo>
                  <a:pt x="0" y="102235"/>
                </a:lnTo>
                <a:lnTo>
                  <a:pt x="27686" y="102235"/>
                </a:lnTo>
                <a:lnTo>
                  <a:pt x="27686" y="78359"/>
                </a:lnTo>
                <a:lnTo>
                  <a:pt x="33527" y="48133"/>
                </a:lnTo>
                <a:lnTo>
                  <a:pt x="45466" y="30099"/>
                </a:lnTo>
                <a:lnTo>
                  <a:pt x="51435" y="27178"/>
                </a:lnTo>
                <a:lnTo>
                  <a:pt x="60451" y="24257"/>
                </a:lnTo>
                <a:lnTo>
                  <a:pt x="117728" y="24257"/>
                </a:lnTo>
                <a:lnTo>
                  <a:pt x="105410" y="11938"/>
                </a:lnTo>
                <a:lnTo>
                  <a:pt x="93345" y="2921"/>
                </a:lnTo>
                <a:close/>
              </a:path>
              <a:path w="135127" h="201929">
                <a:moveTo>
                  <a:pt x="117728" y="24257"/>
                </a:moveTo>
                <a:lnTo>
                  <a:pt x="78613" y="24257"/>
                </a:lnTo>
                <a:lnTo>
                  <a:pt x="90550" y="30099"/>
                </a:lnTo>
                <a:lnTo>
                  <a:pt x="102489" y="48133"/>
                </a:lnTo>
                <a:lnTo>
                  <a:pt x="108330" y="78359"/>
                </a:lnTo>
                <a:lnTo>
                  <a:pt x="108330" y="123952"/>
                </a:lnTo>
                <a:lnTo>
                  <a:pt x="102489" y="154178"/>
                </a:lnTo>
                <a:lnTo>
                  <a:pt x="96520" y="166243"/>
                </a:lnTo>
                <a:lnTo>
                  <a:pt x="84581" y="178181"/>
                </a:lnTo>
                <a:lnTo>
                  <a:pt x="78613" y="178181"/>
                </a:lnTo>
                <a:lnTo>
                  <a:pt x="69596" y="181102"/>
                </a:lnTo>
                <a:lnTo>
                  <a:pt x="114332" y="181102"/>
                </a:lnTo>
                <a:lnTo>
                  <a:pt x="114426" y="180975"/>
                </a:lnTo>
                <a:lnTo>
                  <a:pt x="120396" y="175006"/>
                </a:lnTo>
                <a:lnTo>
                  <a:pt x="123317" y="169037"/>
                </a:lnTo>
                <a:lnTo>
                  <a:pt x="129286" y="160020"/>
                </a:lnTo>
                <a:lnTo>
                  <a:pt x="132206" y="147955"/>
                </a:lnTo>
                <a:lnTo>
                  <a:pt x="132206" y="138938"/>
                </a:lnTo>
                <a:lnTo>
                  <a:pt x="135127" y="129921"/>
                </a:lnTo>
                <a:lnTo>
                  <a:pt x="135127" y="75057"/>
                </a:lnTo>
                <a:lnTo>
                  <a:pt x="132206" y="62992"/>
                </a:lnTo>
                <a:lnTo>
                  <a:pt x="132206" y="53975"/>
                </a:lnTo>
                <a:lnTo>
                  <a:pt x="129286" y="41910"/>
                </a:lnTo>
                <a:lnTo>
                  <a:pt x="123317" y="32893"/>
                </a:lnTo>
                <a:lnTo>
                  <a:pt x="120396" y="26924"/>
                </a:lnTo>
                <a:lnTo>
                  <a:pt x="117728" y="24257"/>
                </a:lnTo>
                <a:close/>
              </a:path>
              <a:path w="135127" h="201929">
                <a:moveTo>
                  <a:pt x="81406" y="0"/>
                </a:moveTo>
                <a:lnTo>
                  <a:pt x="53975" y="0"/>
                </a:lnTo>
                <a:lnTo>
                  <a:pt x="48005" y="2921"/>
                </a:lnTo>
                <a:lnTo>
                  <a:pt x="87375" y="2921"/>
                </a:lnTo>
                <a:lnTo>
                  <a:pt x="81406"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6" name="bk object 77"/>
          <p:cNvSpPr/>
          <p:nvPr/>
        </p:nvSpPr>
        <p:spPr>
          <a:xfrm>
            <a:off x="710892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7" name="bk object 78"/>
          <p:cNvSpPr/>
          <p:nvPr/>
        </p:nvSpPr>
        <p:spPr>
          <a:xfrm>
            <a:off x="7170480" y="6293880"/>
            <a:ext cx="134640" cy="199800"/>
          </a:xfrm>
          <a:custGeom>
            <a:avLst/>
            <a:gdLst>
              <a:gd name="textAreaLeft" fmla="*/ 0 w 134640"/>
              <a:gd name="textAreaRight" fmla="*/ 135360 w 134640"/>
              <a:gd name="textAreaTop" fmla="*/ 0 h 199800"/>
              <a:gd name="textAreaBottom" fmla="*/ 200520 h 199800"/>
            </a:gdLst>
            <a:ahLst/>
            <a:cxnLst/>
            <a:rect l="textAreaLeft" t="textAreaTop" r="textAreaRight" b="textAreaBottom"/>
            <a:pathLst>
              <a:path w="135254" h="200405">
                <a:moveTo>
                  <a:pt x="32493" y="89606"/>
                </a:moveTo>
                <a:lnTo>
                  <a:pt x="26669" y="92456"/>
                </a:lnTo>
                <a:lnTo>
                  <a:pt x="23749" y="95377"/>
                </a:lnTo>
                <a:lnTo>
                  <a:pt x="17779" y="98298"/>
                </a:lnTo>
                <a:lnTo>
                  <a:pt x="14858" y="101219"/>
                </a:lnTo>
                <a:lnTo>
                  <a:pt x="2920" y="119253"/>
                </a:lnTo>
                <a:lnTo>
                  <a:pt x="0" y="128270"/>
                </a:lnTo>
                <a:lnTo>
                  <a:pt x="0" y="140335"/>
                </a:lnTo>
                <a:lnTo>
                  <a:pt x="20827" y="188595"/>
                </a:lnTo>
                <a:lnTo>
                  <a:pt x="44957" y="197485"/>
                </a:lnTo>
                <a:lnTo>
                  <a:pt x="53975" y="200406"/>
                </a:lnTo>
                <a:lnTo>
                  <a:pt x="81406" y="200406"/>
                </a:lnTo>
                <a:lnTo>
                  <a:pt x="105536" y="194551"/>
                </a:lnTo>
                <a:lnTo>
                  <a:pt x="114553" y="188595"/>
                </a:lnTo>
                <a:lnTo>
                  <a:pt x="120523" y="182626"/>
                </a:lnTo>
                <a:lnTo>
                  <a:pt x="123071" y="177419"/>
                </a:lnTo>
                <a:lnTo>
                  <a:pt x="53593" y="177419"/>
                </a:lnTo>
                <a:lnTo>
                  <a:pt x="44576" y="174498"/>
                </a:lnTo>
                <a:lnTo>
                  <a:pt x="38734" y="168656"/>
                </a:lnTo>
                <a:lnTo>
                  <a:pt x="35813" y="162687"/>
                </a:lnTo>
                <a:lnTo>
                  <a:pt x="29844" y="156718"/>
                </a:lnTo>
                <a:lnTo>
                  <a:pt x="29844" y="150749"/>
                </a:lnTo>
                <a:lnTo>
                  <a:pt x="26924" y="141732"/>
                </a:lnTo>
                <a:lnTo>
                  <a:pt x="29844" y="132588"/>
                </a:lnTo>
                <a:lnTo>
                  <a:pt x="29844" y="123571"/>
                </a:lnTo>
                <a:lnTo>
                  <a:pt x="41655" y="111760"/>
                </a:lnTo>
                <a:lnTo>
                  <a:pt x="53593" y="105918"/>
                </a:lnTo>
                <a:lnTo>
                  <a:pt x="126386" y="105918"/>
                </a:lnTo>
                <a:lnTo>
                  <a:pt x="123443" y="101473"/>
                </a:lnTo>
                <a:lnTo>
                  <a:pt x="111505" y="95631"/>
                </a:lnTo>
                <a:lnTo>
                  <a:pt x="108584" y="92710"/>
                </a:lnTo>
                <a:lnTo>
                  <a:pt x="102615" y="89776"/>
                </a:lnTo>
                <a:lnTo>
                  <a:pt x="33019" y="89776"/>
                </a:lnTo>
                <a:lnTo>
                  <a:pt x="32493" y="89606"/>
                </a:lnTo>
                <a:close/>
              </a:path>
              <a:path w="135254" h="200405">
                <a:moveTo>
                  <a:pt x="126386" y="105918"/>
                </a:moveTo>
                <a:lnTo>
                  <a:pt x="81025" y="105918"/>
                </a:lnTo>
                <a:lnTo>
                  <a:pt x="90042" y="108826"/>
                </a:lnTo>
                <a:lnTo>
                  <a:pt x="96011" y="111760"/>
                </a:lnTo>
                <a:lnTo>
                  <a:pt x="101980" y="117729"/>
                </a:lnTo>
                <a:lnTo>
                  <a:pt x="104839" y="123571"/>
                </a:lnTo>
                <a:lnTo>
                  <a:pt x="104901" y="126619"/>
                </a:lnTo>
                <a:lnTo>
                  <a:pt x="107823" y="132588"/>
                </a:lnTo>
                <a:lnTo>
                  <a:pt x="107823" y="150749"/>
                </a:lnTo>
                <a:lnTo>
                  <a:pt x="104901" y="156718"/>
                </a:lnTo>
                <a:lnTo>
                  <a:pt x="104901" y="159626"/>
                </a:lnTo>
                <a:lnTo>
                  <a:pt x="90042" y="174498"/>
                </a:lnTo>
                <a:lnTo>
                  <a:pt x="81025" y="177419"/>
                </a:lnTo>
                <a:lnTo>
                  <a:pt x="123071" y="177419"/>
                </a:lnTo>
                <a:lnTo>
                  <a:pt x="126364" y="170688"/>
                </a:lnTo>
                <a:lnTo>
                  <a:pt x="132333" y="164719"/>
                </a:lnTo>
                <a:lnTo>
                  <a:pt x="132333" y="158750"/>
                </a:lnTo>
                <a:lnTo>
                  <a:pt x="135254" y="152781"/>
                </a:lnTo>
                <a:lnTo>
                  <a:pt x="135172" y="128270"/>
                </a:lnTo>
                <a:lnTo>
                  <a:pt x="129412" y="110490"/>
                </a:lnTo>
                <a:lnTo>
                  <a:pt x="126386" y="105918"/>
                </a:lnTo>
                <a:close/>
              </a:path>
              <a:path w="135254" h="200405">
                <a:moveTo>
                  <a:pt x="103364" y="89535"/>
                </a:moveTo>
                <a:lnTo>
                  <a:pt x="32638" y="89535"/>
                </a:lnTo>
                <a:lnTo>
                  <a:pt x="33019" y="89776"/>
                </a:lnTo>
                <a:lnTo>
                  <a:pt x="102615" y="89776"/>
                </a:lnTo>
                <a:lnTo>
                  <a:pt x="103364" y="89535"/>
                </a:lnTo>
                <a:close/>
              </a:path>
              <a:path w="135254" h="200405">
                <a:moveTo>
                  <a:pt x="78485" y="0"/>
                </a:moveTo>
                <a:lnTo>
                  <a:pt x="57276" y="0"/>
                </a:lnTo>
                <a:lnTo>
                  <a:pt x="48259" y="2921"/>
                </a:lnTo>
                <a:lnTo>
                  <a:pt x="36194" y="5842"/>
                </a:lnTo>
                <a:lnTo>
                  <a:pt x="18160" y="17780"/>
                </a:lnTo>
                <a:lnTo>
                  <a:pt x="12191" y="26797"/>
                </a:lnTo>
                <a:lnTo>
                  <a:pt x="6350" y="50927"/>
                </a:lnTo>
                <a:lnTo>
                  <a:pt x="15112" y="77978"/>
                </a:lnTo>
                <a:lnTo>
                  <a:pt x="24002" y="86868"/>
                </a:lnTo>
                <a:lnTo>
                  <a:pt x="32493" y="89606"/>
                </a:lnTo>
                <a:lnTo>
                  <a:pt x="32638" y="89535"/>
                </a:lnTo>
                <a:lnTo>
                  <a:pt x="103364" y="89535"/>
                </a:lnTo>
                <a:lnTo>
                  <a:pt x="111632" y="86868"/>
                </a:lnTo>
                <a:lnTo>
                  <a:pt x="115570" y="82931"/>
                </a:lnTo>
                <a:lnTo>
                  <a:pt x="59689" y="82931"/>
                </a:lnTo>
                <a:lnTo>
                  <a:pt x="59689" y="80010"/>
                </a:lnTo>
                <a:lnTo>
                  <a:pt x="56768" y="80010"/>
                </a:lnTo>
                <a:lnTo>
                  <a:pt x="38861" y="71247"/>
                </a:lnTo>
                <a:lnTo>
                  <a:pt x="35940" y="65278"/>
                </a:lnTo>
                <a:lnTo>
                  <a:pt x="35940" y="59309"/>
                </a:lnTo>
                <a:lnTo>
                  <a:pt x="33019" y="50292"/>
                </a:lnTo>
                <a:lnTo>
                  <a:pt x="35940" y="44196"/>
                </a:lnTo>
                <a:lnTo>
                  <a:pt x="35940" y="38227"/>
                </a:lnTo>
                <a:lnTo>
                  <a:pt x="38861" y="32258"/>
                </a:lnTo>
                <a:lnTo>
                  <a:pt x="44830" y="29337"/>
                </a:lnTo>
                <a:lnTo>
                  <a:pt x="50800" y="23368"/>
                </a:lnTo>
                <a:lnTo>
                  <a:pt x="56768" y="23368"/>
                </a:lnTo>
                <a:lnTo>
                  <a:pt x="59689" y="20447"/>
                </a:lnTo>
                <a:lnTo>
                  <a:pt x="119367" y="20447"/>
                </a:lnTo>
                <a:lnTo>
                  <a:pt x="117601" y="17780"/>
                </a:lnTo>
                <a:lnTo>
                  <a:pt x="111632" y="11811"/>
                </a:lnTo>
                <a:lnTo>
                  <a:pt x="102615" y="5842"/>
                </a:lnTo>
                <a:lnTo>
                  <a:pt x="78485" y="0"/>
                </a:lnTo>
                <a:close/>
              </a:path>
              <a:path w="135254" h="200405">
                <a:moveTo>
                  <a:pt x="119367" y="20447"/>
                </a:moveTo>
                <a:lnTo>
                  <a:pt x="74815" y="20447"/>
                </a:lnTo>
                <a:lnTo>
                  <a:pt x="80772" y="23368"/>
                </a:lnTo>
                <a:lnTo>
                  <a:pt x="86740" y="23368"/>
                </a:lnTo>
                <a:lnTo>
                  <a:pt x="89661" y="29337"/>
                </a:lnTo>
                <a:lnTo>
                  <a:pt x="95630" y="32258"/>
                </a:lnTo>
                <a:lnTo>
                  <a:pt x="101473" y="44196"/>
                </a:lnTo>
                <a:lnTo>
                  <a:pt x="101473" y="59309"/>
                </a:lnTo>
                <a:lnTo>
                  <a:pt x="95630" y="71247"/>
                </a:lnTo>
                <a:lnTo>
                  <a:pt x="92709" y="74168"/>
                </a:lnTo>
                <a:lnTo>
                  <a:pt x="74815" y="82931"/>
                </a:lnTo>
                <a:lnTo>
                  <a:pt x="115570" y="82931"/>
                </a:lnTo>
                <a:lnTo>
                  <a:pt x="120523" y="77978"/>
                </a:lnTo>
                <a:lnTo>
                  <a:pt x="126491" y="68961"/>
                </a:lnTo>
                <a:lnTo>
                  <a:pt x="129412" y="59944"/>
                </a:lnTo>
                <a:lnTo>
                  <a:pt x="129412" y="50927"/>
                </a:lnTo>
                <a:lnTo>
                  <a:pt x="123570" y="26797"/>
                </a:lnTo>
                <a:lnTo>
                  <a:pt x="119367" y="20447"/>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8" name="bk object 79"/>
          <p:cNvSpPr/>
          <p:nvPr/>
        </p:nvSpPr>
        <p:spPr>
          <a:xfrm>
            <a:off x="7531920" y="6293160"/>
            <a:ext cx="134640" cy="201240"/>
          </a:xfrm>
          <a:custGeom>
            <a:avLst/>
            <a:gdLst>
              <a:gd name="textAreaLeft" fmla="*/ 0 w 134640"/>
              <a:gd name="textAreaRight" fmla="*/ 135360 w 134640"/>
              <a:gd name="textAreaTop" fmla="*/ 0 h 201240"/>
              <a:gd name="textAreaBottom" fmla="*/ 201960 h 201240"/>
            </a:gdLst>
            <a:ahLst/>
            <a:cxnLst/>
            <a:rect l="textAreaLeft" t="textAreaTop" r="textAreaRight" b="textAreaBottom"/>
            <a:pathLst>
              <a:path w="135394" h="202056">
                <a:moveTo>
                  <a:pt x="0" y="102235"/>
                </a:moveTo>
                <a:lnTo>
                  <a:pt x="5842" y="147828"/>
                </a:lnTo>
                <a:lnTo>
                  <a:pt x="29845" y="193167"/>
                </a:lnTo>
                <a:lnTo>
                  <a:pt x="53975" y="202057"/>
                </a:lnTo>
                <a:lnTo>
                  <a:pt x="81407" y="202057"/>
                </a:lnTo>
                <a:lnTo>
                  <a:pt x="93472" y="199136"/>
                </a:lnTo>
                <a:lnTo>
                  <a:pt x="105537" y="193167"/>
                </a:lnTo>
                <a:lnTo>
                  <a:pt x="117221" y="181483"/>
                </a:lnTo>
                <a:lnTo>
                  <a:pt x="69723" y="181483"/>
                </a:lnTo>
                <a:lnTo>
                  <a:pt x="60706" y="178562"/>
                </a:lnTo>
                <a:lnTo>
                  <a:pt x="51689" y="178562"/>
                </a:lnTo>
                <a:lnTo>
                  <a:pt x="39751" y="166624"/>
                </a:lnTo>
                <a:lnTo>
                  <a:pt x="36830" y="154559"/>
                </a:lnTo>
                <a:lnTo>
                  <a:pt x="33909" y="148590"/>
                </a:lnTo>
                <a:lnTo>
                  <a:pt x="30988" y="139573"/>
                </a:lnTo>
                <a:lnTo>
                  <a:pt x="30988" y="124460"/>
                </a:lnTo>
                <a:lnTo>
                  <a:pt x="28067" y="103238"/>
                </a:lnTo>
                <a:lnTo>
                  <a:pt x="27927" y="102616"/>
                </a:lnTo>
                <a:lnTo>
                  <a:pt x="635" y="102616"/>
                </a:lnTo>
                <a:lnTo>
                  <a:pt x="0" y="102235"/>
                </a:lnTo>
                <a:close/>
              </a:path>
              <a:path w="135394" h="202056">
                <a:moveTo>
                  <a:pt x="119407" y="24384"/>
                </a:moveTo>
                <a:lnTo>
                  <a:pt x="78740" y="24384"/>
                </a:lnTo>
                <a:lnTo>
                  <a:pt x="84709" y="27305"/>
                </a:lnTo>
                <a:lnTo>
                  <a:pt x="87630" y="27305"/>
                </a:lnTo>
                <a:lnTo>
                  <a:pt x="90551" y="30213"/>
                </a:lnTo>
                <a:lnTo>
                  <a:pt x="102489" y="48260"/>
                </a:lnTo>
                <a:lnTo>
                  <a:pt x="108407" y="63246"/>
                </a:lnTo>
                <a:lnTo>
                  <a:pt x="108458" y="139573"/>
                </a:lnTo>
                <a:lnTo>
                  <a:pt x="102489" y="154686"/>
                </a:lnTo>
                <a:lnTo>
                  <a:pt x="96520" y="166738"/>
                </a:lnTo>
                <a:lnTo>
                  <a:pt x="84709" y="178562"/>
                </a:lnTo>
                <a:lnTo>
                  <a:pt x="78740" y="178562"/>
                </a:lnTo>
                <a:lnTo>
                  <a:pt x="69723" y="181483"/>
                </a:lnTo>
                <a:lnTo>
                  <a:pt x="117221" y="181483"/>
                </a:lnTo>
                <a:lnTo>
                  <a:pt x="117602" y="181102"/>
                </a:lnTo>
                <a:lnTo>
                  <a:pt x="123571" y="169037"/>
                </a:lnTo>
                <a:lnTo>
                  <a:pt x="129540" y="160020"/>
                </a:lnTo>
                <a:lnTo>
                  <a:pt x="132461" y="147955"/>
                </a:lnTo>
                <a:lnTo>
                  <a:pt x="132461" y="138938"/>
                </a:lnTo>
                <a:lnTo>
                  <a:pt x="135394" y="129921"/>
                </a:lnTo>
                <a:lnTo>
                  <a:pt x="135394" y="75057"/>
                </a:lnTo>
                <a:lnTo>
                  <a:pt x="132553" y="63373"/>
                </a:lnTo>
                <a:lnTo>
                  <a:pt x="132461" y="53975"/>
                </a:lnTo>
                <a:lnTo>
                  <a:pt x="129540" y="41910"/>
                </a:lnTo>
                <a:lnTo>
                  <a:pt x="123571" y="32893"/>
                </a:lnTo>
                <a:lnTo>
                  <a:pt x="119407" y="24384"/>
                </a:lnTo>
                <a:close/>
              </a:path>
              <a:path w="135394" h="202056">
                <a:moveTo>
                  <a:pt x="93599" y="2921"/>
                </a:moveTo>
                <a:lnTo>
                  <a:pt x="42291" y="2921"/>
                </a:lnTo>
                <a:lnTo>
                  <a:pt x="30226" y="11938"/>
                </a:lnTo>
                <a:lnTo>
                  <a:pt x="21209" y="20955"/>
                </a:lnTo>
                <a:lnTo>
                  <a:pt x="18288" y="26924"/>
                </a:lnTo>
                <a:lnTo>
                  <a:pt x="12319" y="32893"/>
                </a:lnTo>
                <a:lnTo>
                  <a:pt x="9398" y="41910"/>
                </a:lnTo>
                <a:lnTo>
                  <a:pt x="6477" y="53975"/>
                </a:lnTo>
                <a:lnTo>
                  <a:pt x="3556" y="75184"/>
                </a:lnTo>
                <a:lnTo>
                  <a:pt x="635" y="102616"/>
                </a:lnTo>
                <a:lnTo>
                  <a:pt x="27927" y="102616"/>
                </a:lnTo>
                <a:lnTo>
                  <a:pt x="30861" y="78359"/>
                </a:lnTo>
                <a:lnTo>
                  <a:pt x="30985" y="62992"/>
                </a:lnTo>
                <a:lnTo>
                  <a:pt x="33782" y="57277"/>
                </a:lnTo>
                <a:lnTo>
                  <a:pt x="39624" y="39243"/>
                </a:lnTo>
                <a:lnTo>
                  <a:pt x="45593" y="30213"/>
                </a:lnTo>
                <a:lnTo>
                  <a:pt x="51562" y="27305"/>
                </a:lnTo>
                <a:lnTo>
                  <a:pt x="60579" y="24384"/>
                </a:lnTo>
                <a:lnTo>
                  <a:pt x="119407" y="24384"/>
                </a:lnTo>
                <a:lnTo>
                  <a:pt x="117729" y="20955"/>
                </a:lnTo>
                <a:lnTo>
                  <a:pt x="93599" y="2921"/>
                </a:lnTo>
                <a:close/>
              </a:path>
              <a:path w="135394" h="202056">
                <a:moveTo>
                  <a:pt x="81661" y="0"/>
                </a:moveTo>
                <a:lnTo>
                  <a:pt x="54229" y="0"/>
                </a:lnTo>
                <a:lnTo>
                  <a:pt x="48260" y="2921"/>
                </a:lnTo>
                <a:lnTo>
                  <a:pt x="87630" y="2921"/>
                </a:lnTo>
                <a:lnTo>
                  <a:pt x="81661"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79" name="bk object 80"/>
          <p:cNvSpPr/>
          <p:nvPr/>
        </p:nvSpPr>
        <p:spPr>
          <a:xfrm>
            <a:off x="770004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65" h="33401">
                <a:moveTo>
                  <a:pt x="0" y="16700"/>
                </a:moveTo>
                <a:lnTo>
                  <a:pt x="30365"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0" name="bk object 81"/>
          <p:cNvSpPr/>
          <p:nvPr/>
        </p:nvSpPr>
        <p:spPr>
          <a:xfrm>
            <a:off x="7761240" y="6293520"/>
            <a:ext cx="137880" cy="201240"/>
          </a:xfrm>
          <a:custGeom>
            <a:avLst/>
            <a:gdLst>
              <a:gd name="textAreaLeft" fmla="*/ 0 w 137880"/>
              <a:gd name="textAreaRight" fmla="*/ 138600 w 137880"/>
              <a:gd name="textAreaTop" fmla="*/ 0 h 201240"/>
              <a:gd name="textAreaBottom" fmla="*/ 201960 h 201240"/>
            </a:gdLst>
            <a:ahLst/>
            <a:cxnLst/>
            <a:rect l="textAreaLeft" t="textAreaTop" r="textAreaRight" b="textAreaBottom"/>
            <a:pathLst>
              <a:path w="138429" h="202056">
                <a:moveTo>
                  <a:pt x="27558" y="147954"/>
                </a:moveTo>
                <a:lnTo>
                  <a:pt x="126" y="147954"/>
                </a:lnTo>
                <a:lnTo>
                  <a:pt x="0" y="157225"/>
                </a:lnTo>
                <a:lnTo>
                  <a:pt x="2802" y="162940"/>
                </a:lnTo>
                <a:lnTo>
                  <a:pt x="2921" y="166115"/>
                </a:lnTo>
                <a:lnTo>
                  <a:pt x="32893" y="199135"/>
                </a:lnTo>
                <a:lnTo>
                  <a:pt x="44957" y="202056"/>
                </a:lnTo>
                <a:lnTo>
                  <a:pt x="78358" y="202056"/>
                </a:lnTo>
                <a:lnTo>
                  <a:pt x="90436" y="199135"/>
                </a:lnTo>
                <a:lnTo>
                  <a:pt x="114553" y="181101"/>
                </a:lnTo>
                <a:lnTo>
                  <a:pt x="114781" y="180720"/>
                </a:lnTo>
                <a:lnTo>
                  <a:pt x="54355" y="180720"/>
                </a:lnTo>
                <a:lnTo>
                  <a:pt x="48386" y="177799"/>
                </a:lnTo>
                <a:lnTo>
                  <a:pt x="39370" y="174878"/>
                </a:lnTo>
                <a:lnTo>
                  <a:pt x="33400" y="168909"/>
                </a:lnTo>
                <a:lnTo>
                  <a:pt x="30479" y="162940"/>
                </a:lnTo>
                <a:lnTo>
                  <a:pt x="27558" y="160007"/>
                </a:lnTo>
                <a:lnTo>
                  <a:pt x="27558" y="147954"/>
                </a:lnTo>
                <a:close/>
              </a:path>
              <a:path w="138429" h="202056">
                <a:moveTo>
                  <a:pt x="136073" y="108584"/>
                </a:moveTo>
                <a:lnTo>
                  <a:pt x="108203" y="108584"/>
                </a:lnTo>
                <a:lnTo>
                  <a:pt x="108203" y="126745"/>
                </a:lnTo>
                <a:lnTo>
                  <a:pt x="105282" y="138810"/>
                </a:lnTo>
                <a:lnTo>
                  <a:pt x="102361" y="147827"/>
                </a:lnTo>
                <a:lnTo>
                  <a:pt x="96393" y="159892"/>
                </a:lnTo>
                <a:lnTo>
                  <a:pt x="93472" y="168909"/>
                </a:lnTo>
                <a:lnTo>
                  <a:pt x="84454" y="174878"/>
                </a:lnTo>
                <a:lnTo>
                  <a:pt x="72516" y="180720"/>
                </a:lnTo>
                <a:lnTo>
                  <a:pt x="114781" y="180720"/>
                </a:lnTo>
                <a:lnTo>
                  <a:pt x="123571" y="165988"/>
                </a:lnTo>
                <a:lnTo>
                  <a:pt x="135508" y="123570"/>
                </a:lnTo>
                <a:lnTo>
                  <a:pt x="135533" y="111378"/>
                </a:lnTo>
                <a:lnTo>
                  <a:pt x="136073" y="108584"/>
                </a:lnTo>
                <a:close/>
              </a:path>
              <a:path w="138429" h="202056">
                <a:moveTo>
                  <a:pt x="81533" y="0"/>
                </a:moveTo>
                <a:lnTo>
                  <a:pt x="51180" y="0"/>
                </a:lnTo>
                <a:lnTo>
                  <a:pt x="39115" y="2920"/>
                </a:lnTo>
                <a:lnTo>
                  <a:pt x="27050" y="8889"/>
                </a:lnTo>
                <a:lnTo>
                  <a:pt x="9144" y="26796"/>
                </a:lnTo>
                <a:lnTo>
                  <a:pt x="3175" y="38861"/>
                </a:lnTo>
                <a:lnTo>
                  <a:pt x="253" y="50926"/>
                </a:lnTo>
                <a:lnTo>
                  <a:pt x="253" y="78358"/>
                </a:lnTo>
                <a:lnTo>
                  <a:pt x="27050" y="120395"/>
                </a:lnTo>
                <a:lnTo>
                  <a:pt x="45084" y="129285"/>
                </a:lnTo>
                <a:lnTo>
                  <a:pt x="78485" y="129285"/>
                </a:lnTo>
                <a:lnTo>
                  <a:pt x="87502" y="126364"/>
                </a:lnTo>
                <a:lnTo>
                  <a:pt x="96520" y="120395"/>
                </a:lnTo>
                <a:lnTo>
                  <a:pt x="99440" y="117474"/>
                </a:lnTo>
                <a:lnTo>
                  <a:pt x="102361" y="117474"/>
                </a:lnTo>
                <a:lnTo>
                  <a:pt x="105282" y="114553"/>
                </a:lnTo>
                <a:lnTo>
                  <a:pt x="108203" y="108584"/>
                </a:lnTo>
                <a:lnTo>
                  <a:pt x="136073" y="108584"/>
                </a:lnTo>
                <a:lnTo>
                  <a:pt x="136196" y="107949"/>
                </a:lnTo>
                <a:lnTo>
                  <a:pt x="66166" y="107949"/>
                </a:lnTo>
                <a:lnTo>
                  <a:pt x="48132" y="102107"/>
                </a:lnTo>
                <a:lnTo>
                  <a:pt x="36195" y="96265"/>
                </a:lnTo>
                <a:lnTo>
                  <a:pt x="33286" y="90296"/>
                </a:lnTo>
                <a:lnTo>
                  <a:pt x="30352" y="81279"/>
                </a:lnTo>
                <a:lnTo>
                  <a:pt x="27419" y="75310"/>
                </a:lnTo>
                <a:lnTo>
                  <a:pt x="27419" y="56768"/>
                </a:lnTo>
                <a:lnTo>
                  <a:pt x="30352" y="47751"/>
                </a:lnTo>
                <a:lnTo>
                  <a:pt x="33161" y="42036"/>
                </a:lnTo>
                <a:lnTo>
                  <a:pt x="33286" y="38861"/>
                </a:lnTo>
                <a:lnTo>
                  <a:pt x="48005" y="24129"/>
                </a:lnTo>
                <a:lnTo>
                  <a:pt x="57023" y="24129"/>
                </a:lnTo>
                <a:lnTo>
                  <a:pt x="66039" y="21208"/>
                </a:lnTo>
                <a:lnTo>
                  <a:pt x="117982" y="21208"/>
                </a:lnTo>
                <a:lnTo>
                  <a:pt x="105663" y="8889"/>
                </a:lnTo>
                <a:lnTo>
                  <a:pt x="93611" y="2920"/>
                </a:lnTo>
                <a:lnTo>
                  <a:pt x="81533" y="0"/>
                </a:lnTo>
                <a:close/>
              </a:path>
              <a:path w="138429" h="202056">
                <a:moveTo>
                  <a:pt x="117982" y="21208"/>
                </a:moveTo>
                <a:lnTo>
                  <a:pt x="66039" y="21208"/>
                </a:lnTo>
                <a:lnTo>
                  <a:pt x="75044" y="24129"/>
                </a:lnTo>
                <a:lnTo>
                  <a:pt x="84086" y="24129"/>
                </a:lnTo>
                <a:lnTo>
                  <a:pt x="101980" y="42036"/>
                </a:lnTo>
                <a:lnTo>
                  <a:pt x="104777" y="47751"/>
                </a:lnTo>
                <a:lnTo>
                  <a:pt x="104901" y="78358"/>
                </a:lnTo>
                <a:lnTo>
                  <a:pt x="101980" y="81279"/>
                </a:lnTo>
                <a:lnTo>
                  <a:pt x="99059" y="90296"/>
                </a:lnTo>
                <a:lnTo>
                  <a:pt x="99059" y="93217"/>
                </a:lnTo>
                <a:lnTo>
                  <a:pt x="96138" y="96138"/>
                </a:lnTo>
                <a:lnTo>
                  <a:pt x="90170" y="99059"/>
                </a:lnTo>
                <a:lnTo>
                  <a:pt x="81152" y="105028"/>
                </a:lnTo>
                <a:lnTo>
                  <a:pt x="75183" y="105028"/>
                </a:lnTo>
                <a:lnTo>
                  <a:pt x="66166" y="107949"/>
                </a:lnTo>
                <a:lnTo>
                  <a:pt x="136196" y="107949"/>
                </a:lnTo>
                <a:lnTo>
                  <a:pt x="138429" y="96392"/>
                </a:lnTo>
                <a:lnTo>
                  <a:pt x="135508" y="72135"/>
                </a:lnTo>
                <a:lnTo>
                  <a:pt x="132587" y="50926"/>
                </a:lnTo>
                <a:lnTo>
                  <a:pt x="123571" y="32765"/>
                </a:lnTo>
                <a:lnTo>
                  <a:pt x="123571" y="29832"/>
                </a:lnTo>
                <a:lnTo>
                  <a:pt x="120650" y="23875"/>
                </a:lnTo>
                <a:lnTo>
                  <a:pt x="117982" y="21208"/>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1" name="bk object 82"/>
          <p:cNvSpPr/>
          <p:nvPr/>
        </p:nvSpPr>
        <p:spPr>
          <a:xfrm>
            <a:off x="8142480" y="6293520"/>
            <a:ext cx="71280" cy="200160"/>
          </a:xfrm>
          <a:custGeom>
            <a:avLst/>
            <a:gdLst>
              <a:gd name="textAreaLeft" fmla="*/ 0 w 71280"/>
              <a:gd name="textAreaRight" fmla="*/ 72000 w 71280"/>
              <a:gd name="textAreaTop" fmla="*/ 0 h 200160"/>
              <a:gd name="textAreaBottom" fmla="*/ 200880 h 200160"/>
            </a:gdLst>
            <a:ahLst/>
            <a:cxnLst/>
            <a:rect l="textAreaLeft" t="textAreaTop" r="textAreaRight" b="textAreaBottom"/>
            <a:pathLst>
              <a:path w="72135" h="201041">
                <a:moveTo>
                  <a:pt x="72135" y="0"/>
                </a:moveTo>
                <a:lnTo>
                  <a:pt x="53975" y="0"/>
                </a:lnTo>
                <a:lnTo>
                  <a:pt x="51053" y="2920"/>
                </a:lnTo>
                <a:lnTo>
                  <a:pt x="51053" y="8889"/>
                </a:lnTo>
                <a:lnTo>
                  <a:pt x="45211" y="20827"/>
                </a:lnTo>
                <a:lnTo>
                  <a:pt x="36207" y="26784"/>
                </a:lnTo>
                <a:lnTo>
                  <a:pt x="30225" y="32765"/>
                </a:lnTo>
                <a:lnTo>
                  <a:pt x="21208" y="35686"/>
                </a:lnTo>
                <a:lnTo>
                  <a:pt x="0" y="35686"/>
                </a:lnTo>
                <a:lnTo>
                  <a:pt x="0" y="56895"/>
                </a:lnTo>
                <a:lnTo>
                  <a:pt x="45593" y="56895"/>
                </a:lnTo>
                <a:lnTo>
                  <a:pt x="45593" y="200024"/>
                </a:lnTo>
                <a:lnTo>
                  <a:pt x="44703" y="201040"/>
                </a:lnTo>
                <a:lnTo>
                  <a:pt x="72135" y="201040"/>
                </a:lnTo>
                <a:lnTo>
                  <a:pt x="72135"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2" name="bk object 83"/>
          <p:cNvSpPr/>
          <p:nvPr/>
        </p:nvSpPr>
        <p:spPr>
          <a:xfrm>
            <a:off x="8270280" y="6460200"/>
            <a:ext cx="29520" cy="32760"/>
          </a:xfrm>
          <a:custGeom>
            <a:avLst/>
            <a:gdLst>
              <a:gd name="textAreaLeft" fmla="*/ 0 w 29520"/>
              <a:gd name="textAreaRight" fmla="*/ 30240 w 29520"/>
              <a:gd name="textAreaTop" fmla="*/ 0 h 32760"/>
              <a:gd name="textAreaBottom" fmla="*/ 33480 h 32760"/>
            </a:gdLst>
            <a:ahLst/>
            <a:cxnLst/>
            <a:rect l="textAreaLeft" t="textAreaTop" r="textAreaRight" b="textAreaBottom"/>
            <a:pathLst>
              <a:path w="30353" h="33401">
                <a:moveTo>
                  <a:pt x="0" y="16700"/>
                </a:moveTo>
                <a:lnTo>
                  <a:pt x="30353" y="16700"/>
                </a:lnTo>
              </a:path>
            </a:pathLst>
          </a:custGeom>
          <a:noFill/>
          <a:ln w="34671">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3" name="bk object 84"/>
          <p:cNvSpPr/>
          <p:nvPr/>
        </p:nvSpPr>
        <p:spPr>
          <a:xfrm>
            <a:off x="8330760" y="6293520"/>
            <a:ext cx="134640" cy="201960"/>
          </a:xfrm>
          <a:custGeom>
            <a:avLst/>
            <a:gdLst>
              <a:gd name="textAreaLeft" fmla="*/ 0 w 134640"/>
              <a:gd name="textAreaRight" fmla="*/ 135360 w 134640"/>
              <a:gd name="textAreaTop" fmla="*/ 0 h 201960"/>
              <a:gd name="textAreaBottom" fmla="*/ 202680 h 201960"/>
            </a:gdLst>
            <a:ahLst/>
            <a:cxnLst/>
            <a:rect l="textAreaLeft" t="textAreaTop" r="textAreaRight" b="textAreaBottom"/>
            <a:pathLst>
              <a:path w="135508" h="202564">
                <a:moveTo>
                  <a:pt x="93598" y="2920"/>
                </a:moveTo>
                <a:lnTo>
                  <a:pt x="42290" y="2920"/>
                </a:lnTo>
                <a:lnTo>
                  <a:pt x="30225" y="11937"/>
                </a:lnTo>
                <a:lnTo>
                  <a:pt x="18287" y="23875"/>
                </a:lnTo>
                <a:lnTo>
                  <a:pt x="18287" y="26784"/>
                </a:lnTo>
                <a:lnTo>
                  <a:pt x="12318" y="32765"/>
                </a:lnTo>
                <a:lnTo>
                  <a:pt x="12318" y="38734"/>
                </a:lnTo>
                <a:lnTo>
                  <a:pt x="9397" y="41655"/>
                </a:lnTo>
                <a:lnTo>
                  <a:pt x="6476" y="53720"/>
                </a:lnTo>
                <a:lnTo>
                  <a:pt x="3527" y="75310"/>
                </a:lnTo>
                <a:lnTo>
                  <a:pt x="634" y="102361"/>
                </a:lnTo>
                <a:lnTo>
                  <a:pt x="0" y="102742"/>
                </a:lnTo>
                <a:lnTo>
                  <a:pt x="5841" y="148335"/>
                </a:lnTo>
                <a:lnTo>
                  <a:pt x="29844" y="193674"/>
                </a:lnTo>
                <a:lnTo>
                  <a:pt x="53975" y="202564"/>
                </a:lnTo>
                <a:lnTo>
                  <a:pt x="81406" y="202564"/>
                </a:lnTo>
                <a:lnTo>
                  <a:pt x="93471" y="199643"/>
                </a:lnTo>
                <a:lnTo>
                  <a:pt x="105536" y="193674"/>
                </a:lnTo>
                <a:lnTo>
                  <a:pt x="117601" y="181609"/>
                </a:lnTo>
                <a:lnTo>
                  <a:pt x="117727" y="181355"/>
                </a:lnTo>
                <a:lnTo>
                  <a:pt x="69722" y="181355"/>
                </a:lnTo>
                <a:lnTo>
                  <a:pt x="60718" y="178434"/>
                </a:lnTo>
                <a:lnTo>
                  <a:pt x="54736" y="178434"/>
                </a:lnTo>
                <a:lnTo>
                  <a:pt x="45719" y="172465"/>
                </a:lnTo>
                <a:lnTo>
                  <a:pt x="39750" y="166484"/>
                </a:lnTo>
                <a:lnTo>
                  <a:pt x="36829" y="154431"/>
                </a:lnTo>
                <a:lnTo>
                  <a:pt x="33908" y="148462"/>
                </a:lnTo>
                <a:lnTo>
                  <a:pt x="30987" y="139445"/>
                </a:lnTo>
                <a:lnTo>
                  <a:pt x="30987" y="124332"/>
                </a:lnTo>
                <a:lnTo>
                  <a:pt x="28066" y="103123"/>
                </a:lnTo>
                <a:lnTo>
                  <a:pt x="27939" y="102361"/>
                </a:lnTo>
                <a:lnTo>
                  <a:pt x="30860" y="78104"/>
                </a:lnTo>
                <a:lnTo>
                  <a:pt x="30860" y="62991"/>
                </a:lnTo>
                <a:lnTo>
                  <a:pt x="33781" y="57022"/>
                </a:lnTo>
                <a:lnTo>
                  <a:pt x="39623" y="38988"/>
                </a:lnTo>
                <a:lnTo>
                  <a:pt x="45592" y="29959"/>
                </a:lnTo>
                <a:lnTo>
                  <a:pt x="54609" y="27050"/>
                </a:lnTo>
                <a:lnTo>
                  <a:pt x="60578" y="24129"/>
                </a:lnTo>
                <a:lnTo>
                  <a:pt x="119282" y="24129"/>
                </a:lnTo>
                <a:lnTo>
                  <a:pt x="117728" y="20954"/>
                </a:lnTo>
                <a:lnTo>
                  <a:pt x="93598" y="2920"/>
                </a:lnTo>
                <a:close/>
              </a:path>
              <a:path w="135508" h="202564">
                <a:moveTo>
                  <a:pt x="119282" y="24129"/>
                </a:moveTo>
                <a:lnTo>
                  <a:pt x="78739" y="24129"/>
                </a:lnTo>
                <a:lnTo>
                  <a:pt x="90677" y="29959"/>
                </a:lnTo>
                <a:lnTo>
                  <a:pt x="102615" y="48005"/>
                </a:lnTo>
                <a:lnTo>
                  <a:pt x="108534" y="62991"/>
                </a:lnTo>
                <a:lnTo>
                  <a:pt x="108534" y="139445"/>
                </a:lnTo>
                <a:lnTo>
                  <a:pt x="102615" y="154431"/>
                </a:lnTo>
                <a:lnTo>
                  <a:pt x="96646" y="166484"/>
                </a:lnTo>
                <a:lnTo>
                  <a:pt x="84708" y="178434"/>
                </a:lnTo>
                <a:lnTo>
                  <a:pt x="78739" y="178434"/>
                </a:lnTo>
                <a:lnTo>
                  <a:pt x="69722" y="181355"/>
                </a:lnTo>
                <a:lnTo>
                  <a:pt x="117727" y="181355"/>
                </a:lnTo>
                <a:lnTo>
                  <a:pt x="123570" y="169544"/>
                </a:lnTo>
                <a:lnTo>
                  <a:pt x="132587" y="148335"/>
                </a:lnTo>
                <a:lnTo>
                  <a:pt x="135508" y="130174"/>
                </a:lnTo>
                <a:lnTo>
                  <a:pt x="135456" y="74929"/>
                </a:lnTo>
                <a:lnTo>
                  <a:pt x="132587" y="54101"/>
                </a:lnTo>
                <a:lnTo>
                  <a:pt x="123508" y="32765"/>
                </a:lnTo>
                <a:lnTo>
                  <a:pt x="119282" y="24129"/>
                </a:lnTo>
                <a:close/>
              </a:path>
              <a:path w="135508" h="202564">
                <a:moveTo>
                  <a:pt x="81660" y="0"/>
                </a:moveTo>
                <a:lnTo>
                  <a:pt x="54228" y="0"/>
                </a:lnTo>
                <a:lnTo>
                  <a:pt x="48259" y="2920"/>
                </a:lnTo>
                <a:lnTo>
                  <a:pt x="87629" y="2920"/>
                </a:lnTo>
                <a:lnTo>
                  <a:pt x="81660" y="0"/>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4" name="bk object 85"/>
          <p:cNvSpPr/>
          <p:nvPr/>
        </p:nvSpPr>
        <p:spPr>
          <a:xfrm>
            <a:off x="2387520" y="5539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5" name="bk object 86"/>
          <p:cNvSpPr/>
          <p:nvPr/>
        </p:nvSpPr>
        <p:spPr>
          <a:xfrm>
            <a:off x="2448360" y="5533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6" name="bk object 87"/>
          <p:cNvSpPr/>
          <p:nvPr/>
        </p:nvSpPr>
        <p:spPr>
          <a:xfrm>
            <a:off x="2506320" y="552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7" name="bk object 88"/>
          <p:cNvSpPr/>
          <p:nvPr/>
        </p:nvSpPr>
        <p:spPr>
          <a:xfrm>
            <a:off x="2567520" y="5524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8" name="bk object 89"/>
          <p:cNvSpPr/>
          <p:nvPr/>
        </p:nvSpPr>
        <p:spPr>
          <a:xfrm>
            <a:off x="2625120" y="551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89" name="bk object 90"/>
          <p:cNvSpPr/>
          <p:nvPr/>
        </p:nvSpPr>
        <p:spPr>
          <a:xfrm>
            <a:off x="2683440" y="5511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0" name="bk object 91"/>
          <p:cNvSpPr/>
          <p:nvPr/>
        </p:nvSpPr>
        <p:spPr>
          <a:xfrm>
            <a:off x="2744280" y="5505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1" name="bk object 92"/>
          <p:cNvSpPr/>
          <p:nvPr/>
        </p:nvSpPr>
        <p:spPr>
          <a:xfrm>
            <a:off x="2802240" y="5502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2" name="bk object 93"/>
          <p:cNvSpPr/>
          <p:nvPr/>
        </p:nvSpPr>
        <p:spPr>
          <a:xfrm>
            <a:off x="2863080" y="5496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3" name="bk object 94"/>
          <p:cNvSpPr/>
          <p:nvPr/>
        </p:nvSpPr>
        <p:spPr>
          <a:xfrm>
            <a:off x="2921040" y="5490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4" name="bk object 95"/>
          <p:cNvSpPr/>
          <p:nvPr/>
        </p:nvSpPr>
        <p:spPr>
          <a:xfrm>
            <a:off x="2981880" y="5484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5" name="bk object 96"/>
          <p:cNvSpPr/>
          <p:nvPr/>
        </p:nvSpPr>
        <p:spPr>
          <a:xfrm>
            <a:off x="3039840" y="5478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6" name="bk object 97"/>
          <p:cNvSpPr/>
          <p:nvPr/>
        </p:nvSpPr>
        <p:spPr>
          <a:xfrm>
            <a:off x="3097800" y="5472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7" name="bk object 98"/>
          <p:cNvSpPr/>
          <p:nvPr/>
        </p:nvSpPr>
        <p:spPr>
          <a:xfrm>
            <a:off x="3158640" y="5466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8" name="bk object 99"/>
          <p:cNvSpPr/>
          <p:nvPr/>
        </p:nvSpPr>
        <p:spPr>
          <a:xfrm>
            <a:off x="3216600" y="5460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99" name="bk object 100"/>
          <p:cNvSpPr/>
          <p:nvPr/>
        </p:nvSpPr>
        <p:spPr>
          <a:xfrm>
            <a:off x="3277440" y="545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0" name="bk object 101"/>
          <p:cNvSpPr/>
          <p:nvPr/>
        </p:nvSpPr>
        <p:spPr>
          <a:xfrm>
            <a:off x="3335400" y="544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1" name="bk object 102"/>
          <p:cNvSpPr/>
          <p:nvPr/>
        </p:nvSpPr>
        <p:spPr>
          <a:xfrm>
            <a:off x="3393360" y="5441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2" name="bk object 103"/>
          <p:cNvSpPr/>
          <p:nvPr/>
        </p:nvSpPr>
        <p:spPr>
          <a:xfrm>
            <a:off x="3454560" y="5432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3" name="bk object 104"/>
          <p:cNvSpPr/>
          <p:nvPr/>
        </p:nvSpPr>
        <p:spPr>
          <a:xfrm>
            <a:off x="3512520" y="5426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4" name="bk object 105"/>
          <p:cNvSpPr/>
          <p:nvPr/>
        </p:nvSpPr>
        <p:spPr>
          <a:xfrm>
            <a:off x="3573360" y="5420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5" name="bk object 106"/>
          <p:cNvSpPr/>
          <p:nvPr/>
        </p:nvSpPr>
        <p:spPr>
          <a:xfrm>
            <a:off x="3630960" y="5411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6" name="bk object 107"/>
          <p:cNvSpPr/>
          <p:nvPr/>
        </p:nvSpPr>
        <p:spPr>
          <a:xfrm>
            <a:off x="3692160" y="5405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7" name="bk object 108"/>
          <p:cNvSpPr/>
          <p:nvPr/>
        </p:nvSpPr>
        <p:spPr>
          <a:xfrm>
            <a:off x="3750120" y="539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8" name="bk object 109"/>
          <p:cNvSpPr/>
          <p:nvPr/>
        </p:nvSpPr>
        <p:spPr>
          <a:xfrm>
            <a:off x="3808080" y="539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09" name="bk object 110"/>
          <p:cNvSpPr/>
          <p:nvPr/>
        </p:nvSpPr>
        <p:spPr>
          <a:xfrm>
            <a:off x="3868920" y="5380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0" name="bk object 111"/>
          <p:cNvSpPr/>
          <p:nvPr/>
        </p:nvSpPr>
        <p:spPr>
          <a:xfrm>
            <a:off x="3926880" y="5374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1" name="bk object 112"/>
          <p:cNvSpPr/>
          <p:nvPr/>
        </p:nvSpPr>
        <p:spPr>
          <a:xfrm>
            <a:off x="3987720" y="536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2" name="bk object 113"/>
          <p:cNvSpPr/>
          <p:nvPr/>
        </p:nvSpPr>
        <p:spPr>
          <a:xfrm>
            <a:off x="4045680" y="5356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3" name="bk object 114"/>
          <p:cNvSpPr/>
          <p:nvPr/>
        </p:nvSpPr>
        <p:spPr>
          <a:xfrm>
            <a:off x="4103640" y="5347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4" name="bk object 115"/>
          <p:cNvSpPr/>
          <p:nvPr/>
        </p:nvSpPr>
        <p:spPr>
          <a:xfrm>
            <a:off x="4164480" y="5338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5" name="bk object 116"/>
          <p:cNvSpPr/>
          <p:nvPr/>
        </p:nvSpPr>
        <p:spPr>
          <a:xfrm>
            <a:off x="4222440" y="5329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6" name="bk object 117"/>
          <p:cNvSpPr/>
          <p:nvPr/>
        </p:nvSpPr>
        <p:spPr>
          <a:xfrm>
            <a:off x="4283640" y="5320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7" name="bk object 118"/>
          <p:cNvSpPr/>
          <p:nvPr/>
        </p:nvSpPr>
        <p:spPr>
          <a:xfrm>
            <a:off x="4341600" y="53110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8" name="bk object 119"/>
          <p:cNvSpPr/>
          <p:nvPr/>
        </p:nvSpPr>
        <p:spPr>
          <a:xfrm>
            <a:off x="4402080" y="530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19" name="bk object 120"/>
          <p:cNvSpPr/>
          <p:nvPr/>
        </p:nvSpPr>
        <p:spPr>
          <a:xfrm>
            <a:off x="4460040" y="5289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0" name="bk object 121"/>
          <p:cNvSpPr/>
          <p:nvPr/>
        </p:nvSpPr>
        <p:spPr>
          <a:xfrm>
            <a:off x="4518000" y="52804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1" name="bk object 122"/>
          <p:cNvSpPr/>
          <p:nvPr/>
        </p:nvSpPr>
        <p:spPr>
          <a:xfrm>
            <a:off x="4579200" y="5268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2" name="bk object 123"/>
          <p:cNvSpPr/>
          <p:nvPr/>
        </p:nvSpPr>
        <p:spPr>
          <a:xfrm>
            <a:off x="4637160" y="525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3" name="bk object 124"/>
          <p:cNvSpPr/>
          <p:nvPr/>
        </p:nvSpPr>
        <p:spPr>
          <a:xfrm>
            <a:off x="4698000" y="5247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4" name="bk object 125"/>
          <p:cNvSpPr/>
          <p:nvPr/>
        </p:nvSpPr>
        <p:spPr>
          <a:xfrm>
            <a:off x="4755960" y="5234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5" name="bk object 126"/>
          <p:cNvSpPr/>
          <p:nvPr/>
        </p:nvSpPr>
        <p:spPr>
          <a:xfrm>
            <a:off x="4816800" y="522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6" name="bk object 127"/>
          <p:cNvSpPr/>
          <p:nvPr/>
        </p:nvSpPr>
        <p:spPr>
          <a:xfrm>
            <a:off x="4874760" y="5210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7" name="bk object 128"/>
          <p:cNvSpPr/>
          <p:nvPr/>
        </p:nvSpPr>
        <p:spPr>
          <a:xfrm>
            <a:off x="4932720" y="5198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8" name="bk object 129"/>
          <p:cNvSpPr/>
          <p:nvPr/>
        </p:nvSpPr>
        <p:spPr>
          <a:xfrm>
            <a:off x="4993560" y="51858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29" name="bk object 130"/>
          <p:cNvSpPr/>
          <p:nvPr/>
        </p:nvSpPr>
        <p:spPr>
          <a:xfrm>
            <a:off x="5051520" y="517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0" name="bk object 131"/>
          <p:cNvSpPr/>
          <p:nvPr/>
        </p:nvSpPr>
        <p:spPr>
          <a:xfrm>
            <a:off x="5112720" y="5158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1" name="bk object 132"/>
          <p:cNvSpPr/>
          <p:nvPr/>
        </p:nvSpPr>
        <p:spPr>
          <a:xfrm>
            <a:off x="5170320" y="51433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2" name="bk object 133"/>
          <p:cNvSpPr/>
          <p:nvPr/>
        </p:nvSpPr>
        <p:spPr>
          <a:xfrm>
            <a:off x="5228280" y="51278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3" name="bk object 134"/>
          <p:cNvSpPr/>
          <p:nvPr/>
        </p:nvSpPr>
        <p:spPr>
          <a:xfrm>
            <a:off x="5289120" y="5112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4" name="bk object 135"/>
          <p:cNvSpPr/>
          <p:nvPr/>
        </p:nvSpPr>
        <p:spPr>
          <a:xfrm>
            <a:off x="5347080" y="5097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5" name="bk object 136"/>
          <p:cNvSpPr/>
          <p:nvPr/>
        </p:nvSpPr>
        <p:spPr>
          <a:xfrm>
            <a:off x="5407920" y="5079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6" name="bk object 137"/>
          <p:cNvSpPr/>
          <p:nvPr/>
        </p:nvSpPr>
        <p:spPr>
          <a:xfrm>
            <a:off x="5465880" y="5064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7" name="bk object 138"/>
          <p:cNvSpPr/>
          <p:nvPr/>
        </p:nvSpPr>
        <p:spPr>
          <a:xfrm>
            <a:off x="5527080" y="5045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8" name="bk object 139"/>
          <p:cNvSpPr/>
          <p:nvPr/>
        </p:nvSpPr>
        <p:spPr>
          <a:xfrm>
            <a:off x="5585040" y="50274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39" name="bk object 140"/>
          <p:cNvSpPr/>
          <p:nvPr/>
        </p:nvSpPr>
        <p:spPr>
          <a:xfrm>
            <a:off x="5642640" y="5009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0" name="bk object 141"/>
          <p:cNvSpPr/>
          <p:nvPr/>
        </p:nvSpPr>
        <p:spPr>
          <a:xfrm>
            <a:off x="5703840" y="4991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1" name="bk object 142"/>
          <p:cNvSpPr/>
          <p:nvPr/>
        </p:nvSpPr>
        <p:spPr>
          <a:xfrm>
            <a:off x="5761800" y="4969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2" name="bk object 143"/>
          <p:cNvSpPr/>
          <p:nvPr/>
        </p:nvSpPr>
        <p:spPr>
          <a:xfrm>
            <a:off x="5822640" y="494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3" name="bk object 144"/>
          <p:cNvSpPr/>
          <p:nvPr/>
        </p:nvSpPr>
        <p:spPr>
          <a:xfrm>
            <a:off x="5880600" y="492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4" name="bk object 145"/>
          <p:cNvSpPr/>
          <p:nvPr/>
        </p:nvSpPr>
        <p:spPr>
          <a:xfrm>
            <a:off x="5938560" y="4905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5" name="bk object 146"/>
          <p:cNvSpPr/>
          <p:nvPr/>
        </p:nvSpPr>
        <p:spPr>
          <a:xfrm>
            <a:off x="5999400" y="4880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6" name="bk object 147"/>
          <p:cNvSpPr/>
          <p:nvPr/>
        </p:nvSpPr>
        <p:spPr>
          <a:xfrm>
            <a:off x="6057360" y="4856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7" name="bk object 148"/>
          <p:cNvSpPr/>
          <p:nvPr/>
        </p:nvSpPr>
        <p:spPr>
          <a:xfrm>
            <a:off x="6118200" y="4832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8" name="bk object 149"/>
          <p:cNvSpPr/>
          <p:nvPr/>
        </p:nvSpPr>
        <p:spPr>
          <a:xfrm>
            <a:off x="6176160" y="4804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49" name="bk object 150"/>
          <p:cNvSpPr/>
          <p:nvPr/>
        </p:nvSpPr>
        <p:spPr>
          <a:xfrm>
            <a:off x="6237360" y="4777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0" name="bk object 151"/>
          <p:cNvSpPr/>
          <p:nvPr/>
        </p:nvSpPr>
        <p:spPr>
          <a:xfrm>
            <a:off x="6295320" y="4750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1" name="bk object 152"/>
          <p:cNvSpPr/>
          <p:nvPr/>
        </p:nvSpPr>
        <p:spPr>
          <a:xfrm>
            <a:off x="6353280" y="4719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2" name="bk object 153"/>
          <p:cNvSpPr/>
          <p:nvPr/>
        </p:nvSpPr>
        <p:spPr>
          <a:xfrm>
            <a:off x="6413760" y="468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3" name="bk object 154"/>
          <p:cNvSpPr/>
          <p:nvPr/>
        </p:nvSpPr>
        <p:spPr>
          <a:xfrm>
            <a:off x="6471720" y="4655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4" name="bk object 155"/>
          <p:cNvSpPr/>
          <p:nvPr/>
        </p:nvSpPr>
        <p:spPr>
          <a:xfrm>
            <a:off x="6532920" y="4619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5" name="bk object 156"/>
          <p:cNvSpPr/>
          <p:nvPr/>
        </p:nvSpPr>
        <p:spPr>
          <a:xfrm>
            <a:off x="6590880" y="45824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6" name="bk object 157"/>
          <p:cNvSpPr/>
          <p:nvPr/>
        </p:nvSpPr>
        <p:spPr>
          <a:xfrm>
            <a:off x="6651720" y="4545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33">
                <a:moveTo>
                  <a:pt x="0" y="0"/>
                </a:moveTo>
                <a:lnTo>
                  <a:pt x="2933"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7" name="bk object 158"/>
          <p:cNvSpPr/>
          <p:nvPr/>
        </p:nvSpPr>
        <p:spPr>
          <a:xfrm>
            <a:off x="6709680" y="45061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8" name="bk object 159"/>
          <p:cNvSpPr/>
          <p:nvPr/>
        </p:nvSpPr>
        <p:spPr>
          <a:xfrm>
            <a:off x="6767640" y="4463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59" name="bk object 160"/>
          <p:cNvSpPr/>
          <p:nvPr/>
        </p:nvSpPr>
        <p:spPr>
          <a:xfrm>
            <a:off x="6828480" y="44179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0" name="bk object 161"/>
          <p:cNvSpPr/>
          <p:nvPr/>
        </p:nvSpPr>
        <p:spPr>
          <a:xfrm>
            <a:off x="6886440" y="4372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1" name="bk object 162"/>
          <p:cNvSpPr/>
          <p:nvPr/>
        </p:nvSpPr>
        <p:spPr>
          <a:xfrm>
            <a:off x="6947280" y="4320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2" name="bk object 163"/>
          <p:cNvSpPr/>
          <p:nvPr/>
        </p:nvSpPr>
        <p:spPr>
          <a:xfrm>
            <a:off x="7005240" y="426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3" name="bk object 164"/>
          <p:cNvSpPr/>
          <p:nvPr/>
        </p:nvSpPr>
        <p:spPr>
          <a:xfrm>
            <a:off x="7063200" y="42105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4" name="bk object 165"/>
          <p:cNvSpPr/>
          <p:nvPr/>
        </p:nvSpPr>
        <p:spPr>
          <a:xfrm>
            <a:off x="7124040" y="41526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5" name="bk object 166"/>
          <p:cNvSpPr/>
          <p:nvPr/>
        </p:nvSpPr>
        <p:spPr>
          <a:xfrm>
            <a:off x="7182000" y="4088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6" name="bk object 167"/>
          <p:cNvSpPr/>
          <p:nvPr/>
        </p:nvSpPr>
        <p:spPr>
          <a:xfrm>
            <a:off x="7242840" y="4018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7" name="bk object 168"/>
          <p:cNvSpPr/>
          <p:nvPr/>
        </p:nvSpPr>
        <p:spPr>
          <a:xfrm>
            <a:off x="7300800" y="3945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8" name="bk object 169"/>
          <p:cNvSpPr/>
          <p:nvPr/>
        </p:nvSpPr>
        <p:spPr>
          <a:xfrm>
            <a:off x="7362000" y="38660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69" name="bk object 170"/>
          <p:cNvSpPr/>
          <p:nvPr/>
        </p:nvSpPr>
        <p:spPr>
          <a:xfrm>
            <a:off x="7419960" y="3783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0" name="bk object 171"/>
          <p:cNvSpPr/>
          <p:nvPr/>
        </p:nvSpPr>
        <p:spPr>
          <a:xfrm>
            <a:off x="7477560" y="36925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1" name="bk object 172"/>
          <p:cNvSpPr/>
          <p:nvPr/>
        </p:nvSpPr>
        <p:spPr>
          <a:xfrm>
            <a:off x="7538760" y="359172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2" name="bk object 173"/>
          <p:cNvSpPr/>
          <p:nvPr/>
        </p:nvSpPr>
        <p:spPr>
          <a:xfrm>
            <a:off x="7596720" y="3485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3" name="bk object 174"/>
          <p:cNvSpPr/>
          <p:nvPr/>
        </p:nvSpPr>
        <p:spPr>
          <a:xfrm>
            <a:off x="7657560" y="33663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4" name="bk object 175"/>
          <p:cNvSpPr/>
          <p:nvPr/>
        </p:nvSpPr>
        <p:spPr>
          <a:xfrm>
            <a:off x="7715520" y="32382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5" name="bk object 176"/>
          <p:cNvSpPr/>
          <p:nvPr/>
        </p:nvSpPr>
        <p:spPr>
          <a:xfrm>
            <a:off x="7773480" y="30981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2">
                <a:moveTo>
                  <a:pt x="0" y="0"/>
                </a:moveTo>
                <a:lnTo>
                  <a:pt x="2922"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6" name="bk object 177"/>
          <p:cNvSpPr/>
          <p:nvPr/>
        </p:nvSpPr>
        <p:spPr>
          <a:xfrm>
            <a:off x="7834320" y="29426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7" name="bk object 178"/>
          <p:cNvSpPr/>
          <p:nvPr/>
        </p:nvSpPr>
        <p:spPr>
          <a:xfrm>
            <a:off x="7892280" y="27687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8" name="bk object 179"/>
          <p:cNvSpPr/>
          <p:nvPr/>
        </p:nvSpPr>
        <p:spPr>
          <a:xfrm>
            <a:off x="7953480" y="25768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79" name="bk object 180"/>
          <p:cNvSpPr/>
          <p:nvPr/>
        </p:nvSpPr>
        <p:spPr>
          <a:xfrm>
            <a:off x="8011080" y="23572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08">
                <a:moveTo>
                  <a:pt x="0" y="0"/>
                </a:moveTo>
                <a:lnTo>
                  <a:pt x="2908"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0" name="bk object 181"/>
          <p:cNvSpPr/>
          <p:nvPr/>
        </p:nvSpPr>
        <p:spPr>
          <a:xfrm>
            <a:off x="8071920" y="211068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19">
                <a:moveTo>
                  <a:pt x="0" y="0"/>
                </a:moveTo>
                <a:lnTo>
                  <a:pt x="2919"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1" name="bk object 182"/>
          <p:cNvSpPr/>
          <p:nvPr/>
        </p:nvSpPr>
        <p:spPr>
          <a:xfrm>
            <a:off x="8129880" y="183024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2" name="bk object 183"/>
          <p:cNvSpPr/>
          <p:nvPr/>
        </p:nvSpPr>
        <p:spPr>
          <a:xfrm>
            <a:off x="8187840" y="1506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3" name="bk object 184"/>
          <p:cNvSpPr/>
          <p:nvPr/>
        </p:nvSpPr>
        <p:spPr>
          <a:xfrm>
            <a:off x="8248680" y="112896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1">
                <a:moveTo>
                  <a:pt x="0" y="0"/>
                </a:moveTo>
                <a:lnTo>
                  <a:pt x="2921"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4" name="bk object 185"/>
          <p:cNvSpPr/>
          <p:nvPr/>
        </p:nvSpPr>
        <p:spPr>
          <a:xfrm>
            <a:off x="8306640" y="684000"/>
            <a:ext cx="2160" cy="360"/>
          </a:xfrm>
          <a:custGeom>
            <a:avLst/>
            <a:gdLst>
              <a:gd name="textAreaLeft" fmla="*/ 0 w 2160"/>
              <a:gd name="textAreaRight" fmla="*/ 2880 w 2160"/>
              <a:gd name="textAreaTop" fmla="*/ 0 h 360"/>
              <a:gd name="textAreaBottom" fmla="*/ 1440 h 360"/>
            </a:gdLst>
            <a:ahLst/>
            <a:cxnLst/>
            <a:rect l="textAreaLeft" t="textAreaTop" r="textAreaRight" b="textAreaBottom"/>
            <a:pathLst>
              <a:path w="2920">
                <a:moveTo>
                  <a:pt x="0" y="0"/>
                </a:moveTo>
                <a:lnTo>
                  <a:pt x="2920" y="0"/>
                </a:lnTo>
              </a:path>
            </a:pathLst>
          </a:custGeom>
          <a:noFill/>
          <a:ln w="3175">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5" name="bk object 186"/>
          <p:cNvSpPr/>
          <p:nvPr/>
        </p:nvSpPr>
        <p:spPr>
          <a:xfrm>
            <a:off x="2387520" y="695160"/>
            <a:ext cx="5905800" cy="4843440"/>
          </a:xfrm>
          <a:custGeom>
            <a:avLst/>
            <a:gdLst>
              <a:gd name="textAreaLeft" fmla="*/ 0 w 5905800"/>
              <a:gd name="textAreaRight" fmla="*/ 5906520 w 5905800"/>
              <a:gd name="textAreaTop" fmla="*/ 0 h 4843440"/>
              <a:gd name="textAreaBottom" fmla="*/ 4844160 h 4843440"/>
            </a:gdLst>
            <a:ahLst/>
            <a:cxnLst/>
            <a:rect l="textAreaLeft" t="textAreaTop" r="textAreaRight" b="textAreaBottom"/>
            <a:pathLst>
              <a:path w="5906515" h="4844288">
                <a:moveTo>
                  <a:pt x="0" y="4844288"/>
                </a:moveTo>
                <a:lnTo>
                  <a:pt x="60832" y="4838319"/>
                </a:lnTo>
                <a:lnTo>
                  <a:pt x="118617" y="4832350"/>
                </a:lnTo>
                <a:lnTo>
                  <a:pt x="179450" y="4829429"/>
                </a:lnTo>
                <a:lnTo>
                  <a:pt x="237235" y="4823459"/>
                </a:lnTo>
                <a:lnTo>
                  <a:pt x="295020" y="4817491"/>
                </a:lnTo>
                <a:lnTo>
                  <a:pt x="355853" y="4811521"/>
                </a:lnTo>
                <a:lnTo>
                  <a:pt x="413638" y="4808601"/>
                </a:lnTo>
                <a:lnTo>
                  <a:pt x="474471" y="4802632"/>
                </a:lnTo>
                <a:lnTo>
                  <a:pt x="532256" y="4796663"/>
                </a:lnTo>
                <a:lnTo>
                  <a:pt x="593089" y="4790694"/>
                </a:lnTo>
                <a:lnTo>
                  <a:pt x="650874" y="4784725"/>
                </a:lnTo>
                <a:lnTo>
                  <a:pt x="708659" y="4778756"/>
                </a:lnTo>
                <a:lnTo>
                  <a:pt x="769492" y="4772786"/>
                </a:lnTo>
                <a:lnTo>
                  <a:pt x="827277" y="4766818"/>
                </a:lnTo>
                <a:lnTo>
                  <a:pt x="888110" y="4760849"/>
                </a:lnTo>
                <a:lnTo>
                  <a:pt x="1003680" y="4748910"/>
                </a:lnTo>
                <a:lnTo>
                  <a:pt x="1064513" y="4739894"/>
                </a:lnTo>
                <a:lnTo>
                  <a:pt x="1122298" y="4733925"/>
                </a:lnTo>
                <a:lnTo>
                  <a:pt x="1183131" y="4727956"/>
                </a:lnTo>
                <a:lnTo>
                  <a:pt x="1240916" y="4718938"/>
                </a:lnTo>
                <a:lnTo>
                  <a:pt x="1301749" y="4712970"/>
                </a:lnTo>
                <a:lnTo>
                  <a:pt x="1359534" y="4703953"/>
                </a:lnTo>
                <a:lnTo>
                  <a:pt x="1417319" y="4697983"/>
                </a:lnTo>
                <a:lnTo>
                  <a:pt x="1478152" y="4688967"/>
                </a:lnTo>
                <a:lnTo>
                  <a:pt x="1535937" y="4682998"/>
                </a:lnTo>
                <a:lnTo>
                  <a:pt x="1596770" y="4673981"/>
                </a:lnTo>
                <a:lnTo>
                  <a:pt x="1654555" y="4664963"/>
                </a:lnTo>
                <a:lnTo>
                  <a:pt x="1712340" y="4655947"/>
                </a:lnTo>
                <a:lnTo>
                  <a:pt x="1773173" y="4646930"/>
                </a:lnTo>
                <a:lnTo>
                  <a:pt x="1830958" y="4637912"/>
                </a:lnTo>
                <a:lnTo>
                  <a:pt x="1891791" y="4628896"/>
                </a:lnTo>
                <a:lnTo>
                  <a:pt x="1949576" y="4619879"/>
                </a:lnTo>
                <a:lnTo>
                  <a:pt x="2010409" y="4610861"/>
                </a:lnTo>
                <a:lnTo>
                  <a:pt x="2068194" y="4598797"/>
                </a:lnTo>
                <a:lnTo>
                  <a:pt x="2125979" y="4589780"/>
                </a:lnTo>
                <a:lnTo>
                  <a:pt x="2186812" y="4577715"/>
                </a:lnTo>
                <a:lnTo>
                  <a:pt x="2244597" y="4568698"/>
                </a:lnTo>
                <a:lnTo>
                  <a:pt x="2305430" y="4556633"/>
                </a:lnTo>
                <a:lnTo>
                  <a:pt x="2363215" y="4544568"/>
                </a:lnTo>
                <a:lnTo>
                  <a:pt x="2424048" y="4532503"/>
                </a:lnTo>
                <a:lnTo>
                  <a:pt x="2481833" y="4520437"/>
                </a:lnTo>
                <a:lnTo>
                  <a:pt x="2539618" y="4508373"/>
                </a:lnTo>
                <a:lnTo>
                  <a:pt x="2600451" y="4496308"/>
                </a:lnTo>
                <a:lnTo>
                  <a:pt x="2658236" y="4481195"/>
                </a:lnTo>
                <a:lnTo>
                  <a:pt x="2719069" y="4469130"/>
                </a:lnTo>
                <a:lnTo>
                  <a:pt x="2776854" y="4454017"/>
                </a:lnTo>
                <a:lnTo>
                  <a:pt x="2834639" y="4438904"/>
                </a:lnTo>
                <a:lnTo>
                  <a:pt x="2895472" y="4423791"/>
                </a:lnTo>
                <a:lnTo>
                  <a:pt x="2953257" y="4408678"/>
                </a:lnTo>
                <a:lnTo>
                  <a:pt x="3014090" y="4390517"/>
                </a:lnTo>
                <a:lnTo>
                  <a:pt x="3071875" y="4375404"/>
                </a:lnTo>
                <a:lnTo>
                  <a:pt x="3132708" y="4357243"/>
                </a:lnTo>
                <a:lnTo>
                  <a:pt x="3190493" y="4339082"/>
                </a:lnTo>
                <a:lnTo>
                  <a:pt x="3248278" y="4320921"/>
                </a:lnTo>
                <a:lnTo>
                  <a:pt x="3309111" y="4302759"/>
                </a:lnTo>
                <a:lnTo>
                  <a:pt x="3366896" y="4281551"/>
                </a:lnTo>
                <a:lnTo>
                  <a:pt x="3427729" y="4260342"/>
                </a:lnTo>
                <a:lnTo>
                  <a:pt x="3543299" y="4217924"/>
                </a:lnTo>
                <a:lnTo>
                  <a:pt x="3604132" y="4193666"/>
                </a:lnTo>
                <a:lnTo>
                  <a:pt x="3661917" y="4169409"/>
                </a:lnTo>
                <a:lnTo>
                  <a:pt x="3722750" y="4145153"/>
                </a:lnTo>
                <a:lnTo>
                  <a:pt x="3780535" y="4117721"/>
                </a:lnTo>
                <a:lnTo>
                  <a:pt x="3841368" y="4090288"/>
                </a:lnTo>
                <a:lnTo>
                  <a:pt x="3899153" y="4062856"/>
                </a:lnTo>
                <a:lnTo>
                  <a:pt x="3956938" y="4032504"/>
                </a:lnTo>
                <a:lnTo>
                  <a:pt x="4017771" y="3999103"/>
                </a:lnTo>
                <a:lnTo>
                  <a:pt x="4075556" y="3968750"/>
                </a:lnTo>
                <a:lnTo>
                  <a:pt x="4136389" y="3932301"/>
                </a:lnTo>
                <a:lnTo>
                  <a:pt x="4194174" y="3895852"/>
                </a:lnTo>
                <a:lnTo>
                  <a:pt x="4255007" y="3859403"/>
                </a:lnTo>
                <a:lnTo>
                  <a:pt x="4312792" y="3819779"/>
                </a:lnTo>
                <a:lnTo>
                  <a:pt x="4370577" y="3777221"/>
                </a:lnTo>
                <a:lnTo>
                  <a:pt x="4431410" y="3731641"/>
                </a:lnTo>
                <a:lnTo>
                  <a:pt x="4489195" y="3686048"/>
                </a:lnTo>
                <a:lnTo>
                  <a:pt x="4550028" y="3634231"/>
                </a:lnTo>
                <a:lnTo>
                  <a:pt x="4607812" y="3582416"/>
                </a:lnTo>
                <a:lnTo>
                  <a:pt x="4665598" y="3524630"/>
                </a:lnTo>
                <a:lnTo>
                  <a:pt x="4726431" y="3466846"/>
                </a:lnTo>
                <a:lnTo>
                  <a:pt x="4784216" y="3402837"/>
                </a:lnTo>
                <a:lnTo>
                  <a:pt x="4845049" y="3332860"/>
                </a:lnTo>
                <a:lnTo>
                  <a:pt x="4902834" y="3259835"/>
                </a:lnTo>
                <a:lnTo>
                  <a:pt x="4963667" y="3180587"/>
                </a:lnTo>
                <a:lnTo>
                  <a:pt x="5021452" y="3098418"/>
                </a:lnTo>
                <a:lnTo>
                  <a:pt x="5079237" y="3007105"/>
                </a:lnTo>
                <a:lnTo>
                  <a:pt x="5140070" y="2906649"/>
                </a:lnTo>
                <a:lnTo>
                  <a:pt x="5197855" y="2799968"/>
                </a:lnTo>
                <a:lnTo>
                  <a:pt x="5258687" y="2681224"/>
                </a:lnTo>
                <a:lnTo>
                  <a:pt x="5316473" y="2553207"/>
                </a:lnTo>
                <a:lnTo>
                  <a:pt x="5374258" y="2413127"/>
                </a:lnTo>
                <a:lnTo>
                  <a:pt x="5435091" y="2257679"/>
                </a:lnTo>
                <a:lnTo>
                  <a:pt x="5492875" y="2084069"/>
                </a:lnTo>
                <a:lnTo>
                  <a:pt x="5553709" y="1892172"/>
                </a:lnTo>
                <a:lnTo>
                  <a:pt x="5611494" y="1672716"/>
                </a:lnTo>
                <a:lnTo>
                  <a:pt x="5672327" y="1425955"/>
                </a:lnTo>
                <a:lnTo>
                  <a:pt x="5730112" y="1145666"/>
                </a:lnTo>
                <a:lnTo>
                  <a:pt x="5787897" y="822705"/>
                </a:lnTo>
                <a:lnTo>
                  <a:pt x="5848730" y="444880"/>
                </a:lnTo>
                <a:lnTo>
                  <a:pt x="5906515" y="0"/>
                </a:lnTo>
              </a:path>
            </a:pathLst>
          </a:custGeom>
          <a:noFill/>
          <a:ln w="6350">
            <a:solidFill>
              <a:srgbClr val="000000"/>
            </a:solidFill>
            <a:round/>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6" name="bk object 187"/>
          <p:cNvSpPr/>
          <p:nvPr/>
        </p:nvSpPr>
        <p:spPr>
          <a:xfrm>
            <a:off x="3711600" y="1895040"/>
            <a:ext cx="2564640" cy="659520"/>
          </a:xfrm>
          <a:custGeom>
            <a:avLst/>
            <a:gdLst>
              <a:gd name="textAreaLeft" fmla="*/ 0 w 2564640"/>
              <a:gd name="textAreaRight" fmla="*/ 2565360 w 2564640"/>
              <a:gd name="textAreaTop" fmla="*/ 0 h 659520"/>
              <a:gd name="textAreaBottom" fmla="*/ 660240 h 659520"/>
            </a:gdLst>
            <a:ahLst/>
            <a:cxnLst/>
            <a:rect l="textAreaLeft" t="textAreaTop" r="textAreaRight" b="textAreaBottom"/>
            <a:pathLst>
              <a:path w="2565400" h="660400">
                <a:moveTo>
                  <a:pt x="0" y="660400"/>
                </a:moveTo>
                <a:lnTo>
                  <a:pt x="2565400" y="660400"/>
                </a:lnTo>
                <a:lnTo>
                  <a:pt x="2565400" y="0"/>
                </a:lnTo>
                <a:lnTo>
                  <a:pt x="0" y="0"/>
                </a:lnTo>
                <a:lnTo>
                  <a:pt x="0" y="66040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endParaRPr lang="en-US" sz="1800" b="0" u="none" strike="noStrike">
              <a:solidFill>
                <a:schemeClr val="dk1"/>
              </a:solidFill>
              <a:effectLst/>
              <a:uFillTx/>
              <a:latin typeface="Calibri"/>
            </a:endParaRPr>
          </a:p>
        </p:txBody>
      </p:sp>
      <p:sp>
        <p:nvSpPr>
          <p:cNvPr id="187" name="PlaceHolder 1"/>
          <p:cNvSpPr>
            <a:spLocks noGrp="1"/>
          </p:cNvSpPr>
          <p:nvPr>
            <p:ph type="title"/>
          </p:nvPr>
        </p:nvSpPr>
        <p:spPr>
          <a:xfrm>
            <a:off x="3568320" y="1161000"/>
            <a:ext cx="2920680" cy="480600"/>
          </a:xfrm>
          <a:prstGeom prst="rect">
            <a:avLst/>
          </a:prstGeom>
          <a:noFill/>
          <a:ln w="0">
            <a:noFill/>
          </a:ln>
        </p:spPr>
        <p:txBody>
          <a:bodyPr lIns="0" tIns="0" rIns="0" bIns="0" anchor="t">
            <a:noAutofit/>
          </a:bodyPr>
          <a:lstStyle/>
          <a:p>
            <a:pPr indent="0">
              <a:lnSpc>
                <a:spcPct val="100000"/>
              </a:lnSpc>
              <a:buNone/>
              <a:tabLst>
                <a:tab pos="0" algn="l"/>
              </a:tabLst>
            </a:pPr>
            <a:r>
              <a:rPr lang="en-US" sz="4400" b="0" u="none" strike="noStrike">
                <a:solidFill>
                  <a:schemeClr val="dk1"/>
                </a:solidFill>
                <a:effectLst/>
                <a:uFillTx/>
                <a:latin typeface="Calibri"/>
              </a:rPr>
              <a:t>Click to edit the title text format</a:t>
            </a:r>
            <a:endParaRPr lang="en-US" sz="4400" b="0" u="none" strike="noStrike">
              <a:solidFill>
                <a:srgbClr val="000000"/>
              </a:solidFill>
              <a:effectLst/>
              <a:uFillTx/>
              <a:latin typeface="Arial"/>
            </a:endParaRPr>
          </a:p>
        </p:txBody>
      </p:sp>
      <p:sp>
        <p:nvSpPr>
          <p:cNvPr id="188" name="PlaceHolder 2"/>
          <p:cNvSpPr>
            <a:spLocks noGrp="1"/>
          </p:cNvSpPr>
          <p:nvPr>
            <p:ph type="ftr" idx="10"/>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89" name="PlaceHolder 3"/>
          <p:cNvSpPr>
            <a:spLocks noGrp="1"/>
          </p:cNvSpPr>
          <p:nvPr>
            <p:ph type="dt" idx="11"/>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0" name="PlaceHolder 4"/>
          <p:cNvSpPr>
            <a:spLocks noGrp="1"/>
          </p:cNvSpPr>
          <p:nvPr>
            <p:ph type="sldNum" idx="12"/>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61F9705-5889-4F40-9C66-F2C11886F55A}"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bg>
      <p:bgPr>
        <a:solidFill>
          <a:schemeClr val="lt1"/>
        </a:solidFill>
        <a:effectLst/>
      </p:bgPr>
    </p:bg>
    <p:spTree>
      <p:nvGrpSpPr>
        <p:cNvPr id="1" name=""/>
        <p:cNvGrpSpPr/>
        <p:nvPr/>
      </p:nvGrpSpPr>
      <p:grpSpPr>
        <a:xfrm>
          <a:off x="0" y="0"/>
          <a:ext cx="0" cy="0"/>
          <a:chOff x="0" y="0"/>
          <a:chExt cx="0" cy="0"/>
        </a:xfrm>
      </p:grpSpPr>
      <p:sp>
        <p:nvSpPr>
          <p:cNvPr id="191" name="PlaceHolder 1"/>
          <p:cNvSpPr>
            <a:spLocks noGrp="1"/>
          </p:cNvSpPr>
          <p:nvPr>
            <p:ph type="ftr" idx="13"/>
          </p:nvPr>
        </p:nvSpPr>
        <p:spPr>
          <a:xfrm>
            <a:off x="3420000" y="7228440"/>
            <a:ext cx="3218040" cy="3880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Times New Roman"/>
              </a:defRPr>
            </a:lvl1pPr>
          </a:lstStyle>
          <a:p>
            <a:pPr indent="0" algn="ctr">
              <a:lnSpc>
                <a:spcPct val="100000"/>
              </a:lnSpc>
              <a:buNone/>
              <a:tabLst>
                <a:tab pos="0" algn="l"/>
              </a:tabLst>
            </a:pPr>
            <a:r>
              <a:rPr lang="en-US" sz="1400" b="0" u="none" strike="noStrike">
                <a:solidFill>
                  <a:srgbClr val="000000"/>
                </a:solidFill>
                <a:effectLst/>
                <a:uFillTx/>
                <a:latin typeface="Times New Roman"/>
              </a:rPr>
              <a:t> </a:t>
            </a:r>
          </a:p>
        </p:txBody>
      </p:sp>
      <p:sp>
        <p:nvSpPr>
          <p:cNvPr id="192" name="PlaceHolder 2"/>
          <p:cNvSpPr>
            <a:spLocks noGrp="1"/>
          </p:cNvSpPr>
          <p:nvPr>
            <p:ph type="dt" idx="14"/>
          </p:nvPr>
        </p:nvSpPr>
        <p:spPr>
          <a:xfrm>
            <a:off x="502920" y="7228440"/>
            <a:ext cx="2312640" cy="388080"/>
          </a:xfrm>
          <a:prstGeom prst="rect">
            <a:avLst/>
          </a:prstGeom>
          <a:noFill/>
          <a:ln w="0">
            <a:noFill/>
          </a:ln>
        </p:spPr>
        <p:txBody>
          <a:bodyPr lIns="0" tIns="0" rIns="0" bIns="0" anchor="t">
            <a:noAutofit/>
          </a:bodyPr>
          <a:lstStyle>
            <a:lvl1pPr indent="0" defTabSz="914400">
              <a:lnSpc>
                <a:spcPct val="100000"/>
              </a:lnSpc>
              <a:buNone/>
              <a:tabLst>
                <a:tab pos="0" algn="l"/>
              </a:tabLst>
              <a:defRPr lang="en-US" sz="1800" b="0" u="none" strike="noStrike">
                <a:solidFill>
                  <a:schemeClr val="dk1">
                    <a:tint val="75000"/>
                  </a:schemeClr>
                </a:solidFill>
                <a:effectLst/>
                <a:uFillTx/>
                <a:latin typeface="Calibri"/>
              </a:defRPr>
            </a:lvl1pPr>
          </a:lstStyle>
          <a:p>
            <a:pPr indent="0" defTabSz="914400">
              <a:lnSpc>
                <a:spcPct val="100000"/>
              </a:lnSpc>
              <a:buNone/>
              <a:tabLst>
                <a:tab pos="0" algn="l"/>
              </a:tabLst>
            </a:pPr>
            <a:r>
              <a:rPr lang="en-US" sz="1800" b="0" u="none" strike="noStrike">
                <a:solidFill>
                  <a:schemeClr val="dk1">
                    <a:tint val="75000"/>
                  </a:schemeClr>
                </a:solidFill>
                <a:effectLst/>
                <a:uFillTx/>
                <a:latin typeface="Calibri"/>
              </a:rPr>
              <a:t> </a:t>
            </a:r>
            <a:endParaRPr lang="en-US" sz="1800" b="0" u="none" strike="noStrike">
              <a:solidFill>
                <a:srgbClr val="000000"/>
              </a:solidFill>
              <a:effectLst/>
              <a:uFillTx/>
              <a:latin typeface="Times New Roman"/>
            </a:endParaRPr>
          </a:p>
        </p:txBody>
      </p:sp>
      <p:sp>
        <p:nvSpPr>
          <p:cNvPr id="193" name="PlaceHolder 3"/>
          <p:cNvSpPr>
            <a:spLocks noGrp="1"/>
          </p:cNvSpPr>
          <p:nvPr>
            <p:ph type="sldNum" idx="15"/>
          </p:nvPr>
        </p:nvSpPr>
        <p:spPr>
          <a:xfrm>
            <a:off x="8089920" y="7223400"/>
            <a:ext cx="1568160" cy="209160"/>
          </a:xfrm>
          <a:prstGeom prst="rect">
            <a:avLst/>
          </a:prstGeom>
          <a:noFill/>
          <a:ln w="0">
            <a:noFill/>
          </a:ln>
        </p:spPr>
        <p:txBody>
          <a:bodyPr lIns="0" tIns="0" rIns="0" bIns="0" anchor="t">
            <a:noAutofit/>
          </a:bodyPr>
          <a:lstStyle>
            <a:lvl1pPr marL="12600" indent="0" defTabSz="914400">
              <a:lnSpc>
                <a:spcPct val="100000"/>
              </a:lnSpc>
              <a:buNone/>
              <a:tabLst>
                <a:tab pos="0" algn="l"/>
              </a:tabLst>
              <a:defRPr lang="en-US" sz="1000" b="0" i="1" u="none" strike="noStrike" spc="-510">
                <a:solidFill>
                  <a:schemeClr val="dk1"/>
                </a:solidFill>
                <a:effectLst/>
                <a:uFillTx/>
                <a:latin typeface="Arial"/>
              </a:defRPr>
            </a:lvl1pPr>
          </a:lstStyle>
          <a:p>
            <a:pPr marL="12600" indent="0" defTabSz="914400">
              <a:lnSpc>
                <a:spcPct val="100000"/>
              </a:lnSpc>
              <a:buNone/>
              <a:tabLst>
                <a:tab pos="0" algn="l"/>
              </a:tabLst>
            </a:pPr>
            <a:r>
              <a:rPr lang="en-US" sz="1000" b="0" i="1" u="none" strike="noStrike" spc="-510">
                <a:solidFill>
                  <a:schemeClr val="dk1"/>
                </a:solidFill>
                <a:effectLst/>
                <a:uFillTx/>
                <a:latin typeface="Arial"/>
              </a:rPr>
              <a:t>O</a:t>
            </a:r>
            <a:r>
              <a:rPr lang="en-US" sz="1500" b="0" i="1" u="none" strike="noStrike" spc="-88" baseline="2000">
                <a:solidFill>
                  <a:schemeClr val="dk1"/>
                </a:solidFill>
                <a:effectLst/>
                <a:uFillTx/>
                <a:latin typeface="Arial"/>
              </a:rPr>
              <a:t>c </a:t>
            </a:r>
            <a:r>
              <a:rPr lang="en-US" sz="1500" b="0" i="1" u="none" strike="noStrike" spc="74" baseline="2000">
                <a:solidFill>
                  <a:schemeClr val="dk1"/>
                </a:solidFill>
                <a:effectLst/>
                <a:uFillTx/>
                <a:latin typeface="Arial"/>
              </a:rPr>
              <a:t> </a:t>
            </a:r>
            <a:r>
              <a:rPr lang="en-US" sz="1000" b="0" i="1" u="none" strike="noStrike" spc="-510">
                <a:solidFill>
                  <a:schemeClr val="dk1"/>
                </a:solidFill>
                <a:effectLst/>
                <a:uFillTx/>
                <a:latin typeface="Arial"/>
              </a:rPr>
              <a:t>C.</a:t>
            </a:r>
            <a:r>
              <a:rPr lang="en-US" sz="1000" b="0" i="1" u="none" strike="noStrike" spc="51">
                <a:solidFill>
                  <a:schemeClr val="dk1"/>
                </a:solidFill>
                <a:effectLst/>
                <a:uFillTx/>
                <a:latin typeface="Arial"/>
              </a:rPr>
              <a:t> </a:t>
            </a:r>
            <a:r>
              <a:rPr lang="en-US" sz="1000" b="0" i="1" u="none" strike="noStrike" spc="20">
                <a:solidFill>
                  <a:schemeClr val="dk1"/>
                </a:solidFill>
                <a:effectLst/>
                <a:uFillTx/>
                <a:latin typeface="Arial"/>
              </a:rPr>
              <a:t>D.</a:t>
            </a:r>
            <a:r>
              <a:rPr lang="en-US" sz="1000" b="0" i="1" u="none" strike="noStrike" spc="45">
                <a:solidFill>
                  <a:schemeClr val="dk1"/>
                </a:solidFill>
                <a:effectLst/>
                <a:uFillTx/>
                <a:latin typeface="Arial"/>
              </a:rPr>
              <a:t> </a:t>
            </a:r>
            <a:r>
              <a:rPr lang="en-US" sz="1000" b="0" i="1" u="none" strike="noStrike" spc="-31">
                <a:solidFill>
                  <a:schemeClr val="dk1"/>
                </a:solidFill>
                <a:effectLst/>
                <a:uFillTx/>
                <a:latin typeface="Arial"/>
              </a:rPr>
              <a:t>Ca</a:t>
            </a:r>
            <a:r>
              <a:rPr lang="en-US" sz="1000" b="0" i="1" u="none" strike="noStrike" spc="-60">
                <a:solidFill>
                  <a:schemeClr val="dk1"/>
                </a:solidFill>
                <a:effectLst/>
                <a:uFillTx/>
                <a:latin typeface="Arial"/>
              </a:rPr>
              <a:t>n</a:t>
            </a:r>
            <a:r>
              <a:rPr lang="en-US" sz="1000" b="0" i="1" u="none" strike="noStrike" spc="31">
                <a:solidFill>
                  <a:schemeClr val="dk1"/>
                </a:solidFill>
                <a:effectLst/>
                <a:uFillTx/>
                <a:latin typeface="Arial"/>
              </a:rPr>
              <a:t>trell</a:t>
            </a:r>
            <a:r>
              <a:rPr lang="en-US" sz="1000" b="0" i="1" u="none" strike="noStrike" spc="45">
                <a:solidFill>
                  <a:schemeClr val="dk1"/>
                </a:solidFill>
                <a:effectLst/>
                <a:uFillTx/>
                <a:latin typeface="Arial"/>
              </a:rPr>
              <a:t> </a:t>
            </a:r>
            <a:r>
              <a:rPr lang="en-US" sz="1000" b="0" i="1" u="none" strike="noStrike" spc="34">
                <a:solidFill>
                  <a:schemeClr val="dk1"/>
                </a:solidFill>
                <a:effectLst/>
                <a:uFillTx/>
                <a:latin typeface="Arial"/>
              </a:rPr>
              <a:t>(09/</a:t>
            </a:r>
            <a:fld id="{0EBD7EAC-8FD1-4434-9C95-79BE485A3A12}" type="slidenum">
              <a:rPr lang="en-US" sz="1000" b="0" i="1" u="none" strike="noStrike" spc="-65">
                <a:solidFill>
                  <a:schemeClr val="dk1"/>
                </a:solidFill>
                <a:effectLst/>
                <a:uFillTx/>
                <a:latin typeface="Arial"/>
              </a:rPr>
              <a:t>‹#›</a:t>
            </a:fld>
            <a:r>
              <a:rPr lang="en-US" sz="1000" b="0" i="1" u="none" strike="noStrike" spc="-20">
                <a:solidFill>
                  <a:schemeClr val="dk1"/>
                </a:solidFill>
                <a:effectLst/>
                <a:uFillTx/>
                <a:latin typeface="Arial"/>
              </a:rPr>
              <a:t>98)</a:t>
            </a:r>
            <a:endParaRPr lang="en-US" sz="1000" b="0" u="none" strike="noStrike">
              <a:solidFill>
                <a:srgbClr val="000000"/>
              </a:solidFill>
              <a:effectLst/>
              <a:uFillTx/>
              <a:latin typeface="Times New Roman"/>
            </a:endParaRPr>
          </a:p>
        </p:txBody>
      </p:sp>
      <p:sp>
        <p:nvSpPr>
          <p:cNvPr id="194" name="PlaceHolder 4"/>
          <p:cNvSpPr>
            <a:spLocks noGrp="1"/>
          </p:cNvSpPr>
          <p:nvPr>
            <p:ph type="title"/>
          </p:nvPr>
        </p:nvSpPr>
        <p:spPr>
          <a:xfrm>
            <a:off x="502920" y="309960"/>
            <a:ext cx="9051840" cy="1297080"/>
          </a:xfrm>
          <a:prstGeom prst="rect">
            <a:avLst/>
          </a:prstGeom>
          <a:noFill/>
          <a:ln w="0">
            <a:noFill/>
          </a:ln>
        </p:spPr>
        <p:txBody>
          <a:bodyPr lIns="0" tIns="0" rIns="0" bIns="0" anchor="ctr">
            <a:noAutofit/>
          </a:bodyPr>
          <a:lstStyle/>
          <a:p>
            <a:pPr indent="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rgbClr val="000000"/>
              </a:solidFill>
              <a:effectLst/>
              <a:uFillTx/>
              <a:latin typeface="Arial"/>
            </a:endParaRPr>
          </a:p>
        </p:txBody>
      </p:sp>
      <p:sp>
        <p:nvSpPr>
          <p:cNvPr id="195" name="PlaceHolder 5"/>
          <p:cNvSpPr>
            <a:spLocks noGrp="1"/>
          </p:cNvSpPr>
          <p:nvPr>
            <p:ph type="body"/>
          </p:nvPr>
        </p:nvSpPr>
        <p:spPr>
          <a:xfrm>
            <a:off x="502920" y="1818720"/>
            <a:ext cx="9051840" cy="45072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Calibri"/>
              </a:rPr>
              <a:t>Click to edit the outline text format</a:t>
            </a:r>
            <a:endParaRPr lang="en-US" sz="28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Calibri"/>
              </a:rPr>
              <a:t>Second Outline Level</a:t>
            </a:r>
            <a:endParaRPr lang="en-US" sz="20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Calibri"/>
              </a:rPr>
              <a:t>Third Outline Level</a:t>
            </a:r>
            <a:endParaRPr lang="en-US" sz="18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omparison">
    <p:bg>
      <p:bgPr>
        <a:solidFill>
          <a:srgbClr val="6C9D30"/>
        </a:solidFill>
        <a:effectLst/>
      </p:bgPr>
    </p:bg>
    <p:spTree>
      <p:nvGrpSpPr>
        <p:cNvPr id="1" name=""/>
        <p:cNvGrpSpPr/>
        <p:nvPr/>
      </p:nvGrpSpPr>
      <p:grpSpPr>
        <a:xfrm>
          <a:off x="0" y="0"/>
          <a:ext cx="0" cy="0"/>
          <a:chOff x="0" y="0"/>
          <a:chExt cx="0" cy="0"/>
        </a:xfrm>
      </p:grpSpPr>
      <p:sp>
        <p:nvSpPr>
          <p:cNvPr id="19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19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198" name="Picture 24" descr="utdlogo"/>
          <p:cNvPicPr/>
          <p:nvPr/>
        </p:nvPicPr>
        <p:blipFill>
          <a:blip r:embed="rId2"/>
          <a:stretch/>
        </p:blipFill>
        <p:spPr>
          <a:xfrm>
            <a:off x="9304200" y="7254360"/>
            <a:ext cx="619200" cy="272880"/>
          </a:xfrm>
          <a:prstGeom prst="rect">
            <a:avLst/>
          </a:prstGeom>
          <a:noFill/>
          <a:ln w="9525">
            <a:noFill/>
          </a:ln>
        </p:spPr>
      </p:pic>
      <p:sp>
        <p:nvSpPr>
          <p:cNvPr id="19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0"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01"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2"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03"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04"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Default 3">
    <p:bg>
      <p:bgPr>
        <a:solidFill>
          <a:srgbClr val="6C9D30"/>
        </a:solidFill>
        <a:effectLst/>
      </p:bgPr>
    </p:bg>
    <p:spTree>
      <p:nvGrpSpPr>
        <p:cNvPr id="1" name=""/>
        <p:cNvGrpSpPr/>
        <p:nvPr/>
      </p:nvGrpSpPr>
      <p:grpSpPr>
        <a:xfrm>
          <a:off x="0" y="0"/>
          <a:ext cx="0" cy="0"/>
          <a:chOff x="0" y="0"/>
          <a:chExt cx="0" cy="0"/>
        </a:xfrm>
      </p:grpSpPr>
      <p:sp>
        <p:nvSpPr>
          <p:cNvPr id="20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07" name="Picture 24" descr="utdlogo"/>
          <p:cNvPicPr/>
          <p:nvPr/>
        </p:nvPicPr>
        <p:blipFill>
          <a:blip r:embed="rId2"/>
          <a:stretch/>
        </p:blipFill>
        <p:spPr>
          <a:xfrm>
            <a:off x="9304200" y="7254360"/>
            <a:ext cx="619200" cy="272880"/>
          </a:xfrm>
          <a:prstGeom prst="rect">
            <a:avLst/>
          </a:prstGeom>
          <a:noFill/>
          <a:ln w="9525">
            <a:noFill/>
          </a:ln>
        </p:spPr>
      </p:pic>
      <p:sp>
        <p:nvSpPr>
          <p:cNvPr id="20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0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Default 4">
    <p:bg>
      <p:bgPr>
        <a:solidFill>
          <a:srgbClr val="6C9D30"/>
        </a:solidFill>
        <a:effectLst/>
      </p:bgPr>
    </p:bg>
    <p:spTree>
      <p:nvGrpSpPr>
        <p:cNvPr id="1" name=""/>
        <p:cNvGrpSpPr/>
        <p:nvPr/>
      </p:nvGrpSpPr>
      <p:grpSpPr>
        <a:xfrm>
          <a:off x="0" y="0"/>
          <a:ext cx="0" cy="0"/>
          <a:chOff x="0" y="0"/>
          <a:chExt cx="0" cy="0"/>
        </a:xfrm>
      </p:grpSpPr>
      <p:sp>
        <p:nvSpPr>
          <p:cNvPr id="210"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1"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2" name="Picture 24" descr="utdlogo"/>
          <p:cNvPicPr/>
          <p:nvPr/>
        </p:nvPicPr>
        <p:blipFill>
          <a:blip r:embed="rId2"/>
          <a:stretch/>
        </p:blipFill>
        <p:spPr>
          <a:xfrm>
            <a:off x="9304200" y="7254360"/>
            <a:ext cx="619200" cy="272880"/>
          </a:xfrm>
          <a:prstGeom prst="rect">
            <a:avLst/>
          </a:prstGeom>
          <a:noFill/>
          <a:ln w="9525">
            <a:noFill/>
          </a:ln>
        </p:spPr>
      </p:pic>
      <p:sp>
        <p:nvSpPr>
          <p:cNvPr id="213"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ontent with Caption">
    <p:bg>
      <p:bgPr>
        <a:solidFill>
          <a:srgbClr val="6C9D30"/>
        </a:solidFill>
        <a:effectLst/>
      </p:bgPr>
    </p:bg>
    <p:spTree>
      <p:nvGrpSpPr>
        <p:cNvPr id="1" name=""/>
        <p:cNvGrpSpPr/>
        <p:nvPr/>
      </p:nvGrpSpPr>
      <p:grpSpPr>
        <a:xfrm>
          <a:off x="0" y="0"/>
          <a:ext cx="0" cy="0"/>
          <a:chOff x="0" y="0"/>
          <a:chExt cx="0" cy="0"/>
        </a:xfrm>
      </p:grpSpPr>
      <p:sp>
        <p:nvSpPr>
          <p:cNvPr id="214"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5"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16" name="Picture 24" descr="utdlogo"/>
          <p:cNvPicPr/>
          <p:nvPr/>
        </p:nvPicPr>
        <p:blipFill>
          <a:blip r:embed="rId2"/>
          <a:stretch/>
        </p:blipFill>
        <p:spPr>
          <a:xfrm>
            <a:off x="9304200" y="7254360"/>
            <a:ext cx="619200" cy="272880"/>
          </a:xfrm>
          <a:prstGeom prst="rect">
            <a:avLst/>
          </a:prstGeom>
          <a:noFill/>
          <a:ln w="9525">
            <a:noFill/>
          </a:ln>
        </p:spPr>
      </p:pic>
      <p:sp>
        <p:nvSpPr>
          <p:cNvPr id="217"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18"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19"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220"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Picture with Caption">
    <p:bg>
      <p:bgPr>
        <a:solidFill>
          <a:srgbClr val="6C9D30"/>
        </a:solidFill>
        <a:effectLst/>
      </p:bgPr>
    </p:bg>
    <p:spTree>
      <p:nvGrpSpPr>
        <p:cNvPr id="1" name=""/>
        <p:cNvGrpSpPr/>
        <p:nvPr/>
      </p:nvGrpSpPr>
      <p:grpSpPr>
        <a:xfrm>
          <a:off x="0" y="0"/>
          <a:ext cx="0" cy="0"/>
          <a:chOff x="0" y="0"/>
          <a:chExt cx="0" cy="0"/>
        </a:xfrm>
      </p:grpSpPr>
      <p:sp>
        <p:nvSpPr>
          <p:cNvPr id="22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23" name="Picture 24" descr="utdlogo"/>
          <p:cNvPicPr/>
          <p:nvPr/>
        </p:nvPicPr>
        <p:blipFill>
          <a:blip r:embed="rId2"/>
          <a:stretch/>
        </p:blipFill>
        <p:spPr>
          <a:xfrm>
            <a:off x="9304200" y="7254360"/>
            <a:ext cx="619200" cy="272880"/>
          </a:xfrm>
          <a:prstGeom prst="rect">
            <a:avLst/>
          </a:prstGeom>
          <a:noFill/>
          <a:ln w="9525">
            <a:noFill/>
          </a:ln>
        </p:spPr>
      </p:pic>
      <p:sp>
        <p:nvSpPr>
          <p:cNvPr id="22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5"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226"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227"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Default">
    <p:bg>
      <p:bgPr>
        <a:solidFill>
          <a:schemeClr val="lt1"/>
        </a:solidFill>
        <a:effectLst/>
      </p:bgPr>
    </p:bg>
    <p:spTree>
      <p:nvGrpSpPr>
        <p:cNvPr id="1" name=""/>
        <p:cNvGrpSpPr/>
        <p:nvPr/>
      </p:nvGrpSpPr>
      <p:grpSpPr>
        <a:xfrm>
          <a:off x="0" y="0"/>
          <a:ext cx="0" cy="0"/>
          <a:chOff x="0" y="0"/>
          <a:chExt cx="0" cy="0"/>
        </a:xfrm>
      </p:grpSpPr>
      <p:sp>
        <p:nvSpPr>
          <p:cNvPr id="228"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29"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30" name="Picture 24" descr="utdlogo"/>
          <p:cNvPicPr/>
          <p:nvPr/>
        </p:nvPicPr>
        <p:blipFill>
          <a:blip r:embed="rId2"/>
          <a:stretch/>
        </p:blipFill>
        <p:spPr>
          <a:xfrm>
            <a:off x="9304200" y="7254360"/>
            <a:ext cx="619200" cy="272880"/>
          </a:xfrm>
          <a:prstGeom prst="rect">
            <a:avLst/>
          </a:prstGeom>
          <a:noFill/>
          <a:ln w="9525">
            <a:noFill/>
          </a:ln>
        </p:spPr>
      </p:pic>
      <p:sp>
        <p:nvSpPr>
          <p:cNvPr id="231"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2"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3"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4"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35"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236"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237"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238"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39"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240" name="Picture 16" descr="utdlogo"/>
          <p:cNvPicPr/>
          <p:nvPr/>
        </p:nvPicPr>
        <p:blipFill>
          <a:blip r:embed="rId2"/>
          <a:stretch/>
        </p:blipFill>
        <p:spPr>
          <a:xfrm>
            <a:off x="9304200" y="7254360"/>
            <a:ext cx="619200" cy="272880"/>
          </a:xfrm>
          <a:prstGeom prst="rect">
            <a:avLst/>
          </a:prstGeom>
          <a:noFill/>
          <a:ln w="9525">
            <a:noFill/>
          </a:ln>
        </p:spPr>
      </p:pic>
      <p:sp>
        <p:nvSpPr>
          <p:cNvPr id="241"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242"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rgbClr val="6C9D30"/>
        </a:solidFill>
        <a:effectLst/>
      </p:bgPr>
    </p:bg>
    <p:spTree>
      <p:nvGrpSpPr>
        <p:cNvPr id="1" name=""/>
        <p:cNvGrpSpPr/>
        <p:nvPr/>
      </p:nvGrpSpPr>
      <p:grpSpPr>
        <a:xfrm>
          <a:off x="0" y="0"/>
          <a:ext cx="0" cy="0"/>
          <a:chOff x="0" y="0"/>
          <a:chExt cx="0" cy="0"/>
        </a:xfrm>
      </p:grpSpPr>
      <p:sp>
        <p:nvSpPr>
          <p:cNvPr id="24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45" name="Picture 24" descr="utdlogo"/>
          <p:cNvPicPr/>
          <p:nvPr/>
        </p:nvPicPr>
        <p:blipFill>
          <a:blip r:embed="rId2"/>
          <a:stretch/>
        </p:blipFill>
        <p:spPr>
          <a:xfrm>
            <a:off x="9304200" y="7254360"/>
            <a:ext cx="619200" cy="272880"/>
          </a:xfrm>
          <a:prstGeom prst="rect">
            <a:avLst/>
          </a:prstGeom>
          <a:noFill/>
          <a:ln w="9525">
            <a:noFill/>
          </a:ln>
        </p:spPr>
      </p:pic>
      <p:sp>
        <p:nvSpPr>
          <p:cNvPr id="24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4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48"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solidFill>
          <a:srgbClr val="6C9D30"/>
        </a:solidFill>
        <a:effectLst/>
      </p:bgPr>
    </p:bg>
    <p:spTree>
      <p:nvGrpSpPr>
        <p:cNvPr id="1" name=""/>
        <p:cNvGrpSpPr/>
        <p:nvPr/>
      </p:nvGrpSpPr>
      <p:grpSpPr>
        <a:xfrm>
          <a:off x="0" y="0"/>
          <a:ext cx="0" cy="0"/>
          <a:chOff x="0" y="0"/>
          <a:chExt cx="0" cy="0"/>
        </a:xfrm>
      </p:grpSpPr>
      <p:sp>
        <p:nvSpPr>
          <p:cNvPr id="24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1" name="Picture 24" descr="utdlogo"/>
          <p:cNvPicPr/>
          <p:nvPr/>
        </p:nvPicPr>
        <p:blipFill>
          <a:blip r:embed="rId2"/>
          <a:stretch/>
        </p:blipFill>
        <p:spPr>
          <a:xfrm>
            <a:off x="9304200" y="7254360"/>
            <a:ext cx="619200" cy="272880"/>
          </a:xfrm>
          <a:prstGeom prst="rect">
            <a:avLst/>
          </a:prstGeom>
          <a:noFill/>
          <a:ln w="9525">
            <a:noFill/>
          </a:ln>
        </p:spPr>
      </p:pic>
      <p:sp>
        <p:nvSpPr>
          <p:cNvPr id="25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3"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54"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bg>
      <p:bgPr>
        <a:solidFill>
          <a:srgbClr val="6C9D30"/>
        </a:solidFill>
        <a:effectLst/>
      </p:bgPr>
    </p:bg>
    <p:spTree>
      <p:nvGrpSpPr>
        <p:cNvPr id="1" name=""/>
        <p:cNvGrpSpPr/>
        <p:nvPr/>
      </p:nvGrpSpPr>
      <p:grpSpPr>
        <a:xfrm>
          <a:off x="0" y="0"/>
          <a:ext cx="0" cy="0"/>
          <a:chOff x="0" y="0"/>
          <a:chExt cx="0" cy="0"/>
        </a:xfrm>
      </p:grpSpPr>
      <p:sp>
        <p:nvSpPr>
          <p:cNvPr id="2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57" name="Picture 24" descr="utdlogo"/>
          <p:cNvPicPr/>
          <p:nvPr/>
        </p:nvPicPr>
        <p:blipFill>
          <a:blip r:embed="rId2"/>
          <a:stretch/>
        </p:blipFill>
        <p:spPr>
          <a:xfrm>
            <a:off x="9304200" y="7254360"/>
            <a:ext cx="619200" cy="272880"/>
          </a:xfrm>
          <a:prstGeom prst="rect">
            <a:avLst/>
          </a:prstGeom>
          <a:noFill/>
          <a:ln w="9525">
            <a:noFill/>
          </a:ln>
        </p:spPr>
      </p:pic>
      <p:sp>
        <p:nvSpPr>
          <p:cNvPr id="2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0"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1"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62"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itle and Table">
    <p:bg>
      <p:bgPr>
        <a:solidFill>
          <a:srgbClr val="6C9D30"/>
        </a:solidFill>
        <a:effectLst/>
      </p:bgPr>
    </p:bg>
    <p:spTree>
      <p:nvGrpSpPr>
        <p:cNvPr id="1" name=""/>
        <p:cNvGrpSpPr/>
        <p:nvPr/>
      </p:nvGrpSpPr>
      <p:grpSpPr>
        <a:xfrm>
          <a:off x="0" y="0"/>
          <a:ext cx="0" cy="0"/>
          <a:chOff x="0" y="0"/>
          <a:chExt cx="0" cy="0"/>
        </a:xfrm>
      </p:grpSpPr>
      <p:sp>
        <p:nvSpPr>
          <p:cNvPr id="26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65" name="Picture 24" descr="utdlogo"/>
          <p:cNvPicPr/>
          <p:nvPr/>
        </p:nvPicPr>
        <p:blipFill>
          <a:blip r:embed="rId2"/>
          <a:stretch/>
        </p:blipFill>
        <p:spPr>
          <a:xfrm>
            <a:off x="9304200" y="7254360"/>
            <a:ext cx="619200" cy="272880"/>
          </a:xfrm>
          <a:prstGeom prst="rect">
            <a:avLst/>
          </a:prstGeom>
          <a:noFill/>
          <a:ln w="9525">
            <a:noFill/>
          </a:ln>
        </p:spPr>
      </p:pic>
      <p:sp>
        <p:nvSpPr>
          <p:cNvPr id="26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6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68"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Default 1">
    <p:bg>
      <p:bgPr>
        <a:solidFill>
          <a:srgbClr val="6C9D30"/>
        </a:solidFill>
        <a:effectLst/>
      </p:bgPr>
    </p:bg>
    <p:spTree>
      <p:nvGrpSpPr>
        <p:cNvPr id="1" name=""/>
        <p:cNvGrpSpPr/>
        <p:nvPr/>
      </p:nvGrpSpPr>
      <p:grpSpPr>
        <a:xfrm>
          <a:off x="0" y="0"/>
          <a:ext cx="0" cy="0"/>
          <a:chOff x="0" y="0"/>
          <a:chExt cx="0" cy="0"/>
        </a:xfrm>
      </p:grpSpPr>
      <p:sp>
        <p:nvSpPr>
          <p:cNvPr id="269"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0"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1" name="Picture 24" descr="utdlogo"/>
          <p:cNvPicPr/>
          <p:nvPr/>
        </p:nvPicPr>
        <p:blipFill>
          <a:blip r:embed="rId2"/>
          <a:stretch/>
        </p:blipFill>
        <p:spPr>
          <a:xfrm>
            <a:off x="9304200" y="7254360"/>
            <a:ext cx="619200" cy="272880"/>
          </a:xfrm>
          <a:prstGeom prst="rect">
            <a:avLst/>
          </a:prstGeom>
          <a:noFill/>
          <a:ln w="9525">
            <a:noFill/>
          </a:ln>
        </p:spPr>
      </p:pic>
      <p:sp>
        <p:nvSpPr>
          <p:cNvPr id="272"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3"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74"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ection Header">
    <p:bg>
      <p:bgPr>
        <a:solidFill>
          <a:srgbClr val="6C9D30"/>
        </a:solidFill>
        <a:effectLst/>
      </p:bgPr>
    </p:bg>
    <p:spTree>
      <p:nvGrpSpPr>
        <p:cNvPr id="1" name=""/>
        <p:cNvGrpSpPr/>
        <p:nvPr/>
      </p:nvGrpSpPr>
      <p:grpSpPr>
        <a:xfrm>
          <a:off x="0" y="0"/>
          <a:ext cx="0" cy="0"/>
          <a:chOff x="0" y="0"/>
          <a:chExt cx="0" cy="0"/>
        </a:xfrm>
      </p:grpSpPr>
      <p:sp>
        <p:nvSpPr>
          <p:cNvPr id="27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77" name="Picture 24" descr="utdlogo"/>
          <p:cNvPicPr/>
          <p:nvPr/>
        </p:nvPicPr>
        <p:blipFill>
          <a:blip r:embed="rId2"/>
          <a:stretch/>
        </p:blipFill>
        <p:spPr>
          <a:xfrm>
            <a:off x="9304200" y="7254360"/>
            <a:ext cx="619200" cy="272880"/>
          </a:xfrm>
          <a:prstGeom prst="rect">
            <a:avLst/>
          </a:prstGeom>
          <a:noFill/>
          <a:ln w="9525">
            <a:noFill/>
          </a:ln>
        </p:spPr>
      </p:pic>
      <p:sp>
        <p:nvSpPr>
          <p:cNvPr id="27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79"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280"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fault 2">
    <p:bg>
      <p:bgPr>
        <a:solidFill>
          <a:srgbClr val="6C9D30"/>
        </a:solidFill>
        <a:effectLst/>
      </p:bgPr>
    </p:bg>
    <p:spTree>
      <p:nvGrpSpPr>
        <p:cNvPr id="1" name=""/>
        <p:cNvGrpSpPr/>
        <p:nvPr/>
      </p:nvGrpSpPr>
      <p:grpSpPr>
        <a:xfrm>
          <a:off x="0" y="0"/>
          <a:ext cx="0" cy="0"/>
          <a:chOff x="0" y="0"/>
          <a:chExt cx="0" cy="0"/>
        </a:xfrm>
      </p:grpSpPr>
      <p:sp>
        <p:nvSpPr>
          <p:cNvPr id="28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83" name="Picture 24" descr="utdlogo"/>
          <p:cNvPicPr/>
          <p:nvPr/>
        </p:nvPicPr>
        <p:blipFill>
          <a:blip r:embed="rId2"/>
          <a:stretch/>
        </p:blipFill>
        <p:spPr>
          <a:xfrm>
            <a:off x="9304200" y="7254360"/>
            <a:ext cx="619200" cy="272880"/>
          </a:xfrm>
          <a:prstGeom prst="rect">
            <a:avLst/>
          </a:prstGeom>
          <a:noFill/>
          <a:ln w="9525">
            <a:noFill/>
          </a:ln>
        </p:spPr>
      </p:pic>
      <p:sp>
        <p:nvSpPr>
          <p:cNvPr id="28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86"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287"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Default 13">
    <p:bg>
      <p:bgPr>
        <a:solidFill>
          <a:srgbClr val="6C9D30"/>
        </a:solidFill>
        <a:effectLst/>
      </p:bgPr>
    </p:bg>
    <p:spTree>
      <p:nvGrpSpPr>
        <p:cNvPr id="1" name=""/>
        <p:cNvGrpSpPr/>
        <p:nvPr/>
      </p:nvGrpSpPr>
      <p:grpSpPr>
        <a:xfrm>
          <a:off x="0" y="0"/>
          <a:ext cx="0" cy="0"/>
          <a:chOff x="0" y="0"/>
          <a:chExt cx="0" cy="0"/>
        </a:xfrm>
      </p:grpSpPr>
      <p:sp>
        <p:nvSpPr>
          <p:cNvPr id="288"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89"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0" name="Picture 24" descr="utdlogo"/>
          <p:cNvPicPr/>
          <p:nvPr/>
        </p:nvPicPr>
        <p:blipFill>
          <a:blip r:embed="rId2"/>
          <a:stretch/>
        </p:blipFill>
        <p:spPr>
          <a:xfrm>
            <a:off x="9304200" y="7254360"/>
            <a:ext cx="619200" cy="272880"/>
          </a:xfrm>
          <a:prstGeom prst="rect">
            <a:avLst/>
          </a:prstGeom>
          <a:noFill/>
          <a:ln w="9525">
            <a:noFill/>
          </a:ln>
        </p:spPr>
      </p:pic>
      <p:sp>
        <p:nvSpPr>
          <p:cNvPr id="291"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2" name="PlaceHolder 1"/>
          <p:cNvSpPr>
            <a:spLocks noGrp="1"/>
          </p:cNvSpPr>
          <p:nvPr>
            <p:ph type="title"/>
          </p:nvPr>
        </p:nvSpPr>
        <p:spPr>
          <a:xfrm>
            <a:off x="502920" y="311400"/>
            <a:ext cx="9051840" cy="129456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293" name="PlaceHolder 2"/>
          <p:cNvSpPr>
            <a:spLocks noGrp="1"/>
          </p:cNvSpPr>
          <p:nvPr>
            <p:ph type="body"/>
          </p:nvPr>
        </p:nvSpPr>
        <p:spPr>
          <a:xfrm>
            <a:off x="502920" y="1739880"/>
            <a:ext cx="44434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4" name="PlaceHolder 3"/>
          <p:cNvSpPr>
            <a:spLocks noGrp="1"/>
          </p:cNvSpPr>
          <p:nvPr>
            <p:ph type="body"/>
          </p:nvPr>
        </p:nvSpPr>
        <p:spPr>
          <a:xfrm>
            <a:off x="502920" y="2464920"/>
            <a:ext cx="44434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295" name="PlaceHolder 4"/>
          <p:cNvSpPr>
            <a:spLocks noGrp="1"/>
          </p:cNvSpPr>
          <p:nvPr>
            <p:ph type="body"/>
          </p:nvPr>
        </p:nvSpPr>
        <p:spPr>
          <a:xfrm>
            <a:off x="5109480" y="1739880"/>
            <a:ext cx="4445280" cy="724320"/>
          </a:xfrm>
          <a:prstGeom prst="rect">
            <a:avLst/>
          </a:prstGeom>
          <a:noFill/>
          <a:ln w="9360">
            <a:noFill/>
          </a:ln>
        </p:spPr>
        <p:txBody>
          <a:bodyPr lIns="91440" tIns="45720" rIns="91440" bIns="45720" numCol="1" spcCol="0" anchor="b">
            <a:noAutofit/>
          </a:bodyPr>
          <a:lstStyle/>
          <a:p>
            <a:pPr indent="0">
              <a:lnSpc>
                <a:spcPct val="100000"/>
              </a:lnSpc>
              <a:spcBef>
                <a:spcPts val="527"/>
              </a:spcBef>
              <a:buNone/>
              <a:tabLst>
                <a:tab pos="0" algn="l"/>
              </a:tabLst>
            </a:pPr>
            <a:r>
              <a:rPr lang="en-US" sz="2640" b="1"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p:txBody>
      </p:sp>
      <p:sp>
        <p:nvSpPr>
          <p:cNvPr id="296" name="PlaceHolder 5"/>
          <p:cNvSpPr>
            <a:spLocks noGrp="1"/>
          </p:cNvSpPr>
          <p:nvPr>
            <p:ph type="body"/>
          </p:nvPr>
        </p:nvSpPr>
        <p:spPr>
          <a:xfrm>
            <a:off x="5109480" y="2464920"/>
            <a:ext cx="4445280" cy="4477320"/>
          </a:xfrm>
          <a:prstGeom prst="rect">
            <a:avLst/>
          </a:prstGeom>
          <a:noFill/>
          <a:ln w="9360">
            <a:noFill/>
          </a:ln>
        </p:spPr>
        <p:txBody>
          <a:bodyPr lIns="91440" tIns="45720" rIns="91440" bIns="45720" numCol="1" spcCol="0" anchor="t">
            <a:noAutofit/>
          </a:bodyPr>
          <a:lstStyle/>
          <a:p>
            <a:pPr marL="377280" indent="-377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Click to edit Master text styles</a:t>
            </a:r>
            <a:endParaRPr lang="en-US" sz="2640" b="0" u="none" strike="noStrike">
              <a:solidFill>
                <a:srgbClr val="FFFFFF"/>
              </a:solidFill>
              <a:effectLst/>
              <a:uFillTx/>
              <a:latin typeface="Arial"/>
            </a:endParaRPr>
          </a:p>
          <a:p>
            <a:pPr marL="817200" lvl="1" indent="-31428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Second level</a:t>
            </a:r>
            <a:endParaRPr lang="en-US" sz="2200" b="0" u="none" strike="noStrike">
              <a:solidFill>
                <a:srgbClr val="FFFFFF"/>
              </a:solidFill>
              <a:effectLst/>
              <a:uFillTx/>
              <a:latin typeface="Arial"/>
            </a:endParaRPr>
          </a:p>
          <a:p>
            <a:pPr marL="1257480" lvl="2"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Third level</a:t>
            </a:r>
            <a:endParaRPr lang="en-US" sz="1979" b="0" u="none" strike="noStrike">
              <a:solidFill>
                <a:srgbClr val="FFFFFF"/>
              </a:solidFill>
              <a:effectLst/>
              <a:uFillTx/>
              <a:latin typeface="Arial"/>
            </a:endParaRPr>
          </a:p>
          <a:p>
            <a:pPr marL="1760400" lvl="3" indent="-251640">
              <a:lnSpc>
                <a:spcPct val="100000"/>
              </a:lnSpc>
              <a:spcBef>
                <a:spcPts val="351"/>
              </a:spcBef>
              <a:buClr>
                <a:srgbClr val="000000"/>
              </a:buClr>
              <a:buFont typeface="Symbol" charset="2"/>
              <a:buChar char=""/>
            </a:pPr>
            <a:r>
              <a:rPr lang="en-US" sz="1760" b="0" u="none" strike="noStrike">
                <a:solidFill>
                  <a:schemeClr val="dk1"/>
                </a:solidFill>
                <a:effectLst/>
                <a:uFillTx/>
                <a:latin typeface="Arial"/>
                <a:ea typeface="Osaka"/>
              </a:rPr>
              <a:t>Fourth level</a:t>
            </a:r>
            <a:endParaRPr lang="en-US" sz="176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Default 14">
    <p:bg>
      <p:bgPr>
        <a:solidFill>
          <a:srgbClr val="6C9D30"/>
        </a:solidFill>
        <a:effectLst/>
      </p:bgPr>
    </p:bg>
    <p:spTree>
      <p:nvGrpSpPr>
        <p:cNvPr id="1" name=""/>
        <p:cNvGrpSpPr/>
        <p:nvPr/>
      </p:nvGrpSpPr>
      <p:grpSpPr>
        <a:xfrm>
          <a:off x="0" y="0"/>
          <a:ext cx="0" cy="0"/>
          <a:chOff x="0" y="0"/>
          <a:chExt cx="0" cy="0"/>
        </a:xfrm>
      </p:grpSpPr>
      <p:sp>
        <p:nvSpPr>
          <p:cNvPr id="29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29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299" name="Picture 24" descr="utdlogo"/>
          <p:cNvPicPr/>
          <p:nvPr/>
        </p:nvPicPr>
        <p:blipFill>
          <a:blip r:embed="rId2"/>
          <a:stretch/>
        </p:blipFill>
        <p:spPr>
          <a:xfrm>
            <a:off x="9304200" y="7254360"/>
            <a:ext cx="619200" cy="272880"/>
          </a:xfrm>
          <a:prstGeom prst="rect">
            <a:avLst/>
          </a:prstGeom>
          <a:noFill/>
          <a:ln w="9525">
            <a:noFill/>
          </a:ln>
        </p:spPr>
      </p:pic>
      <p:sp>
        <p:nvSpPr>
          <p:cNvPr id="30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efault 15">
    <p:bg>
      <p:bgPr>
        <a:solidFill>
          <a:srgbClr val="6C9D30"/>
        </a:solidFill>
        <a:effectLst/>
      </p:bgPr>
    </p:bg>
    <p:spTree>
      <p:nvGrpSpPr>
        <p:cNvPr id="1" name=""/>
        <p:cNvGrpSpPr/>
        <p:nvPr/>
      </p:nvGrpSpPr>
      <p:grpSpPr>
        <a:xfrm>
          <a:off x="0" y="0"/>
          <a:ext cx="0" cy="0"/>
          <a:chOff x="0" y="0"/>
          <a:chExt cx="0" cy="0"/>
        </a:xfrm>
      </p:grpSpPr>
      <p:sp>
        <p:nvSpPr>
          <p:cNvPr id="302"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3"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4" name="Picture 24" descr="utdlogo"/>
          <p:cNvPicPr/>
          <p:nvPr/>
        </p:nvPicPr>
        <p:blipFill>
          <a:blip r:embed="rId2"/>
          <a:stretch/>
        </p:blipFill>
        <p:spPr>
          <a:xfrm>
            <a:off x="9304200" y="7254360"/>
            <a:ext cx="619200" cy="272880"/>
          </a:xfrm>
          <a:prstGeom prst="rect">
            <a:avLst/>
          </a:prstGeom>
          <a:noFill/>
          <a:ln w="9525">
            <a:noFill/>
          </a:ln>
        </p:spPr>
      </p:pic>
      <p:sp>
        <p:nvSpPr>
          <p:cNvPr id="305"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efault 16">
    <p:bg>
      <p:bgPr>
        <a:solidFill>
          <a:srgbClr val="6C9D30"/>
        </a:solidFill>
        <a:effectLst/>
      </p:bgPr>
    </p:bg>
    <p:spTree>
      <p:nvGrpSpPr>
        <p:cNvPr id="1" name=""/>
        <p:cNvGrpSpPr/>
        <p:nvPr/>
      </p:nvGrpSpPr>
      <p:grpSpPr>
        <a:xfrm>
          <a:off x="0" y="0"/>
          <a:ext cx="0" cy="0"/>
          <a:chOff x="0" y="0"/>
          <a:chExt cx="0" cy="0"/>
        </a:xfrm>
      </p:grpSpPr>
      <p:sp>
        <p:nvSpPr>
          <p:cNvPr id="306"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07"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08" name="Picture 24" descr="utdlogo"/>
          <p:cNvPicPr/>
          <p:nvPr/>
        </p:nvPicPr>
        <p:blipFill>
          <a:blip r:embed="rId2"/>
          <a:stretch/>
        </p:blipFill>
        <p:spPr>
          <a:xfrm>
            <a:off x="9304200" y="7254360"/>
            <a:ext cx="619200" cy="272880"/>
          </a:xfrm>
          <a:prstGeom prst="rect">
            <a:avLst/>
          </a:prstGeom>
          <a:noFill/>
          <a:ln w="9525">
            <a:noFill/>
          </a:ln>
        </p:spPr>
      </p:pic>
      <p:sp>
        <p:nvSpPr>
          <p:cNvPr id="309"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0" name="PlaceHolder 1"/>
          <p:cNvSpPr>
            <a:spLocks noGrp="1"/>
          </p:cNvSpPr>
          <p:nvPr>
            <p:ph type="title"/>
          </p:nvPr>
        </p:nvSpPr>
        <p:spPr>
          <a:xfrm>
            <a:off x="502920" y="309600"/>
            <a:ext cx="3308400" cy="131616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1" name="PlaceHolder 2"/>
          <p:cNvSpPr>
            <a:spLocks noGrp="1"/>
          </p:cNvSpPr>
          <p:nvPr>
            <p:ph type="body"/>
          </p:nvPr>
        </p:nvSpPr>
        <p:spPr>
          <a:xfrm>
            <a:off x="3932640" y="309600"/>
            <a:ext cx="5622120" cy="6632640"/>
          </a:xfrm>
          <a:prstGeom prst="rect">
            <a:avLst/>
          </a:prstGeom>
          <a:noFill/>
          <a:ln w="9360">
            <a:noFill/>
          </a:ln>
        </p:spPr>
        <p:txBody>
          <a:bodyPr lIns="91440" tIns="45720" rIns="91440" bIns="45720" numCol="1" spcCol="0" anchor="t">
            <a:noAutofit/>
          </a:bodyPr>
          <a:lstStyle/>
          <a:p>
            <a:pPr marL="377280" indent="-377280">
              <a:lnSpc>
                <a:spcPct val="100000"/>
              </a:lnSpc>
              <a:spcBef>
                <a:spcPts val="703"/>
              </a:spcBef>
              <a:buClr>
                <a:srgbClr val="000000"/>
              </a:buClr>
              <a:buFont typeface="Symbol" charset="2"/>
              <a:buChar char=""/>
            </a:pPr>
            <a:r>
              <a:rPr lang="en-US" sz="3520" b="0" u="none" strike="noStrike">
                <a:solidFill>
                  <a:schemeClr val="dk1"/>
                </a:solidFill>
                <a:effectLst/>
                <a:uFillTx/>
                <a:latin typeface="Arial"/>
                <a:ea typeface="Osaka"/>
              </a:rPr>
              <a:t>Click to edit Master text styles</a:t>
            </a:r>
            <a:endParaRPr lang="en-US" sz="3520" b="0" u="none" strike="noStrike">
              <a:solidFill>
                <a:srgbClr val="FFFFFF"/>
              </a:solidFill>
              <a:effectLst/>
              <a:uFillTx/>
              <a:latin typeface="Arial"/>
            </a:endParaRPr>
          </a:p>
          <a:p>
            <a:pPr marL="817200" lvl="1" indent="-314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Second level</a:t>
            </a:r>
            <a:endParaRPr lang="en-US" sz="3080" b="0" u="none" strike="noStrike">
              <a:solidFill>
                <a:srgbClr val="FFFFFF"/>
              </a:solidFill>
              <a:effectLst/>
              <a:uFillTx/>
              <a:latin typeface="Arial"/>
            </a:endParaRPr>
          </a:p>
          <a:p>
            <a:pPr marL="1257480" lvl="2" indent="-25164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Third level</a:t>
            </a:r>
            <a:endParaRPr lang="en-US" sz="2640" b="0" u="none" strike="noStrike">
              <a:solidFill>
                <a:srgbClr val="FFFFFF"/>
              </a:solidFill>
              <a:effectLst/>
              <a:uFillTx/>
              <a:latin typeface="Arial"/>
            </a:endParaRPr>
          </a:p>
          <a:p>
            <a:pPr marL="1760400" lvl="3"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Fourth level</a:t>
            </a:r>
            <a:endParaRPr lang="en-US" sz="2200" b="0" u="none" strike="noStrike">
              <a:solidFill>
                <a:srgbClr val="FFFFFF"/>
              </a:solidFill>
              <a:effectLst/>
              <a:uFillTx/>
              <a:latin typeface="Arial"/>
            </a:endParaRPr>
          </a:p>
          <a:p>
            <a:pPr marL="2263320" lvl="4" indent="-251640">
              <a:lnSpc>
                <a:spcPct val="100000"/>
              </a:lnSpc>
              <a:spcBef>
                <a:spcPts val="439"/>
              </a:spcBef>
              <a:buClr>
                <a:srgbClr val="000000"/>
              </a:buClr>
              <a:buFont typeface="OpenSymbol"/>
              <a:buChar char="»"/>
            </a:pPr>
            <a:r>
              <a:rPr lang="en-US" sz="2200" b="0" u="none" strike="noStrike">
                <a:solidFill>
                  <a:schemeClr val="dk1"/>
                </a:solidFill>
                <a:effectLst/>
                <a:uFillTx/>
                <a:latin typeface="Arial"/>
                <a:ea typeface="Osaka"/>
              </a:rPr>
              <a:t>Fifth level</a:t>
            </a:r>
            <a:endParaRPr lang="en-US" sz="2200" b="0" u="none" strike="noStrike">
              <a:solidFill>
                <a:srgbClr val="FFFFFF"/>
              </a:solidFill>
              <a:effectLst/>
              <a:uFillTx/>
              <a:latin typeface="Arial"/>
            </a:endParaRPr>
          </a:p>
        </p:txBody>
      </p:sp>
      <p:sp>
        <p:nvSpPr>
          <p:cNvPr id="312" name="PlaceHolder 3"/>
          <p:cNvSpPr>
            <a:spLocks noGrp="1"/>
          </p:cNvSpPr>
          <p:nvPr>
            <p:ph type="body"/>
          </p:nvPr>
        </p:nvSpPr>
        <p:spPr>
          <a:xfrm>
            <a:off x="502920" y="1626480"/>
            <a:ext cx="3308400" cy="531576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efault 17">
    <p:bg>
      <p:bgPr>
        <a:solidFill>
          <a:srgbClr val="6C9D30"/>
        </a:solidFill>
        <a:effectLst/>
      </p:bgPr>
    </p:bg>
    <p:spTree>
      <p:nvGrpSpPr>
        <p:cNvPr id="1" name=""/>
        <p:cNvGrpSpPr/>
        <p:nvPr/>
      </p:nvGrpSpPr>
      <p:grpSpPr>
        <a:xfrm>
          <a:off x="0" y="0"/>
          <a:ext cx="0" cy="0"/>
          <a:chOff x="0" y="0"/>
          <a:chExt cx="0" cy="0"/>
        </a:xfrm>
      </p:grpSpPr>
      <p:sp>
        <p:nvSpPr>
          <p:cNvPr id="31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15" name="Picture 24" descr="utdlogo"/>
          <p:cNvPicPr/>
          <p:nvPr/>
        </p:nvPicPr>
        <p:blipFill>
          <a:blip r:embed="rId2"/>
          <a:stretch/>
        </p:blipFill>
        <p:spPr>
          <a:xfrm>
            <a:off x="9304200" y="7254360"/>
            <a:ext cx="619200" cy="272880"/>
          </a:xfrm>
          <a:prstGeom prst="rect">
            <a:avLst/>
          </a:prstGeom>
          <a:noFill/>
          <a:ln w="9525">
            <a:noFill/>
          </a:ln>
        </p:spPr>
      </p:pic>
      <p:sp>
        <p:nvSpPr>
          <p:cNvPr id="31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17" name="PlaceHolder 1"/>
          <p:cNvSpPr>
            <a:spLocks noGrp="1"/>
          </p:cNvSpPr>
          <p:nvPr>
            <p:ph type="title"/>
          </p:nvPr>
        </p:nvSpPr>
        <p:spPr>
          <a:xfrm>
            <a:off x="1971360" y="5440680"/>
            <a:ext cx="6034320" cy="641520"/>
          </a:xfrm>
          <a:prstGeom prst="rect">
            <a:avLst/>
          </a:prstGeom>
          <a:noFill/>
          <a:ln w="9360">
            <a:noFill/>
          </a:ln>
        </p:spPr>
        <p:txBody>
          <a:bodyPr lIns="91440" tIns="45720" rIns="91440" bIns="45720" numCol="1" spcCol="0" anchor="b">
            <a:noAutofit/>
          </a:bodyPr>
          <a:lstStyle/>
          <a:p>
            <a:pPr indent="0">
              <a:lnSpc>
                <a:spcPct val="100000"/>
              </a:lnSpc>
              <a:buNone/>
              <a:tabLst>
                <a:tab pos="0" algn="l"/>
              </a:tabLst>
            </a:pPr>
            <a:r>
              <a:rPr lang="en-US" sz="2200" b="1" u="none" strike="noStrike">
                <a:solidFill>
                  <a:schemeClr val="lt1"/>
                </a:solidFill>
                <a:effectLst/>
                <a:uFillTx/>
                <a:latin typeface="Arial"/>
                <a:ea typeface="Osaka"/>
              </a:rPr>
              <a:t>Click to edit Master title style</a:t>
            </a:r>
            <a:endParaRPr lang="en-US" sz="2200" b="0" u="none" strike="noStrike">
              <a:solidFill>
                <a:srgbClr val="FFFFFF"/>
              </a:solidFill>
              <a:effectLst/>
              <a:uFillTx/>
              <a:latin typeface="Arial"/>
            </a:endParaRPr>
          </a:p>
        </p:txBody>
      </p:sp>
      <p:sp>
        <p:nvSpPr>
          <p:cNvPr id="318" name="PlaceHolder 2"/>
          <p:cNvSpPr>
            <a:spLocks noGrp="1"/>
          </p:cNvSpPr>
          <p:nvPr>
            <p:ph type="body"/>
          </p:nvPr>
        </p:nvSpPr>
        <p:spPr>
          <a:xfrm>
            <a:off x="1971360" y="694440"/>
            <a:ext cx="6034320" cy="46627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520" b="0" u="none" strike="noStrike">
                <a:solidFill>
                  <a:schemeClr val="dk1"/>
                </a:solidFill>
                <a:effectLst/>
                <a:uFillTx/>
                <a:latin typeface="Arial"/>
                <a:ea typeface="Osaka"/>
              </a:rPr>
              <a:t>Click icon to add picture</a:t>
            </a:r>
            <a:endParaRPr lang="en-US" sz="3520" b="0" u="none" strike="noStrike">
              <a:solidFill>
                <a:srgbClr val="FFFFFF"/>
              </a:solidFill>
              <a:effectLst/>
              <a:uFillTx/>
              <a:latin typeface="Arial"/>
            </a:endParaRPr>
          </a:p>
        </p:txBody>
      </p:sp>
      <p:sp>
        <p:nvSpPr>
          <p:cNvPr id="319" name="PlaceHolder 3"/>
          <p:cNvSpPr>
            <a:spLocks noGrp="1"/>
          </p:cNvSpPr>
          <p:nvPr>
            <p:ph type="body"/>
          </p:nvPr>
        </p:nvSpPr>
        <p:spPr>
          <a:xfrm>
            <a:off x="1971360" y="6082920"/>
            <a:ext cx="6034320" cy="911520"/>
          </a:xfrm>
          <a:prstGeom prst="rect">
            <a:avLst/>
          </a:prstGeom>
          <a:noFill/>
          <a:ln w="9360">
            <a:noFill/>
          </a:ln>
        </p:spPr>
        <p:txBody>
          <a:bodyPr lIns="91440" tIns="45720" rIns="91440" bIns="45720" numCol="1" spcCol="0" anchor="t">
            <a:noAutofit/>
          </a:bodyPr>
          <a:lstStyle/>
          <a:p>
            <a:pPr indent="0">
              <a:lnSpc>
                <a:spcPct val="100000"/>
              </a:lnSpc>
              <a:spcBef>
                <a:spcPts val="309"/>
              </a:spcBef>
              <a:buNone/>
              <a:tabLst>
                <a:tab pos="0" algn="l"/>
              </a:tabLst>
            </a:pPr>
            <a:r>
              <a:rPr lang="en-US" sz="1540" b="0" u="none" strike="noStrike">
                <a:solidFill>
                  <a:schemeClr val="dk1"/>
                </a:solidFill>
                <a:effectLst/>
                <a:uFillTx/>
                <a:latin typeface="Arial"/>
                <a:ea typeface="Osaka"/>
              </a:rPr>
              <a:t>Click to edit Master text styles</a:t>
            </a:r>
            <a:endParaRPr lang="en-US" sz="1540" b="0" u="none" strike="noStrike">
              <a:solidFill>
                <a:srgbClr val="FFFFFF"/>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5">
    <p:bg>
      <p:bgPr>
        <a:solidFill>
          <a:schemeClr val="lt1"/>
        </a:solidFill>
        <a:effectLst/>
      </p:bgPr>
    </p:bg>
    <p:spTree>
      <p:nvGrpSpPr>
        <p:cNvPr id="1" name=""/>
        <p:cNvGrpSpPr/>
        <p:nvPr/>
      </p:nvGrpSpPr>
      <p:grpSpPr>
        <a:xfrm>
          <a:off x="0" y="0"/>
          <a:ext cx="0" cy="0"/>
          <a:chOff x="0" y="0"/>
          <a:chExt cx="0" cy="0"/>
        </a:xfrm>
      </p:grpSpPr>
      <p:sp>
        <p:nvSpPr>
          <p:cNvPr id="320" name="Rectangle 21" hidden="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1" name="Text Box 22" hidden="1"/>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22" name="Picture 24" descr="utdlogo"/>
          <p:cNvPicPr/>
          <p:nvPr/>
        </p:nvPicPr>
        <p:blipFill>
          <a:blip r:embed="rId2"/>
          <a:stretch/>
        </p:blipFill>
        <p:spPr>
          <a:xfrm>
            <a:off x="9304200" y="7254360"/>
            <a:ext cx="619200" cy="272880"/>
          </a:xfrm>
          <a:prstGeom prst="rect">
            <a:avLst/>
          </a:prstGeom>
          <a:noFill/>
          <a:ln w="9525">
            <a:noFill/>
          </a:ln>
        </p:spPr>
      </p:pic>
      <p:sp>
        <p:nvSpPr>
          <p:cNvPr id="323" name="Rectangle 29" hidden="1"/>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4" name="Rectangle 3"/>
          <p:cNvSpPr/>
          <p:nvPr/>
        </p:nvSpPr>
        <p:spPr>
          <a:xfrm>
            <a:off x="2514600" y="0"/>
            <a:ext cx="7543080" cy="603720"/>
          </a:xfrm>
          <a:prstGeom prst="rect">
            <a:avLst/>
          </a:prstGeom>
          <a:solidFill>
            <a:srgbClr val="6C9D30"/>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5" name="Rectangle 4"/>
          <p:cNvSpPr/>
          <p:nvPr/>
        </p:nvSpPr>
        <p:spPr>
          <a:xfrm>
            <a:off x="0" y="0"/>
            <a:ext cx="2513880" cy="603720"/>
          </a:xfrm>
          <a:prstGeom prst="rect">
            <a:avLst/>
          </a:prstGeom>
          <a:solidFill>
            <a:srgbClr val="E4701D"/>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26" name="Line 9"/>
          <p:cNvSpPr/>
          <p:nvPr/>
        </p:nvSpPr>
        <p:spPr>
          <a:xfrm>
            <a:off x="0" y="60444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27" name="Line 10"/>
          <p:cNvSpPr/>
          <p:nvPr/>
        </p:nvSpPr>
        <p:spPr>
          <a:xfrm>
            <a:off x="2514600" y="0"/>
            <a:ext cx="360" cy="60444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en-US" sz="3080" b="0" u="none" strike="noStrike">
              <a:solidFill>
                <a:srgbClr val="000000"/>
              </a:solidFill>
              <a:effectLst/>
              <a:uFillTx/>
              <a:latin typeface="Arial"/>
              <a:ea typeface="ＭＳ Ｐゴシック"/>
            </a:endParaRPr>
          </a:p>
        </p:txBody>
      </p:sp>
      <p:sp>
        <p:nvSpPr>
          <p:cNvPr id="328" name="Text Box 11"/>
          <p:cNvSpPr/>
          <p:nvPr/>
        </p:nvSpPr>
        <p:spPr>
          <a:xfrm>
            <a:off x="381600" y="102600"/>
            <a:ext cx="1625400" cy="396360"/>
          </a:xfrm>
          <a:prstGeom prst="rect">
            <a:avLst/>
          </a:prstGeom>
          <a:noFill/>
          <a:ln w="9525">
            <a:noFill/>
          </a:ln>
          <a:effectLst>
            <a:outerShdw dist="25455" dir="2700000" algn="ctr" rotWithShape="0">
              <a:srgbClr val="808080"/>
            </a:outerShdw>
          </a:effectLst>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979" b="1" u="none" strike="noStrike">
                <a:solidFill>
                  <a:srgbClr val="FFFFFF"/>
                </a:solidFill>
                <a:effectLst/>
                <a:uFillTx/>
                <a:latin typeface="Times New Roman"/>
                <a:ea typeface="ＭＳ Ｐゴシック"/>
              </a:rPr>
              <a:t>UT DALLAS</a:t>
            </a:r>
            <a:endParaRPr lang="en-US" sz="1979" b="0" u="none" strike="noStrike">
              <a:solidFill>
                <a:srgbClr val="000000"/>
              </a:solidFill>
              <a:effectLst/>
              <a:uFillTx/>
              <a:latin typeface="Arial"/>
            </a:endParaRPr>
          </a:p>
        </p:txBody>
      </p:sp>
      <p:sp>
        <p:nvSpPr>
          <p:cNvPr id="329" name="Text Box 12"/>
          <p:cNvSpPr/>
          <p:nvPr/>
        </p:nvSpPr>
        <p:spPr>
          <a:xfrm>
            <a:off x="2682360" y="136800"/>
            <a:ext cx="6788880" cy="32868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771"/>
              </a:spcBef>
            </a:pPr>
            <a:r>
              <a:rPr lang="en-US" sz="1540" b="0" u="none" strike="noStrike">
                <a:solidFill>
                  <a:srgbClr val="FFFFFF"/>
                </a:solidFill>
                <a:effectLst/>
                <a:uFillTx/>
                <a:latin typeface="Arial"/>
                <a:ea typeface="ＭＳ Ｐゴシック"/>
              </a:rPr>
              <a:t>Erik Jonsson School of Engineering &amp; Computer Science</a:t>
            </a:r>
            <a:endParaRPr lang="en-US" sz="1540" b="0" u="none" strike="noStrike">
              <a:solidFill>
                <a:srgbClr val="000000"/>
              </a:solidFill>
              <a:effectLst/>
              <a:uFillTx/>
              <a:latin typeface="Arial"/>
            </a:endParaRPr>
          </a:p>
        </p:txBody>
      </p:sp>
      <p:sp>
        <p:nvSpPr>
          <p:cNvPr id="330" name="Rectangle 9"/>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1" name="Text Box 14"/>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000000"/>
              </a:solidFill>
              <a:effectLst/>
              <a:uFillTx/>
              <a:latin typeface="Arial"/>
            </a:endParaRPr>
          </a:p>
        </p:txBody>
      </p:sp>
      <p:pic>
        <p:nvPicPr>
          <p:cNvPr id="332" name="Picture 16" descr="utdlogo"/>
          <p:cNvPicPr/>
          <p:nvPr/>
        </p:nvPicPr>
        <p:blipFill>
          <a:blip r:embed="rId2"/>
          <a:stretch/>
        </p:blipFill>
        <p:spPr>
          <a:xfrm>
            <a:off x="9304200" y="7254360"/>
            <a:ext cx="619200" cy="272880"/>
          </a:xfrm>
          <a:prstGeom prst="rect">
            <a:avLst/>
          </a:prstGeom>
          <a:noFill/>
          <a:ln w="9525">
            <a:noFill/>
          </a:ln>
        </p:spPr>
      </p:pic>
      <p:sp>
        <p:nvSpPr>
          <p:cNvPr id="333" name="Line 17"/>
          <p:cNvSpPr/>
          <p:nvPr/>
        </p:nvSpPr>
        <p:spPr>
          <a:xfrm>
            <a:off x="0" y="7081200"/>
            <a:ext cx="10058400" cy="360"/>
          </a:xfrm>
          <a:prstGeom prst="line">
            <a:avLst/>
          </a:prstGeom>
          <a:ln w="19050">
            <a:solidFill>
              <a:srgbClr val="FFFFFF"/>
            </a:solidFill>
            <a:round/>
          </a:ln>
        </p:spPr>
        <p:style>
          <a:lnRef idx="0">
            <a:scrgbClr r="0" g="0" b="0"/>
          </a:lnRef>
          <a:fillRef idx="0">
            <a:scrgbClr r="0" g="0" b="0"/>
          </a:fillRef>
          <a:effectRef idx="0">
            <a:scrgbClr r="0" g="0" b="0"/>
          </a:effectRef>
          <a:fontRef idx="minor"/>
        </p:style>
        <p:txBody>
          <a:bodyPr lIns="90000" tIns="-44640" rIns="90000" bIns="-44640" anchor="ctr">
            <a:noAutofit/>
          </a:bodyPr>
          <a:lstStyle/>
          <a:p>
            <a:endParaRPr lang="en-US" sz="3080" b="0" u="none" strike="noStrike">
              <a:solidFill>
                <a:srgbClr val="000000"/>
              </a:solidFill>
              <a:effectLst/>
              <a:uFillTx/>
              <a:latin typeface="Arial"/>
              <a:ea typeface="ＭＳ Ｐゴシック"/>
            </a:endParaRPr>
          </a:p>
        </p:txBody>
      </p:sp>
      <p:sp>
        <p:nvSpPr>
          <p:cNvPr id="334" name="PlaceHolder 1"/>
          <p:cNvSpPr>
            <a:spLocks noGrp="1"/>
          </p:cNvSpPr>
          <p:nvPr>
            <p:ph type="title"/>
          </p:nvPr>
        </p:nvSpPr>
        <p:spPr>
          <a:xfrm>
            <a:off x="754560" y="1986120"/>
            <a:ext cx="8548920" cy="1294560"/>
          </a:xfrm>
          <a:prstGeom prst="rect">
            <a:avLst/>
          </a:prstGeom>
          <a:noFill/>
          <a:ln w="9360">
            <a:noFill/>
          </a:ln>
        </p:spPr>
        <p:txBody>
          <a:bodyPr lIns="91440" tIns="45720" rIns="91440" bIns="45720" numCol="1" spcCol="0" anchor="ctr">
            <a:noAutofit/>
          </a:bodyPr>
          <a:lstStyle/>
          <a:p>
            <a:pPr indent="0" algn="ctr">
              <a:lnSpc>
                <a:spcPct val="100000"/>
              </a:lnSpc>
              <a:buNone/>
              <a:tabLst>
                <a:tab pos="0" algn="l"/>
              </a:tabLst>
            </a:pPr>
            <a:r>
              <a:rPr lang="en-US" sz="3959" b="1" u="none" strike="noStrike">
                <a:solidFill>
                  <a:schemeClr val="dk1"/>
                </a:solidFill>
                <a:effectLst/>
                <a:uFillTx/>
                <a:latin typeface="Arial"/>
                <a:ea typeface="Osaka"/>
              </a:rPr>
              <a:t>Click to edit Master title style</a:t>
            </a:r>
            <a:endParaRPr lang="en-US" sz="3959" b="0" u="none" strike="noStrike">
              <a:solidFill>
                <a:srgbClr val="000000"/>
              </a:solidFill>
              <a:effectLst/>
              <a:uFillTx/>
              <a:latin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Default 6">
    <p:bg>
      <p:bgPr>
        <a:solidFill>
          <a:srgbClr val="6C9D30"/>
        </a:solidFill>
        <a:effectLst/>
      </p:bgPr>
    </p:bg>
    <p:spTree>
      <p:nvGrpSpPr>
        <p:cNvPr id="1" name=""/>
        <p:cNvGrpSpPr/>
        <p:nvPr/>
      </p:nvGrpSpPr>
      <p:grpSpPr>
        <a:xfrm>
          <a:off x="0" y="0"/>
          <a:ext cx="0" cy="0"/>
          <a:chOff x="0" y="0"/>
          <a:chExt cx="0" cy="0"/>
        </a:xfrm>
      </p:grpSpPr>
      <p:sp>
        <p:nvSpPr>
          <p:cNvPr id="33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37" name="Picture 24" descr="utdlogo"/>
          <p:cNvPicPr/>
          <p:nvPr/>
        </p:nvPicPr>
        <p:blipFill>
          <a:blip r:embed="rId2"/>
          <a:stretch/>
        </p:blipFill>
        <p:spPr>
          <a:xfrm>
            <a:off x="9304200" y="7254360"/>
            <a:ext cx="619200" cy="272880"/>
          </a:xfrm>
          <a:prstGeom prst="rect">
            <a:avLst/>
          </a:prstGeom>
          <a:noFill/>
          <a:ln w="9525">
            <a:noFill/>
          </a:ln>
        </p:spPr>
      </p:pic>
      <p:sp>
        <p:nvSpPr>
          <p:cNvPr id="33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3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0" name="PlaceHolder 2"/>
          <p:cNvSpPr>
            <a:spLocks noGrp="1"/>
          </p:cNvSpPr>
          <p:nvPr>
            <p:ph type="body"/>
          </p:nvPr>
        </p:nvSpPr>
        <p:spPr>
          <a:xfrm>
            <a:off x="754560" y="1813680"/>
            <a:ext cx="8548920" cy="353988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Default 7">
    <p:bg>
      <p:bgPr>
        <a:solidFill>
          <a:srgbClr val="6C9D30"/>
        </a:solidFill>
        <a:effectLst/>
      </p:bgPr>
    </p:bg>
    <p:spTree>
      <p:nvGrpSpPr>
        <p:cNvPr id="1" name=""/>
        <p:cNvGrpSpPr/>
        <p:nvPr/>
      </p:nvGrpSpPr>
      <p:grpSpPr>
        <a:xfrm>
          <a:off x="0" y="0"/>
          <a:ext cx="0" cy="0"/>
          <a:chOff x="0" y="0"/>
          <a:chExt cx="0" cy="0"/>
        </a:xfrm>
      </p:grpSpPr>
      <p:sp>
        <p:nvSpPr>
          <p:cNvPr id="34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3" name="Picture 24" descr="utdlogo"/>
          <p:cNvPicPr/>
          <p:nvPr/>
        </p:nvPicPr>
        <p:blipFill>
          <a:blip r:embed="rId2"/>
          <a:stretch/>
        </p:blipFill>
        <p:spPr>
          <a:xfrm>
            <a:off x="9304200" y="7254360"/>
            <a:ext cx="619200" cy="272880"/>
          </a:xfrm>
          <a:prstGeom prst="rect">
            <a:avLst/>
          </a:prstGeom>
          <a:noFill/>
          <a:ln w="9525">
            <a:noFill/>
          </a:ln>
        </p:spPr>
      </p:pic>
      <p:sp>
        <p:nvSpPr>
          <p:cNvPr id="34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5" name="PlaceHolder 1"/>
          <p:cNvSpPr>
            <a:spLocks noGrp="1"/>
          </p:cNvSpPr>
          <p:nvPr>
            <p:ph type="title"/>
          </p:nvPr>
        </p:nvSpPr>
        <p:spPr>
          <a:xfrm>
            <a:off x="7166520" y="172800"/>
            <a:ext cx="2136600" cy="5180760"/>
          </a:xfrm>
          <a:prstGeom prst="rect">
            <a:avLst/>
          </a:prstGeom>
          <a:noFill/>
          <a:ln w="9360">
            <a:noFill/>
          </a:ln>
        </p:spPr>
        <p:txBody>
          <a:bodyPr vert="eaVert"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46" name="PlaceHolder 2"/>
          <p:cNvSpPr>
            <a:spLocks noGrp="1"/>
          </p:cNvSpPr>
          <p:nvPr>
            <p:ph type="body"/>
          </p:nvPr>
        </p:nvSpPr>
        <p:spPr>
          <a:xfrm>
            <a:off x="754560" y="172800"/>
            <a:ext cx="6243840" cy="5180760"/>
          </a:xfrm>
          <a:prstGeom prst="rect">
            <a:avLst/>
          </a:prstGeom>
          <a:noFill/>
          <a:ln w="9360">
            <a:noFill/>
          </a:ln>
        </p:spPr>
        <p:txBody>
          <a:bodyPr vert="eaVert"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AndTwoObj" preserve="1">
  <p:cSld name="Default 8">
    <p:bg>
      <p:bgPr>
        <a:solidFill>
          <a:srgbClr val="6C9D30"/>
        </a:solidFill>
        <a:effectLst/>
      </p:bgPr>
    </p:bg>
    <p:spTree>
      <p:nvGrpSpPr>
        <p:cNvPr id="1" name=""/>
        <p:cNvGrpSpPr/>
        <p:nvPr/>
      </p:nvGrpSpPr>
      <p:grpSpPr>
        <a:xfrm>
          <a:off x="0" y="0"/>
          <a:ext cx="0" cy="0"/>
          <a:chOff x="0" y="0"/>
          <a:chExt cx="0" cy="0"/>
        </a:xfrm>
      </p:grpSpPr>
      <p:sp>
        <p:nvSpPr>
          <p:cNvPr id="34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4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49" name="Picture 24" descr="utdlogo"/>
          <p:cNvPicPr/>
          <p:nvPr/>
        </p:nvPicPr>
        <p:blipFill>
          <a:blip r:embed="rId2"/>
          <a:stretch/>
        </p:blipFill>
        <p:spPr>
          <a:xfrm>
            <a:off x="9304200" y="7254360"/>
            <a:ext cx="619200" cy="272880"/>
          </a:xfrm>
          <a:prstGeom prst="rect">
            <a:avLst/>
          </a:prstGeom>
          <a:noFill/>
          <a:ln w="9525">
            <a:noFill/>
          </a:ln>
        </p:spPr>
      </p:pic>
      <p:sp>
        <p:nvSpPr>
          <p:cNvPr id="35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1"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52"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3" name="PlaceHolder 3"/>
          <p:cNvSpPr>
            <a:spLocks noGrp="1"/>
          </p:cNvSpPr>
          <p:nvPr>
            <p:ph type="body"/>
          </p:nvPr>
        </p:nvSpPr>
        <p:spPr>
          <a:xfrm>
            <a:off x="5113080" y="181368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
        <p:nvSpPr>
          <p:cNvPr id="354" name="PlaceHolder 4"/>
          <p:cNvSpPr>
            <a:spLocks noGrp="1"/>
          </p:cNvSpPr>
          <p:nvPr>
            <p:ph type="body"/>
          </p:nvPr>
        </p:nvSpPr>
        <p:spPr>
          <a:xfrm>
            <a:off x="5113080" y="3670200"/>
            <a:ext cx="4190400" cy="168336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bl" preserve="1">
  <p:cSld name="Default 9">
    <p:bg>
      <p:bgPr>
        <a:solidFill>
          <a:srgbClr val="6C9D30"/>
        </a:solidFill>
        <a:effectLst/>
      </p:bgPr>
    </p:bg>
    <p:spTree>
      <p:nvGrpSpPr>
        <p:cNvPr id="1" name=""/>
        <p:cNvGrpSpPr/>
        <p:nvPr/>
      </p:nvGrpSpPr>
      <p:grpSpPr>
        <a:xfrm>
          <a:off x="0" y="0"/>
          <a:ext cx="0" cy="0"/>
          <a:chOff x="0" y="0"/>
          <a:chExt cx="0" cy="0"/>
        </a:xfrm>
      </p:grpSpPr>
      <p:sp>
        <p:nvSpPr>
          <p:cNvPr id="355"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6"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57" name="Picture 24" descr="utdlogo"/>
          <p:cNvPicPr/>
          <p:nvPr/>
        </p:nvPicPr>
        <p:blipFill>
          <a:blip r:embed="rId2"/>
          <a:stretch/>
        </p:blipFill>
        <p:spPr>
          <a:xfrm>
            <a:off x="9304200" y="7254360"/>
            <a:ext cx="619200" cy="272880"/>
          </a:xfrm>
          <a:prstGeom prst="rect">
            <a:avLst/>
          </a:prstGeom>
          <a:noFill/>
          <a:ln w="9525">
            <a:noFill/>
          </a:ln>
        </p:spPr>
      </p:pic>
      <p:sp>
        <p:nvSpPr>
          <p:cNvPr id="358"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59"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0" name="PlaceHolder 2"/>
          <p:cNvSpPr>
            <a:spLocks noGrp="1"/>
          </p:cNvSpPr>
          <p:nvPr>
            <p:ph type="body"/>
          </p:nvPr>
        </p:nvSpPr>
        <p:spPr>
          <a:xfrm>
            <a:off x="754560" y="1813680"/>
            <a:ext cx="8548920" cy="353988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1800" b="0" u="none" strike="noStrike">
                <a:solidFill>
                  <a:schemeClr val="dk1"/>
                </a:solidFill>
                <a:effectLst/>
                <a:uFillTx/>
                <a:latin typeface="Arial"/>
                <a:ea typeface="Osaka"/>
              </a:rPr>
              <a:t>Click icon to add table</a:t>
            </a:r>
            <a:endParaRPr lang="en-US" sz="1800" b="0" u="none" strike="noStrike">
              <a:solidFill>
                <a:srgbClr val="FFFFFF"/>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Default 10">
    <p:bg>
      <p:bgPr>
        <a:solidFill>
          <a:srgbClr val="6C9D30"/>
        </a:solidFill>
        <a:effectLst/>
      </p:bgPr>
    </p:bg>
    <p:spTree>
      <p:nvGrpSpPr>
        <p:cNvPr id="1" name=""/>
        <p:cNvGrpSpPr/>
        <p:nvPr/>
      </p:nvGrpSpPr>
      <p:grpSpPr>
        <a:xfrm>
          <a:off x="0" y="0"/>
          <a:ext cx="0" cy="0"/>
          <a:chOff x="0" y="0"/>
          <a:chExt cx="0" cy="0"/>
        </a:xfrm>
      </p:grpSpPr>
      <p:sp>
        <p:nvSpPr>
          <p:cNvPr id="361"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2"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3" name="Picture 24" descr="utdlogo"/>
          <p:cNvPicPr/>
          <p:nvPr/>
        </p:nvPicPr>
        <p:blipFill>
          <a:blip r:embed="rId2"/>
          <a:stretch/>
        </p:blipFill>
        <p:spPr>
          <a:xfrm>
            <a:off x="9304200" y="7254360"/>
            <a:ext cx="619200" cy="272880"/>
          </a:xfrm>
          <a:prstGeom prst="rect">
            <a:avLst/>
          </a:prstGeom>
          <a:noFill/>
          <a:ln w="9525">
            <a:noFill/>
          </a:ln>
        </p:spPr>
      </p:pic>
      <p:sp>
        <p:nvSpPr>
          <p:cNvPr id="364"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5"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66" name="PlaceHolder 2"/>
          <p:cNvSpPr>
            <a:spLocks noGrp="1"/>
          </p:cNvSpPr>
          <p:nvPr>
            <p:ph type="body"/>
          </p:nvPr>
        </p:nvSpPr>
        <p:spPr>
          <a:xfrm>
            <a:off x="754560" y="1813680"/>
            <a:ext cx="854892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60"/>
              </a:spcBef>
              <a:buClr>
                <a:srgbClr val="000000"/>
              </a:buClr>
              <a:buFont typeface="Symbol" charset="2"/>
              <a:buChar char=""/>
            </a:pPr>
            <a:r>
              <a:rPr lang="en-US" sz="1800" b="0" u="none" strike="noStrike">
                <a:solidFill>
                  <a:schemeClr val="dk1"/>
                </a:solidFill>
                <a:effectLst/>
                <a:uFillTx/>
                <a:latin typeface="Arial"/>
                <a:ea typeface="Osaka"/>
              </a:rPr>
              <a:t>Fourth level</a:t>
            </a:r>
            <a:endParaRPr lang="en-US" sz="1800" b="0" u="none" strike="noStrike">
              <a:solidFill>
                <a:srgbClr val="FFFFFF"/>
              </a:solidFill>
              <a:effectLst/>
              <a:uFillTx/>
              <a:latin typeface="Arial"/>
            </a:endParaRPr>
          </a:p>
          <a:p>
            <a:pPr marL="2263320" lvl="4" indent="-251640">
              <a:lnSpc>
                <a:spcPct val="100000"/>
              </a:lnSpc>
              <a:spcBef>
                <a:spcPts val="351"/>
              </a:spcBef>
              <a:buClr>
                <a:srgbClr val="000000"/>
              </a:buClr>
              <a:buFont typeface="OpenSymbol"/>
              <a:buChar char="»"/>
            </a:pPr>
            <a:r>
              <a:rPr lang="en-US" sz="1760" b="0" u="none" strike="noStrike">
                <a:solidFill>
                  <a:schemeClr val="dk1"/>
                </a:solidFill>
                <a:effectLst/>
                <a:uFillTx/>
                <a:latin typeface="Arial"/>
                <a:ea typeface="Osaka"/>
              </a:rPr>
              <a:t>Fifth level</a:t>
            </a:r>
            <a:endParaRPr lang="en-US" sz="1760" b="0" u="none" strike="noStrike">
              <a:solidFill>
                <a:srgbClr val="FFFFFF"/>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Default 11">
    <p:bg>
      <p:bgPr>
        <a:solidFill>
          <a:srgbClr val="6C9D30"/>
        </a:solidFill>
        <a:effectLst/>
      </p:bgPr>
    </p:bg>
    <p:spTree>
      <p:nvGrpSpPr>
        <p:cNvPr id="1" name=""/>
        <p:cNvGrpSpPr/>
        <p:nvPr/>
      </p:nvGrpSpPr>
      <p:grpSpPr>
        <a:xfrm>
          <a:off x="0" y="0"/>
          <a:ext cx="0" cy="0"/>
          <a:chOff x="0" y="0"/>
          <a:chExt cx="0" cy="0"/>
        </a:xfrm>
      </p:grpSpPr>
      <p:sp>
        <p:nvSpPr>
          <p:cNvPr id="367"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68"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69" name="Picture 24" descr="utdlogo"/>
          <p:cNvPicPr/>
          <p:nvPr/>
        </p:nvPicPr>
        <p:blipFill>
          <a:blip r:embed="rId2"/>
          <a:stretch/>
        </p:blipFill>
        <p:spPr>
          <a:xfrm>
            <a:off x="9304200" y="7254360"/>
            <a:ext cx="619200" cy="272880"/>
          </a:xfrm>
          <a:prstGeom prst="rect">
            <a:avLst/>
          </a:prstGeom>
          <a:noFill/>
          <a:ln w="9525">
            <a:noFill/>
          </a:ln>
        </p:spPr>
      </p:pic>
      <p:sp>
        <p:nvSpPr>
          <p:cNvPr id="370"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1" name="PlaceHolder 1"/>
          <p:cNvSpPr>
            <a:spLocks noGrp="1"/>
          </p:cNvSpPr>
          <p:nvPr>
            <p:ph type="title"/>
          </p:nvPr>
        </p:nvSpPr>
        <p:spPr>
          <a:xfrm>
            <a:off x="794520" y="4994640"/>
            <a:ext cx="8548920" cy="1542960"/>
          </a:xfrm>
          <a:prstGeom prst="rect">
            <a:avLst/>
          </a:prstGeom>
          <a:noFill/>
          <a:ln w="9360">
            <a:noFill/>
          </a:ln>
        </p:spPr>
        <p:txBody>
          <a:bodyPr lIns="91440" tIns="45720" rIns="91440" bIns="45720" numCol="1" spcCol="0" anchor="t">
            <a:noAutofit/>
          </a:bodyPr>
          <a:lstStyle/>
          <a:p>
            <a:pPr indent="0">
              <a:lnSpc>
                <a:spcPct val="100000"/>
              </a:lnSpc>
              <a:buNone/>
              <a:tabLst>
                <a:tab pos="0" algn="l"/>
              </a:tabLst>
            </a:pPr>
            <a:r>
              <a:rPr lang="en-US" sz="4400" b="1" u="none" strike="noStrike" cap="all">
                <a:solidFill>
                  <a:schemeClr val="lt1"/>
                </a:solidFill>
                <a:effectLst/>
                <a:uFillTx/>
                <a:latin typeface="Arial"/>
                <a:ea typeface="Osaka"/>
              </a:rPr>
              <a:t>Click to edit Master title style</a:t>
            </a:r>
            <a:endParaRPr lang="en-US" sz="4400" b="0" u="none" strike="noStrike">
              <a:solidFill>
                <a:srgbClr val="FFFFFF"/>
              </a:solidFill>
              <a:effectLst/>
              <a:uFillTx/>
              <a:latin typeface="Arial"/>
            </a:endParaRPr>
          </a:p>
        </p:txBody>
      </p:sp>
      <p:sp>
        <p:nvSpPr>
          <p:cNvPr id="372" name="PlaceHolder 2"/>
          <p:cNvSpPr>
            <a:spLocks noGrp="1"/>
          </p:cNvSpPr>
          <p:nvPr>
            <p:ph type="body"/>
          </p:nvPr>
        </p:nvSpPr>
        <p:spPr>
          <a:xfrm>
            <a:off x="794520" y="3294360"/>
            <a:ext cx="8548920" cy="1699560"/>
          </a:xfrm>
          <a:prstGeom prst="rect">
            <a:avLst/>
          </a:prstGeom>
          <a:noFill/>
          <a:ln w="9360">
            <a:noFill/>
          </a:ln>
        </p:spPr>
        <p:txBody>
          <a:bodyPr lIns="91440" tIns="45720" rIns="91440" bIns="45720" numCol="1" spcCol="0" anchor="b">
            <a:noAutofit/>
          </a:bodyPr>
          <a:lstStyle/>
          <a:p>
            <a:pPr indent="0">
              <a:lnSpc>
                <a:spcPct val="100000"/>
              </a:lnSpc>
              <a:spcBef>
                <a:spcPts val="439"/>
              </a:spcBef>
              <a:buNone/>
              <a:tabLst>
                <a:tab pos="0" algn="l"/>
              </a:tabLst>
            </a:pPr>
            <a:r>
              <a:rPr lang="en-US" sz="2200" b="0" u="none" strike="noStrike">
                <a:solidFill>
                  <a:schemeClr val="dk1"/>
                </a:solidFill>
                <a:effectLst/>
                <a:uFillTx/>
                <a:latin typeface="Arial"/>
                <a:ea typeface="Osaka"/>
              </a:rPr>
              <a:t>Click to edit Master text styles</a:t>
            </a:r>
            <a:endParaRPr lang="en-US" sz="22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Default 12">
    <p:bg>
      <p:bgPr>
        <a:solidFill>
          <a:srgbClr val="6C9D30"/>
        </a:solidFill>
        <a:effectLst/>
      </p:bgPr>
    </p:bg>
    <p:spTree>
      <p:nvGrpSpPr>
        <p:cNvPr id="1" name=""/>
        <p:cNvGrpSpPr/>
        <p:nvPr/>
      </p:nvGrpSpPr>
      <p:grpSpPr>
        <a:xfrm>
          <a:off x="0" y="0"/>
          <a:ext cx="0" cy="0"/>
          <a:chOff x="0" y="0"/>
          <a:chExt cx="0" cy="0"/>
        </a:xfrm>
      </p:grpSpPr>
      <p:sp>
        <p:nvSpPr>
          <p:cNvPr id="373" name="Rectangle 21"/>
          <p:cNvSpPr/>
          <p:nvPr/>
        </p:nvSpPr>
        <p:spPr>
          <a:xfrm>
            <a:off x="0" y="7081560"/>
            <a:ext cx="10057680" cy="690120"/>
          </a:xfrm>
          <a:prstGeom prst="rect">
            <a:avLst/>
          </a:prstGeom>
          <a:solidFill>
            <a:schemeClr val="tx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4" name="Text Box 22"/>
          <p:cNvSpPr/>
          <p:nvPr/>
        </p:nvSpPr>
        <p:spPr>
          <a:xfrm>
            <a:off x="167760" y="7296480"/>
            <a:ext cx="4357800" cy="294840"/>
          </a:xfrm>
          <a:prstGeom prst="rect">
            <a:avLst/>
          </a:prstGeom>
          <a:noFill/>
          <a:ln w="9525">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algn="ctr" defTabSz="914400">
              <a:lnSpc>
                <a:spcPct val="100000"/>
              </a:lnSpc>
              <a:spcBef>
                <a:spcPts val="660"/>
              </a:spcBef>
            </a:pPr>
            <a:r>
              <a:rPr lang="en-US" sz="1320" b="1" u="none" strike="noStrike">
                <a:solidFill>
                  <a:srgbClr val="FFFFFF"/>
                </a:solidFill>
                <a:effectLst/>
                <a:uFillTx/>
                <a:latin typeface="Arial"/>
                <a:ea typeface="ＭＳ Ｐゴシック"/>
              </a:rPr>
              <a:t>FEARLESS</a:t>
            </a:r>
            <a:r>
              <a:rPr lang="en-US" sz="1320" b="0" u="none" strike="noStrike">
                <a:solidFill>
                  <a:srgbClr val="FFFFFF"/>
                </a:solidFill>
                <a:effectLst/>
                <a:uFillTx/>
                <a:latin typeface="Arial"/>
                <a:ea typeface="ＭＳ Ｐゴシック"/>
              </a:rPr>
              <a:t> engineering</a:t>
            </a:r>
            <a:endParaRPr lang="en-US" sz="1320" b="0" u="none" strike="noStrike">
              <a:solidFill>
                <a:srgbClr val="FFFFFF"/>
              </a:solidFill>
              <a:effectLst/>
              <a:uFillTx/>
              <a:latin typeface="Arial"/>
            </a:endParaRPr>
          </a:p>
        </p:txBody>
      </p:sp>
      <p:pic>
        <p:nvPicPr>
          <p:cNvPr id="375" name="Picture 24" descr="utdlogo"/>
          <p:cNvPicPr/>
          <p:nvPr/>
        </p:nvPicPr>
        <p:blipFill>
          <a:blip r:embed="rId2"/>
          <a:stretch/>
        </p:blipFill>
        <p:spPr>
          <a:xfrm>
            <a:off x="9304200" y="7254360"/>
            <a:ext cx="619200" cy="272880"/>
          </a:xfrm>
          <a:prstGeom prst="rect">
            <a:avLst/>
          </a:prstGeom>
          <a:noFill/>
          <a:ln w="9525">
            <a:noFill/>
          </a:ln>
        </p:spPr>
      </p:pic>
      <p:sp>
        <p:nvSpPr>
          <p:cNvPr id="376" name="Rectangle 29"/>
          <p:cNvSpPr/>
          <p:nvPr/>
        </p:nvSpPr>
        <p:spPr>
          <a:xfrm>
            <a:off x="0" y="1036440"/>
            <a:ext cx="10057680" cy="6044400"/>
          </a:xfrm>
          <a:prstGeom prst="rect">
            <a:avLst/>
          </a:prstGeom>
          <a:solidFill>
            <a:schemeClr val="bg1"/>
          </a:solidFill>
          <a:ln w="9525">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endParaRPr lang="en-US" sz="3080" b="0" u="none" strike="noStrike">
              <a:solidFill>
                <a:srgbClr val="000000"/>
              </a:solidFill>
              <a:effectLst/>
              <a:uFillTx/>
              <a:latin typeface="Arial"/>
              <a:ea typeface="ＭＳ Ｐゴシック"/>
            </a:endParaRPr>
          </a:p>
        </p:txBody>
      </p:sp>
      <p:sp>
        <p:nvSpPr>
          <p:cNvPr id="377" name="PlaceHolder 1"/>
          <p:cNvSpPr>
            <a:spLocks noGrp="1"/>
          </p:cNvSpPr>
          <p:nvPr>
            <p:ph type="title"/>
          </p:nvPr>
        </p:nvSpPr>
        <p:spPr>
          <a:xfrm>
            <a:off x="754560" y="172800"/>
            <a:ext cx="8548920" cy="776520"/>
          </a:xfrm>
          <a:prstGeom prst="rect">
            <a:avLst/>
          </a:prstGeom>
          <a:noFill/>
          <a:ln w="9360">
            <a:noFill/>
          </a:ln>
        </p:spPr>
        <p:txBody>
          <a:bodyPr lIns="91440" tIns="45720" rIns="91440" bIns="45720" numCol="1" spcCol="0" anchor="ctr">
            <a:noAutofit/>
          </a:bodyPr>
          <a:lstStyle/>
          <a:p>
            <a:pPr indent="0">
              <a:lnSpc>
                <a:spcPct val="100000"/>
              </a:lnSpc>
              <a:buNone/>
              <a:tabLst>
                <a:tab pos="0" algn="l"/>
              </a:tabLst>
            </a:pPr>
            <a:r>
              <a:rPr lang="en-US" sz="3080" b="1" u="none" strike="noStrike">
                <a:solidFill>
                  <a:schemeClr val="lt1"/>
                </a:solidFill>
                <a:effectLst/>
                <a:uFillTx/>
                <a:latin typeface="Arial"/>
                <a:ea typeface="Osaka"/>
              </a:rPr>
              <a:t>Click to edit Master title style</a:t>
            </a:r>
            <a:endParaRPr lang="en-US" sz="3080" b="0" u="none" strike="noStrike">
              <a:solidFill>
                <a:srgbClr val="FFFFFF"/>
              </a:solidFill>
              <a:effectLst/>
              <a:uFillTx/>
              <a:latin typeface="Arial"/>
            </a:endParaRPr>
          </a:p>
        </p:txBody>
      </p:sp>
      <p:sp>
        <p:nvSpPr>
          <p:cNvPr id="378" name="PlaceHolder 2"/>
          <p:cNvSpPr>
            <a:spLocks noGrp="1"/>
          </p:cNvSpPr>
          <p:nvPr>
            <p:ph type="body"/>
          </p:nvPr>
        </p:nvSpPr>
        <p:spPr>
          <a:xfrm>
            <a:off x="75456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
        <p:nvSpPr>
          <p:cNvPr id="379" name="PlaceHolder 3"/>
          <p:cNvSpPr>
            <a:spLocks noGrp="1"/>
          </p:cNvSpPr>
          <p:nvPr>
            <p:ph type="body"/>
          </p:nvPr>
        </p:nvSpPr>
        <p:spPr>
          <a:xfrm>
            <a:off x="5113080" y="1813680"/>
            <a:ext cx="4190400" cy="3539880"/>
          </a:xfrm>
          <a:prstGeom prst="rect">
            <a:avLst/>
          </a:prstGeom>
          <a:noFill/>
          <a:ln w="9360">
            <a:noFill/>
          </a:ln>
        </p:spPr>
        <p:txBody>
          <a:bodyPr lIns="91440" tIns="45720" rIns="91440" bIns="45720" numCol="1" spcCol="0" anchor="t">
            <a:noAutofit/>
          </a:bodyPr>
          <a:lstStyle/>
          <a:p>
            <a:pPr marL="377280" indent="-377280">
              <a:lnSpc>
                <a:spcPct val="100000"/>
              </a:lnSpc>
              <a:spcBef>
                <a:spcPts val="615"/>
              </a:spcBef>
              <a:buClr>
                <a:srgbClr val="000000"/>
              </a:buClr>
              <a:buFont typeface="Symbol" charset="2"/>
              <a:buChar char=""/>
            </a:pPr>
            <a:r>
              <a:rPr lang="en-US" sz="3080" b="0" u="none" strike="noStrike">
                <a:solidFill>
                  <a:schemeClr val="dk1"/>
                </a:solidFill>
                <a:effectLst/>
                <a:uFillTx/>
                <a:latin typeface="Arial"/>
                <a:ea typeface="Osaka"/>
              </a:rPr>
              <a:t>Click to edit Master text styles</a:t>
            </a:r>
            <a:endParaRPr lang="en-US" sz="3080" b="0" u="none" strike="noStrike">
              <a:solidFill>
                <a:srgbClr val="FFFFFF"/>
              </a:solidFill>
              <a:effectLst/>
              <a:uFillTx/>
              <a:latin typeface="Arial"/>
            </a:endParaRPr>
          </a:p>
          <a:p>
            <a:pPr marL="817200" lvl="1" indent="-314280">
              <a:lnSpc>
                <a:spcPct val="100000"/>
              </a:lnSpc>
              <a:spcBef>
                <a:spcPts val="527"/>
              </a:spcBef>
              <a:buClr>
                <a:srgbClr val="000000"/>
              </a:buClr>
              <a:buFont typeface="Symbol" charset="2"/>
              <a:buChar char=""/>
            </a:pPr>
            <a:r>
              <a:rPr lang="en-US" sz="2640" b="0" u="none" strike="noStrike">
                <a:solidFill>
                  <a:schemeClr val="dk1"/>
                </a:solidFill>
                <a:effectLst/>
                <a:uFillTx/>
                <a:latin typeface="Arial"/>
                <a:ea typeface="Osaka"/>
              </a:rPr>
              <a:t>Second level</a:t>
            </a:r>
            <a:endParaRPr lang="en-US" sz="2640" b="0" u="none" strike="noStrike">
              <a:solidFill>
                <a:srgbClr val="FFFFFF"/>
              </a:solidFill>
              <a:effectLst/>
              <a:uFillTx/>
              <a:latin typeface="Arial"/>
            </a:endParaRPr>
          </a:p>
          <a:p>
            <a:pPr marL="1257480" lvl="2" indent="-251640">
              <a:lnSpc>
                <a:spcPct val="100000"/>
              </a:lnSpc>
              <a:spcBef>
                <a:spcPts val="439"/>
              </a:spcBef>
              <a:buClr>
                <a:srgbClr val="000000"/>
              </a:buClr>
              <a:buFont typeface="Symbol" charset="2"/>
              <a:buChar char=""/>
            </a:pPr>
            <a:r>
              <a:rPr lang="en-US" sz="2200" b="0" u="none" strike="noStrike">
                <a:solidFill>
                  <a:schemeClr val="dk1"/>
                </a:solidFill>
                <a:effectLst/>
                <a:uFillTx/>
                <a:latin typeface="Arial"/>
                <a:ea typeface="Osaka"/>
              </a:rPr>
              <a:t>Third level</a:t>
            </a:r>
            <a:endParaRPr lang="en-US" sz="2200" b="0" u="none" strike="noStrike">
              <a:solidFill>
                <a:srgbClr val="FFFFFF"/>
              </a:solidFill>
              <a:effectLst/>
              <a:uFillTx/>
              <a:latin typeface="Arial"/>
            </a:endParaRPr>
          </a:p>
          <a:p>
            <a:pPr marL="1760400" lvl="3" indent="-251640">
              <a:lnSpc>
                <a:spcPct val="100000"/>
              </a:lnSpc>
              <a:spcBef>
                <a:spcPts val="397"/>
              </a:spcBef>
              <a:buClr>
                <a:srgbClr val="000000"/>
              </a:buClr>
              <a:buFont typeface="Symbol" charset="2"/>
              <a:buChar char=""/>
            </a:pPr>
            <a:r>
              <a:rPr lang="en-US" sz="1979" b="0" u="none" strike="noStrike">
                <a:solidFill>
                  <a:schemeClr val="dk1"/>
                </a:solidFill>
                <a:effectLst/>
                <a:uFillTx/>
                <a:latin typeface="Arial"/>
                <a:ea typeface="Osaka"/>
              </a:rPr>
              <a:t>Fourth level</a:t>
            </a:r>
            <a:endParaRPr lang="en-US" sz="1979" b="0" u="none" strike="noStrike">
              <a:solidFill>
                <a:srgbClr val="FFFFFF"/>
              </a:solidFill>
              <a:effectLst/>
              <a:uFillTx/>
              <a:latin typeface="Arial"/>
            </a:endParaRPr>
          </a:p>
          <a:p>
            <a:pPr marL="2263320" lvl="4" indent="-251640">
              <a:lnSpc>
                <a:spcPct val="100000"/>
              </a:lnSpc>
              <a:spcBef>
                <a:spcPts val="397"/>
              </a:spcBef>
              <a:buClr>
                <a:srgbClr val="000000"/>
              </a:buClr>
              <a:buFont typeface="OpenSymbol"/>
              <a:buChar char="»"/>
            </a:pPr>
            <a:r>
              <a:rPr lang="en-US" sz="1979" b="0" u="none" strike="noStrike">
                <a:solidFill>
                  <a:schemeClr val="dk1"/>
                </a:solidFill>
                <a:effectLst/>
                <a:uFillTx/>
                <a:latin typeface="Arial"/>
                <a:ea typeface="Osaka"/>
              </a:rPr>
              <a:t>Fifth level</a:t>
            </a:r>
            <a:endParaRPr lang="en-US" sz="1979" b="0" u="none" strike="noStrike">
              <a:solidFill>
                <a:srgbClr val="FFFFFF"/>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Operators and Logic</a:t>
            </a:r>
            <a:endParaRPr lang="en-US" sz="44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Where We Left Off</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800" b="0" dirty="0">
                <a:latin typeface="Cambria"/>
              </a:rPr>
              <a:t>A </a:t>
            </a:r>
            <a:r>
              <a:rPr sz="2800" b="1" dirty="0">
                <a:latin typeface="Cambria"/>
              </a:rPr>
              <a:t>variable</a:t>
            </a:r>
            <a:r>
              <a:rPr sz="2800" b="0" dirty="0">
                <a:latin typeface="Cambria"/>
              </a:rPr>
              <a:t> is one name for one value</a:t>
            </a:r>
          </a:p>
          <a:p>
            <a:r>
              <a:rPr sz="2800" dirty="0">
                <a:latin typeface="Cambria"/>
              </a:rPr>
              <a:t> </a:t>
            </a:r>
          </a:p>
          <a:p>
            <a:r>
              <a:rPr sz="2800" b="0" dirty="0">
                <a:latin typeface="Cambria"/>
              </a:rPr>
              <a:t>A </a:t>
            </a:r>
            <a:r>
              <a:rPr sz="2800" b="1" dirty="0" err="1">
                <a:latin typeface="Cambria"/>
              </a:rPr>
              <a:t>struct</a:t>
            </a:r>
            <a:r>
              <a:rPr sz="2800" b="0" dirty="0">
                <a:latin typeface="Cambria"/>
              </a:rPr>
              <a:t> is a new type &lt;T&gt; built from members</a:t>
            </a:r>
          </a:p>
          <a:p>
            <a:r>
              <a:rPr sz="2800" dirty="0">
                <a:latin typeface="Cambria"/>
              </a:rPr>
              <a:t> </a:t>
            </a:r>
          </a:p>
          <a:p>
            <a:r>
              <a:rPr sz="2800" b="0" dirty="0">
                <a:latin typeface="Cambria"/>
              </a:rPr>
              <a:t>An </a:t>
            </a:r>
            <a:r>
              <a:rPr sz="2800" b="1" dirty="0">
                <a:latin typeface="Cambria"/>
              </a:rPr>
              <a:t>array</a:t>
            </a:r>
            <a:r>
              <a:rPr sz="2800" b="0" dirty="0">
                <a:latin typeface="Cambria"/>
              </a:rPr>
              <a:t> is N instances of one type</a:t>
            </a:r>
          </a:p>
          <a:p>
            <a:r>
              <a:rPr sz="2800" dirty="0">
                <a:latin typeface="Cambria"/>
              </a:rPr>
              <a:t> </a:t>
            </a:r>
          </a:p>
          <a:p>
            <a:r>
              <a:rPr sz="2800" b="0" dirty="0">
                <a:latin typeface="Cambria"/>
              </a:rPr>
              <a:t>Now:  what can we </a:t>
            </a:r>
            <a:r>
              <a:rPr sz="2800" b="1" dirty="0">
                <a:latin typeface="Cambria"/>
              </a:rPr>
              <a:t>do</a:t>
            </a:r>
            <a:r>
              <a:rPr sz="2800" b="0" dirty="0">
                <a:latin typeface="Cambria"/>
              </a:rPr>
              <a:t> with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ALU Does the Work</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892552"/>
          </a:xfrm>
          <a:prstGeom prst="rect">
            <a:avLst/>
          </a:prstGeom>
          <a:noFill/>
        </p:spPr>
        <p:txBody>
          <a:bodyPr wrap="square">
            <a:spAutoFit/>
          </a:bodyPr>
          <a:lstStyle/>
          <a:p>
            <a:r>
              <a:rPr sz="2600" b="0" dirty="0">
                <a:latin typeface="Cambria"/>
              </a:rPr>
              <a:t>The ALU </a:t>
            </a:r>
            <a:r>
              <a:rPr lang="en-US" sz="2600" b="0" dirty="0" smtClean="0">
                <a:latin typeface="Cambria"/>
              </a:rPr>
              <a:t>example </a:t>
            </a:r>
            <a:r>
              <a:rPr sz="2600" b="0" dirty="0" smtClean="0">
                <a:latin typeface="Cambria"/>
              </a:rPr>
              <a:t>did </a:t>
            </a:r>
            <a:r>
              <a:rPr sz="2600" b="0" dirty="0">
                <a:latin typeface="Cambria"/>
              </a:rPr>
              <a:t>an </a:t>
            </a:r>
            <a:r>
              <a:rPr sz="2600" b="1" dirty="0">
                <a:latin typeface="Cambria"/>
              </a:rPr>
              <a:t>ADD</a:t>
            </a:r>
          </a:p>
          <a:p>
            <a:r>
              <a:rPr sz="2600" b="0" dirty="0">
                <a:latin typeface="Cambria"/>
              </a:rPr>
              <a:t>The </a:t>
            </a:r>
            <a:r>
              <a:rPr sz="2600" b="1" dirty="0">
                <a:latin typeface="Cambria"/>
              </a:rPr>
              <a:t>Operation</a:t>
            </a:r>
            <a:r>
              <a:rPr sz="2600" b="0" dirty="0">
                <a:latin typeface="Cambria"/>
              </a:rPr>
              <a:t> input selects what it does</a:t>
            </a:r>
          </a:p>
        </p:txBody>
      </p:sp>
      <p:grpSp>
        <p:nvGrpSpPr>
          <p:cNvPr id="14" name="Group 13"/>
          <p:cNvGrpSpPr/>
          <p:nvPr/>
        </p:nvGrpSpPr>
        <p:grpSpPr>
          <a:xfrm>
            <a:off x="4033837" y="3048000"/>
            <a:ext cx="1838325" cy="2809876"/>
            <a:chOff x="3190875" y="2971800"/>
            <a:chExt cx="1838325" cy="2809876"/>
          </a:xfrm>
        </p:grpSpPr>
        <p:cxnSp>
          <p:nvCxnSpPr>
            <p:cNvPr id="5" name="Straight Connector 4"/>
            <p:cNvCxnSpPr/>
            <p:nvPr/>
          </p:nvCxnSpPr>
          <p:spPr>
            <a:xfrm>
              <a:off x="3190875" y="2971800"/>
              <a:ext cx="0" cy="28098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190875" y="2971800"/>
              <a:ext cx="1837965" cy="40957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3190875" y="5315040"/>
              <a:ext cx="1838325" cy="466636"/>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5028840" y="3381375"/>
              <a:ext cx="360" cy="1933665"/>
            </a:xfrm>
            <a:prstGeom prst="line">
              <a:avLst/>
            </a:prstGeom>
            <a:ln w="85725">
              <a:solidFill>
                <a:schemeClr val="accent1"/>
              </a:solidFill>
            </a:ln>
          </p:spPr>
          <p:style>
            <a:lnRef idx="1">
              <a:schemeClr val="accent1"/>
            </a:lnRef>
            <a:fillRef idx="0">
              <a:schemeClr val="accent1"/>
            </a:fillRef>
            <a:effectRef idx="0">
              <a:schemeClr val="accent1"/>
            </a:effectRef>
            <a:fontRef idx="minor">
              <a:schemeClr val="tx1"/>
            </a:fontRef>
          </p:style>
        </p:cxnSp>
      </p:grpSp>
      <p:cxnSp>
        <p:nvCxnSpPr>
          <p:cNvPr id="17" name="Straight Arrow Connector 16"/>
          <p:cNvCxnSpPr/>
          <p:nvPr/>
        </p:nvCxnSpPr>
        <p:spPr>
          <a:xfrm flipV="1">
            <a:off x="2842846" y="3448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42852" y="36576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2842852" y="39433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2842851" y="421957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2842850" y="44672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2842850" y="469582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2842849" y="497205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V="1">
            <a:off x="2842848" y="52197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2842847" y="5486400"/>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2852004" y="3238455"/>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5871802" y="4452892"/>
            <a:ext cx="1190625" cy="19050"/>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930848" y="5626962"/>
            <a:ext cx="14648" cy="766807"/>
          </a:xfrm>
          <a:prstGeom prst="straightConnector1">
            <a:avLst/>
          </a:prstGeom>
          <a:ln w="476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028840" y="5800815"/>
            <a:ext cx="1131592" cy="369332"/>
          </a:xfrm>
          <a:prstGeom prst="rect">
            <a:avLst/>
          </a:prstGeom>
          <a:noFill/>
        </p:spPr>
        <p:txBody>
          <a:bodyPr wrap="none" rtlCol="0">
            <a:spAutoFit/>
          </a:bodyPr>
          <a:lstStyle/>
          <a:p>
            <a:r>
              <a:rPr lang="en-US" dirty="0" smtClean="0"/>
              <a:t>Operation</a:t>
            </a:r>
            <a:endParaRPr lang="en-US" dirty="0"/>
          </a:p>
        </p:txBody>
      </p:sp>
      <p:sp>
        <p:nvSpPr>
          <p:cNvPr id="34" name="TextBox 33"/>
          <p:cNvSpPr txBox="1"/>
          <p:nvPr/>
        </p:nvSpPr>
        <p:spPr>
          <a:xfrm>
            <a:off x="2194560" y="6396263"/>
            <a:ext cx="5486400" cy="369332"/>
          </a:xfrm>
          <a:prstGeom prst="rect">
            <a:avLst/>
          </a:prstGeom>
          <a:noFill/>
        </p:spPr>
        <p:txBody>
          <a:bodyPr wrap="none" rtlCol="0">
            <a:spAutoFit/>
          </a:bodyPr>
          <a:lstStyle/>
          <a:p>
            <a:pPr algn="ctr"/>
            <a:r>
              <a:rPr lang="en-US" dirty="0" smtClean="0"/>
              <a:t>ADD   SUB   MUL   AND   OR   XOR  ...</a:t>
            </a:r>
            <a:endParaRPr lang="en-US" dirty="0"/>
          </a:p>
        </p:txBody>
      </p:sp>
      <p:sp>
        <p:nvSpPr>
          <p:cNvPr id="35" name="TextBox 34"/>
          <p:cNvSpPr txBox="1"/>
          <p:nvPr/>
        </p:nvSpPr>
        <p:spPr>
          <a:xfrm>
            <a:off x="2451488" y="3017877"/>
            <a:ext cx="301686" cy="369332"/>
          </a:xfrm>
          <a:prstGeom prst="rect">
            <a:avLst/>
          </a:prstGeom>
          <a:noFill/>
        </p:spPr>
        <p:txBody>
          <a:bodyPr wrap="none" rtlCol="0">
            <a:spAutoFit/>
          </a:bodyPr>
          <a:lstStyle/>
          <a:p>
            <a:r>
              <a:rPr lang="en-US" dirty="0" smtClean="0"/>
              <a:t>1</a:t>
            </a:r>
            <a:endParaRPr lang="en-US" dirty="0"/>
          </a:p>
        </p:txBody>
      </p:sp>
      <p:sp>
        <p:nvSpPr>
          <p:cNvPr id="36" name="TextBox 35"/>
          <p:cNvSpPr txBox="1"/>
          <p:nvPr/>
        </p:nvSpPr>
        <p:spPr>
          <a:xfrm>
            <a:off x="2451488" y="5301734"/>
            <a:ext cx="418704" cy="369332"/>
          </a:xfrm>
          <a:prstGeom prst="rect">
            <a:avLst/>
          </a:prstGeom>
          <a:noFill/>
        </p:spPr>
        <p:txBody>
          <a:bodyPr wrap="none" rtlCol="0">
            <a:spAutoFit/>
          </a:bodyPr>
          <a:lstStyle/>
          <a:p>
            <a:r>
              <a:rPr lang="en-US" dirty="0" smtClean="0"/>
              <a:t>10</a:t>
            </a:r>
            <a:endParaRPr lang="en-US" dirty="0"/>
          </a:p>
        </p:txBody>
      </p:sp>
      <p:sp>
        <p:nvSpPr>
          <p:cNvPr id="37" name="TextBox 36"/>
          <p:cNvSpPr txBox="1"/>
          <p:nvPr/>
        </p:nvSpPr>
        <p:spPr>
          <a:xfrm>
            <a:off x="2451488" y="5035034"/>
            <a:ext cx="301686" cy="369332"/>
          </a:xfrm>
          <a:prstGeom prst="rect">
            <a:avLst/>
          </a:prstGeom>
          <a:noFill/>
        </p:spPr>
        <p:txBody>
          <a:bodyPr wrap="none" rtlCol="0">
            <a:spAutoFit/>
          </a:bodyPr>
          <a:lstStyle/>
          <a:p>
            <a:r>
              <a:rPr lang="en-US" dirty="0" smtClean="0"/>
              <a:t>9</a:t>
            </a:r>
            <a:endParaRPr lang="en-US" dirty="0"/>
          </a:p>
        </p:txBody>
      </p:sp>
      <p:sp>
        <p:nvSpPr>
          <p:cNvPr id="38" name="TextBox 37"/>
          <p:cNvSpPr txBox="1"/>
          <p:nvPr/>
        </p:nvSpPr>
        <p:spPr>
          <a:xfrm>
            <a:off x="2451488" y="4768244"/>
            <a:ext cx="301686" cy="369332"/>
          </a:xfrm>
          <a:prstGeom prst="rect">
            <a:avLst/>
          </a:prstGeom>
          <a:noFill/>
        </p:spPr>
        <p:txBody>
          <a:bodyPr wrap="none" rtlCol="0">
            <a:spAutoFit/>
          </a:bodyPr>
          <a:lstStyle/>
          <a:p>
            <a:r>
              <a:rPr lang="en-US" dirty="0" smtClean="0"/>
              <a:t>8</a:t>
            </a:r>
            <a:endParaRPr lang="en-US" dirty="0"/>
          </a:p>
        </p:txBody>
      </p:sp>
      <p:sp>
        <p:nvSpPr>
          <p:cNvPr id="39" name="TextBox 38"/>
          <p:cNvSpPr txBox="1"/>
          <p:nvPr/>
        </p:nvSpPr>
        <p:spPr>
          <a:xfrm>
            <a:off x="2451488" y="4503732"/>
            <a:ext cx="301686" cy="369332"/>
          </a:xfrm>
          <a:prstGeom prst="rect">
            <a:avLst/>
          </a:prstGeom>
          <a:noFill/>
        </p:spPr>
        <p:txBody>
          <a:bodyPr wrap="none" rtlCol="0">
            <a:spAutoFit/>
          </a:bodyPr>
          <a:lstStyle/>
          <a:p>
            <a:r>
              <a:rPr lang="en-US" dirty="0" smtClean="0"/>
              <a:t>7</a:t>
            </a:r>
            <a:endParaRPr lang="en-US" dirty="0"/>
          </a:p>
        </p:txBody>
      </p:sp>
      <p:sp>
        <p:nvSpPr>
          <p:cNvPr id="40" name="TextBox 39"/>
          <p:cNvSpPr txBox="1"/>
          <p:nvPr/>
        </p:nvSpPr>
        <p:spPr>
          <a:xfrm>
            <a:off x="2451488" y="4229010"/>
            <a:ext cx="301686" cy="369332"/>
          </a:xfrm>
          <a:prstGeom prst="rect">
            <a:avLst/>
          </a:prstGeom>
          <a:noFill/>
        </p:spPr>
        <p:txBody>
          <a:bodyPr wrap="none" rtlCol="0">
            <a:spAutoFit/>
          </a:bodyPr>
          <a:lstStyle/>
          <a:p>
            <a:r>
              <a:rPr lang="en-US" dirty="0" smtClean="0"/>
              <a:t>6</a:t>
            </a:r>
            <a:endParaRPr lang="en-US" dirty="0"/>
          </a:p>
        </p:txBody>
      </p:sp>
      <p:sp>
        <p:nvSpPr>
          <p:cNvPr id="41" name="TextBox 40"/>
          <p:cNvSpPr txBox="1"/>
          <p:nvPr/>
        </p:nvSpPr>
        <p:spPr>
          <a:xfrm>
            <a:off x="2451488" y="3951876"/>
            <a:ext cx="301686" cy="369332"/>
          </a:xfrm>
          <a:prstGeom prst="rect">
            <a:avLst/>
          </a:prstGeom>
          <a:noFill/>
        </p:spPr>
        <p:txBody>
          <a:bodyPr wrap="none" rtlCol="0">
            <a:spAutoFit/>
          </a:bodyPr>
          <a:lstStyle/>
          <a:p>
            <a:r>
              <a:rPr lang="en-US" dirty="0" smtClean="0"/>
              <a:t>5</a:t>
            </a:r>
            <a:endParaRPr lang="en-US" dirty="0"/>
          </a:p>
        </p:txBody>
      </p:sp>
      <p:sp>
        <p:nvSpPr>
          <p:cNvPr id="42" name="TextBox 41"/>
          <p:cNvSpPr txBox="1"/>
          <p:nvPr/>
        </p:nvSpPr>
        <p:spPr>
          <a:xfrm>
            <a:off x="2451488" y="3690848"/>
            <a:ext cx="301686" cy="369332"/>
          </a:xfrm>
          <a:prstGeom prst="rect">
            <a:avLst/>
          </a:prstGeom>
          <a:noFill/>
        </p:spPr>
        <p:txBody>
          <a:bodyPr wrap="none" rtlCol="0">
            <a:spAutoFit/>
          </a:bodyPr>
          <a:lstStyle/>
          <a:p>
            <a:r>
              <a:rPr lang="en-US" dirty="0" smtClean="0"/>
              <a:t>4</a:t>
            </a:r>
            <a:endParaRPr lang="en-US" dirty="0"/>
          </a:p>
        </p:txBody>
      </p:sp>
      <p:sp>
        <p:nvSpPr>
          <p:cNvPr id="43" name="TextBox 42"/>
          <p:cNvSpPr txBox="1"/>
          <p:nvPr/>
        </p:nvSpPr>
        <p:spPr>
          <a:xfrm>
            <a:off x="2451488" y="3263384"/>
            <a:ext cx="301686" cy="369332"/>
          </a:xfrm>
          <a:prstGeom prst="rect">
            <a:avLst/>
          </a:prstGeom>
          <a:noFill/>
        </p:spPr>
        <p:txBody>
          <a:bodyPr wrap="none" rtlCol="0">
            <a:spAutoFit/>
          </a:bodyPr>
          <a:lstStyle/>
          <a:p>
            <a:r>
              <a:rPr lang="en-US" dirty="0" smtClean="0"/>
              <a:t>2</a:t>
            </a:r>
            <a:endParaRPr lang="en-US" dirty="0"/>
          </a:p>
        </p:txBody>
      </p:sp>
      <p:sp>
        <p:nvSpPr>
          <p:cNvPr id="44" name="TextBox 43"/>
          <p:cNvSpPr txBox="1"/>
          <p:nvPr/>
        </p:nvSpPr>
        <p:spPr>
          <a:xfrm>
            <a:off x="2451488" y="3467055"/>
            <a:ext cx="301686" cy="369332"/>
          </a:xfrm>
          <a:prstGeom prst="rect">
            <a:avLst/>
          </a:prstGeom>
          <a:noFill/>
        </p:spPr>
        <p:txBody>
          <a:bodyPr wrap="none" rtlCol="0">
            <a:spAutoFit/>
          </a:bodyPr>
          <a:lstStyle/>
          <a:p>
            <a:r>
              <a:rPr lang="en-US" dirty="0" smtClean="0"/>
              <a:t>3</a:t>
            </a:r>
            <a:endParaRPr lang="en-US" dirty="0"/>
          </a:p>
        </p:txBody>
      </p:sp>
      <p:sp>
        <p:nvSpPr>
          <p:cNvPr id="32" name="TextBox 31"/>
          <p:cNvSpPr txBox="1"/>
          <p:nvPr/>
        </p:nvSpPr>
        <p:spPr>
          <a:xfrm>
            <a:off x="4459466" y="4017007"/>
            <a:ext cx="1475307" cy="769441"/>
          </a:xfrm>
          <a:prstGeom prst="rect">
            <a:avLst/>
          </a:prstGeom>
          <a:noFill/>
        </p:spPr>
        <p:txBody>
          <a:bodyPr wrap="square" rtlCol="0">
            <a:spAutoFit/>
          </a:bodyPr>
          <a:lstStyle/>
          <a:p>
            <a:r>
              <a:rPr lang="en-US" sz="4400" dirty="0" smtClean="0"/>
              <a:t>ALU</a:t>
            </a:r>
            <a:endParaRPr lang="en-US" sz="4400" dirty="0"/>
          </a:p>
        </p:txBody>
      </p:sp>
      <p:sp>
        <p:nvSpPr>
          <p:cNvPr id="4" name="TextBox 1"/>
          <p:cNvSpPr txBox="1"/>
          <p:nvPr/>
        </p:nvSpPr>
        <p:spPr>
          <a:xfrm>
            <a:off x="7162800" y="4060180"/>
            <a:ext cx="1554480" cy="646331"/>
          </a:xfrm>
          <a:prstGeom prst="rect">
            <a:avLst/>
          </a:prstGeom>
          <a:noFill/>
        </p:spPr>
        <p:txBody>
          <a:bodyPr wrap="none" rtlCol="0">
            <a:spAutoFit/>
          </a:bodyPr>
          <a:lstStyle/>
          <a:p>
            <a:r>
              <a:rPr lang="en-US" sz="3600" dirty="0" smtClean="0"/>
              <a:t>result</a:t>
            </a:r>
            <a:endParaRPr lang="en-US" sz="3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an Operator Is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849094" cy="3293209"/>
          </a:xfrm>
          <a:prstGeom prst="rect">
            <a:avLst/>
          </a:prstGeom>
          <a:noFill/>
        </p:spPr>
        <p:txBody>
          <a:bodyPr wrap="square">
            <a:spAutoFit/>
          </a:bodyPr>
          <a:lstStyle/>
          <a:p>
            <a:pPr>
              <a:tabLst>
                <a:tab pos="548640" algn="l"/>
                <a:tab pos="5120640" algn="l"/>
              </a:tabLst>
            </a:pPr>
            <a:r>
              <a:rPr sz="2600" b="0" dirty="0">
                <a:latin typeface="Cambria"/>
              </a:rPr>
              <a:t>An </a:t>
            </a:r>
            <a:r>
              <a:rPr sz="2600" b="1" dirty="0">
                <a:latin typeface="Cambria"/>
              </a:rPr>
              <a:t>operator</a:t>
            </a:r>
            <a:r>
              <a:rPr sz="2600" b="0" dirty="0">
                <a:latin typeface="Cambria"/>
              </a:rPr>
              <a:t> takes the contents of </a:t>
            </a:r>
            <a:r>
              <a:rPr sz="2600" b="0" dirty="0" smtClean="0">
                <a:latin typeface="Cambria"/>
              </a:rPr>
              <a:t>its</a:t>
            </a:r>
            <a:r>
              <a:rPr lang="en-US" sz="2600" b="0" dirty="0" smtClean="0">
                <a:latin typeface="Cambria"/>
              </a:rPr>
              <a:t> </a:t>
            </a:r>
            <a:r>
              <a:rPr sz="2600" b="1" dirty="0" smtClean="0">
                <a:latin typeface="Cambria"/>
              </a:rPr>
              <a:t>operands</a:t>
            </a:r>
            <a:r>
              <a:rPr sz="2600" b="0" dirty="0" smtClean="0">
                <a:latin typeface="Cambria"/>
              </a:rPr>
              <a:t> </a:t>
            </a:r>
            <a:r>
              <a:rPr sz="2600" b="0" dirty="0">
                <a:latin typeface="Cambria"/>
              </a:rPr>
              <a:t>and produces a new value</a:t>
            </a:r>
          </a:p>
          <a:p>
            <a:pPr>
              <a:tabLst>
                <a:tab pos="548640" algn="l"/>
                <a:tab pos="5120640" algn="l"/>
              </a:tabLst>
            </a:pPr>
            <a:r>
              <a:rPr sz="2600" dirty="0">
                <a:latin typeface="Cambria"/>
              </a:rPr>
              <a:t> </a:t>
            </a:r>
          </a:p>
          <a:p>
            <a:pPr>
              <a:tabLst>
                <a:tab pos="548640" algn="l"/>
                <a:tab pos="5120640" algn="l"/>
              </a:tabLst>
            </a:pPr>
            <a:r>
              <a:rPr sz="2600" b="0" dirty="0">
                <a:latin typeface="Cambria"/>
              </a:rPr>
              <a:t>	</a:t>
            </a:r>
            <a:r>
              <a:rPr lang="en-US" sz="2600" b="0" dirty="0" smtClean="0">
                <a:latin typeface="Cambria"/>
              </a:rPr>
              <a:t>(</a:t>
            </a:r>
            <a:r>
              <a:rPr sz="2600" b="0" dirty="0" smtClean="0">
                <a:latin typeface="Cambria"/>
              </a:rPr>
              <a:t>result</a:t>
            </a:r>
            <a:r>
              <a:rPr lang="en-US" sz="2600" b="0" dirty="0" smtClean="0">
                <a:latin typeface="Cambria"/>
              </a:rPr>
              <a:t>)</a:t>
            </a:r>
            <a:r>
              <a:rPr sz="2600" b="0" dirty="0" smtClean="0">
                <a:latin typeface="Cambria"/>
              </a:rPr>
              <a:t>  </a:t>
            </a:r>
            <a:r>
              <a:rPr sz="2600" b="0" dirty="0">
                <a:latin typeface="Cambria"/>
              </a:rPr>
              <a:t>&lt;=  ( a )  +  ( b </a:t>
            </a:r>
            <a:r>
              <a:rPr sz="2600" b="0" dirty="0" smtClean="0">
                <a:latin typeface="Cambria"/>
              </a:rPr>
              <a:t>)</a:t>
            </a:r>
            <a:r>
              <a:rPr lang="en-US" sz="2600" b="0" dirty="0" smtClean="0">
                <a:latin typeface="Cambria"/>
              </a:rPr>
              <a:t>       Computer Architects view</a:t>
            </a:r>
            <a:endParaRPr sz="2600" b="0" dirty="0">
              <a:latin typeface="Cambria"/>
            </a:endParaRPr>
          </a:p>
          <a:p>
            <a:pPr>
              <a:tabLst>
                <a:tab pos="548640" algn="l"/>
                <a:tab pos="5120640" algn="l"/>
              </a:tabLst>
            </a:pPr>
            <a:r>
              <a:rPr sz="2600" dirty="0">
                <a:latin typeface="Cambria"/>
              </a:rPr>
              <a:t> </a:t>
            </a:r>
          </a:p>
          <a:p>
            <a:pPr>
              <a:tabLst>
                <a:tab pos="548640" algn="l"/>
                <a:tab pos="5120640" algn="l"/>
              </a:tabLst>
            </a:pPr>
            <a:r>
              <a:rPr sz="2600" b="1" dirty="0">
                <a:latin typeface="Cambria"/>
              </a:rPr>
              <a:t>Binary</a:t>
            </a:r>
            <a:r>
              <a:rPr sz="2600" b="0" dirty="0">
                <a:latin typeface="Cambria"/>
              </a:rPr>
              <a:t> operators take two operands:	a + </a:t>
            </a:r>
            <a:r>
              <a:rPr sz="2600" b="0" dirty="0" smtClean="0">
                <a:latin typeface="Cambria"/>
              </a:rPr>
              <a:t>b</a:t>
            </a:r>
            <a:endParaRPr lang="en-US" sz="2600" b="0" dirty="0" smtClean="0">
              <a:latin typeface="Cambria"/>
            </a:endParaRPr>
          </a:p>
          <a:p>
            <a:pPr>
              <a:tabLst>
                <a:tab pos="548640" algn="l"/>
                <a:tab pos="5120640" algn="l"/>
              </a:tabLst>
            </a:pPr>
            <a:endParaRPr sz="2600" b="0" dirty="0">
              <a:latin typeface="Cambria"/>
            </a:endParaRPr>
          </a:p>
          <a:p>
            <a:pPr>
              <a:tabLst>
                <a:tab pos="548640" algn="l"/>
                <a:tab pos="5120640" algn="l"/>
              </a:tabLst>
            </a:pPr>
            <a:r>
              <a:rPr sz="2600" b="1" dirty="0">
                <a:latin typeface="Cambria"/>
              </a:rPr>
              <a:t>Unary</a:t>
            </a:r>
            <a:r>
              <a:rPr sz="2600" b="0" dirty="0">
                <a:latin typeface="Cambria"/>
              </a:rPr>
              <a:t> operators take one:	-a    !a</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Arithmetic Operators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914400" algn="l"/>
              </a:tabLst>
            </a:pPr>
            <a:r>
              <a:rPr sz="2800" b="0">
                <a:latin typeface="Cambria"/>
              </a:rPr>
              <a:t>+	addition</a:t>
            </a:r>
          </a:p>
          <a:p>
            <a:pPr>
              <a:tabLst>
                <a:tab pos="914400" algn="l"/>
              </a:tabLst>
            </a:pPr>
            <a:r>
              <a:rPr sz="2800" b="0">
                <a:latin typeface="Cambria"/>
              </a:rPr>
              <a:t>-	subtraction</a:t>
            </a:r>
          </a:p>
          <a:p>
            <a:pPr>
              <a:tabLst>
                <a:tab pos="914400" algn="l"/>
              </a:tabLst>
            </a:pPr>
            <a:r>
              <a:rPr sz="2800" b="0">
                <a:latin typeface="Cambria"/>
              </a:rPr>
              <a:t>*	multiplication</a:t>
            </a:r>
          </a:p>
          <a:p>
            <a:pPr>
              <a:tabLst>
                <a:tab pos="914400" algn="l"/>
              </a:tabLst>
            </a:pPr>
            <a:r>
              <a:rPr sz="2800" b="0">
                <a:latin typeface="Cambria"/>
              </a:rPr>
              <a:t>/	division</a:t>
            </a:r>
          </a:p>
          <a:p>
            <a:pPr>
              <a:tabLst>
                <a:tab pos="914400" algn="l"/>
              </a:tabLst>
            </a:pPr>
            <a:r>
              <a:rPr sz="2800" b="0">
                <a:latin typeface="Cambria"/>
              </a:rPr>
              <a:t>%	remainder  (modulo)</a:t>
            </a:r>
          </a:p>
          <a:p>
            <a:pPr>
              <a:tabLst>
                <a:tab pos="914400" algn="l"/>
              </a:tabLst>
            </a:pPr>
            <a:r>
              <a:rPr sz="2800">
                <a:latin typeface="Cambria"/>
              </a:rPr>
              <a:t> </a:t>
            </a:r>
          </a:p>
          <a:p>
            <a:pPr>
              <a:tabLst>
                <a:tab pos="914400" algn="l"/>
              </a:tabLst>
            </a:pPr>
            <a:r>
              <a:rPr sz="2800" b="0">
                <a:latin typeface="Cambria"/>
              </a:rPr>
              <a:t>The </a:t>
            </a:r>
            <a:r>
              <a:rPr sz="2800" b="1">
                <a:latin typeface="Cambria"/>
              </a:rPr>
              <a:t>same symbols</a:t>
            </a:r>
            <a:r>
              <a:rPr sz="2800" b="0">
                <a:latin typeface="Cambria"/>
              </a:rPr>
              <a:t> in C, C++, and Rust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Integer Division Truncates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970318"/>
          </a:xfrm>
          <a:prstGeom prst="rect">
            <a:avLst/>
          </a:prstGeom>
          <a:noFill/>
        </p:spPr>
        <p:txBody>
          <a:bodyPr wrap="square">
            <a:spAutoFit/>
          </a:bodyPr>
          <a:lstStyle/>
          <a:p>
            <a:pPr>
              <a:tabLst>
                <a:tab pos="2103120" algn="l"/>
              </a:tabLst>
            </a:pPr>
            <a:r>
              <a:rPr sz="2800" b="0" dirty="0">
                <a:latin typeface="Cambria"/>
              </a:rPr>
              <a:t>7 / 2	=  3</a:t>
            </a:r>
          </a:p>
          <a:p>
            <a:pPr>
              <a:tabLst>
                <a:tab pos="2103120" algn="l"/>
              </a:tabLst>
            </a:pPr>
            <a:r>
              <a:rPr sz="2800" b="0" dirty="0">
                <a:latin typeface="Cambria"/>
              </a:rPr>
              <a:t>-7 / 2	= -3</a:t>
            </a:r>
          </a:p>
          <a:p>
            <a:pPr>
              <a:tabLst>
                <a:tab pos="2103120" algn="l"/>
              </a:tabLst>
            </a:pPr>
            <a:r>
              <a:rPr sz="2800" b="0" dirty="0">
                <a:latin typeface="Cambria"/>
              </a:rPr>
              <a:t>7.0 / 2.0	=  3.5</a:t>
            </a:r>
          </a:p>
          <a:p>
            <a:pPr>
              <a:tabLst>
                <a:tab pos="2103120" algn="l"/>
              </a:tabLst>
            </a:pPr>
            <a:r>
              <a:rPr sz="2800" dirty="0">
                <a:latin typeface="Cambria"/>
              </a:rPr>
              <a:t> </a:t>
            </a:r>
          </a:p>
          <a:p>
            <a:pPr>
              <a:tabLst>
                <a:tab pos="2103120" algn="l"/>
              </a:tabLst>
            </a:pPr>
            <a:r>
              <a:rPr sz="2800" b="0" dirty="0">
                <a:latin typeface="Cambria"/>
              </a:rPr>
              <a:t>Integer division throws away the </a:t>
            </a:r>
            <a:r>
              <a:rPr sz="2800" b="0" dirty="0" smtClean="0">
                <a:latin typeface="Cambria"/>
              </a:rPr>
              <a:t>fraction</a:t>
            </a:r>
            <a:endParaRPr lang="en-US" sz="2800" b="0" dirty="0" smtClean="0">
              <a:latin typeface="Cambria"/>
            </a:endParaRPr>
          </a:p>
          <a:p>
            <a:pPr>
              <a:tabLst>
                <a:tab pos="2103120" algn="l"/>
              </a:tabLst>
            </a:pPr>
            <a:endParaRPr lang="en-US" sz="2800" dirty="0">
              <a:latin typeface="Cambria"/>
            </a:endParaRPr>
          </a:p>
          <a:p>
            <a:pPr>
              <a:tabLst>
                <a:tab pos="2103120" algn="l"/>
              </a:tabLst>
            </a:pPr>
            <a:r>
              <a:rPr lang="en-US" sz="2800" b="0" dirty="0" smtClean="0">
                <a:latin typeface="Cambria"/>
              </a:rPr>
              <a:t>It drops the remainder</a:t>
            </a:r>
            <a:endParaRPr sz="2800" b="0" dirty="0">
              <a:latin typeface="Cambria"/>
            </a:endParaRPr>
          </a:p>
          <a:p>
            <a:pPr>
              <a:tabLst>
                <a:tab pos="2103120" algn="l"/>
              </a:tabLst>
            </a:pPr>
            <a:r>
              <a:rPr sz="2800" dirty="0">
                <a:latin typeface="Cambria"/>
              </a:rPr>
              <a:t> </a:t>
            </a:r>
          </a:p>
          <a:p>
            <a:pPr>
              <a:tabLst>
                <a:tab pos="2103120" algn="l"/>
              </a:tabLst>
            </a:pPr>
            <a:r>
              <a:rPr sz="2800" b="0" dirty="0">
                <a:latin typeface="Cambria"/>
              </a:rPr>
              <a:t>It rounds </a:t>
            </a:r>
            <a:r>
              <a:rPr sz="2800" b="1" dirty="0">
                <a:latin typeface="Cambria"/>
              </a:rPr>
              <a:t>toward zero</a:t>
            </a:r>
            <a:r>
              <a:rPr sz="2800" b="0" dirty="0">
                <a:latin typeface="Cambria"/>
              </a:rPr>
              <a:t> in all three languages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Remainder Operator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293209"/>
          </a:xfrm>
          <a:prstGeom prst="rect">
            <a:avLst/>
          </a:prstGeom>
          <a:noFill/>
        </p:spPr>
        <p:txBody>
          <a:bodyPr wrap="square">
            <a:spAutoFit/>
          </a:bodyPr>
          <a:lstStyle/>
          <a:p>
            <a:pPr>
              <a:tabLst>
                <a:tab pos="1828800" algn="l"/>
                <a:tab pos="3108960" algn="l"/>
              </a:tabLst>
            </a:pPr>
            <a:r>
              <a:rPr sz="2600" b="0" dirty="0">
                <a:latin typeface="Cambria"/>
              </a:rPr>
              <a:t>7 % 3	=  1</a:t>
            </a:r>
          </a:p>
          <a:p>
            <a:pPr>
              <a:tabLst>
                <a:tab pos="1828800" algn="l"/>
                <a:tab pos="3108960" algn="l"/>
              </a:tabLst>
            </a:pPr>
            <a:r>
              <a:rPr sz="2600" b="0" dirty="0">
                <a:latin typeface="Cambria"/>
              </a:rPr>
              <a:t>-7 % 3	= -1	sign follows the left operand</a:t>
            </a:r>
          </a:p>
          <a:p>
            <a:pPr>
              <a:tabLst>
                <a:tab pos="1828800" algn="l"/>
                <a:tab pos="3108960" algn="l"/>
              </a:tabLst>
            </a:pPr>
            <a:r>
              <a:rPr sz="2600" dirty="0">
                <a:latin typeface="Cambria"/>
              </a:rPr>
              <a:t> </a:t>
            </a:r>
          </a:p>
          <a:p>
            <a:pPr>
              <a:tabLst>
                <a:tab pos="1828800" algn="l"/>
                <a:tab pos="3108960" algn="l"/>
              </a:tabLst>
            </a:pPr>
            <a:r>
              <a:rPr sz="2600" b="0" dirty="0">
                <a:latin typeface="Cambria"/>
              </a:rPr>
              <a:t>C, C++:  % is for </a:t>
            </a:r>
            <a:r>
              <a:rPr sz="2600" b="1" dirty="0">
                <a:latin typeface="Cambria"/>
              </a:rPr>
              <a:t>integers </a:t>
            </a:r>
            <a:r>
              <a:rPr sz="2600" b="1" dirty="0" smtClean="0">
                <a:latin typeface="Cambria"/>
              </a:rPr>
              <a:t>only</a:t>
            </a:r>
            <a:endParaRPr lang="en-US" sz="2600" b="1" dirty="0" smtClean="0">
              <a:latin typeface="Cambria"/>
            </a:endParaRPr>
          </a:p>
          <a:p>
            <a:pPr>
              <a:tabLst>
                <a:tab pos="1828800" algn="l"/>
                <a:tab pos="3108960" algn="l"/>
              </a:tabLst>
            </a:pPr>
            <a:endParaRPr sz="2600" b="1" dirty="0">
              <a:latin typeface="Cambria"/>
            </a:endParaRPr>
          </a:p>
          <a:p>
            <a:pPr>
              <a:tabLst>
                <a:tab pos="1828800" algn="l"/>
                <a:tab pos="3108960" algn="l"/>
              </a:tabLst>
            </a:pPr>
            <a:r>
              <a:rPr lang="en-US" sz="2600" dirty="0">
                <a:latin typeface="Cambria"/>
              </a:rPr>
              <a:t>U</a:t>
            </a:r>
            <a:r>
              <a:rPr sz="2600" b="0" dirty="0" smtClean="0">
                <a:latin typeface="Cambria"/>
              </a:rPr>
              <a:t>se </a:t>
            </a:r>
            <a:r>
              <a:rPr sz="2600" b="0" dirty="0" err="1">
                <a:latin typeface="Cambria"/>
              </a:rPr>
              <a:t>fmod</a:t>
            </a:r>
            <a:r>
              <a:rPr sz="2600" b="0" dirty="0">
                <a:latin typeface="Cambria"/>
              </a:rPr>
              <a:t>(a, b) for floating point</a:t>
            </a:r>
          </a:p>
          <a:p>
            <a:pPr>
              <a:tabLst>
                <a:tab pos="1828800" algn="l"/>
                <a:tab pos="3108960" algn="l"/>
              </a:tabLst>
            </a:pPr>
            <a:r>
              <a:rPr sz="2600" dirty="0">
                <a:latin typeface="Cambria"/>
              </a:rPr>
              <a:t> </a:t>
            </a:r>
          </a:p>
          <a:p>
            <a:pPr>
              <a:tabLst>
                <a:tab pos="1828800" algn="l"/>
                <a:tab pos="3108960" algn="l"/>
              </a:tabLst>
            </a:pPr>
            <a:r>
              <a:rPr sz="2600" b="0" dirty="0">
                <a:latin typeface="Cambria"/>
              </a:rPr>
              <a:t>Rust:  % also works on f32 and f64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Division by Zero</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377440" algn="l"/>
              </a:tabLst>
            </a:pPr>
            <a:r>
              <a:rPr sz="2600" b="0">
                <a:latin typeface="Cambria"/>
              </a:rPr>
              <a:t>Integers:</a:t>
            </a:r>
          </a:p>
          <a:p>
            <a:pPr>
              <a:tabLst>
                <a:tab pos="548640" algn="l"/>
                <a:tab pos="2377440" algn="l"/>
              </a:tabLst>
            </a:pPr>
            <a:r>
              <a:rPr sz="2600" b="0">
                <a:latin typeface="Cambria"/>
              </a:rPr>
              <a:t>	C, C++:	</a:t>
            </a:r>
            <a:r>
              <a:rPr sz="2600" b="1">
                <a:latin typeface="Cambria"/>
              </a:rPr>
              <a:t>undefined behavior</a:t>
            </a:r>
          </a:p>
          <a:p>
            <a:pPr>
              <a:tabLst>
                <a:tab pos="548640" algn="l"/>
                <a:tab pos="2377440" algn="l"/>
              </a:tabLst>
            </a:pPr>
            <a:r>
              <a:rPr sz="2600" b="0">
                <a:latin typeface="Cambria"/>
              </a:rPr>
              <a:t>	Rust:	the program </a:t>
            </a:r>
            <a:r>
              <a:rPr sz="2600" b="1">
                <a:latin typeface="Cambria"/>
              </a:rPr>
              <a:t>panics</a:t>
            </a:r>
            <a:r>
              <a:rPr sz="2600" b="0">
                <a:latin typeface="Cambria"/>
              </a:rPr>
              <a:t> and stops</a:t>
            </a:r>
          </a:p>
          <a:p>
            <a:pPr>
              <a:tabLst>
                <a:tab pos="548640" algn="l"/>
                <a:tab pos="2377440" algn="l"/>
              </a:tabLst>
            </a:pPr>
            <a:r>
              <a:rPr sz="2600">
                <a:latin typeface="Cambria"/>
              </a:rPr>
              <a:t> </a:t>
            </a:r>
          </a:p>
          <a:p>
            <a:pPr>
              <a:tabLst>
                <a:tab pos="548640" algn="l"/>
                <a:tab pos="2377440" algn="l"/>
              </a:tabLst>
            </a:pPr>
            <a:r>
              <a:rPr sz="2600" b="0">
                <a:latin typeface="Cambria"/>
              </a:rPr>
              <a:t>Floating point, all three languages:</a:t>
            </a:r>
          </a:p>
          <a:p>
            <a:pPr>
              <a:tabLst>
                <a:tab pos="548640" algn="l"/>
                <a:tab pos="2377440" algn="l"/>
              </a:tabLst>
            </a:pPr>
            <a:r>
              <a:rPr sz="2600" b="0">
                <a:latin typeface="Cambria"/>
              </a:rPr>
              <a:t>	1.0 / 0.0	= inf</a:t>
            </a:r>
          </a:p>
          <a:p>
            <a:pPr>
              <a:tabLst>
                <a:tab pos="548640" algn="l"/>
                <a:tab pos="2377440" algn="l"/>
              </a:tabLst>
            </a:pPr>
            <a:r>
              <a:rPr sz="2600" b="0">
                <a:latin typeface="Cambria"/>
              </a:rPr>
              <a:t>	0.0 / 0.0	= NaN   (not a number)</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Increment and Decrement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539430"/>
          </a:xfrm>
          <a:prstGeom prst="rect">
            <a:avLst/>
          </a:prstGeom>
          <a:noFill/>
        </p:spPr>
        <p:txBody>
          <a:bodyPr wrap="square">
            <a:spAutoFit/>
          </a:bodyPr>
          <a:lstStyle/>
          <a:p>
            <a:pPr>
              <a:tabLst>
                <a:tab pos="548640" algn="l"/>
                <a:tab pos="2011680" algn="l"/>
              </a:tabLst>
            </a:pPr>
            <a:r>
              <a:rPr sz="2800" b="0" dirty="0">
                <a:latin typeface="Cambria"/>
              </a:rPr>
              <a:t>C, C++:</a:t>
            </a:r>
          </a:p>
          <a:p>
            <a:pPr>
              <a:tabLst>
                <a:tab pos="548640" algn="l"/>
                <a:tab pos="2011680" algn="l"/>
              </a:tabLst>
            </a:pPr>
            <a:r>
              <a:rPr sz="2800" b="0" dirty="0">
                <a:latin typeface="Cambria"/>
              </a:rPr>
              <a:t>	x++ ;	add one</a:t>
            </a:r>
          </a:p>
          <a:p>
            <a:pPr>
              <a:tabLst>
                <a:tab pos="548640" algn="l"/>
                <a:tab pos="2011680" algn="l"/>
              </a:tabLst>
            </a:pPr>
            <a:r>
              <a:rPr sz="2800" b="0" dirty="0">
                <a:latin typeface="Cambria"/>
              </a:rPr>
              <a:t>	x-- ;	subtract one</a:t>
            </a:r>
          </a:p>
          <a:p>
            <a:pPr>
              <a:tabLst>
                <a:tab pos="548640" algn="l"/>
                <a:tab pos="2011680" algn="l"/>
              </a:tabLst>
            </a:pPr>
            <a:r>
              <a:rPr sz="2800" dirty="0">
                <a:latin typeface="Cambria"/>
              </a:rPr>
              <a:t> </a:t>
            </a:r>
          </a:p>
          <a:p>
            <a:pPr>
              <a:tabLst>
                <a:tab pos="548640" algn="l"/>
                <a:tab pos="2011680" algn="l"/>
              </a:tabLst>
            </a:pPr>
            <a:r>
              <a:rPr sz="2800" b="0" dirty="0">
                <a:latin typeface="Cambria"/>
              </a:rPr>
              <a:t>Rust has </a:t>
            </a:r>
            <a:r>
              <a:rPr sz="2800" b="1" dirty="0">
                <a:latin typeface="Cambria"/>
              </a:rPr>
              <a:t>no ++ or </a:t>
            </a:r>
            <a:r>
              <a:rPr lang="en-US" sz="2800" b="1" dirty="0" smtClean="0">
                <a:latin typeface="Cambria"/>
              </a:rPr>
              <a:t>–</a:t>
            </a:r>
          </a:p>
          <a:p>
            <a:pPr>
              <a:tabLst>
                <a:tab pos="548640" algn="l"/>
                <a:tab pos="2011680" algn="l"/>
              </a:tabLst>
            </a:pPr>
            <a:r>
              <a:rPr lang="en-US" sz="2800" b="1" dirty="0">
                <a:latin typeface="Cambria"/>
              </a:rPr>
              <a:t>	</a:t>
            </a:r>
            <a:r>
              <a:rPr lang="en-US" sz="2800" b="1" dirty="0" smtClean="0">
                <a:latin typeface="Cambria"/>
              </a:rPr>
              <a:t>You will need to use the compound operators</a:t>
            </a:r>
            <a:endParaRPr sz="2800" b="1" dirty="0">
              <a:latin typeface="Cambria"/>
            </a:endParaRPr>
          </a:p>
          <a:p>
            <a:pPr>
              <a:tabLst>
                <a:tab pos="548640" algn="l"/>
                <a:tab pos="2011680" algn="l"/>
              </a:tabLst>
            </a:pPr>
            <a:r>
              <a:rPr sz="2800" b="0" dirty="0">
                <a:latin typeface="Cambria"/>
              </a:rPr>
              <a:t>	x += 1 ;</a:t>
            </a:r>
          </a:p>
          <a:p>
            <a:pPr>
              <a:tabLst>
                <a:tab pos="548640" algn="l"/>
                <a:tab pos="2011680" algn="l"/>
              </a:tabLst>
            </a:pPr>
            <a:r>
              <a:rPr sz="2800" b="0" dirty="0">
                <a:latin typeface="Cambria"/>
              </a:rPr>
              <a:t>	x -= 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Prefix and Postfix</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3931920" algn="l"/>
              </a:tabLst>
            </a:pPr>
            <a:r>
              <a:rPr sz="2600" b="0" dirty="0">
                <a:latin typeface="Cambria"/>
              </a:rPr>
              <a:t>x = 5 ;   y = x++ ;	y is 5,  x is 6</a:t>
            </a:r>
          </a:p>
          <a:p>
            <a:pPr>
              <a:tabLst>
                <a:tab pos="3931920" algn="l"/>
              </a:tabLst>
            </a:pPr>
            <a:r>
              <a:rPr sz="2600" dirty="0">
                <a:latin typeface="Cambria"/>
              </a:rPr>
              <a:t> </a:t>
            </a:r>
          </a:p>
          <a:p>
            <a:pPr>
              <a:tabLst>
                <a:tab pos="3931920" algn="l"/>
              </a:tabLst>
            </a:pPr>
            <a:r>
              <a:rPr sz="2600" b="0" dirty="0">
                <a:latin typeface="Cambria"/>
              </a:rPr>
              <a:t>x = 5 ;   y = ++x ;	y is 6,  x is 6</a:t>
            </a:r>
          </a:p>
          <a:p>
            <a:pPr>
              <a:tabLst>
                <a:tab pos="3931920" algn="l"/>
              </a:tabLst>
            </a:pPr>
            <a:r>
              <a:rPr sz="2600" dirty="0">
                <a:latin typeface="Cambria"/>
              </a:rPr>
              <a:t> </a:t>
            </a:r>
          </a:p>
          <a:p>
            <a:pPr>
              <a:tabLst>
                <a:tab pos="3931920" algn="l"/>
              </a:tabLst>
            </a:pPr>
            <a:r>
              <a:rPr sz="2600" b="0" dirty="0">
                <a:latin typeface="Cambria"/>
              </a:rPr>
              <a:t>Postfix: use the value, </a:t>
            </a:r>
            <a:r>
              <a:rPr sz="2600" b="1" dirty="0">
                <a:latin typeface="Cambria"/>
              </a:rPr>
              <a:t>then</a:t>
            </a:r>
            <a:r>
              <a:rPr sz="2600" b="0" dirty="0">
                <a:latin typeface="Cambria"/>
              </a:rPr>
              <a:t> add one</a:t>
            </a:r>
          </a:p>
          <a:p>
            <a:pPr>
              <a:tabLst>
                <a:tab pos="3931920" algn="l"/>
              </a:tabLst>
            </a:pPr>
            <a:r>
              <a:rPr sz="2600" b="0" dirty="0">
                <a:latin typeface="Cambria"/>
              </a:rPr>
              <a:t>Prefix: add one, </a:t>
            </a:r>
            <a:r>
              <a:rPr sz="2600" b="1" dirty="0">
                <a:latin typeface="Cambria"/>
              </a:rPr>
              <a:t>then</a:t>
            </a:r>
            <a:r>
              <a:rPr sz="2600" b="0" dirty="0">
                <a:latin typeface="Cambria"/>
              </a:rPr>
              <a:t> use the value</a:t>
            </a:r>
          </a:p>
          <a:p>
            <a:pPr>
              <a:tabLst>
                <a:tab pos="3931920" algn="l"/>
              </a:tabLst>
            </a:pPr>
            <a:r>
              <a:rPr sz="2600" dirty="0">
                <a:latin typeface="Cambria"/>
              </a:rPr>
              <a:t> </a:t>
            </a:r>
          </a:p>
          <a:p>
            <a:pPr>
              <a:tabLst>
                <a:tab pos="3931920" algn="l"/>
              </a:tabLst>
            </a:pPr>
            <a:r>
              <a:rPr sz="2600" b="0" dirty="0">
                <a:latin typeface="Cambria"/>
              </a:rPr>
              <a:t>Never use x++ twice in one expression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Compound Assignment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108543"/>
          </a:xfrm>
          <a:prstGeom prst="rect">
            <a:avLst/>
          </a:prstGeom>
          <a:noFill/>
        </p:spPr>
        <p:txBody>
          <a:bodyPr wrap="square">
            <a:spAutoFit/>
          </a:bodyPr>
          <a:lstStyle/>
          <a:p>
            <a:pPr>
              <a:tabLst>
                <a:tab pos="2194560" algn="l"/>
              </a:tabLst>
            </a:pPr>
            <a:r>
              <a:rPr sz="2800" b="0" dirty="0">
                <a:latin typeface="Cambria"/>
              </a:rPr>
              <a:t>x += 5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+ 5</a:t>
            </a:r>
          </a:p>
          <a:p>
            <a:pPr>
              <a:tabLst>
                <a:tab pos="2194560" algn="l"/>
              </a:tabLst>
            </a:pPr>
            <a:r>
              <a:rPr sz="2800" b="0" dirty="0">
                <a:latin typeface="Cambria"/>
              </a:rPr>
              <a:t>x -= 5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- 5</a:t>
            </a:r>
          </a:p>
          <a:p>
            <a:pPr>
              <a:tabLst>
                <a:tab pos="2194560" algn="l"/>
              </a:tabLst>
            </a:pPr>
            <a:r>
              <a:rPr sz="2800" b="0" dirty="0">
                <a:latin typeface="Cambria"/>
              </a:rPr>
              <a:t>x *= 5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5</a:t>
            </a:r>
          </a:p>
          <a:p>
            <a:pPr>
              <a:tabLst>
                <a:tab pos="2194560" algn="l"/>
              </a:tabLst>
            </a:pPr>
            <a:r>
              <a:rPr sz="2800" b="0" dirty="0">
                <a:latin typeface="Cambria"/>
              </a:rPr>
              <a:t>x /= 5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5</a:t>
            </a:r>
          </a:p>
          <a:p>
            <a:pPr>
              <a:tabLst>
                <a:tab pos="2194560" algn="l"/>
              </a:tabLst>
            </a:pPr>
            <a:r>
              <a:rPr sz="2800" b="0" dirty="0">
                <a:latin typeface="Cambria"/>
              </a:rPr>
              <a:t>x %= 5 ;	</a:t>
            </a:r>
            <a:r>
              <a:rPr lang="en-US" sz="2800" b="0" dirty="0" smtClean="0">
                <a:latin typeface="Cambria"/>
              </a:rPr>
              <a:t>(</a:t>
            </a:r>
            <a:r>
              <a:rPr sz="2800" b="0" dirty="0" smtClean="0">
                <a:latin typeface="Cambria"/>
              </a:rPr>
              <a:t>x</a:t>
            </a:r>
            <a:r>
              <a:rPr lang="en-US" sz="2800" dirty="0">
                <a:latin typeface="Cambria"/>
              </a:rPr>
              <a:t>)</a:t>
            </a:r>
            <a:r>
              <a:rPr sz="2800" b="0" dirty="0" smtClean="0">
                <a:latin typeface="Cambria"/>
              </a:rPr>
              <a:t> </a:t>
            </a:r>
            <a:r>
              <a:rPr sz="2800" b="0" dirty="0">
                <a:latin typeface="Cambria"/>
              </a:rPr>
              <a:t>&lt;= ( x ) % 5</a:t>
            </a:r>
          </a:p>
          <a:p>
            <a:pPr>
              <a:tabLst>
                <a:tab pos="2194560" algn="l"/>
              </a:tabLst>
            </a:pPr>
            <a:r>
              <a:rPr sz="2800" dirty="0">
                <a:latin typeface="Cambria"/>
              </a:rPr>
              <a:t> </a:t>
            </a:r>
          </a:p>
          <a:p>
            <a:pPr>
              <a:tabLst>
                <a:tab pos="2194560" algn="l"/>
              </a:tabLst>
            </a:pPr>
            <a:r>
              <a:rPr sz="2800" b="0" dirty="0">
                <a:latin typeface="Cambria"/>
              </a:rPr>
              <a:t>Same in C, C++, and Rust</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Overflow in C and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3108960" algn="l"/>
              </a:tabLst>
            </a:pPr>
            <a:r>
              <a:rPr sz="2600" b="0" dirty="0">
                <a:latin typeface="Cambria"/>
              </a:rPr>
              <a:t>uint8_t  x = 255 ;</a:t>
            </a:r>
          </a:p>
          <a:p>
            <a:pPr>
              <a:tabLst>
                <a:tab pos="3108960" algn="l"/>
              </a:tabLst>
            </a:pPr>
            <a:r>
              <a:rPr sz="2600" b="0" dirty="0">
                <a:latin typeface="Cambria"/>
              </a:rPr>
              <a:t>x = x + 1 ;	x is now </a:t>
            </a:r>
            <a:r>
              <a:rPr sz="2600" b="1" dirty="0">
                <a:latin typeface="Cambria"/>
              </a:rPr>
              <a:t>0</a:t>
            </a:r>
          </a:p>
          <a:p>
            <a:pPr>
              <a:tabLst>
                <a:tab pos="3108960" algn="l"/>
              </a:tabLst>
            </a:pPr>
            <a:r>
              <a:rPr sz="2600" dirty="0">
                <a:latin typeface="Cambria"/>
              </a:rPr>
              <a:t> </a:t>
            </a:r>
          </a:p>
          <a:p>
            <a:pPr>
              <a:tabLst>
                <a:tab pos="3108960" algn="l"/>
              </a:tabLst>
            </a:pPr>
            <a:r>
              <a:rPr sz="2600" b="1" dirty="0">
                <a:latin typeface="Cambria"/>
              </a:rPr>
              <a:t>Unsigned</a:t>
            </a:r>
            <a:r>
              <a:rPr sz="2600" b="0" dirty="0">
                <a:latin typeface="Cambria"/>
              </a:rPr>
              <a:t> overflow wraps around - defined</a:t>
            </a:r>
          </a:p>
          <a:p>
            <a:pPr>
              <a:tabLst>
                <a:tab pos="3108960" algn="l"/>
              </a:tabLst>
            </a:pPr>
            <a:r>
              <a:rPr sz="2600" dirty="0">
                <a:latin typeface="Cambria"/>
              </a:rPr>
              <a:t> </a:t>
            </a:r>
          </a:p>
          <a:p>
            <a:pPr>
              <a:tabLst>
                <a:tab pos="3108960" algn="l"/>
              </a:tabLst>
            </a:pPr>
            <a:r>
              <a:rPr sz="2600" b="1" dirty="0">
                <a:latin typeface="Cambria"/>
              </a:rPr>
              <a:t>Signed</a:t>
            </a:r>
            <a:r>
              <a:rPr sz="2600" b="0" dirty="0">
                <a:latin typeface="Cambria"/>
              </a:rPr>
              <a:t> overflow is </a:t>
            </a:r>
            <a:r>
              <a:rPr sz="2600" b="1" dirty="0">
                <a:latin typeface="Cambria"/>
              </a:rPr>
              <a:t>undefined behavior</a:t>
            </a:r>
          </a:p>
          <a:p>
            <a:pPr>
              <a:tabLst>
                <a:tab pos="3108960" algn="l"/>
              </a:tabLst>
            </a:pPr>
            <a:r>
              <a:rPr sz="2600" b="0" dirty="0">
                <a:latin typeface="Cambria"/>
              </a:rPr>
              <a:t>	int8_t  y = 127 ;   y + 1  -&gt;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Overflow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3785652"/>
          </a:xfrm>
          <a:prstGeom prst="rect">
            <a:avLst/>
          </a:prstGeom>
          <a:noFill/>
        </p:spPr>
        <p:txBody>
          <a:bodyPr wrap="square">
            <a:spAutoFit/>
          </a:bodyPr>
          <a:lstStyle/>
          <a:p>
            <a:pPr>
              <a:tabLst>
                <a:tab pos="548640" algn="l"/>
                <a:tab pos="3566160" algn="l"/>
              </a:tabLst>
            </a:pPr>
            <a:r>
              <a:rPr sz="2400" b="0" dirty="0">
                <a:latin typeface="Cambria"/>
              </a:rPr>
              <a:t>let x : u8 = 255 ;</a:t>
            </a:r>
          </a:p>
          <a:p>
            <a:pPr>
              <a:tabLst>
                <a:tab pos="548640" algn="l"/>
                <a:tab pos="3566160" algn="l"/>
              </a:tabLst>
            </a:pPr>
            <a:r>
              <a:rPr sz="2400" b="0" dirty="0">
                <a:latin typeface="Cambria"/>
              </a:rPr>
              <a:t>let y = x + 1 ;</a:t>
            </a:r>
          </a:p>
          <a:p>
            <a:pPr>
              <a:tabLst>
                <a:tab pos="548640" algn="l"/>
                <a:tab pos="3566160" algn="l"/>
              </a:tabLst>
            </a:pPr>
            <a:r>
              <a:rPr sz="2400" dirty="0">
                <a:latin typeface="Cambria"/>
              </a:rPr>
              <a:t> </a:t>
            </a:r>
          </a:p>
          <a:p>
            <a:pPr>
              <a:tabLst>
                <a:tab pos="548640" algn="l"/>
                <a:tab pos="3566160" algn="l"/>
              </a:tabLst>
            </a:pPr>
            <a:r>
              <a:rPr sz="2400" b="0" dirty="0">
                <a:latin typeface="Cambria"/>
              </a:rPr>
              <a:t>Debug build:	</a:t>
            </a:r>
            <a:r>
              <a:rPr sz="2400" b="1" dirty="0">
                <a:latin typeface="Cambria"/>
              </a:rPr>
              <a:t>panics</a:t>
            </a:r>
            <a:r>
              <a:rPr sz="2400" b="0" dirty="0">
                <a:latin typeface="Cambria"/>
              </a:rPr>
              <a:t> - overflow is caught</a:t>
            </a:r>
          </a:p>
          <a:p>
            <a:pPr>
              <a:tabLst>
                <a:tab pos="548640" algn="l"/>
                <a:tab pos="3566160" algn="l"/>
              </a:tabLst>
            </a:pPr>
            <a:r>
              <a:rPr sz="2400" b="0" dirty="0">
                <a:latin typeface="Cambria"/>
              </a:rPr>
              <a:t>Release build:	wraps to 0</a:t>
            </a:r>
          </a:p>
          <a:p>
            <a:pPr>
              <a:tabLst>
                <a:tab pos="548640" algn="l"/>
                <a:tab pos="3566160" algn="l"/>
              </a:tabLst>
            </a:pPr>
            <a:r>
              <a:rPr sz="2400" dirty="0">
                <a:latin typeface="Cambria"/>
              </a:rPr>
              <a:t> </a:t>
            </a:r>
          </a:p>
          <a:p>
            <a:pPr>
              <a:tabLst>
                <a:tab pos="548640" algn="l"/>
                <a:tab pos="3566160" algn="l"/>
              </a:tabLst>
            </a:pPr>
            <a:r>
              <a:rPr sz="2400" b="0" dirty="0">
                <a:latin typeface="Cambria"/>
              </a:rPr>
              <a:t>Say what you mean</a:t>
            </a:r>
            <a:r>
              <a:rPr sz="2400" b="0" dirty="0" smtClean="0">
                <a:latin typeface="Cambria"/>
              </a:rPr>
              <a:t>:</a:t>
            </a:r>
            <a:r>
              <a:rPr lang="en-US" sz="2400" b="0" dirty="0" smtClean="0">
                <a:latin typeface="Cambria"/>
              </a:rPr>
              <a:t>               returns</a:t>
            </a:r>
            <a:endParaRPr sz="2400" b="0" dirty="0">
              <a:latin typeface="Cambria"/>
            </a:endParaRPr>
          </a:p>
          <a:p>
            <a:pPr>
              <a:tabLst>
                <a:tab pos="548640" algn="l"/>
                <a:tab pos="3566160" algn="l"/>
              </a:tabLst>
            </a:pPr>
            <a:r>
              <a:rPr sz="2400" b="0" dirty="0">
                <a:latin typeface="Cambria"/>
              </a:rPr>
              <a:t>	</a:t>
            </a:r>
            <a:r>
              <a:rPr sz="2400" b="0" dirty="0" err="1">
                <a:latin typeface="Cambria"/>
              </a:rPr>
              <a:t>x.wrapping_add</a:t>
            </a:r>
            <a:r>
              <a:rPr sz="2400" b="0" dirty="0">
                <a:latin typeface="Cambria"/>
              </a:rPr>
              <a:t>(1)	0</a:t>
            </a:r>
          </a:p>
          <a:p>
            <a:pPr>
              <a:tabLst>
                <a:tab pos="548640" algn="l"/>
                <a:tab pos="3566160" algn="l"/>
              </a:tabLst>
            </a:pPr>
            <a:r>
              <a:rPr sz="2400" b="0" dirty="0">
                <a:latin typeface="Cambria"/>
              </a:rPr>
              <a:t>	</a:t>
            </a:r>
            <a:r>
              <a:rPr sz="2400" b="0" dirty="0" err="1">
                <a:latin typeface="Cambria"/>
              </a:rPr>
              <a:t>x.checked_add</a:t>
            </a:r>
            <a:r>
              <a:rPr sz="2400" b="0" dirty="0">
                <a:latin typeface="Cambria"/>
              </a:rPr>
              <a:t>(1)	None</a:t>
            </a:r>
          </a:p>
          <a:p>
            <a:pPr>
              <a:tabLst>
                <a:tab pos="548640" algn="l"/>
                <a:tab pos="3566160" algn="l"/>
              </a:tabLst>
            </a:pPr>
            <a:r>
              <a:rPr sz="2400" b="0" dirty="0">
                <a:latin typeface="Cambria"/>
              </a:rPr>
              <a:t>	</a:t>
            </a:r>
            <a:r>
              <a:rPr sz="2400" b="0" dirty="0" err="1">
                <a:latin typeface="Cambria"/>
              </a:rPr>
              <a:t>x.saturating_add</a:t>
            </a:r>
            <a:r>
              <a:rPr sz="2400" b="0" dirty="0">
                <a:latin typeface="Cambria"/>
              </a:rPr>
              <a:t>(1)	255</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Mixing Types in C and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463040" algn="l"/>
                <a:tab pos="4206240" algn="l"/>
              </a:tabLst>
            </a:pPr>
            <a:r>
              <a:rPr sz="2600" b="0">
                <a:latin typeface="Cambria"/>
              </a:rPr>
              <a:t>uint8_t	a = 200,  b = 100 ;</a:t>
            </a:r>
          </a:p>
          <a:p>
            <a:pPr>
              <a:tabLst>
                <a:tab pos="1463040" algn="l"/>
                <a:tab pos="4206240" algn="l"/>
              </a:tabLst>
            </a:pPr>
            <a:r>
              <a:rPr sz="2600">
                <a:latin typeface="Cambria"/>
              </a:rPr>
              <a:t> </a:t>
            </a:r>
          </a:p>
          <a:p>
            <a:pPr>
              <a:tabLst>
                <a:tab pos="1463040" algn="l"/>
                <a:tab pos="4206240" algn="l"/>
              </a:tabLst>
            </a:pPr>
            <a:r>
              <a:rPr sz="2600" b="0">
                <a:latin typeface="Cambria"/>
              </a:rPr>
              <a:t>int	d = a + b ;	300</a:t>
            </a:r>
          </a:p>
          <a:p>
            <a:pPr>
              <a:tabLst>
                <a:tab pos="1463040" algn="l"/>
                <a:tab pos="4206240" algn="l"/>
              </a:tabLst>
            </a:pPr>
            <a:r>
              <a:rPr sz="2600" b="0">
                <a:latin typeface="Cambria"/>
              </a:rPr>
              <a:t>uint8_t	c = a + b ;	44</a:t>
            </a:r>
          </a:p>
          <a:p>
            <a:pPr>
              <a:tabLst>
                <a:tab pos="1463040" algn="l"/>
                <a:tab pos="4206240" algn="l"/>
              </a:tabLst>
            </a:pPr>
            <a:r>
              <a:rPr sz="2600">
                <a:latin typeface="Cambria"/>
              </a:rPr>
              <a:t> </a:t>
            </a:r>
          </a:p>
          <a:p>
            <a:pPr>
              <a:tabLst>
                <a:tab pos="1463040" algn="l"/>
                <a:tab pos="4206240" algn="l"/>
              </a:tabLst>
            </a:pPr>
            <a:r>
              <a:rPr sz="2600" b="0">
                <a:latin typeface="Cambria"/>
              </a:rPr>
              <a:t>Small types are </a:t>
            </a:r>
            <a:r>
              <a:rPr sz="2600" b="1">
                <a:latin typeface="Cambria"/>
              </a:rPr>
              <a:t>promoted</a:t>
            </a:r>
            <a:r>
              <a:rPr sz="2600" b="0">
                <a:latin typeface="Cambria"/>
              </a:rPr>
              <a:t> to int first</a:t>
            </a:r>
          </a:p>
          <a:p>
            <a:pPr>
              <a:tabLst>
                <a:tab pos="1463040" algn="l"/>
                <a:tab pos="4206240" algn="l"/>
              </a:tabLst>
            </a:pPr>
            <a:r>
              <a:rPr sz="2600" b="0">
                <a:latin typeface="Cambria"/>
              </a:rPr>
              <a:t>The result is cut down when stored</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Mixing Types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754880" algn="l"/>
              </a:tabLst>
            </a:pPr>
            <a:r>
              <a:rPr sz="2600" b="0">
                <a:latin typeface="Cambria"/>
              </a:rPr>
              <a:t>let a : u8 = 200 ;</a:t>
            </a:r>
          </a:p>
          <a:p>
            <a:pPr>
              <a:tabLst>
                <a:tab pos="548640" algn="l"/>
                <a:tab pos="4754880" algn="l"/>
              </a:tabLst>
            </a:pPr>
            <a:r>
              <a:rPr sz="2600" b="0">
                <a:latin typeface="Cambria"/>
              </a:rPr>
              <a:t>let d : i32 = a + 1000 ;	</a:t>
            </a:r>
            <a:r>
              <a:rPr sz="2600" b="1">
                <a:latin typeface="Cambria"/>
              </a:rPr>
              <a:t>error</a:t>
            </a:r>
          </a:p>
          <a:p>
            <a:pPr>
              <a:tabLst>
                <a:tab pos="548640" algn="l"/>
                <a:tab pos="4754880" algn="l"/>
              </a:tabLst>
            </a:pPr>
            <a:r>
              <a:rPr sz="2600">
                <a:latin typeface="Cambria"/>
              </a:rPr>
              <a:t> </a:t>
            </a:r>
          </a:p>
          <a:p>
            <a:pPr>
              <a:tabLst>
                <a:tab pos="548640" algn="l"/>
                <a:tab pos="4754880" algn="l"/>
              </a:tabLst>
            </a:pPr>
            <a:r>
              <a:rPr sz="2600" b="0">
                <a:latin typeface="Cambria"/>
              </a:rPr>
              <a:t>Rust </a:t>
            </a:r>
            <a:r>
              <a:rPr sz="2600" b="1">
                <a:latin typeface="Cambria"/>
              </a:rPr>
              <a:t>never</a:t>
            </a:r>
            <a:r>
              <a:rPr sz="2600" b="0">
                <a:latin typeface="Cambria"/>
              </a:rPr>
              <a:t> converts types for you</a:t>
            </a:r>
          </a:p>
          <a:p>
            <a:pPr>
              <a:tabLst>
                <a:tab pos="548640" algn="l"/>
                <a:tab pos="4754880" algn="l"/>
              </a:tabLst>
            </a:pPr>
            <a:r>
              <a:rPr sz="2600">
                <a:latin typeface="Cambria"/>
              </a:rPr>
              <a:t> </a:t>
            </a:r>
          </a:p>
          <a:p>
            <a:pPr>
              <a:tabLst>
                <a:tab pos="548640" algn="l"/>
                <a:tab pos="4754880" algn="l"/>
              </a:tabLst>
            </a:pPr>
            <a:r>
              <a:rPr sz="2600" b="0">
                <a:latin typeface="Cambria"/>
              </a:rPr>
              <a:t>You convert explicitly with </a:t>
            </a:r>
            <a:r>
              <a:rPr sz="2600" b="1">
                <a:latin typeface="Cambria"/>
              </a:rPr>
              <a:t>as</a:t>
            </a:r>
            <a:r>
              <a:rPr sz="2600" b="0">
                <a:latin typeface="Cambria"/>
              </a:rPr>
              <a:t>:</a:t>
            </a:r>
          </a:p>
          <a:p>
            <a:pPr>
              <a:tabLst>
                <a:tab pos="548640" algn="l"/>
                <a:tab pos="4754880" algn="l"/>
              </a:tabLst>
            </a:pPr>
            <a:r>
              <a:rPr sz="2600" b="0">
                <a:latin typeface="Cambria"/>
              </a:rPr>
              <a:t>	let d : i32 = a as i32 + 1000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Floating Point is Not Exact</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572000" algn="l"/>
              </a:tabLst>
            </a:pPr>
            <a:r>
              <a:rPr sz="2500" b="0">
                <a:latin typeface="Cambria"/>
              </a:rPr>
              <a:t>0.1 + 0.2  ==  0.3	</a:t>
            </a:r>
            <a:r>
              <a:rPr sz="2500" b="1">
                <a:latin typeface="Cambria"/>
              </a:rPr>
              <a:t>false</a:t>
            </a:r>
          </a:p>
          <a:p>
            <a:pPr>
              <a:tabLst>
                <a:tab pos="548640" algn="l"/>
                <a:tab pos="4572000" algn="l"/>
              </a:tabLst>
            </a:pPr>
            <a:r>
              <a:rPr sz="2500">
                <a:latin typeface="Cambria"/>
              </a:rPr>
              <a:t> </a:t>
            </a:r>
          </a:p>
          <a:p>
            <a:pPr>
              <a:tabLst>
                <a:tab pos="548640" algn="l"/>
                <a:tab pos="4572000" algn="l"/>
              </a:tabLst>
            </a:pPr>
            <a:r>
              <a:rPr sz="2500" b="0">
                <a:latin typeface="Cambria"/>
              </a:rPr>
              <a:t>Most decimals cannot be stored exactly in binary</a:t>
            </a:r>
          </a:p>
          <a:p>
            <a:pPr>
              <a:tabLst>
                <a:tab pos="548640" algn="l"/>
                <a:tab pos="4572000" algn="l"/>
              </a:tabLst>
            </a:pPr>
            <a:r>
              <a:rPr sz="2500">
                <a:latin typeface="Cambria"/>
              </a:rPr>
              <a:t> </a:t>
            </a:r>
          </a:p>
          <a:p>
            <a:pPr>
              <a:tabLst>
                <a:tab pos="548640" algn="l"/>
                <a:tab pos="4572000" algn="l"/>
              </a:tabLst>
            </a:pPr>
            <a:r>
              <a:rPr sz="2500" b="0">
                <a:latin typeface="Cambria"/>
              </a:rPr>
              <a:t>Compare with a tolerance instead:</a:t>
            </a:r>
          </a:p>
          <a:p>
            <a:pPr>
              <a:tabLst>
                <a:tab pos="548640" algn="l"/>
                <a:tab pos="4572000" algn="l"/>
              </a:tabLst>
            </a:pPr>
            <a:r>
              <a:rPr sz="2500" b="0">
                <a:latin typeface="Cambria"/>
              </a:rPr>
              <a:t>	fabs(a - b) &lt; 1e-6	C, C++</a:t>
            </a:r>
          </a:p>
          <a:p>
            <a:pPr>
              <a:tabLst>
                <a:tab pos="548640" algn="l"/>
                <a:tab pos="4572000" algn="l"/>
              </a:tabLst>
            </a:pPr>
            <a:r>
              <a:rPr sz="2500" b="0">
                <a:latin typeface="Cambria"/>
              </a:rPr>
              <a:t>	(a - b).abs() &lt; 1e-6	Rust</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Comparison Operators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914400" algn="l"/>
                <a:tab pos="3931920" algn="l"/>
                <a:tab pos="4846320" algn="l"/>
              </a:tabLst>
            </a:pPr>
            <a:r>
              <a:rPr sz="2600" b="0">
                <a:latin typeface="Cambria"/>
              </a:rPr>
              <a:t>==	equal</a:t>
            </a:r>
          </a:p>
          <a:p>
            <a:pPr>
              <a:tabLst>
                <a:tab pos="914400" algn="l"/>
                <a:tab pos="3931920" algn="l"/>
                <a:tab pos="4846320" algn="l"/>
              </a:tabLst>
            </a:pPr>
            <a:r>
              <a:rPr sz="2600" b="0">
                <a:latin typeface="Cambria"/>
              </a:rPr>
              <a:t>!=	not equal</a:t>
            </a:r>
          </a:p>
          <a:p>
            <a:pPr>
              <a:tabLst>
                <a:tab pos="914400" algn="l"/>
                <a:tab pos="3931920" algn="l"/>
                <a:tab pos="4846320" algn="l"/>
              </a:tabLst>
            </a:pPr>
            <a:r>
              <a:rPr sz="2600" b="0">
                <a:latin typeface="Cambria"/>
              </a:rPr>
              <a:t>&lt;	less than	&lt;=	less or equal</a:t>
            </a:r>
          </a:p>
          <a:p>
            <a:pPr>
              <a:tabLst>
                <a:tab pos="914400" algn="l"/>
                <a:tab pos="3931920" algn="l"/>
                <a:tab pos="4846320" algn="l"/>
              </a:tabLst>
            </a:pPr>
            <a:r>
              <a:rPr sz="2600" b="0">
                <a:latin typeface="Cambria"/>
              </a:rPr>
              <a:t>&gt;	greater than	&gt;=	greater or equal</a:t>
            </a:r>
          </a:p>
          <a:p>
            <a:pPr>
              <a:tabLst>
                <a:tab pos="914400" algn="l"/>
                <a:tab pos="3931920" algn="l"/>
                <a:tab pos="4846320" algn="l"/>
              </a:tabLst>
            </a:pPr>
            <a:r>
              <a:rPr sz="2600">
                <a:latin typeface="Cambria"/>
              </a:rPr>
              <a:t> </a:t>
            </a:r>
          </a:p>
          <a:p>
            <a:pPr>
              <a:tabLst>
                <a:tab pos="914400" algn="l"/>
                <a:tab pos="3931920" algn="l"/>
                <a:tab pos="4846320" algn="l"/>
              </a:tabLst>
            </a:pPr>
            <a:r>
              <a:rPr sz="2600" b="0">
                <a:latin typeface="Cambria"/>
              </a:rPr>
              <a:t>The result is true or false</a:t>
            </a:r>
          </a:p>
          <a:p>
            <a:pPr>
              <a:tabLst>
                <a:tab pos="914400" algn="l"/>
                <a:tab pos="3931920" algn="l"/>
                <a:tab pos="4846320" algn="l"/>
              </a:tabLst>
            </a:pPr>
            <a:r>
              <a:rPr sz="2600" b="0">
                <a:latin typeface="Cambria"/>
              </a:rPr>
              <a:t>	C:  an int, 1 or 0</a:t>
            </a:r>
          </a:p>
          <a:p>
            <a:pPr>
              <a:tabLst>
                <a:tab pos="914400" algn="l"/>
                <a:tab pos="3931920" algn="l"/>
                <a:tab pos="4846320" algn="l"/>
              </a:tabLst>
            </a:pPr>
            <a:r>
              <a:rPr sz="2600" b="0">
                <a:latin typeface="Cambria"/>
              </a:rPr>
              <a:t>	C++, Rust:  a bool</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 is not ==</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743200" algn="l"/>
              </a:tabLst>
            </a:pPr>
            <a:r>
              <a:rPr sz="2600" b="0">
                <a:latin typeface="Cambria"/>
              </a:rPr>
              <a:t>if ( x = 5 )	assigns 5, then tests it</a:t>
            </a:r>
          </a:p>
          <a:p>
            <a:pPr>
              <a:tabLst>
                <a:tab pos="2743200" algn="l"/>
              </a:tabLst>
            </a:pPr>
            <a:r>
              <a:rPr sz="2600" b="0">
                <a:latin typeface="Cambria"/>
              </a:rPr>
              <a:t>	always true in C and C++</a:t>
            </a:r>
          </a:p>
          <a:p>
            <a:pPr>
              <a:tabLst>
                <a:tab pos="2743200" algn="l"/>
              </a:tabLst>
            </a:pPr>
            <a:r>
              <a:rPr sz="2600">
                <a:latin typeface="Cambria"/>
              </a:rPr>
              <a:t> </a:t>
            </a:r>
          </a:p>
          <a:p>
            <a:pPr>
              <a:tabLst>
                <a:tab pos="2743200" algn="l"/>
              </a:tabLst>
            </a:pPr>
            <a:r>
              <a:rPr sz="2600" b="0">
                <a:latin typeface="Cambria"/>
              </a:rPr>
              <a:t>if ( x == 5 )	tests whether x is 5</a:t>
            </a:r>
          </a:p>
          <a:p>
            <a:pPr>
              <a:tabLst>
                <a:tab pos="2743200" algn="l"/>
              </a:tabLst>
            </a:pPr>
            <a:r>
              <a:rPr sz="2600">
                <a:latin typeface="Cambria"/>
              </a:rPr>
              <a:t> </a:t>
            </a:r>
          </a:p>
          <a:p>
            <a:pPr>
              <a:tabLst>
                <a:tab pos="2743200" algn="l"/>
              </a:tabLst>
            </a:pPr>
            <a:r>
              <a:rPr sz="2600" b="0">
                <a:latin typeface="Cambria"/>
              </a:rPr>
              <a:t>Rust refuses to compile the first one</a:t>
            </a:r>
          </a:p>
          <a:p>
            <a:pPr>
              <a:tabLst>
                <a:tab pos="2743200" algn="l"/>
              </a:tabLst>
            </a:pPr>
            <a:r>
              <a:rPr sz="2600" b="0">
                <a:latin typeface="Cambria"/>
              </a:rPr>
              <a:t>	an assignment is not a bool</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Chained Comparisons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4893647"/>
          </a:xfrm>
          <a:prstGeom prst="rect">
            <a:avLst/>
          </a:prstGeom>
          <a:noFill/>
        </p:spPr>
        <p:txBody>
          <a:bodyPr wrap="square">
            <a:spAutoFit/>
          </a:bodyPr>
          <a:lstStyle/>
          <a:p>
            <a:pPr>
              <a:tabLst>
                <a:tab pos="2560320" algn="l"/>
              </a:tabLst>
            </a:pPr>
            <a:r>
              <a:rPr sz="2600" b="0" dirty="0">
                <a:latin typeface="Cambria"/>
              </a:rPr>
              <a:t>Mathematics:	0 &lt; x &lt; 10</a:t>
            </a:r>
          </a:p>
          <a:p>
            <a:pPr>
              <a:tabLst>
                <a:tab pos="2560320" algn="l"/>
              </a:tabLst>
            </a:pPr>
            <a:r>
              <a:rPr sz="2600" dirty="0">
                <a:latin typeface="Cambria"/>
              </a:rPr>
              <a:t> </a:t>
            </a:r>
          </a:p>
          <a:p>
            <a:pPr>
              <a:tabLst>
                <a:tab pos="2560320" algn="l"/>
              </a:tabLst>
            </a:pPr>
            <a:r>
              <a:rPr sz="2600" b="0" dirty="0">
                <a:latin typeface="Cambria"/>
              </a:rPr>
              <a:t>C, C++:	compiles, and is </a:t>
            </a:r>
            <a:r>
              <a:rPr sz="2600" b="1" dirty="0">
                <a:latin typeface="Cambria"/>
              </a:rPr>
              <a:t>wrong</a:t>
            </a:r>
          </a:p>
          <a:p>
            <a:pPr>
              <a:tabLst>
                <a:tab pos="2560320" algn="l"/>
              </a:tabLst>
            </a:pPr>
            <a:r>
              <a:rPr sz="2600" b="0" dirty="0">
                <a:latin typeface="Cambria"/>
              </a:rPr>
              <a:t>	( 0 &lt; x ) is 0 or 1 - always &lt; 10</a:t>
            </a:r>
          </a:p>
          <a:p>
            <a:pPr>
              <a:tabLst>
                <a:tab pos="2560320" algn="l"/>
              </a:tabLst>
            </a:pPr>
            <a:r>
              <a:rPr sz="2600" dirty="0">
                <a:latin typeface="Cambria"/>
              </a:rPr>
              <a:t> </a:t>
            </a:r>
          </a:p>
          <a:p>
            <a:pPr>
              <a:tabLst>
                <a:tab pos="2560320" algn="l"/>
              </a:tabLst>
            </a:pPr>
            <a:r>
              <a:rPr sz="2600" b="0" dirty="0">
                <a:latin typeface="Cambria"/>
              </a:rPr>
              <a:t>Rust:	compile error</a:t>
            </a:r>
          </a:p>
          <a:p>
            <a:pPr>
              <a:tabLst>
                <a:tab pos="2560320" algn="l"/>
              </a:tabLst>
            </a:pPr>
            <a:r>
              <a:rPr sz="2600" dirty="0">
                <a:latin typeface="Cambria"/>
              </a:rPr>
              <a:t> </a:t>
            </a:r>
          </a:p>
          <a:p>
            <a:pPr>
              <a:tabLst>
                <a:tab pos="2560320" algn="l"/>
              </a:tabLst>
            </a:pPr>
            <a:r>
              <a:rPr sz="2600" b="0" dirty="0">
                <a:latin typeface="Cambria"/>
              </a:rPr>
              <a:t>Write:	0 &lt; x &amp;&amp; x &lt; </a:t>
            </a:r>
            <a:r>
              <a:rPr sz="2600" b="0" dirty="0" smtClean="0">
                <a:latin typeface="Cambria"/>
              </a:rPr>
              <a:t>10</a:t>
            </a:r>
            <a:endParaRPr lang="en-US" sz="2600" b="0" dirty="0" smtClean="0">
              <a:latin typeface="Cambria"/>
            </a:endParaRPr>
          </a:p>
          <a:p>
            <a:pPr>
              <a:tabLst>
                <a:tab pos="2560320" algn="l"/>
              </a:tabLst>
            </a:pPr>
            <a:endParaRPr lang="en-US" sz="2600" dirty="0">
              <a:latin typeface="Cambria"/>
            </a:endParaRPr>
          </a:p>
          <a:p>
            <a:pPr>
              <a:tabLst>
                <a:tab pos="2560320" algn="l"/>
              </a:tabLst>
            </a:pPr>
            <a:r>
              <a:rPr lang="en-US" sz="2600" dirty="0">
                <a:latin typeface="Cambria"/>
              </a:rPr>
              <a:t> </a:t>
            </a:r>
            <a:r>
              <a:rPr lang="en-US" sz="2600" dirty="0" smtClean="0">
                <a:latin typeface="Cambria"/>
              </a:rPr>
              <a:t>      o</a:t>
            </a:r>
            <a:r>
              <a:rPr lang="en-US" sz="2600" b="0" dirty="0" smtClean="0">
                <a:latin typeface="Cambria"/>
              </a:rPr>
              <a:t>r better yet </a:t>
            </a:r>
          </a:p>
          <a:p>
            <a:pPr>
              <a:tabLst>
                <a:tab pos="2560320" algn="l"/>
              </a:tabLst>
            </a:pPr>
            <a:r>
              <a:rPr lang="en-US" sz="2600" dirty="0" smtClean="0">
                <a:latin typeface="Cambria"/>
              </a:rPr>
              <a:t>	(0 </a:t>
            </a:r>
            <a:r>
              <a:rPr lang="en-US" sz="2600" dirty="0">
                <a:latin typeface="Cambria"/>
              </a:rPr>
              <a:t>&lt; </a:t>
            </a:r>
            <a:r>
              <a:rPr lang="en-US" sz="2600" dirty="0" smtClean="0">
                <a:latin typeface="Cambria"/>
              </a:rPr>
              <a:t>x) </a:t>
            </a:r>
            <a:r>
              <a:rPr lang="en-US" sz="2600" dirty="0">
                <a:latin typeface="Cambria"/>
              </a:rPr>
              <a:t>&amp;&amp; </a:t>
            </a:r>
            <a:r>
              <a:rPr lang="en-US" sz="2600" dirty="0" smtClean="0">
                <a:latin typeface="Cambria"/>
              </a:rPr>
              <a:t>(x </a:t>
            </a:r>
            <a:r>
              <a:rPr lang="en-US" sz="2600" dirty="0">
                <a:latin typeface="Cambria"/>
              </a:rPr>
              <a:t>&lt; </a:t>
            </a:r>
            <a:r>
              <a:rPr lang="en-US" sz="2600" dirty="0" smtClean="0">
                <a:latin typeface="Cambria"/>
              </a:rPr>
              <a:t>1)</a:t>
            </a:r>
            <a:endParaRPr lang="en-US" sz="2600" b="0" dirty="0" smtClean="0">
              <a:latin typeface="Cambria"/>
            </a:endParaRPr>
          </a:p>
          <a:p>
            <a:pPr>
              <a:tabLst>
                <a:tab pos="2560320" algn="l"/>
              </a:tabLst>
            </a:pPr>
            <a:endParaRPr sz="2600" b="0" dirty="0">
              <a:latin typeface="Cambri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Operators on Struct Members</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600" b="0">
                <a:latin typeface="Cambria"/>
              </a:rPr>
              <a:t>A member is an ordinary variable</a:t>
            </a:r>
          </a:p>
          <a:p>
            <a:r>
              <a:rPr sz="2600" b="0">
                <a:latin typeface="Cambria"/>
              </a:rPr>
              <a:t>Every operator works on it:</a:t>
            </a:r>
          </a:p>
          <a:p>
            <a:r>
              <a:rPr sz="2600">
                <a:latin typeface="Cambria"/>
              </a:rPr>
              <a:t> </a:t>
            </a:r>
          </a:p>
          <a:p>
            <a:r>
              <a:rPr sz="2600" b="0">
                <a:latin typeface="Cambria"/>
              </a:rPr>
              <a:t>	my_sample.psi * 2.0</a:t>
            </a:r>
          </a:p>
          <a:p>
            <a:r>
              <a:rPr sz="2600" b="0">
                <a:latin typeface="Cambria"/>
              </a:rPr>
              <a:t>	my_sample.adc_counts + 1</a:t>
            </a:r>
          </a:p>
          <a:p>
            <a:r>
              <a:rPr sz="2600" b="0">
                <a:latin typeface="Cambria"/>
              </a:rPr>
              <a:t>	my_sample.timestamp_ms - start</a:t>
            </a:r>
          </a:p>
          <a:p>
            <a:r>
              <a:rPr sz="2600">
                <a:latin typeface="Cambria"/>
              </a:rPr>
              <a:t> </a:t>
            </a:r>
          </a:p>
          <a:p>
            <a:r>
              <a:rPr sz="2600" b="0">
                <a:latin typeface="Cambria"/>
              </a:rPr>
              <a:t>Same in C, C++, and Rust</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Assigning a Whole Struct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572000" algn="l"/>
              </a:tabLst>
            </a:pPr>
            <a:r>
              <a:rPr sz="2400" b="0">
                <a:latin typeface="Cambria"/>
              </a:rPr>
              <a:t>C, C++:</a:t>
            </a:r>
          </a:p>
          <a:p>
            <a:pPr>
              <a:tabLst>
                <a:tab pos="548640" algn="l"/>
                <a:tab pos="4572000" algn="l"/>
              </a:tabLst>
            </a:pPr>
            <a:r>
              <a:rPr sz="2400" b="0">
                <a:latin typeface="Cambria"/>
              </a:rPr>
              <a:t>	sample_t  sample2 ;</a:t>
            </a:r>
          </a:p>
          <a:p>
            <a:pPr>
              <a:tabLst>
                <a:tab pos="548640" algn="l"/>
                <a:tab pos="4572000" algn="l"/>
              </a:tabLst>
            </a:pPr>
            <a:r>
              <a:rPr sz="2400" b="0">
                <a:latin typeface="Cambria"/>
              </a:rPr>
              <a:t>	sample2 = my_sample ;	copies every byte</a:t>
            </a:r>
          </a:p>
          <a:p>
            <a:pPr>
              <a:tabLst>
                <a:tab pos="548640" algn="l"/>
                <a:tab pos="4572000" algn="l"/>
              </a:tabLst>
            </a:pPr>
            <a:r>
              <a:rPr sz="2400">
                <a:latin typeface="Cambria"/>
              </a:rPr>
              <a:t> </a:t>
            </a:r>
          </a:p>
          <a:p>
            <a:pPr>
              <a:tabLst>
                <a:tab pos="548640" algn="l"/>
                <a:tab pos="4572000" algn="l"/>
              </a:tabLst>
            </a:pPr>
            <a:r>
              <a:rPr sz="2400" b="0">
                <a:latin typeface="Cambria"/>
              </a:rPr>
              <a:t>Rust:</a:t>
            </a:r>
          </a:p>
          <a:p>
            <a:pPr>
              <a:tabLst>
                <a:tab pos="548640" algn="l"/>
                <a:tab pos="4572000" algn="l"/>
              </a:tabLst>
            </a:pPr>
            <a:r>
              <a:rPr sz="2400" b="0">
                <a:latin typeface="Cambria"/>
              </a:rPr>
              <a:t>	let sample2 = my_sample ;	</a:t>
            </a:r>
            <a:r>
              <a:rPr sz="2400" b="1">
                <a:latin typeface="Cambria"/>
              </a:rPr>
              <a:t>moves</a:t>
            </a:r>
            <a:r>
              <a:rPr sz="2400" b="0">
                <a:latin typeface="Cambria"/>
              </a:rPr>
              <a:t> it</a:t>
            </a:r>
          </a:p>
          <a:p>
            <a:pPr>
              <a:tabLst>
                <a:tab pos="548640" algn="l"/>
                <a:tab pos="4572000" algn="l"/>
              </a:tabLst>
            </a:pPr>
            <a:r>
              <a:rPr sz="2400" b="0">
                <a:latin typeface="Cambria"/>
              </a:rPr>
              <a:t>	my_sample can no longer be used</a:t>
            </a:r>
          </a:p>
          <a:p>
            <a:pPr>
              <a:tabLst>
                <a:tab pos="548640" algn="l"/>
                <a:tab pos="4572000" algn="l"/>
              </a:tabLst>
            </a:pPr>
            <a:r>
              <a:rPr sz="2400">
                <a:latin typeface="Cambria"/>
              </a:rPr>
              <a:t> </a:t>
            </a:r>
          </a:p>
          <a:p>
            <a:pPr>
              <a:tabLst>
                <a:tab pos="548640" algn="l"/>
                <a:tab pos="4572000" algn="l"/>
              </a:tabLst>
            </a:pPr>
            <a:r>
              <a:rPr sz="2400" b="0">
                <a:latin typeface="Cambria"/>
              </a:rPr>
              <a:t>Add #[derive(Clone, Copy)] to copy instead</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Comparing Structs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846320" algn="l"/>
              </a:tabLst>
            </a:pPr>
            <a:r>
              <a:rPr sz="2200" b="0">
                <a:latin typeface="Cambria"/>
              </a:rPr>
              <a:t>if ( my_sample == sample2 )	</a:t>
            </a:r>
            <a:r>
              <a:rPr sz="2200" b="1">
                <a:latin typeface="Cambria"/>
              </a:rPr>
              <a:t>compile error</a:t>
            </a:r>
          </a:p>
          <a:p>
            <a:pPr>
              <a:tabLst>
                <a:tab pos="548640" algn="l"/>
                <a:tab pos="4846320" algn="l"/>
              </a:tabLst>
            </a:pPr>
            <a:r>
              <a:rPr sz="2200">
                <a:latin typeface="Cambria"/>
              </a:rPr>
              <a:t> </a:t>
            </a:r>
          </a:p>
          <a:p>
            <a:pPr>
              <a:tabLst>
                <a:tab pos="548640" algn="l"/>
                <a:tab pos="4846320" algn="l"/>
              </a:tabLst>
            </a:pPr>
            <a:r>
              <a:rPr sz="2200" b="0">
                <a:latin typeface="Cambria"/>
              </a:rPr>
              <a:t>Compare member by member:</a:t>
            </a:r>
          </a:p>
          <a:p>
            <a:pPr>
              <a:tabLst>
                <a:tab pos="548640" algn="l"/>
                <a:tab pos="4846320" algn="l"/>
              </a:tabLst>
            </a:pPr>
            <a:r>
              <a:rPr sz="2200" b="0">
                <a:latin typeface="Cambria"/>
              </a:rPr>
              <a:t>	my_sample.adc_counts == sample2.adc_counts</a:t>
            </a:r>
          </a:p>
          <a:p>
            <a:pPr>
              <a:tabLst>
                <a:tab pos="548640" algn="l"/>
                <a:tab pos="4846320" algn="l"/>
              </a:tabLst>
            </a:pPr>
            <a:r>
              <a:rPr sz="2200" b="0">
                <a:latin typeface="Cambria"/>
              </a:rPr>
              <a:t>	&amp;&amp; my_sample.psi == sample2.psi</a:t>
            </a:r>
          </a:p>
          <a:p>
            <a:pPr>
              <a:tabLst>
                <a:tab pos="548640" algn="l"/>
                <a:tab pos="4846320" algn="l"/>
              </a:tabLst>
            </a:pPr>
            <a:r>
              <a:rPr sz="2200" b="0">
                <a:latin typeface="Cambria"/>
              </a:rPr>
              <a:t>	&amp;&amp; my_sample.timestamp_ms == sample2.timestamp_ms</a:t>
            </a:r>
          </a:p>
          <a:p>
            <a:pPr>
              <a:tabLst>
                <a:tab pos="548640" algn="l"/>
                <a:tab pos="4846320" algn="l"/>
              </a:tabLst>
            </a:pPr>
            <a:r>
              <a:rPr sz="2200">
                <a:latin typeface="Cambria"/>
              </a:rPr>
              <a:t> </a:t>
            </a:r>
          </a:p>
          <a:p>
            <a:pPr>
              <a:tabLst>
                <a:tab pos="548640" algn="l"/>
                <a:tab pos="4846320" algn="l"/>
              </a:tabLst>
            </a:pPr>
            <a:r>
              <a:rPr sz="2200" b="0">
                <a:latin typeface="Cambria"/>
              </a:rPr>
              <a:t>Do not use memcmp - it compares the </a:t>
            </a:r>
            <a:r>
              <a:rPr sz="2200" b="1">
                <a:latin typeface="Cambria"/>
              </a:rPr>
              <a:t>padding</a:t>
            </a:r>
            <a:r>
              <a:rPr sz="2200" b="0">
                <a:latin typeface="Cambria"/>
              </a:rPr>
              <a:t> too</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Comparing Structs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847755"/>
          </a:xfrm>
          <a:prstGeom prst="rect">
            <a:avLst/>
          </a:prstGeom>
          <a:noFill/>
        </p:spPr>
        <p:txBody>
          <a:bodyPr wrap="square">
            <a:spAutoFit/>
          </a:bodyPr>
          <a:lstStyle/>
          <a:p>
            <a:pPr>
              <a:tabLst>
                <a:tab pos="548640" algn="l"/>
                <a:tab pos="2103120" algn="l"/>
              </a:tabLst>
            </a:pPr>
            <a:r>
              <a:rPr sz="2200" b="0" dirty="0">
                <a:latin typeface="Cambria"/>
              </a:rPr>
              <a:t>Ask the compiler to write == for you  (C++20):</a:t>
            </a:r>
          </a:p>
          <a:p>
            <a:pPr>
              <a:tabLst>
                <a:tab pos="548640" algn="l"/>
                <a:tab pos="2103120" algn="l"/>
              </a:tabLst>
            </a:pPr>
            <a:r>
              <a:rPr sz="2200" dirty="0">
                <a:latin typeface="Cambria"/>
              </a:rPr>
              <a:t> </a:t>
            </a:r>
          </a:p>
          <a:p>
            <a:pPr>
              <a:tabLst>
                <a:tab pos="548640" algn="l"/>
                <a:tab pos="2103120" algn="l"/>
              </a:tabLst>
            </a:pPr>
            <a:r>
              <a:rPr sz="2200" b="0" dirty="0" err="1">
                <a:latin typeface="Cambria"/>
              </a:rPr>
              <a:t>struct</a:t>
            </a:r>
            <a:r>
              <a:rPr sz="2200" b="0" dirty="0">
                <a:latin typeface="Cambria"/>
              </a:rPr>
              <a:t> sample {</a:t>
            </a:r>
          </a:p>
          <a:p>
            <a:pPr>
              <a:tabLst>
                <a:tab pos="548640" algn="l"/>
                <a:tab pos="2103120" algn="l"/>
              </a:tabLst>
            </a:pPr>
            <a:r>
              <a:rPr sz="2200" b="0" dirty="0">
                <a:latin typeface="Cambria"/>
              </a:rPr>
              <a:t>	uint32_t	</a:t>
            </a:r>
            <a:r>
              <a:rPr sz="2200" b="0" dirty="0" err="1">
                <a:latin typeface="Cambria"/>
              </a:rPr>
              <a:t>adc_counts</a:t>
            </a:r>
            <a:r>
              <a:rPr sz="2200" b="0" dirty="0">
                <a:latin typeface="Cambria"/>
              </a:rPr>
              <a:t> ;</a:t>
            </a:r>
          </a:p>
          <a:p>
            <a:pPr>
              <a:tabLst>
                <a:tab pos="548640" algn="l"/>
                <a:tab pos="2103120" algn="l"/>
              </a:tabLst>
            </a:pPr>
            <a:r>
              <a:rPr sz="2200" b="0" dirty="0">
                <a:latin typeface="Cambria"/>
              </a:rPr>
              <a:t>	float	psi ;</a:t>
            </a:r>
          </a:p>
          <a:p>
            <a:pPr>
              <a:tabLst>
                <a:tab pos="548640" algn="l"/>
                <a:tab pos="2103120" algn="l"/>
              </a:tabLst>
            </a:pPr>
            <a:r>
              <a:rPr sz="2200" b="0" dirty="0">
                <a:latin typeface="Cambria"/>
              </a:rPr>
              <a:t>	uint64_t	</a:t>
            </a:r>
            <a:r>
              <a:rPr sz="2200" b="0" dirty="0" err="1">
                <a:latin typeface="Cambria"/>
              </a:rPr>
              <a:t>timestamp_ms</a:t>
            </a:r>
            <a:r>
              <a:rPr sz="2200" b="0" dirty="0">
                <a:latin typeface="Cambria"/>
              </a:rPr>
              <a:t> ;</a:t>
            </a:r>
          </a:p>
          <a:p>
            <a:pPr>
              <a:tabLst>
                <a:tab pos="548640" algn="l"/>
                <a:tab pos="2103120" algn="l"/>
              </a:tabLst>
            </a:pPr>
            <a:r>
              <a:rPr sz="2200" b="0" dirty="0">
                <a:latin typeface="Cambria"/>
              </a:rPr>
              <a:t>	</a:t>
            </a:r>
            <a:r>
              <a:rPr sz="2200" b="0" dirty="0" err="1">
                <a:latin typeface="Cambria"/>
              </a:rPr>
              <a:t>bool</a:t>
            </a:r>
            <a:r>
              <a:rPr sz="2200" b="0" dirty="0">
                <a:latin typeface="Cambria"/>
              </a:rPr>
              <a:t> </a:t>
            </a:r>
            <a:r>
              <a:rPr sz="2200" b="0" dirty="0" smtClean="0">
                <a:latin typeface="Cambria"/>
              </a:rPr>
              <a:t>operator</a:t>
            </a:r>
            <a:r>
              <a:rPr lang="en-US" sz="2200" b="0" dirty="0" smtClean="0">
                <a:latin typeface="Cambria"/>
              </a:rPr>
              <a:t>  </a:t>
            </a:r>
            <a:r>
              <a:rPr sz="2200" b="0" dirty="0" smtClean="0">
                <a:latin typeface="Cambria"/>
              </a:rPr>
              <a:t>==</a:t>
            </a:r>
            <a:r>
              <a:rPr lang="en-US" sz="2200" b="0" dirty="0" smtClean="0">
                <a:latin typeface="Cambria"/>
              </a:rPr>
              <a:t>  </a:t>
            </a:r>
            <a:r>
              <a:rPr sz="2200" b="0" dirty="0" smtClean="0">
                <a:latin typeface="Cambria"/>
              </a:rPr>
              <a:t>(</a:t>
            </a:r>
            <a:r>
              <a:rPr sz="2200" b="0" dirty="0" err="1">
                <a:latin typeface="Cambria"/>
              </a:rPr>
              <a:t>const</a:t>
            </a:r>
            <a:r>
              <a:rPr sz="2200" b="0" dirty="0">
                <a:latin typeface="Cambria"/>
              </a:rPr>
              <a:t> sample&amp;) </a:t>
            </a:r>
            <a:r>
              <a:rPr sz="2200" b="0" dirty="0" err="1">
                <a:latin typeface="Cambria"/>
              </a:rPr>
              <a:t>const</a:t>
            </a:r>
            <a:r>
              <a:rPr sz="2200" b="0" dirty="0">
                <a:latin typeface="Cambria"/>
              </a:rPr>
              <a:t> = default ;</a:t>
            </a:r>
          </a:p>
          <a:p>
            <a:pPr>
              <a:tabLst>
                <a:tab pos="548640" algn="l"/>
                <a:tab pos="2103120" algn="l"/>
              </a:tabLst>
            </a:pPr>
            <a:r>
              <a:rPr sz="2200" b="0" dirty="0">
                <a:latin typeface="Cambria"/>
              </a:rPr>
              <a:t>} ;</a:t>
            </a:r>
          </a:p>
          <a:p>
            <a:pPr>
              <a:tabLst>
                <a:tab pos="548640" algn="l"/>
                <a:tab pos="2103120" algn="l"/>
              </a:tabLst>
            </a:pPr>
            <a:r>
              <a:rPr lang="en-US" sz="2200" dirty="0" smtClean="0">
                <a:latin typeface="Cambria"/>
              </a:rPr>
              <a:t>Overloads == operator</a:t>
            </a:r>
            <a:endParaRPr sz="2200" dirty="0">
              <a:latin typeface="Cambria"/>
            </a:endParaRPr>
          </a:p>
          <a:p>
            <a:pPr>
              <a:tabLst>
                <a:tab pos="548640" algn="l"/>
                <a:tab pos="2103120" algn="l"/>
              </a:tabLst>
            </a:pPr>
            <a:r>
              <a:rPr sz="2200" b="0" dirty="0">
                <a:latin typeface="Cambria"/>
              </a:rPr>
              <a:t>Now  </a:t>
            </a:r>
            <a:r>
              <a:rPr sz="2200" b="0" dirty="0" err="1">
                <a:latin typeface="Cambria"/>
              </a:rPr>
              <a:t>my_sample</a:t>
            </a:r>
            <a:r>
              <a:rPr sz="2200" b="0" dirty="0">
                <a:latin typeface="Cambria"/>
              </a:rPr>
              <a:t> == sample2  compares every </a:t>
            </a:r>
            <a:r>
              <a:rPr sz="2200" b="0" dirty="0" smtClean="0">
                <a:latin typeface="Cambria"/>
              </a:rPr>
              <a:t>member</a:t>
            </a:r>
            <a:endParaRPr lang="en-US" sz="2200" b="0" dirty="0" smtClean="0">
              <a:latin typeface="Cambria"/>
            </a:endParaRPr>
          </a:p>
          <a:p>
            <a:pPr>
              <a:tabLst>
                <a:tab pos="548640" algn="l"/>
                <a:tab pos="2103120" algn="l"/>
              </a:tabLst>
            </a:pPr>
            <a:endParaRPr lang="en-US" sz="2200" dirty="0" smtClean="0">
              <a:latin typeface="Cambria"/>
            </a:endParaRPr>
          </a:p>
          <a:p>
            <a:pPr>
              <a:tabLst>
                <a:tab pos="548640" algn="l"/>
                <a:tab pos="2103120" algn="l"/>
              </a:tabLst>
            </a:pPr>
            <a:r>
              <a:rPr lang="en-US" sz="2000" dirty="0" smtClean="0">
                <a:latin typeface="Cambria"/>
              </a:rPr>
              <a:t>// </a:t>
            </a:r>
            <a:r>
              <a:rPr lang="en-US" sz="2000" dirty="0">
                <a:latin typeface="Cambria"/>
              </a:rPr>
              <a:t>What the compiler effectively generates</a:t>
            </a:r>
            <a:r>
              <a:rPr lang="en-US" sz="2000" dirty="0" smtClean="0">
                <a:latin typeface="Cambria"/>
              </a:rPr>
              <a:t>:</a:t>
            </a:r>
          </a:p>
          <a:p>
            <a:pPr>
              <a:tabLst>
                <a:tab pos="548640" algn="l"/>
                <a:tab pos="2103120" algn="l"/>
              </a:tabLst>
            </a:pPr>
            <a:r>
              <a:rPr lang="en-US" sz="2000" dirty="0" err="1" smtClean="0">
                <a:latin typeface="Cambria"/>
              </a:rPr>
              <a:t>bool</a:t>
            </a:r>
            <a:r>
              <a:rPr lang="en-US" sz="2000" dirty="0" smtClean="0">
                <a:latin typeface="Cambria"/>
              </a:rPr>
              <a:t> operator == (</a:t>
            </a:r>
            <a:r>
              <a:rPr lang="en-US" sz="2000" dirty="0" err="1">
                <a:latin typeface="Cambria"/>
              </a:rPr>
              <a:t>const</a:t>
            </a:r>
            <a:r>
              <a:rPr lang="en-US" sz="2000" dirty="0">
                <a:latin typeface="Cambria"/>
              </a:rPr>
              <a:t> sample&amp; other) </a:t>
            </a:r>
            <a:r>
              <a:rPr lang="en-US" sz="2000" dirty="0" err="1">
                <a:latin typeface="Cambria"/>
              </a:rPr>
              <a:t>const</a:t>
            </a:r>
            <a:r>
              <a:rPr lang="en-US" sz="2000" dirty="0">
                <a:latin typeface="Cambria"/>
              </a:rPr>
              <a:t> {    </a:t>
            </a:r>
            <a:endParaRPr lang="en-US" sz="2000" dirty="0" smtClean="0">
              <a:latin typeface="Cambria"/>
            </a:endParaRPr>
          </a:p>
          <a:p>
            <a:pPr>
              <a:tabLst>
                <a:tab pos="548640" algn="l"/>
                <a:tab pos="2103120" algn="l"/>
              </a:tabLst>
            </a:pPr>
            <a:r>
              <a:rPr lang="en-US" sz="2000" dirty="0">
                <a:latin typeface="Cambria"/>
              </a:rPr>
              <a:t> </a:t>
            </a:r>
            <a:r>
              <a:rPr lang="en-US" sz="2000" dirty="0" smtClean="0">
                <a:latin typeface="Cambria"/>
              </a:rPr>
              <a:t>    return (</a:t>
            </a:r>
            <a:r>
              <a:rPr lang="en-US" sz="2000" dirty="0" err="1" smtClean="0">
                <a:latin typeface="Cambria"/>
              </a:rPr>
              <a:t>adc_counts</a:t>
            </a:r>
            <a:r>
              <a:rPr lang="en-US" sz="2000" dirty="0" smtClean="0">
                <a:latin typeface="Cambria"/>
              </a:rPr>
              <a:t> </a:t>
            </a:r>
            <a:r>
              <a:rPr lang="en-US" sz="2000" dirty="0">
                <a:latin typeface="Cambria"/>
              </a:rPr>
              <a:t>== </a:t>
            </a:r>
            <a:r>
              <a:rPr lang="en-US" sz="2000" dirty="0" err="1" smtClean="0">
                <a:latin typeface="Cambria"/>
              </a:rPr>
              <a:t>other.adc_counts</a:t>
            </a:r>
            <a:r>
              <a:rPr lang="en-US" sz="2000" dirty="0" smtClean="0">
                <a:latin typeface="Cambria"/>
              </a:rPr>
              <a:t>) &amp;&amp;</a:t>
            </a:r>
          </a:p>
          <a:p>
            <a:pPr>
              <a:tabLst>
                <a:tab pos="548640" algn="l"/>
                <a:tab pos="2103120" algn="l"/>
              </a:tabLst>
            </a:pPr>
            <a:r>
              <a:rPr lang="en-US" sz="2000" dirty="0">
                <a:latin typeface="Cambria"/>
              </a:rPr>
              <a:t> </a:t>
            </a:r>
            <a:r>
              <a:rPr lang="en-US" sz="2000" dirty="0" smtClean="0">
                <a:latin typeface="Cambria"/>
              </a:rPr>
              <a:t>                 (psi </a:t>
            </a:r>
            <a:r>
              <a:rPr lang="en-US" sz="2000" dirty="0">
                <a:latin typeface="Cambria"/>
              </a:rPr>
              <a:t>== </a:t>
            </a:r>
            <a:r>
              <a:rPr lang="en-US" sz="2000" dirty="0" err="1" smtClean="0">
                <a:latin typeface="Cambria"/>
              </a:rPr>
              <a:t>other.psi</a:t>
            </a:r>
            <a:r>
              <a:rPr lang="en-US" sz="2000" dirty="0" smtClean="0">
                <a:latin typeface="Cambria"/>
              </a:rPr>
              <a:t>) &amp;&amp;</a:t>
            </a:r>
          </a:p>
          <a:p>
            <a:pPr>
              <a:tabLst>
                <a:tab pos="548640" algn="l"/>
                <a:tab pos="2103120" algn="l"/>
              </a:tabLst>
            </a:pPr>
            <a:r>
              <a:rPr lang="en-US" sz="2000" dirty="0">
                <a:latin typeface="Cambria"/>
              </a:rPr>
              <a:t> </a:t>
            </a:r>
            <a:r>
              <a:rPr lang="en-US" sz="2000" dirty="0" smtClean="0">
                <a:latin typeface="Cambria"/>
              </a:rPr>
              <a:t>                 (</a:t>
            </a:r>
            <a:r>
              <a:rPr lang="en-US" sz="2000" dirty="0" err="1" smtClean="0">
                <a:latin typeface="Cambria"/>
              </a:rPr>
              <a:t>timestamp_ms</a:t>
            </a:r>
            <a:r>
              <a:rPr lang="en-US" sz="2000" dirty="0" smtClean="0">
                <a:latin typeface="Cambria"/>
              </a:rPr>
              <a:t> </a:t>
            </a:r>
            <a:r>
              <a:rPr lang="en-US" sz="2000" dirty="0">
                <a:latin typeface="Cambria"/>
              </a:rPr>
              <a:t>== </a:t>
            </a:r>
            <a:r>
              <a:rPr lang="en-US" sz="2000" dirty="0" err="1" smtClean="0">
                <a:latin typeface="Cambria"/>
              </a:rPr>
              <a:t>other.timestamp_ms</a:t>
            </a:r>
            <a:r>
              <a:rPr lang="en-US" sz="2000" dirty="0" smtClean="0">
                <a:latin typeface="Cambria"/>
              </a:rPr>
              <a:t>) ;</a:t>
            </a:r>
          </a:p>
          <a:p>
            <a:pPr>
              <a:tabLst>
                <a:tab pos="548640" algn="l"/>
                <a:tab pos="2103120" algn="l"/>
              </a:tabLst>
            </a:pPr>
            <a:r>
              <a:rPr lang="en-US" sz="2000" dirty="0" smtClean="0">
                <a:latin typeface="Cambria"/>
              </a:rPr>
              <a:t>}</a:t>
            </a:r>
            <a:endParaRPr sz="2000" b="0" dirty="0">
              <a:latin typeface="Cambri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8">
                                            <p:txEl>
                                              <p:pRg st="12" end="1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8">
                                            <p:txEl>
                                              <p:pRg st="13" end="1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8">
                                            <p:txEl>
                                              <p:pRg st="14" end="1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8">
                                            <p:txEl>
                                              <p:pRg st="15" end="1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88">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Comparing Structs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400" b="0">
                <a:latin typeface="Cambria"/>
              </a:rPr>
              <a:t>#[derive(PartialEq)]</a:t>
            </a:r>
          </a:p>
          <a:p>
            <a:r>
              <a:rPr sz="2400" b="0">
                <a:latin typeface="Cambria"/>
              </a:rPr>
              <a:t>struct Sample {</a:t>
            </a:r>
          </a:p>
          <a:p>
            <a:r>
              <a:rPr sz="2400" b="0">
                <a:latin typeface="Cambria"/>
              </a:rPr>
              <a:t>	adc_counts : u32,</a:t>
            </a:r>
          </a:p>
          <a:p>
            <a:r>
              <a:rPr sz="2400" b="0">
                <a:latin typeface="Cambria"/>
              </a:rPr>
              <a:t>	psi : f32,</a:t>
            </a:r>
          </a:p>
          <a:p>
            <a:r>
              <a:rPr sz="2400" b="0">
                <a:latin typeface="Cambria"/>
              </a:rPr>
              <a:t>	timestamp_ms : u64,</a:t>
            </a:r>
          </a:p>
          <a:p>
            <a:r>
              <a:rPr sz="2400" b="0">
                <a:latin typeface="Cambria"/>
              </a:rPr>
              <a:t>}</a:t>
            </a:r>
          </a:p>
          <a:p>
            <a:r>
              <a:rPr sz="2400">
                <a:latin typeface="Cambria"/>
              </a:rPr>
              <a:t> </a:t>
            </a:r>
          </a:p>
          <a:p>
            <a:r>
              <a:rPr sz="2400" b="0">
                <a:latin typeface="Cambria"/>
              </a:rPr>
              <a:t>Now  my_sample == sample2  compares every member</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Arithmetic on Whole Structs</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939540"/>
          </a:xfrm>
          <a:prstGeom prst="rect">
            <a:avLst/>
          </a:prstGeom>
          <a:noFill/>
        </p:spPr>
        <p:txBody>
          <a:bodyPr wrap="square">
            <a:spAutoFit/>
          </a:bodyPr>
          <a:lstStyle/>
          <a:p>
            <a:pPr>
              <a:tabLst>
                <a:tab pos="1463040" algn="l"/>
              </a:tabLst>
            </a:pPr>
            <a:r>
              <a:rPr sz="2500" b="0" dirty="0" err="1">
                <a:latin typeface="Cambria"/>
              </a:rPr>
              <a:t>my_sample</a:t>
            </a:r>
            <a:r>
              <a:rPr sz="2500" b="0" dirty="0">
                <a:latin typeface="Cambria"/>
              </a:rPr>
              <a:t> + sample2	??</a:t>
            </a:r>
          </a:p>
          <a:p>
            <a:pPr>
              <a:tabLst>
                <a:tab pos="1463040" algn="l"/>
              </a:tabLst>
            </a:pPr>
            <a:r>
              <a:rPr sz="2500" dirty="0">
                <a:latin typeface="Cambria"/>
              </a:rPr>
              <a:t> </a:t>
            </a:r>
          </a:p>
          <a:p>
            <a:pPr>
              <a:tabLst>
                <a:tab pos="1463040" algn="l"/>
              </a:tabLst>
            </a:pPr>
            <a:r>
              <a:rPr sz="2500" b="0" dirty="0">
                <a:latin typeface="Cambria"/>
              </a:rPr>
              <a:t>No language can guess what + means for your type</a:t>
            </a:r>
          </a:p>
          <a:p>
            <a:pPr>
              <a:tabLst>
                <a:tab pos="1463040" algn="l"/>
              </a:tabLst>
            </a:pPr>
            <a:r>
              <a:rPr sz="2500" dirty="0">
                <a:latin typeface="Cambria"/>
              </a:rPr>
              <a:t> </a:t>
            </a:r>
          </a:p>
          <a:p>
            <a:pPr>
              <a:tabLst>
                <a:tab pos="1463040" algn="l"/>
              </a:tabLst>
            </a:pPr>
            <a:r>
              <a:rPr sz="2500" b="0" dirty="0">
                <a:latin typeface="Cambria"/>
              </a:rPr>
              <a:t>C:	not possible - write a function</a:t>
            </a:r>
          </a:p>
          <a:p>
            <a:pPr>
              <a:tabLst>
                <a:tab pos="1463040" algn="l"/>
              </a:tabLst>
            </a:pPr>
            <a:r>
              <a:rPr sz="2500" b="0" dirty="0">
                <a:latin typeface="Cambria"/>
              </a:rPr>
              <a:t>C++:	define  </a:t>
            </a:r>
            <a:r>
              <a:rPr sz="2500" b="0" dirty="0" smtClean="0">
                <a:latin typeface="Cambria"/>
              </a:rPr>
              <a:t>operator</a:t>
            </a:r>
            <a:r>
              <a:rPr lang="en-US" sz="2500" b="0" dirty="0" smtClean="0">
                <a:latin typeface="Cambria"/>
              </a:rPr>
              <a:t>  </a:t>
            </a:r>
            <a:r>
              <a:rPr sz="2500" b="0" dirty="0" smtClean="0">
                <a:latin typeface="Cambria"/>
              </a:rPr>
              <a:t>+</a:t>
            </a:r>
            <a:endParaRPr sz="2500" b="0" dirty="0">
              <a:latin typeface="Cambria"/>
            </a:endParaRPr>
          </a:p>
          <a:p>
            <a:pPr>
              <a:tabLst>
                <a:tab pos="1463040" algn="l"/>
              </a:tabLst>
            </a:pPr>
            <a:r>
              <a:rPr sz="2500" b="0" dirty="0">
                <a:latin typeface="Cambria"/>
              </a:rPr>
              <a:t>Rust:	implement the  Add  trait</a:t>
            </a:r>
          </a:p>
          <a:p>
            <a:pPr>
              <a:tabLst>
                <a:tab pos="1463040" algn="l"/>
              </a:tabLst>
            </a:pPr>
            <a:r>
              <a:rPr sz="2500" dirty="0">
                <a:latin typeface="Cambria"/>
              </a:rPr>
              <a:t> </a:t>
            </a:r>
          </a:p>
          <a:p>
            <a:pPr>
              <a:tabLst>
                <a:tab pos="1463040" algn="l"/>
              </a:tabLst>
            </a:pPr>
            <a:r>
              <a:rPr sz="2500" b="0" dirty="0">
                <a:latin typeface="Cambria"/>
              </a:rPr>
              <a:t>This is </a:t>
            </a:r>
            <a:r>
              <a:rPr sz="2500" b="1" dirty="0">
                <a:latin typeface="Cambria"/>
              </a:rPr>
              <a:t>operator overloading</a:t>
            </a:r>
            <a:r>
              <a:rPr sz="2500" b="0" dirty="0">
                <a:latin typeface="Cambria"/>
              </a:rPr>
              <a:t> - later </a:t>
            </a:r>
            <a:r>
              <a:rPr sz="2500" b="0" dirty="0" smtClean="0">
                <a:latin typeface="Cambria"/>
              </a:rPr>
              <a:t>lecture</a:t>
            </a:r>
            <a:r>
              <a:rPr lang="en-US" sz="2500" b="0" dirty="0" smtClean="0">
                <a:latin typeface="Cambria"/>
              </a:rPr>
              <a:t> possibly</a:t>
            </a:r>
          </a:p>
          <a:p>
            <a:pPr>
              <a:tabLst>
                <a:tab pos="1463040" algn="l"/>
              </a:tabLst>
            </a:pPr>
            <a:r>
              <a:rPr lang="en-US" sz="2500" dirty="0">
                <a:latin typeface="Cambria"/>
              </a:rPr>
              <a:t>	</a:t>
            </a:r>
            <a:r>
              <a:rPr lang="en-US" sz="2500" dirty="0" smtClean="0">
                <a:latin typeface="Cambria"/>
              </a:rPr>
              <a:t>(not a great idea  IMHO)</a:t>
            </a:r>
            <a:endParaRPr sz="2500" b="0" dirty="0">
              <a:latin typeface="Cambri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Operators on Array Elements</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600" b="0">
                <a:latin typeface="Cambria"/>
              </a:rPr>
              <a:t>An element is an ordinary variable</a:t>
            </a:r>
          </a:p>
          <a:p>
            <a:r>
              <a:rPr sz="2600" b="0">
                <a:latin typeface="Cambria"/>
              </a:rPr>
              <a:t>Every operator works on it:</a:t>
            </a:r>
          </a:p>
          <a:p>
            <a:r>
              <a:rPr sz="2600">
                <a:latin typeface="Cambria"/>
              </a:rPr>
              <a:t> </a:t>
            </a:r>
          </a:p>
          <a:p>
            <a:r>
              <a:rPr sz="2600" b="0">
                <a:latin typeface="Cambria"/>
              </a:rPr>
              <a:t>	counts[i] + 1</a:t>
            </a:r>
          </a:p>
          <a:p>
            <a:r>
              <a:rPr sz="2600" b="0">
                <a:latin typeface="Cambria"/>
              </a:rPr>
              <a:t>	psi[i] * scale</a:t>
            </a:r>
          </a:p>
          <a:p>
            <a:r>
              <a:rPr sz="2600" b="0">
                <a:latin typeface="Cambria"/>
              </a:rPr>
              <a:t>	history[7].psi - history[6].psi</a:t>
            </a:r>
          </a:p>
          <a:p>
            <a:r>
              <a:rPr sz="2600">
                <a:latin typeface="Cambria"/>
              </a:rPr>
              <a:t> </a:t>
            </a:r>
          </a:p>
          <a:p>
            <a:r>
              <a:rPr sz="2600" b="0">
                <a:latin typeface="Cambria"/>
              </a:rPr>
              <a:t>Same in C, C++, and Rust</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Whole Arrays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377440" algn="l"/>
              </a:tabLst>
            </a:pPr>
            <a:r>
              <a:rPr sz="2500" b="0">
                <a:latin typeface="Cambria"/>
              </a:rPr>
              <a:t>uint32_t  a[4],  b[4] ;</a:t>
            </a:r>
          </a:p>
          <a:p>
            <a:pPr>
              <a:tabLst>
                <a:tab pos="2377440" algn="l"/>
              </a:tabLst>
            </a:pPr>
            <a:r>
              <a:rPr sz="2500">
                <a:latin typeface="Cambria"/>
              </a:rPr>
              <a:t> </a:t>
            </a:r>
          </a:p>
          <a:p>
            <a:pPr>
              <a:tabLst>
                <a:tab pos="2377440" algn="l"/>
              </a:tabLst>
            </a:pPr>
            <a:r>
              <a:rPr sz="2500" b="0">
                <a:latin typeface="Cambria"/>
              </a:rPr>
              <a:t>a = b ;	</a:t>
            </a:r>
            <a:r>
              <a:rPr sz="2500" b="1">
                <a:latin typeface="Cambria"/>
              </a:rPr>
              <a:t>compile error</a:t>
            </a:r>
          </a:p>
          <a:p>
            <a:pPr>
              <a:tabLst>
                <a:tab pos="2377440" algn="l"/>
              </a:tabLst>
            </a:pPr>
            <a:r>
              <a:rPr sz="2500" b="0">
                <a:latin typeface="Cambria"/>
              </a:rPr>
              <a:t>if ( a == b )	compares </a:t>
            </a:r>
            <a:r>
              <a:rPr sz="2500" b="1">
                <a:latin typeface="Cambria"/>
              </a:rPr>
              <a:t>addresses</a:t>
            </a:r>
            <a:r>
              <a:rPr sz="2500" b="0">
                <a:latin typeface="Cambria"/>
              </a:rPr>
              <a:t>, not contents</a:t>
            </a:r>
          </a:p>
          <a:p>
            <a:pPr>
              <a:tabLst>
                <a:tab pos="2377440" algn="l"/>
              </a:tabLst>
            </a:pPr>
            <a:r>
              <a:rPr sz="2500">
                <a:latin typeface="Cambria"/>
              </a:rPr>
              <a:t> </a:t>
            </a:r>
          </a:p>
          <a:p>
            <a:pPr>
              <a:tabLst>
                <a:tab pos="2377440" algn="l"/>
              </a:tabLst>
            </a:pPr>
            <a:r>
              <a:rPr sz="2500" b="0">
                <a:latin typeface="Cambria"/>
              </a:rPr>
              <a:t>Copy with:	memcpy(a, b, sizeof(a)) ;</a:t>
            </a:r>
          </a:p>
          <a:p>
            <a:pPr>
              <a:tabLst>
                <a:tab pos="2377440" algn="l"/>
              </a:tabLst>
            </a:pPr>
            <a:r>
              <a:rPr sz="2500" b="0">
                <a:latin typeface="Cambria"/>
              </a:rPr>
              <a:t>Compare with:	a loop, or memcmp</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Whole Arrays in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377440" algn="l"/>
              </a:tabLst>
            </a:pPr>
            <a:r>
              <a:rPr sz="2600" b="0">
                <a:latin typeface="Cambria"/>
              </a:rPr>
              <a:t>#include &lt;array&gt;</a:t>
            </a:r>
          </a:p>
          <a:p>
            <a:pPr>
              <a:tabLst>
                <a:tab pos="2377440" algn="l"/>
              </a:tabLst>
            </a:pPr>
            <a:r>
              <a:rPr sz="2600">
                <a:latin typeface="Cambria"/>
              </a:rPr>
              <a:t> </a:t>
            </a:r>
          </a:p>
          <a:p>
            <a:pPr>
              <a:tabLst>
                <a:tab pos="2377440" algn="l"/>
              </a:tabLst>
            </a:pPr>
            <a:r>
              <a:rPr sz="2600" b="0">
                <a:latin typeface="Cambria"/>
              </a:rPr>
              <a:t>std::array&lt;uint32_t, 4&gt;  a,  b ;</a:t>
            </a:r>
          </a:p>
          <a:p>
            <a:pPr>
              <a:tabLst>
                <a:tab pos="2377440" algn="l"/>
              </a:tabLst>
            </a:pPr>
            <a:r>
              <a:rPr sz="2600">
                <a:latin typeface="Cambria"/>
              </a:rPr>
              <a:t> </a:t>
            </a:r>
          </a:p>
          <a:p>
            <a:pPr>
              <a:tabLst>
                <a:tab pos="2377440" algn="l"/>
              </a:tabLst>
            </a:pPr>
            <a:r>
              <a:rPr sz="2600" b="0">
                <a:latin typeface="Cambria"/>
              </a:rPr>
              <a:t>a = b ;	copies every element</a:t>
            </a:r>
          </a:p>
          <a:p>
            <a:pPr>
              <a:tabLst>
                <a:tab pos="2377440" algn="l"/>
              </a:tabLst>
            </a:pPr>
            <a:r>
              <a:rPr sz="2600" b="0">
                <a:latin typeface="Cambria"/>
              </a:rPr>
              <a:t>if ( a == b )	compares every element</a:t>
            </a:r>
          </a:p>
          <a:p>
            <a:pPr>
              <a:tabLst>
                <a:tab pos="2377440" algn="l"/>
              </a:tabLst>
            </a:pPr>
            <a:r>
              <a:rPr sz="2600">
                <a:latin typeface="Cambria"/>
              </a:rPr>
              <a:t> </a:t>
            </a:r>
          </a:p>
          <a:p>
            <a:pPr>
              <a:tabLst>
                <a:tab pos="2377440" algn="l"/>
              </a:tabLst>
            </a:pPr>
            <a:r>
              <a:rPr sz="2600" b="0">
                <a:latin typeface="Cambria"/>
              </a:rPr>
              <a:t>Another reason to prefer std::array</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Whole Arrays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651760" algn="l"/>
              </a:tabLst>
            </a:pPr>
            <a:r>
              <a:rPr sz="2600" b="0">
                <a:latin typeface="Cambria"/>
              </a:rPr>
              <a:t>let a : [u32 ; 4] = [1, 2, 3, 4] ;</a:t>
            </a:r>
          </a:p>
          <a:p>
            <a:pPr>
              <a:tabLst>
                <a:tab pos="2651760" algn="l"/>
              </a:tabLst>
            </a:pPr>
            <a:r>
              <a:rPr sz="2600" b="0">
                <a:latin typeface="Cambria"/>
              </a:rPr>
              <a:t>let mut b : [u32 ; 4] = [0 ; 4] ;</a:t>
            </a:r>
          </a:p>
          <a:p>
            <a:pPr>
              <a:tabLst>
                <a:tab pos="2651760" algn="l"/>
              </a:tabLst>
            </a:pPr>
            <a:r>
              <a:rPr sz="2600">
                <a:latin typeface="Cambria"/>
              </a:rPr>
              <a:t> </a:t>
            </a:r>
          </a:p>
          <a:p>
            <a:pPr>
              <a:tabLst>
                <a:tab pos="2651760" algn="l"/>
              </a:tabLst>
            </a:pPr>
            <a:r>
              <a:rPr sz="2600" b="0">
                <a:latin typeface="Cambria"/>
              </a:rPr>
              <a:t>b = a ;	copies every element</a:t>
            </a:r>
          </a:p>
          <a:p>
            <a:pPr>
              <a:tabLst>
                <a:tab pos="2651760" algn="l"/>
              </a:tabLst>
            </a:pPr>
            <a:r>
              <a:rPr sz="2600" b="0">
                <a:latin typeface="Cambria"/>
              </a:rPr>
              <a:t>if a == b { ... }	compares every element</a:t>
            </a:r>
          </a:p>
          <a:p>
            <a:pPr>
              <a:tabLst>
                <a:tab pos="2651760" algn="l"/>
              </a:tabLst>
            </a:pPr>
            <a:r>
              <a:rPr sz="2600">
                <a:latin typeface="Cambria"/>
              </a:rPr>
              <a:t> </a:t>
            </a:r>
          </a:p>
          <a:p>
            <a:pPr>
              <a:tabLst>
                <a:tab pos="2651760" algn="l"/>
              </a:tabLst>
            </a:pPr>
            <a:r>
              <a:rPr sz="2600" b="0">
                <a:latin typeface="Cambria"/>
              </a:rPr>
              <a:t>Works because the length is part of the type</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Element-wise Math Needs a Loop</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400" b="0">
                <a:latin typeface="Cambria"/>
              </a:rPr>
              <a:t>C, C++:</a:t>
            </a:r>
          </a:p>
          <a:p>
            <a:r>
              <a:rPr sz="2400" b="0">
                <a:latin typeface="Cambria"/>
              </a:rPr>
              <a:t>	for ( int i = 0 ; i &lt; 4 ; i++ ) {</a:t>
            </a:r>
          </a:p>
          <a:p>
            <a:r>
              <a:rPr sz="2400" b="0">
                <a:latin typeface="Cambria"/>
              </a:rPr>
              <a:t>		sum[i] = a[i] + b[i] ;</a:t>
            </a:r>
          </a:p>
          <a:p>
            <a:r>
              <a:rPr sz="2400" b="0">
                <a:latin typeface="Cambria"/>
              </a:rPr>
              <a:t>	}</a:t>
            </a:r>
          </a:p>
          <a:p>
            <a:r>
              <a:rPr sz="2400">
                <a:latin typeface="Cambria"/>
              </a:rPr>
              <a:t> </a:t>
            </a:r>
          </a:p>
          <a:p>
            <a:r>
              <a:rPr sz="2400" b="0">
                <a:latin typeface="Cambria"/>
              </a:rPr>
              <a:t>Rust:</a:t>
            </a:r>
          </a:p>
          <a:p>
            <a:r>
              <a:rPr sz="2400" b="0">
                <a:latin typeface="Cambria"/>
              </a:rPr>
              <a:t>	for i in 0..4 {</a:t>
            </a:r>
          </a:p>
          <a:p>
            <a:r>
              <a:rPr sz="2400" b="0">
                <a:latin typeface="Cambria"/>
              </a:rPr>
              <a:t>		sum[i] = a[i] + b[i] ;</a:t>
            </a:r>
          </a:p>
          <a:p>
            <a:r>
              <a:rPr sz="2400" b="0">
                <a:latin typeface="Cambria"/>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Two Kinds of Logic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600" b="1">
                <a:latin typeface="Cambria"/>
              </a:rPr>
              <a:t>Clause level</a:t>
            </a:r>
          </a:p>
          <a:p>
            <a:r>
              <a:rPr sz="2600" b="0">
                <a:latin typeface="Cambria"/>
              </a:rPr>
              <a:t>	combines conditions that are true or false</a:t>
            </a:r>
          </a:p>
          <a:p>
            <a:r>
              <a:rPr sz="2600" b="0">
                <a:latin typeface="Cambria"/>
              </a:rPr>
              <a:t>	if ( psi &lt; 10.0 || psi &gt; 80.0 )</a:t>
            </a:r>
          </a:p>
          <a:p>
            <a:r>
              <a:rPr sz="2600">
                <a:latin typeface="Cambria"/>
              </a:rPr>
              <a:t> </a:t>
            </a:r>
          </a:p>
          <a:p>
            <a:r>
              <a:rPr sz="2600" b="1">
                <a:latin typeface="Cambria"/>
              </a:rPr>
              <a:t>Bit level</a:t>
            </a:r>
          </a:p>
          <a:p>
            <a:r>
              <a:rPr sz="2600" b="0">
                <a:latin typeface="Cambria"/>
              </a:rPr>
              <a:t>	applies logic to </a:t>
            </a:r>
            <a:r>
              <a:rPr sz="2600" b="1">
                <a:latin typeface="Cambria"/>
              </a:rPr>
              <a:t>every bit</a:t>
            </a:r>
            <a:r>
              <a:rPr sz="2600" b="0">
                <a:latin typeface="Cambria"/>
              </a:rPr>
              <a:t> of an integer</a:t>
            </a:r>
          </a:p>
          <a:p>
            <a:r>
              <a:rPr sz="2600" b="0">
                <a:latin typeface="Cambria"/>
              </a:rPr>
              <a:t>	status &amp; 0x80</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Counts as True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463040" algn="l"/>
                <a:tab pos="4389120" algn="l"/>
              </a:tabLst>
            </a:pPr>
            <a:r>
              <a:rPr sz="2500" b="0">
                <a:latin typeface="Cambria"/>
              </a:rPr>
              <a:t>C:	0 is false, </a:t>
            </a:r>
            <a:r>
              <a:rPr sz="2500" b="1">
                <a:latin typeface="Cambria"/>
              </a:rPr>
              <a:t>anything else</a:t>
            </a:r>
            <a:r>
              <a:rPr sz="2500" b="0">
                <a:latin typeface="Cambria"/>
              </a:rPr>
              <a:t> is true</a:t>
            </a:r>
          </a:p>
          <a:p>
            <a:pPr>
              <a:tabLst>
                <a:tab pos="1463040" algn="l"/>
                <a:tab pos="4389120" algn="l"/>
              </a:tabLst>
            </a:pPr>
            <a:r>
              <a:rPr sz="2500" b="0">
                <a:latin typeface="Cambria"/>
              </a:rPr>
              <a:t>	if ( count )  means  if ( count != 0 )</a:t>
            </a:r>
          </a:p>
          <a:p>
            <a:pPr>
              <a:tabLst>
                <a:tab pos="1463040" algn="l"/>
                <a:tab pos="4389120" algn="l"/>
              </a:tabLst>
            </a:pPr>
            <a:r>
              <a:rPr sz="2500">
                <a:latin typeface="Cambria"/>
              </a:rPr>
              <a:t> </a:t>
            </a:r>
          </a:p>
          <a:p>
            <a:pPr>
              <a:tabLst>
                <a:tab pos="1463040" algn="l"/>
                <a:tab pos="4389120" algn="l"/>
              </a:tabLst>
            </a:pPr>
            <a:r>
              <a:rPr sz="2500" b="0">
                <a:latin typeface="Cambria"/>
              </a:rPr>
              <a:t>C++:	bool, but numbers convert silently</a:t>
            </a:r>
          </a:p>
          <a:p>
            <a:pPr>
              <a:tabLst>
                <a:tab pos="1463040" algn="l"/>
                <a:tab pos="4389120" algn="l"/>
              </a:tabLst>
            </a:pPr>
            <a:r>
              <a:rPr sz="2500">
                <a:latin typeface="Cambria"/>
              </a:rPr>
              <a:t> </a:t>
            </a:r>
          </a:p>
          <a:p>
            <a:pPr>
              <a:tabLst>
                <a:tab pos="1463040" algn="l"/>
                <a:tab pos="4389120" algn="l"/>
              </a:tabLst>
            </a:pPr>
            <a:r>
              <a:rPr sz="2500" b="0">
                <a:latin typeface="Cambria"/>
              </a:rPr>
              <a:t>Rust:	only a </a:t>
            </a:r>
            <a:r>
              <a:rPr sz="2500" b="1">
                <a:latin typeface="Cambria"/>
              </a:rPr>
              <a:t>bool</a:t>
            </a:r>
            <a:r>
              <a:rPr sz="2500" b="0">
                <a:latin typeface="Cambria"/>
              </a:rPr>
              <a:t> is a condition</a:t>
            </a:r>
          </a:p>
          <a:p>
            <a:pPr>
              <a:tabLst>
                <a:tab pos="1463040" algn="l"/>
                <a:tab pos="4389120" algn="l"/>
              </a:tabLst>
            </a:pPr>
            <a:r>
              <a:rPr sz="2500" b="0">
                <a:latin typeface="Cambria"/>
              </a:rPr>
              <a:t>	if count { }	</a:t>
            </a:r>
            <a:r>
              <a:rPr sz="2500" b="1">
                <a:latin typeface="Cambria"/>
              </a:rPr>
              <a:t>compile error</a:t>
            </a:r>
          </a:p>
          <a:p>
            <a:pPr>
              <a:tabLst>
                <a:tab pos="1463040" algn="l"/>
                <a:tab pos="4389120" algn="l"/>
              </a:tabLst>
            </a:pPr>
            <a:r>
              <a:rPr sz="2500" b="0">
                <a:latin typeface="Cambria"/>
              </a:rPr>
              <a:t>	if count != 0 { }	correct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Logical Operators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914400" algn="l"/>
                <a:tab pos="2194560" algn="l"/>
              </a:tabLst>
            </a:pPr>
            <a:r>
              <a:rPr sz="2600" b="0">
                <a:latin typeface="Cambria"/>
              </a:rPr>
              <a:t>&amp;&amp;	AND	true if </a:t>
            </a:r>
            <a:r>
              <a:rPr sz="2600" b="1">
                <a:latin typeface="Cambria"/>
              </a:rPr>
              <a:t>both</a:t>
            </a:r>
            <a:r>
              <a:rPr sz="2600" b="0">
                <a:latin typeface="Cambria"/>
              </a:rPr>
              <a:t> are true</a:t>
            </a:r>
          </a:p>
          <a:p>
            <a:pPr>
              <a:tabLst>
                <a:tab pos="914400" algn="l"/>
                <a:tab pos="2194560" algn="l"/>
              </a:tabLst>
            </a:pPr>
            <a:r>
              <a:rPr sz="2600" b="0">
                <a:latin typeface="Cambria"/>
              </a:rPr>
              <a:t>||	OR	true if </a:t>
            </a:r>
            <a:r>
              <a:rPr sz="2600" b="1">
                <a:latin typeface="Cambria"/>
              </a:rPr>
              <a:t>either</a:t>
            </a:r>
            <a:r>
              <a:rPr sz="2600" b="0">
                <a:latin typeface="Cambria"/>
              </a:rPr>
              <a:t> is true</a:t>
            </a:r>
          </a:p>
          <a:p>
            <a:pPr>
              <a:tabLst>
                <a:tab pos="914400" algn="l"/>
                <a:tab pos="2194560" algn="l"/>
              </a:tabLst>
            </a:pPr>
            <a:r>
              <a:rPr sz="2600" b="0">
                <a:latin typeface="Cambria"/>
              </a:rPr>
              <a:t>!	NOT	flips true and false</a:t>
            </a:r>
          </a:p>
          <a:p>
            <a:pPr>
              <a:tabLst>
                <a:tab pos="914400" algn="l"/>
                <a:tab pos="2194560" algn="l"/>
              </a:tabLst>
            </a:pPr>
            <a:r>
              <a:rPr sz="2600">
                <a:latin typeface="Cambria"/>
              </a:rPr>
              <a:t> </a:t>
            </a:r>
          </a:p>
          <a:p>
            <a:pPr>
              <a:tabLst>
                <a:tab pos="914400" algn="l"/>
                <a:tab pos="2194560" algn="l"/>
              </a:tabLst>
            </a:pPr>
            <a:r>
              <a:rPr sz="2600" b="0">
                <a:latin typeface="Cambria"/>
              </a:rPr>
              <a:t>The </a:t>
            </a:r>
            <a:r>
              <a:rPr sz="2600" b="1">
                <a:latin typeface="Cambria"/>
              </a:rPr>
              <a:t>same symbols</a:t>
            </a:r>
            <a:r>
              <a:rPr sz="2600" b="0">
                <a:latin typeface="Cambria"/>
              </a:rPr>
              <a:t> in C, C++, and Rust</a:t>
            </a:r>
          </a:p>
          <a:p>
            <a:pPr>
              <a:tabLst>
                <a:tab pos="914400" algn="l"/>
                <a:tab pos="2194560" algn="l"/>
              </a:tabLst>
            </a:pPr>
            <a:r>
              <a:rPr sz="2600">
                <a:latin typeface="Cambria"/>
              </a:rPr>
              <a:t> </a:t>
            </a:r>
          </a:p>
          <a:p>
            <a:pPr>
              <a:tabLst>
                <a:tab pos="914400" algn="l"/>
                <a:tab pos="2194560" algn="l"/>
              </a:tabLst>
            </a:pPr>
            <a:r>
              <a:rPr sz="2600" b="0">
                <a:latin typeface="Cambria"/>
              </a:rPr>
              <a:t>if ( psi &lt; 10.0 || psi &gt; 80.0 )  alarm() ;</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Short-Circuit Evaluation</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371600" algn="l"/>
              </a:tabLst>
            </a:pPr>
            <a:r>
              <a:rPr sz="2500" b="0">
                <a:latin typeface="Cambria"/>
              </a:rPr>
              <a:t>a &amp;&amp; b	if a is false, b is </a:t>
            </a:r>
            <a:r>
              <a:rPr sz="2500" b="1">
                <a:latin typeface="Cambria"/>
              </a:rPr>
              <a:t>never evaluated</a:t>
            </a:r>
          </a:p>
          <a:p>
            <a:pPr>
              <a:tabLst>
                <a:tab pos="1371600" algn="l"/>
              </a:tabLst>
            </a:pPr>
            <a:r>
              <a:rPr sz="2500" b="0">
                <a:latin typeface="Cambria"/>
              </a:rPr>
              <a:t>a || b	if a is true, b is </a:t>
            </a:r>
            <a:r>
              <a:rPr sz="2500" b="1">
                <a:latin typeface="Cambria"/>
              </a:rPr>
              <a:t>never evaluated</a:t>
            </a:r>
          </a:p>
          <a:p>
            <a:pPr>
              <a:tabLst>
                <a:tab pos="1371600" algn="l"/>
              </a:tabLst>
            </a:pPr>
            <a:r>
              <a:rPr sz="2500">
                <a:latin typeface="Cambria"/>
              </a:rPr>
              <a:t> </a:t>
            </a:r>
          </a:p>
          <a:p>
            <a:pPr>
              <a:tabLst>
                <a:tab pos="1371600" algn="l"/>
              </a:tabLst>
            </a:pPr>
            <a:r>
              <a:rPr sz="2500" b="0">
                <a:latin typeface="Cambria"/>
              </a:rPr>
              <a:t>This makes guards safe:</a:t>
            </a:r>
          </a:p>
          <a:p>
            <a:pPr>
              <a:tabLst>
                <a:tab pos="1371600" algn="l"/>
              </a:tabLst>
            </a:pPr>
            <a:r>
              <a:rPr sz="2500">
                <a:latin typeface="Cambria"/>
              </a:rPr>
              <a:t> </a:t>
            </a:r>
          </a:p>
          <a:p>
            <a:pPr>
              <a:tabLst>
                <a:tab pos="1371600" algn="l"/>
              </a:tabLst>
            </a:pPr>
            <a:r>
              <a:rPr sz="2500" b="0">
                <a:latin typeface="Cambria"/>
              </a:rPr>
              <a:t>	if ( count != 0 &amp;&amp; total / count &gt; 10 )</a:t>
            </a:r>
          </a:p>
          <a:p>
            <a:pPr>
              <a:tabLst>
                <a:tab pos="1371600" algn="l"/>
              </a:tabLst>
            </a:pPr>
            <a:r>
              <a:rPr sz="2500">
                <a:latin typeface="Cambria"/>
              </a:rPr>
              <a:t> </a:t>
            </a:r>
          </a:p>
          <a:p>
            <a:pPr>
              <a:tabLst>
                <a:tab pos="1371600" algn="l"/>
              </a:tabLst>
            </a:pPr>
            <a:r>
              <a:rPr sz="2500" b="0">
                <a:latin typeface="Cambria"/>
              </a:rPr>
              <a:t>Division by zero cannot happen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Boolean Logic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743200" algn="l"/>
              </a:tabLst>
            </a:pPr>
            <a:r>
              <a:rPr sz="2600" b="0">
                <a:latin typeface="Cambria"/>
              </a:rPr>
              <a:t>George Boole, 1854:  logic as </a:t>
            </a:r>
            <a:r>
              <a:rPr sz="2600" b="1">
                <a:latin typeface="Cambria"/>
              </a:rPr>
              <a:t>algebra</a:t>
            </a:r>
          </a:p>
          <a:p>
            <a:pPr>
              <a:tabLst>
                <a:tab pos="2743200" algn="l"/>
              </a:tabLst>
            </a:pPr>
            <a:r>
              <a:rPr sz="2600">
                <a:latin typeface="Cambria"/>
              </a:rPr>
              <a:t> </a:t>
            </a:r>
          </a:p>
          <a:p>
            <a:pPr>
              <a:tabLst>
                <a:tab pos="2743200" algn="l"/>
              </a:tabLst>
            </a:pPr>
            <a:r>
              <a:rPr sz="2600" b="0">
                <a:latin typeface="Cambria"/>
              </a:rPr>
              <a:t>Two values:	0 and 1  (false and true)</a:t>
            </a:r>
          </a:p>
          <a:p>
            <a:pPr>
              <a:tabLst>
                <a:tab pos="2743200" algn="l"/>
              </a:tabLst>
            </a:pPr>
            <a:r>
              <a:rPr sz="2600">
                <a:latin typeface="Cambria"/>
              </a:rPr>
              <a:t> </a:t>
            </a:r>
          </a:p>
          <a:p>
            <a:pPr>
              <a:tabLst>
                <a:tab pos="2743200" algn="l"/>
              </a:tabLst>
            </a:pPr>
            <a:r>
              <a:rPr sz="2600" b="0">
                <a:latin typeface="Cambria"/>
              </a:rPr>
              <a:t>Every operation is defined completely by a</a:t>
            </a:r>
          </a:p>
          <a:p>
            <a:pPr>
              <a:tabLst>
                <a:tab pos="2743200" algn="l"/>
              </a:tabLst>
            </a:pPr>
            <a:r>
              <a:rPr sz="2600" b="1">
                <a:latin typeface="Cambria"/>
              </a:rPr>
              <a:t>truth table</a:t>
            </a:r>
            <a:r>
              <a:rPr sz="2600" b="0">
                <a:latin typeface="Cambria"/>
              </a:rPr>
              <a:t>: one row for every input combination</a:t>
            </a:r>
          </a:p>
          <a:p>
            <a:pPr>
              <a:tabLst>
                <a:tab pos="2743200" algn="l"/>
              </a:tabLst>
            </a:pPr>
            <a:r>
              <a:rPr sz="2600">
                <a:latin typeface="Cambria"/>
              </a:rPr>
              <a:t> </a:t>
            </a:r>
          </a:p>
          <a:p>
            <a:pPr>
              <a:tabLst>
                <a:tab pos="2743200" algn="l"/>
              </a:tabLst>
            </a:pPr>
            <a:r>
              <a:rPr sz="2600" b="0">
                <a:latin typeface="Cambria"/>
              </a:rPr>
              <a:t>Two inputs  -&gt;  4 rows</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NOT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5593858"/>
          </a:xfrm>
          <a:prstGeom prst="rect">
            <a:avLst/>
          </a:prstGeom>
          <a:noFill/>
        </p:spPr>
        <p:txBody>
          <a:bodyPr wrap="square">
            <a:spAutoFit/>
          </a:bodyPr>
          <a:lstStyle/>
          <a:p>
            <a:pPr>
              <a:tabLst>
                <a:tab pos="548640" algn="l"/>
                <a:tab pos="2743200" algn="l"/>
              </a:tabLst>
            </a:pPr>
            <a:r>
              <a:rPr sz="2400" b="1">
                <a:latin typeface="Cambria"/>
              </a:rPr>
              <a:t>Y = A'</a:t>
            </a:r>
          </a:p>
          <a:p>
            <a:pPr>
              <a:tabLst>
                <a:tab pos="548640" algn="l"/>
                <a:tab pos="2743200" algn="l"/>
              </a:tabLst>
            </a:pPr>
            <a:r>
              <a:rPr sz="2400">
                <a:latin typeface="Cambria"/>
              </a:rPr>
              <a:t> </a:t>
            </a:r>
          </a:p>
          <a:p>
            <a:pPr>
              <a:tabLst>
                <a:tab pos="548640" algn="l"/>
                <a:tab pos="2743200" algn="l"/>
              </a:tabLst>
            </a:pPr>
            <a:r>
              <a:rPr sz="2400" b="0">
                <a:latin typeface="Cambria"/>
              </a:rPr>
              <a:t>Flips the input</a:t>
            </a:r>
          </a:p>
          <a:p>
            <a:pPr>
              <a:tabLst>
                <a:tab pos="548640" algn="l"/>
                <a:tab pos="2743200" algn="l"/>
              </a:tabLst>
            </a:pPr>
            <a:r>
              <a:rPr sz="2400">
                <a:latin typeface="Cambria"/>
              </a:rPr>
              <a:t> </a:t>
            </a:r>
          </a:p>
          <a:p>
            <a:pPr>
              <a:tabLst>
                <a:tab pos="548640" algn="l"/>
                <a:tab pos="2743200" algn="l"/>
              </a:tabLst>
            </a:pPr>
            <a:r>
              <a:rPr sz="2400" b="0">
                <a:latin typeface="Cambria"/>
              </a:rPr>
              <a:t>Clause level:</a:t>
            </a:r>
          </a:p>
          <a:p>
            <a:pPr>
              <a:tabLst>
                <a:tab pos="548640" algn="l"/>
                <a:tab pos="2743200" algn="l"/>
              </a:tabLst>
            </a:pPr>
            <a:r>
              <a:rPr sz="2400" b="0">
                <a:latin typeface="Cambria"/>
              </a:rPr>
              <a:t>	!a	all three</a:t>
            </a:r>
          </a:p>
          <a:p>
            <a:pPr>
              <a:tabLst>
                <a:tab pos="548640" algn="l"/>
                <a:tab pos="2743200" algn="l"/>
              </a:tabLst>
            </a:pPr>
            <a:r>
              <a:rPr sz="2400" b="0">
                <a:latin typeface="Cambria"/>
              </a:rPr>
              <a:t>Bit level:</a:t>
            </a:r>
          </a:p>
          <a:p>
            <a:pPr>
              <a:tabLst>
                <a:tab pos="548640" algn="l"/>
                <a:tab pos="2743200" algn="l"/>
              </a:tabLst>
            </a:pPr>
            <a:r>
              <a:rPr sz="2400" b="0">
                <a:latin typeface="Cambria"/>
              </a:rPr>
              <a:t>	~a	C, C++</a:t>
            </a:r>
          </a:p>
          <a:p>
            <a:pPr>
              <a:tabLst>
                <a:tab pos="548640" algn="l"/>
                <a:tab pos="2743200" algn="l"/>
              </a:tabLst>
            </a:pPr>
            <a:r>
              <a:rPr sz="2400" b="0">
                <a:latin typeface="Cambria"/>
              </a:rPr>
              <a:t>	!a	Rust</a:t>
            </a:r>
          </a:p>
        </p:txBody>
      </p:sp>
      <p:sp>
        <p:nvSpPr>
          <p:cNvPr id="389" name="Rectangle 388"/>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1" name="Rectangle 390"/>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2" name="Rectangle 391"/>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3" name="Rectangle 392"/>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4" name="Rectangle 393"/>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AND</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5593858"/>
          </a:xfrm>
          <a:prstGeom prst="rect">
            <a:avLst/>
          </a:prstGeom>
          <a:noFill/>
        </p:spPr>
        <p:txBody>
          <a:bodyPr wrap="square">
            <a:spAutoFit/>
          </a:bodyPr>
          <a:lstStyle/>
          <a:p>
            <a:pPr>
              <a:tabLst>
                <a:tab pos="548640" algn="l"/>
                <a:tab pos="2743200" algn="l"/>
              </a:tabLst>
            </a:pPr>
            <a:r>
              <a:rPr sz="2400" b="1">
                <a:latin typeface="Cambria"/>
              </a:rPr>
              <a:t>Y = A · B</a:t>
            </a:r>
          </a:p>
          <a:p>
            <a:pPr>
              <a:tabLst>
                <a:tab pos="548640" algn="l"/>
                <a:tab pos="2743200" algn="l"/>
              </a:tabLst>
            </a:pPr>
            <a:r>
              <a:rPr sz="2400">
                <a:latin typeface="Cambria"/>
              </a:rPr>
              <a:t> </a:t>
            </a:r>
          </a:p>
          <a:p>
            <a:pPr>
              <a:tabLst>
                <a:tab pos="548640" algn="l"/>
                <a:tab pos="2743200" algn="l"/>
              </a:tabLst>
            </a:pPr>
            <a:r>
              <a:rPr sz="2400" b="0">
                <a:latin typeface="Cambria"/>
              </a:rPr>
              <a:t>1 only when </a:t>
            </a:r>
            <a:r>
              <a:rPr sz="2400" b="1">
                <a:latin typeface="Cambria"/>
              </a:rPr>
              <a:t>both</a:t>
            </a:r>
            <a:r>
              <a:rPr sz="2400" b="0">
                <a:latin typeface="Cambria"/>
              </a:rPr>
              <a:t> inputs are 1</a:t>
            </a:r>
          </a:p>
          <a:p>
            <a:pPr>
              <a:tabLst>
                <a:tab pos="548640" algn="l"/>
                <a:tab pos="2743200" algn="l"/>
              </a:tabLst>
            </a:pPr>
            <a:r>
              <a:rPr sz="2400">
                <a:latin typeface="Cambria"/>
              </a:rPr>
              <a:t> </a:t>
            </a:r>
          </a:p>
          <a:p>
            <a:pPr>
              <a:tabLst>
                <a:tab pos="548640" algn="l"/>
                <a:tab pos="2743200" algn="l"/>
              </a:tabLst>
            </a:pPr>
            <a:r>
              <a:rPr sz="2400" b="0">
                <a:latin typeface="Cambria"/>
              </a:rPr>
              <a:t>Clause level:</a:t>
            </a:r>
          </a:p>
          <a:p>
            <a:pPr>
              <a:tabLst>
                <a:tab pos="548640" algn="l"/>
                <a:tab pos="2743200" algn="l"/>
              </a:tabLst>
            </a:pPr>
            <a:r>
              <a:rPr sz="2400" b="0">
                <a:latin typeface="Cambria"/>
              </a:rPr>
              <a:t>	a &amp;&amp; b	all three</a:t>
            </a:r>
          </a:p>
          <a:p>
            <a:pPr>
              <a:tabLst>
                <a:tab pos="548640" algn="l"/>
                <a:tab pos="2743200" algn="l"/>
              </a:tabLst>
            </a:pPr>
            <a:r>
              <a:rPr sz="2400" b="0">
                <a:latin typeface="Cambria"/>
              </a:rPr>
              <a:t>Bit level:</a:t>
            </a:r>
          </a:p>
          <a:p>
            <a:pPr>
              <a:tabLst>
                <a:tab pos="548640" algn="l"/>
                <a:tab pos="2743200" algn="l"/>
              </a:tabLst>
            </a:pPr>
            <a:r>
              <a:rPr sz="2400" b="0">
                <a:latin typeface="Cambria"/>
              </a:rPr>
              <a:t>	a &amp; b	all three</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5593858"/>
          </a:xfrm>
          <a:prstGeom prst="rect">
            <a:avLst/>
          </a:prstGeom>
          <a:noFill/>
        </p:spPr>
        <p:txBody>
          <a:bodyPr wrap="square">
            <a:spAutoFit/>
          </a:bodyPr>
          <a:lstStyle/>
          <a:p>
            <a:pPr>
              <a:tabLst>
                <a:tab pos="548640" algn="l"/>
                <a:tab pos="2743200" algn="l"/>
              </a:tabLst>
            </a:pPr>
            <a:r>
              <a:rPr sz="2400" b="1">
                <a:latin typeface="Cambria"/>
              </a:rPr>
              <a:t>Y = A + B</a:t>
            </a:r>
          </a:p>
          <a:p>
            <a:pPr>
              <a:tabLst>
                <a:tab pos="548640" algn="l"/>
                <a:tab pos="2743200" algn="l"/>
              </a:tabLst>
            </a:pPr>
            <a:r>
              <a:rPr sz="2400">
                <a:latin typeface="Cambria"/>
              </a:rPr>
              <a:t> </a:t>
            </a:r>
          </a:p>
          <a:p>
            <a:pPr>
              <a:tabLst>
                <a:tab pos="548640" algn="l"/>
                <a:tab pos="2743200" algn="l"/>
              </a:tabLst>
            </a:pPr>
            <a:r>
              <a:rPr sz="2400" b="0">
                <a:latin typeface="Cambria"/>
              </a:rPr>
              <a:t>1 when </a:t>
            </a:r>
            <a:r>
              <a:rPr sz="2400" b="1">
                <a:latin typeface="Cambria"/>
              </a:rPr>
              <a:t>either</a:t>
            </a:r>
            <a:r>
              <a:rPr sz="2400" b="0">
                <a:latin typeface="Cambria"/>
              </a:rPr>
              <a:t> input is 1</a:t>
            </a:r>
          </a:p>
          <a:p>
            <a:pPr>
              <a:tabLst>
                <a:tab pos="548640" algn="l"/>
                <a:tab pos="2743200" algn="l"/>
              </a:tabLst>
            </a:pPr>
            <a:r>
              <a:rPr sz="2400" b="0">
                <a:latin typeface="Cambria"/>
              </a:rPr>
              <a:t>(or both)</a:t>
            </a:r>
          </a:p>
          <a:p>
            <a:pPr>
              <a:tabLst>
                <a:tab pos="548640" algn="l"/>
                <a:tab pos="2743200" algn="l"/>
              </a:tabLst>
            </a:pPr>
            <a:r>
              <a:rPr sz="2400">
                <a:latin typeface="Cambria"/>
              </a:rPr>
              <a:t> </a:t>
            </a:r>
          </a:p>
          <a:p>
            <a:pPr>
              <a:tabLst>
                <a:tab pos="548640" algn="l"/>
                <a:tab pos="2743200" algn="l"/>
              </a:tabLst>
            </a:pPr>
            <a:r>
              <a:rPr sz="2400" b="0">
                <a:latin typeface="Cambria"/>
              </a:rPr>
              <a:t>Clause level:</a:t>
            </a:r>
          </a:p>
          <a:p>
            <a:pPr>
              <a:tabLst>
                <a:tab pos="548640" algn="l"/>
                <a:tab pos="2743200" algn="l"/>
              </a:tabLst>
            </a:pPr>
            <a:r>
              <a:rPr sz="2400" b="0">
                <a:latin typeface="Cambria"/>
              </a:rPr>
              <a:t>	a || b	all three</a:t>
            </a:r>
          </a:p>
          <a:p>
            <a:pPr>
              <a:tabLst>
                <a:tab pos="548640" algn="l"/>
                <a:tab pos="2743200" algn="l"/>
              </a:tabLst>
            </a:pPr>
            <a:r>
              <a:rPr sz="2400" b="0">
                <a:latin typeface="Cambria"/>
              </a:rPr>
              <a:t>Bit level:</a:t>
            </a:r>
          </a:p>
          <a:p>
            <a:pPr>
              <a:tabLst>
                <a:tab pos="548640" algn="l"/>
                <a:tab pos="2743200" algn="l"/>
              </a:tabLst>
            </a:pPr>
            <a:r>
              <a:rPr sz="2400" b="0">
                <a:latin typeface="Cambria"/>
              </a:rPr>
              <a:t>	a | b	all three</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NAND</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5593858"/>
          </a:xfrm>
          <a:prstGeom prst="rect">
            <a:avLst/>
          </a:prstGeom>
          <a:noFill/>
        </p:spPr>
        <p:txBody>
          <a:bodyPr wrap="square">
            <a:spAutoFit/>
          </a:bodyPr>
          <a:lstStyle/>
          <a:p>
            <a:pPr>
              <a:tabLst>
                <a:tab pos="548640" algn="l"/>
                <a:tab pos="2743200" algn="l"/>
              </a:tabLst>
            </a:pPr>
            <a:r>
              <a:rPr sz="2400" b="1">
                <a:latin typeface="Cambria"/>
              </a:rPr>
              <a:t>Y = (A · B)'</a:t>
            </a:r>
          </a:p>
          <a:p>
            <a:pPr>
              <a:tabLst>
                <a:tab pos="548640" algn="l"/>
                <a:tab pos="2743200" algn="l"/>
              </a:tabLst>
            </a:pPr>
            <a:r>
              <a:rPr sz="2400">
                <a:latin typeface="Cambria"/>
              </a:rPr>
              <a:t> </a:t>
            </a:r>
          </a:p>
          <a:p>
            <a:pPr>
              <a:tabLst>
                <a:tab pos="548640" algn="l"/>
                <a:tab pos="2743200" algn="l"/>
              </a:tabLst>
            </a:pPr>
            <a:r>
              <a:rPr sz="2400" b="0">
                <a:latin typeface="Cambria"/>
              </a:rPr>
              <a:t>NOT of AND:  0 only when</a:t>
            </a:r>
          </a:p>
          <a:p>
            <a:pPr>
              <a:tabLst>
                <a:tab pos="548640" algn="l"/>
                <a:tab pos="2743200" algn="l"/>
              </a:tabLst>
            </a:pPr>
            <a:r>
              <a:rPr sz="2400" b="1">
                <a:latin typeface="Cambria"/>
              </a:rPr>
              <a:t>both</a:t>
            </a:r>
            <a:r>
              <a:rPr sz="2400" b="0">
                <a:latin typeface="Cambria"/>
              </a:rPr>
              <a:t> inputs are 1</a:t>
            </a:r>
          </a:p>
          <a:p>
            <a:pPr>
              <a:tabLst>
                <a:tab pos="548640" algn="l"/>
                <a:tab pos="2743200" algn="l"/>
              </a:tabLst>
            </a:pPr>
            <a:r>
              <a:rPr sz="2400">
                <a:latin typeface="Cambria"/>
              </a:rPr>
              <a:t> </a:t>
            </a:r>
          </a:p>
          <a:p>
            <a:pPr>
              <a:tabLst>
                <a:tab pos="548640" algn="l"/>
                <a:tab pos="2743200" algn="l"/>
              </a:tabLst>
            </a:pPr>
            <a:r>
              <a:rPr sz="2400" b="0">
                <a:latin typeface="Cambria"/>
              </a:rPr>
              <a:t>Clause level:</a:t>
            </a:r>
          </a:p>
          <a:p>
            <a:pPr>
              <a:tabLst>
                <a:tab pos="548640" algn="l"/>
                <a:tab pos="2743200" algn="l"/>
              </a:tabLst>
            </a:pPr>
            <a:r>
              <a:rPr sz="2400" b="0">
                <a:latin typeface="Cambria"/>
              </a:rPr>
              <a:t>	!(a &amp;&amp; b)	all three</a:t>
            </a:r>
          </a:p>
          <a:p>
            <a:pPr>
              <a:tabLst>
                <a:tab pos="548640" algn="l"/>
                <a:tab pos="2743200" algn="l"/>
              </a:tabLst>
            </a:pPr>
            <a:r>
              <a:rPr sz="2400" b="0">
                <a:latin typeface="Cambria"/>
              </a:rPr>
              <a:t>Bit level:</a:t>
            </a:r>
          </a:p>
          <a:p>
            <a:pPr>
              <a:tabLst>
                <a:tab pos="548640" algn="l"/>
                <a:tab pos="2743200" algn="l"/>
              </a:tabLst>
            </a:pPr>
            <a:r>
              <a:rPr sz="2400" b="0">
                <a:latin typeface="Cambria"/>
              </a:rPr>
              <a:t>	~(a &amp; b)	C, C++</a:t>
            </a:r>
          </a:p>
          <a:p>
            <a:pPr>
              <a:tabLst>
                <a:tab pos="548640" algn="l"/>
                <a:tab pos="2743200" algn="l"/>
              </a:tabLst>
            </a:pPr>
            <a:r>
              <a:rPr sz="2400" b="0">
                <a:latin typeface="Cambria"/>
              </a:rPr>
              <a:t>	!(a &amp; b)	Rust</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5593858"/>
          </a:xfrm>
          <a:prstGeom prst="rect">
            <a:avLst/>
          </a:prstGeom>
          <a:noFill/>
        </p:spPr>
        <p:txBody>
          <a:bodyPr wrap="square">
            <a:spAutoFit/>
          </a:bodyPr>
          <a:lstStyle/>
          <a:p>
            <a:pPr>
              <a:tabLst>
                <a:tab pos="548640" algn="l"/>
                <a:tab pos="2743200" algn="l"/>
              </a:tabLst>
            </a:pPr>
            <a:r>
              <a:rPr sz="2400" b="1">
                <a:latin typeface="Cambria"/>
              </a:rPr>
              <a:t>Y = (A + B)'</a:t>
            </a:r>
          </a:p>
          <a:p>
            <a:pPr>
              <a:tabLst>
                <a:tab pos="548640" algn="l"/>
                <a:tab pos="2743200" algn="l"/>
              </a:tabLst>
            </a:pPr>
            <a:r>
              <a:rPr sz="2400">
                <a:latin typeface="Cambria"/>
              </a:rPr>
              <a:t> </a:t>
            </a:r>
          </a:p>
          <a:p>
            <a:pPr>
              <a:tabLst>
                <a:tab pos="548640" algn="l"/>
                <a:tab pos="2743200" algn="l"/>
              </a:tabLst>
            </a:pPr>
            <a:r>
              <a:rPr sz="2400" b="0">
                <a:latin typeface="Cambria"/>
              </a:rPr>
              <a:t>NOT of OR:  1 only when</a:t>
            </a:r>
          </a:p>
          <a:p>
            <a:pPr>
              <a:tabLst>
                <a:tab pos="548640" algn="l"/>
                <a:tab pos="2743200" algn="l"/>
              </a:tabLst>
            </a:pPr>
            <a:r>
              <a:rPr sz="2400" b="1">
                <a:latin typeface="Cambria"/>
              </a:rPr>
              <a:t>both</a:t>
            </a:r>
            <a:r>
              <a:rPr sz="2400" b="0">
                <a:latin typeface="Cambria"/>
              </a:rPr>
              <a:t> inputs are 0</a:t>
            </a:r>
          </a:p>
          <a:p>
            <a:pPr>
              <a:tabLst>
                <a:tab pos="548640" algn="l"/>
                <a:tab pos="2743200" algn="l"/>
              </a:tabLst>
            </a:pPr>
            <a:r>
              <a:rPr sz="2400">
                <a:latin typeface="Cambria"/>
              </a:rPr>
              <a:t> </a:t>
            </a:r>
          </a:p>
          <a:p>
            <a:pPr>
              <a:tabLst>
                <a:tab pos="548640" algn="l"/>
                <a:tab pos="2743200" algn="l"/>
              </a:tabLst>
            </a:pPr>
            <a:r>
              <a:rPr sz="2400" b="0">
                <a:latin typeface="Cambria"/>
              </a:rPr>
              <a:t>Clause level:</a:t>
            </a:r>
          </a:p>
          <a:p>
            <a:pPr>
              <a:tabLst>
                <a:tab pos="548640" algn="l"/>
                <a:tab pos="2743200" algn="l"/>
              </a:tabLst>
            </a:pPr>
            <a:r>
              <a:rPr sz="2400" b="0">
                <a:latin typeface="Cambria"/>
              </a:rPr>
              <a:t>	!(a || b)	all three</a:t>
            </a:r>
          </a:p>
          <a:p>
            <a:pPr>
              <a:tabLst>
                <a:tab pos="548640" algn="l"/>
                <a:tab pos="2743200" algn="l"/>
              </a:tabLst>
            </a:pPr>
            <a:r>
              <a:rPr sz="2400" b="0">
                <a:latin typeface="Cambria"/>
              </a:rPr>
              <a:t>Bit level:</a:t>
            </a:r>
          </a:p>
          <a:p>
            <a:pPr>
              <a:tabLst>
                <a:tab pos="548640" algn="l"/>
                <a:tab pos="2743200" algn="l"/>
              </a:tabLst>
            </a:pPr>
            <a:r>
              <a:rPr sz="2400" b="0">
                <a:latin typeface="Cambria"/>
              </a:rPr>
              <a:t>	~(a | b)	C, C++</a:t>
            </a:r>
          </a:p>
          <a:p>
            <a:pPr>
              <a:tabLst>
                <a:tab pos="548640" algn="l"/>
                <a:tab pos="2743200" algn="l"/>
              </a:tabLst>
            </a:pPr>
            <a:r>
              <a:rPr sz="2400" b="0">
                <a:latin typeface="Cambria"/>
              </a:rPr>
              <a:t>	!(a | b)	Rust</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XOR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3416320"/>
          </a:xfrm>
          <a:prstGeom prst="rect">
            <a:avLst/>
          </a:prstGeom>
          <a:noFill/>
        </p:spPr>
        <p:txBody>
          <a:bodyPr wrap="square">
            <a:spAutoFit/>
          </a:bodyPr>
          <a:lstStyle/>
          <a:p>
            <a:pPr>
              <a:tabLst>
                <a:tab pos="548640" algn="l"/>
                <a:tab pos="2743200" algn="l"/>
              </a:tabLst>
            </a:pPr>
            <a:r>
              <a:rPr sz="2400" b="1" dirty="0">
                <a:latin typeface="Cambria"/>
              </a:rPr>
              <a:t>Y = A </a:t>
            </a:r>
            <a:r>
              <a:rPr lang="en-US" sz="2400" b="1" dirty="0" smtClean="0">
                <a:latin typeface="Symbol" panose="05050102010706020507" pitchFamily="18" charset="2"/>
                <a:sym typeface="Symbol" panose="05050102010706020507" pitchFamily="18" charset="2"/>
              </a:rPr>
              <a:t></a:t>
            </a:r>
            <a:r>
              <a:rPr sz="2400" b="1" dirty="0" smtClean="0">
                <a:latin typeface="Cambria"/>
              </a:rPr>
              <a:t> </a:t>
            </a:r>
            <a:r>
              <a:rPr sz="2400" b="1" dirty="0">
                <a:latin typeface="Cambria"/>
              </a:rPr>
              <a:t>B</a:t>
            </a:r>
          </a:p>
          <a:p>
            <a:pPr>
              <a:tabLst>
                <a:tab pos="548640" algn="l"/>
                <a:tab pos="2743200" algn="l"/>
              </a:tabLst>
            </a:pPr>
            <a:r>
              <a:rPr sz="2400" dirty="0">
                <a:latin typeface="Cambria"/>
              </a:rPr>
              <a:t> </a:t>
            </a:r>
          </a:p>
          <a:p>
            <a:pPr>
              <a:tabLst>
                <a:tab pos="548640" algn="l"/>
                <a:tab pos="2743200" algn="l"/>
              </a:tabLst>
            </a:pPr>
            <a:r>
              <a:rPr sz="2400" b="0" dirty="0">
                <a:latin typeface="Cambria"/>
              </a:rPr>
              <a:t>1 when the inputs </a:t>
            </a:r>
            <a:r>
              <a:rPr sz="2400" b="1" dirty="0">
                <a:latin typeface="Cambria"/>
              </a:rPr>
              <a:t>differ</a:t>
            </a:r>
          </a:p>
          <a:p>
            <a:pPr>
              <a:tabLst>
                <a:tab pos="548640" algn="l"/>
                <a:tab pos="2743200" algn="l"/>
              </a:tabLst>
            </a:pPr>
            <a:r>
              <a:rPr sz="2400" dirty="0">
                <a:latin typeface="Cambria"/>
              </a:rPr>
              <a:t> </a:t>
            </a:r>
          </a:p>
          <a:p>
            <a:pPr>
              <a:tabLst>
                <a:tab pos="548640" algn="l"/>
                <a:tab pos="2743200" algn="l"/>
              </a:tabLst>
            </a:pPr>
            <a:r>
              <a:rPr sz="2400" b="0" dirty="0">
                <a:latin typeface="Cambria"/>
              </a:rPr>
              <a:t>Clause level:</a:t>
            </a:r>
          </a:p>
          <a:p>
            <a:pPr>
              <a:tabLst>
                <a:tab pos="548640" algn="l"/>
                <a:tab pos="2743200" algn="l"/>
              </a:tabLst>
            </a:pPr>
            <a:r>
              <a:rPr sz="2400" b="0" dirty="0">
                <a:latin typeface="Cambria"/>
              </a:rPr>
              <a:t>	a != b	C, C++</a:t>
            </a:r>
          </a:p>
          <a:p>
            <a:pPr>
              <a:tabLst>
                <a:tab pos="548640" algn="l"/>
                <a:tab pos="2743200" algn="l"/>
              </a:tabLst>
            </a:pPr>
            <a:r>
              <a:rPr sz="2400" b="0" dirty="0">
                <a:latin typeface="Cambria"/>
              </a:rPr>
              <a:t>	a ^ b	Rust  (</a:t>
            </a:r>
            <a:r>
              <a:rPr sz="2400" b="0" dirty="0" err="1">
                <a:latin typeface="Cambria"/>
              </a:rPr>
              <a:t>bool</a:t>
            </a:r>
            <a:r>
              <a:rPr sz="2400" b="0" dirty="0">
                <a:latin typeface="Cambria"/>
              </a:rPr>
              <a:t>)</a:t>
            </a:r>
          </a:p>
          <a:p>
            <a:pPr>
              <a:tabLst>
                <a:tab pos="548640" algn="l"/>
                <a:tab pos="2743200" algn="l"/>
              </a:tabLst>
            </a:pPr>
            <a:r>
              <a:rPr sz="2400" b="0" dirty="0">
                <a:latin typeface="Cambria"/>
              </a:rPr>
              <a:t>Bit level:</a:t>
            </a:r>
          </a:p>
          <a:p>
            <a:pPr>
              <a:tabLst>
                <a:tab pos="548640" algn="l"/>
                <a:tab pos="2743200" algn="l"/>
              </a:tabLst>
            </a:pPr>
            <a:r>
              <a:rPr sz="2400" b="0" dirty="0">
                <a:latin typeface="Cambria"/>
              </a:rPr>
              <a:t>	a ^ b	all three</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XNOR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5394960" cy="3416320"/>
          </a:xfrm>
          <a:prstGeom prst="rect">
            <a:avLst/>
          </a:prstGeom>
          <a:noFill/>
        </p:spPr>
        <p:txBody>
          <a:bodyPr wrap="square">
            <a:spAutoFit/>
          </a:bodyPr>
          <a:lstStyle/>
          <a:p>
            <a:pPr>
              <a:tabLst>
                <a:tab pos="548640" algn="l"/>
                <a:tab pos="2743200" algn="l"/>
              </a:tabLst>
            </a:pPr>
            <a:r>
              <a:rPr sz="2400" b="1" dirty="0">
                <a:latin typeface="Cambria"/>
              </a:rPr>
              <a:t>Y = (A </a:t>
            </a:r>
            <a:r>
              <a:rPr lang="en-US" sz="2400" b="1" dirty="0" smtClean="0">
                <a:latin typeface="Cambria"/>
                <a:sym typeface="Symbol" panose="05050102010706020507" pitchFamily="18" charset="2"/>
              </a:rPr>
              <a:t></a:t>
            </a:r>
            <a:r>
              <a:rPr sz="2400" b="1" dirty="0" smtClean="0">
                <a:latin typeface="Cambria"/>
              </a:rPr>
              <a:t> </a:t>
            </a:r>
            <a:r>
              <a:rPr sz="2400" b="1" dirty="0">
                <a:latin typeface="Cambria"/>
              </a:rPr>
              <a:t>B)'</a:t>
            </a:r>
          </a:p>
          <a:p>
            <a:pPr>
              <a:tabLst>
                <a:tab pos="548640" algn="l"/>
                <a:tab pos="2743200" algn="l"/>
              </a:tabLst>
            </a:pPr>
            <a:r>
              <a:rPr sz="2400" dirty="0">
                <a:latin typeface="Cambria"/>
              </a:rPr>
              <a:t> </a:t>
            </a:r>
          </a:p>
          <a:p>
            <a:pPr>
              <a:tabLst>
                <a:tab pos="548640" algn="l"/>
                <a:tab pos="2743200" algn="l"/>
              </a:tabLst>
            </a:pPr>
            <a:r>
              <a:rPr sz="2400" b="0" dirty="0">
                <a:latin typeface="Cambria"/>
              </a:rPr>
              <a:t>1 when the inputs are </a:t>
            </a:r>
            <a:r>
              <a:rPr sz="2400" b="1" dirty="0">
                <a:latin typeface="Cambria"/>
              </a:rPr>
              <a:t>equal</a:t>
            </a:r>
          </a:p>
          <a:p>
            <a:pPr>
              <a:tabLst>
                <a:tab pos="548640" algn="l"/>
                <a:tab pos="2743200" algn="l"/>
              </a:tabLst>
            </a:pPr>
            <a:r>
              <a:rPr sz="2400" dirty="0">
                <a:latin typeface="Cambria"/>
              </a:rPr>
              <a:t> </a:t>
            </a:r>
          </a:p>
          <a:p>
            <a:pPr>
              <a:tabLst>
                <a:tab pos="548640" algn="l"/>
                <a:tab pos="2743200" algn="l"/>
              </a:tabLst>
            </a:pPr>
            <a:r>
              <a:rPr sz="2400" b="0" dirty="0">
                <a:latin typeface="Cambria"/>
              </a:rPr>
              <a:t>Clause level:</a:t>
            </a:r>
          </a:p>
          <a:p>
            <a:pPr>
              <a:tabLst>
                <a:tab pos="548640" algn="l"/>
                <a:tab pos="2743200" algn="l"/>
              </a:tabLst>
            </a:pPr>
            <a:r>
              <a:rPr sz="2400" b="0" dirty="0">
                <a:latin typeface="Cambria"/>
              </a:rPr>
              <a:t>	a == b	all three</a:t>
            </a:r>
          </a:p>
          <a:p>
            <a:pPr>
              <a:tabLst>
                <a:tab pos="548640" algn="l"/>
                <a:tab pos="2743200" algn="l"/>
              </a:tabLst>
            </a:pPr>
            <a:r>
              <a:rPr sz="2400" b="0" dirty="0">
                <a:latin typeface="Cambria"/>
              </a:rPr>
              <a:t>Bit level:</a:t>
            </a:r>
          </a:p>
          <a:p>
            <a:pPr>
              <a:tabLst>
                <a:tab pos="548640" algn="l"/>
                <a:tab pos="2743200" algn="l"/>
              </a:tabLst>
            </a:pPr>
            <a:r>
              <a:rPr sz="2400" b="0" dirty="0">
                <a:latin typeface="Cambria"/>
              </a:rPr>
              <a:t>	~(a ^ b)	C, C++</a:t>
            </a:r>
          </a:p>
          <a:p>
            <a:pPr>
              <a:tabLst>
                <a:tab pos="548640" algn="l"/>
                <a:tab pos="2743200" algn="l"/>
              </a:tabLst>
            </a:pPr>
            <a:r>
              <a:rPr sz="2400" b="0" dirty="0">
                <a:latin typeface="Cambria"/>
              </a:rPr>
              <a:t>	!(a ^ b)	Rust</a:t>
            </a:r>
          </a:p>
        </p:txBody>
      </p:sp>
      <p:sp>
        <p:nvSpPr>
          <p:cNvPr id="389" name="Rectangle 388"/>
          <p:cNvSpPr/>
          <p:nvPr/>
        </p:nvSpPr>
        <p:spPr>
          <a:xfrm>
            <a:off x="690372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A</a:t>
            </a:r>
          </a:p>
        </p:txBody>
      </p:sp>
      <p:sp>
        <p:nvSpPr>
          <p:cNvPr id="390" name="Rectangle 389"/>
          <p:cNvSpPr/>
          <p:nvPr/>
        </p:nvSpPr>
        <p:spPr>
          <a:xfrm>
            <a:off x="7726679"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B</a:t>
            </a:r>
          </a:p>
        </p:txBody>
      </p:sp>
      <p:sp>
        <p:nvSpPr>
          <p:cNvPr id="391" name="Rectangle 390"/>
          <p:cNvSpPr/>
          <p:nvPr/>
        </p:nvSpPr>
        <p:spPr>
          <a:xfrm>
            <a:off x="8549640" y="2148840"/>
            <a:ext cx="822960" cy="603504"/>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Y</a:t>
            </a:r>
          </a:p>
        </p:txBody>
      </p:sp>
      <p:sp>
        <p:nvSpPr>
          <p:cNvPr id="392" name="Rectangle 391"/>
          <p:cNvSpPr/>
          <p:nvPr/>
        </p:nvSpPr>
        <p:spPr>
          <a:xfrm>
            <a:off x="6903720"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3" name="Rectangle 392"/>
          <p:cNvSpPr/>
          <p:nvPr/>
        </p:nvSpPr>
        <p:spPr>
          <a:xfrm>
            <a:off x="7726679" y="2752344"/>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4" name="Rectangle 393"/>
          <p:cNvSpPr/>
          <p:nvPr/>
        </p:nvSpPr>
        <p:spPr>
          <a:xfrm>
            <a:off x="8549640" y="2752344"/>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
        <p:nvSpPr>
          <p:cNvPr id="395" name="Rectangle 394"/>
          <p:cNvSpPr/>
          <p:nvPr/>
        </p:nvSpPr>
        <p:spPr>
          <a:xfrm>
            <a:off x="6903720"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396" name="Rectangle 395"/>
          <p:cNvSpPr/>
          <p:nvPr/>
        </p:nvSpPr>
        <p:spPr>
          <a:xfrm>
            <a:off x="7726679" y="3355848"/>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7" name="Rectangle 396"/>
          <p:cNvSpPr/>
          <p:nvPr/>
        </p:nvSpPr>
        <p:spPr>
          <a:xfrm>
            <a:off x="8549640" y="3355848"/>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398" name="Rectangle 397"/>
          <p:cNvSpPr/>
          <p:nvPr/>
        </p:nvSpPr>
        <p:spPr>
          <a:xfrm>
            <a:off x="6903720"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399" name="Rectangle 398"/>
          <p:cNvSpPr/>
          <p:nvPr/>
        </p:nvSpPr>
        <p:spPr>
          <a:xfrm>
            <a:off x="7726679" y="3959352"/>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0</a:t>
            </a:r>
          </a:p>
        </p:txBody>
      </p:sp>
      <p:sp>
        <p:nvSpPr>
          <p:cNvPr id="400" name="Rectangle 399"/>
          <p:cNvSpPr/>
          <p:nvPr/>
        </p:nvSpPr>
        <p:spPr>
          <a:xfrm>
            <a:off x="8549640" y="3959352"/>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0</a:t>
            </a:r>
          </a:p>
        </p:txBody>
      </p:sp>
      <p:sp>
        <p:nvSpPr>
          <p:cNvPr id="401" name="Rectangle 400"/>
          <p:cNvSpPr/>
          <p:nvPr/>
        </p:nvSpPr>
        <p:spPr>
          <a:xfrm>
            <a:off x="6903720"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2" name="Rectangle 401"/>
          <p:cNvSpPr/>
          <p:nvPr/>
        </p:nvSpPr>
        <p:spPr>
          <a:xfrm>
            <a:off x="7726679" y="4562856"/>
            <a:ext cx="822960" cy="603504"/>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0">
                <a:solidFill>
                  <a:srgbClr val="000000"/>
                </a:solidFill>
                <a:latin typeface="Cambria"/>
              </a:rPr>
              <a:t>1</a:t>
            </a:r>
          </a:p>
        </p:txBody>
      </p:sp>
      <p:sp>
        <p:nvSpPr>
          <p:cNvPr id="403" name="Rectangle 402"/>
          <p:cNvSpPr/>
          <p:nvPr/>
        </p:nvSpPr>
        <p:spPr>
          <a:xfrm>
            <a:off x="8549640" y="4562856"/>
            <a:ext cx="822960" cy="603504"/>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200" b="1">
                <a:solidFill>
                  <a:srgbClr val="000000"/>
                </a:solidFill>
                <a:latin typeface="Cambria"/>
              </a:rPr>
              <a:t>1</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All Seven Together</a:t>
            </a:r>
            <a:endParaRPr lang="en-US" sz="4400" b="0" u="none" strike="noStrike" dirty="0">
              <a:solidFill>
                <a:srgbClr val="000000"/>
              </a:solidFill>
              <a:effectLst/>
              <a:uFillTx/>
              <a:latin typeface="Arial"/>
            </a:endParaRPr>
          </a:p>
        </p:txBody>
      </p:sp>
      <p:sp>
        <p:nvSpPr>
          <p:cNvPr id="388" name="Rectangle 387"/>
          <p:cNvSpPr/>
          <p:nvPr/>
        </p:nvSpPr>
        <p:spPr>
          <a:xfrm>
            <a:off x="996695"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A</a:t>
            </a:r>
          </a:p>
        </p:txBody>
      </p:sp>
      <p:sp>
        <p:nvSpPr>
          <p:cNvPr id="389" name="Rectangle 388"/>
          <p:cNvSpPr/>
          <p:nvPr/>
        </p:nvSpPr>
        <p:spPr>
          <a:xfrm>
            <a:off x="1892807"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B</a:t>
            </a:r>
          </a:p>
        </p:txBody>
      </p:sp>
      <p:sp>
        <p:nvSpPr>
          <p:cNvPr id="390" name="Rectangle 389"/>
          <p:cNvSpPr/>
          <p:nvPr/>
        </p:nvSpPr>
        <p:spPr>
          <a:xfrm>
            <a:off x="2788920"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NOT A</a:t>
            </a:r>
          </a:p>
        </p:txBody>
      </p:sp>
      <p:sp>
        <p:nvSpPr>
          <p:cNvPr id="391" name="Rectangle 390"/>
          <p:cNvSpPr/>
          <p:nvPr/>
        </p:nvSpPr>
        <p:spPr>
          <a:xfrm>
            <a:off x="3685031"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AND</a:t>
            </a:r>
          </a:p>
        </p:txBody>
      </p:sp>
      <p:sp>
        <p:nvSpPr>
          <p:cNvPr id="392" name="Rectangle 391"/>
          <p:cNvSpPr/>
          <p:nvPr/>
        </p:nvSpPr>
        <p:spPr>
          <a:xfrm>
            <a:off x="4581144"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OR</a:t>
            </a:r>
          </a:p>
        </p:txBody>
      </p:sp>
      <p:sp>
        <p:nvSpPr>
          <p:cNvPr id="393" name="Rectangle 392"/>
          <p:cNvSpPr/>
          <p:nvPr/>
        </p:nvSpPr>
        <p:spPr>
          <a:xfrm>
            <a:off x="5477256"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NAND</a:t>
            </a:r>
          </a:p>
        </p:txBody>
      </p:sp>
      <p:sp>
        <p:nvSpPr>
          <p:cNvPr id="394" name="Rectangle 393"/>
          <p:cNvSpPr/>
          <p:nvPr/>
        </p:nvSpPr>
        <p:spPr>
          <a:xfrm>
            <a:off x="6373368"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NOR</a:t>
            </a:r>
          </a:p>
        </p:txBody>
      </p:sp>
      <p:sp>
        <p:nvSpPr>
          <p:cNvPr id="395" name="Rectangle 394"/>
          <p:cNvSpPr/>
          <p:nvPr/>
        </p:nvSpPr>
        <p:spPr>
          <a:xfrm>
            <a:off x="7269479"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XOR</a:t>
            </a:r>
          </a:p>
        </p:txBody>
      </p:sp>
      <p:sp>
        <p:nvSpPr>
          <p:cNvPr id="396" name="Rectangle 395"/>
          <p:cNvSpPr/>
          <p:nvPr/>
        </p:nvSpPr>
        <p:spPr>
          <a:xfrm>
            <a:off x="8165592" y="2331720"/>
            <a:ext cx="896112" cy="621792"/>
          </a:xfrm>
          <a:prstGeom prst="rect">
            <a:avLst/>
          </a:prstGeom>
          <a:solidFill>
            <a:srgbClr val="D9D9D9"/>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800" b="1">
                <a:solidFill>
                  <a:srgbClr val="000000"/>
                </a:solidFill>
                <a:latin typeface="Cambria"/>
              </a:rPr>
              <a:t>XNOR</a:t>
            </a:r>
          </a:p>
        </p:txBody>
      </p:sp>
      <p:sp>
        <p:nvSpPr>
          <p:cNvPr id="397" name="Rectangle 396"/>
          <p:cNvSpPr/>
          <p:nvPr/>
        </p:nvSpPr>
        <p:spPr>
          <a:xfrm>
            <a:off x="996695" y="2953512"/>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a:t>
            </a:r>
          </a:p>
        </p:txBody>
      </p:sp>
      <p:sp>
        <p:nvSpPr>
          <p:cNvPr id="398" name="Rectangle 397"/>
          <p:cNvSpPr/>
          <p:nvPr/>
        </p:nvSpPr>
        <p:spPr>
          <a:xfrm>
            <a:off x="1892807" y="2953512"/>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a:t>
            </a:r>
          </a:p>
        </p:txBody>
      </p:sp>
      <p:sp>
        <p:nvSpPr>
          <p:cNvPr id="399" name="Rectangle 398"/>
          <p:cNvSpPr/>
          <p:nvPr/>
        </p:nvSpPr>
        <p:spPr>
          <a:xfrm>
            <a:off x="2788920"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00" name="Rectangle 399"/>
          <p:cNvSpPr/>
          <p:nvPr/>
        </p:nvSpPr>
        <p:spPr>
          <a:xfrm>
            <a:off x="3685031"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01" name="Rectangle 400"/>
          <p:cNvSpPr/>
          <p:nvPr/>
        </p:nvSpPr>
        <p:spPr>
          <a:xfrm>
            <a:off x="4581144"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02" name="Rectangle 401"/>
          <p:cNvSpPr/>
          <p:nvPr/>
        </p:nvSpPr>
        <p:spPr>
          <a:xfrm>
            <a:off x="5477256"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03" name="Rectangle 402"/>
          <p:cNvSpPr/>
          <p:nvPr/>
        </p:nvSpPr>
        <p:spPr>
          <a:xfrm>
            <a:off x="6373368"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04" name="Rectangle 403"/>
          <p:cNvSpPr/>
          <p:nvPr/>
        </p:nvSpPr>
        <p:spPr>
          <a:xfrm>
            <a:off x="7269479"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05" name="Rectangle 404"/>
          <p:cNvSpPr/>
          <p:nvPr/>
        </p:nvSpPr>
        <p:spPr>
          <a:xfrm>
            <a:off x="8165592" y="2953512"/>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06" name="Rectangle 405"/>
          <p:cNvSpPr/>
          <p:nvPr/>
        </p:nvSpPr>
        <p:spPr>
          <a:xfrm>
            <a:off x="996695" y="3575304"/>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a:t>
            </a:r>
          </a:p>
        </p:txBody>
      </p:sp>
      <p:sp>
        <p:nvSpPr>
          <p:cNvPr id="407" name="Rectangle 406"/>
          <p:cNvSpPr/>
          <p:nvPr/>
        </p:nvSpPr>
        <p:spPr>
          <a:xfrm>
            <a:off x="1892807" y="3575304"/>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1</a:t>
            </a:r>
          </a:p>
        </p:txBody>
      </p:sp>
      <p:sp>
        <p:nvSpPr>
          <p:cNvPr id="408" name="Rectangle 407"/>
          <p:cNvSpPr/>
          <p:nvPr/>
        </p:nvSpPr>
        <p:spPr>
          <a:xfrm>
            <a:off x="2788920"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09" name="Rectangle 408"/>
          <p:cNvSpPr/>
          <p:nvPr/>
        </p:nvSpPr>
        <p:spPr>
          <a:xfrm>
            <a:off x="3685031"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10" name="Rectangle 409"/>
          <p:cNvSpPr/>
          <p:nvPr/>
        </p:nvSpPr>
        <p:spPr>
          <a:xfrm>
            <a:off x="4581144"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11" name="Rectangle 410"/>
          <p:cNvSpPr/>
          <p:nvPr/>
        </p:nvSpPr>
        <p:spPr>
          <a:xfrm>
            <a:off x="5477256"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12" name="Rectangle 411"/>
          <p:cNvSpPr/>
          <p:nvPr/>
        </p:nvSpPr>
        <p:spPr>
          <a:xfrm>
            <a:off x="6373368"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13" name="Rectangle 412"/>
          <p:cNvSpPr/>
          <p:nvPr/>
        </p:nvSpPr>
        <p:spPr>
          <a:xfrm>
            <a:off x="7269479"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14" name="Rectangle 413"/>
          <p:cNvSpPr/>
          <p:nvPr/>
        </p:nvSpPr>
        <p:spPr>
          <a:xfrm>
            <a:off x="8165592" y="3575304"/>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15" name="Rectangle 414"/>
          <p:cNvSpPr/>
          <p:nvPr/>
        </p:nvSpPr>
        <p:spPr>
          <a:xfrm>
            <a:off x="996695" y="4197096"/>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1</a:t>
            </a:r>
          </a:p>
        </p:txBody>
      </p:sp>
      <p:sp>
        <p:nvSpPr>
          <p:cNvPr id="416" name="Rectangle 415"/>
          <p:cNvSpPr/>
          <p:nvPr/>
        </p:nvSpPr>
        <p:spPr>
          <a:xfrm>
            <a:off x="1892807" y="4197096"/>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0</a:t>
            </a:r>
          </a:p>
        </p:txBody>
      </p:sp>
      <p:sp>
        <p:nvSpPr>
          <p:cNvPr id="417" name="Rectangle 416"/>
          <p:cNvSpPr/>
          <p:nvPr/>
        </p:nvSpPr>
        <p:spPr>
          <a:xfrm>
            <a:off x="2788920"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18" name="Rectangle 417"/>
          <p:cNvSpPr/>
          <p:nvPr/>
        </p:nvSpPr>
        <p:spPr>
          <a:xfrm>
            <a:off x="3685031"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19" name="Rectangle 418"/>
          <p:cNvSpPr/>
          <p:nvPr/>
        </p:nvSpPr>
        <p:spPr>
          <a:xfrm>
            <a:off x="4581144"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20" name="Rectangle 419"/>
          <p:cNvSpPr/>
          <p:nvPr/>
        </p:nvSpPr>
        <p:spPr>
          <a:xfrm>
            <a:off x="5477256"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21" name="Rectangle 420"/>
          <p:cNvSpPr/>
          <p:nvPr/>
        </p:nvSpPr>
        <p:spPr>
          <a:xfrm>
            <a:off x="6373368"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22" name="Rectangle 421"/>
          <p:cNvSpPr/>
          <p:nvPr/>
        </p:nvSpPr>
        <p:spPr>
          <a:xfrm>
            <a:off x="7269479"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23" name="Rectangle 422"/>
          <p:cNvSpPr/>
          <p:nvPr/>
        </p:nvSpPr>
        <p:spPr>
          <a:xfrm>
            <a:off x="8165592" y="4197096"/>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24" name="Rectangle 423"/>
          <p:cNvSpPr/>
          <p:nvPr/>
        </p:nvSpPr>
        <p:spPr>
          <a:xfrm>
            <a:off x="996695" y="4818888"/>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1</a:t>
            </a:r>
          </a:p>
        </p:txBody>
      </p:sp>
      <p:sp>
        <p:nvSpPr>
          <p:cNvPr id="425" name="Rectangle 424"/>
          <p:cNvSpPr/>
          <p:nvPr/>
        </p:nvSpPr>
        <p:spPr>
          <a:xfrm>
            <a:off x="1892807" y="4818888"/>
            <a:ext cx="896112" cy="621792"/>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0">
                <a:solidFill>
                  <a:srgbClr val="000000"/>
                </a:solidFill>
                <a:latin typeface="Cambria"/>
              </a:rPr>
              <a:t>1</a:t>
            </a:r>
          </a:p>
        </p:txBody>
      </p:sp>
      <p:sp>
        <p:nvSpPr>
          <p:cNvPr id="426" name="Rectangle 425"/>
          <p:cNvSpPr/>
          <p:nvPr/>
        </p:nvSpPr>
        <p:spPr>
          <a:xfrm>
            <a:off x="2788920"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27" name="Rectangle 426"/>
          <p:cNvSpPr/>
          <p:nvPr/>
        </p:nvSpPr>
        <p:spPr>
          <a:xfrm>
            <a:off x="3685031"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28" name="Rectangle 427"/>
          <p:cNvSpPr/>
          <p:nvPr/>
        </p:nvSpPr>
        <p:spPr>
          <a:xfrm>
            <a:off x="4581144"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29" name="Rectangle 428"/>
          <p:cNvSpPr/>
          <p:nvPr/>
        </p:nvSpPr>
        <p:spPr>
          <a:xfrm>
            <a:off x="5477256"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30" name="Rectangle 429"/>
          <p:cNvSpPr/>
          <p:nvPr/>
        </p:nvSpPr>
        <p:spPr>
          <a:xfrm>
            <a:off x="6373368"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31" name="Rectangle 430"/>
          <p:cNvSpPr/>
          <p:nvPr/>
        </p:nvSpPr>
        <p:spPr>
          <a:xfrm>
            <a:off x="7269479"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0</a:t>
            </a:r>
          </a:p>
        </p:txBody>
      </p:sp>
      <p:sp>
        <p:nvSpPr>
          <p:cNvPr id="432" name="Rectangle 431"/>
          <p:cNvSpPr/>
          <p:nvPr/>
        </p:nvSpPr>
        <p:spPr>
          <a:xfrm>
            <a:off x="8165592" y="4818888"/>
            <a:ext cx="896112" cy="621792"/>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2000" b="1">
                <a:solidFill>
                  <a:srgbClr val="000000"/>
                </a:solidFill>
                <a:latin typeface="Cambria"/>
              </a:rPr>
              <a:t>1</a:t>
            </a:r>
          </a:p>
        </p:txBody>
      </p:sp>
      <p:sp>
        <p:nvSpPr>
          <p:cNvPr id="433" name="TextBox 432"/>
          <p:cNvSpPr txBox="1"/>
          <p:nvPr/>
        </p:nvSpPr>
        <p:spPr>
          <a:xfrm>
            <a:off x="822960" y="5715000"/>
            <a:ext cx="8412480" cy="310896"/>
          </a:xfrm>
          <a:prstGeom prst="rect">
            <a:avLst/>
          </a:prstGeom>
          <a:noFill/>
        </p:spPr>
        <p:txBody>
          <a:bodyPr wrap="square" lIns="0" tIns="0" rIns="0" bIns="0">
            <a:spAutoFit/>
          </a:bodyPr>
          <a:lstStyle/>
          <a:p>
            <a:pPr algn="ctr"/>
            <a:r>
              <a:rPr sz="1700" b="0" i="1">
                <a:solidFill>
                  <a:srgbClr val="000000"/>
                </a:solidFill>
                <a:latin typeface="Cambria"/>
              </a:rPr>
              <a:t>NOT uses only A.   The shaded columns are outputs.</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NAND Can Build Everything</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194560" algn="l"/>
              </a:tabLst>
            </a:pPr>
            <a:r>
              <a:rPr sz="2600" b="0">
                <a:latin typeface="Cambria"/>
              </a:rPr>
              <a:t>NOT A	=  A NAND A</a:t>
            </a:r>
          </a:p>
          <a:p>
            <a:pPr>
              <a:tabLst>
                <a:tab pos="2194560" algn="l"/>
              </a:tabLst>
            </a:pPr>
            <a:r>
              <a:rPr sz="2600" b="0">
                <a:latin typeface="Cambria"/>
              </a:rPr>
              <a:t>A AND B	=  NOT ( A NAND B )</a:t>
            </a:r>
          </a:p>
          <a:p>
            <a:pPr>
              <a:tabLst>
                <a:tab pos="2194560" algn="l"/>
              </a:tabLst>
            </a:pPr>
            <a:r>
              <a:rPr sz="2600" b="0">
                <a:latin typeface="Cambria"/>
              </a:rPr>
              <a:t>A OR B	=  ( NOT A ) NAND ( NOT B )</a:t>
            </a:r>
          </a:p>
          <a:p>
            <a:pPr>
              <a:tabLst>
                <a:tab pos="2194560" algn="l"/>
              </a:tabLst>
            </a:pPr>
            <a:r>
              <a:rPr sz="2600">
                <a:latin typeface="Cambria"/>
              </a:rPr>
              <a:t> </a:t>
            </a:r>
          </a:p>
          <a:p>
            <a:pPr>
              <a:tabLst>
                <a:tab pos="2194560" algn="l"/>
              </a:tabLst>
            </a:pPr>
            <a:r>
              <a:rPr sz="2600" b="0">
                <a:latin typeface="Cambria"/>
              </a:rPr>
              <a:t>NAND is </a:t>
            </a:r>
            <a:r>
              <a:rPr sz="2600" b="1">
                <a:latin typeface="Cambria"/>
              </a:rPr>
              <a:t>universal</a:t>
            </a:r>
          </a:p>
          <a:p>
            <a:pPr>
              <a:tabLst>
                <a:tab pos="2194560" algn="l"/>
              </a:tabLst>
            </a:pPr>
            <a:r>
              <a:rPr sz="2600">
                <a:latin typeface="Cambria"/>
              </a:rPr>
              <a:t> </a:t>
            </a:r>
          </a:p>
          <a:p>
            <a:pPr>
              <a:tabLst>
                <a:tab pos="2194560" algn="l"/>
              </a:tabLst>
            </a:pPr>
            <a:r>
              <a:rPr sz="2600" b="0">
                <a:latin typeface="Cambria"/>
              </a:rPr>
              <a:t>A whole computer can be built from one kind of gate</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De Morgan's Laws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2834640" algn="l"/>
                <a:tab pos="3657600" algn="l"/>
              </a:tabLst>
            </a:pPr>
            <a:r>
              <a:rPr sz="2400" b="0">
                <a:latin typeface="Cambria"/>
              </a:rPr>
              <a:t>NOT ( A AND B )  =  ( NOT A )  OR  ( NOT B )</a:t>
            </a:r>
          </a:p>
          <a:p>
            <a:pPr>
              <a:tabLst>
                <a:tab pos="548640" algn="l"/>
                <a:tab pos="2834640" algn="l"/>
                <a:tab pos="3657600" algn="l"/>
              </a:tabLst>
            </a:pPr>
            <a:r>
              <a:rPr sz="2400" b="0">
                <a:latin typeface="Cambria"/>
              </a:rPr>
              <a:t>NOT ( A OR B )   =  ( NOT A )  AND  ( NOT B )</a:t>
            </a:r>
          </a:p>
          <a:p>
            <a:pPr>
              <a:tabLst>
                <a:tab pos="548640" algn="l"/>
                <a:tab pos="2834640" algn="l"/>
                <a:tab pos="3657600" algn="l"/>
              </a:tabLst>
            </a:pPr>
            <a:r>
              <a:rPr sz="2400">
                <a:latin typeface="Cambria"/>
              </a:rPr>
              <a:t> </a:t>
            </a:r>
          </a:p>
          <a:p>
            <a:pPr>
              <a:tabLst>
                <a:tab pos="548640" algn="l"/>
                <a:tab pos="2834640" algn="l"/>
                <a:tab pos="3657600" algn="l"/>
              </a:tabLst>
            </a:pPr>
            <a:r>
              <a:rPr sz="2400" b="0">
                <a:latin typeface="Cambria"/>
              </a:rPr>
              <a:t>In code:</a:t>
            </a:r>
          </a:p>
          <a:p>
            <a:pPr>
              <a:tabLst>
                <a:tab pos="548640" algn="l"/>
                <a:tab pos="2834640" algn="l"/>
                <a:tab pos="3657600" algn="l"/>
              </a:tabLst>
            </a:pPr>
            <a:r>
              <a:rPr sz="2400" b="0">
                <a:latin typeface="Cambria"/>
              </a:rPr>
              <a:t>	!(a &amp;&amp; b)	==	!a || !b</a:t>
            </a:r>
          </a:p>
          <a:p>
            <a:pPr>
              <a:tabLst>
                <a:tab pos="548640" algn="l"/>
                <a:tab pos="2834640" algn="l"/>
                <a:tab pos="3657600" algn="l"/>
              </a:tabLst>
            </a:pPr>
            <a:r>
              <a:rPr sz="2400" b="0">
                <a:latin typeface="Cambria"/>
              </a:rPr>
              <a:t>	!(a || b)	==	!a &amp;&amp; !b</a:t>
            </a:r>
          </a:p>
          <a:p>
            <a:pPr>
              <a:tabLst>
                <a:tab pos="548640" algn="l"/>
                <a:tab pos="2834640" algn="l"/>
                <a:tab pos="3657600" algn="l"/>
              </a:tabLst>
            </a:pPr>
            <a:r>
              <a:rPr sz="2400">
                <a:latin typeface="Cambria"/>
              </a:rPr>
              <a:t> </a:t>
            </a:r>
          </a:p>
          <a:p>
            <a:pPr>
              <a:tabLst>
                <a:tab pos="548640" algn="l"/>
                <a:tab pos="2834640" algn="l"/>
                <a:tab pos="3657600" algn="l"/>
              </a:tabLst>
            </a:pPr>
            <a:r>
              <a:rPr sz="2400" b="0">
                <a:latin typeface="Cambria"/>
              </a:rPr>
              <a:t>Flip every operator and negate every term</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Bitwise Operators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914400" algn="l"/>
                <a:tab pos="3017520" algn="l"/>
              </a:tabLst>
            </a:pPr>
            <a:r>
              <a:rPr sz="2600" b="0">
                <a:latin typeface="Cambria"/>
              </a:rPr>
              <a:t>&amp;	AND	all three</a:t>
            </a:r>
          </a:p>
          <a:p>
            <a:pPr>
              <a:tabLst>
                <a:tab pos="914400" algn="l"/>
                <a:tab pos="3017520" algn="l"/>
              </a:tabLst>
            </a:pPr>
            <a:r>
              <a:rPr sz="2600" b="0">
                <a:latin typeface="Cambria"/>
              </a:rPr>
              <a:t>|	OR	all three</a:t>
            </a:r>
          </a:p>
          <a:p>
            <a:pPr>
              <a:tabLst>
                <a:tab pos="914400" algn="l"/>
                <a:tab pos="3017520" algn="l"/>
              </a:tabLst>
            </a:pPr>
            <a:r>
              <a:rPr sz="2600" b="0">
                <a:latin typeface="Cambria"/>
              </a:rPr>
              <a:t>^	XOR	all three</a:t>
            </a:r>
          </a:p>
          <a:p>
            <a:pPr>
              <a:tabLst>
                <a:tab pos="914400" algn="l"/>
                <a:tab pos="3017520" algn="l"/>
              </a:tabLst>
            </a:pPr>
            <a:r>
              <a:rPr sz="2600" b="0">
                <a:latin typeface="Cambria"/>
              </a:rPr>
              <a:t>~	NOT	C, C++</a:t>
            </a:r>
          </a:p>
          <a:p>
            <a:pPr>
              <a:tabLst>
                <a:tab pos="914400" algn="l"/>
                <a:tab pos="3017520" algn="l"/>
              </a:tabLst>
            </a:pPr>
            <a:r>
              <a:rPr sz="2600" b="0">
                <a:latin typeface="Cambria"/>
              </a:rPr>
              <a:t>!	NOT	Rust</a:t>
            </a:r>
          </a:p>
          <a:p>
            <a:pPr>
              <a:tabLst>
                <a:tab pos="914400" algn="l"/>
                <a:tab pos="3017520" algn="l"/>
              </a:tabLst>
            </a:pPr>
            <a:r>
              <a:rPr sz="2600" b="0">
                <a:latin typeface="Cambria"/>
              </a:rPr>
              <a:t>&lt;&lt;	shift left	all three</a:t>
            </a:r>
          </a:p>
          <a:p>
            <a:pPr>
              <a:tabLst>
                <a:tab pos="914400" algn="l"/>
                <a:tab pos="3017520" algn="l"/>
              </a:tabLst>
            </a:pPr>
            <a:r>
              <a:rPr sz="2600" b="0">
                <a:latin typeface="Cambria"/>
              </a:rPr>
              <a:t>&gt;&gt;	shift right	all three</a:t>
            </a:r>
          </a:p>
          <a:p>
            <a:pPr>
              <a:tabLst>
                <a:tab pos="914400" algn="l"/>
                <a:tab pos="3017520" algn="l"/>
              </a:tabLst>
            </a:pPr>
            <a:r>
              <a:rPr sz="2600">
                <a:latin typeface="Cambria"/>
              </a:rPr>
              <a:t> </a:t>
            </a:r>
          </a:p>
          <a:p>
            <a:pPr>
              <a:tabLst>
                <a:tab pos="914400" algn="l"/>
                <a:tab pos="3017520" algn="l"/>
              </a:tabLst>
            </a:pPr>
            <a:r>
              <a:rPr sz="2600" b="0">
                <a:latin typeface="Cambria"/>
              </a:rPr>
              <a:t>Each bit column is computed </a:t>
            </a:r>
            <a:r>
              <a:rPr sz="2600" b="1">
                <a:latin typeface="Cambria"/>
              </a:rPr>
              <a:t>independently</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Bitwise AND</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Each column is one row of the AND truth table</a:t>
            </a:r>
          </a:p>
          <a:p>
            <a:r>
              <a:rPr sz="2400" b="0">
                <a:latin typeface="Cambria"/>
              </a:rPr>
              <a:t>Result bit is 1 only where </a:t>
            </a:r>
            <a:r>
              <a:rPr sz="2400" b="1">
                <a:latin typeface="Cambria"/>
              </a:rPr>
              <a:t>both</a:t>
            </a:r>
            <a:r>
              <a:rPr sz="2400" b="0">
                <a:latin typeface="Cambria"/>
              </a:rPr>
              <a:t> bits are 1</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0xCA  =  202</a:t>
            </a:r>
          </a:p>
        </p:txBody>
      </p:sp>
      <p:sp>
        <p:nvSpPr>
          <p:cNvPr id="407" name="TextBox 406"/>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b</a:t>
            </a:r>
          </a:p>
        </p:txBody>
      </p:sp>
      <p:sp>
        <p:nvSpPr>
          <p:cNvPr id="408" name="Rectangle 407"/>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9" name="Rectangle 408"/>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0" name="Rectangle 409"/>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1" name="Rectangle 410"/>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2" name="Rectangle 411"/>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3" name="Rectangle 412"/>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4" name="Rectangle 413"/>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5" name="Rectangle 414"/>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6" name="TextBox 415"/>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0xF0  =  240</a:t>
            </a:r>
          </a:p>
        </p:txBody>
      </p:sp>
      <p:cxnSp>
        <p:nvCxnSpPr>
          <p:cNvPr id="417" name="Connector 416"/>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8" name="TextBox 417"/>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a &amp; b</a:t>
            </a:r>
          </a:p>
        </p:txBody>
      </p:sp>
      <p:sp>
        <p:nvSpPr>
          <p:cNvPr id="419" name="Rectangle 418"/>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0" name="Rectangle 419"/>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1" name="Rectangle 420"/>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2" name="Rectangle 421"/>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3" name="Rectangle 422"/>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4" name="Rectangle 423"/>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6" name="Rectangle 425"/>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7" name="TextBox 426"/>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0xC0  =  192</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Bitwise 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Each column is one row of the OR truth table</a:t>
            </a:r>
          </a:p>
          <a:p>
            <a:r>
              <a:rPr sz="2400" b="0">
                <a:latin typeface="Cambria"/>
              </a:rPr>
              <a:t>Result bit is 1 where </a:t>
            </a:r>
            <a:r>
              <a:rPr sz="2400" b="1">
                <a:latin typeface="Cambria"/>
              </a:rPr>
              <a:t>either</a:t>
            </a:r>
            <a:r>
              <a:rPr sz="2400" b="0">
                <a:latin typeface="Cambria"/>
              </a:rPr>
              <a:t> bit is 1</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0xCA  =  202</a:t>
            </a:r>
          </a:p>
        </p:txBody>
      </p:sp>
      <p:sp>
        <p:nvSpPr>
          <p:cNvPr id="407" name="TextBox 406"/>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b</a:t>
            </a:r>
          </a:p>
        </p:txBody>
      </p:sp>
      <p:sp>
        <p:nvSpPr>
          <p:cNvPr id="408" name="Rectangle 407"/>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9" name="Rectangle 408"/>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0" name="Rectangle 409"/>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1" name="Rectangle 410"/>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2" name="Rectangle 411"/>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3" name="Rectangle 412"/>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4" name="Rectangle 413"/>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5" name="Rectangle 414"/>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6" name="TextBox 415"/>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0xF0  =  240</a:t>
            </a:r>
          </a:p>
        </p:txBody>
      </p:sp>
      <p:cxnSp>
        <p:nvCxnSpPr>
          <p:cNvPr id="417" name="Connector 416"/>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8" name="TextBox 417"/>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a | b</a:t>
            </a:r>
          </a:p>
        </p:txBody>
      </p:sp>
      <p:sp>
        <p:nvSpPr>
          <p:cNvPr id="419" name="Rectangle 418"/>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0" name="Rectangle 419"/>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1" name="Rectangle 420"/>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2" name="Rectangle 421"/>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3" name="Rectangle 422"/>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4" name="Rectangle 423"/>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6" name="Rectangle 425"/>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7" name="TextBox 426"/>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0xFA  =  250</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Bitwise XOR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Each column is one row of the XOR truth table</a:t>
            </a:r>
          </a:p>
          <a:p>
            <a:r>
              <a:rPr sz="2400" b="0">
                <a:latin typeface="Cambria"/>
              </a:rPr>
              <a:t>Result bit is 1 where the bits </a:t>
            </a:r>
            <a:r>
              <a:rPr sz="2400" b="1">
                <a:latin typeface="Cambria"/>
              </a:rPr>
              <a:t>differ</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0xCA  =  202</a:t>
            </a:r>
          </a:p>
        </p:txBody>
      </p:sp>
      <p:sp>
        <p:nvSpPr>
          <p:cNvPr id="407" name="TextBox 406"/>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b</a:t>
            </a:r>
          </a:p>
        </p:txBody>
      </p:sp>
      <p:sp>
        <p:nvSpPr>
          <p:cNvPr id="408" name="Rectangle 407"/>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9" name="Rectangle 408"/>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0" name="Rectangle 409"/>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1" name="Rectangle 410"/>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2" name="Rectangle 411"/>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3" name="Rectangle 412"/>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4" name="Rectangle 413"/>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5" name="Rectangle 414"/>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6" name="TextBox 415"/>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0xF0  =  240</a:t>
            </a:r>
          </a:p>
        </p:txBody>
      </p:sp>
      <p:cxnSp>
        <p:nvCxnSpPr>
          <p:cNvPr id="417" name="Connector 416"/>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8" name="TextBox 417"/>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a ^ b</a:t>
            </a:r>
          </a:p>
        </p:txBody>
      </p:sp>
      <p:sp>
        <p:nvSpPr>
          <p:cNvPr id="419" name="Rectangle 418"/>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0" name="Rectangle 419"/>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1" name="Rectangle 420"/>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2" name="Rectangle 421"/>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3" name="Rectangle 422"/>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4" name="Rectangle 423"/>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6" name="Rectangle 425"/>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7" name="TextBox 426"/>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0x3A  =  58</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Bitwise NOT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Every bit flips</a:t>
            </a:r>
          </a:p>
          <a:p>
            <a:r>
              <a:rPr sz="2400" b="0">
                <a:latin typeface="Cambria"/>
              </a:rPr>
              <a:t>~a  in C and C++,   !a  in Rust</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0xCA  =  202</a:t>
            </a:r>
          </a:p>
        </p:txBody>
      </p:sp>
      <p:cxnSp>
        <p:nvCxnSpPr>
          <p:cNvPr id="407" name="Connector 406"/>
          <p:cNvCxnSpPr/>
          <p:nvPr/>
        </p:nvCxnSpPr>
        <p:spPr>
          <a:xfrm>
            <a:off x="2743200" y="4617720"/>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a:off x="502920" y="4818887"/>
            <a:ext cx="2103120" cy="310896"/>
          </a:xfrm>
          <a:prstGeom prst="rect">
            <a:avLst/>
          </a:prstGeom>
          <a:noFill/>
        </p:spPr>
        <p:txBody>
          <a:bodyPr wrap="square" lIns="0" tIns="0" rIns="0" bIns="0">
            <a:spAutoFit/>
          </a:bodyPr>
          <a:lstStyle/>
          <a:p>
            <a:pPr algn="r"/>
            <a:r>
              <a:rPr sz="1700" b="1" i="0">
                <a:solidFill>
                  <a:srgbClr val="000000"/>
                </a:solidFill>
                <a:latin typeface="Cambria"/>
              </a:rPr>
              <a:t>~a</a:t>
            </a:r>
          </a:p>
        </p:txBody>
      </p:sp>
      <p:sp>
        <p:nvSpPr>
          <p:cNvPr id="409" name="Rectangle 408"/>
          <p:cNvSpPr/>
          <p:nvPr/>
        </p:nvSpPr>
        <p:spPr>
          <a:xfrm>
            <a:off x="278892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0" name="Rectangle 409"/>
          <p:cNvSpPr/>
          <p:nvPr/>
        </p:nvSpPr>
        <p:spPr>
          <a:xfrm>
            <a:off x="330098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1" name="Rectangle 410"/>
          <p:cNvSpPr/>
          <p:nvPr/>
        </p:nvSpPr>
        <p:spPr>
          <a:xfrm>
            <a:off x="381304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2" name="Rectangle 411"/>
          <p:cNvSpPr/>
          <p:nvPr/>
        </p:nvSpPr>
        <p:spPr>
          <a:xfrm>
            <a:off x="4325112"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3" name="Rectangle 412"/>
          <p:cNvSpPr/>
          <p:nvPr/>
        </p:nvSpPr>
        <p:spPr>
          <a:xfrm>
            <a:off x="4837176"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4" name="Rectangle 413"/>
          <p:cNvSpPr/>
          <p:nvPr/>
        </p:nvSpPr>
        <p:spPr>
          <a:xfrm>
            <a:off x="534924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5" name="Rectangle 414"/>
          <p:cNvSpPr/>
          <p:nvPr/>
        </p:nvSpPr>
        <p:spPr>
          <a:xfrm>
            <a:off x="586130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6" name="Rectangle 415"/>
          <p:cNvSpPr/>
          <p:nvPr/>
        </p:nvSpPr>
        <p:spPr>
          <a:xfrm>
            <a:off x="637336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7" name="TextBox 416"/>
          <p:cNvSpPr txBox="1"/>
          <p:nvPr/>
        </p:nvSpPr>
        <p:spPr>
          <a:xfrm>
            <a:off x="7114032" y="4828031"/>
            <a:ext cx="2377440" cy="310896"/>
          </a:xfrm>
          <a:prstGeom prst="rect">
            <a:avLst/>
          </a:prstGeom>
          <a:noFill/>
        </p:spPr>
        <p:txBody>
          <a:bodyPr wrap="square" lIns="0" tIns="0" rIns="0" bIns="0">
            <a:spAutoFit/>
          </a:bodyPr>
          <a:lstStyle/>
          <a:p>
            <a:pPr algn="l"/>
            <a:r>
              <a:rPr sz="1500" b="0" i="0">
                <a:solidFill>
                  <a:srgbClr val="000000"/>
                </a:solidFill>
                <a:latin typeface="Cambria"/>
              </a:rPr>
              <a:t>0x35  =  53</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&amp; is not &amp;&amp;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280160" algn="l"/>
                <a:tab pos="2560320" algn="l"/>
                <a:tab pos="3566160" algn="l"/>
              </a:tabLst>
            </a:pPr>
            <a:r>
              <a:rPr sz="2400" b="0">
                <a:latin typeface="Cambria"/>
              </a:rPr>
              <a:t>C:	1 &amp; 2	=  0	bitwise:  01 &amp; 10 = 00</a:t>
            </a:r>
          </a:p>
          <a:p>
            <a:pPr>
              <a:tabLst>
                <a:tab pos="1280160" algn="l"/>
                <a:tab pos="2560320" algn="l"/>
                <a:tab pos="3566160" algn="l"/>
              </a:tabLst>
            </a:pPr>
            <a:r>
              <a:rPr sz="2400" b="0">
                <a:latin typeface="Cambria"/>
              </a:rPr>
              <a:t>	1 &amp;&amp; 2	=  1	both are non-zero</a:t>
            </a:r>
          </a:p>
          <a:p>
            <a:pPr>
              <a:tabLst>
                <a:tab pos="1280160" algn="l"/>
                <a:tab pos="2560320" algn="l"/>
                <a:tab pos="3566160" algn="l"/>
              </a:tabLst>
            </a:pPr>
            <a:r>
              <a:rPr sz="2400">
                <a:latin typeface="Cambria"/>
              </a:rPr>
              <a:t> </a:t>
            </a:r>
          </a:p>
          <a:p>
            <a:pPr>
              <a:tabLst>
                <a:tab pos="1280160" algn="l"/>
                <a:tab pos="2560320" algn="l"/>
                <a:tab pos="3566160" algn="l"/>
              </a:tabLst>
            </a:pPr>
            <a:r>
              <a:rPr sz="2400" b="0">
                <a:latin typeface="Cambria"/>
              </a:rPr>
              <a:t>Rust:	1 &amp; 2	=  0</a:t>
            </a:r>
          </a:p>
          <a:p>
            <a:pPr>
              <a:tabLst>
                <a:tab pos="1280160" algn="l"/>
                <a:tab pos="2560320" algn="l"/>
                <a:tab pos="3566160" algn="l"/>
              </a:tabLst>
            </a:pPr>
            <a:r>
              <a:rPr sz="2400" b="0">
                <a:latin typeface="Cambria"/>
              </a:rPr>
              <a:t>	1 &amp;&amp; 2	</a:t>
            </a:r>
            <a:r>
              <a:rPr sz="2400" b="1">
                <a:latin typeface="Cambria"/>
              </a:rPr>
              <a:t>compile error</a:t>
            </a:r>
            <a:r>
              <a:rPr sz="2400" b="0">
                <a:latin typeface="Cambria"/>
              </a:rPr>
              <a:t> - not bool</a:t>
            </a:r>
          </a:p>
          <a:p>
            <a:pPr>
              <a:tabLst>
                <a:tab pos="1280160" algn="l"/>
                <a:tab pos="2560320" algn="l"/>
                <a:tab pos="3566160" algn="l"/>
              </a:tabLst>
            </a:pPr>
            <a:r>
              <a:rPr sz="2400">
                <a:latin typeface="Cambria"/>
              </a:rPr>
              <a:t> </a:t>
            </a:r>
          </a:p>
          <a:p>
            <a:pPr>
              <a:tabLst>
                <a:tab pos="1280160" algn="l"/>
                <a:tab pos="2560320" algn="l"/>
                <a:tab pos="3566160" algn="l"/>
              </a:tabLst>
            </a:pPr>
            <a:r>
              <a:rPr sz="2400" b="0">
                <a:latin typeface="Cambria"/>
              </a:rPr>
              <a:t>if ( a &amp; b )  is a different test than  if ( a &amp;&amp; b )</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Shift Left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Every bit moves one place left;  a 0 enters on the right</a:t>
            </a:r>
          </a:p>
          <a:p>
            <a:r>
              <a:rPr sz="2400" b="0">
                <a:latin typeface="Cambria"/>
              </a:rPr>
              <a:t>x &lt;&lt; n  multiplies by 2 to the n</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202</a:t>
            </a:r>
          </a:p>
        </p:txBody>
      </p:sp>
      <p:cxnSp>
        <p:nvCxnSpPr>
          <p:cNvPr id="407" name="Connector 406"/>
          <p:cNvCxnSpPr/>
          <p:nvPr/>
        </p:nvCxnSpPr>
        <p:spPr>
          <a:xfrm>
            <a:off x="2743200" y="4617720"/>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a:off x="502920" y="4818887"/>
            <a:ext cx="2103120" cy="310896"/>
          </a:xfrm>
          <a:prstGeom prst="rect">
            <a:avLst/>
          </a:prstGeom>
          <a:noFill/>
        </p:spPr>
        <p:txBody>
          <a:bodyPr wrap="square" lIns="0" tIns="0" rIns="0" bIns="0">
            <a:spAutoFit/>
          </a:bodyPr>
          <a:lstStyle/>
          <a:p>
            <a:pPr algn="r"/>
            <a:r>
              <a:rPr sz="1700" b="1" i="0">
                <a:solidFill>
                  <a:srgbClr val="000000"/>
                </a:solidFill>
                <a:latin typeface="Cambria"/>
              </a:rPr>
              <a:t>a &lt;&lt; 1</a:t>
            </a:r>
          </a:p>
        </p:txBody>
      </p:sp>
      <p:sp>
        <p:nvSpPr>
          <p:cNvPr id="409" name="Rectangle 408"/>
          <p:cNvSpPr/>
          <p:nvPr/>
        </p:nvSpPr>
        <p:spPr>
          <a:xfrm>
            <a:off x="278892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0" name="Rectangle 409"/>
          <p:cNvSpPr/>
          <p:nvPr/>
        </p:nvSpPr>
        <p:spPr>
          <a:xfrm>
            <a:off x="330098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1" name="Rectangle 410"/>
          <p:cNvSpPr/>
          <p:nvPr/>
        </p:nvSpPr>
        <p:spPr>
          <a:xfrm>
            <a:off x="381304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2" name="Rectangle 411"/>
          <p:cNvSpPr/>
          <p:nvPr/>
        </p:nvSpPr>
        <p:spPr>
          <a:xfrm>
            <a:off x="4325112"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3" name="Rectangle 412"/>
          <p:cNvSpPr/>
          <p:nvPr/>
        </p:nvSpPr>
        <p:spPr>
          <a:xfrm>
            <a:off x="4837176"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4" name="Rectangle 413"/>
          <p:cNvSpPr/>
          <p:nvPr/>
        </p:nvSpPr>
        <p:spPr>
          <a:xfrm>
            <a:off x="534924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5" name="Rectangle 414"/>
          <p:cNvSpPr/>
          <p:nvPr/>
        </p:nvSpPr>
        <p:spPr>
          <a:xfrm>
            <a:off x="586130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6" name="Rectangle 415"/>
          <p:cNvSpPr/>
          <p:nvPr/>
        </p:nvSpPr>
        <p:spPr>
          <a:xfrm>
            <a:off x="637336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7" name="TextBox 416"/>
          <p:cNvSpPr txBox="1"/>
          <p:nvPr/>
        </p:nvSpPr>
        <p:spPr>
          <a:xfrm>
            <a:off x="7114032" y="4828031"/>
            <a:ext cx="2377440" cy="310896"/>
          </a:xfrm>
          <a:prstGeom prst="rect">
            <a:avLst/>
          </a:prstGeom>
          <a:noFill/>
        </p:spPr>
        <p:txBody>
          <a:bodyPr wrap="square" lIns="0" tIns="0" rIns="0" bIns="0">
            <a:spAutoFit/>
          </a:bodyPr>
          <a:lstStyle/>
          <a:p>
            <a:pPr algn="l"/>
            <a:r>
              <a:rPr sz="1500" b="0" i="0">
                <a:solidFill>
                  <a:srgbClr val="000000"/>
                </a:solidFill>
                <a:latin typeface="Cambria"/>
              </a:rPr>
              <a:t>148  (bit 7 fell off)</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Shift Right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r>
              <a:rPr sz="2400" b="0">
                <a:latin typeface="Cambria"/>
              </a:rPr>
              <a:t>Every bit moves one place right;  bit 0 falls off</a:t>
            </a:r>
          </a:p>
          <a:p>
            <a:r>
              <a:rPr sz="2400" b="0">
                <a:latin typeface="Cambria"/>
              </a:rPr>
              <a:t>x &gt;&gt; n  divides by 2 to the n</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a</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6" name="TextBox 405"/>
          <p:cNvSpPr txBox="1"/>
          <p:nvPr/>
        </p:nvSpPr>
        <p:spPr>
          <a:xfrm>
            <a:off x="7114032" y="4078224"/>
            <a:ext cx="2377440" cy="310896"/>
          </a:xfrm>
          <a:prstGeom prst="rect">
            <a:avLst/>
          </a:prstGeom>
          <a:noFill/>
        </p:spPr>
        <p:txBody>
          <a:bodyPr wrap="square" lIns="0" tIns="0" rIns="0" bIns="0">
            <a:spAutoFit/>
          </a:bodyPr>
          <a:lstStyle/>
          <a:p>
            <a:pPr algn="l"/>
            <a:r>
              <a:rPr sz="1500" b="0" i="0">
                <a:solidFill>
                  <a:srgbClr val="000000"/>
                </a:solidFill>
                <a:latin typeface="Cambria"/>
              </a:rPr>
              <a:t>202</a:t>
            </a:r>
          </a:p>
        </p:txBody>
      </p:sp>
      <p:cxnSp>
        <p:nvCxnSpPr>
          <p:cNvPr id="407" name="Connector 406"/>
          <p:cNvCxnSpPr/>
          <p:nvPr/>
        </p:nvCxnSpPr>
        <p:spPr>
          <a:xfrm>
            <a:off x="2743200" y="4617720"/>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a:off x="502920" y="4818887"/>
            <a:ext cx="2103120" cy="310896"/>
          </a:xfrm>
          <a:prstGeom prst="rect">
            <a:avLst/>
          </a:prstGeom>
          <a:noFill/>
        </p:spPr>
        <p:txBody>
          <a:bodyPr wrap="square" lIns="0" tIns="0" rIns="0" bIns="0">
            <a:spAutoFit/>
          </a:bodyPr>
          <a:lstStyle/>
          <a:p>
            <a:pPr algn="r"/>
            <a:r>
              <a:rPr sz="1700" b="1" i="0">
                <a:solidFill>
                  <a:srgbClr val="000000"/>
                </a:solidFill>
                <a:latin typeface="Cambria"/>
              </a:rPr>
              <a:t>a &gt;&gt; 1</a:t>
            </a:r>
          </a:p>
        </p:txBody>
      </p:sp>
      <p:sp>
        <p:nvSpPr>
          <p:cNvPr id="409" name="Rectangle 408"/>
          <p:cNvSpPr/>
          <p:nvPr/>
        </p:nvSpPr>
        <p:spPr>
          <a:xfrm>
            <a:off x="278892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0" name="Rectangle 409"/>
          <p:cNvSpPr/>
          <p:nvPr/>
        </p:nvSpPr>
        <p:spPr>
          <a:xfrm>
            <a:off x="330098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1" name="Rectangle 410"/>
          <p:cNvSpPr/>
          <p:nvPr/>
        </p:nvSpPr>
        <p:spPr>
          <a:xfrm>
            <a:off x="381304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2" name="Rectangle 411"/>
          <p:cNvSpPr/>
          <p:nvPr/>
        </p:nvSpPr>
        <p:spPr>
          <a:xfrm>
            <a:off x="4325112"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3" name="Rectangle 412"/>
          <p:cNvSpPr/>
          <p:nvPr/>
        </p:nvSpPr>
        <p:spPr>
          <a:xfrm>
            <a:off x="4837176"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4" name="Rectangle 413"/>
          <p:cNvSpPr/>
          <p:nvPr/>
        </p:nvSpPr>
        <p:spPr>
          <a:xfrm>
            <a:off x="5349240"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5" name="Rectangle 414"/>
          <p:cNvSpPr/>
          <p:nvPr/>
        </p:nvSpPr>
        <p:spPr>
          <a:xfrm>
            <a:off x="5861304"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6" name="Rectangle 415"/>
          <p:cNvSpPr/>
          <p:nvPr/>
        </p:nvSpPr>
        <p:spPr>
          <a:xfrm>
            <a:off x="6373368" y="4727447"/>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17" name="TextBox 416"/>
          <p:cNvSpPr txBox="1"/>
          <p:nvPr/>
        </p:nvSpPr>
        <p:spPr>
          <a:xfrm>
            <a:off x="7114032" y="4828031"/>
            <a:ext cx="2377440" cy="310896"/>
          </a:xfrm>
          <a:prstGeom prst="rect">
            <a:avLst/>
          </a:prstGeom>
          <a:noFill/>
        </p:spPr>
        <p:txBody>
          <a:bodyPr wrap="square" lIns="0" tIns="0" rIns="0" bIns="0">
            <a:spAutoFit/>
          </a:bodyPr>
          <a:lstStyle/>
          <a:p>
            <a:pPr algn="l"/>
            <a:r>
              <a:rPr sz="1500" b="0" i="0">
                <a:solidFill>
                  <a:srgbClr val="000000"/>
                </a:solidFill>
                <a:latin typeface="Cambria"/>
              </a:rPr>
              <a:t>101</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Shifting Signed Values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834640" algn="l"/>
              </a:tabLst>
            </a:pPr>
            <a:r>
              <a:rPr sz="2400" b="0">
                <a:latin typeface="Cambria"/>
              </a:rPr>
              <a:t>Unsigned:	a </a:t>
            </a:r>
            <a:r>
              <a:rPr sz="2400" b="1">
                <a:latin typeface="Cambria"/>
              </a:rPr>
              <a:t>0</a:t>
            </a:r>
            <a:r>
              <a:rPr sz="2400" b="0">
                <a:latin typeface="Cambria"/>
              </a:rPr>
              <a:t> enters on the left  (logical)</a:t>
            </a:r>
          </a:p>
          <a:p>
            <a:pPr>
              <a:tabLst>
                <a:tab pos="2834640" algn="l"/>
              </a:tabLst>
            </a:pPr>
            <a:r>
              <a:rPr sz="2400">
                <a:latin typeface="Cambria"/>
              </a:rPr>
              <a:t> </a:t>
            </a:r>
          </a:p>
          <a:p>
            <a:pPr>
              <a:tabLst>
                <a:tab pos="2834640" algn="l"/>
              </a:tabLst>
            </a:pPr>
            <a:r>
              <a:rPr sz="2400" b="0">
                <a:latin typeface="Cambria"/>
              </a:rPr>
              <a:t>Signed:	the </a:t>
            </a:r>
            <a:r>
              <a:rPr sz="2400" b="1">
                <a:latin typeface="Cambria"/>
              </a:rPr>
              <a:t>sign bit</a:t>
            </a:r>
            <a:r>
              <a:rPr sz="2400" b="0">
                <a:latin typeface="Cambria"/>
              </a:rPr>
              <a:t> is copied  (arithmetic)</a:t>
            </a:r>
          </a:p>
          <a:p>
            <a:pPr>
              <a:tabLst>
                <a:tab pos="2834640" algn="l"/>
              </a:tabLst>
            </a:pPr>
            <a:r>
              <a:rPr sz="2400" b="0">
                <a:latin typeface="Cambria"/>
              </a:rPr>
              <a:t>	-8 &gt;&gt; 1  =  -4</a:t>
            </a:r>
          </a:p>
          <a:p>
            <a:pPr>
              <a:tabLst>
                <a:tab pos="2834640" algn="l"/>
              </a:tabLst>
            </a:pPr>
            <a:r>
              <a:rPr sz="2400">
                <a:latin typeface="Cambria"/>
              </a:rPr>
              <a:t> </a:t>
            </a:r>
          </a:p>
          <a:p>
            <a:pPr>
              <a:tabLst>
                <a:tab pos="2834640" algn="l"/>
              </a:tabLst>
            </a:pPr>
            <a:r>
              <a:rPr sz="2400" b="0">
                <a:latin typeface="Cambria"/>
              </a:rPr>
              <a:t>Rust, C++20:	guaranteed arithmetic</a:t>
            </a:r>
          </a:p>
          <a:p>
            <a:pPr>
              <a:tabLst>
                <a:tab pos="2834640" algn="l"/>
              </a:tabLst>
            </a:pPr>
            <a:r>
              <a:rPr sz="2400" b="0">
                <a:latin typeface="Cambria"/>
              </a:rPr>
              <a:t>C:	implementation defined</a:t>
            </a:r>
          </a:p>
          <a:p>
            <a:pPr>
              <a:tabLst>
                <a:tab pos="2834640" algn="l"/>
              </a:tabLst>
            </a:pPr>
            <a:r>
              <a:rPr sz="2400">
                <a:latin typeface="Cambria"/>
              </a:rPr>
              <a:t> </a:t>
            </a:r>
          </a:p>
          <a:p>
            <a:pPr>
              <a:tabLst>
                <a:tab pos="2834640" algn="l"/>
              </a:tabLst>
            </a:pPr>
            <a:r>
              <a:rPr sz="2400" b="0">
                <a:latin typeface="Cambria"/>
              </a:rPr>
              <a:t>Use unsigned types for bit work</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Shifting Too Far</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194560" algn="l"/>
              </a:tabLst>
            </a:pPr>
            <a:r>
              <a:rPr sz="2500" b="0">
                <a:latin typeface="Cambria"/>
              </a:rPr>
              <a:t>uint32_t  x = 1 ;</a:t>
            </a:r>
          </a:p>
          <a:p>
            <a:pPr>
              <a:tabLst>
                <a:tab pos="2194560" algn="l"/>
              </a:tabLst>
            </a:pPr>
            <a:r>
              <a:rPr sz="2500" b="0">
                <a:latin typeface="Cambria"/>
              </a:rPr>
              <a:t>x &lt;&lt; 32	??</a:t>
            </a:r>
          </a:p>
          <a:p>
            <a:pPr>
              <a:tabLst>
                <a:tab pos="2194560" algn="l"/>
              </a:tabLst>
            </a:pPr>
            <a:r>
              <a:rPr sz="2500">
                <a:latin typeface="Cambria"/>
              </a:rPr>
              <a:t> </a:t>
            </a:r>
          </a:p>
          <a:p>
            <a:pPr>
              <a:tabLst>
                <a:tab pos="2194560" algn="l"/>
              </a:tabLst>
            </a:pPr>
            <a:r>
              <a:rPr sz="2500" b="0">
                <a:latin typeface="Cambria"/>
              </a:rPr>
              <a:t>C, C++:	</a:t>
            </a:r>
            <a:r>
              <a:rPr sz="2500" b="1">
                <a:latin typeface="Cambria"/>
              </a:rPr>
              <a:t>undefined behavior</a:t>
            </a:r>
          </a:p>
          <a:p>
            <a:pPr>
              <a:tabLst>
                <a:tab pos="2194560" algn="l"/>
              </a:tabLst>
            </a:pPr>
            <a:r>
              <a:rPr sz="2500" b="0">
                <a:latin typeface="Cambria"/>
              </a:rPr>
              <a:t>Rust:	panics in a debug build</a:t>
            </a:r>
          </a:p>
          <a:p>
            <a:pPr>
              <a:tabLst>
                <a:tab pos="2194560" algn="l"/>
              </a:tabLst>
            </a:pPr>
            <a:r>
              <a:rPr sz="2500">
                <a:latin typeface="Cambria"/>
              </a:rPr>
              <a:t> </a:t>
            </a:r>
          </a:p>
          <a:p>
            <a:pPr>
              <a:tabLst>
                <a:tab pos="2194560" algn="l"/>
              </a:tabLst>
            </a:pPr>
            <a:r>
              <a:rPr sz="2500" b="0">
                <a:latin typeface="Cambria"/>
              </a:rPr>
              <a:t>Shift by less than the width of the type</a:t>
            </a:r>
          </a:p>
          <a:p>
            <a:pPr>
              <a:tabLst>
                <a:tab pos="2194560" algn="l"/>
              </a:tabLst>
            </a:pPr>
            <a:r>
              <a:rPr sz="2500" b="0">
                <a:latin typeface="Cambria"/>
              </a:rPr>
              <a:t>Use  1u &lt;&lt; n  in C - never  1 &lt;&lt; 31</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Bitwise Compound Assignment</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3108543"/>
          </a:xfrm>
          <a:prstGeom prst="rect">
            <a:avLst/>
          </a:prstGeom>
          <a:noFill/>
        </p:spPr>
        <p:txBody>
          <a:bodyPr wrap="square">
            <a:spAutoFit/>
          </a:bodyPr>
          <a:lstStyle/>
          <a:p>
            <a:pPr>
              <a:tabLst>
                <a:tab pos="2194560" algn="l"/>
              </a:tabLst>
            </a:pPr>
            <a:r>
              <a:rPr sz="2800" b="0" dirty="0">
                <a:latin typeface="Cambria"/>
              </a:rPr>
              <a:t>x &amp;= m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&amp; m</a:t>
            </a:r>
          </a:p>
          <a:p>
            <a:pPr>
              <a:tabLst>
                <a:tab pos="2194560" algn="l"/>
              </a:tabLst>
            </a:pPr>
            <a:r>
              <a:rPr sz="2800" b="0" dirty="0">
                <a:latin typeface="Cambria"/>
              </a:rPr>
              <a:t>x |= m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m</a:t>
            </a:r>
          </a:p>
          <a:p>
            <a:pPr>
              <a:tabLst>
                <a:tab pos="2194560" algn="l"/>
              </a:tabLst>
            </a:pPr>
            <a:r>
              <a:rPr sz="2800" b="0" dirty="0">
                <a:latin typeface="Cambria"/>
              </a:rPr>
              <a:t>x ^= m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 m</a:t>
            </a:r>
          </a:p>
          <a:p>
            <a:pPr>
              <a:tabLst>
                <a:tab pos="2194560" algn="l"/>
              </a:tabLst>
            </a:pPr>
            <a:r>
              <a:rPr sz="2800" b="0" dirty="0">
                <a:latin typeface="Cambria"/>
              </a:rPr>
              <a:t>x &lt;&lt;= n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&lt;&lt; n</a:t>
            </a:r>
          </a:p>
          <a:p>
            <a:pPr>
              <a:tabLst>
                <a:tab pos="2194560" algn="l"/>
              </a:tabLst>
            </a:pPr>
            <a:r>
              <a:rPr sz="2800" b="0" dirty="0">
                <a:latin typeface="Cambria"/>
              </a:rPr>
              <a:t>x &gt;&gt;= n ;	</a:t>
            </a:r>
            <a:r>
              <a:rPr lang="en-US" sz="2800" b="0" dirty="0" smtClean="0">
                <a:latin typeface="Cambria"/>
              </a:rPr>
              <a:t>(</a:t>
            </a:r>
            <a:r>
              <a:rPr sz="2800" b="0" dirty="0" smtClean="0">
                <a:latin typeface="Cambria"/>
              </a:rPr>
              <a:t>x</a:t>
            </a:r>
            <a:r>
              <a:rPr lang="en-US" sz="2800" b="0" dirty="0" smtClean="0">
                <a:latin typeface="Cambria"/>
              </a:rPr>
              <a:t>)</a:t>
            </a:r>
            <a:r>
              <a:rPr sz="2800" b="0" dirty="0" smtClean="0">
                <a:latin typeface="Cambria"/>
              </a:rPr>
              <a:t> </a:t>
            </a:r>
            <a:r>
              <a:rPr sz="2800" b="0" dirty="0">
                <a:latin typeface="Cambria"/>
              </a:rPr>
              <a:t>&lt;= ( x ) &gt;&gt; n</a:t>
            </a:r>
          </a:p>
          <a:p>
            <a:pPr>
              <a:tabLst>
                <a:tab pos="2194560" algn="l"/>
              </a:tabLst>
            </a:pPr>
            <a:r>
              <a:rPr sz="2800" dirty="0">
                <a:latin typeface="Cambria"/>
              </a:rPr>
              <a:t> </a:t>
            </a:r>
          </a:p>
          <a:p>
            <a:pPr>
              <a:tabLst>
                <a:tab pos="2194560" algn="l"/>
              </a:tabLst>
            </a:pPr>
            <a:r>
              <a:rPr sz="2800" b="0" dirty="0">
                <a:latin typeface="Cambria"/>
              </a:rPr>
              <a:t>Same in C, C++, and Rust</a:t>
            </a: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Masks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1188720" algn="l"/>
              </a:tabLst>
            </a:pPr>
            <a:r>
              <a:rPr sz="2300" b="0">
                <a:latin typeface="Cambria"/>
              </a:rPr>
              <a:t>A </a:t>
            </a:r>
            <a:r>
              <a:rPr sz="2300" b="1">
                <a:latin typeface="Cambria"/>
              </a:rPr>
              <a:t>mask</a:t>
            </a:r>
            <a:r>
              <a:rPr sz="2300" b="0">
                <a:latin typeface="Cambria"/>
              </a:rPr>
              <a:t> is a constant that selects bits</a:t>
            </a:r>
          </a:p>
          <a:p>
            <a:pPr>
              <a:tabLst>
                <a:tab pos="1188720" algn="l"/>
              </a:tabLst>
            </a:pPr>
            <a:r>
              <a:rPr sz="2300">
                <a:latin typeface="Cambria"/>
              </a:rPr>
              <a:t> </a:t>
            </a:r>
          </a:p>
          <a:p>
            <a:pPr>
              <a:tabLst>
                <a:tab pos="1188720" algn="l"/>
              </a:tabLst>
            </a:pPr>
            <a:r>
              <a:rPr sz="2300" b="0">
                <a:latin typeface="Cambria"/>
              </a:rPr>
              <a:t>C:	#define  ENABLE_BIT  ( 1u &lt;&lt; 7 )</a:t>
            </a:r>
          </a:p>
          <a:p>
            <a:pPr>
              <a:tabLst>
                <a:tab pos="1188720" algn="l"/>
              </a:tabLst>
            </a:pPr>
            <a:r>
              <a:rPr sz="2300" b="0">
                <a:latin typeface="Cambria"/>
              </a:rPr>
              <a:t>C++:	constexpr uint8_t ENABLE_BIT = 1u &lt;&lt; 7 ;</a:t>
            </a:r>
          </a:p>
          <a:p>
            <a:pPr>
              <a:tabLst>
                <a:tab pos="1188720" algn="l"/>
              </a:tabLst>
            </a:pPr>
            <a:r>
              <a:rPr sz="2300" b="0">
                <a:latin typeface="Cambria"/>
              </a:rPr>
              <a:t>Rust:	const ENABLE_BIT : u8 = 1 &lt;&lt; 7 ;</a:t>
            </a:r>
          </a:p>
          <a:p>
            <a:pPr>
              <a:tabLst>
                <a:tab pos="1188720" algn="l"/>
              </a:tabLst>
            </a:pPr>
            <a:r>
              <a:rPr sz="2300">
                <a:latin typeface="Cambria"/>
              </a:rPr>
              <a:t> </a:t>
            </a:r>
          </a:p>
          <a:p>
            <a:pPr>
              <a:tabLst>
                <a:tab pos="1188720" algn="l"/>
              </a:tabLst>
            </a:pPr>
            <a:r>
              <a:rPr sz="2300" b="0">
                <a:latin typeface="Cambria"/>
              </a:rPr>
              <a:t>Constants are </a:t>
            </a:r>
            <a:r>
              <a:rPr sz="2300" b="1">
                <a:latin typeface="Cambria"/>
              </a:rPr>
              <a:t>SCREAMING_SNAKE_CASE</a:t>
            </a:r>
          </a:p>
          <a:p>
            <a:pPr>
              <a:tabLst>
                <a:tab pos="1188720" algn="l"/>
              </a:tabLst>
            </a:pPr>
            <a:r>
              <a:rPr sz="2300" b="0">
                <a:latin typeface="Cambria"/>
              </a:rPr>
              <a:t>in all three languages</a:t>
            </a: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Set a Bit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pPr>
              <a:tabLst>
                <a:tab pos="3657600" algn="l"/>
              </a:tabLst>
            </a:pPr>
            <a:r>
              <a:rPr sz="2400" b="0">
                <a:latin typeface="Cambria"/>
              </a:rPr>
              <a:t>x |= ( 1u &lt;&lt; 3 ) ;	OR forces bit 3 to 1</a:t>
            </a:r>
          </a:p>
          <a:p>
            <a:pPr>
              <a:tabLst>
                <a:tab pos="3657600" algn="l"/>
              </a:tabLst>
            </a:pPr>
            <a:r>
              <a:rPr sz="2400" b="0">
                <a:latin typeface="Cambria"/>
              </a:rPr>
              <a:t>Every other bit is unchanged</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x</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6" name="TextBox 405"/>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1 &lt;&lt; 3</a:t>
            </a:r>
          </a:p>
        </p:txBody>
      </p:sp>
      <p:sp>
        <p:nvSpPr>
          <p:cNvPr id="407" name="Rectangle 406"/>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8" name="Rectangle 407"/>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9" name="Rectangle 408"/>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0" name="Rectangle 409"/>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1" name="Rectangle 410"/>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2" name="Rectangle 411"/>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3" name="Rectangle 412"/>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4" name="Rectangle 413"/>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5" name="TextBox 414"/>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mask</a:t>
            </a:r>
          </a:p>
        </p:txBody>
      </p:sp>
      <p:cxnSp>
        <p:nvCxnSpPr>
          <p:cNvPr id="416" name="Connector 415"/>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x | mask</a:t>
            </a:r>
          </a:p>
        </p:txBody>
      </p:sp>
      <p:sp>
        <p:nvSpPr>
          <p:cNvPr id="418" name="Rectangle 417"/>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9" name="Rectangle 418"/>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0" name="Rectangle 419"/>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1" name="Rectangle 420"/>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2" name="Rectangle 421"/>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3" name="Rectangle 422"/>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4" name="Rectangle 423"/>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6" name="TextBox 425"/>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bit 3 set</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Clear a Bit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pPr>
              <a:tabLst>
                <a:tab pos="3657600" algn="l"/>
              </a:tabLst>
            </a:pPr>
            <a:r>
              <a:rPr sz="2400" b="0">
                <a:latin typeface="Cambria"/>
              </a:rPr>
              <a:t>x &amp;= ~( 1u &lt;&lt; 6 ) ;	C, C++</a:t>
            </a:r>
          </a:p>
          <a:p>
            <a:pPr>
              <a:tabLst>
                <a:tab pos="3657600" algn="l"/>
              </a:tabLst>
            </a:pPr>
            <a:r>
              <a:rPr sz="2400" b="0">
                <a:latin typeface="Cambria"/>
              </a:rPr>
              <a:t>x &amp;= !( 1 &lt;&lt; 6 ) ;	Rust</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x</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6" name="TextBox 405"/>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~(1 &lt;&lt; 6)</a:t>
            </a:r>
          </a:p>
        </p:txBody>
      </p:sp>
      <p:sp>
        <p:nvSpPr>
          <p:cNvPr id="407" name="Rectangle 406"/>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8" name="Rectangle 407"/>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9" name="Rectangle 408"/>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0" name="Rectangle 409"/>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1" name="Rectangle 410"/>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2" name="Rectangle 411"/>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3" name="Rectangle 412"/>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4" name="Rectangle 413"/>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5" name="TextBox 414"/>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inverted mask</a:t>
            </a:r>
          </a:p>
        </p:txBody>
      </p:sp>
      <p:cxnSp>
        <p:nvCxnSpPr>
          <p:cNvPr id="416" name="Connector 415"/>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x &amp; mask</a:t>
            </a:r>
          </a:p>
        </p:txBody>
      </p:sp>
      <p:sp>
        <p:nvSpPr>
          <p:cNvPr id="418" name="Rectangle 417"/>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9" name="Rectangle 418"/>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0" name="Rectangle 419"/>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1" name="Rectangle 420"/>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2" name="Rectangle 421"/>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3" name="Rectangle 422"/>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4" name="Rectangle 423"/>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6" name="TextBox 425"/>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bit 6 cleared</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Toggle a Bit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1188720"/>
          </a:xfrm>
          <a:prstGeom prst="rect">
            <a:avLst/>
          </a:prstGeom>
          <a:noFill/>
        </p:spPr>
        <p:txBody>
          <a:bodyPr wrap="square">
            <a:spAutoFit/>
          </a:bodyPr>
          <a:lstStyle/>
          <a:p>
            <a:pPr>
              <a:tabLst>
                <a:tab pos="3657600" algn="l"/>
              </a:tabLst>
            </a:pPr>
            <a:r>
              <a:rPr sz="2400" b="0">
                <a:latin typeface="Cambria"/>
              </a:rPr>
              <a:t>x ^= ( 1u &lt;&lt; 0 ) ;	XOR flips bit 0</a:t>
            </a:r>
          </a:p>
          <a:p>
            <a:pPr>
              <a:tabLst>
                <a:tab pos="3657600" algn="l"/>
              </a:tabLst>
            </a:pPr>
            <a:r>
              <a:rPr sz="2400" b="0">
                <a:latin typeface="Cambria"/>
              </a:rPr>
              <a:t>Run it twice and you are back where you started</a:t>
            </a:r>
          </a:p>
        </p:txBody>
      </p:sp>
      <p:sp>
        <p:nvSpPr>
          <p:cNvPr id="389" name="TextBox 388"/>
          <p:cNvSpPr txBox="1"/>
          <p:nvPr/>
        </p:nvSpPr>
        <p:spPr>
          <a:xfrm>
            <a:off x="2788920" y="3666744"/>
            <a:ext cx="512064" cy="310896"/>
          </a:xfrm>
          <a:prstGeom prst="rect">
            <a:avLst/>
          </a:prstGeom>
          <a:noFill/>
        </p:spPr>
        <p:txBody>
          <a:bodyPr wrap="square" lIns="0" tIns="0" rIns="0" bIns="0">
            <a:spAutoFit/>
          </a:bodyPr>
          <a:lstStyle/>
          <a:p>
            <a:pPr algn="ctr"/>
            <a:r>
              <a:rPr sz="1100" b="0" i="1">
                <a:solidFill>
                  <a:srgbClr val="000000"/>
                </a:solidFill>
                <a:latin typeface="Cambria"/>
              </a:rPr>
              <a:t>7</a:t>
            </a:r>
          </a:p>
        </p:txBody>
      </p:sp>
      <p:sp>
        <p:nvSpPr>
          <p:cNvPr id="390" name="TextBox 389"/>
          <p:cNvSpPr txBox="1"/>
          <p:nvPr/>
        </p:nvSpPr>
        <p:spPr>
          <a:xfrm>
            <a:off x="3300984" y="3666744"/>
            <a:ext cx="512064" cy="310896"/>
          </a:xfrm>
          <a:prstGeom prst="rect">
            <a:avLst/>
          </a:prstGeom>
          <a:noFill/>
        </p:spPr>
        <p:txBody>
          <a:bodyPr wrap="square" lIns="0" tIns="0" rIns="0" bIns="0">
            <a:spAutoFit/>
          </a:bodyPr>
          <a:lstStyle/>
          <a:p>
            <a:pPr algn="ctr"/>
            <a:r>
              <a:rPr sz="1100" b="0" i="1">
                <a:solidFill>
                  <a:srgbClr val="000000"/>
                </a:solidFill>
                <a:latin typeface="Cambria"/>
              </a:rPr>
              <a:t>6</a:t>
            </a:r>
          </a:p>
        </p:txBody>
      </p:sp>
      <p:sp>
        <p:nvSpPr>
          <p:cNvPr id="391" name="TextBox 390"/>
          <p:cNvSpPr txBox="1"/>
          <p:nvPr/>
        </p:nvSpPr>
        <p:spPr>
          <a:xfrm>
            <a:off x="3813048" y="3666744"/>
            <a:ext cx="512064" cy="310896"/>
          </a:xfrm>
          <a:prstGeom prst="rect">
            <a:avLst/>
          </a:prstGeom>
          <a:noFill/>
        </p:spPr>
        <p:txBody>
          <a:bodyPr wrap="square" lIns="0" tIns="0" rIns="0" bIns="0">
            <a:spAutoFit/>
          </a:bodyPr>
          <a:lstStyle/>
          <a:p>
            <a:pPr algn="ctr"/>
            <a:r>
              <a:rPr sz="1100" b="0" i="1">
                <a:solidFill>
                  <a:srgbClr val="000000"/>
                </a:solidFill>
                <a:latin typeface="Cambria"/>
              </a:rPr>
              <a:t>5</a:t>
            </a:r>
          </a:p>
        </p:txBody>
      </p:sp>
      <p:sp>
        <p:nvSpPr>
          <p:cNvPr id="392" name="TextBox 391"/>
          <p:cNvSpPr txBox="1"/>
          <p:nvPr/>
        </p:nvSpPr>
        <p:spPr>
          <a:xfrm>
            <a:off x="4325112" y="3666744"/>
            <a:ext cx="512064" cy="310896"/>
          </a:xfrm>
          <a:prstGeom prst="rect">
            <a:avLst/>
          </a:prstGeom>
          <a:noFill/>
        </p:spPr>
        <p:txBody>
          <a:bodyPr wrap="square" lIns="0" tIns="0" rIns="0" bIns="0">
            <a:spAutoFit/>
          </a:bodyPr>
          <a:lstStyle/>
          <a:p>
            <a:pPr algn="ctr"/>
            <a:r>
              <a:rPr sz="1100" b="0" i="1">
                <a:solidFill>
                  <a:srgbClr val="000000"/>
                </a:solidFill>
                <a:latin typeface="Cambria"/>
              </a:rPr>
              <a:t>4</a:t>
            </a:r>
          </a:p>
        </p:txBody>
      </p:sp>
      <p:sp>
        <p:nvSpPr>
          <p:cNvPr id="393" name="TextBox 392"/>
          <p:cNvSpPr txBox="1"/>
          <p:nvPr/>
        </p:nvSpPr>
        <p:spPr>
          <a:xfrm>
            <a:off x="4837176" y="3666744"/>
            <a:ext cx="512064" cy="310896"/>
          </a:xfrm>
          <a:prstGeom prst="rect">
            <a:avLst/>
          </a:prstGeom>
          <a:noFill/>
        </p:spPr>
        <p:txBody>
          <a:bodyPr wrap="square" lIns="0" tIns="0" rIns="0" bIns="0">
            <a:spAutoFit/>
          </a:bodyPr>
          <a:lstStyle/>
          <a:p>
            <a:pPr algn="ctr"/>
            <a:r>
              <a:rPr sz="1100" b="0" i="1">
                <a:solidFill>
                  <a:srgbClr val="000000"/>
                </a:solidFill>
                <a:latin typeface="Cambria"/>
              </a:rPr>
              <a:t>3</a:t>
            </a:r>
          </a:p>
        </p:txBody>
      </p:sp>
      <p:sp>
        <p:nvSpPr>
          <p:cNvPr id="394" name="TextBox 393"/>
          <p:cNvSpPr txBox="1"/>
          <p:nvPr/>
        </p:nvSpPr>
        <p:spPr>
          <a:xfrm>
            <a:off x="5349240" y="3666744"/>
            <a:ext cx="512064" cy="310896"/>
          </a:xfrm>
          <a:prstGeom prst="rect">
            <a:avLst/>
          </a:prstGeom>
          <a:noFill/>
        </p:spPr>
        <p:txBody>
          <a:bodyPr wrap="square" lIns="0" tIns="0" rIns="0" bIns="0">
            <a:spAutoFit/>
          </a:bodyPr>
          <a:lstStyle/>
          <a:p>
            <a:pPr algn="ctr"/>
            <a:r>
              <a:rPr sz="1100" b="0" i="1">
                <a:solidFill>
                  <a:srgbClr val="000000"/>
                </a:solidFill>
                <a:latin typeface="Cambria"/>
              </a:rPr>
              <a:t>2</a:t>
            </a:r>
          </a:p>
        </p:txBody>
      </p:sp>
      <p:sp>
        <p:nvSpPr>
          <p:cNvPr id="395" name="TextBox 394"/>
          <p:cNvSpPr txBox="1"/>
          <p:nvPr/>
        </p:nvSpPr>
        <p:spPr>
          <a:xfrm>
            <a:off x="5861304" y="3666744"/>
            <a:ext cx="512064" cy="310896"/>
          </a:xfrm>
          <a:prstGeom prst="rect">
            <a:avLst/>
          </a:prstGeom>
          <a:noFill/>
        </p:spPr>
        <p:txBody>
          <a:bodyPr wrap="square" lIns="0" tIns="0" rIns="0" bIns="0">
            <a:spAutoFit/>
          </a:bodyPr>
          <a:lstStyle/>
          <a:p>
            <a:pPr algn="ctr"/>
            <a:r>
              <a:rPr sz="1100" b="0" i="1">
                <a:solidFill>
                  <a:srgbClr val="000000"/>
                </a:solidFill>
                <a:latin typeface="Cambria"/>
              </a:rPr>
              <a:t>1</a:t>
            </a:r>
          </a:p>
        </p:txBody>
      </p:sp>
      <p:sp>
        <p:nvSpPr>
          <p:cNvPr id="396" name="TextBox 395"/>
          <p:cNvSpPr txBox="1"/>
          <p:nvPr/>
        </p:nvSpPr>
        <p:spPr>
          <a:xfrm>
            <a:off x="6373368" y="3666744"/>
            <a:ext cx="512064" cy="310896"/>
          </a:xfrm>
          <a:prstGeom prst="rect">
            <a:avLst/>
          </a:prstGeom>
          <a:noFill/>
        </p:spPr>
        <p:txBody>
          <a:bodyPr wrap="square" lIns="0" tIns="0" rIns="0" bIns="0">
            <a:spAutoFit/>
          </a:bodyPr>
          <a:lstStyle/>
          <a:p>
            <a:pPr algn="ctr"/>
            <a:r>
              <a:rPr sz="1100" b="0" i="1">
                <a:solidFill>
                  <a:srgbClr val="000000"/>
                </a:solidFill>
                <a:latin typeface="Cambria"/>
              </a:rPr>
              <a:t>0</a:t>
            </a:r>
          </a:p>
        </p:txBody>
      </p:sp>
      <p:sp>
        <p:nvSpPr>
          <p:cNvPr id="397" name="TextBox 396"/>
          <p:cNvSpPr txBox="1"/>
          <p:nvPr/>
        </p:nvSpPr>
        <p:spPr>
          <a:xfrm>
            <a:off x="502920" y="4069079"/>
            <a:ext cx="2103120" cy="310896"/>
          </a:xfrm>
          <a:prstGeom prst="rect">
            <a:avLst/>
          </a:prstGeom>
          <a:noFill/>
        </p:spPr>
        <p:txBody>
          <a:bodyPr wrap="square" lIns="0" tIns="0" rIns="0" bIns="0">
            <a:spAutoFit/>
          </a:bodyPr>
          <a:lstStyle/>
          <a:p>
            <a:pPr algn="r"/>
            <a:r>
              <a:rPr sz="1700" b="0" i="0">
                <a:solidFill>
                  <a:srgbClr val="000000"/>
                </a:solidFill>
                <a:latin typeface="Cambria"/>
              </a:rPr>
              <a:t>x</a:t>
            </a:r>
          </a:p>
        </p:txBody>
      </p:sp>
      <p:sp>
        <p:nvSpPr>
          <p:cNvPr id="398" name="Rectangle 397"/>
          <p:cNvSpPr/>
          <p:nvPr/>
        </p:nvSpPr>
        <p:spPr>
          <a:xfrm>
            <a:off x="278892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399" name="Rectangle 398"/>
          <p:cNvSpPr/>
          <p:nvPr/>
        </p:nvSpPr>
        <p:spPr>
          <a:xfrm>
            <a:off x="330098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0" name="Rectangle 399"/>
          <p:cNvSpPr/>
          <p:nvPr/>
        </p:nvSpPr>
        <p:spPr>
          <a:xfrm>
            <a:off x="381304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1" name="Rectangle 400"/>
          <p:cNvSpPr/>
          <p:nvPr/>
        </p:nvSpPr>
        <p:spPr>
          <a:xfrm>
            <a:off x="4325112"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2" name="Rectangle 401"/>
          <p:cNvSpPr/>
          <p:nvPr/>
        </p:nvSpPr>
        <p:spPr>
          <a:xfrm>
            <a:off x="4837176"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3" name="Rectangle 402"/>
          <p:cNvSpPr/>
          <p:nvPr/>
        </p:nvSpPr>
        <p:spPr>
          <a:xfrm>
            <a:off x="5349240"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4" name="Rectangle 403"/>
          <p:cNvSpPr/>
          <p:nvPr/>
        </p:nvSpPr>
        <p:spPr>
          <a:xfrm>
            <a:off x="5861304"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5" name="Rectangle 404"/>
          <p:cNvSpPr/>
          <p:nvPr/>
        </p:nvSpPr>
        <p:spPr>
          <a:xfrm>
            <a:off x="6373368" y="3977639"/>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06" name="TextBox 405"/>
          <p:cNvSpPr txBox="1"/>
          <p:nvPr/>
        </p:nvSpPr>
        <p:spPr>
          <a:xfrm>
            <a:off x="502920" y="4672583"/>
            <a:ext cx="2103120" cy="310896"/>
          </a:xfrm>
          <a:prstGeom prst="rect">
            <a:avLst/>
          </a:prstGeom>
          <a:noFill/>
        </p:spPr>
        <p:txBody>
          <a:bodyPr wrap="square" lIns="0" tIns="0" rIns="0" bIns="0">
            <a:spAutoFit/>
          </a:bodyPr>
          <a:lstStyle/>
          <a:p>
            <a:pPr algn="r"/>
            <a:r>
              <a:rPr sz="1700" b="0" i="0">
                <a:solidFill>
                  <a:srgbClr val="000000"/>
                </a:solidFill>
                <a:latin typeface="Cambria"/>
              </a:rPr>
              <a:t>1 &lt;&lt; 0</a:t>
            </a:r>
          </a:p>
        </p:txBody>
      </p:sp>
      <p:sp>
        <p:nvSpPr>
          <p:cNvPr id="407" name="Rectangle 406"/>
          <p:cNvSpPr/>
          <p:nvPr/>
        </p:nvSpPr>
        <p:spPr>
          <a:xfrm>
            <a:off x="278892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8" name="Rectangle 407"/>
          <p:cNvSpPr/>
          <p:nvPr/>
        </p:nvSpPr>
        <p:spPr>
          <a:xfrm>
            <a:off x="330098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09" name="Rectangle 408"/>
          <p:cNvSpPr/>
          <p:nvPr/>
        </p:nvSpPr>
        <p:spPr>
          <a:xfrm>
            <a:off x="381304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0" name="Rectangle 409"/>
          <p:cNvSpPr/>
          <p:nvPr/>
        </p:nvSpPr>
        <p:spPr>
          <a:xfrm>
            <a:off x="4325112"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1" name="Rectangle 410"/>
          <p:cNvSpPr/>
          <p:nvPr/>
        </p:nvSpPr>
        <p:spPr>
          <a:xfrm>
            <a:off x="4837176"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2" name="Rectangle 411"/>
          <p:cNvSpPr/>
          <p:nvPr/>
        </p:nvSpPr>
        <p:spPr>
          <a:xfrm>
            <a:off x="5349240"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3" name="Rectangle 412"/>
          <p:cNvSpPr/>
          <p:nvPr/>
        </p:nvSpPr>
        <p:spPr>
          <a:xfrm>
            <a:off x="5861304"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0</a:t>
            </a:r>
          </a:p>
        </p:txBody>
      </p:sp>
      <p:sp>
        <p:nvSpPr>
          <p:cNvPr id="414" name="Rectangle 413"/>
          <p:cNvSpPr/>
          <p:nvPr/>
        </p:nvSpPr>
        <p:spPr>
          <a:xfrm>
            <a:off x="6373368" y="4581144"/>
            <a:ext cx="512064" cy="457200"/>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1</a:t>
            </a:r>
          </a:p>
        </p:txBody>
      </p:sp>
      <p:sp>
        <p:nvSpPr>
          <p:cNvPr id="415" name="TextBox 414"/>
          <p:cNvSpPr txBox="1"/>
          <p:nvPr/>
        </p:nvSpPr>
        <p:spPr>
          <a:xfrm>
            <a:off x="7114032" y="4681728"/>
            <a:ext cx="2377440" cy="310896"/>
          </a:xfrm>
          <a:prstGeom prst="rect">
            <a:avLst/>
          </a:prstGeom>
          <a:noFill/>
        </p:spPr>
        <p:txBody>
          <a:bodyPr wrap="square" lIns="0" tIns="0" rIns="0" bIns="0">
            <a:spAutoFit/>
          </a:bodyPr>
          <a:lstStyle/>
          <a:p>
            <a:pPr algn="l"/>
            <a:r>
              <a:rPr sz="1500" b="0" i="0">
                <a:solidFill>
                  <a:srgbClr val="000000"/>
                </a:solidFill>
                <a:latin typeface="Cambria"/>
              </a:rPr>
              <a:t>mask</a:t>
            </a:r>
          </a:p>
        </p:txBody>
      </p:sp>
      <p:cxnSp>
        <p:nvCxnSpPr>
          <p:cNvPr id="416" name="Connector 415"/>
          <p:cNvCxnSpPr/>
          <p:nvPr/>
        </p:nvCxnSpPr>
        <p:spPr>
          <a:xfrm>
            <a:off x="2743200" y="5221224"/>
            <a:ext cx="4187952" cy="0"/>
          </a:xfrm>
          <a:prstGeom prst="line">
            <a:avLst/>
          </a:prstGeom>
          <a:ln w="25400">
            <a:solidFill>
              <a:srgbClr val="1F4E79"/>
            </a:solidFill>
          </a:ln>
        </p:spPr>
        <p:style>
          <a:lnRef idx="2">
            <a:schemeClr val="accent1"/>
          </a:lnRef>
          <a:fillRef idx="0">
            <a:schemeClr val="accent1"/>
          </a:fillRef>
          <a:effectRef idx="1">
            <a:schemeClr val="accent1"/>
          </a:effectRef>
          <a:fontRef idx="minor">
            <a:schemeClr val="tx1"/>
          </a:fontRef>
        </p:style>
      </p:cxnSp>
      <p:sp>
        <p:nvSpPr>
          <p:cNvPr id="417" name="TextBox 416"/>
          <p:cNvSpPr txBox="1"/>
          <p:nvPr/>
        </p:nvSpPr>
        <p:spPr>
          <a:xfrm>
            <a:off x="502920" y="5422391"/>
            <a:ext cx="2103120" cy="310896"/>
          </a:xfrm>
          <a:prstGeom prst="rect">
            <a:avLst/>
          </a:prstGeom>
          <a:noFill/>
        </p:spPr>
        <p:txBody>
          <a:bodyPr wrap="square" lIns="0" tIns="0" rIns="0" bIns="0">
            <a:spAutoFit/>
          </a:bodyPr>
          <a:lstStyle/>
          <a:p>
            <a:pPr algn="r"/>
            <a:r>
              <a:rPr sz="1700" b="1" i="0">
                <a:solidFill>
                  <a:srgbClr val="000000"/>
                </a:solidFill>
                <a:latin typeface="Cambria"/>
              </a:rPr>
              <a:t>x ^ mask</a:t>
            </a:r>
          </a:p>
        </p:txBody>
      </p:sp>
      <p:sp>
        <p:nvSpPr>
          <p:cNvPr id="418" name="Rectangle 417"/>
          <p:cNvSpPr/>
          <p:nvPr/>
        </p:nvSpPr>
        <p:spPr>
          <a:xfrm>
            <a:off x="278892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19" name="Rectangle 418"/>
          <p:cNvSpPr/>
          <p:nvPr/>
        </p:nvSpPr>
        <p:spPr>
          <a:xfrm>
            <a:off x="330098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0" name="Rectangle 419"/>
          <p:cNvSpPr/>
          <p:nvPr/>
        </p:nvSpPr>
        <p:spPr>
          <a:xfrm>
            <a:off x="381304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1" name="Rectangle 420"/>
          <p:cNvSpPr/>
          <p:nvPr/>
        </p:nvSpPr>
        <p:spPr>
          <a:xfrm>
            <a:off x="4325112"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2" name="Rectangle 421"/>
          <p:cNvSpPr/>
          <p:nvPr/>
        </p:nvSpPr>
        <p:spPr>
          <a:xfrm>
            <a:off x="4837176"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1</a:t>
            </a:r>
          </a:p>
        </p:txBody>
      </p:sp>
      <p:sp>
        <p:nvSpPr>
          <p:cNvPr id="423" name="Rectangle 422"/>
          <p:cNvSpPr/>
          <p:nvPr/>
        </p:nvSpPr>
        <p:spPr>
          <a:xfrm>
            <a:off x="5349240"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4" name="Rectangle 423"/>
          <p:cNvSpPr/>
          <p:nvPr/>
        </p:nvSpPr>
        <p:spPr>
          <a:xfrm>
            <a:off x="5861304"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5" name="Rectangle 424"/>
          <p:cNvSpPr/>
          <p:nvPr/>
        </p:nvSpPr>
        <p:spPr>
          <a:xfrm>
            <a:off x="6373368" y="5330951"/>
            <a:ext cx="512064" cy="457200"/>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0</a:t>
            </a:r>
          </a:p>
        </p:txBody>
      </p:sp>
      <p:sp>
        <p:nvSpPr>
          <p:cNvPr id="426" name="TextBox 425"/>
          <p:cNvSpPr txBox="1"/>
          <p:nvPr/>
        </p:nvSpPr>
        <p:spPr>
          <a:xfrm>
            <a:off x="7114032" y="5431536"/>
            <a:ext cx="2377440" cy="310896"/>
          </a:xfrm>
          <a:prstGeom prst="rect">
            <a:avLst/>
          </a:prstGeom>
          <a:noFill/>
        </p:spPr>
        <p:txBody>
          <a:bodyPr wrap="square" lIns="0" tIns="0" rIns="0" bIns="0">
            <a:spAutoFit/>
          </a:bodyPr>
          <a:lstStyle/>
          <a:p>
            <a:pPr algn="l"/>
            <a:r>
              <a:rPr sz="1500" b="0" i="0">
                <a:solidFill>
                  <a:srgbClr val="000000"/>
                </a:solidFill>
                <a:latin typeface="Cambria"/>
              </a:rPr>
              <a:t>bit 0 flipped</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Test a Bit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2785378"/>
          </a:xfrm>
          <a:prstGeom prst="rect">
            <a:avLst/>
          </a:prstGeom>
          <a:noFill/>
        </p:spPr>
        <p:txBody>
          <a:bodyPr wrap="square">
            <a:spAutoFit/>
          </a:bodyPr>
          <a:lstStyle/>
          <a:p>
            <a:pPr>
              <a:tabLst>
                <a:tab pos="548640" algn="l"/>
                <a:tab pos="4754880" algn="l"/>
              </a:tabLst>
            </a:pPr>
            <a:r>
              <a:rPr sz="2500" b="0" dirty="0">
                <a:latin typeface="Cambria"/>
              </a:rPr>
              <a:t>Shift it down, then keep only bit 0:</a:t>
            </a:r>
          </a:p>
          <a:p>
            <a:pPr>
              <a:tabLst>
                <a:tab pos="548640" algn="l"/>
                <a:tab pos="4754880" algn="l"/>
              </a:tabLst>
            </a:pPr>
            <a:r>
              <a:rPr sz="2500" b="0" dirty="0">
                <a:latin typeface="Cambria"/>
              </a:rPr>
              <a:t>	( x &gt;&gt; 3 ) &amp; 1	1 or 0</a:t>
            </a:r>
          </a:p>
          <a:p>
            <a:pPr>
              <a:tabLst>
                <a:tab pos="548640" algn="l"/>
                <a:tab pos="4754880" algn="l"/>
              </a:tabLst>
            </a:pPr>
            <a:r>
              <a:rPr sz="2500" dirty="0">
                <a:latin typeface="Cambria"/>
              </a:rPr>
              <a:t> </a:t>
            </a:r>
          </a:p>
          <a:p>
            <a:pPr>
              <a:tabLst>
                <a:tab pos="548640" algn="l"/>
                <a:tab pos="4754880" algn="l"/>
              </a:tabLst>
            </a:pPr>
            <a:r>
              <a:rPr sz="2500" b="0" dirty="0">
                <a:latin typeface="Cambria"/>
              </a:rPr>
              <a:t>Or mask it in place:</a:t>
            </a:r>
          </a:p>
          <a:p>
            <a:pPr>
              <a:tabLst>
                <a:tab pos="548640" algn="l"/>
                <a:tab pos="4754880" algn="l"/>
              </a:tabLst>
            </a:pPr>
            <a:r>
              <a:rPr sz="2500" b="0" dirty="0">
                <a:latin typeface="Cambria"/>
              </a:rPr>
              <a:t>	( x &amp; ( 1u &lt;&lt; 3 ) ) != 0	true or false</a:t>
            </a:r>
          </a:p>
          <a:p>
            <a:pPr>
              <a:tabLst>
                <a:tab pos="548640" algn="l"/>
                <a:tab pos="4754880" algn="l"/>
              </a:tabLst>
            </a:pPr>
            <a:r>
              <a:rPr sz="2500" dirty="0">
                <a:latin typeface="Cambria"/>
              </a:rPr>
              <a:t> </a:t>
            </a:r>
          </a:p>
          <a:p>
            <a:pPr>
              <a:tabLst>
                <a:tab pos="548640" algn="l"/>
                <a:tab pos="4754880" algn="l"/>
              </a:tabLst>
            </a:pPr>
            <a:r>
              <a:rPr sz="2500" b="0" dirty="0">
                <a:latin typeface="Cambria"/>
              </a:rPr>
              <a:t>In Rust the second form gives a </a:t>
            </a:r>
            <a:r>
              <a:rPr sz="2500" b="0" dirty="0" err="1" smtClean="0">
                <a:latin typeface="Cambria"/>
              </a:rPr>
              <a:t>bool</a:t>
            </a:r>
            <a:endParaRPr sz="2500" b="0" dirty="0">
              <a:latin typeface="Cambri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The Precedence Trap</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3657600" algn="l"/>
              </a:tabLst>
            </a:pPr>
            <a:r>
              <a:rPr sz="2500" b="0" dirty="0">
                <a:latin typeface="Cambria"/>
              </a:rPr>
              <a:t>if ( x &amp; MASK == 0 )</a:t>
            </a:r>
          </a:p>
          <a:p>
            <a:pPr>
              <a:tabLst>
                <a:tab pos="3657600" algn="l"/>
              </a:tabLst>
            </a:pPr>
            <a:r>
              <a:rPr sz="2500" dirty="0">
                <a:latin typeface="Cambria"/>
              </a:rPr>
              <a:t> </a:t>
            </a:r>
          </a:p>
          <a:p>
            <a:pPr>
              <a:tabLst>
                <a:tab pos="3657600" algn="l"/>
              </a:tabLst>
            </a:pPr>
            <a:r>
              <a:rPr sz="2500" b="0" dirty="0">
                <a:latin typeface="Cambria"/>
              </a:rPr>
              <a:t>C, C++ read it as:	x &amp; ( MASK == 0 )</a:t>
            </a:r>
          </a:p>
          <a:p>
            <a:pPr>
              <a:tabLst>
                <a:tab pos="3657600" algn="l"/>
              </a:tabLst>
            </a:pPr>
            <a:r>
              <a:rPr sz="2500" b="0" dirty="0">
                <a:latin typeface="Cambria"/>
              </a:rPr>
              <a:t>	always 0 - the test never passes</a:t>
            </a:r>
          </a:p>
          <a:p>
            <a:pPr>
              <a:tabLst>
                <a:tab pos="3657600" algn="l"/>
              </a:tabLst>
            </a:pPr>
            <a:r>
              <a:rPr sz="2500" dirty="0">
                <a:latin typeface="Cambria"/>
              </a:rPr>
              <a:t> </a:t>
            </a:r>
          </a:p>
          <a:p>
            <a:pPr>
              <a:tabLst>
                <a:tab pos="3657600" algn="l"/>
              </a:tabLst>
            </a:pPr>
            <a:r>
              <a:rPr sz="2500" b="0" dirty="0">
                <a:latin typeface="Cambria"/>
              </a:rPr>
              <a:t>Rust reads it as:	( x &amp; MASK ) == 0</a:t>
            </a:r>
          </a:p>
          <a:p>
            <a:pPr>
              <a:tabLst>
                <a:tab pos="3657600" algn="l"/>
              </a:tabLst>
            </a:pPr>
            <a:r>
              <a:rPr sz="2500" dirty="0">
                <a:latin typeface="Cambria"/>
              </a:rPr>
              <a:t> </a:t>
            </a:r>
          </a:p>
          <a:p>
            <a:pPr>
              <a:tabLst>
                <a:tab pos="3657600" algn="l"/>
              </a:tabLst>
            </a:pPr>
            <a:r>
              <a:rPr sz="2500" b="1" dirty="0">
                <a:latin typeface="Cambria"/>
              </a:rPr>
              <a:t>Always parenthesize bit operations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000" b="1" dirty="0" smtClean="0">
                <a:solidFill>
                  <a:schemeClr val="lt1"/>
                </a:solidFill>
                <a:latin typeface="Arial"/>
              </a:rPr>
              <a:t>Fields Packed in a Register</a:t>
            </a:r>
            <a:endParaRPr lang="en-US" sz="4000" b="0" u="none" strike="noStrike" dirty="0">
              <a:solidFill>
                <a:srgbClr val="000000"/>
              </a:solidFill>
              <a:effectLst/>
              <a:uFillTx/>
              <a:latin typeface="Arial"/>
            </a:endParaRPr>
          </a:p>
        </p:txBody>
      </p:sp>
      <p:sp>
        <p:nvSpPr>
          <p:cNvPr id="388" name="TextBox 387"/>
          <p:cNvSpPr txBox="1"/>
          <p:nvPr/>
        </p:nvSpPr>
        <p:spPr>
          <a:xfrm>
            <a:off x="580041" y="1949942"/>
            <a:ext cx="8135334" cy="731520"/>
          </a:xfrm>
          <a:prstGeom prst="rect">
            <a:avLst/>
          </a:prstGeom>
          <a:noFill/>
        </p:spPr>
        <p:txBody>
          <a:bodyPr wrap="square">
            <a:spAutoFit/>
          </a:bodyPr>
          <a:lstStyle/>
          <a:p>
            <a:r>
              <a:rPr sz="2600" b="0">
                <a:latin typeface="Cambria"/>
              </a:rPr>
              <a:t>One byte, two fields:</a:t>
            </a:r>
          </a:p>
        </p:txBody>
      </p:sp>
      <p:sp>
        <p:nvSpPr>
          <p:cNvPr id="389" name="TextBox 388"/>
          <p:cNvSpPr txBox="1"/>
          <p:nvPr/>
        </p:nvSpPr>
        <p:spPr>
          <a:xfrm>
            <a:off x="2148840"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7</a:t>
            </a:r>
          </a:p>
        </p:txBody>
      </p:sp>
      <p:sp>
        <p:nvSpPr>
          <p:cNvPr id="390" name="Rectangle 389"/>
          <p:cNvSpPr/>
          <p:nvPr/>
        </p:nvSpPr>
        <p:spPr>
          <a:xfrm>
            <a:off x="2148840" y="4160520"/>
            <a:ext cx="713232"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EN</a:t>
            </a:r>
          </a:p>
        </p:txBody>
      </p:sp>
      <p:sp>
        <p:nvSpPr>
          <p:cNvPr id="391" name="TextBox 390"/>
          <p:cNvSpPr txBox="1"/>
          <p:nvPr/>
        </p:nvSpPr>
        <p:spPr>
          <a:xfrm>
            <a:off x="2862072"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6</a:t>
            </a:r>
          </a:p>
        </p:txBody>
      </p:sp>
      <p:sp>
        <p:nvSpPr>
          <p:cNvPr id="392" name="Rectangle 391"/>
          <p:cNvSpPr/>
          <p:nvPr/>
        </p:nvSpPr>
        <p:spPr>
          <a:xfrm>
            <a:off x="2862072" y="4160520"/>
            <a:ext cx="713232"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a:r>
          </a:p>
        </p:txBody>
      </p:sp>
      <p:sp>
        <p:nvSpPr>
          <p:cNvPr id="393" name="TextBox 392"/>
          <p:cNvSpPr txBox="1"/>
          <p:nvPr/>
        </p:nvSpPr>
        <p:spPr>
          <a:xfrm>
            <a:off x="3575304"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5</a:t>
            </a:r>
          </a:p>
        </p:txBody>
      </p:sp>
      <p:sp>
        <p:nvSpPr>
          <p:cNvPr id="394" name="Rectangle 393"/>
          <p:cNvSpPr/>
          <p:nvPr/>
        </p:nvSpPr>
        <p:spPr>
          <a:xfrm>
            <a:off x="3575304" y="4160520"/>
            <a:ext cx="713232"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a:r>
          </a:p>
        </p:txBody>
      </p:sp>
      <p:sp>
        <p:nvSpPr>
          <p:cNvPr id="395" name="TextBox 394"/>
          <p:cNvSpPr txBox="1"/>
          <p:nvPr/>
        </p:nvSpPr>
        <p:spPr>
          <a:xfrm>
            <a:off x="4288536"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4</a:t>
            </a:r>
          </a:p>
        </p:txBody>
      </p:sp>
      <p:sp>
        <p:nvSpPr>
          <p:cNvPr id="396" name="Rectangle 395"/>
          <p:cNvSpPr/>
          <p:nvPr/>
        </p:nvSpPr>
        <p:spPr>
          <a:xfrm>
            <a:off x="4288536" y="4160520"/>
            <a:ext cx="713232"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a:r>
          </a:p>
        </p:txBody>
      </p:sp>
      <p:sp>
        <p:nvSpPr>
          <p:cNvPr id="397" name="TextBox 396"/>
          <p:cNvSpPr txBox="1"/>
          <p:nvPr/>
        </p:nvSpPr>
        <p:spPr>
          <a:xfrm>
            <a:off x="5001768"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3</a:t>
            </a:r>
          </a:p>
        </p:txBody>
      </p:sp>
      <p:sp>
        <p:nvSpPr>
          <p:cNvPr id="398" name="Rectangle 397"/>
          <p:cNvSpPr/>
          <p:nvPr/>
        </p:nvSpPr>
        <p:spPr>
          <a:xfrm>
            <a:off x="5001768" y="4160520"/>
            <a:ext cx="713232" cy="566928"/>
          </a:xfrm>
          <a:prstGeom prst="rect">
            <a:avLst/>
          </a:prstGeom>
          <a:no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0">
                <a:solidFill>
                  <a:srgbClr val="000000"/>
                </a:solidFill>
                <a:latin typeface="Cambria"/>
              </a:rPr>
              <a:t>-</a:t>
            </a:r>
          </a:p>
        </p:txBody>
      </p:sp>
      <p:sp>
        <p:nvSpPr>
          <p:cNvPr id="399" name="TextBox 398"/>
          <p:cNvSpPr txBox="1"/>
          <p:nvPr/>
        </p:nvSpPr>
        <p:spPr>
          <a:xfrm>
            <a:off x="5715000"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2</a:t>
            </a:r>
          </a:p>
        </p:txBody>
      </p:sp>
      <p:sp>
        <p:nvSpPr>
          <p:cNvPr id="400" name="Rectangle 399"/>
          <p:cNvSpPr/>
          <p:nvPr/>
        </p:nvSpPr>
        <p:spPr>
          <a:xfrm>
            <a:off x="5715000" y="4160520"/>
            <a:ext cx="713232"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M2</a:t>
            </a:r>
          </a:p>
        </p:txBody>
      </p:sp>
      <p:sp>
        <p:nvSpPr>
          <p:cNvPr id="401" name="TextBox 400"/>
          <p:cNvSpPr txBox="1"/>
          <p:nvPr/>
        </p:nvSpPr>
        <p:spPr>
          <a:xfrm>
            <a:off x="6428231"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1</a:t>
            </a:r>
          </a:p>
        </p:txBody>
      </p:sp>
      <p:sp>
        <p:nvSpPr>
          <p:cNvPr id="402" name="Rectangle 401"/>
          <p:cNvSpPr/>
          <p:nvPr/>
        </p:nvSpPr>
        <p:spPr>
          <a:xfrm>
            <a:off x="6428231" y="4160520"/>
            <a:ext cx="713232"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M1</a:t>
            </a:r>
          </a:p>
        </p:txBody>
      </p:sp>
      <p:sp>
        <p:nvSpPr>
          <p:cNvPr id="403" name="TextBox 402"/>
          <p:cNvSpPr txBox="1"/>
          <p:nvPr/>
        </p:nvSpPr>
        <p:spPr>
          <a:xfrm>
            <a:off x="7141464" y="3831335"/>
            <a:ext cx="713232" cy="310896"/>
          </a:xfrm>
          <a:prstGeom prst="rect">
            <a:avLst/>
          </a:prstGeom>
          <a:noFill/>
        </p:spPr>
        <p:txBody>
          <a:bodyPr wrap="square" lIns="0" tIns="0" rIns="0" bIns="0">
            <a:spAutoFit/>
          </a:bodyPr>
          <a:lstStyle/>
          <a:p>
            <a:pPr algn="ctr"/>
            <a:r>
              <a:rPr sz="1200" b="0" i="1">
                <a:solidFill>
                  <a:srgbClr val="000000"/>
                </a:solidFill>
                <a:latin typeface="Cambria"/>
              </a:rPr>
              <a:t>bit 0</a:t>
            </a:r>
          </a:p>
        </p:txBody>
      </p:sp>
      <p:sp>
        <p:nvSpPr>
          <p:cNvPr id="404" name="Rectangle 403"/>
          <p:cNvSpPr/>
          <p:nvPr/>
        </p:nvSpPr>
        <p:spPr>
          <a:xfrm>
            <a:off x="7141464" y="4160520"/>
            <a:ext cx="713232" cy="566928"/>
          </a:xfrm>
          <a:prstGeom prst="rect">
            <a:avLst/>
          </a:prstGeom>
          <a:solidFill>
            <a:srgbClr val="F2F2F2"/>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9000" tIns="0" rIns="9000" bIns="0" rtlCol="0" anchor="ctr"/>
          <a:lstStyle/>
          <a:p>
            <a:pPr algn="ctr"/>
            <a:r>
              <a:rPr sz="1700" b="1">
                <a:solidFill>
                  <a:srgbClr val="000000"/>
                </a:solidFill>
                <a:latin typeface="Cambria"/>
              </a:rPr>
              <a:t>M0</a:t>
            </a:r>
          </a:p>
        </p:txBody>
      </p:sp>
      <p:cxnSp>
        <p:nvCxnSpPr>
          <p:cNvPr id="405" name="Connector 404"/>
          <p:cNvCxnSpPr/>
          <p:nvPr/>
        </p:nvCxnSpPr>
        <p:spPr>
          <a:xfrm>
            <a:off x="2221992" y="4892040"/>
            <a:ext cx="566928" cy="0"/>
          </a:xfrm>
          <a:prstGeom prst="line">
            <a:avLst/>
          </a:prstGeom>
          <a:ln w="28575">
            <a:solidFill>
              <a:srgbClr val="1F4E79"/>
            </a:solidFill>
          </a:ln>
        </p:spPr>
        <p:style>
          <a:lnRef idx="2">
            <a:schemeClr val="accent1"/>
          </a:lnRef>
          <a:fillRef idx="0">
            <a:schemeClr val="accent1"/>
          </a:fillRef>
          <a:effectRef idx="1">
            <a:schemeClr val="accent1"/>
          </a:effectRef>
          <a:fontRef idx="minor">
            <a:schemeClr val="tx1"/>
          </a:fontRef>
        </p:style>
      </p:cxnSp>
      <p:sp>
        <p:nvSpPr>
          <p:cNvPr id="406" name="TextBox 405"/>
          <p:cNvSpPr txBox="1"/>
          <p:nvPr/>
        </p:nvSpPr>
        <p:spPr>
          <a:xfrm>
            <a:off x="1783080" y="4983480"/>
            <a:ext cx="1444752" cy="310896"/>
          </a:xfrm>
          <a:prstGeom prst="rect">
            <a:avLst/>
          </a:prstGeom>
          <a:noFill/>
        </p:spPr>
        <p:txBody>
          <a:bodyPr wrap="square" lIns="0" tIns="0" rIns="0" bIns="0">
            <a:spAutoFit/>
          </a:bodyPr>
          <a:lstStyle/>
          <a:p>
            <a:pPr algn="ctr"/>
            <a:r>
              <a:rPr sz="1500" b="1" i="0">
                <a:solidFill>
                  <a:srgbClr val="000000"/>
                </a:solidFill>
                <a:latin typeface="Cambria"/>
              </a:rPr>
              <a:t>enable</a:t>
            </a:r>
          </a:p>
        </p:txBody>
      </p:sp>
      <p:cxnSp>
        <p:nvCxnSpPr>
          <p:cNvPr id="407" name="Connector 406"/>
          <p:cNvCxnSpPr/>
          <p:nvPr/>
        </p:nvCxnSpPr>
        <p:spPr>
          <a:xfrm>
            <a:off x="5788152" y="4892040"/>
            <a:ext cx="1993392" cy="0"/>
          </a:xfrm>
          <a:prstGeom prst="line">
            <a:avLst/>
          </a:prstGeom>
          <a:ln w="28575">
            <a:solidFill>
              <a:srgbClr val="1F4E79"/>
            </a:solidFill>
          </a:ln>
        </p:spPr>
        <p:style>
          <a:lnRef idx="2">
            <a:schemeClr val="accent1"/>
          </a:lnRef>
          <a:fillRef idx="0">
            <a:schemeClr val="accent1"/>
          </a:fillRef>
          <a:effectRef idx="1">
            <a:schemeClr val="accent1"/>
          </a:effectRef>
          <a:fontRef idx="minor">
            <a:schemeClr val="tx1"/>
          </a:fontRef>
        </p:style>
      </p:cxnSp>
      <p:sp>
        <p:nvSpPr>
          <p:cNvPr id="408" name="TextBox 407"/>
          <p:cNvSpPr txBox="1"/>
          <p:nvPr/>
        </p:nvSpPr>
        <p:spPr>
          <a:xfrm>
            <a:off x="5715000" y="4983480"/>
            <a:ext cx="2139696" cy="310896"/>
          </a:xfrm>
          <a:prstGeom prst="rect">
            <a:avLst/>
          </a:prstGeom>
          <a:noFill/>
        </p:spPr>
        <p:txBody>
          <a:bodyPr wrap="square" lIns="0" tIns="0" rIns="0" bIns="0">
            <a:spAutoFit/>
          </a:bodyPr>
          <a:lstStyle/>
          <a:p>
            <a:pPr algn="ctr"/>
            <a:r>
              <a:rPr sz="1500" b="1" i="0">
                <a:solidFill>
                  <a:srgbClr val="000000"/>
                </a:solidFill>
                <a:latin typeface="Cambria"/>
              </a:rPr>
              <a:t>mode  (0 - 7)</a:t>
            </a: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Reading and Writing Fields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754880" algn="l"/>
              </a:tabLst>
            </a:pPr>
            <a:r>
              <a:rPr sz="2300" b="0">
                <a:latin typeface="Cambria"/>
              </a:rPr>
              <a:t>mode = reg &amp; 0x07 ;	low three bits</a:t>
            </a:r>
          </a:p>
          <a:p>
            <a:pPr>
              <a:tabLst>
                <a:tab pos="548640" algn="l"/>
                <a:tab pos="4754880" algn="l"/>
              </a:tabLst>
            </a:pPr>
            <a:r>
              <a:rPr sz="2300" b="0">
                <a:latin typeface="Cambria"/>
              </a:rPr>
              <a:t>enable = ( reg &gt;&gt; 7 ) &amp; 1 ;	top bit</a:t>
            </a:r>
          </a:p>
          <a:p>
            <a:pPr>
              <a:tabLst>
                <a:tab pos="548640" algn="l"/>
                <a:tab pos="4754880" algn="l"/>
              </a:tabLst>
            </a:pPr>
            <a:r>
              <a:rPr sz="2300">
                <a:latin typeface="Cambria"/>
              </a:rPr>
              <a:t> </a:t>
            </a:r>
          </a:p>
          <a:p>
            <a:pPr>
              <a:tabLst>
                <a:tab pos="548640" algn="l"/>
                <a:tab pos="4754880" algn="l"/>
              </a:tabLst>
            </a:pPr>
            <a:r>
              <a:rPr sz="2300" b="0">
                <a:latin typeface="Cambria"/>
              </a:rPr>
              <a:t>Change the mode, keep everything else:</a:t>
            </a:r>
          </a:p>
          <a:p>
            <a:pPr>
              <a:tabLst>
                <a:tab pos="548640" algn="l"/>
                <a:tab pos="4754880" algn="l"/>
              </a:tabLst>
            </a:pPr>
            <a:r>
              <a:rPr sz="2300" b="0">
                <a:latin typeface="Cambria"/>
              </a:rPr>
              <a:t>	reg = ( reg &amp; ~0x07 ) | ( new_mode &amp; 0x07 ) ;</a:t>
            </a:r>
          </a:p>
          <a:p>
            <a:pPr>
              <a:tabLst>
                <a:tab pos="548640" algn="l"/>
                <a:tab pos="4754880" algn="l"/>
              </a:tabLst>
            </a:pPr>
            <a:r>
              <a:rPr sz="2300">
                <a:latin typeface="Cambria"/>
              </a:rPr>
              <a:t> </a:t>
            </a:r>
          </a:p>
          <a:p>
            <a:pPr>
              <a:tabLst>
                <a:tab pos="548640" algn="l"/>
                <a:tab pos="4754880" algn="l"/>
              </a:tabLst>
            </a:pPr>
            <a:r>
              <a:rPr sz="2300" b="0">
                <a:latin typeface="Cambria"/>
              </a:rPr>
              <a:t>Rust: the same, with  !  in place of  ~</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 Operators on Structs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500" b="0">
                <a:latin typeface="Cambria"/>
              </a:rPr>
              <a:t>Members are integers - every bit operator applies:</a:t>
            </a:r>
          </a:p>
          <a:p>
            <a:r>
              <a:rPr sz="2500">
                <a:latin typeface="Cambria"/>
              </a:rPr>
              <a:t> </a:t>
            </a:r>
          </a:p>
          <a:p>
            <a:r>
              <a:rPr sz="2500" b="0">
                <a:latin typeface="Cambria"/>
              </a:rPr>
              <a:t>	my_sample.adc_counts &amp; 0x0FFF</a:t>
            </a:r>
          </a:p>
          <a:p>
            <a:r>
              <a:rPr sz="2500" b="0">
                <a:latin typeface="Cambria"/>
              </a:rPr>
              <a:t>		keep only the 12 bits a 12-bit ADC produces</a:t>
            </a:r>
          </a:p>
          <a:p>
            <a:r>
              <a:rPr sz="2500">
                <a:latin typeface="Cambria"/>
              </a:rPr>
              <a:t> </a:t>
            </a:r>
          </a:p>
          <a:p>
            <a:r>
              <a:rPr sz="2500" b="0">
                <a:latin typeface="Cambria"/>
              </a:rPr>
              <a:t>	my_sample.adc_counts &gt;&gt; 4</a:t>
            </a:r>
          </a:p>
          <a:p>
            <a:r>
              <a:rPr sz="2500" b="0">
                <a:latin typeface="Cambria"/>
              </a:rPr>
              <a:t>		drop the 4 noisiest bits</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Bit Operators on Arrays</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300" b="0">
                <a:latin typeface="Cambria"/>
              </a:rPr>
              <a:t>A simple checksum:  XOR every byte together</a:t>
            </a:r>
          </a:p>
          <a:p>
            <a:r>
              <a:rPr sz="2300">
                <a:latin typeface="Cambria"/>
              </a:rPr>
              <a:t> </a:t>
            </a:r>
          </a:p>
          <a:p>
            <a:r>
              <a:rPr sz="2300" b="0">
                <a:latin typeface="Cambria"/>
              </a:rPr>
              <a:t>C, C++:</a:t>
            </a:r>
          </a:p>
          <a:p>
            <a:r>
              <a:rPr sz="2300" b="0">
                <a:latin typeface="Cambria"/>
              </a:rPr>
              <a:t>	uint8_t  check = 0 ;</a:t>
            </a:r>
          </a:p>
          <a:p>
            <a:r>
              <a:rPr sz="2300" b="0">
                <a:latin typeface="Cambria"/>
              </a:rPr>
              <a:t>	for ( int i = 0 ; i &lt; N ; i++ )  check ^= data[i] ;</a:t>
            </a:r>
          </a:p>
          <a:p>
            <a:r>
              <a:rPr sz="2300">
                <a:latin typeface="Cambria"/>
              </a:rPr>
              <a:t> </a:t>
            </a:r>
          </a:p>
          <a:p>
            <a:r>
              <a:rPr sz="2300" b="0">
                <a:latin typeface="Cambria"/>
              </a:rPr>
              <a:t>Rust:</a:t>
            </a:r>
          </a:p>
          <a:p>
            <a:r>
              <a:rPr sz="2300" b="0">
                <a:latin typeface="Cambria"/>
              </a:rPr>
              <a:t>	let mut check : u8 = 0 ;</a:t>
            </a:r>
          </a:p>
          <a:p>
            <a:r>
              <a:rPr sz="2300" b="0">
                <a:latin typeface="Cambria"/>
              </a:rPr>
              <a:t>	for i in 0..N { check ^= data[i] ; }</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Precedence in C and C++</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3931920" algn="l"/>
              </a:tabLst>
            </a:pPr>
            <a:r>
              <a:rPr sz="2300" b="0">
                <a:latin typeface="Cambria"/>
              </a:rPr>
              <a:t>Highest</a:t>
            </a:r>
          </a:p>
          <a:p>
            <a:pPr>
              <a:tabLst>
                <a:tab pos="548640" algn="l"/>
                <a:tab pos="3931920" algn="l"/>
              </a:tabLst>
            </a:pPr>
            <a:r>
              <a:rPr sz="2300" b="0">
                <a:latin typeface="Cambria"/>
              </a:rPr>
              <a:t>	!  ~  ++  --	unary</a:t>
            </a:r>
          </a:p>
          <a:p>
            <a:pPr>
              <a:tabLst>
                <a:tab pos="548640" algn="l"/>
                <a:tab pos="3931920" algn="l"/>
              </a:tabLst>
            </a:pPr>
            <a:r>
              <a:rPr sz="2300" b="0">
                <a:latin typeface="Cambria"/>
              </a:rPr>
              <a:t>	*  /  %</a:t>
            </a:r>
          </a:p>
          <a:p>
            <a:pPr>
              <a:tabLst>
                <a:tab pos="548640" algn="l"/>
                <a:tab pos="3931920" algn="l"/>
              </a:tabLst>
            </a:pPr>
            <a:r>
              <a:rPr sz="2300" b="0">
                <a:latin typeface="Cambria"/>
              </a:rPr>
              <a:t>	+  -</a:t>
            </a:r>
          </a:p>
          <a:p>
            <a:pPr>
              <a:tabLst>
                <a:tab pos="548640" algn="l"/>
                <a:tab pos="3931920" algn="l"/>
              </a:tabLst>
            </a:pPr>
            <a:r>
              <a:rPr sz="2300" b="0">
                <a:latin typeface="Cambria"/>
              </a:rPr>
              <a:t>	&lt;&lt;  &gt;&gt;</a:t>
            </a:r>
          </a:p>
          <a:p>
            <a:pPr>
              <a:tabLst>
                <a:tab pos="548640" algn="l"/>
                <a:tab pos="3931920" algn="l"/>
              </a:tabLst>
            </a:pPr>
            <a:r>
              <a:rPr sz="2300" b="0">
                <a:latin typeface="Cambria"/>
              </a:rPr>
              <a:t>	&lt;  &lt;=  &gt;  &gt;=</a:t>
            </a:r>
          </a:p>
          <a:p>
            <a:pPr>
              <a:tabLst>
                <a:tab pos="548640" algn="l"/>
                <a:tab pos="3931920" algn="l"/>
              </a:tabLst>
            </a:pPr>
            <a:r>
              <a:rPr sz="2300" b="0">
                <a:latin typeface="Cambria"/>
              </a:rPr>
              <a:t>	==  !=</a:t>
            </a:r>
          </a:p>
          <a:p>
            <a:pPr>
              <a:tabLst>
                <a:tab pos="548640" algn="l"/>
                <a:tab pos="3931920" algn="l"/>
              </a:tabLst>
            </a:pPr>
            <a:r>
              <a:rPr sz="2300" b="0">
                <a:latin typeface="Cambria"/>
              </a:rPr>
              <a:t>	&amp;   then   ^   then   |</a:t>
            </a:r>
          </a:p>
          <a:p>
            <a:pPr>
              <a:tabLst>
                <a:tab pos="548640" algn="l"/>
                <a:tab pos="3931920" algn="l"/>
              </a:tabLst>
            </a:pPr>
            <a:r>
              <a:rPr sz="2300" b="0">
                <a:latin typeface="Cambria"/>
              </a:rPr>
              <a:t>	&amp;&amp;   then   ||</a:t>
            </a:r>
          </a:p>
          <a:p>
            <a:pPr>
              <a:tabLst>
                <a:tab pos="548640" algn="l"/>
                <a:tab pos="3931920" algn="l"/>
              </a:tabLst>
            </a:pPr>
            <a:r>
              <a:rPr sz="2300" b="0">
                <a:latin typeface="Cambria"/>
              </a:rPr>
              <a:t>	=  +=  -=  &amp;=  |=  ...</a:t>
            </a:r>
          </a:p>
          <a:p>
            <a:pPr>
              <a:tabLst>
                <a:tab pos="548640" algn="l"/>
                <a:tab pos="3931920" algn="l"/>
              </a:tabLst>
            </a:pPr>
            <a:r>
              <a:rPr sz="2300" b="0">
                <a:latin typeface="Cambria"/>
              </a:rPr>
              <a:t>Lowest</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Precedence in Rust</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548640" algn="l"/>
                <a:tab pos="4846320" algn="l"/>
              </a:tabLst>
            </a:pPr>
            <a:r>
              <a:rPr sz="2300" b="0">
                <a:latin typeface="Cambria"/>
              </a:rPr>
              <a:t>Highest</a:t>
            </a:r>
          </a:p>
          <a:p>
            <a:pPr>
              <a:tabLst>
                <a:tab pos="548640" algn="l"/>
                <a:tab pos="4846320" algn="l"/>
              </a:tabLst>
            </a:pPr>
            <a:r>
              <a:rPr sz="2300" b="0">
                <a:latin typeface="Cambria"/>
              </a:rPr>
              <a:t>	!  -	unary</a:t>
            </a:r>
          </a:p>
          <a:p>
            <a:pPr>
              <a:tabLst>
                <a:tab pos="548640" algn="l"/>
                <a:tab pos="4846320" algn="l"/>
              </a:tabLst>
            </a:pPr>
            <a:r>
              <a:rPr sz="2300" b="0">
                <a:latin typeface="Cambria"/>
              </a:rPr>
              <a:t>	as	type conversion</a:t>
            </a:r>
          </a:p>
          <a:p>
            <a:pPr>
              <a:tabLst>
                <a:tab pos="548640" algn="l"/>
                <a:tab pos="4846320" algn="l"/>
              </a:tabLst>
            </a:pPr>
            <a:r>
              <a:rPr sz="2300" b="0">
                <a:latin typeface="Cambria"/>
              </a:rPr>
              <a:t>	*  /  %</a:t>
            </a:r>
          </a:p>
          <a:p>
            <a:pPr>
              <a:tabLst>
                <a:tab pos="548640" algn="l"/>
                <a:tab pos="4846320" algn="l"/>
              </a:tabLst>
            </a:pPr>
            <a:r>
              <a:rPr sz="2300" b="0">
                <a:latin typeface="Cambria"/>
              </a:rPr>
              <a:t>	+  -</a:t>
            </a:r>
          </a:p>
          <a:p>
            <a:pPr>
              <a:tabLst>
                <a:tab pos="548640" algn="l"/>
                <a:tab pos="4846320" algn="l"/>
              </a:tabLst>
            </a:pPr>
            <a:r>
              <a:rPr sz="2300" b="0">
                <a:latin typeface="Cambria"/>
              </a:rPr>
              <a:t>	&lt;&lt;  &gt;&gt;</a:t>
            </a:r>
          </a:p>
          <a:p>
            <a:pPr>
              <a:tabLst>
                <a:tab pos="548640" algn="l"/>
                <a:tab pos="4846320" algn="l"/>
              </a:tabLst>
            </a:pPr>
            <a:r>
              <a:rPr sz="2300" b="0">
                <a:latin typeface="Cambria"/>
              </a:rPr>
              <a:t>	&amp;   then   ^   then   |</a:t>
            </a:r>
          </a:p>
          <a:p>
            <a:pPr>
              <a:tabLst>
                <a:tab pos="548640" algn="l"/>
                <a:tab pos="4846320" algn="l"/>
              </a:tabLst>
            </a:pPr>
            <a:r>
              <a:rPr sz="2300" b="0">
                <a:latin typeface="Cambria"/>
              </a:rPr>
              <a:t>	==  !=  &lt;  &lt;=  &gt;  &gt;=	cannot chain</a:t>
            </a:r>
          </a:p>
          <a:p>
            <a:pPr>
              <a:tabLst>
                <a:tab pos="548640" algn="l"/>
                <a:tab pos="4846320" algn="l"/>
              </a:tabLst>
            </a:pPr>
            <a:r>
              <a:rPr sz="2300" b="0">
                <a:latin typeface="Cambria"/>
              </a:rPr>
              <a:t>	&amp;&amp;   then   ||</a:t>
            </a:r>
          </a:p>
          <a:p>
            <a:pPr>
              <a:tabLst>
                <a:tab pos="548640" algn="l"/>
                <a:tab pos="4846320" algn="l"/>
              </a:tabLst>
            </a:pPr>
            <a:r>
              <a:rPr sz="2300" b="0">
                <a:latin typeface="Cambria"/>
              </a:rPr>
              <a:t>	=  +=  -=  &amp;=  |=  ...</a:t>
            </a:r>
          </a:p>
          <a:p>
            <a:pPr>
              <a:tabLst>
                <a:tab pos="548640" algn="l"/>
                <a:tab pos="4846320" algn="l"/>
              </a:tabLst>
            </a:pPr>
            <a:r>
              <a:rPr sz="2300" b="0">
                <a:latin typeface="Cambria"/>
              </a:rPr>
              <a:t>Lowest</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What We Can Now Do</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pPr>
              <a:tabLst>
                <a:tab pos="2743200" algn="l"/>
              </a:tabLst>
            </a:pPr>
            <a:r>
              <a:rPr sz="2400" b="1">
                <a:latin typeface="Cambria"/>
              </a:rPr>
              <a:t>Arithmetic</a:t>
            </a:r>
            <a:r>
              <a:rPr sz="2400" b="0">
                <a:latin typeface="Cambria"/>
              </a:rPr>
              <a:t>	on variables, members, elements</a:t>
            </a:r>
          </a:p>
          <a:p>
            <a:pPr>
              <a:tabLst>
                <a:tab pos="2743200" algn="l"/>
              </a:tabLst>
            </a:pPr>
            <a:r>
              <a:rPr sz="2400">
                <a:latin typeface="Cambria"/>
              </a:rPr>
              <a:t> </a:t>
            </a:r>
          </a:p>
          <a:p>
            <a:pPr>
              <a:tabLst>
                <a:tab pos="2743200" algn="l"/>
              </a:tabLst>
            </a:pPr>
            <a:r>
              <a:rPr sz="2400" b="1">
                <a:latin typeface="Cambria"/>
              </a:rPr>
              <a:t>Comparison</a:t>
            </a:r>
            <a:r>
              <a:rPr sz="2400" b="0">
                <a:latin typeface="Cambria"/>
              </a:rPr>
              <a:t>	values, and whole structs and arrays</a:t>
            </a:r>
          </a:p>
          <a:p>
            <a:pPr>
              <a:tabLst>
                <a:tab pos="2743200" algn="l"/>
              </a:tabLst>
            </a:pPr>
            <a:r>
              <a:rPr sz="2400">
                <a:latin typeface="Cambria"/>
              </a:rPr>
              <a:t> </a:t>
            </a:r>
          </a:p>
          <a:p>
            <a:pPr>
              <a:tabLst>
                <a:tab pos="2743200" algn="l"/>
              </a:tabLst>
            </a:pPr>
            <a:r>
              <a:rPr sz="2400" b="1">
                <a:latin typeface="Cambria"/>
              </a:rPr>
              <a:t>Clause logic</a:t>
            </a:r>
            <a:r>
              <a:rPr sz="2400" b="0">
                <a:latin typeface="Cambria"/>
              </a:rPr>
              <a:t>	&amp;&amp;  ||  !  on conditions</a:t>
            </a:r>
          </a:p>
          <a:p>
            <a:pPr>
              <a:tabLst>
                <a:tab pos="2743200" algn="l"/>
              </a:tabLst>
            </a:pPr>
            <a:r>
              <a:rPr sz="2400">
                <a:latin typeface="Cambria"/>
              </a:rPr>
              <a:t> </a:t>
            </a:r>
          </a:p>
          <a:p>
            <a:pPr>
              <a:tabLst>
                <a:tab pos="2743200" algn="l"/>
              </a:tabLst>
            </a:pPr>
            <a:r>
              <a:rPr sz="2400" b="1">
                <a:latin typeface="Cambria"/>
              </a:rPr>
              <a:t>Bit logic</a:t>
            </a:r>
            <a:r>
              <a:rPr sz="2400" b="0">
                <a:latin typeface="Cambria"/>
              </a:rPr>
              <a:t>	&amp;  |  ^  ~  &lt;&lt;  &gt;&gt;  on every bit</a:t>
            </a:r>
          </a:p>
          <a:p>
            <a:pPr>
              <a:tabLst>
                <a:tab pos="2743200" algn="l"/>
              </a:tabLst>
            </a:pPr>
            <a:r>
              <a:rPr sz="2400">
                <a:latin typeface="Cambria"/>
              </a:rPr>
              <a:t> </a:t>
            </a:r>
          </a:p>
          <a:p>
            <a:pPr>
              <a:tabLst>
                <a:tab pos="2743200" algn="l"/>
              </a:tabLst>
            </a:pPr>
            <a:r>
              <a:rPr sz="2400" b="0">
                <a:latin typeface="Cambria"/>
              </a:rPr>
              <a:t>Seven truth tables describe all of it</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a:p>
        </p:txBody>
      </p:sp>
      <p:sp>
        <p:nvSpPr>
          <p:cNvPr id="3" name="Text Placeholder 2"/>
          <p:cNvSpPr>
            <a:spLocks noGrp="1"/>
          </p:cNvSpPr>
          <p:nvPr>
            <p:ph type="body"/>
          </p:nvPr>
        </p:nvSpPr>
        <p:spPr/>
        <p:txBody>
          <a:bodyPr/>
          <a:lstStyle/>
          <a:p>
            <a:endParaRPr/>
          </a:p>
        </p:txBody>
      </p:sp>
      <p:sp>
        <p:nvSpPr>
          <p:cNvPr id="387" name="AutoShape 2"/>
          <p:cNvSpPr/>
          <p:nvPr/>
        </p:nvSpPr>
        <p:spPr>
          <a:xfrm>
            <a:off x="502920" y="202680"/>
            <a:ext cx="9051840" cy="1340280"/>
          </a:xfrm>
          <a:prstGeom prst="bevel">
            <a:avLst>
              <a:gd name="adj" fmla="val 8931"/>
            </a:avLst>
          </a:prstGeom>
          <a:gradFill rotWithShape="0">
            <a:gsLst>
              <a:gs pos="0">
                <a:srgbClr val="004600"/>
              </a:gs>
              <a:gs pos="50000">
                <a:srgbClr val="009900"/>
              </a:gs>
              <a:gs pos="100000">
                <a:srgbClr val="004600"/>
              </a:gs>
            </a:gsLst>
            <a:lin ang="5400000"/>
          </a:gradFill>
          <a:ln w="9525">
            <a:solidFill>
              <a:srgbClr val="000000"/>
            </a:solidFill>
            <a:miter/>
          </a:ln>
        </p:spPr>
        <p:style>
          <a:lnRef idx="0">
            <a:scrgbClr r="0" g="0" b="0"/>
          </a:lnRef>
          <a:fillRef idx="0">
            <a:scrgbClr r="0" g="0" b="0"/>
          </a:fillRef>
          <a:effectRef idx="0">
            <a:scrgbClr r="0" g="0" b="0"/>
          </a:effectRef>
          <a:fontRef idx="minor"/>
        </p:style>
        <p:txBody>
          <a:bodyPr wrap="none" lIns="90000" tIns="45000" rIns="90000" bIns="45000" anchor="ctr">
            <a:noAutofit/>
          </a:bodyPr>
          <a:lstStyle/>
          <a:p>
            <a:pPr algn="ctr" defTabSz="914400">
              <a:lnSpc>
                <a:spcPct val="100000"/>
              </a:lnSpc>
            </a:pPr>
            <a:r>
              <a:rPr lang="en-US" sz="4400" b="1" dirty="0" smtClean="0">
                <a:solidFill>
                  <a:schemeClr val="lt1"/>
                </a:solidFill>
                <a:latin typeface="Arial"/>
              </a:rPr>
              <a:t>Let's practice</a:t>
            </a:r>
            <a:endParaRPr lang="en-US" sz="4400" b="0" u="none" strike="noStrike" dirty="0">
              <a:solidFill>
                <a:srgbClr val="000000"/>
              </a:solidFill>
              <a:effectLst/>
              <a:uFillTx/>
              <a:latin typeface="Arial"/>
            </a:endParaRPr>
          </a:p>
        </p:txBody>
      </p:sp>
      <p:sp>
        <p:nvSpPr>
          <p:cNvPr id="388" name="TextBox 387"/>
          <p:cNvSpPr txBox="1"/>
          <p:nvPr/>
        </p:nvSpPr>
        <p:spPr>
          <a:xfrm>
            <a:off x="580041" y="1949942"/>
            <a:ext cx="8135334" cy="5593858"/>
          </a:xfrm>
          <a:prstGeom prst="rect">
            <a:avLst/>
          </a:prstGeom>
          <a:noFill/>
        </p:spPr>
        <p:txBody>
          <a:bodyPr wrap="square">
            <a:spAutoFit/>
          </a:bodyPr>
          <a:lstStyle/>
          <a:p>
            <a:r>
              <a:rPr sz="2800">
                <a:latin typeface="Cambria"/>
              </a:rPr>
              <a:t> </a:t>
            </a:r>
          </a:p>
          <a:p>
            <a:r>
              <a:rPr sz="2800" b="0">
                <a:latin typeface="Cambria"/>
              </a:rPr>
              <a:t>Exercise:  Using </a:t>
            </a:r>
            <a:r>
              <a:rPr sz="2800" b="1">
                <a:latin typeface="Cambria"/>
              </a:rPr>
              <a:t>opspractice</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_Theme1">
  <a:themeElements>
    <a:clrScheme name="ECS-whitebackgroun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CS-whitebackground">
      <a:majorFont>
        <a:latin typeface="Arial"/>
        <a:ea typeface="Osaka"/>
        <a:cs typeface="Osaka"/>
      </a:majorFont>
      <a:minorFont>
        <a:latin typeface="Arial"/>
        <a:ea typeface="Osaka"/>
        <a:cs typeface="Osaka"/>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57908</TotalTime>
  <Words>3339</Words>
  <Application>Microsoft Office PowerPoint</Application>
  <PresentationFormat>Custom</PresentationFormat>
  <Paragraphs>1111</Paragraphs>
  <Slides>70</Slides>
  <Notes>70</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70</vt:i4>
      </vt:variant>
    </vt:vector>
  </HeadingPairs>
  <TitlesOfParts>
    <vt:vector size="83" baseType="lpstr">
      <vt:lpstr>ＭＳ Ｐゴシック</vt:lpstr>
      <vt:lpstr>Arial</vt:lpstr>
      <vt:lpstr>Calibri</vt:lpstr>
      <vt:lpstr>Cambria</vt:lpstr>
      <vt:lpstr>DejaVu Sans</vt:lpstr>
      <vt:lpstr>OpenSymbol</vt:lpstr>
      <vt:lpstr>Osaka</vt:lpstr>
      <vt:lpstr>Symbol</vt:lpstr>
      <vt:lpstr>Times New Roman</vt:lpstr>
      <vt:lpstr>Wingdings</vt:lpstr>
      <vt:lpstr>Office Theme</vt:lpstr>
      <vt:lpstr>Theme1</vt:lpstr>
      <vt:lpstr>1_Theme1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perf</dc:title>
  <dc:subject/>
  <dc:creator>Bill Swartz</dc:creator>
  <dc:description/>
  <cp:lastModifiedBy>Bill Swartz</cp:lastModifiedBy>
  <cp:revision>555</cp:revision>
  <dcterms:created xsi:type="dcterms:W3CDTF">2013-08-28T11:36:20Z</dcterms:created>
  <dcterms:modified xsi:type="dcterms:W3CDTF">2026-09-30T23:37:57Z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2012-08-29T00:00:00Z</vt:filetime>
  </property>
  <property fmtid="{D5CDD505-2E9C-101B-9397-08002B2CF9AE}" pid="3" name="LastSaved">
    <vt:filetime>2013-08-28T00:00:00Z</vt:filetime>
  </property>
  <property fmtid="{D5CDD505-2E9C-101B-9397-08002B2CF9AE}" pid="4" name="Notes">
    <vt:i4>8</vt:i4>
  </property>
  <property fmtid="{D5CDD505-2E9C-101B-9397-08002B2CF9AE}" pid="5" name="PresentationFormat">
    <vt:lpwstr>Custom</vt:lpwstr>
  </property>
  <property fmtid="{D5CDD505-2E9C-101B-9397-08002B2CF9AE}" pid="6" name="Slides">
    <vt:i4>8</vt:i4>
  </property>
</Properties>
</file>