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6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317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92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4392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Title slide. So far every program has been one long list of statements in main. Today we give groups of statements a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02803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Quick review. The question for today: how do we organize the statements, the way structs organized the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3366452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oil pressure sender conversion: 2736 counts is 0 psi and each psi is 25.6 counts, with an inverse slope. 1456 counts gives 50 psi. Duplicated code is duplicated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233114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move as the struct lecture: give a group a name. A struct names a group of data; a function names a group of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97123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second point matters most for reading code. A well-named function turns a formula into a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56646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Walk through the four parts. The first line of a function is its signature: everything a caller needs to know to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52074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Named constants replace the magic numbers. The (float) cast matters: counts is unsigned, and 2736 - 3000 in unsigned arithmetic would wrap to a huge positive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346978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C++ prefers constexpr constants to #define: they have a type and obey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08624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order as a Rust variable: name, colon, type. The return type comes last, after the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51070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In Rust, adding a semicolon to that last line turns it into a statement and the function returns () instead - a common first compile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11587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void means "no value". Rust returns the empty tuple (), called unit, but you never have to write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678653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call is an expression: it has a value, so it can appear anywhere a value can - including as the argument to another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490036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prototype ends in a semicolon instead of a body. Rust reads the whole module first, so order never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839408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preprocessor slides in the Variables lecture: this is exactly the include-only-once pattern. The body lives in sensor.c.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810616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preprocessor slides in the Variables lecture: this is exactly the include-only-once pattern. The body lives in sensor.c.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1497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Every program has been a function all along. The shell reads the exit status - echo $? after running a program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37374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two words are often used interchangeably, but the distinction matters for the rest of the lecture. The call assigns each argument into its parameter.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502051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scope and lifetime together. Next slide shows where they actually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083736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Parameters, locals, and the return address live in the frame. A call pushes a frame, a return pops it. The debugger backtrace command from last lecture prints exactly this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187228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Scope is where a name is visible. Local names cannot collide across functions, which is what makes functions safe to combine.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336778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function gets its own copy. Changing the copy cannot touch the caller.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86331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Ask the class to predict the result before revealing it. Most will say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932809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Use the course notation on the right. The pointer is still passed by value - but the value is an address, so the function can reach the caller's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13143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pointer slides from the structs lecture. x holds 0x1F899BC; ((x)) is the contents at that address, which is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55975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reference is an alias. The compiler passes an address underneath, but the code reads like plain variables - no * and no &amp;.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656121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convenience of references has a price: the call site no longer tells the reader what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105956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the normal way to pass any struct bigger than a few words. const turns a promise in a comment into a rule the compiler enforces.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801430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has exactly one owner for each value. After the first call, show owns the sample and drops it when it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322046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Borrowing is Rust's name for passing a reference. The caller keeps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899774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solves the C++ hidden-danger problem: a function can only modify your variable if you write &amp;mut at the call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219001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Many readers or one writer - the same rule as a database lock, enforced at compile time. This is what prevents data races in 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255661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 T is any type. The last row is the one to dwell on: C and Rust show the address at the call; C++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046926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For our 16 byte sample the difference is small; for a struct holding an array of 1000 readings it is enormous.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178709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Returning structs is cheap in practice thanks to return value optimization. It is a clean way to return several values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217476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How many elements? slide in the arrays lecture: the sizeof trick only works where the real array is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990012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std::span is a pointer plus a length bundled together - the C convention made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5274822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borrowed array of any length coerces to a slice. Indexing is still bounds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7382786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Output parameters are common in C APIs. Tuples are Rust's lightweight answer; C++ has std::pair and structured bindings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579995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Overloading is convenient and occasionally confusing. C and Rust both chose one name, one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5188154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Defaults must come last in the parameter list. Rust programmers use builder patterns or Option parameters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047022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Motivation for member functions. The naming prefix is how C programmers group them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154648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Remember this shape - a pointer to the instance as the first parameter. C++ and Rust do exactly this, and hide or name that parameter.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9177361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idea, two names. Many languages say method; the C++ standard says member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886325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1 psi is 6.894757 kPa. Inside the member function, psi means the psi of whichever instance the function was called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756508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dot selects a member - here the member is a function. Each call works on its own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8954297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Put the C sample_update next to the C++ version on the board. The first parameter did not go away; it became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7375754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Equivalent to making this a pointer to const. A const reference parameter can only call const member functions, so forgetting const spreads.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5724369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No const here, because update changes the instance. Note that it keeps adc_counts and psi consistent - a theme that comes back on the public/private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755659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Same header and source split as for plain functions. :: is the scope resolution operator.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4239298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Data in the struct, behavior in impl. A type can have several impl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71402813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Rust makes the hidden C++ parameter explicit, and uses the same &amp; and &amp;mut rules as for any other parameter.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8261949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instance must be declared mut to call a &amp;mut self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4521910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method call syntax is just sugar for passing the instance as the first argument. All three languages end up in the same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8305955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C++ constructor has the type's name and no return type. Rust has no special constructor: new is just an ordinary associated function, by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379751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No this, no self. Used for constructors and for helpers that relate to the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246103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summary of the member-function section. One mechanism, three spellings.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012428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 has no private members at all; everything in a struct is visible to everyone who can see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5574278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rule - psi agrees with adc_counts - is called an invariant. Keeping it is the main reason member functions and private data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2731572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the debugger lecture. step versus next only mattered once there were functions to step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1229493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These are the habits graders and code reviewers look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09845133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Summary. Data grouped into structs, statements grouped into functions, and the two joined as member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1347485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Lab exercise. Suggested: write adc_to_psi, then update() as a member function in C++ and a method in Rust, then step into each call in the debugger and print the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03410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Where We Left Off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Variables</a:t>
            </a:r>
            <a:r>
              <a:rPr sz="2800" b="0">
                <a:latin typeface="Cambria"/>
              </a:rPr>
              <a:t>, </a:t>
            </a:r>
            <a:r>
              <a:rPr sz="2800" b="1">
                <a:latin typeface="Cambria"/>
              </a:rPr>
              <a:t>structs</a:t>
            </a:r>
            <a:r>
              <a:rPr sz="2800" b="0">
                <a:latin typeface="Cambria"/>
              </a:rPr>
              <a:t>, and </a:t>
            </a:r>
            <a:r>
              <a:rPr sz="2800" b="1">
                <a:latin typeface="Cambria"/>
              </a:rPr>
              <a:t>arrays</a:t>
            </a:r>
            <a:r>
              <a:rPr sz="2800" b="0">
                <a:latin typeface="Cambria"/>
              </a:rPr>
              <a:t> hold data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Operators</a:t>
            </a:r>
            <a:r>
              <a:rPr sz="2800" b="0">
                <a:latin typeface="Cambria"/>
              </a:rPr>
              <a:t> compute new values from them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Every statement so far has lived in </a:t>
            </a:r>
            <a:r>
              <a:rPr sz="2800" b="1">
                <a:latin typeface="Cambria"/>
              </a:rPr>
              <a:t>main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Real programs have thousands of statements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Same Code, Three Times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psi1 = ( 2736.0f - counts1 ) / 25.6f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psi2 = ( 2736.0f - counts2 ) / 25.6f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psi3 = ( 2736.0f - counts3 ) / 25.6f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Find the calibration error - fix it three times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Miss one, and two readings are wrong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Group Statements Under a Name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 </a:t>
            </a:r>
            <a:r>
              <a:rPr sz="2800" b="1">
                <a:latin typeface="Cambria"/>
              </a:rPr>
              <a:t>function</a:t>
            </a:r>
            <a:r>
              <a:rPr sz="2800" b="0">
                <a:latin typeface="Cambria"/>
              </a:rPr>
              <a:t> is a named block of statements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Write it </a:t>
            </a:r>
            <a:r>
              <a:rPr sz="2800" b="1">
                <a:latin typeface="Cambria"/>
              </a:rPr>
              <a:t>once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Call</a:t>
            </a:r>
            <a:r>
              <a:rPr sz="2800" b="0">
                <a:latin typeface="Cambria"/>
              </a:rPr>
              <a:t> it by name as many times as you need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It can take inputs and give back a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Why Functions?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834640" algn="l"/>
              </a:tabLst>
            </a:pPr>
            <a:r>
              <a:rPr sz="2600" b="1">
                <a:latin typeface="Cambria"/>
              </a:rPr>
              <a:t>Reuse</a:t>
            </a:r>
            <a:r>
              <a:rPr sz="2600" b="0">
                <a:latin typeface="Cambria"/>
              </a:rPr>
              <a:t>	write once, call many times</a:t>
            </a:r>
          </a:p>
          <a:p>
            <a:pPr>
              <a:tabLst>
                <a:tab pos="28346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834640" algn="l"/>
              </a:tabLst>
            </a:pPr>
            <a:r>
              <a:rPr sz="2600" b="1">
                <a:latin typeface="Cambria"/>
              </a:rPr>
              <a:t>Name an idea</a:t>
            </a:r>
            <a:r>
              <a:rPr sz="2600" b="0">
                <a:latin typeface="Cambria"/>
              </a:rPr>
              <a:t>	adc_to_psi says what it does</a:t>
            </a:r>
          </a:p>
          <a:p>
            <a:pPr>
              <a:tabLst>
                <a:tab pos="28346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834640" algn="l"/>
              </a:tabLst>
            </a:pPr>
            <a:r>
              <a:rPr sz="2600" b="1">
                <a:latin typeface="Cambria"/>
              </a:rPr>
              <a:t>Test</a:t>
            </a:r>
            <a:r>
              <a:rPr sz="2600" b="0">
                <a:latin typeface="Cambria"/>
              </a:rPr>
              <a:t>	check one small piece at a time</a:t>
            </a:r>
          </a:p>
          <a:p>
            <a:pPr>
              <a:tabLst>
                <a:tab pos="28346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2834640" algn="l"/>
              </a:tabLst>
            </a:pPr>
            <a:r>
              <a:rPr sz="2600" b="1">
                <a:latin typeface="Cambria"/>
              </a:rPr>
              <a:t>Hide detail</a:t>
            </a:r>
            <a:r>
              <a:rPr sz="2600" b="0">
                <a:latin typeface="Cambria"/>
              </a:rPr>
              <a:t>	the caller need not know how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Anatomy of a Function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840480" algn="l"/>
              </a:tabLst>
            </a:pPr>
            <a:r>
              <a:rPr sz="2400" b="1">
                <a:latin typeface="Cambria"/>
              </a:rPr>
              <a:t>float</a:t>
            </a:r>
            <a:r>
              <a:rPr sz="2400" b="0">
                <a:latin typeface="Cambria"/>
              </a:rPr>
              <a:t>	return type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 b="1">
                <a:latin typeface="Cambria"/>
              </a:rPr>
              <a:t>adc_to_psi</a:t>
            </a:r>
            <a:r>
              <a:rPr sz="2400" b="0">
                <a:latin typeface="Cambria"/>
              </a:rPr>
              <a:t>	name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 b="1">
                <a:latin typeface="Cambria"/>
              </a:rPr>
              <a:t>( uint32_t counts )</a:t>
            </a:r>
            <a:r>
              <a:rPr sz="2400" b="0">
                <a:latin typeface="Cambria"/>
              </a:rPr>
              <a:t>	parameter list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 b="1">
                <a:latin typeface="Cambria"/>
              </a:rPr>
              <a:t>{ ... }</a:t>
            </a:r>
            <a:r>
              <a:rPr sz="2400" b="0">
                <a:latin typeface="Cambria"/>
              </a:rPr>
              <a:t>	body - the statements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 b="0">
                <a:latin typeface="Cambria"/>
              </a:rPr>
              <a:t>float adc_to_psi ( uint32_t counts ) {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 b="0">
                <a:latin typeface="Cambria"/>
              </a:rPr>
              <a:t>	return ( 2736.0f - (float) counts ) / 25.6f ;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4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Function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 b="0">
                <a:latin typeface="Cambria"/>
              </a:rPr>
              <a:t>#define ZERO_PSI_COUNTS	2736.0f</a:t>
            </a:r>
          </a:p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 b="0">
                <a:latin typeface="Cambria"/>
              </a:rPr>
              <a:t>#define COUNTS_PER_PSI	25.6f</a:t>
            </a:r>
          </a:p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 b="0">
                <a:latin typeface="Cambria"/>
              </a:rPr>
              <a:t>float adc_to_psi ( uint32_t counts ) {</a:t>
            </a:r>
          </a:p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 b="0">
                <a:latin typeface="Cambria"/>
              </a:rPr>
              <a:t>	return ( ZERO_PSI_COUNTS - (float) counts )</a:t>
            </a:r>
          </a:p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 b="0">
                <a:latin typeface="Cambria"/>
              </a:rPr>
              <a:t>		/ COUNTS_PER_PSI ;</a:t>
            </a:r>
          </a:p>
          <a:p>
            <a:pPr>
              <a:tabLst>
                <a:tab pos="548640" algn="l"/>
                <a:tab pos="1097280" algn="l"/>
                <a:tab pos="3931920" algn="l"/>
              </a:tabLst>
            </a:pPr>
            <a:r>
              <a:rPr sz="24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Function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constexpr float ZERO_PSI_COUNTS	= 2736.0f ;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constexpr float COUNTS_PER_PSI	= 25.6f ;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float adc_to_psi ( uint32_t counts ) {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	return ( ZERO_PSI_COUNTS - (float) counts )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		/ COUNTS_PER_PSI ;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4480560" algn="l"/>
              </a:tabLst>
            </a:pPr>
            <a:r>
              <a:rPr sz="2400" b="0">
                <a:latin typeface="Cambria"/>
              </a:rPr>
              <a:t>The function itself is the same as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Function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const ZERO_PSI_COUNTS : f32 = 2736.0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const COUNTS_PER_PSI : f32 = 25.6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fn adc_to_psi ( counts : u32 ) -&gt; f32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( ZERO_PSI_COUNTS - counts as f32 ) / COUNTS_PER_PSI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1">
                <a:latin typeface="Cambria"/>
              </a:rPr>
              <a:t>fn</a:t>
            </a:r>
            <a:r>
              <a:rPr sz="2400" b="0">
                <a:latin typeface="Cambria"/>
              </a:rPr>
              <a:t> keyword,  name : type,  return type after </a:t>
            </a:r>
            <a:r>
              <a:rPr sz="2400" b="1">
                <a:latin typeface="Cambria"/>
              </a:rPr>
              <a:t>-&gt;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Returning a Value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C, C++, Rust: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	</a:t>
            </a:r>
            <a:r>
              <a:rPr sz="2600" b="1" dirty="0">
                <a:latin typeface="Cambria"/>
              </a:rPr>
              <a:t>return</a:t>
            </a:r>
            <a:r>
              <a:rPr sz="2600" b="0" dirty="0">
                <a:latin typeface="Cambria"/>
              </a:rPr>
              <a:t> value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Rust also allows a final </a:t>
            </a:r>
            <a:r>
              <a:rPr sz="2600" b="1" dirty="0">
                <a:latin typeface="Cambria"/>
              </a:rPr>
              <a:t>expression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with no semicolon: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	</a:t>
            </a:r>
            <a:r>
              <a:rPr sz="2600" b="0" dirty="0" err="1">
                <a:latin typeface="Cambria"/>
              </a:rPr>
              <a:t>fn</a:t>
            </a:r>
            <a:r>
              <a:rPr sz="2600" b="0" dirty="0">
                <a:latin typeface="Cambria"/>
              </a:rPr>
              <a:t> square ( x : i32 ) -&gt; i32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		x * x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 dirty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Functions That Return Nothing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C, C++: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void show ( float psi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printf ( "%.1f psi\n",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Rust: leave off the -&gt;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fn show ( psi : f32 )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println! ( "{:.1} psi",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Calling a Function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846320" algn="l"/>
              </a:tabLst>
            </a:pPr>
            <a:r>
              <a:rPr sz="2400" b="0">
                <a:latin typeface="Cambria"/>
              </a:rPr>
              <a:t>psi = adc_to_psi ( 1456 ) ;	50.0</a:t>
            </a:r>
          </a:p>
          <a:p>
            <a:pPr>
              <a:tabLst>
                <a:tab pos="48463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4846320" algn="l"/>
              </a:tabLst>
            </a:pPr>
            <a:r>
              <a:rPr sz="2400" b="0">
                <a:latin typeface="Cambria"/>
              </a:rPr>
              <a:t>my_sample.psi = adc_to_psi ( my_sample.adc_counts ) ;</a:t>
            </a:r>
          </a:p>
          <a:p>
            <a:pPr>
              <a:tabLst>
                <a:tab pos="48463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4846320" algn="l"/>
              </a:tabLst>
            </a:pPr>
            <a:r>
              <a:rPr sz="2400" b="0">
                <a:latin typeface="Cambria"/>
              </a:rPr>
              <a:t>show ( adc_to_psi ( 1200 ) ) ;	60.0 psi</a:t>
            </a:r>
          </a:p>
          <a:p>
            <a:pPr>
              <a:tabLst>
                <a:tab pos="484632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4846320" algn="l"/>
              </a:tabLst>
            </a:pPr>
            <a:r>
              <a:rPr sz="2400" b="0">
                <a:latin typeface="Cambria"/>
              </a:rPr>
              <a:t>Same syntax in C, C++, and Rust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Declare Before Use: C,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compiler reads the file </a:t>
            </a:r>
            <a:r>
              <a:rPr sz="2400" b="1">
                <a:latin typeface="Cambria"/>
              </a:rPr>
              <a:t>top to bottom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A call to a function it has not seen yet is an </a:t>
            </a:r>
            <a:r>
              <a:rPr sz="2400" b="1">
                <a:latin typeface="Cambria"/>
              </a:rPr>
              <a:t>error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Fix it with a </a:t>
            </a:r>
            <a:r>
              <a:rPr sz="2400" b="1">
                <a:latin typeface="Cambria"/>
              </a:rPr>
              <a:t>prototype</a:t>
            </a:r>
            <a:r>
              <a:rPr sz="2400" b="0">
                <a:latin typeface="Cambria"/>
              </a:rPr>
              <a:t> - the signature alone: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float adc_to_psi ( uint32_t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Rust does not care about order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Prototypes Go in a Header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sensor.h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#ifndef SENSOR_H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#define SENSOR_H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float adc_to_psi ( uint32_t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#endif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main.c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#include "sensor.h"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Using extern in Prototypes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 err="1">
                <a:latin typeface="Cambria"/>
              </a:rPr>
              <a:t>sensor.h</a:t>
            </a:r>
            <a:endParaRPr sz="2400" b="0" dirty="0">
              <a:latin typeface="Cambria"/>
            </a:endParaRP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>
                <a:latin typeface="Cambria"/>
              </a:rPr>
              <a:t>	#</a:t>
            </a:r>
            <a:r>
              <a:rPr sz="2400" b="0" dirty="0" err="1">
                <a:latin typeface="Cambria"/>
              </a:rPr>
              <a:t>ifndef</a:t>
            </a:r>
            <a:r>
              <a:rPr sz="2400" b="0" dirty="0">
                <a:latin typeface="Cambria"/>
              </a:rPr>
              <a:t> SENSOR_H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>
                <a:latin typeface="Cambria"/>
              </a:rPr>
              <a:t>	#define SENSOR_H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>
                <a:latin typeface="Cambria"/>
              </a:rPr>
              <a:t>	</a:t>
            </a:r>
            <a:r>
              <a:rPr lang="en-US" sz="2400" b="1" dirty="0" smtClean="0">
                <a:latin typeface="Cambria"/>
              </a:rPr>
              <a:t>extern</a:t>
            </a:r>
            <a:r>
              <a:rPr lang="en-US" sz="2400" b="0" dirty="0" smtClean="0">
                <a:latin typeface="Cambria"/>
              </a:rPr>
              <a:t> </a:t>
            </a:r>
            <a:r>
              <a:rPr sz="2400" b="0" dirty="0" smtClean="0">
                <a:latin typeface="Cambria"/>
              </a:rPr>
              <a:t>float </a:t>
            </a:r>
            <a:r>
              <a:rPr sz="2400" b="0" dirty="0" err="1">
                <a:latin typeface="Cambria"/>
              </a:rPr>
              <a:t>adc_to_psi</a:t>
            </a:r>
            <a:r>
              <a:rPr sz="2400" b="0" dirty="0">
                <a:latin typeface="Cambria"/>
              </a:rPr>
              <a:t> ( uint32_t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>
                <a:latin typeface="Cambria"/>
              </a:rPr>
              <a:t>	#</a:t>
            </a:r>
            <a:r>
              <a:rPr sz="2400" b="0" dirty="0" err="1">
                <a:latin typeface="Cambria"/>
              </a:rPr>
              <a:t>endif</a:t>
            </a:r>
            <a:endParaRPr sz="2400" b="0" dirty="0">
              <a:latin typeface="Cambria"/>
            </a:endParaRP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dirty="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 err="1">
                <a:latin typeface="Cambria"/>
              </a:rPr>
              <a:t>main.c</a:t>
            </a:r>
            <a:endParaRPr sz="2400" b="0" dirty="0">
              <a:latin typeface="Cambria"/>
            </a:endParaRP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 dirty="0">
                <a:latin typeface="Cambria"/>
              </a:rPr>
              <a:t>	#include "</a:t>
            </a:r>
            <a:r>
              <a:rPr sz="2400" b="0" dirty="0" err="1">
                <a:latin typeface="Cambria"/>
              </a:rPr>
              <a:t>sensor.h</a:t>
            </a:r>
            <a:r>
              <a:rPr sz="2400" b="0" dirty="0" smtClean="0">
                <a:latin typeface="Cambria"/>
              </a:rPr>
              <a:t>"</a:t>
            </a:r>
            <a:endParaRPr lang="en-US" sz="2400" b="0" dirty="0" smtClean="0">
              <a:latin typeface="Cambria"/>
            </a:endParaRP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endParaRPr lang="en-US" sz="2400" dirty="0">
              <a:latin typeface="Cambria"/>
            </a:endParaRP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endParaRPr lang="en-US" sz="2400" b="0" dirty="0" smtClean="0">
              <a:latin typeface="Cambria"/>
            </a:endParaRP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lang="en-US" sz="2400" dirty="0" smtClean="0">
                <a:latin typeface="Cambria"/>
              </a:rPr>
              <a:t>Extern shows that definition is elsewhere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lang="en-US" sz="2400" b="0" dirty="0" smtClean="0">
                <a:latin typeface="Cambria"/>
              </a:rPr>
              <a:t>Not necessary but useful for easier reading</a:t>
            </a:r>
            <a:endParaRPr sz="24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814492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main is a Function Too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C:	int main ( void ) { ... return 0 ; }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C++:	int main ( ) { ... return 0 ; }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Rust:	fn main ( ) { ... }</a:t>
            </a:r>
          </a:p>
          <a:p>
            <a:pPr>
              <a:tabLst>
                <a:tab pos="13716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The operating system </a:t>
            </a:r>
            <a:r>
              <a:rPr sz="2400" b="1">
                <a:latin typeface="Cambria"/>
              </a:rPr>
              <a:t>calls</a:t>
            </a:r>
            <a:r>
              <a:rPr sz="2400" b="0">
                <a:latin typeface="Cambria"/>
              </a:rPr>
              <a:t> main</a:t>
            </a:r>
          </a:p>
          <a:p>
            <a:pPr>
              <a:tabLst>
                <a:tab pos="13716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Its return value is the </a:t>
            </a:r>
            <a:r>
              <a:rPr sz="2400" b="1">
                <a:latin typeface="Cambria"/>
              </a:rPr>
              <a:t>exit status</a:t>
            </a:r>
          </a:p>
          <a:p>
            <a:pPr>
              <a:tabLst>
                <a:tab pos="1371600" algn="l"/>
              </a:tabLst>
            </a:pPr>
            <a:r>
              <a:rPr sz="2400" b="0">
                <a:latin typeface="Cambria"/>
              </a:rPr>
              <a:t>	0 means success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Parameters and Arguments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926080" algn="l"/>
              </a:tabLst>
            </a:pPr>
            <a:r>
              <a:rPr sz="2600" b="1">
                <a:latin typeface="Cambria"/>
              </a:rPr>
              <a:t>Parameter</a:t>
            </a:r>
            <a:r>
              <a:rPr sz="2600" b="0">
                <a:latin typeface="Cambria"/>
              </a:rPr>
              <a:t>:  the name in the definition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>
                <a:latin typeface="Cambria"/>
              </a:rPr>
              <a:t>	float adc_to_psi ( uint32_t </a:t>
            </a:r>
            <a:r>
              <a:rPr sz="2600" b="1">
                <a:latin typeface="Cambria"/>
              </a:rPr>
              <a:t>counts</a:t>
            </a:r>
            <a:r>
              <a:rPr sz="2600" b="0">
                <a:latin typeface="Cambria"/>
              </a:rPr>
              <a:t> )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1">
                <a:latin typeface="Cambria"/>
              </a:rPr>
              <a:t>Argument</a:t>
            </a:r>
            <a:r>
              <a:rPr sz="2600" b="0">
                <a:latin typeface="Cambria"/>
              </a:rPr>
              <a:t>:  the value in the call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>
                <a:latin typeface="Cambria"/>
              </a:rPr>
              <a:t>	adc_to_psi ( </a:t>
            </a:r>
            <a:r>
              <a:rPr sz="2600" b="1">
                <a:latin typeface="Cambria"/>
              </a:rPr>
              <a:t>1456</a:t>
            </a:r>
            <a:r>
              <a:rPr sz="2600" b="0">
                <a:latin typeface="Cambria"/>
              </a:rPr>
              <a:t> )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926080" algn="l"/>
              </a:tabLst>
            </a:pPr>
            <a:r>
              <a:rPr sz="2600" b="0">
                <a:latin typeface="Cambria"/>
              </a:rPr>
              <a:t>When called:	counts &lt;= ( 1456 )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Parameters are Local Variables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Each call gets </a:t>
            </a:r>
            <a:r>
              <a:rPr sz="2800" b="1">
                <a:latin typeface="Cambria"/>
              </a:rPr>
              <a:t>fresh</a:t>
            </a:r>
            <a:r>
              <a:rPr sz="2800" b="0">
                <a:latin typeface="Cambria"/>
              </a:rPr>
              <a:t> parameters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They exist only while the function runs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Variables declared inside are </a:t>
            </a:r>
            <a:r>
              <a:rPr sz="2800" b="1">
                <a:latin typeface="Cambria"/>
              </a:rPr>
              <a:t>local</a:t>
            </a:r>
            <a:r>
              <a:rPr sz="2800" b="0">
                <a:latin typeface="Cambria"/>
              </a:rPr>
              <a:t> too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When the function returns, they are gone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Call Stack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Each call gets a </a:t>
            </a:r>
            <a:r>
              <a:rPr sz="2600" b="1">
                <a:latin typeface="Cambria"/>
              </a:rPr>
              <a:t>stack frame</a:t>
            </a:r>
            <a:r>
              <a:rPr sz="2600" b="0">
                <a:latin typeface="Cambria"/>
              </a:rPr>
              <a:t> in memory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2103120" y="2788920"/>
            <a:ext cx="4754880" cy="1655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endParaRPr/>
          </a:p>
        </p:txBody>
      </p:sp>
      <p:sp>
        <p:nvSpPr>
          <p:cNvPr id="390" name="TextBox 389"/>
          <p:cNvSpPr txBox="1"/>
          <p:nvPr/>
        </p:nvSpPr>
        <p:spPr>
          <a:xfrm>
            <a:off x="2286000" y="2880360"/>
            <a:ext cx="4389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Cambria"/>
              </a:rPr>
              <a:t>frame:  adc_to_psi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606039" y="326440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mbria"/>
              </a:rPr>
              <a:t>counts = 1456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606039" y="363016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mbria"/>
              </a:rPr>
              <a:t>psi = 50.0   (local)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606039" y="39959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mbria"/>
              </a:rPr>
              <a:t>return address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2103120" y="4608576"/>
            <a:ext cx="4754880" cy="1655064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endParaRPr/>
          </a:p>
        </p:txBody>
      </p:sp>
      <p:sp>
        <p:nvSpPr>
          <p:cNvPr id="395" name="TextBox 394"/>
          <p:cNvSpPr txBox="1"/>
          <p:nvPr/>
        </p:nvSpPr>
        <p:spPr>
          <a:xfrm>
            <a:off x="2286000" y="4700016"/>
            <a:ext cx="4389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Cambria"/>
              </a:rPr>
              <a:t>frame:  main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2606039" y="508406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mbria"/>
              </a:rPr>
              <a:t>my_sample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2606039" y="544982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mbria"/>
              </a:rPr>
              <a:t>count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2606039" y="581558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mbria"/>
              </a:rPr>
              <a:t>...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7086600" y="28803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000000"/>
                </a:solidFill>
                <a:latin typeface="Cambria"/>
              </a:rPr>
              <a:t>pushed by the call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7086600" y="315468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000000"/>
                </a:solidFill>
                <a:latin typeface="Cambria"/>
              </a:rPr>
              <a:t>popped by return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80041" y="6656832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Cambria"/>
              </a:rPr>
              <a:t>Parameters and locals vanish when the frame is popped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Scope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float adc_to_psi ( uint32_t counts ) {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	float psi = ... ;	local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	return psi ;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main cannot see </a:t>
            </a:r>
            <a:r>
              <a:rPr sz="2400" b="1">
                <a:latin typeface="Cambria"/>
              </a:rPr>
              <a:t>counts</a:t>
            </a:r>
            <a:r>
              <a:rPr sz="2400" b="0">
                <a:latin typeface="Cambria"/>
              </a:rPr>
              <a:t> or </a:t>
            </a:r>
            <a:r>
              <a:rPr sz="2400" b="1">
                <a:latin typeface="Cambria"/>
              </a:rPr>
              <a:t>psi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Two functions may each have a variable named psi</a:t>
            </a:r>
          </a:p>
          <a:p>
            <a:pPr>
              <a:tabLst>
                <a:tab pos="548640" algn="l"/>
                <a:tab pos="4114800" algn="l"/>
              </a:tabLst>
            </a:pPr>
            <a:r>
              <a:rPr sz="2400" b="0">
                <a:latin typeface="Cambria"/>
              </a:rPr>
              <a:t>They are </a:t>
            </a:r>
            <a:r>
              <a:rPr sz="2400" b="1">
                <a:latin typeface="Cambria"/>
              </a:rPr>
              <a:t>different</a:t>
            </a:r>
            <a:r>
              <a:rPr sz="2400" b="0">
                <a:latin typeface="Cambria"/>
              </a:rPr>
              <a:t> variables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 by Value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The </a:t>
            </a:r>
            <a:r>
              <a:rPr sz="2600" b="1">
                <a:latin typeface="Cambria"/>
              </a:rPr>
              <a:t>contents</a:t>
            </a:r>
            <a:r>
              <a:rPr sz="2600" b="0">
                <a:latin typeface="Cambria"/>
              </a:rPr>
              <a:t> of the argument are copied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into the parameter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4400" y="3154679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Cambria"/>
              </a:rPr>
              <a:t>caller:  main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914400" y="3566160"/>
            <a:ext cx="2743200" cy="10972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2000" b="1">
                <a:solidFill>
                  <a:srgbClr val="000000"/>
                </a:solidFill>
                <a:latin typeface="Cambria"/>
              </a:rPr>
              <a:t>count</a:t>
            </a:r>
          </a:p>
          <a:p>
            <a:pPr algn="ctr"/>
            <a:r>
              <a:rPr sz="1700" i="1">
                <a:solidFill>
                  <a:srgbClr val="000000"/>
                </a:solidFill>
                <a:latin typeface="Cambria"/>
              </a:rPr>
              <a:t>5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6035040" y="3154679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Cambria"/>
              </a:rPr>
              <a:t>callee:  bump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035040" y="3566160"/>
            <a:ext cx="2743200" cy="109728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2000" b="1">
                <a:solidFill>
                  <a:srgbClr val="000000"/>
                </a:solidFill>
                <a:latin typeface="Cambria"/>
              </a:rPr>
              <a:t>x</a:t>
            </a:r>
          </a:p>
          <a:p>
            <a:pPr algn="ctr"/>
            <a:r>
              <a:rPr sz="1700" i="1">
                <a:solidFill>
                  <a:srgbClr val="000000"/>
                </a:solidFill>
                <a:latin typeface="Cambria"/>
              </a:rPr>
              <a:t>5   then   6</a:t>
            </a:r>
          </a:p>
        </p:txBody>
      </p:sp>
      <p:sp>
        <p:nvSpPr>
          <p:cNvPr id="393" name="Right Arrow 392"/>
          <p:cNvSpPr/>
          <p:nvPr/>
        </p:nvSpPr>
        <p:spPr>
          <a:xfrm>
            <a:off x="3931920" y="3950208"/>
            <a:ext cx="1828800" cy="329184"/>
          </a:xfrm>
          <a:prstGeom prst="right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TextBox 393"/>
          <p:cNvSpPr txBox="1"/>
          <p:nvPr/>
        </p:nvSpPr>
        <p:spPr>
          <a:xfrm>
            <a:off x="3657600" y="3520440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  <a:latin typeface="Cambria"/>
              </a:rPr>
              <a:t>copy of contents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580041" y="5166360"/>
            <a:ext cx="8503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Cambria"/>
              </a:rPr>
              <a:t>x  &lt;=  ( count )        count stays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 by Value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void bump ( int x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x = x + 1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int count = 5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bump ( count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count is </a:t>
            </a:r>
            <a:r>
              <a:rPr sz="2600" b="1">
                <a:latin typeface="Cambria"/>
              </a:rPr>
              <a:t>still 5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bump changed its own copy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 a Pointer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206240" algn="l"/>
              </a:tabLst>
            </a:pPr>
            <a:r>
              <a:rPr sz="2600" b="0">
                <a:latin typeface="Cambria"/>
              </a:rPr>
              <a:t>void bump ( int *x ) {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 b="0">
                <a:latin typeface="Cambria"/>
              </a:rPr>
              <a:t>	*x = *x + 1 ;	((x)) &lt;= ((x)) + 1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 b="0">
                <a:latin typeface="Cambria"/>
              </a:rPr>
              <a:t>int count = 5 ;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 b="0">
                <a:latin typeface="Cambria"/>
              </a:rPr>
              <a:t>bump ( &amp;count ) ;	x &lt;= &amp;( count )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4206240" algn="l"/>
              </a:tabLst>
            </a:pPr>
            <a:r>
              <a:rPr sz="2600" b="0">
                <a:latin typeface="Cambria"/>
              </a:rPr>
              <a:t>count is now </a:t>
            </a:r>
            <a:r>
              <a:rPr sz="2600" b="1">
                <a:latin typeface="Cambria"/>
              </a:rPr>
              <a:t>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the Pointer Does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The parameter holds the </a:t>
            </a:r>
            <a:r>
              <a:rPr sz="2600" b="1">
                <a:latin typeface="Cambria"/>
              </a:rPr>
              <a:t>address</a:t>
            </a:r>
            <a:r>
              <a:rPr sz="2600" b="0">
                <a:latin typeface="Cambria"/>
              </a:rPr>
              <a:t> of count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14400" y="297180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Cambria"/>
              </a:rPr>
              <a:t>caller:  main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914400" y="3383280"/>
            <a:ext cx="2926080" cy="118872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2000" b="1">
                <a:solidFill>
                  <a:srgbClr val="000000"/>
                </a:solidFill>
                <a:latin typeface="Cambria"/>
              </a:rPr>
              <a:t>count</a:t>
            </a:r>
          </a:p>
          <a:p>
            <a:pPr algn="ctr"/>
            <a:r>
              <a:rPr sz="1700" i="1">
                <a:solidFill>
                  <a:srgbClr val="000000"/>
                </a:solidFill>
                <a:latin typeface="Cambria"/>
              </a:rPr>
              <a:t>5   then   6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14400" y="464515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000000"/>
                </a:solidFill>
                <a:latin typeface="Cambria"/>
              </a:rPr>
              <a:t>address  0x1F899BC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5943600" y="297180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Cambria"/>
              </a:rPr>
              <a:t>callee:  bump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5943600" y="3383280"/>
            <a:ext cx="2926080" cy="118872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2000" b="1">
                <a:solidFill>
                  <a:srgbClr val="000000"/>
                </a:solidFill>
                <a:latin typeface="Cambria"/>
              </a:rPr>
              <a:t>x</a:t>
            </a:r>
          </a:p>
          <a:p>
            <a:pPr algn="ctr"/>
            <a:r>
              <a:rPr sz="1700" i="1">
                <a:solidFill>
                  <a:srgbClr val="000000"/>
                </a:solidFill>
                <a:latin typeface="Cambria"/>
              </a:rPr>
              <a:t>0x1F899BC</a:t>
            </a:r>
          </a:p>
        </p:txBody>
      </p:sp>
      <p:sp>
        <p:nvSpPr>
          <p:cNvPr id="394" name="Left Arrow 393"/>
          <p:cNvSpPr/>
          <p:nvPr/>
        </p:nvSpPr>
        <p:spPr>
          <a:xfrm>
            <a:off x="4069080" y="3813048"/>
            <a:ext cx="1645920" cy="329184"/>
          </a:xfrm>
          <a:prstGeom prst="leftArrow">
            <a:avLst/>
          </a:prstGeom>
          <a:solidFill>
            <a:srgbClr val="1F4E79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TextBox 394"/>
          <p:cNvSpPr txBox="1"/>
          <p:nvPr/>
        </p:nvSpPr>
        <p:spPr>
          <a:xfrm>
            <a:off x="3840480" y="340156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  <a:latin typeface="Cambria"/>
              </a:rPr>
              <a:t>points to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580041" y="5257800"/>
            <a:ext cx="85039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Cambria"/>
              </a:rPr>
              <a:t>x  &lt;=  &amp;( count )          ((x))  &lt;=  ((x)) + 1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 by Reference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void bump ( int &amp;x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x = x + 1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int count = 5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bump ( count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count is now </a:t>
            </a:r>
            <a:r>
              <a:rPr sz="2600" b="1">
                <a:latin typeface="Cambria"/>
              </a:rPr>
              <a:t>6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x is another </a:t>
            </a:r>
            <a:r>
              <a:rPr sz="2600" b="1">
                <a:latin typeface="Cambria"/>
              </a:rPr>
              <a:t>name</a:t>
            </a:r>
            <a:r>
              <a:rPr sz="2600" b="0">
                <a:latin typeface="Cambria"/>
              </a:rPr>
              <a:t> for count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Hidden Danger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In C++ these two calls look </a:t>
            </a:r>
            <a:r>
              <a:rPr sz="2500" b="1">
                <a:latin typeface="Cambria"/>
              </a:rPr>
              <a:t>identical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	show ( count ) ;	cannot change count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	bump ( count ) ;	changes count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You must read the </a:t>
            </a:r>
            <a:r>
              <a:rPr sz="2500" b="1">
                <a:latin typeface="Cambria"/>
              </a:rPr>
              <a:t>signature</a:t>
            </a:r>
            <a:r>
              <a:rPr sz="2500" b="0">
                <a:latin typeface="Cambria"/>
              </a:rPr>
              <a:t> to know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931920" algn="l"/>
              </a:tabLst>
            </a:pPr>
            <a:r>
              <a:rPr sz="2500" b="0">
                <a:latin typeface="Cambria"/>
              </a:rPr>
              <a:t>In C, the  &amp;count  at the call is a warning sign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Read-Only Access with const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Large structs: pass the address, but promise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not to change it</a:t>
            </a:r>
          </a:p>
          <a:p>
            <a:pPr>
              <a:tabLst>
                <a:tab pos="12801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C:	void show ( const sample_t *s ) ;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C++:	void show ( const sample_t &amp;s ) ;</a:t>
            </a:r>
          </a:p>
          <a:p>
            <a:pPr>
              <a:tabLst>
                <a:tab pos="12801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No copy is made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The compiler rejects any attempt to modify 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Rust: Ownership Moves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fn show ( s : Sample ) { ... }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show ( my_sample ) ;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show ( my_sample ) ;	</a:t>
            </a:r>
            <a:r>
              <a:rPr sz="2500" b="1">
                <a:latin typeface="Cambria"/>
              </a:rPr>
              <a:t>error</a:t>
            </a:r>
            <a:r>
              <a:rPr sz="2500" b="0">
                <a:latin typeface="Cambria"/>
              </a:rPr>
              <a:t>: value moved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Passing by value </a:t>
            </a:r>
            <a:r>
              <a:rPr sz="2500" b="1">
                <a:latin typeface="Cambria"/>
              </a:rPr>
              <a:t>moves</a:t>
            </a:r>
            <a:r>
              <a:rPr sz="2500" b="0">
                <a:latin typeface="Cambria"/>
              </a:rPr>
              <a:t> the instance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into the function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Copy types like i32 and f32 are copied instead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Rust: Borrowing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fn show ( s : &amp;Sample ) { ... }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show ( &amp;my_sample ) ;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show ( &amp;my_sample ) ;	fine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&amp; lends the instance </a:t>
            </a:r>
            <a:r>
              <a:rPr sz="2500" b="1">
                <a:latin typeface="Cambria"/>
              </a:rPr>
              <a:t>read-only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Like const &amp; in C++, but the &amp; is </a:t>
            </a:r>
            <a:r>
              <a:rPr sz="2500" b="1">
                <a:latin typeface="Cambria"/>
              </a:rPr>
              <a:t>visible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at the call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Rust: Mutable Borrowing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fn bump ( x : &amp;mut i32 )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*x +=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let mut count = 5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bump ( &amp;mut count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count is now </a:t>
            </a:r>
            <a:r>
              <a:rPr sz="2500" b="1">
                <a:latin typeface="Cambria"/>
              </a:rPr>
              <a:t>6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&amp;mut at the call says:  this may change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Borrowing Rules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4572000" algn="l"/>
              </a:tabLst>
            </a:pPr>
            <a:r>
              <a:rPr sz="2500" b="0">
                <a:latin typeface="Cambria"/>
              </a:rPr>
              <a:t>At any moment, a value may have </a:t>
            </a:r>
            <a:r>
              <a:rPr sz="2500" b="1">
                <a:latin typeface="Cambria"/>
              </a:rPr>
              <a:t>either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 b="0">
                <a:latin typeface="Cambria"/>
              </a:rPr>
              <a:t>	any number of  &amp;  borrows	(readers)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 b="0">
                <a:latin typeface="Cambria"/>
              </a:rPr>
              <a:t>	</a:t>
            </a:r>
            <a:r>
              <a:rPr sz="2500" b="1">
                <a:latin typeface="Cambria"/>
              </a:rPr>
              <a:t>or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 b="0">
                <a:latin typeface="Cambria"/>
              </a:rPr>
              <a:t>	exactly one  &amp;mut  borrow	(one writer)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4572000" algn="l"/>
              </a:tabLst>
            </a:pPr>
            <a:r>
              <a:rPr sz="2500" b="0">
                <a:latin typeface="Cambria"/>
              </a:rPr>
              <a:t>Checked by the compiler, not at run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Passing Compared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 b="0">
                <a:latin typeface="Cambria"/>
              </a:rPr>
              <a:t>	C	C++	Rust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 b="1">
                <a:latin typeface="Cambria"/>
              </a:rPr>
              <a:t>Copy</a:t>
            </a:r>
            <a:r>
              <a:rPr sz="2200" b="0">
                <a:latin typeface="Cambria"/>
              </a:rPr>
              <a:t>	int x	int x	x : i32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 b="1">
                <a:latin typeface="Cambria"/>
              </a:rPr>
              <a:t>Read only</a:t>
            </a:r>
            <a:r>
              <a:rPr sz="2200" b="0">
                <a:latin typeface="Cambria"/>
              </a:rPr>
              <a:t>	const T *x	const T &amp;x	x : &amp;T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 b="1">
                <a:latin typeface="Cambria"/>
              </a:rPr>
              <a:t>Modify</a:t>
            </a:r>
            <a:r>
              <a:rPr sz="2200" b="0">
                <a:latin typeface="Cambria"/>
              </a:rPr>
              <a:t>	T *x	T &amp;x	x : &amp;mut T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94560" algn="l"/>
                <a:tab pos="4023360" algn="l"/>
                <a:tab pos="5852160" algn="l"/>
              </a:tabLst>
            </a:pPr>
            <a:r>
              <a:rPr sz="2200" b="1">
                <a:latin typeface="Cambria"/>
              </a:rPr>
              <a:t>At the call</a:t>
            </a:r>
            <a:r>
              <a:rPr sz="2200" b="0">
                <a:latin typeface="Cambria"/>
              </a:rPr>
              <a:t>	&amp;v	v	&amp;v  or  &amp;mut v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Passing a Struct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5120640" algn="l"/>
              </a:tabLst>
            </a:pPr>
            <a:r>
              <a:rPr sz="2400" b="0">
                <a:latin typeface="Cambria"/>
              </a:rPr>
              <a:t>By value copies </a:t>
            </a:r>
            <a:r>
              <a:rPr sz="2400" b="1">
                <a:latin typeface="Cambria"/>
              </a:rPr>
              <a:t>every byte</a:t>
            </a:r>
            <a:r>
              <a:rPr sz="2400" b="0">
                <a:latin typeface="Cambria"/>
              </a:rPr>
              <a:t>: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 b="0">
                <a:latin typeface="Cambria"/>
              </a:rPr>
              <a:t>	void show ( sample_t s ) ;	16 bytes copied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 b="0">
                <a:latin typeface="Cambria"/>
              </a:rPr>
              <a:t>By address copies </a:t>
            </a:r>
            <a:r>
              <a:rPr sz="2400" b="1">
                <a:latin typeface="Cambria"/>
              </a:rPr>
              <a:t>one pointer</a:t>
            </a:r>
            <a:r>
              <a:rPr sz="2400" b="0">
                <a:latin typeface="Cambria"/>
              </a:rPr>
              <a:t>: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 b="0">
                <a:latin typeface="Cambria"/>
              </a:rPr>
              <a:t>	void show ( const sample_t *s ) ;	8 bytes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 b="0">
                <a:latin typeface="Cambria"/>
              </a:rPr>
              <a:t>Inside, reach members with  -&gt;</a:t>
            </a:r>
          </a:p>
          <a:p>
            <a:pPr>
              <a:tabLst>
                <a:tab pos="548640" algn="l"/>
                <a:tab pos="5120640" algn="l"/>
              </a:tabLst>
            </a:pPr>
            <a:r>
              <a:rPr sz="2400" b="0">
                <a:latin typeface="Cambria"/>
              </a:rPr>
              <a:t>	s-&gt;psi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Returning a Struct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C:	sample_t make_sample ( uint32_t counts ) ;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C++:	sample make_sample ( uint32_t counts ) ;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Rust:	fn make_sample ( counts : u32 ) -&gt; Sample</a:t>
            </a:r>
          </a:p>
          <a:p>
            <a:pPr>
              <a:tabLst>
                <a:tab pos="12801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All three can return a whole struct</a:t>
            </a:r>
          </a:p>
          <a:p>
            <a:pPr>
              <a:tabLst>
                <a:tab pos="12801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The compiler usually builds it directly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in the caller's memory - no extra copy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Passing an Array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float average ( const float *psi, size_t n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array </a:t>
            </a:r>
            <a:r>
              <a:rPr sz="2400" b="1">
                <a:latin typeface="Cambria"/>
              </a:rPr>
              <a:t>decays</a:t>
            </a:r>
            <a:r>
              <a:rPr sz="2400" b="0">
                <a:latin typeface="Cambria"/>
              </a:rPr>
              <a:t> to a pointer to element 0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length is </a:t>
            </a:r>
            <a:r>
              <a:rPr sz="2400" b="1">
                <a:latin typeface="Cambria"/>
              </a:rPr>
              <a:t>lost</a:t>
            </a:r>
            <a:r>
              <a:rPr sz="2400" b="0">
                <a:latin typeface="Cambria"/>
              </a:rPr>
              <a:t> - pass it separately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Inside the function,  sizeof(psi)  is </a:t>
            </a:r>
            <a:r>
              <a:rPr sz="2400" b="1">
                <a:latin typeface="Cambria"/>
              </a:rPr>
              <a:t>8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the size of a pointer, not the array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Passing an Array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Fixed size: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float average ( const std::array&lt;float, 100&gt; &amp;psi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Any size  (C++20):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#include &lt;span&gt;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float average ( std::span&lt;const float&gt;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Both know their own  .size()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Passing an Array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fn average ( psi : &amp;[f32] ) -&gt; f32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let mut sum = 0.0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for i in 0..psi.len() { sum += psi[i]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sum / psi.len() as f32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average ( &amp;readings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&amp;[f32] is a </a:t>
            </a:r>
            <a:r>
              <a:rPr sz="2300" b="1">
                <a:latin typeface="Cambria"/>
              </a:rPr>
              <a:t>slice</a:t>
            </a:r>
            <a:r>
              <a:rPr sz="2300" b="0">
                <a:latin typeface="Cambria"/>
              </a:rPr>
              <a:t>: pointer and length together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Returning Several Values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C:	pass pointers for the outputs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void min_max ( const float *v, size_t n,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	float *lo, float *hi )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C, C++:	return a struct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Rust:	return a tuple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fn min_max ( v : &amp;[f32] ) -&gt; ( f32, f32 )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let ( lo, hi ) = min_max ( &amp;readings ) ;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Same Name, Different Parameters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</a:tabLst>
            </a:pPr>
            <a:r>
              <a:rPr sz="2400" b="0">
                <a:latin typeface="Cambria"/>
              </a:rPr>
              <a:t>C++ allows </a:t>
            </a:r>
            <a:r>
              <a:rPr sz="2400" b="1">
                <a:latin typeface="Cambria"/>
              </a:rPr>
              <a:t>overloading</a:t>
            </a:r>
            <a:r>
              <a:rPr sz="2400" b="0">
                <a:latin typeface="Cambria"/>
              </a:rPr>
              <a:t>:</a:t>
            </a:r>
          </a:p>
          <a:p>
            <a:pPr>
              <a:tabLst>
                <a:tab pos="1280160" algn="l"/>
              </a:tabLst>
            </a:pPr>
            <a:r>
              <a:rPr sz="2400" b="0">
                <a:latin typeface="Cambria"/>
              </a:rPr>
              <a:t>	float to_psi ( uint32_t counts ) ;</a:t>
            </a:r>
          </a:p>
          <a:p>
            <a:pPr>
              <a:tabLst>
                <a:tab pos="1280160" algn="l"/>
              </a:tabLst>
            </a:pPr>
            <a:r>
              <a:rPr sz="2400" b="0">
                <a:latin typeface="Cambria"/>
              </a:rPr>
              <a:t>	float to_psi ( float kpa ) ;</a:t>
            </a:r>
          </a:p>
          <a:p>
            <a:pPr>
              <a:tabLst>
                <a:tab pos="12801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400" b="0">
                <a:latin typeface="Cambria"/>
              </a:rPr>
              <a:t>The compiler picks by the argument types</a:t>
            </a:r>
          </a:p>
          <a:p>
            <a:pPr>
              <a:tabLst>
                <a:tab pos="12801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400" b="0">
                <a:latin typeface="Cambria"/>
              </a:rPr>
              <a:t>C:	not allowed - every name is unique</a:t>
            </a:r>
          </a:p>
          <a:p>
            <a:pPr>
              <a:tabLst>
                <a:tab pos="1280160" algn="l"/>
              </a:tabLst>
            </a:pPr>
            <a:r>
              <a:rPr sz="2400" b="0">
                <a:latin typeface="Cambria"/>
              </a:rPr>
              <a:t>Rust:	not allowed - use different names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Default Arguments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C++ only: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void show ( float psi, int digits = 1 ) ;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show ( 50.0f ) ;	digits is 1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	show ( 50.0f, 3 ) ;	digits is 3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840480" algn="l"/>
              </a:tabLst>
            </a:pPr>
            <a:r>
              <a:rPr sz="2500" b="0">
                <a:latin typeface="Cambria"/>
              </a:rPr>
              <a:t>C and Rust have no default arguments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dirty="0" smtClean="0">
                <a:solidFill>
                  <a:schemeClr val="lt1"/>
                </a:solidFill>
                <a:latin typeface="Arial"/>
              </a:rPr>
              <a:t>Data and Functions Belong Together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3291840" algn="l"/>
              </a:tabLst>
            </a:pPr>
            <a:r>
              <a:rPr sz="2500" b="0">
                <a:latin typeface="Cambria"/>
              </a:rPr>
              <a:t>Many functions exist only to work on </a:t>
            </a:r>
            <a:r>
              <a:rPr sz="2500" b="1">
                <a:latin typeface="Cambria"/>
              </a:rPr>
              <a:t>one type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 b="0">
                <a:latin typeface="Cambria"/>
              </a:rPr>
              <a:t>	sample_init	sample_update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 b="0">
                <a:latin typeface="Cambria"/>
              </a:rPr>
              <a:t>	sample_to_kpa	sample_show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 b="0">
                <a:latin typeface="Cambria"/>
              </a:rPr>
              <a:t>The data lives in the struct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 b="0">
                <a:latin typeface="Cambria"/>
              </a:rPr>
              <a:t>The functions live somewhere else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3291840" algn="l"/>
              </a:tabLst>
            </a:pPr>
            <a:r>
              <a:rPr sz="2500" b="0">
                <a:latin typeface="Cambria"/>
              </a:rPr>
              <a:t>Can we keep them together?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C Convention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Pass the instance as the </a:t>
            </a:r>
            <a:r>
              <a:rPr sz="2300" b="1">
                <a:latin typeface="Cambria"/>
              </a:rPr>
              <a:t>first</a:t>
            </a:r>
            <a:r>
              <a:rPr sz="2300" b="0">
                <a:latin typeface="Cambria"/>
              </a:rPr>
              <a:t> parameter: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void sample_update ( sample_t *s, uint32_t counts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s-&gt;adc_counts = counts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s-&gt;psi = adc_to_psi (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sample_update ( &amp;my_sample, 1456 ) ;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Member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</a:tabLst>
            </a:pPr>
            <a:r>
              <a:rPr sz="2800" b="0">
                <a:latin typeface="Cambria"/>
              </a:rPr>
              <a:t>Put the function </a:t>
            </a:r>
            <a:r>
              <a:rPr sz="2800" b="1">
                <a:latin typeface="Cambria"/>
              </a:rPr>
              <a:t>inside</a:t>
            </a:r>
            <a:r>
              <a:rPr sz="2800" b="0">
                <a:latin typeface="Cambria"/>
              </a:rPr>
              <a:t> the type</a:t>
            </a:r>
          </a:p>
          <a:p>
            <a:pPr>
              <a:tabLst>
                <a:tab pos="12801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800" b="0">
                <a:latin typeface="Cambria"/>
              </a:rPr>
              <a:t>It is called </a:t>
            </a:r>
            <a:r>
              <a:rPr sz="2800" b="1">
                <a:latin typeface="Cambria"/>
              </a:rPr>
              <a:t>on</a:t>
            </a:r>
            <a:r>
              <a:rPr sz="2800" b="0">
                <a:latin typeface="Cambria"/>
              </a:rPr>
              <a:t> an instance:</a:t>
            </a:r>
          </a:p>
          <a:p>
            <a:pPr>
              <a:tabLst>
                <a:tab pos="12801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800" b="0">
                <a:latin typeface="Cambria"/>
              </a:rPr>
              <a:t>	my_sample.update ( 1456 ) ;</a:t>
            </a:r>
          </a:p>
          <a:p>
            <a:pPr>
              <a:tabLst>
                <a:tab pos="12801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800" b="0">
                <a:latin typeface="Cambria"/>
              </a:rPr>
              <a:t>C++:	</a:t>
            </a:r>
            <a:r>
              <a:rPr sz="2800" b="1">
                <a:latin typeface="Cambria"/>
              </a:rPr>
              <a:t>member functions</a:t>
            </a:r>
          </a:p>
          <a:p>
            <a:pPr>
              <a:tabLst>
                <a:tab pos="1280160" algn="l"/>
              </a:tabLst>
            </a:pPr>
            <a:r>
              <a:rPr sz="2800" b="0">
                <a:latin typeface="Cambria"/>
              </a:rPr>
              <a:t>Rust:	</a:t>
            </a:r>
            <a:r>
              <a:rPr sz="2800" b="1">
                <a:latin typeface="Cambria"/>
              </a:rPr>
              <a:t>methods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Member Function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struct sample {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	uint32_t	adc_counts ;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	float	psi ;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	uint64_t	timestamp_ms ;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	float to_kpa ( ) const {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		return psi * 6.894757f ;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2194560" algn="l"/>
              </a:tabLst>
            </a:pPr>
            <a:r>
              <a:rPr sz="2400" b="0">
                <a:latin typeface="Cambria"/>
              </a:rPr>
              <a:t>} 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Calling a Member Function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749039" algn="l"/>
              </a:tabLst>
            </a:pPr>
            <a:r>
              <a:rPr sz="2800" b="0">
                <a:latin typeface="Cambria"/>
              </a:rPr>
              <a:t>sample  my_sample ;</a:t>
            </a:r>
          </a:p>
          <a:p>
            <a:pPr>
              <a:tabLst>
                <a:tab pos="3749039" algn="l"/>
              </a:tabLst>
            </a:pPr>
            <a:r>
              <a:rPr sz="2800" b="0">
                <a:latin typeface="Cambria"/>
              </a:rPr>
              <a:t>sample  sample2 ;</a:t>
            </a:r>
          </a:p>
          <a:p>
            <a:pPr>
              <a:tabLst>
                <a:tab pos="3749039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3749039" algn="l"/>
              </a:tabLst>
            </a:pPr>
            <a:r>
              <a:rPr sz="2800" b="0">
                <a:latin typeface="Cambria"/>
              </a:rPr>
              <a:t>my_sample.to_kpa ( )	uses my_sample.psi</a:t>
            </a:r>
          </a:p>
          <a:p>
            <a:pPr>
              <a:tabLst>
                <a:tab pos="3749039" algn="l"/>
              </a:tabLst>
            </a:pPr>
            <a:r>
              <a:rPr sz="2800" b="0">
                <a:latin typeface="Cambria"/>
              </a:rPr>
              <a:t>sample2.to_kpa ( )	uses sample2.psi</a:t>
            </a:r>
          </a:p>
          <a:p>
            <a:pPr>
              <a:tabLst>
                <a:tab pos="3749039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3749039" algn="l"/>
              </a:tabLst>
            </a:pPr>
            <a:r>
              <a:rPr sz="2800" b="0">
                <a:latin typeface="Cambria"/>
              </a:rPr>
              <a:t>One function, many instances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The Hidden Parameter:  this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compiler passes the instance </a:t>
            </a:r>
            <a:r>
              <a:rPr sz="2500" b="1">
                <a:latin typeface="Cambria"/>
              </a:rPr>
              <a:t>address</a:t>
            </a:r>
            <a:r>
              <a:rPr sz="2500" b="0">
                <a:latin typeface="Cambria"/>
              </a:rPr>
              <a:t> for you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my_sample.to_kpa (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Inside,  </a:t>
            </a:r>
            <a:r>
              <a:rPr sz="2500" b="1">
                <a:latin typeface="Cambria"/>
              </a:rPr>
              <a:t>this</a:t>
            </a:r>
            <a:r>
              <a:rPr sz="2500" b="0">
                <a:latin typeface="Cambria"/>
              </a:rPr>
              <a:t>  &lt;=  &amp;( my_sample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psi  means  this-&gt;psi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Exactly the C convention - just hidden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const Member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float to_kpa ( ) </a:t>
            </a:r>
            <a:r>
              <a:rPr sz="2600" b="1">
                <a:latin typeface="Cambria"/>
              </a:rPr>
              <a:t>const</a:t>
            </a:r>
            <a:r>
              <a:rPr sz="2600" b="0">
                <a:latin typeface="Cambria"/>
              </a:rPr>
              <a:t>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const after the parameter list promises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not to change the instance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It may be called on a const instance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Mark every member function that only reads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A Member Function That Modifies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struct sample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...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void update ( uint32_t counts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adc_counts = counts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	psi = adc_to_psi (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my_sample.update ( 1456 ) ;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Defining It Outside the Struct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sample.h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struct sample { ... float to_kpa ( ) const ; }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sample.cpp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float sample::to_kpa ( ) const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	return psi * 6.894757f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1">
                <a:latin typeface="Cambria"/>
              </a:rPr>
              <a:t>::</a:t>
            </a:r>
            <a:r>
              <a:rPr sz="2300" b="0">
                <a:latin typeface="Cambria"/>
              </a:rPr>
              <a:t> says which type the function belongs to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Methods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struct Sample { adc_counts : u32, psi : f32, ...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impl Sample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fn to_kpa ( &amp;self ) -&gt; f32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self.psi * 6.894757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Methods go in a separate  </a:t>
            </a:r>
            <a:r>
              <a:rPr sz="2400" b="1">
                <a:latin typeface="Cambria"/>
              </a:rPr>
              <a:t>impl</a:t>
            </a:r>
            <a:r>
              <a:rPr sz="2400" b="0">
                <a:latin typeface="Cambria"/>
              </a:rPr>
              <a:t>  block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self is Not Hidden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011680" algn="l"/>
                <a:tab pos="4846320" algn="l"/>
              </a:tabLst>
            </a:pPr>
            <a:r>
              <a:rPr sz="2500" b="0">
                <a:latin typeface="Cambria"/>
              </a:rPr>
              <a:t>&amp;self	read the instance	like const in C++</a:t>
            </a:r>
          </a:p>
          <a:p>
            <a:pPr>
              <a:tabLst>
                <a:tab pos="2011680" algn="l"/>
                <a:tab pos="48463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2011680" algn="l"/>
                <a:tab pos="4846320" algn="l"/>
              </a:tabLst>
            </a:pPr>
            <a:r>
              <a:rPr sz="2500" b="0">
                <a:latin typeface="Cambria"/>
              </a:rPr>
              <a:t>&amp;mut self	modify the instance</a:t>
            </a:r>
          </a:p>
          <a:p>
            <a:pPr>
              <a:tabLst>
                <a:tab pos="2011680" algn="l"/>
                <a:tab pos="48463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2011680" algn="l"/>
                <a:tab pos="4846320" algn="l"/>
              </a:tabLst>
            </a:pPr>
            <a:r>
              <a:rPr sz="2500" b="0">
                <a:latin typeface="Cambria"/>
              </a:rPr>
              <a:t>self	take ownership of it</a:t>
            </a:r>
          </a:p>
          <a:p>
            <a:pPr>
              <a:tabLst>
                <a:tab pos="2011680" algn="l"/>
                <a:tab pos="48463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2011680" algn="l"/>
                <a:tab pos="4846320" algn="l"/>
              </a:tabLst>
            </a:pPr>
            <a:r>
              <a:rPr sz="2500" b="0">
                <a:latin typeface="Cambria"/>
              </a:rPr>
              <a:t>You must write  </a:t>
            </a:r>
            <a:r>
              <a:rPr sz="2500" b="1">
                <a:latin typeface="Cambria"/>
              </a:rPr>
              <a:t>self.psi</a:t>
            </a:r>
            <a:r>
              <a:rPr sz="2500" b="0">
                <a:latin typeface="Cambria"/>
              </a:rPr>
              <a:t>  -  never just  psi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A Rust Method That Modifies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impl Sample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fn update ( &amp;mut self, counts : u32 )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self.adc_counts = counts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	self.psi = adc_to_psi (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let mut my_sample = ...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my_sample.update ( 1456 ) ;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Dot Borrows for You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my_sample.update ( 1456 )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is the same as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Sample::update ( &amp;mut my_sample, 1456 )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Which is the C convention again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Constructors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A function that creates an instance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C++:	sample ( uint32_t counts )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	: adc_counts ( counts ),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	  psi ( adc_to_psi ( counts ) ) { }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sample  s ( 1456 )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Rust:	fn new ( counts : u32 ) -&gt; Sample { ... }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200" b="0">
                <a:latin typeface="Cambria"/>
              </a:rPr>
              <a:t>	let s = Sample::new ( 1456 ) ;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Functions With No Instance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Belong to the type, but no instance is needed</a:t>
            </a:r>
          </a:p>
          <a:p>
            <a:pPr>
              <a:tabLst>
                <a:tab pos="12801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C++:	static member functions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	sample::from_kpa ( 344.7f )</a:t>
            </a:r>
          </a:p>
          <a:p>
            <a:pPr>
              <a:tabLst>
                <a:tab pos="12801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Rust:	associated functions - no self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	Sample::new ( 1456 )</a:t>
            </a:r>
          </a:p>
          <a:p>
            <a:pPr>
              <a:tabLst>
                <a:tab pos="12801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300" b="0">
                <a:latin typeface="Cambria"/>
              </a:rPr>
              <a:t>Called with  ::  on the </a:t>
            </a:r>
            <a:r>
              <a:rPr sz="2300" b="1">
                <a:latin typeface="Cambria"/>
              </a:rPr>
              <a:t>type</a:t>
            </a:r>
            <a:r>
              <a:rPr sz="2300" b="0">
                <a:latin typeface="Cambria"/>
              </a:rPr>
              <a:t>, not  .  on an instance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Side by Side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C:	sample_update ( &amp;my_sample, 1456 ) ;</a:t>
            </a:r>
          </a:p>
          <a:p>
            <a:pPr>
              <a:tabLst>
                <a:tab pos="12801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C++:	my_sample.update ( 1456 ) ;</a:t>
            </a:r>
          </a:p>
          <a:p>
            <a:pPr>
              <a:tabLst>
                <a:tab pos="12801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Rust:	my_sample.update ( 1456 ) ;</a:t>
            </a:r>
          </a:p>
          <a:p>
            <a:pPr>
              <a:tabLst>
                <a:tab pos="12801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280160" algn="l"/>
              </a:tabLst>
            </a:pPr>
            <a:r>
              <a:rPr sz="2500" b="0">
                <a:latin typeface="Cambria"/>
              </a:rPr>
              <a:t>In all three the function receives the</a:t>
            </a:r>
          </a:p>
          <a:p>
            <a:pPr>
              <a:tabLst>
                <a:tab pos="1280160" algn="l"/>
              </a:tabLst>
            </a:pPr>
            <a:r>
              <a:rPr sz="2500" b="1">
                <a:latin typeface="Cambria"/>
              </a:rPr>
              <a:t>address of the instance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Public and Private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C++: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	struct	members </a:t>
            </a:r>
            <a:r>
              <a:rPr sz="2400" b="1">
                <a:latin typeface="Cambria"/>
              </a:rPr>
              <a:t>public</a:t>
            </a:r>
            <a:r>
              <a:rPr sz="2400" b="0">
                <a:latin typeface="Cambria"/>
              </a:rPr>
              <a:t> by default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	class	members </a:t>
            </a:r>
            <a:r>
              <a:rPr sz="2400" b="1">
                <a:latin typeface="Cambria"/>
              </a:rPr>
              <a:t>private</a:t>
            </a:r>
            <a:r>
              <a:rPr sz="2400" b="0">
                <a:latin typeface="Cambria"/>
              </a:rPr>
              <a:t> by default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	public:   private:   labels change it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Rust: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	fields and methods are </a:t>
            </a:r>
            <a:r>
              <a:rPr sz="2400" b="1">
                <a:latin typeface="Cambria"/>
              </a:rPr>
              <a:t>private</a:t>
            </a:r>
            <a:r>
              <a:rPr sz="2400" b="0">
                <a:latin typeface="Cambria"/>
              </a:rPr>
              <a:t> to the module</a:t>
            </a:r>
          </a:p>
          <a:p>
            <a:pPr>
              <a:tabLst>
                <a:tab pos="548640" algn="l"/>
                <a:tab pos="1920240" algn="l"/>
              </a:tabLst>
            </a:pPr>
            <a:r>
              <a:rPr sz="2400" b="0">
                <a:latin typeface="Cambria"/>
              </a:rPr>
              <a:t>	pub  makes them public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Why Hide the Data?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psi must always match adc_counts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If anyone can write  my_sample.psi = 99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two disagree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Make the fields </a:t>
            </a:r>
            <a:r>
              <a:rPr sz="2500" b="1">
                <a:latin typeface="Cambria"/>
              </a:rPr>
              <a:t>private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Allow changes only through  </a:t>
            </a:r>
            <a:r>
              <a:rPr sz="2500" b="1">
                <a:latin typeface="Cambria"/>
              </a:rPr>
              <a:t>update (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type protects its own rules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Functions in the Debugger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94560" algn="l"/>
              </a:tabLst>
            </a:pPr>
            <a:r>
              <a:rPr sz="2500" b="0">
                <a:latin typeface="Cambria"/>
              </a:rPr>
              <a:t>step	go </a:t>
            </a:r>
            <a:r>
              <a:rPr sz="2500" b="1">
                <a:latin typeface="Cambria"/>
              </a:rPr>
              <a:t>into</a:t>
            </a:r>
            <a:r>
              <a:rPr sz="2500" b="0">
                <a:latin typeface="Cambria"/>
              </a:rPr>
              <a:t> the call</a:t>
            </a:r>
          </a:p>
          <a:p>
            <a:pPr>
              <a:tabLst>
                <a:tab pos="2194560" algn="l"/>
              </a:tabLst>
            </a:pPr>
            <a:r>
              <a:rPr sz="2500" b="0">
                <a:latin typeface="Cambria"/>
              </a:rPr>
              <a:t>next	run the call, stop after it</a:t>
            </a:r>
          </a:p>
          <a:p>
            <a:pPr>
              <a:tabLst>
                <a:tab pos="2194560" algn="l"/>
              </a:tabLst>
            </a:pPr>
            <a:r>
              <a:rPr sz="2500" b="0">
                <a:latin typeface="Cambria"/>
              </a:rPr>
              <a:t>finish	run until this function returns</a:t>
            </a:r>
          </a:p>
          <a:p>
            <a:pPr>
              <a:tabLst>
                <a:tab pos="2194560" algn="l"/>
              </a:tabLst>
            </a:pPr>
            <a:r>
              <a:rPr sz="2500" b="0">
                <a:latin typeface="Cambria"/>
              </a:rPr>
              <a:t>backtrace	show the stack of frames</a:t>
            </a:r>
          </a:p>
          <a:p>
            <a:pPr>
              <a:tabLst>
                <a:tab pos="2194560" algn="l"/>
              </a:tabLst>
            </a:pPr>
            <a:r>
              <a:rPr sz="2500" b="0">
                <a:latin typeface="Cambria"/>
              </a:rPr>
              <a:t>frame 1	look at the caller's variables</a:t>
            </a:r>
          </a:p>
          <a:p>
            <a:pPr>
              <a:tabLst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2194560" algn="l"/>
              </a:tabLst>
            </a:pPr>
            <a:r>
              <a:rPr sz="2500" b="0">
                <a:latin typeface="Cambria"/>
              </a:rPr>
              <a:t>Now the stack in backtrace makes sense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Good Function Habits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Do </a:t>
            </a:r>
            <a:r>
              <a:rPr sz="2500" b="1">
                <a:latin typeface="Cambria"/>
              </a:rPr>
              <a:t>one</a:t>
            </a:r>
            <a:r>
              <a:rPr sz="2500" b="0">
                <a:latin typeface="Cambria"/>
              </a:rPr>
              <a:t> job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Name it with a verb:	update,  show,  adc_to_psi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Keep it short enough to see all at once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Few parameters - group the rest in a struct</a:t>
            </a:r>
          </a:p>
          <a:p>
            <a:pPr>
              <a:tabLst>
                <a:tab pos="384048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3840480" algn="l"/>
              </a:tabLst>
            </a:pPr>
            <a:r>
              <a:rPr sz="2500" b="0">
                <a:latin typeface="Cambria"/>
              </a:rPr>
              <a:t>Pass read-only data as  const  or  &amp;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We Can Now Do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108960" algn="l"/>
              </a:tabLst>
            </a:pPr>
            <a:r>
              <a:rPr sz="2400" b="1">
                <a:latin typeface="Cambria"/>
              </a:rPr>
              <a:t>Functions</a:t>
            </a:r>
            <a:r>
              <a:rPr sz="2400" b="0">
                <a:latin typeface="Cambria"/>
              </a:rPr>
              <a:t>	name a group of statements</a:t>
            </a:r>
          </a:p>
          <a:p>
            <a:pPr>
              <a:tabLst>
                <a:tab pos="31089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108960" algn="l"/>
              </a:tabLst>
            </a:pPr>
            <a:r>
              <a:rPr sz="2400" b="1">
                <a:latin typeface="Cambria"/>
              </a:rPr>
              <a:t>Parameters</a:t>
            </a:r>
            <a:r>
              <a:rPr sz="2400" b="0">
                <a:latin typeface="Cambria"/>
              </a:rPr>
              <a:t>	receive arguments by value,</a:t>
            </a:r>
          </a:p>
          <a:p>
            <a:pPr>
              <a:tabLst>
                <a:tab pos="3108960" algn="l"/>
              </a:tabLst>
            </a:pPr>
            <a:r>
              <a:rPr sz="2400" b="0">
                <a:latin typeface="Cambria"/>
              </a:rPr>
              <a:t>	by address, or by borrow</a:t>
            </a:r>
          </a:p>
          <a:p>
            <a:pPr>
              <a:tabLst>
                <a:tab pos="31089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108960" algn="l"/>
              </a:tabLst>
            </a:pPr>
            <a:r>
              <a:rPr sz="2400" b="1">
                <a:latin typeface="Cambria"/>
              </a:rPr>
              <a:t>Member functions</a:t>
            </a:r>
            <a:r>
              <a:rPr sz="2400" b="0">
                <a:latin typeface="Cambria"/>
              </a:rPr>
              <a:t>	functions that belong to a type</a:t>
            </a:r>
          </a:p>
          <a:p>
            <a:pPr>
              <a:tabLst>
                <a:tab pos="31089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3108960" algn="l"/>
              </a:tabLst>
            </a:pPr>
            <a:r>
              <a:rPr sz="2400" b="0">
                <a:latin typeface="Cambria"/>
              </a:rPr>
              <a:t>Every call gets its own frame on the stack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Let's practice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Exercise:  Using </a:t>
            </a:r>
            <a:r>
              <a:rPr sz="2800" b="1">
                <a:latin typeface="Cambria"/>
              </a:rPr>
              <a:t>funcpractice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57849</TotalTime>
  <Words>2490</Words>
  <Application>Microsoft Office PowerPoint</Application>
  <PresentationFormat>Custom</PresentationFormat>
  <Paragraphs>631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62</vt:i4>
      </vt:variant>
    </vt:vector>
  </HeadingPairs>
  <TitlesOfParts>
    <vt:vector size="75" baseType="lpstr">
      <vt:lpstr>ＭＳ Ｐゴシック</vt:lpstr>
      <vt:lpstr>Arial</vt:lpstr>
      <vt:lpstr>Calibri</vt:lpstr>
      <vt:lpstr>Cambria</vt:lpstr>
      <vt:lpstr>DejaVu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541</cp:revision>
  <dcterms:created xsi:type="dcterms:W3CDTF">2013-08-28T11:36:20Z</dcterms:created>
  <dcterms:modified xsi:type="dcterms:W3CDTF">2026-09-23T02:39:43Z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