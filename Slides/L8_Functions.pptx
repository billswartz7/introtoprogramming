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8" r:id="rId3"/>
  </p:sldMasterIdLst>
  <p:notesMasterIdLst>
    <p:notesMasterId r:id="rId6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317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92" userDrawn="1">
          <p15:clr>
            <a:srgbClr val="A4A3A4"/>
          </p15:clr>
        </p15:guide>
        <p15:guide id="2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44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2148" y="78"/>
      </p:cViewPr>
      <p:guideLst>
        <p:guide orient="horz" pos="4392"/>
        <p:guide pos="3312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38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8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BBEA29-00E4-49AD-9593-1714797B79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331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Title slide. So far every program has been one long list of statements in main. Today we give groups of statements a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02803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Quick review. The question for today: how do we organize the statements, the way structs organized the data?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336645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the oil pressure sender conversion: 2736 counts is 0 psi and each psi is 25.6 counts, with an inverse slope. 1456 counts gives 50 psi. Duplicated code is duplicated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233114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Same move as the struct lecture: give a group a name. A struct names a group of data; a function names a group of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897123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second point matters most for reading code. A well-named function turns a formula into a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5664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Walk through the four parts. The first line of a function is its signature: everything a caller needs to know to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5207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Named constants replace the magic numbers. The (float) cast matters: counts is unsigned, and 2736 - 3000 in unsigned arithmetic would wrap to a huge positive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734697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C++ prefers constexpr constants to #define: they have a type and obey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08624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Same order as a Rust variable: name, colon, type. The return type comes last, after the 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51070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In Rust, adding a semicolon to that last line turns it into a statement and the function returns () instead - a common first compile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811587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void means "no value". Rust returns the empty tuple (), called unit, but you never have to write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67865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call is an expression: it has a value, so it can appear anywhere a value can - including as the argument to another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6490036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prototype ends in a semicolon instead of a body. Rust reads the whole module first, so order never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83940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preprocessor slides in the Variables lecture: this is exactly the include-only-once pattern. The body lives in sensor.c.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81061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preprocessor slides in the Variables lecture: this is exactly the include-only-once pattern. The body lives in sensor.c.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1497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Every program has been a function all along. The shell reads the exit status - echo $? after running a program shows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637374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two words are often used interchangeably, but the distinction matters for the rest of the lecture. The call assigns each argument into its 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502051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scope and lifetime together. Next slide shows where they actually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08373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Parameters, locals, and the return address live in the frame. A call pushes a frame, a return pops it. The debugger backtrace command from last lecture prints exactly this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5187228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Scope is where a name is visible. Local names cannot collide across functions, which is what makes functions safe to combine.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336778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function gets its own copy. Changing the copy cannot touch the caller.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8863315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Ask the class to predict the result before revealing it. Most will say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993280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Use the course notation on the right. The pointer is still passed by value - but the value is an address, so the function can reach the caller's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13143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pointer slides from the structs lecture. x holds 0x1F899BC; ((x)) is the contents at that address, which is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55975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reference is an alias. The compiler passes an address underneath, but the code reads like plain variables - no * and no &amp;.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9656121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convenience of references has a price: the call site no longer tells the reader what can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105956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the normal way to pass any struct bigger than a few words. const turns a promise in a comment into a rule the compiler enforces.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801430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Rust has exactly one owner for each value. After the first call, show owns the sample and drops it when it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322046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Borrowing is Rust's name for passing a reference. The caller keeps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899774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Rust solves the C++ hidden-danger problem: a function can only modify your variable if you write &amp;mut at the call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219001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Many readers or one writer - the same rule as a database lock, enforced at compile time. This is what prevents data races in 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6255661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Photograph slide. T is any type. The last row is the one to dwell on: C and Rust show the address at the call; C++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046926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For our 16 byte sample the difference is small; for a struct holding an array of 1000 readings it is enormous.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6178709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Returning structs is cheap in practice thanks to return value optimization. It is a clean way to return several values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17476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How many elements? slide in the arrays lecture: the sizeof trick only works where the real array is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9990012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std::span is a pointer plus a length bundled together - the C convention made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274822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borrowed array of any length coerces to a slice. Indexing is still bounds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738278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Output parameters are common in C APIs. Tuples are Rust's lightweight answer; C++ has std::pair and structured bindings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7579995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Overloading is convenient and occasionally confusing. C and Rust both chose one name, one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4518815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Defaults must come last in the parameter list. Rust programmers use builder patterns or Option parameters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047022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Motivation for member functions. The naming prefix is how C programmers group them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154648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Remember this shape - a pointer to the instance as the first parameter. C++ and Rust do exactly this, and hide or name that 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9177361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Same idea, two names. Many languages say method; the C++ standard says member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886325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1 psi is 6.894757 kPa. Inside the member function, psi means the psi of whichever instance the function was called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756508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dot selects a member - here the member is a function. Each call works on its own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895429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Put the C sample_update next to the C++ version on the board. The first parameter did not go away; it became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73757541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Equivalent to making this a pointer to const. A const reference parameter can only call const member functions, so forgetting const spreads.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572436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No const here, because update changes the instance. Note that it keeps adc_counts and psi consistent - a theme that comes back on the public/private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755659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Same header and source split as for plain functions. :: is the scope resolution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4239298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Data in the struct, behavior in impl. A type can have several impl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1402813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Rust makes the hidden C++ parameter explicit, and uses the same &amp; and &amp;mut rules as for any other 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48261949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instance must be declared mut to call a &amp;mut self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4521910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method call syntax is just sugar for passing the instance as the first argument. All three languages end up in the same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18305955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C++ constructor has the type's name and no return type. Rust has no special constructor: new is just an ordinary associated function, by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37975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No this, no self. Used for constructors and for helpers that relate to the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24610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summary of the member-function section. One mechanism, three spellings.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90124287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 has no private members at all; everything in a struct is visible to everyone who can see the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5574278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rule - psi agrees with adc_counts - is called an invariant. Keeping it is the main reason member functions and private data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2731572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debugger lecture. step versus next only mattered once there were functions to step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2294938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These are the habits graders and code reviewers look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9845133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Summary. Data grouped into structs, statements grouped into functions, and the two joined as member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1347485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Lab exercise. Suggested: write adc_to_psi, then update() as a member function in C++ and a method in Rust, then step into each call in the debugger and print the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603410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4560" y="2409480"/>
            <a:ext cx="8548920" cy="16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7F920929-0F69-4400-B58F-F0F9AC4A6A2D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905184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4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5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5BC29054-6F74-4644-9529-D93E886B0EF0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8004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7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dt" idx="8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4839A86E-239E-4764-956E-22B529859FEB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k object 16"/>
          <p:cNvSpPr/>
          <p:nvPr/>
        </p:nvSpPr>
        <p:spPr>
          <a:xfrm>
            <a:off x="2341800" y="638280"/>
            <a:ext cx="360" cy="5485680"/>
          </a:xfrm>
          <a:custGeom>
            <a:avLst/>
            <a:gdLst>
              <a:gd name="textAreaLeft" fmla="*/ 0 w 360"/>
              <a:gd name="textAreaRight" fmla="*/ 1440 w 360"/>
              <a:gd name="textAreaTop" fmla="*/ 0 h 5485680"/>
              <a:gd name="textAreaBottom" fmla="*/ 5486400 h 5485680"/>
            </a:gdLst>
            <a:ahLst/>
            <a:cxnLst/>
            <a:rect l="textAreaLeft" t="textAreaTop" r="textAreaRight" b="textAreaBottom"/>
            <a:pathLst>
              <a:path h="5486398">
                <a:moveTo>
                  <a:pt x="0" y="0"/>
                </a:moveTo>
                <a:lnTo>
                  <a:pt x="0" y="5486398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bk object 17"/>
          <p:cNvSpPr/>
          <p:nvPr/>
        </p:nvSpPr>
        <p:spPr>
          <a:xfrm>
            <a:off x="2296080" y="60789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8"/>
          <p:cNvSpPr/>
          <p:nvPr/>
        </p:nvSpPr>
        <p:spPr>
          <a:xfrm>
            <a:off x="2296080" y="55396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9"/>
          <p:cNvSpPr/>
          <p:nvPr/>
        </p:nvSpPr>
        <p:spPr>
          <a:xfrm>
            <a:off x="2296080" y="50000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20"/>
          <p:cNvSpPr/>
          <p:nvPr/>
        </p:nvSpPr>
        <p:spPr>
          <a:xfrm>
            <a:off x="2296080" y="44604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bk object 21"/>
          <p:cNvSpPr/>
          <p:nvPr/>
        </p:nvSpPr>
        <p:spPr>
          <a:xfrm>
            <a:off x="2296080" y="39211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bk object 22"/>
          <p:cNvSpPr/>
          <p:nvPr/>
        </p:nvSpPr>
        <p:spPr>
          <a:xfrm>
            <a:off x="2296080" y="33814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bk object 23"/>
          <p:cNvSpPr/>
          <p:nvPr/>
        </p:nvSpPr>
        <p:spPr>
          <a:xfrm>
            <a:off x="2296080" y="28418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bk object 24"/>
          <p:cNvSpPr/>
          <p:nvPr/>
        </p:nvSpPr>
        <p:spPr>
          <a:xfrm>
            <a:off x="2296080" y="23025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bk object 25"/>
          <p:cNvSpPr/>
          <p:nvPr/>
        </p:nvSpPr>
        <p:spPr>
          <a:xfrm>
            <a:off x="2296080" y="17629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bk object 26"/>
          <p:cNvSpPr/>
          <p:nvPr/>
        </p:nvSpPr>
        <p:spPr>
          <a:xfrm>
            <a:off x="2296080" y="12236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bk object 27"/>
          <p:cNvSpPr/>
          <p:nvPr/>
        </p:nvSpPr>
        <p:spPr>
          <a:xfrm>
            <a:off x="2296080" y="6840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bk object 28"/>
          <p:cNvSpPr/>
          <p:nvPr/>
        </p:nvSpPr>
        <p:spPr>
          <a:xfrm>
            <a:off x="2107080" y="5949000"/>
            <a:ext cx="134640" cy="20448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254" h="205371">
                <a:moveTo>
                  <a:pt x="81533" y="0"/>
                </a:moveTo>
                <a:lnTo>
                  <a:pt x="54101" y="0"/>
                </a:lnTo>
                <a:lnTo>
                  <a:pt x="30098" y="11823"/>
                </a:lnTo>
                <a:lnTo>
                  <a:pt x="18033" y="20840"/>
                </a:lnTo>
                <a:lnTo>
                  <a:pt x="6095" y="44970"/>
                </a:lnTo>
                <a:lnTo>
                  <a:pt x="3175" y="53975"/>
                </a:lnTo>
                <a:lnTo>
                  <a:pt x="253" y="75196"/>
                </a:lnTo>
                <a:lnTo>
                  <a:pt x="253" y="102628"/>
                </a:lnTo>
                <a:lnTo>
                  <a:pt x="0" y="102628"/>
                </a:lnTo>
                <a:lnTo>
                  <a:pt x="0" y="130060"/>
                </a:lnTo>
                <a:lnTo>
                  <a:pt x="2920" y="151269"/>
                </a:lnTo>
                <a:lnTo>
                  <a:pt x="11937" y="169430"/>
                </a:lnTo>
                <a:lnTo>
                  <a:pt x="17906" y="184543"/>
                </a:lnTo>
                <a:lnTo>
                  <a:pt x="29971" y="193560"/>
                </a:lnTo>
                <a:lnTo>
                  <a:pt x="42036" y="199529"/>
                </a:lnTo>
                <a:lnTo>
                  <a:pt x="66166" y="205371"/>
                </a:lnTo>
                <a:lnTo>
                  <a:pt x="81279" y="202450"/>
                </a:lnTo>
                <a:lnTo>
                  <a:pt x="93344" y="199529"/>
                </a:lnTo>
                <a:lnTo>
                  <a:pt x="105409" y="193560"/>
                </a:lnTo>
                <a:lnTo>
                  <a:pt x="114426" y="184543"/>
                </a:lnTo>
                <a:lnTo>
                  <a:pt x="116397" y="181241"/>
                </a:lnTo>
                <a:lnTo>
                  <a:pt x="57276" y="181241"/>
                </a:lnTo>
                <a:lnTo>
                  <a:pt x="54356" y="178320"/>
                </a:lnTo>
                <a:lnTo>
                  <a:pt x="51434" y="178320"/>
                </a:lnTo>
                <a:lnTo>
                  <a:pt x="39623" y="166509"/>
                </a:lnTo>
                <a:lnTo>
                  <a:pt x="33654" y="157492"/>
                </a:lnTo>
                <a:lnTo>
                  <a:pt x="30709" y="139204"/>
                </a:lnTo>
                <a:lnTo>
                  <a:pt x="27812" y="124218"/>
                </a:lnTo>
                <a:lnTo>
                  <a:pt x="27812" y="103009"/>
                </a:lnTo>
                <a:lnTo>
                  <a:pt x="27558" y="102628"/>
                </a:lnTo>
                <a:lnTo>
                  <a:pt x="27558" y="78371"/>
                </a:lnTo>
                <a:lnTo>
                  <a:pt x="30479" y="66306"/>
                </a:lnTo>
                <a:lnTo>
                  <a:pt x="33400" y="48145"/>
                </a:lnTo>
                <a:lnTo>
                  <a:pt x="39369" y="39128"/>
                </a:lnTo>
                <a:lnTo>
                  <a:pt x="51181" y="27317"/>
                </a:lnTo>
                <a:lnTo>
                  <a:pt x="57150" y="24396"/>
                </a:lnTo>
                <a:lnTo>
                  <a:pt x="116294" y="24396"/>
                </a:lnTo>
                <a:lnTo>
                  <a:pt x="114553" y="20840"/>
                </a:lnTo>
                <a:lnTo>
                  <a:pt x="105536" y="11823"/>
                </a:lnTo>
                <a:lnTo>
                  <a:pt x="81533" y="0"/>
                </a:lnTo>
                <a:close/>
              </a:path>
              <a:path w="135254" h="205371">
                <a:moveTo>
                  <a:pt x="116294" y="24396"/>
                </a:moveTo>
                <a:lnTo>
                  <a:pt x="75310" y="24396"/>
                </a:lnTo>
                <a:lnTo>
                  <a:pt x="84327" y="27317"/>
                </a:lnTo>
                <a:lnTo>
                  <a:pt x="96265" y="39255"/>
                </a:lnTo>
                <a:lnTo>
                  <a:pt x="102234" y="48272"/>
                </a:lnTo>
                <a:lnTo>
                  <a:pt x="105156" y="66433"/>
                </a:lnTo>
                <a:lnTo>
                  <a:pt x="108076" y="81546"/>
                </a:lnTo>
                <a:lnTo>
                  <a:pt x="108052" y="124218"/>
                </a:lnTo>
                <a:lnTo>
                  <a:pt x="105135" y="139331"/>
                </a:lnTo>
                <a:lnTo>
                  <a:pt x="102234" y="157365"/>
                </a:lnTo>
                <a:lnTo>
                  <a:pt x="96265" y="166382"/>
                </a:lnTo>
                <a:lnTo>
                  <a:pt x="84327" y="178320"/>
                </a:lnTo>
                <a:lnTo>
                  <a:pt x="78358" y="178320"/>
                </a:lnTo>
                <a:lnTo>
                  <a:pt x="75437" y="181241"/>
                </a:lnTo>
                <a:lnTo>
                  <a:pt x="116397" y="181241"/>
                </a:lnTo>
                <a:lnTo>
                  <a:pt x="123443" y="169430"/>
                </a:lnTo>
                <a:lnTo>
                  <a:pt x="129412" y="151269"/>
                </a:lnTo>
                <a:lnTo>
                  <a:pt x="132333" y="130060"/>
                </a:lnTo>
                <a:lnTo>
                  <a:pt x="135254" y="102628"/>
                </a:lnTo>
                <a:lnTo>
                  <a:pt x="132333" y="75196"/>
                </a:lnTo>
                <a:lnTo>
                  <a:pt x="129412" y="53975"/>
                </a:lnTo>
                <a:lnTo>
                  <a:pt x="123443" y="32778"/>
                </a:lnTo>
                <a:lnTo>
                  <a:pt x="117475" y="26809"/>
                </a:lnTo>
                <a:lnTo>
                  <a:pt x="116294" y="2439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bk object 29"/>
          <p:cNvSpPr/>
          <p:nvPr/>
        </p:nvSpPr>
        <p:spPr>
          <a:xfrm>
            <a:off x="2147040" y="5409720"/>
            <a:ext cx="68400" cy="200160"/>
          </a:xfrm>
          <a:custGeom>
            <a:avLst/>
            <a:gdLst>
              <a:gd name="textAreaLeft" fmla="*/ 0 w 68400"/>
              <a:gd name="textAreaRight" fmla="*/ 69120 w 6840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69087" h="201041">
                <a:moveTo>
                  <a:pt x="69087" y="0"/>
                </a:moveTo>
                <a:lnTo>
                  <a:pt x="50927" y="0"/>
                </a:lnTo>
                <a:lnTo>
                  <a:pt x="48006" y="9004"/>
                </a:lnTo>
                <a:lnTo>
                  <a:pt x="48006" y="14986"/>
                </a:lnTo>
                <a:lnTo>
                  <a:pt x="36195" y="26797"/>
                </a:lnTo>
                <a:lnTo>
                  <a:pt x="27178" y="32766"/>
                </a:lnTo>
                <a:lnTo>
                  <a:pt x="18161" y="35687"/>
                </a:lnTo>
                <a:lnTo>
                  <a:pt x="0" y="35687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5"/>
                </a:lnTo>
                <a:lnTo>
                  <a:pt x="44831" y="201041"/>
                </a:lnTo>
                <a:lnTo>
                  <a:pt x="69087" y="201041"/>
                </a:lnTo>
                <a:lnTo>
                  <a:pt x="690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bk object 30"/>
          <p:cNvSpPr/>
          <p:nvPr/>
        </p:nvSpPr>
        <p:spPr>
          <a:xfrm>
            <a:off x="2104200" y="4871880"/>
            <a:ext cx="136800" cy="194400"/>
          </a:xfrm>
          <a:custGeom>
            <a:avLst/>
            <a:gdLst>
              <a:gd name="textAreaLeft" fmla="*/ 0 w 136800"/>
              <a:gd name="textAreaRight" fmla="*/ 137520 w 136800"/>
              <a:gd name="textAreaTop" fmla="*/ 0 h 194400"/>
              <a:gd name="textAreaBottom" fmla="*/ 195120 h 194400"/>
            </a:gdLst>
            <a:ahLst/>
            <a:cxnLst/>
            <a:rect l="textAreaLeft" t="textAreaTop" r="textAreaRight" b="textAreaBottom"/>
            <a:pathLst>
              <a:path w="137541" h="195199">
                <a:moveTo>
                  <a:pt x="123952" y="21463"/>
                </a:moveTo>
                <a:lnTo>
                  <a:pt x="77978" y="21463"/>
                </a:lnTo>
                <a:lnTo>
                  <a:pt x="95885" y="30226"/>
                </a:lnTo>
                <a:lnTo>
                  <a:pt x="101854" y="36195"/>
                </a:lnTo>
                <a:lnTo>
                  <a:pt x="107633" y="48006"/>
                </a:lnTo>
                <a:lnTo>
                  <a:pt x="107696" y="66294"/>
                </a:lnTo>
                <a:lnTo>
                  <a:pt x="104775" y="72263"/>
                </a:lnTo>
                <a:lnTo>
                  <a:pt x="101854" y="81280"/>
                </a:lnTo>
                <a:lnTo>
                  <a:pt x="90043" y="93091"/>
                </a:lnTo>
                <a:lnTo>
                  <a:pt x="81025" y="99047"/>
                </a:lnTo>
                <a:lnTo>
                  <a:pt x="62865" y="108077"/>
                </a:lnTo>
                <a:lnTo>
                  <a:pt x="53848" y="114046"/>
                </a:lnTo>
                <a:lnTo>
                  <a:pt x="14731" y="144018"/>
                </a:lnTo>
                <a:lnTo>
                  <a:pt x="2921" y="180213"/>
                </a:lnTo>
                <a:lnTo>
                  <a:pt x="0" y="186182"/>
                </a:lnTo>
                <a:lnTo>
                  <a:pt x="0" y="195199"/>
                </a:lnTo>
                <a:lnTo>
                  <a:pt x="507" y="194818"/>
                </a:lnTo>
                <a:lnTo>
                  <a:pt x="137541" y="194818"/>
                </a:lnTo>
                <a:lnTo>
                  <a:pt x="137541" y="170561"/>
                </a:lnTo>
                <a:lnTo>
                  <a:pt x="30861" y="170561"/>
                </a:lnTo>
                <a:lnTo>
                  <a:pt x="30861" y="164592"/>
                </a:lnTo>
                <a:lnTo>
                  <a:pt x="36703" y="158750"/>
                </a:lnTo>
                <a:lnTo>
                  <a:pt x="39624" y="152781"/>
                </a:lnTo>
                <a:lnTo>
                  <a:pt x="48513" y="143891"/>
                </a:lnTo>
                <a:lnTo>
                  <a:pt x="54482" y="140970"/>
                </a:lnTo>
                <a:lnTo>
                  <a:pt x="72517" y="129032"/>
                </a:lnTo>
                <a:lnTo>
                  <a:pt x="75437" y="126111"/>
                </a:lnTo>
                <a:lnTo>
                  <a:pt x="93599" y="120142"/>
                </a:lnTo>
                <a:lnTo>
                  <a:pt x="96519" y="117221"/>
                </a:lnTo>
                <a:lnTo>
                  <a:pt x="102488" y="114300"/>
                </a:lnTo>
                <a:lnTo>
                  <a:pt x="111506" y="105283"/>
                </a:lnTo>
                <a:lnTo>
                  <a:pt x="120523" y="99314"/>
                </a:lnTo>
                <a:lnTo>
                  <a:pt x="126492" y="90297"/>
                </a:lnTo>
                <a:lnTo>
                  <a:pt x="129412" y="87376"/>
                </a:lnTo>
                <a:lnTo>
                  <a:pt x="132334" y="81407"/>
                </a:lnTo>
                <a:lnTo>
                  <a:pt x="135255" y="72390"/>
                </a:lnTo>
                <a:lnTo>
                  <a:pt x="135255" y="44958"/>
                </a:lnTo>
                <a:lnTo>
                  <a:pt x="132334" y="32893"/>
                </a:lnTo>
                <a:lnTo>
                  <a:pt x="126365" y="23876"/>
                </a:lnTo>
                <a:lnTo>
                  <a:pt x="123952" y="21463"/>
                </a:lnTo>
                <a:close/>
              </a:path>
              <a:path w="137541" h="195199">
                <a:moveTo>
                  <a:pt x="84200" y="0"/>
                </a:moveTo>
                <a:lnTo>
                  <a:pt x="53848" y="0"/>
                </a:lnTo>
                <a:lnTo>
                  <a:pt x="47879" y="2921"/>
                </a:lnTo>
                <a:lnTo>
                  <a:pt x="41910" y="2921"/>
                </a:lnTo>
                <a:lnTo>
                  <a:pt x="8890" y="38989"/>
                </a:lnTo>
                <a:lnTo>
                  <a:pt x="5968" y="48006"/>
                </a:lnTo>
                <a:lnTo>
                  <a:pt x="5968" y="69215"/>
                </a:lnTo>
                <a:lnTo>
                  <a:pt x="30225" y="69215"/>
                </a:lnTo>
                <a:lnTo>
                  <a:pt x="30225" y="60198"/>
                </a:lnTo>
                <a:lnTo>
                  <a:pt x="33147" y="54229"/>
                </a:lnTo>
                <a:lnTo>
                  <a:pt x="33225" y="48006"/>
                </a:lnTo>
                <a:lnTo>
                  <a:pt x="36068" y="39243"/>
                </a:lnTo>
                <a:lnTo>
                  <a:pt x="42037" y="33274"/>
                </a:lnTo>
                <a:lnTo>
                  <a:pt x="48006" y="30353"/>
                </a:lnTo>
                <a:lnTo>
                  <a:pt x="53975" y="24384"/>
                </a:lnTo>
                <a:lnTo>
                  <a:pt x="59943" y="24384"/>
                </a:lnTo>
                <a:lnTo>
                  <a:pt x="68961" y="21463"/>
                </a:lnTo>
                <a:lnTo>
                  <a:pt x="123952" y="21463"/>
                </a:lnTo>
                <a:lnTo>
                  <a:pt x="117348" y="14859"/>
                </a:lnTo>
                <a:lnTo>
                  <a:pt x="108331" y="8890"/>
                </a:lnTo>
                <a:lnTo>
                  <a:pt x="96266" y="2921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bk object 31"/>
          <p:cNvSpPr/>
          <p:nvPr/>
        </p:nvSpPr>
        <p:spPr>
          <a:xfrm>
            <a:off x="2104200" y="4331880"/>
            <a:ext cx="134280" cy="2034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3400"/>
              <a:gd name="textAreaBottom" fmla="*/ 204120 h 203400"/>
            </a:gdLst>
            <a:ahLst/>
            <a:cxnLst/>
            <a:rect l="textAreaLeft" t="textAreaTop" r="textAreaRight" b="textAreaBottom"/>
            <a:pathLst>
              <a:path w="135128" h="203949">
                <a:moveTo>
                  <a:pt x="24256" y="134620"/>
                </a:moveTo>
                <a:lnTo>
                  <a:pt x="0" y="134620"/>
                </a:lnTo>
                <a:lnTo>
                  <a:pt x="127" y="135128"/>
                </a:lnTo>
                <a:lnTo>
                  <a:pt x="127" y="159385"/>
                </a:lnTo>
                <a:lnTo>
                  <a:pt x="3048" y="162306"/>
                </a:lnTo>
                <a:lnTo>
                  <a:pt x="3048" y="165227"/>
                </a:lnTo>
                <a:lnTo>
                  <a:pt x="9017" y="177292"/>
                </a:lnTo>
                <a:lnTo>
                  <a:pt x="26924" y="195199"/>
                </a:lnTo>
                <a:lnTo>
                  <a:pt x="38988" y="198120"/>
                </a:lnTo>
                <a:lnTo>
                  <a:pt x="57023" y="203949"/>
                </a:lnTo>
                <a:lnTo>
                  <a:pt x="72136" y="203949"/>
                </a:lnTo>
                <a:lnTo>
                  <a:pt x="78105" y="201041"/>
                </a:lnTo>
                <a:lnTo>
                  <a:pt x="90169" y="201041"/>
                </a:lnTo>
                <a:lnTo>
                  <a:pt x="114300" y="189103"/>
                </a:lnTo>
                <a:lnTo>
                  <a:pt x="117221" y="183134"/>
                </a:lnTo>
                <a:lnTo>
                  <a:pt x="123190" y="180212"/>
                </a:lnTo>
                <a:lnTo>
                  <a:pt x="123566" y="179450"/>
                </a:lnTo>
                <a:lnTo>
                  <a:pt x="66040" y="179450"/>
                </a:lnTo>
                <a:lnTo>
                  <a:pt x="53975" y="176530"/>
                </a:lnTo>
                <a:lnTo>
                  <a:pt x="48006" y="176530"/>
                </a:lnTo>
                <a:lnTo>
                  <a:pt x="38988" y="170561"/>
                </a:lnTo>
                <a:lnTo>
                  <a:pt x="33019" y="164592"/>
                </a:lnTo>
                <a:lnTo>
                  <a:pt x="24256" y="146685"/>
                </a:lnTo>
                <a:lnTo>
                  <a:pt x="24256" y="134620"/>
                </a:lnTo>
                <a:close/>
              </a:path>
              <a:path w="135128" h="203949">
                <a:moveTo>
                  <a:pt x="121424" y="105029"/>
                </a:moveTo>
                <a:lnTo>
                  <a:pt x="74930" y="105029"/>
                </a:lnTo>
                <a:lnTo>
                  <a:pt x="77850" y="107950"/>
                </a:lnTo>
                <a:lnTo>
                  <a:pt x="83819" y="107950"/>
                </a:lnTo>
                <a:lnTo>
                  <a:pt x="86741" y="110871"/>
                </a:lnTo>
                <a:lnTo>
                  <a:pt x="98679" y="116712"/>
                </a:lnTo>
                <a:lnTo>
                  <a:pt x="104648" y="125730"/>
                </a:lnTo>
                <a:lnTo>
                  <a:pt x="107568" y="131699"/>
                </a:lnTo>
                <a:lnTo>
                  <a:pt x="107568" y="149860"/>
                </a:lnTo>
                <a:lnTo>
                  <a:pt x="104648" y="155829"/>
                </a:lnTo>
                <a:lnTo>
                  <a:pt x="101727" y="164846"/>
                </a:lnTo>
                <a:lnTo>
                  <a:pt x="95885" y="170687"/>
                </a:lnTo>
                <a:lnTo>
                  <a:pt x="89916" y="173609"/>
                </a:lnTo>
                <a:lnTo>
                  <a:pt x="80899" y="176530"/>
                </a:lnTo>
                <a:lnTo>
                  <a:pt x="77978" y="176530"/>
                </a:lnTo>
                <a:lnTo>
                  <a:pt x="75056" y="179450"/>
                </a:lnTo>
                <a:lnTo>
                  <a:pt x="123566" y="179450"/>
                </a:lnTo>
                <a:lnTo>
                  <a:pt x="135128" y="156083"/>
                </a:lnTo>
                <a:lnTo>
                  <a:pt x="135128" y="125730"/>
                </a:lnTo>
                <a:lnTo>
                  <a:pt x="129159" y="113665"/>
                </a:lnTo>
                <a:lnTo>
                  <a:pt x="123190" y="107696"/>
                </a:lnTo>
                <a:lnTo>
                  <a:pt x="121424" y="105029"/>
                </a:lnTo>
                <a:close/>
              </a:path>
              <a:path w="135128" h="203949">
                <a:moveTo>
                  <a:pt x="120425" y="24257"/>
                </a:moveTo>
                <a:lnTo>
                  <a:pt x="78359" y="24257"/>
                </a:lnTo>
                <a:lnTo>
                  <a:pt x="90297" y="30099"/>
                </a:lnTo>
                <a:lnTo>
                  <a:pt x="99187" y="38989"/>
                </a:lnTo>
                <a:lnTo>
                  <a:pt x="99187" y="44958"/>
                </a:lnTo>
                <a:lnTo>
                  <a:pt x="102107" y="53975"/>
                </a:lnTo>
                <a:lnTo>
                  <a:pt x="99249" y="59817"/>
                </a:lnTo>
                <a:lnTo>
                  <a:pt x="99187" y="68961"/>
                </a:lnTo>
                <a:lnTo>
                  <a:pt x="90297" y="77850"/>
                </a:lnTo>
                <a:lnTo>
                  <a:pt x="78359" y="83693"/>
                </a:lnTo>
                <a:lnTo>
                  <a:pt x="50927" y="83693"/>
                </a:lnTo>
                <a:lnTo>
                  <a:pt x="50927" y="107950"/>
                </a:lnTo>
                <a:lnTo>
                  <a:pt x="56896" y="107950"/>
                </a:lnTo>
                <a:lnTo>
                  <a:pt x="62865" y="105029"/>
                </a:lnTo>
                <a:lnTo>
                  <a:pt x="121424" y="105029"/>
                </a:lnTo>
                <a:lnTo>
                  <a:pt x="117221" y="98679"/>
                </a:lnTo>
                <a:lnTo>
                  <a:pt x="114300" y="95758"/>
                </a:lnTo>
                <a:lnTo>
                  <a:pt x="108331" y="92824"/>
                </a:lnTo>
                <a:lnTo>
                  <a:pt x="102362" y="92824"/>
                </a:lnTo>
                <a:lnTo>
                  <a:pt x="111379" y="89916"/>
                </a:lnTo>
                <a:lnTo>
                  <a:pt x="120268" y="81025"/>
                </a:lnTo>
                <a:lnTo>
                  <a:pt x="123190" y="75057"/>
                </a:lnTo>
                <a:lnTo>
                  <a:pt x="126111" y="66040"/>
                </a:lnTo>
                <a:lnTo>
                  <a:pt x="129031" y="53975"/>
                </a:lnTo>
                <a:lnTo>
                  <a:pt x="126111" y="38849"/>
                </a:lnTo>
                <a:lnTo>
                  <a:pt x="123190" y="29845"/>
                </a:lnTo>
                <a:lnTo>
                  <a:pt x="120425" y="24257"/>
                </a:lnTo>
                <a:close/>
              </a:path>
              <a:path w="135128" h="203949">
                <a:moveTo>
                  <a:pt x="78105" y="0"/>
                </a:moveTo>
                <a:lnTo>
                  <a:pt x="66040" y="0"/>
                </a:lnTo>
                <a:lnTo>
                  <a:pt x="50927" y="2921"/>
                </a:lnTo>
                <a:lnTo>
                  <a:pt x="41910" y="2921"/>
                </a:lnTo>
                <a:lnTo>
                  <a:pt x="29972" y="8762"/>
                </a:lnTo>
                <a:lnTo>
                  <a:pt x="20955" y="14732"/>
                </a:lnTo>
                <a:lnTo>
                  <a:pt x="18034" y="20700"/>
                </a:lnTo>
                <a:lnTo>
                  <a:pt x="15112" y="23622"/>
                </a:lnTo>
                <a:lnTo>
                  <a:pt x="9143" y="35674"/>
                </a:lnTo>
                <a:lnTo>
                  <a:pt x="3302" y="53721"/>
                </a:lnTo>
                <a:lnTo>
                  <a:pt x="3302" y="65786"/>
                </a:lnTo>
                <a:lnTo>
                  <a:pt x="27559" y="65786"/>
                </a:lnTo>
                <a:lnTo>
                  <a:pt x="30417" y="59944"/>
                </a:lnTo>
                <a:lnTo>
                  <a:pt x="30480" y="50800"/>
                </a:lnTo>
                <a:lnTo>
                  <a:pt x="33338" y="44958"/>
                </a:lnTo>
                <a:lnTo>
                  <a:pt x="33400" y="41910"/>
                </a:lnTo>
                <a:lnTo>
                  <a:pt x="36322" y="38989"/>
                </a:lnTo>
                <a:lnTo>
                  <a:pt x="39243" y="33020"/>
                </a:lnTo>
                <a:lnTo>
                  <a:pt x="57150" y="24257"/>
                </a:lnTo>
                <a:lnTo>
                  <a:pt x="120425" y="24257"/>
                </a:lnTo>
                <a:lnTo>
                  <a:pt x="117221" y="17780"/>
                </a:lnTo>
                <a:lnTo>
                  <a:pt x="99187" y="5842"/>
                </a:lnTo>
                <a:lnTo>
                  <a:pt x="87122" y="2921"/>
                </a:lnTo>
                <a:lnTo>
                  <a:pt x="7810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bk object 32"/>
          <p:cNvSpPr/>
          <p:nvPr/>
        </p:nvSpPr>
        <p:spPr>
          <a:xfrm>
            <a:off x="2104200" y="379620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8" h="194817">
                <a:moveTo>
                  <a:pt x="112648" y="143001"/>
                </a:moveTo>
                <a:lnTo>
                  <a:pt x="85216" y="143001"/>
                </a:lnTo>
                <a:lnTo>
                  <a:pt x="85216" y="194817"/>
                </a:lnTo>
                <a:lnTo>
                  <a:pt x="112648" y="194817"/>
                </a:lnTo>
                <a:lnTo>
                  <a:pt x="112648" y="143001"/>
                </a:lnTo>
                <a:close/>
              </a:path>
              <a:path w="112648" h="194817">
                <a:moveTo>
                  <a:pt x="112648" y="0"/>
                </a:moveTo>
                <a:lnTo>
                  <a:pt x="85216" y="0"/>
                </a:lnTo>
                <a:lnTo>
                  <a:pt x="0" y="118744"/>
                </a:lnTo>
                <a:lnTo>
                  <a:pt x="0" y="143001"/>
                </a:lnTo>
                <a:lnTo>
                  <a:pt x="140080" y="143001"/>
                </a:lnTo>
                <a:lnTo>
                  <a:pt x="140080" y="121792"/>
                </a:lnTo>
                <a:lnTo>
                  <a:pt x="112648" y="121792"/>
                </a:lnTo>
                <a:lnTo>
                  <a:pt x="24383" y="121665"/>
                </a:lnTo>
                <a:lnTo>
                  <a:pt x="85216" y="33400"/>
                </a:lnTo>
                <a:lnTo>
                  <a:pt x="112648" y="33400"/>
                </a:lnTo>
                <a:lnTo>
                  <a:pt x="112648" y="0"/>
                </a:lnTo>
                <a:close/>
              </a:path>
              <a:path w="112648" h="194817">
                <a:moveTo>
                  <a:pt x="112648" y="33400"/>
                </a:moveTo>
                <a:lnTo>
                  <a:pt x="85216" y="33400"/>
                </a:lnTo>
                <a:lnTo>
                  <a:pt x="85216" y="121665"/>
                </a:lnTo>
                <a:lnTo>
                  <a:pt x="112648" y="121665"/>
                </a:lnTo>
                <a:lnTo>
                  <a:pt x="112648" y="334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bk object 33"/>
          <p:cNvSpPr/>
          <p:nvPr/>
        </p:nvSpPr>
        <p:spPr>
          <a:xfrm>
            <a:off x="2104200" y="3253680"/>
            <a:ext cx="135000" cy="198720"/>
          </a:xfrm>
          <a:custGeom>
            <a:avLst/>
            <a:gdLst>
              <a:gd name="textAreaLeft" fmla="*/ 0 w 135000"/>
              <a:gd name="textAreaRight" fmla="*/ 135720 w 135000"/>
              <a:gd name="textAreaTop" fmla="*/ 0 h 198720"/>
              <a:gd name="textAreaBottom" fmla="*/ 199440 h 198720"/>
            </a:gdLst>
            <a:ahLst/>
            <a:cxnLst/>
            <a:rect l="textAreaLeft" t="textAreaTop" r="textAreaRight" b="textAreaBottom"/>
            <a:pathLst>
              <a:path w="135762" h="199389">
                <a:moveTo>
                  <a:pt x="27431" y="143001"/>
                </a:moveTo>
                <a:lnTo>
                  <a:pt x="635" y="143001"/>
                </a:lnTo>
                <a:lnTo>
                  <a:pt x="635" y="151637"/>
                </a:lnTo>
                <a:lnTo>
                  <a:pt x="21336" y="184530"/>
                </a:lnTo>
                <a:lnTo>
                  <a:pt x="51435" y="199389"/>
                </a:lnTo>
                <a:lnTo>
                  <a:pt x="81787" y="199389"/>
                </a:lnTo>
                <a:lnTo>
                  <a:pt x="93853" y="196469"/>
                </a:lnTo>
                <a:lnTo>
                  <a:pt x="105918" y="190500"/>
                </a:lnTo>
                <a:lnTo>
                  <a:pt x="120650" y="175767"/>
                </a:lnTo>
                <a:lnTo>
                  <a:pt x="57277" y="175767"/>
                </a:lnTo>
                <a:lnTo>
                  <a:pt x="48260" y="172847"/>
                </a:lnTo>
                <a:lnTo>
                  <a:pt x="42291" y="169925"/>
                </a:lnTo>
                <a:lnTo>
                  <a:pt x="27431" y="155066"/>
                </a:lnTo>
                <a:lnTo>
                  <a:pt x="27431" y="143001"/>
                </a:lnTo>
                <a:close/>
              </a:path>
              <a:path w="135762" h="199389">
                <a:moveTo>
                  <a:pt x="121920" y="89026"/>
                </a:moveTo>
                <a:lnTo>
                  <a:pt x="75437" y="89026"/>
                </a:lnTo>
                <a:lnTo>
                  <a:pt x="81406" y="91948"/>
                </a:lnTo>
                <a:lnTo>
                  <a:pt x="90424" y="94869"/>
                </a:lnTo>
                <a:lnTo>
                  <a:pt x="102362" y="106807"/>
                </a:lnTo>
                <a:lnTo>
                  <a:pt x="105282" y="115824"/>
                </a:lnTo>
                <a:lnTo>
                  <a:pt x="108204" y="118745"/>
                </a:lnTo>
                <a:lnTo>
                  <a:pt x="108204" y="143001"/>
                </a:lnTo>
                <a:lnTo>
                  <a:pt x="105282" y="148971"/>
                </a:lnTo>
                <a:lnTo>
                  <a:pt x="102362" y="157987"/>
                </a:lnTo>
                <a:lnTo>
                  <a:pt x="90424" y="169925"/>
                </a:lnTo>
                <a:lnTo>
                  <a:pt x="84455" y="172847"/>
                </a:lnTo>
                <a:lnTo>
                  <a:pt x="75437" y="175767"/>
                </a:lnTo>
                <a:lnTo>
                  <a:pt x="120650" y="175767"/>
                </a:lnTo>
                <a:lnTo>
                  <a:pt x="123952" y="172465"/>
                </a:lnTo>
                <a:lnTo>
                  <a:pt x="129793" y="160527"/>
                </a:lnTo>
                <a:lnTo>
                  <a:pt x="135762" y="148462"/>
                </a:lnTo>
                <a:lnTo>
                  <a:pt x="135762" y="118110"/>
                </a:lnTo>
                <a:lnTo>
                  <a:pt x="132842" y="106045"/>
                </a:lnTo>
                <a:lnTo>
                  <a:pt x="126873" y="93979"/>
                </a:lnTo>
                <a:lnTo>
                  <a:pt x="121920" y="89026"/>
                </a:lnTo>
                <a:close/>
              </a:path>
              <a:path w="135762" h="199389">
                <a:moveTo>
                  <a:pt x="635" y="142621"/>
                </a:moveTo>
                <a:lnTo>
                  <a:pt x="0" y="143001"/>
                </a:lnTo>
                <a:lnTo>
                  <a:pt x="635" y="143001"/>
                </a:lnTo>
                <a:lnTo>
                  <a:pt x="635" y="142621"/>
                </a:lnTo>
                <a:close/>
              </a:path>
              <a:path w="135762" h="199389">
                <a:moveTo>
                  <a:pt x="128016" y="0"/>
                </a:moveTo>
                <a:lnTo>
                  <a:pt x="21336" y="0"/>
                </a:lnTo>
                <a:lnTo>
                  <a:pt x="6223" y="106679"/>
                </a:lnTo>
                <a:lnTo>
                  <a:pt x="27431" y="106679"/>
                </a:lnTo>
                <a:lnTo>
                  <a:pt x="36322" y="97789"/>
                </a:lnTo>
                <a:lnTo>
                  <a:pt x="48260" y="91948"/>
                </a:lnTo>
                <a:lnTo>
                  <a:pt x="57277" y="89026"/>
                </a:lnTo>
                <a:lnTo>
                  <a:pt x="121920" y="89026"/>
                </a:lnTo>
                <a:lnTo>
                  <a:pt x="117856" y="84962"/>
                </a:lnTo>
                <a:lnTo>
                  <a:pt x="114997" y="79121"/>
                </a:lnTo>
                <a:lnTo>
                  <a:pt x="33781" y="79121"/>
                </a:lnTo>
                <a:lnTo>
                  <a:pt x="39750" y="24257"/>
                </a:lnTo>
                <a:lnTo>
                  <a:pt x="128016" y="24257"/>
                </a:lnTo>
                <a:lnTo>
                  <a:pt x="128016" y="0"/>
                </a:lnTo>
                <a:close/>
              </a:path>
              <a:path w="135762" h="199389">
                <a:moveTo>
                  <a:pt x="84962" y="67310"/>
                </a:moveTo>
                <a:lnTo>
                  <a:pt x="60706" y="67310"/>
                </a:lnTo>
                <a:lnTo>
                  <a:pt x="48641" y="70230"/>
                </a:lnTo>
                <a:lnTo>
                  <a:pt x="42672" y="70230"/>
                </a:lnTo>
                <a:lnTo>
                  <a:pt x="33781" y="79121"/>
                </a:lnTo>
                <a:lnTo>
                  <a:pt x="114997" y="79121"/>
                </a:lnTo>
                <a:lnTo>
                  <a:pt x="97028" y="70230"/>
                </a:lnTo>
                <a:lnTo>
                  <a:pt x="84962" y="673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bk object 34"/>
          <p:cNvSpPr/>
          <p:nvPr/>
        </p:nvSpPr>
        <p:spPr>
          <a:xfrm>
            <a:off x="2109600" y="2711520"/>
            <a:ext cx="134280" cy="204480"/>
          </a:xfrm>
          <a:custGeom>
            <a:avLst/>
            <a:gdLst>
              <a:gd name="textAreaLeft" fmla="*/ 0 w 134280"/>
              <a:gd name="textAreaRight" fmla="*/ 135000 w 13428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000" h="205104">
                <a:moveTo>
                  <a:pt x="84200" y="202184"/>
                </a:moveTo>
                <a:lnTo>
                  <a:pt x="53975" y="202184"/>
                </a:lnTo>
                <a:lnTo>
                  <a:pt x="69087" y="205104"/>
                </a:lnTo>
                <a:lnTo>
                  <a:pt x="84200" y="202184"/>
                </a:lnTo>
                <a:close/>
              </a:path>
              <a:path w="135000" h="205104">
                <a:moveTo>
                  <a:pt x="72008" y="0"/>
                </a:moveTo>
                <a:lnTo>
                  <a:pt x="56895" y="2920"/>
                </a:lnTo>
                <a:lnTo>
                  <a:pt x="44831" y="5841"/>
                </a:lnTo>
                <a:lnTo>
                  <a:pt x="38862" y="8762"/>
                </a:lnTo>
                <a:lnTo>
                  <a:pt x="32893" y="14731"/>
                </a:lnTo>
                <a:lnTo>
                  <a:pt x="20827" y="23749"/>
                </a:lnTo>
                <a:lnTo>
                  <a:pt x="17906" y="29717"/>
                </a:lnTo>
                <a:lnTo>
                  <a:pt x="11937" y="38735"/>
                </a:lnTo>
                <a:lnTo>
                  <a:pt x="0" y="81152"/>
                </a:lnTo>
                <a:lnTo>
                  <a:pt x="0" y="141986"/>
                </a:lnTo>
                <a:lnTo>
                  <a:pt x="2920" y="151002"/>
                </a:lnTo>
                <a:lnTo>
                  <a:pt x="11937" y="172212"/>
                </a:lnTo>
                <a:lnTo>
                  <a:pt x="20955" y="184276"/>
                </a:lnTo>
                <a:lnTo>
                  <a:pt x="29971" y="193293"/>
                </a:lnTo>
                <a:lnTo>
                  <a:pt x="45085" y="199262"/>
                </a:lnTo>
                <a:lnTo>
                  <a:pt x="48006" y="202184"/>
                </a:lnTo>
                <a:lnTo>
                  <a:pt x="90169" y="202184"/>
                </a:lnTo>
                <a:lnTo>
                  <a:pt x="96138" y="199262"/>
                </a:lnTo>
                <a:lnTo>
                  <a:pt x="102107" y="199262"/>
                </a:lnTo>
                <a:lnTo>
                  <a:pt x="108076" y="196341"/>
                </a:lnTo>
                <a:lnTo>
                  <a:pt x="117093" y="187325"/>
                </a:lnTo>
                <a:lnTo>
                  <a:pt x="121460" y="181482"/>
                </a:lnTo>
                <a:lnTo>
                  <a:pt x="53212" y="181482"/>
                </a:lnTo>
                <a:lnTo>
                  <a:pt x="50292" y="178562"/>
                </a:lnTo>
                <a:lnTo>
                  <a:pt x="44323" y="175640"/>
                </a:lnTo>
                <a:lnTo>
                  <a:pt x="32512" y="163829"/>
                </a:lnTo>
                <a:lnTo>
                  <a:pt x="32512" y="160909"/>
                </a:lnTo>
                <a:lnTo>
                  <a:pt x="29591" y="154939"/>
                </a:lnTo>
                <a:lnTo>
                  <a:pt x="38354" y="109727"/>
                </a:lnTo>
                <a:lnTo>
                  <a:pt x="62356" y="97916"/>
                </a:lnTo>
                <a:lnTo>
                  <a:pt x="122916" y="97916"/>
                </a:lnTo>
                <a:lnTo>
                  <a:pt x="121991" y="96519"/>
                </a:lnTo>
                <a:lnTo>
                  <a:pt x="26924" y="96519"/>
                </a:lnTo>
                <a:lnTo>
                  <a:pt x="26924" y="78359"/>
                </a:lnTo>
                <a:lnTo>
                  <a:pt x="29844" y="66293"/>
                </a:lnTo>
                <a:lnTo>
                  <a:pt x="32766" y="57276"/>
                </a:lnTo>
                <a:lnTo>
                  <a:pt x="38735" y="45212"/>
                </a:lnTo>
                <a:lnTo>
                  <a:pt x="41656" y="39242"/>
                </a:lnTo>
                <a:lnTo>
                  <a:pt x="50545" y="30352"/>
                </a:lnTo>
                <a:lnTo>
                  <a:pt x="62483" y="24511"/>
                </a:lnTo>
                <a:lnTo>
                  <a:pt x="124681" y="24511"/>
                </a:lnTo>
                <a:lnTo>
                  <a:pt x="120142" y="17652"/>
                </a:lnTo>
                <a:lnTo>
                  <a:pt x="114300" y="11811"/>
                </a:lnTo>
                <a:lnTo>
                  <a:pt x="102235" y="5841"/>
                </a:lnTo>
                <a:lnTo>
                  <a:pt x="72008" y="0"/>
                </a:lnTo>
                <a:close/>
              </a:path>
              <a:path w="135000" h="205104">
                <a:moveTo>
                  <a:pt x="122916" y="97916"/>
                </a:moveTo>
                <a:lnTo>
                  <a:pt x="77469" y="97916"/>
                </a:lnTo>
                <a:lnTo>
                  <a:pt x="86487" y="100837"/>
                </a:lnTo>
                <a:lnTo>
                  <a:pt x="92456" y="103759"/>
                </a:lnTo>
                <a:lnTo>
                  <a:pt x="98298" y="109600"/>
                </a:lnTo>
                <a:lnTo>
                  <a:pt x="101218" y="115569"/>
                </a:lnTo>
                <a:lnTo>
                  <a:pt x="104139" y="124587"/>
                </a:lnTo>
                <a:lnTo>
                  <a:pt x="107061" y="130555"/>
                </a:lnTo>
                <a:lnTo>
                  <a:pt x="107061" y="139573"/>
                </a:lnTo>
                <a:lnTo>
                  <a:pt x="107314" y="139700"/>
                </a:lnTo>
                <a:lnTo>
                  <a:pt x="107314" y="148716"/>
                </a:lnTo>
                <a:lnTo>
                  <a:pt x="104393" y="154686"/>
                </a:lnTo>
                <a:lnTo>
                  <a:pt x="101473" y="163702"/>
                </a:lnTo>
                <a:lnTo>
                  <a:pt x="98551" y="169672"/>
                </a:lnTo>
                <a:lnTo>
                  <a:pt x="92582" y="175640"/>
                </a:lnTo>
                <a:lnTo>
                  <a:pt x="80644" y="181482"/>
                </a:lnTo>
                <a:lnTo>
                  <a:pt x="121460" y="181482"/>
                </a:lnTo>
                <a:lnTo>
                  <a:pt x="126111" y="175260"/>
                </a:lnTo>
                <a:lnTo>
                  <a:pt x="132080" y="163194"/>
                </a:lnTo>
                <a:lnTo>
                  <a:pt x="132080" y="157225"/>
                </a:lnTo>
                <a:lnTo>
                  <a:pt x="135000" y="154304"/>
                </a:lnTo>
                <a:lnTo>
                  <a:pt x="135000" y="126873"/>
                </a:lnTo>
                <a:lnTo>
                  <a:pt x="132080" y="114807"/>
                </a:lnTo>
                <a:lnTo>
                  <a:pt x="126111" y="102742"/>
                </a:lnTo>
                <a:lnTo>
                  <a:pt x="122916" y="97916"/>
                </a:lnTo>
                <a:close/>
              </a:path>
              <a:path w="135000" h="205104">
                <a:moveTo>
                  <a:pt x="68833" y="72898"/>
                </a:moveTo>
                <a:lnTo>
                  <a:pt x="59817" y="75818"/>
                </a:lnTo>
                <a:lnTo>
                  <a:pt x="47751" y="78739"/>
                </a:lnTo>
                <a:lnTo>
                  <a:pt x="38735" y="81661"/>
                </a:lnTo>
                <a:lnTo>
                  <a:pt x="29844" y="90550"/>
                </a:lnTo>
                <a:lnTo>
                  <a:pt x="26924" y="96519"/>
                </a:lnTo>
                <a:lnTo>
                  <a:pt x="121991" y="96519"/>
                </a:lnTo>
                <a:lnTo>
                  <a:pt x="120142" y="93725"/>
                </a:lnTo>
                <a:lnTo>
                  <a:pt x="108076" y="84709"/>
                </a:lnTo>
                <a:lnTo>
                  <a:pt x="96012" y="78739"/>
                </a:lnTo>
                <a:lnTo>
                  <a:pt x="83946" y="75818"/>
                </a:lnTo>
                <a:lnTo>
                  <a:pt x="68833" y="72898"/>
                </a:lnTo>
                <a:close/>
              </a:path>
              <a:path w="135000" h="205104">
                <a:moveTo>
                  <a:pt x="124681" y="24511"/>
                </a:moveTo>
                <a:lnTo>
                  <a:pt x="80644" y="24511"/>
                </a:lnTo>
                <a:lnTo>
                  <a:pt x="86613" y="27431"/>
                </a:lnTo>
                <a:lnTo>
                  <a:pt x="95631" y="30352"/>
                </a:lnTo>
                <a:lnTo>
                  <a:pt x="98551" y="33274"/>
                </a:lnTo>
                <a:lnTo>
                  <a:pt x="101473" y="33274"/>
                </a:lnTo>
                <a:lnTo>
                  <a:pt x="107314" y="45212"/>
                </a:lnTo>
                <a:lnTo>
                  <a:pt x="107314" y="54228"/>
                </a:lnTo>
                <a:lnTo>
                  <a:pt x="134746" y="54228"/>
                </a:lnTo>
                <a:lnTo>
                  <a:pt x="134874" y="53593"/>
                </a:lnTo>
                <a:lnTo>
                  <a:pt x="134874" y="47625"/>
                </a:lnTo>
                <a:lnTo>
                  <a:pt x="129031" y="35687"/>
                </a:lnTo>
                <a:lnTo>
                  <a:pt x="126111" y="26669"/>
                </a:lnTo>
                <a:lnTo>
                  <a:pt x="124681" y="245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bk object 35"/>
          <p:cNvSpPr/>
          <p:nvPr/>
        </p:nvSpPr>
        <p:spPr>
          <a:xfrm>
            <a:off x="2106000" y="2179080"/>
            <a:ext cx="28080" cy="192960"/>
          </a:xfrm>
          <a:custGeom>
            <a:avLst/>
            <a:gdLst>
              <a:gd name="textAreaLeft" fmla="*/ 0 w 28080"/>
              <a:gd name="textAreaRight" fmla="*/ 28800 w 2808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28722" h="193675">
                <a:moveTo>
                  <a:pt x="28722" y="193548"/>
                </a:moveTo>
              </a:path>
              <a:path w="28722" h="193675">
                <a:moveTo>
                  <a:pt x="137032" y="0"/>
                </a:moveTo>
                <a:lnTo>
                  <a:pt x="0" y="0"/>
                </a:lnTo>
                <a:lnTo>
                  <a:pt x="0" y="24256"/>
                </a:lnTo>
                <a:lnTo>
                  <a:pt x="109727" y="24256"/>
                </a:lnTo>
                <a:lnTo>
                  <a:pt x="97662" y="39370"/>
                </a:lnTo>
                <a:lnTo>
                  <a:pt x="91693" y="45338"/>
                </a:lnTo>
                <a:lnTo>
                  <a:pt x="79628" y="63500"/>
                </a:lnTo>
                <a:lnTo>
                  <a:pt x="67563" y="78612"/>
                </a:lnTo>
                <a:lnTo>
                  <a:pt x="55499" y="102870"/>
                </a:lnTo>
                <a:lnTo>
                  <a:pt x="46481" y="124078"/>
                </a:lnTo>
                <a:lnTo>
                  <a:pt x="40512" y="145287"/>
                </a:lnTo>
                <a:lnTo>
                  <a:pt x="34543" y="169545"/>
                </a:lnTo>
                <a:lnTo>
                  <a:pt x="31622" y="175513"/>
                </a:lnTo>
                <a:lnTo>
                  <a:pt x="28722" y="193548"/>
                </a:lnTo>
                <a:lnTo>
                  <a:pt x="59054" y="193548"/>
                </a:lnTo>
                <a:lnTo>
                  <a:pt x="61975" y="172338"/>
                </a:lnTo>
                <a:lnTo>
                  <a:pt x="61975" y="163322"/>
                </a:lnTo>
                <a:lnTo>
                  <a:pt x="67944" y="142112"/>
                </a:lnTo>
                <a:lnTo>
                  <a:pt x="70865" y="133096"/>
                </a:lnTo>
                <a:lnTo>
                  <a:pt x="73787" y="121030"/>
                </a:lnTo>
                <a:lnTo>
                  <a:pt x="82803" y="102870"/>
                </a:lnTo>
                <a:lnTo>
                  <a:pt x="94868" y="81661"/>
                </a:lnTo>
                <a:lnTo>
                  <a:pt x="103885" y="63500"/>
                </a:lnTo>
                <a:lnTo>
                  <a:pt x="115950" y="48387"/>
                </a:lnTo>
                <a:lnTo>
                  <a:pt x="121919" y="39370"/>
                </a:lnTo>
                <a:lnTo>
                  <a:pt x="137032" y="24256"/>
                </a:lnTo>
                <a:lnTo>
                  <a:pt x="13703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bk object 36"/>
          <p:cNvSpPr/>
          <p:nvPr/>
        </p:nvSpPr>
        <p:spPr>
          <a:xfrm>
            <a:off x="2107800" y="1636560"/>
            <a:ext cx="134640" cy="2001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135509" h="200913">
                <a:moveTo>
                  <a:pt x="32584" y="89815"/>
                </a:moveTo>
                <a:lnTo>
                  <a:pt x="26670" y="92709"/>
                </a:lnTo>
                <a:lnTo>
                  <a:pt x="23749" y="92709"/>
                </a:lnTo>
                <a:lnTo>
                  <a:pt x="17780" y="98678"/>
                </a:lnTo>
                <a:lnTo>
                  <a:pt x="11811" y="101600"/>
                </a:lnTo>
                <a:lnTo>
                  <a:pt x="5842" y="110616"/>
                </a:lnTo>
                <a:lnTo>
                  <a:pt x="0" y="128650"/>
                </a:lnTo>
                <a:lnTo>
                  <a:pt x="0" y="152907"/>
                </a:lnTo>
                <a:lnTo>
                  <a:pt x="2921" y="164972"/>
                </a:lnTo>
                <a:lnTo>
                  <a:pt x="11938" y="177037"/>
                </a:lnTo>
                <a:lnTo>
                  <a:pt x="29972" y="195071"/>
                </a:lnTo>
                <a:lnTo>
                  <a:pt x="54102" y="200913"/>
                </a:lnTo>
                <a:lnTo>
                  <a:pt x="81534" y="200913"/>
                </a:lnTo>
                <a:lnTo>
                  <a:pt x="90551" y="197992"/>
                </a:lnTo>
                <a:lnTo>
                  <a:pt x="105664" y="195071"/>
                </a:lnTo>
                <a:lnTo>
                  <a:pt x="123444" y="177291"/>
                </a:lnTo>
                <a:lnTo>
                  <a:pt x="53213" y="177291"/>
                </a:lnTo>
                <a:lnTo>
                  <a:pt x="47244" y="174370"/>
                </a:lnTo>
                <a:lnTo>
                  <a:pt x="44323" y="174370"/>
                </a:lnTo>
                <a:lnTo>
                  <a:pt x="32385" y="162432"/>
                </a:lnTo>
                <a:lnTo>
                  <a:pt x="29464" y="156463"/>
                </a:lnTo>
                <a:lnTo>
                  <a:pt x="26543" y="147446"/>
                </a:lnTo>
                <a:lnTo>
                  <a:pt x="26543" y="138429"/>
                </a:lnTo>
                <a:lnTo>
                  <a:pt x="26797" y="138429"/>
                </a:lnTo>
                <a:lnTo>
                  <a:pt x="26859" y="129412"/>
                </a:lnTo>
                <a:lnTo>
                  <a:pt x="32639" y="117601"/>
                </a:lnTo>
                <a:lnTo>
                  <a:pt x="38608" y="111632"/>
                </a:lnTo>
                <a:lnTo>
                  <a:pt x="44577" y="108712"/>
                </a:lnTo>
                <a:lnTo>
                  <a:pt x="53594" y="105790"/>
                </a:lnTo>
                <a:lnTo>
                  <a:pt x="59563" y="102869"/>
                </a:lnTo>
                <a:lnTo>
                  <a:pt x="121406" y="102869"/>
                </a:lnTo>
                <a:lnTo>
                  <a:pt x="120650" y="101726"/>
                </a:lnTo>
                <a:lnTo>
                  <a:pt x="114681" y="98805"/>
                </a:lnTo>
                <a:lnTo>
                  <a:pt x="108712" y="92837"/>
                </a:lnTo>
                <a:lnTo>
                  <a:pt x="102743" y="89915"/>
                </a:lnTo>
                <a:lnTo>
                  <a:pt x="32893" y="89915"/>
                </a:lnTo>
                <a:lnTo>
                  <a:pt x="32584" y="89815"/>
                </a:lnTo>
                <a:close/>
              </a:path>
              <a:path w="135509" h="200913">
                <a:moveTo>
                  <a:pt x="121406" y="102869"/>
                </a:moveTo>
                <a:lnTo>
                  <a:pt x="74676" y="102869"/>
                </a:lnTo>
                <a:lnTo>
                  <a:pt x="92583" y="111632"/>
                </a:lnTo>
                <a:lnTo>
                  <a:pt x="101473" y="120522"/>
                </a:lnTo>
                <a:lnTo>
                  <a:pt x="101473" y="123443"/>
                </a:lnTo>
                <a:lnTo>
                  <a:pt x="104394" y="129412"/>
                </a:lnTo>
                <a:lnTo>
                  <a:pt x="107315" y="138429"/>
                </a:lnTo>
                <a:lnTo>
                  <a:pt x="104394" y="147446"/>
                </a:lnTo>
                <a:lnTo>
                  <a:pt x="104394" y="156463"/>
                </a:lnTo>
                <a:lnTo>
                  <a:pt x="98425" y="162432"/>
                </a:lnTo>
                <a:lnTo>
                  <a:pt x="95504" y="168401"/>
                </a:lnTo>
                <a:lnTo>
                  <a:pt x="89535" y="174370"/>
                </a:lnTo>
                <a:lnTo>
                  <a:pt x="83566" y="174370"/>
                </a:lnTo>
                <a:lnTo>
                  <a:pt x="80645" y="177291"/>
                </a:lnTo>
                <a:lnTo>
                  <a:pt x="123444" y="177291"/>
                </a:lnTo>
                <a:lnTo>
                  <a:pt x="123698" y="177037"/>
                </a:lnTo>
                <a:lnTo>
                  <a:pt x="129667" y="164972"/>
                </a:lnTo>
                <a:lnTo>
                  <a:pt x="135509" y="140842"/>
                </a:lnTo>
                <a:lnTo>
                  <a:pt x="132588" y="128777"/>
                </a:lnTo>
                <a:lnTo>
                  <a:pt x="132588" y="119760"/>
                </a:lnTo>
                <a:lnTo>
                  <a:pt x="121406" y="102869"/>
                </a:lnTo>
                <a:close/>
              </a:path>
              <a:path w="135509" h="200913">
                <a:moveTo>
                  <a:pt x="26797" y="138429"/>
                </a:moveTo>
                <a:lnTo>
                  <a:pt x="26543" y="138429"/>
                </a:lnTo>
                <a:lnTo>
                  <a:pt x="26797" y="138556"/>
                </a:lnTo>
                <a:close/>
              </a:path>
              <a:path w="135509" h="200913">
                <a:moveTo>
                  <a:pt x="103002" y="89788"/>
                </a:moveTo>
                <a:lnTo>
                  <a:pt x="32639" y="89788"/>
                </a:lnTo>
                <a:lnTo>
                  <a:pt x="32893" y="89915"/>
                </a:lnTo>
                <a:lnTo>
                  <a:pt x="102743" y="89915"/>
                </a:lnTo>
                <a:lnTo>
                  <a:pt x="103002" y="89788"/>
                </a:lnTo>
                <a:close/>
              </a:path>
              <a:path w="135509" h="200913">
                <a:moveTo>
                  <a:pt x="87503" y="0"/>
                </a:moveTo>
                <a:lnTo>
                  <a:pt x="44958" y="0"/>
                </a:lnTo>
                <a:lnTo>
                  <a:pt x="32893" y="5968"/>
                </a:lnTo>
                <a:lnTo>
                  <a:pt x="23876" y="11937"/>
                </a:lnTo>
                <a:lnTo>
                  <a:pt x="17907" y="17906"/>
                </a:lnTo>
                <a:lnTo>
                  <a:pt x="11938" y="26923"/>
                </a:lnTo>
                <a:lnTo>
                  <a:pt x="6096" y="38862"/>
                </a:lnTo>
                <a:lnTo>
                  <a:pt x="6096" y="60070"/>
                </a:lnTo>
                <a:lnTo>
                  <a:pt x="9017" y="69087"/>
                </a:lnTo>
                <a:lnTo>
                  <a:pt x="14986" y="78104"/>
                </a:lnTo>
                <a:lnTo>
                  <a:pt x="23876" y="86994"/>
                </a:lnTo>
                <a:lnTo>
                  <a:pt x="32584" y="89815"/>
                </a:lnTo>
                <a:lnTo>
                  <a:pt x="103002" y="89788"/>
                </a:lnTo>
                <a:lnTo>
                  <a:pt x="114681" y="84073"/>
                </a:lnTo>
                <a:lnTo>
                  <a:pt x="115823" y="82930"/>
                </a:lnTo>
                <a:lnTo>
                  <a:pt x="65659" y="82930"/>
                </a:lnTo>
                <a:lnTo>
                  <a:pt x="59690" y="80009"/>
                </a:lnTo>
                <a:lnTo>
                  <a:pt x="53721" y="80009"/>
                </a:lnTo>
                <a:lnTo>
                  <a:pt x="41783" y="74167"/>
                </a:lnTo>
                <a:lnTo>
                  <a:pt x="38862" y="71246"/>
                </a:lnTo>
                <a:lnTo>
                  <a:pt x="33020" y="59308"/>
                </a:lnTo>
                <a:lnTo>
                  <a:pt x="33020" y="50291"/>
                </a:lnTo>
                <a:lnTo>
                  <a:pt x="32893" y="50291"/>
                </a:lnTo>
                <a:lnTo>
                  <a:pt x="32893" y="44322"/>
                </a:lnTo>
                <a:lnTo>
                  <a:pt x="41656" y="26415"/>
                </a:lnTo>
                <a:lnTo>
                  <a:pt x="47625" y="23494"/>
                </a:lnTo>
                <a:lnTo>
                  <a:pt x="53594" y="23494"/>
                </a:lnTo>
                <a:lnTo>
                  <a:pt x="56515" y="20573"/>
                </a:lnTo>
                <a:lnTo>
                  <a:pt x="119367" y="20573"/>
                </a:lnTo>
                <a:lnTo>
                  <a:pt x="117602" y="17906"/>
                </a:lnTo>
                <a:lnTo>
                  <a:pt x="99568" y="5968"/>
                </a:lnTo>
                <a:lnTo>
                  <a:pt x="87503" y="0"/>
                </a:lnTo>
                <a:close/>
              </a:path>
              <a:path w="135509" h="200913">
                <a:moveTo>
                  <a:pt x="119367" y="20573"/>
                </a:moveTo>
                <a:lnTo>
                  <a:pt x="74676" y="20573"/>
                </a:lnTo>
                <a:lnTo>
                  <a:pt x="77597" y="23494"/>
                </a:lnTo>
                <a:lnTo>
                  <a:pt x="83566" y="23494"/>
                </a:lnTo>
                <a:lnTo>
                  <a:pt x="89535" y="26415"/>
                </a:lnTo>
                <a:lnTo>
                  <a:pt x="95504" y="32384"/>
                </a:lnTo>
                <a:lnTo>
                  <a:pt x="98425" y="38353"/>
                </a:lnTo>
                <a:lnTo>
                  <a:pt x="98425" y="44322"/>
                </a:lnTo>
                <a:lnTo>
                  <a:pt x="101346" y="50291"/>
                </a:lnTo>
                <a:lnTo>
                  <a:pt x="98425" y="59308"/>
                </a:lnTo>
                <a:lnTo>
                  <a:pt x="98425" y="65277"/>
                </a:lnTo>
                <a:lnTo>
                  <a:pt x="95504" y="71246"/>
                </a:lnTo>
                <a:lnTo>
                  <a:pt x="77597" y="80009"/>
                </a:lnTo>
                <a:lnTo>
                  <a:pt x="71628" y="80009"/>
                </a:lnTo>
                <a:lnTo>
                  <a:pt x="65659" y="82930"/>
                </a:lnTo>
                <a:lnTo>
                  <a:pt x="115823" y="82930"/>
                </a:lnTo>
                <a:lnTo>
                  <a:pt x="120650" y="78104"/>
                </a:lnTo>
                <a:lnTo>
                  <a:pt x="126492" y="60070"/>
                </a:lnTo>
                <a:lnTo>
                  <a:pt x="129413" y="48005"/>
                </a:lnTo>
                <a:lnTo>
                  <a:pt x="126461" y="38862"/>
                </a:lnTo>
                <a:lnTo>
                  <a:pt x="123571" y="26923"/>
                </a:lnTo>
                <a:lnTo>
                  <a:pt x="119367" y="205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bk object 37"/>
          <p:cNvSpPr/>
          <p:nvPr/>
        </p:nvSpPr>
        <p:spPr>
          <a:xfrm>
            <a:off x="2104200" y="1094040"/>
            <a:ext cx="137160" cy="204480"/>
          </a:xfrm>
          <a:custGeom>
            <a:avLst/>
            <a:gdLst>
              <a:gd name="textAreaLeft" fmla="*/ 0 w 137160"/>
              <a:gd name="textAreaRight" fmla="*/ 137880 w 13716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7922" h="205104">
                <a:moveTo>
                  <a:pt x="27431" y="150749"/>
                </a:moveTo>
                <a:lnTo>
                  <a:pt x="3175" y="150749"/>
                </a:lnTo>
                <a:lnTo>
                  <a:pt x="2667" y="151129"/>
                </a:lnTo>
                <a:lnTo>
                  <a:pt x="2667" y="169290"/>
                </a:lnTo>
                <a:lnTo>
                  <a:pt x="8636" y="178307"/>
                </a:lnTo>
                <a:lnTo>
                  <a:pt x="23622" y="193293"/>
                </a:lnTo>
                <a:lnTo>
                  <a:pt x="47625" y="205104"/>
                </a:lnTo>
                <a:lnTo>
                  <a:pt x="62737" y="205104"/>
                </a:lnTo>
                <a:lnTo>
                  <a:pt x="105029" y="193293"/>
                </a:lnTo>
                <a:lnTo>
                  <a:pt x="114576" y="180339"/>
                </a:lnTo>
                <a:lnTo>
                  <a:pt x="54102" y="180339"/>
                </a:lnTo>
                <a:lnTo>
                  <a:pt x="36194" y="171576"/>
                </a:lnTo>
                <a:lnTo>
                  <a:pt x="30353" y="159638"/>
                </a:lnTo>
                <a:lnTo>
                  <a:pt x="30353" y="156717"/>
                </a:lnTo>
                <a:lnTo>
                  <a:pt x="27431" y="150749"/>
                </a:lnTo>
                <a:close/>
              </a:path>
              <a:path w="137922" h="205104">
                <a:moveTo>
                  <a:pt x="136650" y="111378"/>
                </a:moveTo>
                <a:lnTo>
                  <a:pt x="110871" y="111378"/>
                </a:lnTo>
                <a:lnTo>
                  <a:pt x="107950" y="120395"/>
                </a:lnTo>
                <a:lnTo>
                  <a:pt x="107950" y="132460"/>
                </a:lnTo>
                <a:lnTo>
                  <a:pt x="105029" y="138429"/>
                </a:lnTo>
                <a:lnTo>
                  <a:pt x="87249" y="174498"/>
                </a:lnTo>
                <a:lnTo>
                  <a:pt x="78231" y="177418"/>
                </a:lnTo>
                <a:lnTo>
                  <a:pt x="72262" y="180339"/>
                </a:lnTo>
                <a:lnTo>
                  <a:pt x="114576" y="180339"/>
                </a:lnTo>
                <a:lnTo>
                  <a:pt x="123062" y="166115"/>
                </a:lnTo>
                <a:lnTo>
                  <a:pt x="132080" y="144906"/>
                </a:lnTo>
                <a:lnTo>
                  <a:pt x="135000" y="135889"/>
                </a:lnTo>
                <a:lnTo>
                  <a:pt x="135109" y="125856"/>
                </a:lnTo>
                <a:lnTo>
                  <a:pt x="136650" y="111378"/>
                </a:lnTo>
                <a:close/>
              </a:path>
              <a:path w="137922" h="205104">
                <a:moveTo>
                  <a:pt x="65912" y="0"/>
                </a:moveTo>
                <a:lnTo>
                  <a:pt x="41782" y="5841"/>
                </a:lnTo>
                <a:lnTo>
                  <a:pt x="17653" y="17779"/>
                </a:lnTo>
                <a:lnTo>
                  <a:pt x="11811" y="29717"/>
                </a:lnTo>
                <a:lnTo>
                  <a:pt x="5842" y="35686"/>
                </a:lnTo>
                <a:lnTo>
                  <a:pt x="5842" y="41655"/>
                </a:lnTo>
                <a:lnTo>
                  <a:pt x="123" y="65276"/>
                </a:lnTo>
                <a:lnTo>
                  <a:pt x="0" y="80899"/>
                </a:lnTo>
                <a:lnTo>
                  <a:pt x="20828" y="116966"/>
                </a:lnTo>
                <a:lnTo>
                  <a:pt x="53975" y="131825"/>
                </a:lnTo>
                <a:lnTo>
                  <a:pt x="72136" y="131825"/>
                </a:lnTo>
                <a:lnTo>
                  <a:pt x="78105" y="128904"/>
                </a:lnTo>
                <a:lnTo>
                  <a:pt x="96138" y="123062"/>
                </a:lnTo>
                <a:lnTo>
                  <a:pt x="104902" y="114300"/>
                </a:lnTo>
                <a:lnTo>
                  <a:pt x="110871" y="111378"/>
                </a:lnTo>
                <a:lnTo>
                  <a:pt x="136650" y="111378"/>
                </a:lnTo>
                <a:lnTo>
                  <a:pt x="137097" y="107187"/>
                </a:lnTo>
                <a:lnTo>
                  <a:pt x="57150" y="107187"/>
                </a:lnTo>
                <a:lnTo>
                  <a:pt x="54229" y="104266"/>
                </a:lnTo>
                <a:lnTo>
                  <a:pt x="51307" y="104266"/>
                </a:lnTo>
                <a:lnTo>
                  <a:pt x="42291" y="101345"/>
                </a:lnTo>
                <a:lnTo>
                  <a:pt x="39369" y="95376"/>
                </a:lnTo>
                <a:lnTo>
                  <a:pt x="33400" y="89407"/>
                </a:lnTo>
                <a:lnTo>
                  <a:pt x="30480" y="83438"/>
                </a:lnTo>
                <a:lnTo>
                  <a:pt x="27559" y="74421"/>
                </a:lnTo>
                <a:lnTo>
                  <a:pt x="27559" y="65404"/>
                </a:lnTo>
                <a:lnTo>
                  <a:pt x="27431" y="65276"/>
                </a:lnTo>
                <a:lnTo>
                  <a:pt x="27431" y="56260"/>
                </a:lnTo>
                <a:lnTo>
                  <a:pt x="33274" y="44323"/>
                </a:lnTo>
                <a:lnTo>
                  <a:pt x="33274" y="41401"/>
                </a:lnTo>
                <a:lnTo>
                  <a:pt x="39243" y="35432"/>
                </a:lnTo>
                <a:lnTo>
                  <a:pt x="42163" y="29463"/>
                </a:lnTo>
                <a:lnTo>
                  <a:pt x="51181" y="26542"/>
                </a:lnTo>
                <a:lnTo>
                  <a:pt x="57150" y="23621"/>
                </a:lnTo>
                <a:lnTo>
                  <a:pt x="118523" y="23621"/>
                </a:lnTo>
                <a:lnTo>
                  <a:pt x="117093" y="20700"/>
                </a:lnTo>
                <a:lnTo>
                  <a:pt x="105029" y="11683"/>
                </a:lnTo>
                <a:lnTo>
                  <a:pt x="93091" y="5841"/>
                </a:lnTo>
                <a:lnTo>
                  <a:pt x="81025" y="2920"/>
                </a:lnTo>
                <a:lnTo>
                  <a:pt x="65912" y="0"/>
                </a:lnTo>
                <a:close/>
              </a:path>
              <a:path w="137922" h="205104">
                <a:moveTo>
                  <a:pt x="118523" y="23621"/>
                </a:moveTo>
                <a:lnTo>
                  <a:pt x="78359" y="23621"/>
                </a:lnTo>
                <a:lnTo>
                  <a:pt x="84328" y="26542"/>
                </a:lnTo>
                <a:lnTo>
                  <a:pt x="93344" y="29463"/>
                </a:lnTo>
                <a:lnTo>
                  <a:pt x="99313" y="35432"/>
                </a:lnTo>
                <a:lnTo>
                  <a:pt x="102235" y="41401"/>
                </a:lnTo>
                <a:lnTo>
                  <a:pt x="105156" y="50418"/>
                </a:lnTo>
                <a:lnTo>
                  <a:pt x="108014" y="56260"/>
                </a:lnTo>
                <a:lnTo>
                  <a:pt x="107984" y="65785"/>
                </a:lnTo>
                <a:lnTo>
                  <a:pt x="105156" y="77469"/>
                </a:lnTo>
                <a:lnTo>
                  <a:pt x="105156" y="83438"/>
                </a:lnTo>
                <a:lnTo>
                  <a:pt x="102235" y="89407"/>
                </a:lnTo>
                <a:lnTo>
                  <a:pt x="90297" y="101345"/>
                </a:lnTo>
                <a:lnTo>
                  <a:pt x="81280" y="104266"/>
                </a:lnTo>
                <a:lnTo>
                  <a:pt x="75311" y="107187"/>
                </a:lnTo>
                <a:lnTo>
                  <a:pt x="137097" y="107187"/>
                </a:lnTo>
                <a:lnTo>
                  <a:pt x="137922" y="99440"/>
                </a:lnTo>
                <a:lnTo>
                  <a:pt x="137922" y="72008"/>
                </a:lnTo>
                <a:lnTo>
                  <a:pt x="131953" y="53848"/>
                </a:lnTo>
                <a:lnTo>
                  <a:pt x="125984" y="32638"/>
                </a:lnTo>
                <a:lnTo>
                  <a:pt x="120015" y="26669"/>
                </a:lnTo>
                <a:lnTo>
                  <a:pt x="118523" y="236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bk object 38"/>
          <p:cNvSpPr/>
          <p:nvPr/>
        </p:nvSpPr>
        <p:spPr>
          <a:xfrm>
            <a:off x="1991520" y="55440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1881" h="201040">
                <a:moveTo>
                  <a:pt x="71881" y="0"/>
                </a:moveTo>
                <a:lnTo>
                  <a:pt x="53721" y="0"/>
                </a:lnTo>
                <a:lnTo>
                  <a:pt x="50800" y="9016"/>
                </a:lnTo>
                <a:lnTo>
                  <a:pt x="47879" y="14985"/>
                </a:lnTo>
                <a:lnTo>
                  <a:pt x="44958" y="24002"/>
                </a:lnTo>
                <a:lnTo>
                  <a:pt x="42037" y="26923"/>
                </a:lnTo>
                <a:lnTo>
                  <a:pt x="24130" y="35686"/>
                </a:lnTo>
                <a:lnTo>
                  <a:pt x="15112" y="35686"/>
                </a:lnTo>
                <a:lnTo>
                  <a:pt x="0" y="38607"/>
                </a:lnTo>
                <a:lnTo>
                  <a:pt x="0" y="56768"/>
                </a:lnTo>
                <a:lnTo>
                  <a:pt x="45593" y="56768"/>
                </a:lnTo>
                <a:lnTo>
                  <a:pt x="45593" y="199897"/>
                </a:lnTo>
                <a:lnTo>
                  <a:pt x="44450" y="201040"/>
                </a:lnTo>
                <a:lnTo>
                  <a:pt x="71881" y="201040"/>
                </a:lnTo>
                <a:lnTo>
                  <a:pt x="718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bk object 39"/>
          <p:cNvSpPr/>
          <p:nvPr/>
        </p:nvSpPr>
        <p:spPr>
          <a:xfrm>
            <a:off x="2107080" y="553680"/>
            <a:ext cx="134640" cy="2048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840"/>
              <a:gd name="textAreaBottom" fmla="*/ 205560 h 204840"/>
            </a:gdLst>
            <a:ahLst/>
            <a:cxnLst/>
            <a:rect l="textAreaLeft" t="textAreaTop" r="textAreaRight" b="textAreaBottom"/>
            <a:pathLst>
              <a:path w="135509" h="205611">
                <a:moveTo>
                  <a:pt x="81534" y="0"/>
                </a:moveTo>
                <a:lnTo>
                  <a:pt x="54102" y="0"/>
                </a:lnTo>
                <a:lnTo>
                  <a:pt x="29972" y="11938"/>
                </a:lnTo>
                <a:lnTo>
                  <a:pt x="17906" y="20954"/>
                </a:lnTo>
                <a:lnTo>
                  <a:pt x="11937" y="33020"/>
                </a:lnTo>
                <a:lnTo>
                  <a:pt x="2921" y="54228"/>
                </a:lnTo>
                <a:lnTo>
                  <a:pt x="0" y="75438"/>
                </a:lnTo>
                <a:lnTo>
                  <a:pt x="0" y="102870"/>
                </a:lnTo>
                <a:lnTo>
                  <a:pt x="254" y="102870"/>
                </a:lnTo>
                <a:lnTo>
                  <a:pt x="254" y="130301"/>
                </a:lnTo>
                <a:lnTo>
                  <a:pt x="3175" y="151511"/>
                </a:lnTo>
                <a:lnTo>
                  <a:pt x="12192" y="169672"/>
                </a:lnTo>
                <a:lnTo>
                  <a:pt x="18161" y="184785"/>
                </a:lnTo>
                <a:lnTo>
                  <a:pt x="30225" y="193801"/>
                </a:lnTo>
                <a:lnTo>
                  <a:pt x="42291" y="199771"/>
                </a:lnTo>
                <a:lnTo>
                  <a:pt x="66421" y="205611"/>
                </a:lnTo>
                <a:lnTo>
                  <a:pt x="81534" y="202692"/>
                </a:lnTo>
                <a:lnTo>
                  <a:pt x="93599" y="199771"/>
                </a:lnTo>
                <a:lnTo>
                  <a:pt x="105663" y="193801"/>
                </a:lnTo>
                <a:lnTo>
                  <a:pt x="114681" y="184785"/>
                </a:lnTo>
                <a:lnTo>
                  <a:pt x="116726" y="181355"/>
                </a:lnTo>
                <a:lnTo>
                  <a:pt x="57023" y="181355"/>
                </a:lnTo>
                <a:lnTo>
                  <a:pt x="51054" y="178435"/>
                </a:lnTo>
                <a:lnTo>
                  <a:pt x="39243" y="166624"/>
                </a:lnTo>
                <a:lnTo>
                  <a:pt x="33274" y="157606"/>
                </a:lnTo>
                <a:lnTo>
                  <a:pt x="30353" y="139446"/>
                </a:lnTo>
                <a:lnTo>
                  <a:pt x="27431" y="124333"/>
                </a:lnTo>
                <a:lnTo>
                  <a:pt x="27305" y="78611"/>
                </a:lnTo>
                <a:lnTo>
                  <a:pt x="30225" y="66548"/>
                </a:lnTo>
                <a:lnTo>
                  <a:pt x="33147" y="48387"/>
                </a:lnTo>
                <a:lnTo>
                  <a:pt x="39116" y="39370"/>
                </a:lnTo>
                <a:lnTo>
                  <a:pt x="50927" y="27559"/>
                </a:lnTo>
                <a:lnTo>
                  <a:pt x="56896" y="24638"/>
                </a:lnTo>
                <a:lnTo>
                  <a:pt x="117433" y="24638"/>
                </a:lnTo>
                <a:lnTo>
                  <a:pt x="114681" y="20954"/>
                </a:lnTo>
                <a:lnTo>
                  <a:pt x="105663" y="11938"/>
                </a:lnTo>
                <a:lnTo>
                  <a:pt x="81534" y="0"/>
                </a:lnTo>
                <a:close/>
              </a:path>
              <a:path w="135509" h="205611">
                <a:moveTo>
                  <a:pt x="117433" y="24638"/>
                </a:moveTo>
                <a:lnTo>
                  <a:pt x="75056" y="24638"/>
                </a:lnTo>
                <a:lnTo>
                  <a:pt x="84074" y="27559"/>
                </a:lnTo>
                <a:lnTo>
                  <a:pt x="96012" y="39497"/>
                </a:lnTo>
                <a:lnTo>
                  <a:pt x="101981" y="48514"/>
                </a:lnTo>
                <a:lnTo>
                  <a:pt x="104902" y="66675"/>
                </a:lnTo>
                <a:lnTo>
                  <a:pt x="107823" y="81788"/>
                </a:lnTo>
                <a:lnTo>
                  <a:pt x="107823" y="124333"/>
                </a:lnTo>
                <a:lnTo>
                  <a:pt x="104902" y="139446"/>
                </a:lnTo>
                <a:lnTo>
                  <a:pt x="101981" y="157606"/>
                </a:lnTo>
                <a:lnTo>
                  <a:pt x="96012" y="166624"/>
                </a:lnTo>
                <a:lnTo>
                  <a:pt x="84200" y="178435"/>
                </a:lnTo>
                <a:lnTo>
                  <a:pt x="75184" y="181355"/>
                </a:lnTo>
                <a:lnTo>
                  <a:pt x="116726" y="181355"/>
                </a:lnTo>
                <a:lnTo>
                  <a:pt x="123698" y="169672"/>
                </a:lnTo>
                <a:lnTo>
                  <a:pt x="129667" y="151511"/>
                </a:lnTo>
                <a:lnTo>
                  <a:pt x="132587" y="130301"/>
                </a:lnTo>
                <a:lnTo>
                  <a:pt x="135509" y="102870"/>
                </a:lnTo>
                <a:lnTo>
                  <a:pt x="132587" y="75438"/>
                </a:lnTo>
                <a:lnTo>
                  <a:pt x="129667" y="54228"/>
                </a:lnTo>
                <a:lnTo>
                  <a:pt x="123698" y="33020"/>
                </a:lnTo>
                <a:lnTo>
                  <a:pt x="117433" y="246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bk object 40"/>
          <p:cNvSpPr/>
          <p:nvPr/>
        </p:nvSpPr>
        <p:spPr>
          <a:xfrm>
            <a:off x="2341800" y="6124680"/>
            <a:ext cx="6009840" cy="360"/>
          </a:xfrm>
          <a:custGeom>
            <a:avLst/>
            <a:gdLst>
              <a:gd name="textAreaLeft" fmla="*/ 0 w 6009840"/>
              <a:gd name="textAreaRight" fmla="*/ 6010560 w 600984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6010529">
                <a:moveTo>
                  <a:pt x="6010529" y="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bk object 41"/>
          <p:cNvSpPr/>
          <p:nvPr/>
        </p:nvSpPr>
        <p:spPr>
          <a:xfrm>
            <a:off x="2387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bk object 42"/>
          <p:cNvSpPr/>
          <p:nvPr/>
        </p:nvSpPr>
        <p:spPr>
          <a:xfrm>
            <a:off x="29818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bk object 43"/>
          <p:cNvSpPr/>
          <p:nvPr/>
        </p:nvSpPr>
        <p:spPr>
          <a:xfrm>
            <a:off x="35733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bk object 44"/>
          <p:cNvSpPr/>
          <p:nvPr/>
        </p:nvSpPr>
        <p:spPr>
          <a:xfrm>
            <a:off x="41644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bk object 45"/>
          <p:cNvSpPr/>
          <p:nvPr/>
        </p:nvSpPr>
        <p:spPr>
          <a:xfrm>
            <a:off x="47559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bk object 46"/>
          <p:cNvSpPr/>
          <p:nvPr/>
        </p:nvSpPr>
        <p:spPr>
          <a:xfrm>
            <a:off x="53470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bk object 47"/>
          <p:cNvSpPr/>
          <p:nvPr/>
        </p:nvSpPr>
        <p:spPr>
          <a:xfrm>
            <a:off x="59385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bk object 48"/>
          <p:cNvSpPr/>
          <p:nvPr/>
        </p:nvSpPr>
        <p:spPr>
          <a:xfrm>
            <a:off x="65329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bk object 49"/>
          <p:cNvSpPr/>
          <p:nvPr/>
        </p:nvSpPr>
        <p:spPr>
          <a:xfrm>
            <a:off x="71240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bk object 50"/>
          <p:cNvSpPr/>
          <p:nvPr/>
        </p:nvSpPr>
        <p:spPr>
          <a:xfrm>
            <a:off x="7715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bk object 51"/>
          <p:cNvSpPr/>
          <p:nvPr/>
        </p:nvSpPr>
        <p:spPr>
          <a:xfrm>
            <a:off x="83066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bk object 52"/>
          <p:cNvSpPr/>
          <p:nvPr/>
        </p:nvSpPr>
        <p:spPr>
          <a:xfrm>
            <a:off x="220428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7" y="26924"/>
                </a:lnTo>
                <a:lnTo>
                  <a:pt x="12318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29845" y="193675"/>
                </a:lnTo>
                <a:lnTo>
                  <a:pt x="53975" y="202565"/>
                </a:lnTo>
                <a:lnTo>
                  <a:pt x="81406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7602" y="181610"/>
                </a:lnTo>
                <a:lnTo>
                  <a:pt x="69850" y="181483"/>
                </a:lnTo>
                <a:lnTo>
                  <a:pt x="60833" y="178562"/>
                </a:lnTo>
                <a:lnTo>
                  <a:pt x="54864" y="178562"/>
                </a:lnTo>
                <a:lnTo>
                  <a:pt x="45847" y="172593"/>
                </a:lnTo>
                <a:lnTo>
                  <a:pt x="39878" y="166624"/>
                </a:lnTo>
                <a:lnTo>
                  <a:pt x="36956" y="154559"/>
                </a:lnTo>
                <a:lnTo>
                  <a:pt x="30987" y="139446"/>
                </a:lnTo>
                <a:lnTo>
                  <a:pt x="30987" y="124333"/>
                </a:lnTo>
                <a:lnTo>
                  <a:pt x="28067" y="103124"/>
                </a:lnTo>
                <a:lnTo>
                  <a:pt x="27940" y="102616"/>
                </a:lnTo>
                <a:lnTo>
                  <a:pt x="30861" y="78359"/>
                </a:lnTo>
                <a:lnTo>
                  <a:pt x="30861" y="63246"/>
                </a:lnTo>
                <a:lnTo>
                  <a:pt x="36830" y="48133"/>
                </a:lnTo>
                <a:lnTo>
                  <a:pt x="39751" y="39116"/>
                </a:lnTo>
                <a:lnTo>
                  <a:pt x="45720" y="30099"/>
                </a:lnTo>
                <a:lnTo>
                  <a:pt x="54737" y="27178"/>
                </a:lnTo>
                <a:lnTo>
                  <a:pt x="60706" y="24257"/>
                </a:lnTo>
                <a:lnTo>
                  <a:pt x="119344" y="24257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509" h="202564">
                <a:moveTo>
                  <a:pt x="119344" y="24257"/>
                </a:moveTo>
                <a:lnTo>
                  <a:pt x="78867" y="24257"/>
                </a:lnTo>
                <a:lnTo>
                  <a:pt x="90805" y="30099"/>
                </a:lnTo>
                <a:lnTo>
                  <a:pt x="102743" y="48133"/>
                </a:lnTo>
                <a:lnTo>
                  <a:pt x="108712" y="63246"/>
                </a:lnTo>
                <a:lnTo>
                  <a:pt x="108712" y="139446"/>
                </a:lnTo>
                <a:lnTo>
                  <a:pt x="102743" y="154559"/>
                </a:lnTo>
                <a:lnTo>
                  <a:pt x="96774" y="166624"/>
                </a:lnTo>
                <a:lnTo>
                  <a:pt x="84836" y="178562"/>
                </a:lnTo>
                <a:lnTo>
                  <a:pt x="78867" y="178562"/>
                </a:lnTo>
                <a:lnTo>
                  <a:pt x="69850" y="181483"/>
                </a:lnTo>
                <a:lnTo>
                  <a:pt x="117664" y="181483"/>
                </a:lnTo>
                <a:lnTo>
                  <a:pt x="123571" y="169545"/>
                </a:lnTo>
                <a:lnTo>
                  <a:pt x="132587" y="148336"/>
                </a:lnTo>
                <a:lnTo>
                  <a:pt x="135509" y="130175"/>
                </a:lnTo>
                <a:lnTo>
                  <a:pt x="135491" y="75184"/>
                </a:lnTo>
                <a:lnTo>
                  <a:pt x="132587" y="54102"/>
                </a:lnTo>
                <a:lnTo>
                  <a:pt x="123571" y="32893"/>
                </a:lnTo>
                <a:lnTo>
                  <a:pt x="119344" y="24257"/>
                </a:lnTo>
                <a:close/>
              </a:path>
              <a:path w="135509" h="202564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bk object 53"/>
          <p:cNvSpPr/>
          <p:nvPr/>
        </p:nvSpPr>
        <p:spPr>
          <a:xfrm>
            <a:off x="237240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2" h="33401">
                <a:moveTo>
                  <a:pt x="0" y="16700"/>
                </a:moveTo>
                <a:lnTo>
                  <a:pt x="3035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bk object 54"/>
          <p:cNvSpPr/>
          <p:nvPr/>
        </p:nvSpPr>
        <p:spPr>
          <a:xfrm>
            <a:off x="243252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361" h="202564">
                <a:moveTo>
                  <a:pt x="93472" y="2920"/>
                </a:moveTo>
                <a:lnTo>
                  <a:pt x="42163" y="2920"/>
                </a:lnTo>
                <a:lnTo>
                  <a:pt x="36194" y="5841"/>
                </a:lnTo>
                <a:lnTo>
                  <a:pt x="21208" y="20827"/>
                </a:lnTo>
                <a:lnTo>
                  <a:pt x="18287" y="26796"/>
                </a:lnTo>
                <a:lnTo>
                  <a:pt x="12318" y="32765"/>
                </a:lnTo>
                <a:lnTo>
                  <a:pt x="9398" y="41782"/>
                </a:lnTo>
                <a:lnTo>
                  <a:pt x="6476" y="53847"/>
                </a:lnTo>
                <a:lnTo>
                  <a:pt x="3528" y="75310"/>
                </a:lnTo>
                <a:lnTo>
                  <a:pt x="635" y="102488"/>
                </a:lnTo>
                <a:lnTo>
                  <a:pt x="0" y="102869"/>
                </a:lnTo>
                <a:lnTo>
                  <a:pt x="5842" y="148462"/>
                </a:lnTo>
                <a:lnTo>
                  <a:pt x="29844" y="193801"/>
                </a:lnTo>
                <a:lnTo>
                  <a:pt x="53848" y="202564"/>
                </a:lnTo>
                <a:lnTo>
                  <a:pt x="81280" y="202564"/>
                </a:lnTo>
                <a:lnTo>
                  <a:pt x="93344" y="199643"/>
                </a:lnTo>
                <a:lnTo>
                  <a:pt x="105410" y="193674"/>
                </a:lnTo>
                <a:lnTo>
                  <a:pt x="117475" y="181609"/>
                </a:lnTo>
                <a:lnTo>
                  <a:pt x="117537" y="181482"/>
                </a:lnTo>
                <a:lnTo>
                  <a:pt x="69976" y="181482"/>
                </a:lnTo>
                <a:lnTo>
                  <a:pt x="60960" y="178561"/>
                </a:lnTo>
                <a:lnTo>
                  <a:pt x="54991" y="178561"/>
                </a:lnTo>
                <a:lnTo>
                  <a:pt x="45974" y="172592"/>
                </a:lnTo>
                <a:lnTo>
                  <a:pt x="40005" y="166611"/>
                </a:lnTo>
                <a:lnTo>
                  <a:pt x="37083" y="160654"/>
                </a:lnTo>
                <a:lnTo>
                  <a:pt x="37033" y="154558"/>
                </a:lnTo>
                <a:lnTo>
                  <a:pt x="31114" y="139572"/>
                </a:lnTo>
                <a:lnTo>
                  <a:pt x="31114" y="124459"/>
                </a:lnTo>
                <a:lnTo>
                  <a:pt x="28193" y="103250"/>
                </a:lnTo>
                <a:lnTo>
                  <a:pt x="28067" y="102488"/>
                </a:lnTo>
                <a:lnTo>
                  <a:pt x="30987" y="78231"/>
                </a:lnTo>
                <a:lnTo>
                  <a:pt x="30987" y="63118"/>
                </a:lnTo>
                <a:lnTo>
                  <a:pt x="36906" y="48132"/>
                </a:lnTo>
                <a:lnTo>
                  <a:pt x="36956" y="42036"/>
                </a:lnTo>
                <a:lnTo>
                  <a:pt x="39878" y="39115"/>
                </a:lnTo>
                <a:lnTo>
                  <a:pt x="45847" y="30086"/>
                </a:lnTo>
                <a:lnTo>
                  <a:pt x="54863" y="27177"/>
                </a:lnTo>
                <a:lnTo>
                  <a:pt x="60832" y="24256"/>
                </a:lnTo>
                <a:lnTo>
                  <a:pt x="119217" y="24256"/>
                </a:lnTo>
                <a:lnTo>
                  <a:pt x="117601" y="20954"/>
                </a:lnTo>
                <a:lnTo>
                  <a:pt x="93472" y="2920"/>
                </a:lnTo>
                <a:close/>
              </a:path>
              <a:path w="135361" h="202564">
                <a:moveTo>
                  <a:pt x="119217" y="24256"/>
                </a:moveTo>
                <a:lnTo>
                  <a:pt x="78993" y="24256"/>
                </a:lnTo>
                <a:lnTo>
                  <a:pt x="90931" y="30086"/>
                </a:lnTo>
                <a:lnTo>
                  <a:pt x="102869" y="48132"/>
                </a:lnTo>
                <a:lnTo>
                  <a:pt x="108788" y="63118"/>
                </a:lnTo>
                <a:lnTo>
                  <a:pt x="108788" y="139572"/>
                </a:lnTo>
                <a:lnTo>
                  <a:pt x="102807" y="154685"/>
                </a:lnTo>
                <a:lnTo>
                  <a:pt x="96900" y="166611"/>
                </a:lnTo>
                <a:lnTo>
                  <a:pt x="84962" y="178561"/>
                </a:lnTo>
                <a:lnTo>
                  <a:pt x="78993" y="178561"/>
                </a:lnTo>
                <a:lnTo>
                  <a:pt x="69976" y="181482"/>
                </a:lnTo>
                <a:lnTo>
                  <a:pt x="117537" y="181482"/>
                </a:lnTo>
                <a:lnTo>
                  <a:pt x="123443" y="169544"/>
                </a:lnTo>
                <a:lnTo>
                  <a:pt x="132461" y="148335"/>
                </a:lnTo>
                <a:lnTo>
                  <a:pt x="135361" y="130301"/>
                </a:lnTo>
                <a:lnTo>
                  <a:pt x="135347" y="75056"/>
                </a:lnTo>
                <a:lnTo>
                  <a:pt x="132461" y="54101"/>
                </a:lnTo>
                <a:lnTo>
                  <a:pt x="123381" y="32765"/>
                </a:lnTo>
                <a:lnTo>
                  <a:pt x="119217" y="24256"/>
                </a:lnTo>
                <a:close/>
              </a:path>
              <a:path w="135361" h="202564">
                <a:moveTo>
                  <a:pt x="81533" y="0"/>
                </a:moveTo>
                <a:lnTo>
                  <a:pt x="54101" y="0"/>
                </a:lnTo>
                <a:lnTo>
                  <a:pt x="48132" y="2920"/>
                </a:lnTo>
                <a:lnTo>
                  <a:pt x="87503" y="2920"/>
                </a:lnTo>
                <a:lnTo>
                  <a:pt x="8153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bk object 55"/>
          <p:cNvSpPr/>
          <p:nvPr/>
        </p:nvSpPr>
        <p:spPr>
          <a:xfrm>
            <a:off x="2816640" y="6293160"/>
            <a:ext cx="137520" cy="20196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8289" h="202564">
                <a:moveTo>
                  <a:pt x="96519" y="2921"/>
                </a:moveTo>
                <a:lnTo>
                  <a:pt x="45338" y="2921"/>
                </a:lnTo>
                <a:lnTo>
                  <a:pt x="21208" y="20955"/>
                </a:lnTo>
                <a:lnTo>
                  <a:pt x="15367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32893" y="193675"/>
                </a:lnTo>
                <a:lnTo>
                  <a:pt x="53975" y="202565"/>
                </a:lnTo>
                <a:lnTo>
                  <a:pt x="84328" y="202565"/>
                </a:lnTo>
                <a:lnTo>
                  <a:pt x="96393" y="199644"/>
                </a:lnTo>
                <a:lnTo>
                  <a:pt x="105410" y="193675"/>
                </a:lnTo>
                <a:lnTo>
                  <a:pt x="117475" y="181610"/>
                </a:lnTo>
                <a:lnTo>
                  <a:pt x="117854" y="181102"/>
                </a:lnTo>
                <a:lnTo>
                  <a:pt x="69976" y="181102"/>
                </a:lnTo>
                <a:lnTo>
                  <a:pt x="60960" y="178181"/>
                </a:lnTo>
                <a:lnTo>
                  <a:pt x="54991" y="178181"/>
                </a:lnTo>
                <a:lnTo>
                  <a:pt x="45974" y="172212"/>
                </a:lnTo>
                <a:lnTo>
                  <a:pt x="40005" y="166243"/>
                </a:lnTo>
                <a:lnTo>
                  <a:pt x="37083" y="160274"/>
                </a:lnTo>
                <a:lnTo>
                  <a:pt x="37033" y="154178"/>
                </a:lnTo>
                <a:lnTo>
                  <a:pt x="31114" y="139192"/>
                </a:lnTo>
                <a:lnTo>
                  <a:pt x="31097" y="123952"/>
                </a:lnTo>
                <a:lnTo>
                  <a:pt x="28193" y="102870"/>
                </a:lnTo>
                <a:lnTo>
                  <a:pt x="28067" y="102616"/>
                </a:lnTo>
                <a:lnTo>
                  <a:pt x="30972" y="78486"/>
                </a:lnTo>
                <a:lnTo>
                  <a:pt x="30987" y="63246"/>
                </a:lnTo>
                <a:lnTo>
                  <a:pt x="36906" y="48260"/>
                </a:lnTo>
                <a:lnTo>
                  <a:pt x="36956" y="42164"/>
                </a:lnTo>
                <a:lnTo>
                  <a:pt x="39878" y="39243"/>
                </a:lnTo>
                <a:lnTo>
                  <a:pt x="45847" y="30213"/>
                </a:lnTo>
                <a:lnTo>
                  <a:pt x="54863" y="27305"/>
                </a:lnTo>
                <a:lnTo>
                  <a:pt x="60832" y="24384"/>
                </a:lnTo>
                <a:lnTo>
                  <a:pt x="119280" y="24384"/>
                </a:lnTo>
                <a:lnTo>
                  <a:pt x="117601" y="20955"/>
                </a:lnTo>
                <a:lnTo>
                  <a:pt x="105537" y="11938"/>
                </a:lnTo>
                <a:lnTo>
                  <a:pt x="96519" y="2921"/>
                </a:lnTo>
                <a:close/>
              </a:path>
              <a:path w="138289" h="202564">
                <a:moveTo>
                  <a:pt x="119280" y="24384"/>
                </a:moveTo>
                <a:lnTo>
                  <a:pt x="78993" y="24384"/>
                </a:lnTo>
                <a:lnTo>
                  <a:pt x="84962" y="27305"/>
                </a:lnTo>
                <a:lnTo>
                  <a:pt x="93980" y="30213"/>
                </a:lnTo>
                <a:lnTo>
                  <a:pt x="99949" y="39243"/>
                </a:lnTo>
                <a:lnTo>
                  <a:pt x="102869" y="48260"/>
                </a:lnTo>
                <a:lnTo>
                  <a:pt x="108788" y="63246"/>
                </a:lnTo>
                <a:lnTo>
                  <a:pt x="108838" y="78486"/>
                </a:lnTo>
                <a:lnTo>
                  <a:pt x="111744" y="102616"/>
                </a:lnTo>
                <a:lnTo>
                  <a:pt x="111742" y="102870"/>
                </a:lnTo>
                <a:lnTo>
                  <a:pt x="108838" y="123952"/>
                </a:lnTo>
                <a:lnTo>
                  <a:pt x="108788" y="139192"/>
                </a:lnTo>
                <a:lnTo>
                  <a:pt x="102869" y="154178"/>
                </a:lnTo>
                <a:lnTo>
                  <a:pt x="99949" y="166243"/>
                </a:lnTo>
                <a:lnTo>
                  <a:pt x="93980" y="172212"/>
                </a:lnTo>
                <a:lnTo>
                  <a:pt x="84962" y="178181"/>
                </a:lnTo>
                <a:lnTo>
                  <a:pt x="78993" y="178181"/>
                </a:lnTo>
                <a:lnTo>
                  <a:pt x="69976" y="181102"/>
                </a:lnTo>
                <a:lnTo>
                  <a:pt x="117854" y="181102"/>
                </a:lnTo>
                <a:lnTo>
                  <a:pt x="126492" y="169545"/>
                </a:lnTo>
                <a:lnTo>
                  <a:pt x="132461" y="148336"/>
                </a:lnTo>
                <a:lnTo>
                  <a:pt x="135381" y="130175"/>
                </a:lnTo>
                <a:lnTo>
                  <a:pt x="138289" y="102870"/>
                </a:lnTo>
                <a:lnTo>
                  <a:pt x="138289" y="102616"/>
                </a:lnTo>
                <a:lnTo>
                  <a:pt x="135364" y="75184"/>
                </a:lnTo>
                <a:lnTo>
                  <a:pt x="132461" y="54102"/>
                </a:lnTo>
                <a:lnTo>
                  <a:pt x="126492" y="32893"/>
                </a:lnTo>
                <a:lnTo>
                  <a:pt x="120523" y="26924"/>
                </a:lnTo>
                <a:lnTo>
                  <a:pt x="119280" y="24384"/>
                </a:lnTo>
                <a:close/>
              </a:path>
              <a:path w="138289" h="202564">
                <a:moveTo>
                  <a:pt x="8458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90550" y="2921"/>
                </a:lnTo>
                <a:lnTo>
                  <a:pt x="845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bk object 56"/>
          <p:cNvSpPr/>
          <p:nvPr/>
        </p:nvSpPr>
        <p:spPr>
          <a:xfrm>
            <a:off x="298800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bk object 57"/>
          <p:cNvSpPr/>
          <p:nvPr/>
        </p:nvSpPr>
        <p:spPr>
          <a:xfrm>
            <a:off x="30430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6" h="201040">
                <a:moveTo>
                  <a:pt x="72136" y="0"/>
                </a:moveTo>
                <a:lnTo>
                  <a:pt x="53975" y="0"/>
                </a:lnTo>
                <a:lnTo>
                  <a:pt x="51054" y="9016"/>
                </a:lnTo>
                <a:lnTo>
                  <a:pt x="45212" y="20954"/>
                </a:lnTo>
                <a:lnTo>
                  <a:pt x="36194" y="26911"/>
                </a:lnTo>
                <a:lnTo>
                  <a:pt x="30225" y="32892"/>
                </a:lnTo>
                <a:lnTo>
                  <a:pt x="21208" y="35813"/>
                </a:lnTo>
                <a:lnTo>
                  <a:pt x="0" y="35813"/>
                </a:lnTo>
                <a:lnTo>
                  <a:pt x="0" y="57022"/>
                </a:lnTo>
                <a:lnTo>
                  <a:pt x="45593" y="57022"/>
                </a:lnTo>
                <a:lnTo>
                  <a:pt x="45593" y="200151"/>
                </a:lnTo>
                <a:lnTo>
                  <a:pt x="44704" y="201040"/>
                </a:lnTo>
                <a:lnTo>
                  <a:pt x="72136" y="201040"/>
                </a:lnTo>
                <a:lnTo>
                  <a:pt x="7213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bk object 58"/>
          <p:cNvSpPr/>
          <p:nvPr/>
        </p:nvSpPr>
        <p:spPr>
          <a:xfrm>
            <a:off x="3386520" y="6293520"/>
            <a:ext cx="137160" cy="201600"/>
          </a:xfrm>
          <a:custGeom>
            <a:avLst/>
            <a:gdLst>
              <a:gd name="textAreaLeft" fmla="*/ 0 w 137160"/>
              <a:gd name="textAreaRight" fmla="*/ 137880 w 13716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049" h="202311">
                <a:moveTo>
                  <a:pt x="96393" y="2920"/>
                </a:moveTo>
                <a:lnTo>
                  <a:pt x="45212" y="2920"/>
                </a:lnTo>
                <a:lnTo>
                  <a:pt x="33147" y="11937"/>
                </a:lnTo>
                <a:lnTo>
                  <a:pt x="27178" y="14858"/>
                </a:lnTo>
                <a:lnTo>
                  <a:pt x="21209" y="20827"/>
                </a:lnTo>
                <a:lnTo>
                  <a:pt x="15367" y="32765"/>
                </a:lnTo>
                <a:lnTo>
                  <a:pt x="9398" y="41782"/>
                </a:lnTo>
                <a:lnTo>
                  <a:pt x="6477" y="53847"/>
                </a:lnTo>
                <a:lnTo>
                  <a:pt x="3542" y="75183"/>
                </a:lnTo>
                <a:lnTo>
                  <a:pt x="635" y="102488"/>
                </a:lnTo>
                <a:lnTo>
                  <a:pt x="0" y="102615"/>
                </a:lnTo>
                <a:lnTo>
                  <a:pt x="5842" y="148208"/>
                </a:lnTo>
                <a:lnTo>
                  <a:pt x="32766" y="193420"/>
                </a:lnTo>
                <a:lnTo>
                  <a:pt x="53848" y="202310"/>
                </a:lnTo>
                <a:lnTo>
                  <a:pt x="84201" y="202310"/>
                </a:lnTo>
                <a:lnTo>
                  <a:pt x="96266" y="199389"/>
                </a:lnTo>
                <a:lnTo>
                  <a:pt x="105283" y="193420"/>
                </a:lnTo>
                <a:lnTo>
                  <a:pt x="117221" y="181482"/>
                </a:lnTo>
                <a:lnTo>
                  <a:pt x="118075" y="180339"/>
                </a:lnTo>
                <a:lnTo>
                  <a:pt x="70231" y="180339"/>
                </a:lnTo>
                <a:lnTo>
                  <a:pt x="61214" y="177418"/>
                </a:lnTo>
                <a:lnTo>
                  <a:pt x="55245" y="177418"/>
                </a:lnTo>
                <a:lnTo>
                  <a:pt x="49276" y="171449"/>
                </a:lnTo>
                <a:lnTo>
                  <a:pt x="40259" y="165480"/>
                </a:lnTo>
                <a:lnTo>
                  <a:pt x="37337" y="153415"/>
                </a:lnTo>
                <a:lnTo>
                  <a:pt x="31419" y="138429"/>
                </a:lnTo>
                <a:lnTo>
                  <a:pt x="31369" y="102488"/>
                </a:lnTo>
                <a:lnTo>
                  <a:pt x="31292" y="62737"/>
                </a:lnTo>
                <a:lnTo>
                  <a:pt x="37252" y="47624"/>
                </a:lnTo>
                <a:lnTo>
                  <a:pt x="40132" y="38734"/>
                </a:lnTo>
                <a:lnTo>
                  <a:pt x="49149" y="29717"/>
                </a:lnTo>
                <a:lnTo>
                  <a:pt x="61087" y="23875"/>
                </a:lnTo>
                <a:lnTo>
                  <a:pt x="118839" y="23875"/>
                </a:lnTo>
                <a:lnTo>
                  <a:pt x="117348" y="20827"/>
                </a:lnTo>
                <a:lnTo>
                  <a:pt x="111379" y="14858"/>
                </a:lnTo>
                <a:lnTo>
                  <a:pt x="105410" y="11937"/>
                </a:lnTo>
                <a:lnTo>
                  <a:pt x="96393" y="2920"/>
                </a:lnTo>
                <a:close/>
              </a:path>
              <a:path w="138049" h="202311">
                <a:moveTo>
                  <a:pt x="118839" y="23875"/>
                </a:moveTo>
                <a:lnTo>
                  <a:pt x="79248" y="23875"/>
                </a:lnTo>
                <a:lnTo>
                  <a:pt x="85217" y="26796"/>
                </a:lnTo>
                <a:lnTo>
                  <a:pt x="94234" y="29717"/>
                </a:lnTo>
                <a:lnTo>
                  <a:pt x="100203" y="38734"/>
                </a:lnTo>
                <a:lnTo>
                  <a:pt x="103124" y="41655"/>
                </a:lnTo>
                <a:lnTo>
                  <a:pt x="103174" y="47751"/>
                </a:lnTo>
                <a:lnTo>
                  <a:pt x="109093" y="62737"/>
                </a:lnTo>
                <a:lnTo>
                  <a:pt x="109093" y="77850"/>
                </a:lnTo>
                <a:lnTo>
                  <a:pt x="111983" y="101853"/>
                </a:lnTo>
                <a:lnTo>
                  <a:pt x="111944" y="102615"/>
                </a:lnTo>
                <a:lnTo>
                  <a:pt x="109093" y="123316"/>
                </a:lnTo>
                <a:lnTo>
                  <a:pt x="109093" y="138429"/>
                </a:lnTo>
                <a:lnTo>
                  <a:pt x="103174" y="153415"/>
                </a:lnTo>
                <a:lnTo>
                  <a:pt x="103124" y="159511"/>
                </a:lnTo>
                <a:lnTo>
                  <a:pt x="100203" y="165480"/>
                </a:lnTo>
                <a:lnTo>
                  <a:pt x="94234" y="171449"/>
                </a:lnTo>
                <a:lnTo>
                  <a:pt x="85217" y="177418"/>
                </a:lnTo>
                <a:lnTo>
                  <a:pt x="79248" y="177418"/>
                </a:lnTo>
                <a:lnTo>
                  <a:pt x="70231" y="180339"/>
                </a:lnTo>
                <a:lnTo>
                  <a:pt x="118075" y="180339"/>
                </a:lnTo>
                <a:lnTo>
                  <a:pt x="126237" y="169417"/>
                </a:lnTo>
                <a:lnTo>
                  <a:pt x="132207" y="148208"/>
                </a:lnTo>
                <a:lnTo>
                  <a:pt x="135128" y="130047"/>
                </a:lnTo>
                <a:lnTo>
                  <a:pt x="138049" y="102615"/>
                </a:lnTo>
                <a:lnTo>
                  <a:pt x="135110" y="75056"/>
                </a:lnTo>
                <a:lnTo>
                  <a:pt x="132207" y="53974"/>
                </a:lnTo>
                <a:lnTo>
                  <a:pt x="126237" y="32765"/>
                </a:lnTo>
                <a:lnTo>
                  <a:pt x="120269" y="26796"/>
                </a:lnTo>
                <a:lnTo>
                  <a:pt x="118839" y="23875"/>
                </a:lnTo>
                <a:close/>
              </a:path>
              <a:path w="138049" h="202311">
                <a:moveTo>
                  <a:pt x="31369" y="101853"/>
                </a:moveTo>
                <a:lnTo>
                  <a:pt x="31242" y="102488"/>
                </a:lnTo>
                <a:lnTo>
                  <a:pt x="31369" y="101853"/>
                </a:lnTo>
                <a:close/>
              </a:path>
              <a:path w="138049" h="202311">
                <a:moveTo>
                  <a:pt x="84455" y="0"/>
                </a:moveTo>
                <a:lnTo>
                  <a:pt x="54102" y="0"/>
                </a:lnTo>
                <a:lnTo>
                  <a:pt x="51181" y="2920"/>
                </a:lnTo>
                <a:lnTo>
                  <a:pt x="90424" y="2920"/>
                </a:lnTo>
                <a:lnTo>
                  <a:pt x="8445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bk object 59"/>
          <p:cNvSpPr/>
          <p:nvPr/>
        </p:nvSpPr>
        <p:spPr>
          <a:xfrm>
            <a:off x="355788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bk object 60"/>
          <p:cNvSpPr/>
          <p:nvPr/>
        </p:nvSpPr>
        <p:spPr>
          <a:xfrm>
            <a:off x="3615840" y="6294960"/>
            <a:ext cx="136440" cy="197640"/>
          </a:xfrm>
          <a:custGeom>
            <a:avLst/>
            <a:gdLst>
              <a:gd name="textAreaLeft" fmla="*/ 0 w 136440"/>
              <a:gd name="textAreaRight" fmla="*/ 137160 w 136440"/>
              <a:gd name="textAreaTop" fmla="*/ 0 h 197640"/>
              <a:gd name="textAreaBottom" fmla="*/ 198360 h 197640"/>
            </a:gdLst>
            <a:ahLst/>
            <a:cxnLst/>
            <a:rect l="textAreaLeft" t="textAreaTop" r="textAreaRight" b="textAreaBottom"/>
            <a:pathLst>
              <a:path w="137287" h="198500">
                <a:moveTo>
                  <a:pt x="126675" y="24510"/>
                </a:moveTo>
                <a:lnTo>
                  <a:pt x="84200" y="24510"/>
                </a:lnTo>
                <a:lnTo>
                  <a:pt x="96138" y="30352"/>
                </a:lnTo>
                <a:lnTo>
                  <a:pt x="102108" y="36321"/>
                </a:lnTo>
                <a:lnTo>
                  <a:pt x="104966" y="42163"/>
                </a:lnTo>
                <a:lnTo>
                  <a:pt x="105029" y="45211"/>
                </a:lnTo>
                <a:lnTo>
                  <a:pt x="107823" y="48005"/>
                </a:lnTo>
                <a:lnTo>
                  <a:pt x="90170" y="93217"/>
                </a:lnTo>
                <a:lnTo>
                  <a:pt x="62992" y="108203"/>
                </a:lnTo>
                <a:lnTo>
                  <a:pt x="44958" y="120141"/>
                </a:lnTo>
                <a:lnTo>
                  <a:pt x="32893" y="126110"/>
                </a:lnTo>
                <a:lnTo>
                  <a:pt x="14859" y="144144"/>
                </a:lnTo>
                <a:lnTo>
                  <a:pt x="2921" y="168274"/>
                </a:lnTo>
                <a:lnTo>
                  <a:pt x="0" y="183387"/>
                </a:lnTo>
                <a:lnTo>
                  <a:pt x="0" y="198500"/>
                </a:lnTo>
                <a:lnTo>
                  <a:pt x="254" y="197992"/>
                </a:lnTo>
                <a:lnTo>
                  <a:pt x="137287" y="197992"/>
                </a:lnTo>
                <a:lnTo>
                  <a:pt x="137287" y="170560"/>
                </a:lnTo>
                <a:lnTo>
                  <a:pt x="30607" y="170560"/>
                </a:lnTo>
                <a:lnTo>
                  <a:pt x="30607" y="167639"/>
                </a:lnTo>
                <a:lnTo>
                  <a:pt x="33527" y="164718"/>
                </a:lnTo>
                <a:lnTo>
                  <a:pt x="39370" y="152780"/>
                </a:lnTo>
                <a:lnTo>
                  <a:pt x="45338" y="149859"/>
                </a:lnTo>
                <a:lnTo>
                  <a:pt x="48260" y="143890"/>
                </a:lnTo>
                <a:lnTo>
                  <a:pt x="54229" y="140969"/>
                </a:lnTo>
                <a:lnTo>
                  <a:pt x="63246" y="135000"/>
                </a:lnTo>
                <a:lnTo>
                  <a:pt x="72262" y="132079"/>
                </a:lnTo>
                <a:lnTo>
                  <a:pt x="75184" y="129158"/>
                </a:lnTo>
                <a:lnTo>
                  <a:pt x="93345" y="120141"/>
                </a:lnTo>
                <a:lnTo>
                  <a:pt x="96266" y="117220"/>
                </a:lnTo>
                <a:lnTo>
                  <a:pt x="102235" y="114299"/>
                </a:lnTo>
                <a:lnTo>
                  <a:pt x="111251" y="108330"/>
                </a:lnTo>
                <a:lnTo>
                  <a:pt x="126237" y="93344"/>
                </a:lnTo>
                <a:lnTo>
                  <a:pt x="129159" y="84327"/>
                </a:lnTo>
                <a:lnTo>
                  <a:pt x="135127" y="72262"/>
                </a:lnTo>
                <a:lnTo>
                  <a:pt x="135127" y="44830"/>
                </a:lnTo>
                <a:lnTo>
                  <a:pt x="132207" y="35813"/>
                </a:lnTo>
                <a:lnTo>
                  <a:pt x="126675" y="24510"/>
                </a:lnTo>
                <a:close/>
              </a:path>
              <a:path w="137287" h="198500">
                <a:moveTo>
                  <a:pt x="84200" y="0"/>
                </a:moveTo>
                <a:lnTo>
                  <a:pt x="53848" y="0"/>
                </a:lnTo>
                <a:lnTo>
                  <a:pt x="29845" y="11810"/>
                </a:lnTo>
                <a:lnTo>
                  <a:pt x="17907" y="23748"/>
                </a:lnTo>
                <a:lnTo>
                  <a:pt x="14986" y="29717"/>
                </a:lnTo>
                <a:lnTo>
                  <a:pt x="9017" y="38734"/>
                </a:lnTo>
                <a:lnTo>
                  <a:pt x="6096" y="47751"/>
                </a:lnTo>
                <a:lnTo>
                  <a:pt x="6096" y="68960"/>
                </a:lnTo>
                <a:lnTo>
                  <a:pt x="30352" y="68960"/>
                </a:lnTo>
                <a:lnTo>
                  <a:pt x="30352" y="59943"/>
                </a:lnTo>
                <a:lnTo>
                  <a:pt x="33274" y="53974"/>
                </a:lnTo>
                <a:lnTo>
                  <a:pt x="33274" y="48005"/>
                </a:lnTo>
                <a:lnTo>
                  <a:pt x="36068" y="45211"/>
                </a:lnTo>
                <a:lnTo>
                  <a:pt x="36195" y="42163"/>
                </a:lnTo>
                <a:lnTo>
                  <a:pt x="48006" y="30352"/>
                </a:lnTo>
                <a:lnTo>
                  <a:pt x="59944" y="24510"/>
                </a:lnTo>
                <a:lnTo>
                  <a:pt x="126675" y="24510"/>
                </a:lnTo>
                <a:lnTo>
                  <a:pt x="126364" y="23875"/>
                </a:lnTo>
                <a:lnTo>
                  <a:pt x="117348" y="14858"/>
                </a:lnTo>
                <a:lnTo>
                  <a:pt x="108331" y="8889"/>
                </a:lnTo>
                <a:lnTo>
                  <a:pt x="96266" y="2920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61"/>
          <p:cNvSpPr/>
          <p:nvPr/>
        </p:nvSpPr>
        <p:spPr>
          <a:xfrm>
            <a:off x="3980880" y="6293160"/>
            <a:ext cx="134640" cy="20160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509" h="202437">
                <a:moveTo>
                  <a:pt x="28448" y="102616"/>
                </a:moveTo>
                <a:lnTo>
                  <a:pt x="0" y="102616"/>
                </a:lnTo>
                <a:lnTo>
                  <a:pt x="0" y="130048"/>
                </a:lnTo>
                <a:lnTo>
                  <a:pt x="11937" y="169418"/>
                </a:lnTo>
                <a:lnTo>
                  <a:pt x="42037" y="199517"/>
                </a:lnTo>
                <a:lnTo>
                  <a:pt x="54101" y="202438"/>
                </a:lnTo>
                <a:lnTo>
                  <a:pt x="81534" y="202438"/>
                </a:lnTo>
                <a:lnTo>
                  <a:pt x="93599" y="199517"/>
                </a:lnTo>
                <a:lnTo>
                  <a:pt x="105663" y="193548"/>
                </a:lnTo>
                <a:lnTo>
                  <a:pt x="115155" y="180848"/>
                </a:lnTo>
                <a:lnTo>
                  <a:pt x="67183" y="180848"/>
                </a:lnTo>
                <a:lnTo>
                  <a:pt x="58165" y="177927"/>
                </a:lnTo>
                <a:lnTo>
                  <a:pt x="52197" y="177927"/>
                </a:lnTo>
                <a:lnTo>
                  <a:pt x="40259" y="165989"/>
                </a:lnTo>
                <a:lnTo>
                  <a:pt x="34289" y="153924"/>
                </a:lnTo>
                <a:lnTo>
                  <a:pt x="28472" y="123825"/>
                </a:lnTo>
                <a:lnTo>
                  <a:pt x="28448" y="102616"/>
                </a:lnTo>
                <a:close/>
              </a:path>
              <a:path w="135509" h="202437">
                <a:moveTo>
                  <a:pt x="116486" y="24257"/>
                </a:moveTo>
                <a:lnTo>
                  <a:pt x="76200" y="24257"/>
                </a:lnTo>
                <a:lnTo>
                  <a:pt x="85216" y="27178"/>
                </a:lnTo>
                <a:lnTo>
                  <a:pt x="91186" y="30099"/>
                </a:lnTo>
                <a:lnTo>
                  <a:pt x="97154" y="39116"/>
                </a:lnTo>
                <a:lnTo>
                  <a:pt x="100075" y="42037"/>
                </a:lnTo>
                <a:lnTo>
                  <a:pt x="102997" y="48006"/>
                </a:lnTo>
                <a:lnTo>
                  <a:pt x="108838" y="78232"/>
                </a:lnTo>
                <a:lnTo>
                  <a:pt x="108838" y="123825"/>
                </a:lnTo>
                <a:lnTo>
                  <a:pt x="102997" y="154038"/>
                </a:lnTo>
                <a:lnTo>
                  <a:pt x="97154" y="165989"/>
                </a:lnTo>
                <a:lnTo>
                  <a:pt x="85216" y="177927"/>
                </a:lnTo>
                <a:lnTo>
                  <a:pt x="76200" y="177927"/>
                </a:lnTo>
                <a:lnTo>
                  <a:pt x="67183" y="180848"/>
                </a:lnTo>
                <a:lnTo>
                  <a:pt x="115155" y="180848"/>
                </a:lnTo>
                <a:lnTo>
                  <a:pt x="123698" y="169418"/>
                </a:lnTo>
                <a:lnTo>
                  <a:pt x="129666" y="148209"/>
                </a:lnTo>
                <a:lnTo>
                  <a:pt x="132587" y="130048"/>
                </a:lnTo>
                <a:lnTo>
                  <a:pt x="135509" y="102616"/>
                </a:lnTo>
                <a:lnTo>
                  <a:pt x="132587" y="75184"/>
                </a:lnTo>
                <a:lnTo>
                  <a:pt x="129666" y="53975"/>
                </a:lnTo>
                <a:lnTo>
                  <a:pt x="123698" y="32766"/>
                </a:lnTo>
                <a:lnTo>
                  <a:pt x="117728" y="26797"/>
                </a:lnTo>
                <a:lnTo>
                  <a:pt x="116486" y="24257"/>
                </a:lnTo>
                <a:close/>
              </a:path>
              <a:path w="135509" h="202437">
                <a:moveTo>
                  <a:pt x="93852" y="2921"/>
                </a:moveTo>
                <a:lnTo>
                  <a:pt x="42545" y="2921"/>
                </a:lnTo>
                <a:lnTo>
                  <a:pt x="18414" y="20955"/>
                </a:lnTo>
                <a:lnTo>
                  <a:pt x="12573" y="32893"/>
                </a:lnTo>
                <a:lnTo>
                  <a:pt x="6603" y="41910"/>
                </a:lnTo>
                <a:lnTo>
                  <a:pt x="3683" y="53975"/>
                </a:lnTo>
                <a:lnTo>
                  <a:pt x="762" y="75184"/>
                </a:lnTo>
                <a:lnTo>
                  <a:pt x="762" y="102616"/>
                </a:lnTo>
                <a:lnTo>
                  <a:pt x="28321" y="102616"/>
                </a:lnTo>
                <a:lnTo>
                  <a:pt x="28345" y="78232"/>
                </a:lnTo>
                <a:lnTo>
                  <a:pt x="34162" y="48133"/>
                </a:lnTo>
                <a:lnTo>
                  <a:pt x="46100" y="30099"/>
                </a:lnTo>
                <a:lnTo>
                  <a:pt x="58038" y="24257"/>
                </a:lnTo>
                <a:lnTo>
                  <a:pt x="116486" y="24257"/>
                </a:lnTo>
                <a:lnTo>
                  <a:pt x="114808" y="20828"/>
                </a:lnTo>
                <a:lnTo>
                  <a:pt x="99822" y="5842"/>
                </a:lnTo>
                <a:lnTo>
                  <a:pt x="93852" y="2921"/>
                </a:lnTo>
                <a:close/>
              </a:path>
              <a:path w="135509" h="202437">
                <a:moveTo>
                  <a:pt x="28448" y="102489"/>
                </a:moveTo>
              </a:path>
              <a:path w="135509" h="202437">
                <a:moveTo>
                  <a:pt x="81914" y="0"/>
                </a:moveTo>
                <a:lnTo>
                  <a:pt x="54483" y="0"/>
                </a:lnTo>
                <a:lnTo>
                  <a:pt x="48513" y="2921"/>
                </a:lnTo>
                <a:lnTo>
                  <a:pt x="87884" y="2921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bk object 62"/>
          <p:cNvSpPr/>
          <p:nvPr/>
        </p:nvSpPr>
        <p:spPr>
          <a:xfrm>
            <a:off x="414936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bk object 63"/>
          <p:cNvSpPr/>
          <p:nvPr/>
        </p:nvSpPr>
        <p:spPr>
          <a:xfrm>
            <a:off x="4207320" y="6294600"/>
            <a:ext cx="134640" cy="20052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520"/>
              <a:gd name="textAreaBottom" fmla="*/ 201240 h 200520"/>
            </a:gdLst>
            <a:ahLst/>
            <a:cxnLst/>
            <a:rect l="textAreaLeft" t="textAreaTop" r="textAreaRight" b="textAreaBottom"/>
            <a:pathLst>
              <a:path w="135509" h="201167">
                <a:moveTo>
                  <a:pt x="24257" y="135000"/>
                </a:moveTo>
                <a:lnTo>
                  <a:pt x="0" y="135000"/>
                </a:lnTo>
                <a:lnTo>
                  <a:pt x="0" y="156209"/>
                </a:lnTo>
                <a:lnTo>
                  <a:pt x="26924" y="192278"/>
                </a:lnTo>
                <a:lnTo>
                  <a:pt x="48006" y="201167"/>
                </a:lnTo>
                <a:lnTo>
                  <a:pt x="78359" y="201167"/>
                </a:lnTo>
                <a:lnTo>
                  <a:pt x="102488" y="195325"/>
                </a:lnTo>
                <a:lnTo>
                  <a:pt x="114554" y="186308"/>
                </a:lnTo>
                <a:lnTo>
                  <a:pt x="123571" y="177291"/>
                </a:lnTo>
                <a:lnTo>
                  <a:pt x="123907" y="176783"/>
                </a:lnTo>
                <a:lnTo>
                  <a:pt x="53975" y="176783"/>
                </a:lnTo>
                <a:lnTo>
                  <a:pt x="48006" y="173862"/>
                </a:lnTo>
                <a:lnTo>
                  <a:pt x="38988" y="170941"/>
                </a:lnTo>
                <a:lnTo>
                  <a:pt x="33020" y="164972"/>
                </a:lnTo>
                <a:lnTo>
                  <a:pt x="30099" y="159003"/>
                </a:lnTo>
                <a:lnTo>
                  <a:pt x="27178" y="149986"/>
                </a:lnTo>
                <a:lnTo>
                  <a:pt x="24257" y="147065"/>
                </a:lnTo>
                <a:lnTo>
                  <a:pt x="24257" y="135000"/>
                </a:lnTo>
                <a:close/>
              </a:path>
              <a:path w="135509" h="201167">
                <a:moveTo>
                  <a:pt x="119998" y="21335"/>
                </a:moveTo>
                <a:lnTo>
                  <a:pt x="66294" y="21335"/>
                </a:lnTo>
                <a:lnTo>
                  <a:pt x="72262" y="24256"/>
                </a:lnTo>
                <a:lnTo>
                  <a:pt x="84328" y="24256"/>
                </a:lnTo>
                <a:lnTo>
                  <a:pt x="87249" y="27178"/>
                </a:lnTo>
                <a:lnTo>
                  <a:pt x="90170" y="27178"/>
                </a:lnTo>
                <a:lnTo>
                  <a:pt x="93091" y="33146"/>
                </a:lnTo>
                <a:lnTo>
                  <a:pt x="98933" y="38988"/>
                </a:lnTo>
                <a:lnTo>
                  <a:pt x="99060" y="45084"/>
                </a:lnTo>
                <a:lnTo>
                  <a:pt x="101981" y="51053"/>
                </a:lnTo>
                <a:lnTo>
                  <a:pt x="99060" y="60070"/>
                </a:lnTo>
                <a:lnTo>
                  <a:pt x="99060" y="66039"/>
                </a:lnTo>
                <a:lnTo>
                  <a:pt x="96138" y="72008"/>
                </a:lnTo>
                <a:lnTo>
                  <a:pt x="90170" y="77978"/>
                </a:lnTo>
                <a:lnTo>
                  <a:pt x="87249" y="77978"/>
                </a:lnTo>
                <a:lnTo>
                  <a:pt x="84328" y="80898"/>
                </a:lnTo>
                <a:lnTo>
                  <a:pt x="78359" y="83819"/>
                </a:lnTo>
                <a:lnTo>
                  <a:pt x="50927" y="83819"/>
                </a:lnTo>
                <a:lnTo>
                  <a:pt x="50927" y="105028"/>
                </a:lnTo>
                <a:lnTo>
                  <a:pt x="78359" y="105028"/>
                </a:lnTo>
                <a:lnTo>
                  <a:pt x="87375" y="107950"/>
                </a:lnTo>
                <a:lnTo>
                  <a:pt x="93345" y="110870"/>
                </a:lnTo>
                <a:lnTo>
                  <a:pt x="105283" y="122808"/>
                </a:lnTo>
                <a:lnTo>
                  <a:pt x="108204" y="131825"/>
                </a:lnTo>
                <a:lnTo>
                  <a:pt x="108204" y="153034"/>
                </a:lnTo>
                <a:lnTo>
                  <a:pt x="105283" y="155943"/>
                </a:lnTo>
                <a:lnTo>
                  <a:pt x="102362" y="161925"/>
                </a:lnTo>
                <a:lnTo>
                  <a:pt x="90424" y="173862"/>
                </a:lnTo>
                <a:lnTo>
                  <a:pt x="81407" y="176783"/>
                </a:lnTo>
                <a:lnTo>
                  <a:pt x="123907" y="176783"/>
                </a:lnTo>
                <a:lnTo>
                  <a:pt x="129540" y="168275"/>
                </a:lnTo>
                <a:lnTo>
                  <a:pt x="135509" y="153161"/>
                </a:lnTo>
                <a:lnTo>
                  <a:pt x="135509" y="125729"/>
                </a:lnTo>
                <a:lnTo>
                  <a:pt x="129540" y="113664"/>
                </a:lnTo>
                <a:lnTo>
                  <a:pt x="123571" y="104647"/>
                </a:lnTo>
                <a:lnTo>
                  <a:pt x="114681" y="95757"/>
                </a:lnTo>
                <a:lnTo>
                  <a:pt x="108712" y="92836"/>
                </a:lnTo>
                <a:lnTo>
                  <a:pt x="105791" y="92836"/>
                </a:lnTo>
                <a:lnTo>
                  <a:pt x="102870" y="89915"/>
                </a:lnTo>
                <a:lnTo>
                  <a:pt x="111887" y="86994"/>
                </a:lnTo>
                <a:lnTo>
                  <a:pt x="114808" y="86994"/>
                </a:lnTo>
                <a:lnTo>
                  <a:pt x="120777" y="81025"/>
                </a:lnTo>
                <a:lnTo>
                  <a:pt x="126619" y="62991"/>
                </a:lnTo>
                <a:lnTo>
                  <a:pt x="129509" y="51053"/>
                </a:lnTo>
                <a:lnTo>
                  <a:pt x="129540" y="44957"/>
                </a:lnTo>
                <a:lnTo>
                  <a:pt x="126619" y="38988"/>
                </a:lnTo>
                <a:lnTo>
                  <a:pt x="123698" y="26923"/>
                </a:lnTo>
                <a:lnTo>
                  <a:pt x="119998" y="21335"/>
                </a:lnTo>
                <a:close/>
              </a:path>
              <a:path w="135509" h="201167">
                <a:moveTo>
                  <a:pt x="87757" y="0"/>
                </a:moveTo>
                <a:lnTo>
                  <a:pt x="51308" y="0"/>
                </a:lnTo>
                <a:lnTo>
                  <a:pt x="42291" y="2920"/>
                </a:lnTo>
                <a:lnTo>
                  <a:pt x="9271" y="35940"/>
                </a:lnTo>
                <a:lnTo>
                  <a:pt x="3429" y="53975"/>
                </a:lnTo>
                <a:lnTo>
                  <a:pt x="3429" y="62991"/>
                </a:lnTo>
                <a:lnTo>
                  <a:pt x="27686" y="62991"/>
                </a:lnTo>
                <a:lnTo>
                  <a:pt x="30607" y="60070"/>
                </a:lnTo>
                <a:lnTo>
                  <a:pt x="30607" y="47993"/>
                </a:lnTo>
                <a:lnTo>
                  <a:pt x="36449" y="36067"/>
                </a:lnTo>
                <a:lnTo>
                  <a:pt x="45338" y="27178"/>
                </a:lnTo>
                <a:lnTo>
                  <a:pt x="51308" y="24256"/>
                </a:lnTo>
                <a:lnTo>
                  <a:pt x="57277" y="24256"/>
                </a:lnTo>
                <a:lnTo>
                  <a:pt x="66294" y="21335"/>
                </a:lnTo>
                <a:lnTo>
                  <a:pt x="119998" y="21335"/>
                </a:lnTo>
                <a:lnTo>
                  <a:pt x="117729" y="17906"/>
                </a:lnTo>
                <a:lnTo>
                  <a:pt x="108712" y="8889"/>
                </a:lnTo>
                <a:lnTo>
                  <a:pt x="102743" y="5968"/>
                </a:lnTo>
                <a:lnTo>
                  <a:pt x="99822" y="5968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bk object 64"/>
          <p:cNvSpPr/>
          <p:nvPr/>
        </p:nvSpPr>
        <p:spPr>
          <a:xfrm>
            <a:off x="457236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725" y="2921"/>
                </a:moveTo>
                <a:lnTo>
                  <a:pt x="42418" y="2921"/>
                </a:lnTo>
                <a:lnTo>
                  <a:pt x="30352" y="11938"/>
                </a:lnTo>
                <a:lnTo>
                  <a:pt x="15367" y="26924"/>
                </a:lnTo>
                <a:lnTo>
                  <a:pt x="12446" y="32893"/>
                </a:lnTo>
                <a:lnTo>
                  <a:pt x="9525" y="41910"/>
                </a:lnTo>
                <a:lnTo>
                  <a:pt x="3556" y="53975"/>
                </a:lnTo>
                <a:lnTo>
                  <a:pt x="635" y="75184"/>
                </a:lnTo>
                <a:lnTo>
                  <a:pt x="635" y="102616"/>
                </a:lnTo>
                <a:lnTo>
                  <a:pt x="0" y="102743"/>
                </a:lnTo>
                <a:lnTo>
                  <a:pt x="0" y="130175"/>
                </a:lnTo>
                <a:lnTo>
                  <a:pt x="2921" y="148336"/>
                </a:lnTo>
                <a:lnTo>
                  <a:pt x="11937" y="169545"/>
                </a:lnTo>
                <a:lnTo>
                  <a:pt x="29972" y="193675"/>
                </a:lnTo>
                <a:lnTo>
                  <a:pt x="42037" y="199644"/>
                </a:lnTo>
                <a:lnTo>
                  <a:pt x="54101" y="202565"/>
                </a:lnTo>
                <a:lnTo>
                  <a:pt x="81534" y="202565"/>
                </a:lnTo>
                <a:lnTo>
                  <a:pt x="93599" y="199644"/>
                </a:lnTo>
                <a:lnTo>
                  <a:pt x="105663" y="193675"/>
                </a:lnTo>
                <a:lnTo>
                  <a:pt x="115440" y="180594"/>
                </a:lnTo>
                <a:lnTo>
                  <a:pt x="66929" y="180594"/>
                </a:lnTo>
                <a:lnTo>
                  <a:pt x="57912" y="177673"/>
                </a:lnTo>
                <a:lnTo>
                  <a:pt x="51943" y="177673"/>
                </a:lnTo>
                <a:lnTo>
                  <a:pt x="40005" y="165735"/>
                </a:lnTo>
                <a:lnTo>
                  <a:pt x="34036" y="153670"/>
                </a:lnTo>
                <a:lnTo>
                  <a:pt x="28243" y="123698"/>
                </a:lnTo>
                <a:lnTo>
                  <a:pt x="28194" y="102616"/>
                </a:lnTo>
                <a:lnTo>
                  <a:pt x="28116" y="78105"/>
                </a:lnTo>
                <a:lnTo>
                  <a:pt x="33909" y="48133"/>
                </a:lnTo>
                <a:lnTo>
                  <a:pt x="45847" y="30099"/>
                </a:lnTo>
                <a:lnTo>
                  <a:pt x="57785" y="24257"/>
                </a:lnTo>
                <a:lnTo>
                  <a:pt x="118109" y="24257"/>
                </a:lnTo>
                <a:lnTo>
                  <a:pt x="105790" y="11938"/>
                </a:lnTo>
                <a:lnTo>
                  <a:pt x="93725" y="2921"/>
                </a:lnTo>
                <a:close/>
              </a:path>
              <a:path w="135509" h="202564">
                <a:moveTo>
                  <a:pt x="118109" y="24257"/>
                </a:moveTo>
                <a:lnTo>
                  <a:pt x="75946" y="24257"/>
                </a:lnTo>
                <a:lnTo>
                  <a:pt x="84962" y="27178"/>
                </a:lnTo>
                <a:lnTo>
                  <a:pt x="90932" y="30099"/>
                </a:lnTo>
                <a:lnTo>
                  <a:pt x="93852" y="33020"/>
                </a:lnTo>
                <a:lnTo>
                  <a:pt x="96774" y="38989"/>
                </a:lnTo>
                <a:lnTo>
                  <a:pt x="102743" y="48006"/>
                </a:lnTo>
                <a:lnTo>
                  <a:pt x="105663" y="63119"/>
                </a:lnTo>
                <a:lnTo>
                  <a:pt x="105663" y="72136"/>
                </a:lnTo>
                <a:lnTo>
                  <a:pt x="108585" y="78105"/>
                </a:lnTo>
                <a:lnTo>
                  <a:pt x="108585" y="123698"/>
                </a:lnTo>
                <a:lnTo>
                  <a:pt x="105663" y="129667"/>
                </a:lnTo>
                <a:lnTo>
                  <a:pt x="105663" y="138684"/>
                </a:lnTo>
                <a:lnTo>
                  <a:pt x="102743" y="153797"/>
                </a:lnTo>
                <a:lnTo>
                  <a:pt x="96774" y="165862"/>
                </a:lnTo>
                <a:lnTo>
                  <a:pt x="84962" y="177673"/>
                </a:lnTo>
                <a:lnTo>
                  <a:pt x="75946" y="177673"/>
                </a:lnTo>
                <a:lnTo>
                  <a:pt x="66929" y="180594"/>
                </a:lnTo>
                <a:lnTo>
                  <a:pt x="115440" y="180594"/>
                </a:lnTo>
                <a:lnTo>
                  <a:pt x="123698" y="169545"/>
                </a:lnTo>
                <a:lnTo>
                  <a:pt x="129667" y="148336"/>
                </a:lnTo>
                <a:lnTo>
                  <a:pt x="132587" y="130175"/>
                </a:lnTo>
                <a:lnTo>
                  <a:pt x="135509" y="102743"/>
                </a:lnTo>
                <a:lnTo>
                  <a:pt x="132570" y="75184"/>
                </a:lnTo>
                <a:lnTo>
                  <a:pt x="129667" y="54102"/>
                </a:lnTo>
                <a:lnTo>
                  <a:pt x="123698" y="32893"/>
                </a:lnTo>
                <a:lnTo>
                  <a:pt x="120776" y="26924"/>
                </a:lnTo>
                <a:lnTo>
                  <a:pt x="118109" y="24257"/>
                </a:lnTo>
                <a:close/>
              </a:path>
              <a:path w="135509" h="202564">
                <a:moveTo>
                  <a:pt x="28194" y="102235"/>
                </a:moveTo>
                <a:lnTo>
                  <a:pt x="28067" y="102616"/>
                </a:lnTo>
                <a:lnTo>
                  <a:pt x="28194" y="102235"/>
                </a:lnTo>
                <a:close/>
              </a:path>
              <a:path w="135509" h="202564">
                <a:moveTo>
                  <a:pt x="81787" y="0"/>
                </a:moveTo>
                <a:lnTo>
                  <a:pt x="54356" y="0"/>
                </a:lnTo>
                <a:lnTo>
                  <a:pt x="48387" y="2921"/>
                </a:lnTo>
                <a:lnTo>
                  <a:pt x="87757" y="2921"/>
                </a:lnTo>
                <a:lnTo>
                  <a:pt x="817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bk object 65"/>
          <p:cNvSpPr/>
          <p:nvPr/>
        </p:nvSpPr>
        <p:spPr>
          <a:xfrm>
            <a:off x="474084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bk object 66"/>
          <p:cNvSpPr/>
          <p:nvPr/>
        </p:nvSpPr>
        <p:spPr>
          <a:xfrm>
            <a:off x="4798800" y="629856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9" h="194817">
                <a:moveTo>
                  <a:pt x="112649" y="143002"/>
                </a:moveTo>
                <a:lnTo>
                  <a:pt x="85217" y="143002"/>
                </a:lnTo>
                <a:lnTo>
                  <a:pt x="85217" y="194818"/>
                </a:lnTo>
                <a:lnTo>
                  <a:pt x="112649" y="194818"/>
                </a:lnTo>
                <a:lnTo>
                  <a:pt x="112649" y="143002"/>
                </a:lnTo>
                <a:close/>
              </a:path>
              <a:path w="112649" h="194817">
                <a:moveTo>
                  <a:pt x="112649" y="0"/>
                </a:moveTo>
                <a:lnTo>
                  <a:pt x="85217" y="0"/>
                </a:lnTo>
                <a:lnTo>
                  <a:pt x="0" y="118745"/>
                </a:lnTo>
                <a:lnTo>
                  <a:pt x="0" y="143002"/>
                </a:lnTo>
                <a:lnTo>
                  <a:pt x="140081" y="143002"/>
                </a:lnTo>
                <a:lnTo>
                  <a:pt x="140081" y="121793"/>
                </a:lnTo>
                <a:lnTo>
                  <a:pt x="112649" y="121793"/>
                </a:lnTo>
                <a:lnTo>
                  <a:pt x="24130" y="121666"/>
                </a:lnTo>
                <a:lnTo>
                  <a:pt x="84963" y="33401"/>
                </a:lnTo>
                <a:lnTo>
                  <a:pt x="112649" y="33401"/>
                </a:lnTo>
                <a:lnTo>
                  <a:pt x="112649" y="0"/>
                </a:lnTo>
                <a:close/>
              </a:path>
              <a:path w="112649" h="194817">
                <a:moveTo>
                  <a:pt x="112649" y="33401"/>
                </a:moveTo>
                <a:lnTo>
                  <a:pt x="84963" y="33401"/>
                </a:lnTo>
                <a:lnTo>
                  <a:pt x="84963" y="121666"/>
                </a:lnTo>
                <a:lnTo>
                  <a:pt x="112649" y="121666"/>
                </a:lnTo>
                <a:lnTo>
                  <a:pt x="112649" y="334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bk object 67"/>
          <p:cNvSpPr/>
          <p:nvPr/>
        </p:nvSpPr>
        <p:spPr>
          <a:xfrm>
            <a:off x="5163480" y="6293520"/>
            <a:ext cx="135000" cy="201600"/>
          </a:xfrm>
          <a:custGeom>
            <a:avLst/>
            <a:gdLst>
              <a:gd name="textAreaLeft" fmla="*/ 0 w 135000"/>
              <a:gd name="textAreaRight" fmla="*/ 135720 w 13500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636" h="202437">
                <a:moveTo>
                  <a:pt x="93852" y="2920"/>
                </a:moveTo>
                <a:lnTo>
                  <a:pt x="42545" y="2920"/>
                </a:lnTo>
                <a:lnTo>
                  <a:pt x="30479" y="11937"/>
                </a:lnTo>
                <a:lnTo>
                  <a:pt x="15494" y="26911"/>
                </a:lnTo>
                <a:lnTo>
                  <a:pt x="15367" y="29971"/>
                </a:lnTo>
                <a:lnTo>
                  <a:pt x="12573" y="32765"/>
                </a:lnTo>
                <a:lnTo>
                  <a:pt x="9651" y="41782"/>
                </a:lnTo>
                <a:lnTo>
                  <a:pt x="6730" y="53847"/>
                </a:lnTo>
                <a:lnTo>
                  <a:pt x="762" y="75056"/>
                </a:lnTo>
                <a:lnTo>
                  <a:pt x="762" y="102488"/>
                </a:lnTo>
                <a:lnTo>
                  <a:pt x="0" y="102615"/>
                </a:lnTo>
                <a:lnTo>
                  <a:pt x="0" y="130047"/>
                </a:lnTo>
                <a:lnTo>
                  <a:pt x="5969" y="148208"/>
                </a:lnTo>
                <a:lnTo>
                  <a:pt x="11937" y="169417"/>
                </a:lnTo>
                <a:lnTo>
                  <a:pt x="29972" y="193547"/>
                </a:lnTo>
                <a:lnTo>
                  <a:pt x="42037" y="199516"/>
                </a:lnTo>
                <a:lnTo>
                  <a:pt x="54101" y="202437"/>
                </a:lnTo>
                <a:lnTo>
                  <a:pt x="81534" y="202437"/>
                </a:lnTo>
                <a:lnTo>
                  <a:pt x="93599" y="199516"/>
                </a:lnTo>
                <a:lnTo>
                  <a:pt x="105663" y="193547"/>
                </a:lnTo>
                <a:lnTo>
                  <a:pt x="115250" y="180720"/>
                </a:lnTo>
                <a:lnTo>
                  <a:pt x="67183" y="180720"/>
                </a:lnTo>
                <a:lnTo>
                  <a:pt x="61213" y="177799"/>
                </a:lnTo>
                <a:lnTo>
                  <a:pt x="52197" y="177799"/>
                </a:lnTo>
                <a:lnTo>
                  <a:pt x="40259" y="165861"/>
                </a:lnTo>
                <a:lnTo>
                  <a:pt x="34289" y="153796"/>
                </a:lnTo>
                <a:lnTo>
                  <a:pt x="28472" y="123697"/>
                </a:lnTo>
                <a:lnTo>
                  <a:pt x="28448" y="102488"/>
                </a:lnTo>
                <a:lnTo>
                  <a:pt x="34162" y="48005"/>
                </a:lnTo>
                <a:lnTo>
                  <a:pt x="61087" y="24129"/>
                </a:lnTo>
                <a:lnTo>
                  <a:pt x="118109" y="24129"/>
                </a:lnTo>
                <a:lnTo>
                  <a:pt x="105917" y="11937"/>
                </a:lnTo>
                <a:lnTo>
                  <a:pt x="93852" y="2920"/>
                </a:lnTo>
                <a:close/>
              </a:path>
              <a:path w="135636" h="202437">
                <a:moveTo>
                  <a:pt x="118109" y="24129"/>
                </a:moveTo>
                <a:lnTo>
                  <a:pt x="76200" y="24129"/>
                </a:lnTo>
                <a:lnTo>
                  <a:pt x="85216" y="27050"/>
                </a:lnTo>
                <a:lnTo>
                  <a:pt x="91186" y="29971"/>
                </a:lnTo>
                <a:lnTo>
                  <a:pt x="103124" y="48005"/>
                </a:lnTo>
                <a:lnTo>
                  <a:pt x="106045" y="57022"/>
                </a:lnTo>
                <a:lnTo>
                  <a:pt x="106045" y="62991"/>
                </a:lnTo>
                <a:lnTo>
                  <a:pt x="108965" y="78104"/>
                </a:lnTo>
                <a:lnTo>
                  <a:pt x="108965" y="123697"/>
                </a:lnTo>
                <a:lnTo>
                  <a:pt x="106045" y="138810"/>
                </a:lnTo>
                <a:lnTo>
                  <a:pt x="106045" y="147827"/>
                </a:lnTo>
                <a:lnTo>
                  <a:pt x="103124" y="153796"/>
                </a:lnTo>
                <a:lnTo>
                  <a:pt x="97154" y="165861"/>
                </a:lnTo>
                <a:lnTo>
                  <a:pt x="85216" y="177799"/>
                </a:lnTo>
                <a:lnTo>
                  <a:pt x="76200" y="177799"/>
                </a:lnTo>
                <a:lnTo>
                  <a:pt x="67183" y="180720"/>
                </a:lnTo>
                <a:lnTo>
                  <a:pt x="115250" y="180720"/>
                </a:lnTo>
                <a:lnTo>
                  <a:pt x="123698" y="169417"/>
                </a:lnTo>
                <a:lnTo>
                  <a:pt x="129666" y="148208"/>
                </a:lnTo>
                <a:lnTo>
                  <a:pt x="135636" y="130047"/>
                </a:lnTo>
                <a:lnTo>
                  <a:pt x="135600" y="75056"/>
                </a:lnTo>
                <a:lnTo>
                  <a:pt x="123698" y="32765"/>
                </a:lnTo>
                <a:lnTo>
                  <a:pt x="120776" y="26796"/>
                </a:lnTo>
                <a:lnTo>
                  <a:pt x="118109" y="24129"/>
                </a:lnTo>
                <a:close/>
              </a:path>
              <a:path w="135636" h="202437">
                <a:moveTo>
                  <a:pt x="28448" y="102361"/>
                </a:moveTo>
              </a:path>
              <a:path w="135636" h="202437">
                <a:moveTo>
                  <a:pt x="81914" y="0"/>
                </a:moveTo>
                <a:lnTo>
                  <a:pt x="54483" y="0"/>
                </a:lnTo>
                <a:lnTo>
                  <a:pt x="48513" y="2920"/>
                </a:lnTo>
                <a:lnTo>
                  <a:pt x="87884" y="2920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bk object 68"/>
          <p:cNvSpPr/>
          <p:nvPr/>
        </p:nvSpPr>
        <p:spPr>
          <a:xfrm>
            <a:off x="533196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bk object 69"/>
          <p:cNvSpPr/>
          <p:nvPr/>
        </p:nvSpPr>
        <p:spPr>
          <a:xfrm>
            <a:off x="5389920" y="6298560"/>
            <a:ext cx="138240" cy="195480"/>
          </a:xfrm>
          <a:custGeom>
            <a:avLst/>
            <a:gdLst>
              <a:gd name="textAreaLeft" fmla="*/ 0 w 138240"/>
              <a:gd name="textAreaRight" fmla="*/ 138960 w 138240"/>
              <a:gd name="textAreaTop" fmla="*/ 0 h 195480"/>
              <a:gd name="textAreaBottom" fmla="*/ 196200 h 195480"/>
            </a:gdLst>
            <a:ahLst/>
            <a:cxnLst/>
            <a:rect l="textAreaLeft" t="textAreaTop" r="textAreaRight" b="textAreaBottom"/>
            <a:pathLst>
              <a:path w="139064" h="196341">
                <a:moveTo>
                  <a:pt x="27432" y="142875"/>
                </a:moveTo>
                <a:lnTo>
                  <a:pt x="1270" y="142875"/>
                </a:lnTo>
                <a:lnTo>
                  <a:pt x="1311" y="148844"/>
                </a:lnTo>
                <a:lnTo>
                  <a:pt x="21971" y="181610"/>
                </a:lnTo>
                <a:lnTo>
                  <a:pt x="51955" y="196342"/>
                </a:lnTo>
                <a:lnTo>
                  <a:pt x="82296" y="196342"/>
                </a:lnTo>
                <a:lnTo>
                  <a:pt x="121412" y="175514"/>
                </a:lnTo>
                <a:lnTo>
                  <a:pt x="122903" y="172466"/>
                </a:lnTo>
                <a:lnTo>
                  <a:pt x="57023" y="172466"/>
                </a:lnTo>
                <a:lnTo>
                  <a:pt x="48006" y="169545"/>
                </a:lnTo>
                <a:lnTo>
                  <a:pt x="45085" y="169545"/>
                </a:lnTo>
                <a:lnTo>
                  <a:pt x="33274" y="157734"/>
                </a:lnTo>
                <a:lnTo>
                  <a:pt x="30352" y="151752"/>
                </a:lnTo>
                <a:lnTo>
                  <a:pt x="27432" y="148844"/>
                </a:lnTo>
                <a:lnTo>
                  <a:pt x="27432" y="142875"/>
                </a:lnTo>
                <a:close/>
              </a:path>
              <a:path w="139064" h="196341">
                <a:moveTo>
                  <a:pt x="123638" y="85852"/>
                </a:moveTo>
                <a:lnTo>
                  <a:pt x="75311" y="85852"/>
                </a:lnTo>
                <a:lnTo>
                  <a:pt x="78232" y="88773"/>
                </a:lnTo>
                <a:lnTo>
                  <a:pt x="84200" y="88773"/>
                </a:lnTo>
                <a:lnTo>
                  <a:pt x="90170" y="91694"/>
                </a:lnTo>
                <a:lnTo>
                  <a:pt x="102108" y="103632"/>
                </a:lnTo>
                <a:lnTo>
                  <a:pt x="108076" y="112649"/>
                </a:lnTo>
                <a:lnTo>
                  <a:pt x="108076" y="124714"/>
                </a:lnTo>
                <a:lnTo>
                  <a:pt x="110998" y="130683"/>
                </a:lnTo>
                <a:lnTo>
                  <a:pt x="108076" y="133604"/>
                </a:lnTo>
                <a:lnTo>
                  <a:pt x="107950" y="148844"/>
                </a:lnTo>
                <a:lnTo>
                  <a:pt x="90170" y="166624"/>
                </a:lnTo>
                <a:lnTo>
                  <a:pt x="84200" y="169545"/>
                </a:lnTo>
                <a:lnTo>
                  <a:pt x="75184" y="172466"/>
                </a:lnTo>
                <a:lnTo>
                  <a:pt x="122903" y="172466"/>
                </a:lnTo>
                <a:lnTo>
                  <a:pt x="124333" y="169545"/>
                </a:lnTo>
                <a:lnTo>
                  <a:pt x="133223" y="160655"/>
                </a:lnTo>
                <a:lnTo>
                  <a:pt x="133223" y="151638"/>
                </a:lnTo>
                <a:lnTo>
                  <a:pt x="136144" y="145669"/>
                </a:lnTo>
                <a:lnTo>
                  <a:pt x="139064" y="130556"/>
                </a:lnTo>
                <a:lnTo>
                  <a:pt x="136144" y="115443"/>
                </a:lnTo>
                <a:lnTo>
                  <a:pt x="133223" y="103378"/>
                </a:lnTo>
                <a:lnTo>
                  <a:pt x="127253" y="91313"/>
                </a:lnTo>
                <a:lnTo>
                  <a:pt x="123638" y="85852"/>
                </a:lnTo>
                <a:close/>
              </a:path>
              <a:path w="139064" h="196341">
                <a:moveTo>
                  <a:pt x="1270" y="142748"/>
                </a:moveTo>
                <a:lnTo>
                  <a:pt x="0" y="142875"/>
                </a:lnTo>
                <a:lnTo>
                  <a:pt x="1270" y="142875"/>
                </a:lnTo>
                <a:lnTo>
                  <a:pt x="1270" y="142748"/>
                </a:lnTo>
                <a:close/>
              </a:path>
              <a:path w="139064" h="196341">
                <a:moveTo>
                  <a:pt x="128155" y="0"/>
                </a:moveTo>
                <a:lnTo>
                  <a:pt x="21462" y="0"/>
                </a:lnTo>
                <a:lnTo>
                  <a:pt x="6350" y="103632"/>
                </a:lnTo>
                <a:lnTo>
                  <a:pt x="30607" y="103632"/>
                </a:lnTo>
                <a:lnTo>
                  <a:pt x="33527" y="97663"/>
                </a:lnTo>
                <a:lnTo>
                  <a:pt x="36449" y="97663"/>
                </a:lnTo>
                <a:lnTo>
                  <a:pt x="42430" y="91694"/>
                </a:lnTo>
                <a:lnTo>
                  <a:pt x="45338" y="91694"/>
                </a:lnTo>
                <a:lnTo>
                  <a:pt x="51308" y="88773"/>
                </a:lnTo>
                <a:lnTo>
                  <a:pt x="57276" y="88773"/>
                </a:lnTo>
                <a:lnTo>
                  <a:pt x="66294" y="85852"/>
                </a:lnTo>
                <a:lnTo>
                  <a:pt x="123638" y="85852"/>
                </a:lnTo>
                <a:lnTo>
                  <a:pt x="121285" y="82296"/>
                </a:lnTo>
                <a:lnTo>
                  <a:pt x="112958" y="76073"/>
                </a:lnTo>
                <a:lnTo>
                  <a:pt x="33909" y="76073"/>
                </a:lnTo>
                <a:lnTo>
                  <a:pt x="39877" y="21209"/>
                </a:lnTo>
                <a:lnTo>
                  <a:pt x="128155" y="21209"/>
                </a:lnTo>
                <a:lnTo>
                  <a:pt x="128155" y="0"/>
                </a:lnTo>
                <a:close/>
              </a:path>
              <a:path w="139064" h="196341">
                <a:moveTo>
                  <a:pt x="85089" y="64389"/>
                </a:moveTo>
                <a:lnTo>
                  <a:pt x="60833" y="64389"/>
                </a:lnTo>
                <a:lnTo>
                  <a:pt x="42799" y="70231"/>
                </a:lnTo>
                <a:lnTo>
                  <a:pt x="36830" y="73152"/>
                </a:lnTo>
                <a:lnTo>
                  <a:pt x="33909" y="76073"/>
                </a:lnTo>
                <a:lnTo>
                  <a:pt x="112958" y="76073"/>
                </a:lnTo>
                <a:lnTo>
                  <a:pt x="109220" y="73279"/>
                </a:lnTo>
                <a:lnTo>
                  <a:pt x="97155" y="67310"/>
                </a:lnTo>
                <a:lnTo>
                  <a:pt x="85089" y="643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bk object 70"/>
          <p:cNvSpPr/>
          <p:nvPr/>
        </p:nvSpPr>
        <p:spPr>
          <a:xfrm>
            <a:off x="575820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473" h="202564">
                <a:moveTo>
                  <a:pt x="93599" y="2921"/>
                </a:moveTo>
                <a:lnTo>
                  <a:pt x="42290" y="2921"/>
                </a:lnTo>
                <a:lnTo>
                  <a:pt x="30225" y="11938"/>
                </a:lnTo>
                <a:lnTo>
                  <a:pt x="15239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508" y="75184"/>
                </a:lnTo>
                <a:lnTo>
                  <a:pt x="508" y="102616"/>
                </a:lnTo>
                <a:lnTo>
                  <a:pt x="0" y="102870"/>
                </a:lnTo>
                <a:lnTo>
                  <a:pt x="0" y="130302"/>
                </a:lnTo>
                <a:lnTo>
                  <a:pt x="5969" y="148463"/>
                </a:lnTo>
                <a:lnTo>
                  <a:pt x="8889" y="160528"/>
                </a:lnTo>
                <a:lnTo>
                  <a:pt x="11811" y="169545"/>
                </a:lnTo>
                <a:lnTo>
                  <a:pt x="29845" y="193675"/>
                </a:lnTo>
                <a:lnTo>
                  <a:pt x="41910" y="199644"/>
                </a:lnTo>
                <a:lnTo>
                  <a:pt x="53975" y="202565"/>
                </a:lnTo>
                <a:lnTo>
                  <a:pt x="81407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5123" y="180848"/>
                </a:lnTo>
                <a:lnTo>
                  <a:pt x="66675" y="180848"/>
                </a:lnTo>
                <a:lnTo>
                  <a:pt x="60706" y="177927"/>
                </a:lnTo>
                <a:lnTo>
                  <a:pt x="51688" y="177927"/>
                </a:lnTo>
                <a:lnTo>
                  <a:pt x="39877" y="166116"/>
                </a:lnTo>
                <a:lnTo>
                  <a:pt x="33909" y="154038"/>
                </a:lnTo>
                <a:lnTo>
                  <a:pt x="28066" y="123825"/>
                </a:lnTo>
                <a:lnTo>
                  <a:pt x="27939" y="102616"/>
                </a:lnTo>
                <a:lnTo>
                  <a:pt x="27964" y="78232"/>
                </a:lnTo>
                <a:lnTo>
                  <a:pt x="33782" y="48133"/>
                </a:lnTo>
                <a:lnTo>
                  <a:pt x="45720" y="30099"/>
                </a:lnTo>
                <a:lnTo>
                  <a:pt x="48640" y="27178"/>
                </a:lnTo>
                <a:lnTo>
                  <a:pt x="51562" y="27178"/>
                </a:lnTo>
                <a:lnTo>
                  <a:pt x="60578" y="24257"/>
                </a:lnTo>
                <a:lnTo>
                  <a:pt x="117982" y="24257"/>
                </a:lnTo>
                <a:lnTo>
                  <a:pt x="105663" y="11938"/>
                </a:lnTo>
                <a:lnTo>
                  <a:pt x="93599" y="2921"/>
                </a:lnTo>
                <a:close/>
              </a:path>
              <a:path w="135473" h="202564">
                <a:moveTo>
                  <a:pt x="117982" y="24257"/>
                </a:moveTo>
                <a:lnTo>
                  <a:pt x="75691" y="24257"/>
                </a:lnTo>
                <a:lnTo>
                  <a:pt x="84709" y="27178"/>
                </a:lnTo>
                <a:lnTo>
                  <a:pt x="90677" y="30099"/>
                </a:lnTo>
                <a:lnTo>
                  <a:pt x="102615" y="48133"/>
                </a:lnTo>
                <a:lnTo>
                  <a:pt x="105537" y="57150"/>
                </a:lnTo>
                <a:lnTo>
                  <a:pt x="105537" y="63119"/>
                </a:lnTo>
                <a:lnTo>
                  <a:pt x="108458" y="78232"/>
                </a:lnTo>
                <a:lnTo>
                  <a:pt x="108458" y="123825"/>
                </a:lnTo>
                <a:lnTo>
                  <a:pt x="105537" y="138938"/>
                </a:lnTo>
                <a:lnTo>
                  <a:pt x="105537" y="147955"/>
                </a:lnTo>
                <a:lnTo>
                  <a:pt x="102559" y="154038"/>
                </a:lnTo>
                <a:lnTo>
                  <a:pt x="96647" y="165989"/>
                </a:lnTo>
                <a:lnTo>
                  <a:pt x="84709" y="177927"/>
                </a:lnTo>
                <a:lnTo>
                  <a:pt x="75691" y="177927"/>
                </a:lnTo>
                <a:lnTo>
                  <a:pt x="66675" y="180848"/>
                </a:lnTo>
                <a:lnTo>
                  <a:pt x="115123" y="180848"/>
                </a:lnTo>
                <a:lnTo>
                  <a:pt x="123571" y="169545"/>
                </a:lnTo>
                <a:lnTo>
                  <a:pt x="129539" y="148336"/>
                </a:lnTo>
                <a:lnTo>
                  <a:pt x="135467" y="130302"/>
                </a:lnTo>
                <a:lnTo>
                  <a:pt x="135473" y="75184"/>
                </a:lnTo>
                <a:lnTo>
                  <a:pt x="123571" y="32893"/>
                </a:lnTo>
                <a:lnTo>
                  <a:pt x="120650" y="26924"/>
                </a:lnTo>
                <a:lnTo>
                  <a:pt x="117982" y="24257"/>
                </a:lnTo>
                <a:close/>
              </a:path>
              <a:path w="135473" h="202564">
                <a:moveTo>
                  <a:pt x="81661" y="0"/>
                </a:moveTo>
                <a:lnTo>
                  <a:pt x="54228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bk object 71"/>
          <p:cNvSpPr/>
          <p:nvPr/>
        </p:nvSpPr>
        <p:spPr>
          <a:xfrm>
            <a:off x="59263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bk object 72"/>
          <p:cNvSpPr/>
          <p:nvPr/>
        </p:nvSpPr>
        <p:spPr>
          <a:xfrm>
            <a:off x="5986800" y="6292440"/>
            <a:ext cx="137520" cy="20160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303" h="202311">
                <a:moveTo>
                  <a:pt x="90424" y="0"/>
                </a:moveTo>
                <a:lnTo>
                  <a:pt x="60071" y="0"/>
                </a:lnTo>
                <a:lnTo>
                  <a:pt x="48006" y="5969"/>
                </a:lnTo>
                <a:lnTo>
                  <a:pt x="32893" y="11925"/>
                </a:lnTo>
                <a:lnTo>
                  <a:pt x="14859" y="36068"/>
                </a:lnTo>
                <a:lnTo>
                  <a:pt x="5842" y="57277"/>
                </a:lnTo>
                <a:lnTo>
                  <a:pt x="2921" y="78486"/>
                </a:lnTo>
                <a:lnTo>
                  <a:pt x="0" y="90551"/>
                </a:lnTo>
                <a:lnTo>
                  <a:pt x="87" y="130810"/>
                </a:lnTo>
                <a:lnTo>
                  <a:pt x="2921" y="151384"/>
                </a:lnTo>
                <a:lnTo>
                  <a:pt x="11937" y="169545"/>
                </a:lnTo>
                <a:lnTo>
                  <a:pt x="14859" y="178562"/>
                </a:lnTo>
                <a:lnTo>
                  <a:pt x="20700" y="184404"/>
                </a:lnTo>
                <a:lnTo>
                  <a:pt x="32766" y="193421"/>
                </a:lnTo>
                <a:lnTo>
                  <a:pt x="44831" y="199390"/>
                </a:lnTo>
                <a:lnTo>
                  <a:pt x="56896" y="202311"/>
                </a:lnTo>
                <a:lnTo>
                  <a:pt x="84328" y="202311"/>
                </a:lnTo>
                <a:lnTo>
                  <a:pt x="96393" y="199390"/>
                </a:lnTo>
                <a:lnTo>
                  <a:pt x="108458" y="193421"/>
                </a:lnTo>
                <a:lnTo>
                  <a:pt x="120142" y="181737"/>
                </a:lnTo>
                <a:lnTo>
                  <a:pt x="59182" y="181737"/>
                </a:lnTo>
                <a:lnTo>
                  <a:pt x="50164" y="178816"/>
                </a:lnTo>
                <a:lnTo>
                  <a:pt x="44196" y="172847"/>
                </a:lnTo>
                <a:lnTo>
                  <a:pt x="38226" y="169926"/>
                </a:lnTo>
                <a:lnTo>
                  <a:pt x="38226" y="167005"/>
                </a:lnTo>
                <a:lnTo>
                  <a:pt x="32385" y="155067"/>
                </a:lnTo>
                <a:lnTo>
                  <a:pt x="29463" y="146050"/>
                </a:lnTo>
                <a:lnTo>
                  <a:pt x="29463" y="127889"/>
                </a:lnTo>
                <a:lnTo>
                  <a:pt x="32385" y="121920"/>
                </a:lnTo>
                <a:lnTo>
                  <a:pt x="35306" y="112903"/>
                </a:lnTo>
                <a:lnTo>
                  <a:pt x="41275" y="106934"/>
                </a:lnTo>
                <a:lnTo>
                  <a:pt x="47244" y="104000"/>
                </a:lnTo>
                <a:lnTo>
                  <a:pt x="53212" y="98044"/>
                </a:lnTo>
                <a:lnTo>
                  <a:pt x="127508" y="98044"/>
                </a:lnTo>
                <a:lnTo>
                  <a:pt x="123444" y="93980"/>
                </a:lnTo>
                <a:lnTo>
                  <a:pt x="27050" y="93980"/>
                </a:lnTo>
                <a:lnTo>
                  <a:pt x="29972" y="81915"/>
                </a:lnTo>
                <a:lnTo>
                  <a:pt x="29972" y="66802"/>
                </a:lnTo>
                <a:lnTo>
                  <a:pt x="32893" y="54737"/>
                </a:lnTo>
                <a:lnTo>
                  <a:pt x="38862" y="42672"/>
                </a:lnTo>
                <a:lnTo>
                  <a:pt x="53721" y="27800"/>
                </a:lnTo>
                <a:lnTo>
                  <a:pt x="59689" y="24892"/>
                </a:lnTo>
                <a:lnTo>
                  <a:pt x="65659" y="24892"/>
                </a:lnTo>
                <a:lnTo>
                  <a:pt x="74675" y="21971"/>
                </a:lnTo>
                <a:lnTo>
                  <a:pt x="125432" y="21971"/>
                </a:lnTo>
                <a:lnTo>
                  <a:pt x="123444" y="17907"/>
                </a:lnTo>
                <a:lnTo>
                  <a:pt x="114426" y="8890"/>
                </a:lnTo>
                <a:lnTo>
                  <a:pt x="102362" y="2921"/>
                </a:lnTo>
                <a:lnTo>
                  <a:pt x="96393" y="2921"/>
                </a:lnTo>
                <a:lnTo>
                  <a:pt x="90424" y="0"/>
                </a:lnTo>
                <a:close/>
              </a:path>
              <a:path w="138303" h="202311">
                <a:moveTo>
                  <a:pt x="127508" y="98044"/>
                </a:moveTo>
                <a:lnTo>
                  <a:pt x="80645" y="98044"/>
                </a:lnTo>
                <a:lnTo>
                  <a:pt x="92583" y="103886"/>
                </a:lnTo>
                <a:lnTo>
                  <a:pt x="104521" y="115824"/>
                </a:lnTo>
                <a:lnTo>
                  <a:pt x="107442" y="121793"/>
                </a:lnTo>
                <a:lnTo>
                  <a:pt x="107442" y="130810"/>
                </a:lnTo>
                <a:lnTo>
                  <a:pt x="110362" y="139827"/>
                </a:lnTo>
                <a:lnTo>
                  <a:pt x="110109" y="139954"/>
                </a:lnTo>
                <a:lnTo>
                  <a:pt x="107187" y="145923"/>
                </a:lnTo>
                <a:lnTo>
                  <a:pt x="107146" y="155067"/>
                </a:lnTo>
                <a:lnTo>
                  <a:pt x="104267" y="163957"/>
                </a:lnTo>
                <a:lnTo>
                  <a:pt x="98298" y="169926"/>
                </a:lnTo>
                <a:lnTo>
                  <a:pt x="92329" y="172847"/>
                </a:lnTo>
                <a:lnTo>
                  <a:pt x="86360" y="178816"/>
                </a:lnTo>
                <a:lnTo>
                  <a:pt x="80391" y="181737"/>
                </a:lnTo>
                <a:lnTo>
                  <a:pt x="120142" y="181737"/>
                </a:lnTo>
                <a:lnTo>
                  <a:pt x="126492" y="175387"/>
                </a:lnTo>
                <a:lnTo>
                  <a:pt x="132461" y="163322"/>
                </a:lnTo>
                <a:lnTo>
                  <a:pt x="138303" y="139192"/>
                </a:lnTo>
                <a:lnTo>
                  <a:pt x="135382" y="124079"/>
                </a:lnTo>
                <a:lnTo>
                  <a:pt x="135382" y="115062"/>
                </a:lnTo>
                <a:lnTo>
                  <a:pt x="129412" y="99949"/>
                </a:lnTo>
                <a:lnTo>
                  <a:pt x="127508" y="98044"/>
                </a:lnTo>
                <a:close/>
              </a:path>
              <a:path w="138303" h="202311">
                <a:moveTo>
                  <a:pt x="84328" y="73152"/>
                </a:moveTo>
                <a:lnTo>
                  <a:pt x="60071" y="73152"/>
                </a:lnTo>
                <a:lnTo>
                  <a:pt x="51054" y="76073"/>
                </a:lnTo>
                <a:lnTo>
                  <a:pt x="33020" y="88011"/>
                </a:lnTo>
                <a:lnTo>
                  <a:pt x="27050" y="93980"/>
                </a:lnTo>
                <a:lnTo>
                  <a:pt x="123444" y="93980"/>
                </a:lnTo>
                <a:lnTo>
                  <a:pt x="111379" y="81915"/>
                </a:lnTo>
                <a:lnTo>
                  <a:pt x="99441" y="76073"/>
                </a:lnTo>
                <a:lnTo>
                  <a:pt x="84328" y="73152"/>
                </a:lnTo>
                <a:close/>
              </a:path>
              <a:path w="138303" h="202311">
                <a:moveTo>
                  <a:pt x="125432" y="21971"/>
                </a:moveTo>
                <a:lnTo>
                  <a:pt x="74675" y="21971"/>
                </a:lnTo>
                <a:lnTo>
                  <a:pt x="83693" y="24892"/>
                </a:lnTo>
                <a:lnTo>
                  <a:pt x="89662" y="24892"/>
                </a:lnTo>
                <a:lnTo>
                  <a:pt x="95631" y="27800"/>
                </a:lnTo>
                <a:lnTo>
                  <a:pt x="101600" y="33782"/>
                </a:lnTo>
                <a:lnTo>
                  <a:pt x="107442" y="45720"/>
                </a:lnTo>
                <a:lnTo>
                  <a:pt x="107442" y="51689"/>
                </a:lnTo>
                <a:lnTo>
                  <a:pt x="110362" y="54610"/>
                </a:lnTo>
                <a:lnTo>
                  <a:pt x="134620" y="54610"/>
                </a:lnTo>
                <a:lnTo>
                  <a:pt x="135255" y="53848"/>
                </a:lnTo>
                <a:lnTo>
                  <a:pt x="135255" y="44831"/>
                </a:lnTo>
                <a:lnTo>
                  <a:pt x="132334" y="38862"/>
                </a:lnTo>
                <a:lnTo>
                  <a:pt x="132334" y="32893"/>
                </a:lnTo>
                <a:lnTo>
                  <a:pt x="126364" y="23876"/>
                </a:lnTo>
                <a:lnTo>
                  <a:pt x="125432" y="219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bk object 73"/>
          <p:cNvSpPr/>
          <p:nvPr/>
        </p:nvSpPr>
        <p:spPr>
          <a:xfrm>
            <a:off x="6350040" y="6293520"/>
            <a:ext cx="134280" cy="2016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4929" h="202437">
                <a:moveTo>
                  <a:pt x="93090" y="2920"/>
                </a:moveTo>
                <a:lnTo>
                  <a:pt x="41782" y="2920"/>
                </a:lnTo>
                <a:lnTo>
                  <a:pt x="29717" y="11937"/>
                </a:lnTo>
                <a:lnTo>
                  <a:pt x="14731" y="26911"/>
                </a:lnTo>
                <a:lnTo>
                  <a:pt x="11811" y="32892"/>
                </a:lnTo>
                <a:lnTo>
                  <a:pt x="8889" y="41909"/>
                </a:lnTo>
                <a:lnTo>
                  <a:pt x="5968" y="53974"/>
                </a:lnTo>
                <a:lnTo>
                  <a:pt x="3048" y="62991"/>
                </a:lnTo>
                <a:lnTo>
                  <a:pt x="126" y="75056"/>
                </a:lnTo>
                <a:lnTo>
                  <a:pt x="0" y="130428"/>
                </a:lnTo>
                <a:lnTo>
                  <a:pt x="5841" y="148462"/>
                </a:lnTo>
                <a:lnTo>
                  <a:pt x="8762" y="160527"/>
                </a:lnTo>
                <a:lnTo>
                  <a:pt x="11683" y="169544"/>
                </a:lnTo>
                <a:lnTo>
                  <a:pt x="14604" y="175513"/>
                </a:lnTo>
                <a:lnTo>
                  <a:pt x="20574" y="181482"/>
                </a:lnTo>
                <a:lnTo>
                  <a:pt x="29590" y="193547"/>
                </a:lnTo>
                <a:lnTo>
                  <a:pt x="47625" y="202437"/>
                </a:lnTo>
                <a:lnTo>
                  <a:pt x="81025" y="202437"/>
                </a:lnTo>
                <a:lnTo>
                  <a:pt x="93090" y="199516"/>
                </a:lnTo>
                <a:lnTo>
                  <a:pt x="105155" y="193547"/>
                </a:lnTo>
                <a:lnTo>
                  <a:pt x="114185" y="181482"/>
                </a:lnTo>
                <a:lnTo>
                  <a:pt x="114692" y="180974"/>
                </a:lnTo>
                <a:lnTo>
                  <a:pt x="69341" y="180974"/>
                </a:lnTo>
                <a:lnTo>
                  <a:pt x="60325" y="178053"/>
                </a:lnTo>
                <a:lnTo>
                  <a:pt x="51307" y="178053"/>
                </a:lnTo>
                <a:lnTo>
                  <a:pt x="39369" y="166115"/>
                </a:lnTo>
                <a:lnTo>
                  <a:pt x="33400" y="154050"/>
                </a:lnTo>
                <a:lnTo>
                  <a:pt x="27558" y="123824"/>
                </a:lnTo>
                <a:lnTo>
                  <a:pt x="27431" y="78231"/>
                </a:lnTo>
                <a:lnTo>
                  <a:pt x="33274" y="48005"/>
                </a:lnTo>
                <a:lnTo>
                  <a:pt x="45212" y="29971"/>
                </a:lnTo>
                <a:lnTo>
                  <a:pt x="51180" y="27050"/>
                </a:lnTo>
                <a:lnTo>
                  <a:pt x="60198" y="24129"/>
                </a:lnTo>
                <a:lnTo>
                  <a:pt x="117358" y="24129"/>
                </a:lnTo>
                <a:lnTo>
                  <a:pt x="105155" y="11937"/>
                </a:lnTo>
                <a:lnTo>
                  <a:pt x="93090" y="2920"/>
                </a:lnTo>
                <a:close/>
              </a:path>
              <a:path w="134929" h="202437">
                <a:moveTo>
                  <a:pt x="117358" y="24129"/>
                </a:moveTo>
                <a:lnTo>
                  <a:pt x="75311" y="24129"/>
                </a:lnTo>
                <a:lnTo>
                  <a:pt x="84327" y="27050"/>
                </a:lnTo>
                <a:lnTo>
                  <a:pt x="90296" y="29971"/>
                </a:lnTo>
                <a:lnTo>
                  <a:pt x="102235" y="48005"/>
                </a:lnTo>
                <a:lnTo>
                  <a:pt x="108076" y="78231"/>
                </a:lnTo>
                <a:lnTo>
                  <a:pt x="108076" y="123824"/>
                </a:lnTo>
                <a:lnTo>
                  <a:pt x="102235" y="154050"/>
                </a:lnTo>
                <a:lnTo>
                  <a:pt x="96265" y="166115"/>
                </a:lnTo>
                <a:lnTo>
                  <a:pt x="84327" y="178053"/>
                </a:lnTo>
                <a:lnTo>
                  <a:pt x="75311" y="178053"/>
                </a:lnTo>
                <a:lnTo>
                  <a:pt x="69341" y="180974"/>
                </a:lnTo>
                <a:lnTo>
                  <a:pt x="114692" y="180974"/>
                </a:lnTo>
                <a:lnTo>
                  <a:pt x="120141" y="175513"/>
                </a:lnTo>
                <a:lnTo>
                  <a:pt x="123062" y="169544"/>
                </a:lnTo>
                <a:lnTo>
                  <a:pt x="129031" y="148335"/>
                </a:lnTo>
                <a:lnTo>
                  <a:pt x="134917" y="130428"/>
                </a:lnTo>
                <a:lnTo>
                  <a:pt x="134929" y="75056"/>
                </a:lnTo>
                <a:lnTo>
                  <a:pt x="123062" y="32892"/>
                </a:lnTo>
                <a:lnTo>
                  <a:pt x="120141" y="26911"/>
                </a:lnTo>
                <a:lnTo>
                  <a:pt x="117358" y="24129"/>
                </a:lnTo>
                <a:close/>
              </a:path>
              <a:path w="134929" h="202437">
                <a:moveTo>
                  <a:pt x="81152" y="0"/>
                </a:moveTo>
                <a:lnTo>
                  <a:pt x="53720" y="0"/>
                </a:lnTo>
                <a:lnTo>
                  <a:pt x="47751" y="2920"/>
                </a:lnTo>
                <a:lnTo>
                  <a:pt x="87121" y="2920"/>
                </a:lnTo>
                <a:lnTo>
                  <a:pt x="8115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bk object 74"/>
          <p:cNvSpPr/>
          <p:nvPr/>
        </p:nvSpPr>
        <p:spPr>
          <a:xfrm>
            <a:off x="65174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bk object 75"/>
          <p:cNvSpPr/>
          <p:nvPr/>
        </p:nvSpPr>
        <p:spPr>
          <a:xfrm>
            <a:off x="6577200" y="6300000"/>
            <a:ext cx="133200" cy="192960"/>
          </a:xfrm>
          <a:custGeom>
            <a:avLst/>
            <a:gdLst>
              <a:gd name="textAreaLeft" fmla="*/ 0 w 133200"/>
              <a:gd name="textAreaRight" fmla="*/ 133920 w 13320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133984" h="193675">
                <a:moveTo>
                  <a:pt x="133984" y="0"/>
                </a:moveTo>
                <a:lnTo>
                  <a:pt x="0" y="0"/>
                </a:lnTo>
                <a:lnTo>
                  <a:pt x="0" y="24256"/>
                </a:lnTo>
                <a:lnTo>
                  <a:pt x="106679" y="24256"/>
                </a:lnTo>
                <a:lnTo>
                  <a:pt x="94615" y="39369"/>
                </a:lnTo>
                <a:lnTo>
                  <a:pt x="91694" y="45338"/>
                </a:lnTo>
                <a:lnTo>
                  <a:pt x="76580" y="60451"/>
                </a:lnTo>
                <a:lnTo>
                  <a:pt x="70611" y="69468"/>
                </a:lnTo>
                <a:lnTo>
                  <a:pt x="67691" y="78485"/>
                </a:lnTo>
                <a:lnTo>
                  <a:pt x="55625" y="102730"/>
                </a:lnTo>
                <a:lnTo>
                  <a:pt x="43687" y="120776"/>
                </a:lnTo>
                <a:lnTo>
                  <a:pt x="37656" y="142240"/>
                </a:lnTo>
                <a:lnTo>
                  <a:pt x="31750" y="166230"/>
                </a:lnTo>
                <a:lnTo>
                  <a:pt x="31750" y="175259"/>
                </a:lnTo>
                <a:lnTo>
                  <a:pt x="28828" y="193420"/>
                </a:lnTo>
                <a:lnTo>
                  <a:pt x="28575" y="193675"/>
                </a:lnTo>
                <a:lnTo>
                  <a:pt x="56006" y="193675"/>
                </a:lnTo>
                <a:lnTo>
                  <a:pt x="58927" y="172465"/>
                </a:lnTo>
                <a:lnTo>
                  <a:pt x="61849" y="160400"/>
                </a:lnTo>
                <a:lnTo>
                  <a:pt x="67889" y="141985"/>
                </a:lnTo>
                <a:lnTo>
                  <a:pt x="73786" y="121031"/>
                </a:lnTo>
                <a:lnTo>
                  <a:pt x="82803" y="99822"/>
                </a:lnTo>
                <a:lnTo>
                  <a:pt x="91821" y="81660"/>
                </a:lnTo>
                <a:lnTo>
                  <a:pt x="103885" y="63500"/>
                </a:lnTo>
                <a:lnTo>
                  <a:pt x="112902" y="48387"/>
                </a:lnTo>
                <a:lnTo>
                  <a:pt x="121920" y="39369"/>
                </a:lnTo>
                <a:lnTo>
                  <a:pt x="133984" y="21209"/>
                </a:lnTo>
                <a:lnTo>
                  <a:pt x="13398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bk object 76"/>
          <p:cNvSpPr/>
          <p:nvPr/>
        </p:nvSpPr>
        <p:spPr>
          <a:xfrm>
            <a:off x="6941160" y="6293160"/>
            <a:ext cx="134280" cy="20124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127" h="201929">
                <a:moveTo>
                  <a:pt x="93345" y="2921"/>
                </a:moveTo>
                <a:lnTo>
                  <a:pt x="42037" y="2921"/>
                </a:lnTo>
                <a:lnTo>
                  <a:pt x="29972" y="11938"/>
                </a:lnTo>
                <a:lnTo>
                  <a:pt x="6223" y="53975"/>
                </a:lnTo>
                <a:lnTo>
                  <a:pt x="380" y="102616"/>
                </a:lnTo>
                <a:lnTo>
                  <a:pt x="40" y="102616"/>
                </a:lnTo>
                <a:lnTo>
                  <a:pt x="5842" y="147828"/>
                </a:lnTo>
                <a:lnTo>
                  <a:pt x="20700" y="180975"/>
                </a:lnTo>
                <a:lnTo>
                  <a:pt x="29718" y="193040"/>
                </a:lnTo>
                <a:lnTo>
                  <a:pt x="41782" y="199009"/>
                </a:lnTo>
                <a:lnTo>
                  <a:pt x="53848" y="201930"/>
                </a:lnTo>
                <a:lnTo>
                  <a:pt x="81279" y="201930"/>
                </a:lnTo>
                <a:lnTo>
                  <a:pt x="93345" y="199009"/>
                </a:lnTo>
                <a:lnTo>
                  <a:pt x="105410" y="193040"/>
                </a:lnTo>
                <a:lnTo>
                  <a:pt x="114332" y="181102"/>
                </a:lnTo>
                <a:lnTo>
                  <a:pt x="69596" y="181102"/>
                </a:lnTo>
                <a:lnTo>
                  <a:pt x="60578" y="178181"/>
                </a:lnTo>
                <a:lnTo>
                  <a:pt x="51562" y="178181"/>
                </a:lnTo>
                <a:lnTo>
                  <a:pt x="39624" y="166243"/>
                </a:lnTo>
                <a:lnTo>
                  <a:pt x="33654" y="154178"/>
                </a:lnTo>
                <a:lnTo>
                  <a:pt x="27813" y="123952"/>
                </a:lnTo>
                <a:lnTo>
                  <a:pt x="27686" y="102616"/>
                </a:lnTo>
                <a:lnTo>
                  <a:pt x="380" y="102616"/>
                </a:lnTo>
                <a:lnTo>
                  <a:pt x="0" y="102235"/>
                </a:lnTo>
                <a:lnTo>
                  <a:pt x="27686" y="102235"/>
                </a:lnTo>
                <a:lnTo>
                  <a:pt x="27686" y="78359"/>
                </a:lnTo>
                <a:lnTo>
                  <a:pt x="33527" y="48133"/>
                </a:lnTo>
                <a:lnTo>
                  <a:pt x="45466" y="30099"/>
                </a:lnTo>
                <a:lnTo>
                  <a:pt x="51435" y="27178"/>
                </a:lnTo>
                <a:lnTo>
                  <a:pt x="60451" y="24257"/>
                </a:lnTo>
                <a:lnTo>
                  <a:pt x="117728" y="24257"/>
                </a:lnTo>
                <a:lnTo>
                  <a:pt x="105410" y="11938"/>
                </a:lnTo>
                <a:lnTo>
                  <a:pt x="93345" y="2921"/>
                </a:lnTo>
                <a:close/>
              </a:path>
              <a:path w="135127" h="201929">
                <a:moveTo>
                  <a:pt x="117728" y="24257"/>
                </a:moveTo>
                <a:lnTo>
                  <a:pt x="78613" y="24257"/>
                </a:lnTo>
                <a:lnTo>
                  <a:pt x="90550" y="30099"/>
                </a:lnTo>
                <a:lnTo>
                  <a:pt x="102489" y="48133"/>
                </a:lnTo>
                <a:lnTo>
                  <a:pt x="108330" y="78359"/>
                </a:lnTo>
                <a:lnTo>
                  <a:pt x="108330" y="123952"/>
                </a:lnTo>
                <a:lnTo>
                  <a:pt x="102489" y="154178"/>
                </a:lnTo>
                <a:lnTo>
                  <a:pt x="96520" y="166243"/>
                </a:lnTo>
                <a:lnTo>
                  <a:pt x="84581" y="178181"/>
                </a:lnTo>
                <a:lnTo>
                  <a:pt x="78613" y="178181"/>
                </a:lnTo>
                <a:lnTo>
                  <a:pt x="69596" y="181102"/>
                </a:lnTo>
                <a:lnTo>
                  <a:pt x="114332" y="181102"/>
                </a:lnTo>
                <a:lnTo>
                  <a:pt x="114426" y="180975"/>
                </a:lnTo>
                <a:lnTo>
                  <a:pt x="120396" y="175006"/>
                </a:lnTo>
                <a:lnTo>
                  <a:pt x="123317" y="169037"/>
                </a:lnTo>
                <a:lnTo>
                  <a:pt x="129286" y="160020"/>
                </a:lnTo>
                <a:lnTo>
                  <a:pt x="132206" y="147955"/>
                </a:lnTo>
                <a:lnTo>
                  <a:pt x="132206" y="138938"/>
                </a:lnTo>
                <a:lnTo>
                  <a:pt x="135127" y="129921"/>
                </a:lnTo>
                <a:lnTo>
                  <a:pt x="135127" y="75057"/>
                </a:lnTo>
                <a:lnTo>
                  <a:pt x="132206" y="62992"/>
                </a:lnTo>
                <a:lnTo>
                  <a:pt x="132206" y="53975"/>
                </a:lnTo>
                <a:lnTo>
                  <a:pt x="129286" y="41910"/>
                </a:lnTo>
                <a:lnTo>
                  <a:pt x="123317" y="32893"/>
                </a:lnTo>
                <a:lnTo>
                  <a:pt x="120396" y="26924"/>
                </a:lnTo>
                <a:lnTo>
                  <a:pt x="117728" y="24257"/>
                </a:lnTo>
                <a:close/>
              </a:path>
              <a:path w="135127" h="201929">
                <a:moveTo>
                  <a:pt x="81406" y="0"/>
                </a:moveTo>
                <a:lnTo>
                  <a:pt x="53975" y="0"/>
                </a:lnTo>
                <a:lnTo>
                  <a:pt x="48005" y="2921"/>
                </a:lnTo>
                <a:lnTo>
                  <a:pt x="87375" y="2921"/>
                </a:lnTo>
                <a:lnTo>
                  <a:pt x="8140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bk object 77"/>
          <p:cNvSpPr/>
          <p:nvPr/>
        </p:nvSpPr>
        <p:spPr>
          <a:xfrm>
            <a:off x="71089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bk object 78"/>
          <p:cNvSpPr/>
          <p:nvPr/>
        </p:nvSpPr>
        <p:spPr>
          <a:xfrm>
            <a:off x="7170480" y="6293880"/>
            <a:ext cx="134640" cy="199800"/>
          </a:xfrm>
          <a:custGeom>
            <a:avLst/>
            <a:gdLst>
              <a:gd name="textAreaLeft" fmla="*/ 0 w 134640"/>
              <a:gd name="textAreaRight" fmla="*/ 135360 w 134640"/>
              <a:gd name="textAreaTop" fmla="*/ 0 h 199800"/>
              <a:gd name="textAreaBottom" fmla="*/ 200520 h 199800"/>
            </a:gdLst>
            <a:ahLst/>
            <a:cxnLst/>
            <a:rect l="textAreaLeft" t="textAreaTop" r="textAreaRight" b="textAreaBottom"/>
            <a:pathLst>
              <a:path w="135254" h="200405">
                <a:moveTo>
                  <a:pt x="32493" y="89606"/>
                </a:moveTo>
                <a:lnTo>
                  <a:pt x="26669" y="92456"/>
                </a:lnTo>
                <a:lnTo>
                  <a:pt x="23749" y="95377"/>
                </a:lnTo>
                <a:lnTo>
                  <a:pt x="17779" y="98298"/>
                </a:lnTo>
                <a:lnTo>
                  <a:pt x="14858" y="101219"/>
                </a:lnTo>
                <a:lnTo>
                  <a:pt x="2920" y="119253"/>
                </a:lnTo>
                <a:lnTo>
                  <a:pt x="0" y="128270"/>
                </a:lnTo>
                <a:lnTo>
                  <a:pt x="0" y="140335"/>
                </a:lnTo>
                <a:lnTo>
                  <a:pt x="20827" y="188595"/>
                </a:lnTo>
                <a:lnTo>
                  <a:pt x="44957" y="197485"/>
                </a:lnTo>
                <a:lnTo>
                  <a:pt x="53975" y="200406"/>
                </a:lnTo>
                <a:lnTo>
                  <a:pt x="81406" y="200406"/>
                </a:lnTo>
                <a:lnTo>
                  <a:pt x="105536" y="194551"/>
                </a:lnTo>
                <a:lnTo>
                  <a:pt x="114553" y="188595"/>
                </a:lnTo>
                <a:lnTo>
                  <a:pt x="120523" y="182626"/>
                </a:lnTo>
                <a:lnTo>
                  <a:pt x="123071" y="177419"/>
                </a:lnTo>
                <a:lnTo>
                  <a:pt x="53593" y="177419"/>
                </a:lnTo>
                <a:lnTo>
                  <a:pt x="44576" y="174498"/>
                </a:lnTo>
                <a:lnTo>
                  <a:pt x="38734" y="168656"/>
                </a:lnTo>
                <a:lnTo>
                  <a:pt x="35813" y="162687"/>
                </a:lnTo>
                <a:lnTo>
                  <a:pt x="29844" y="156718"/>
                </a:lnTo>
                <a:lnTo>
                  <a:pt x="29844" y="150749"/>
                </a:lnTo>
                <a:lnTo>
                  <a:pt x="26924" y="141732"/>
                </a:lnTo>
                <a:lnTo>
                  <a:pt x="29844" y="132588"/>
                </a:lnTo>
                <a:lnTo>
                  <a:pt x="29844" y="123571"/>
                </a:lnTo>
                <a:lnTo>
                  <a:pt x="41655" y="111760"/>
                </a:lnTo>
                <a:lnTo>
                  <a:pt x="53593" y="105918"/>
                </a:lnTo>
                <a:lnTo>
                  <a:pt x="126386" y="105918"/>
                </a:lnTo>
                <a:lnTo>
                  <a:pt x="123443" y="101473"/>
                </a:lnTo>
                <a:lnTo>
                  <a:pt x="111505" y="95631"/>
                </a:lnTo>
                <a:lnTo>
                  <a:pt x="108584" y="92710"/>
                </a:lnTo>
                <a:lnTo>
                  <a:pt x="102615" y="89776"/>
                </a:lnTo>
                <a:lnTo>
                  <a:pt x="33019" y="89776"/>
                </a:lnTo>
                <a:lnTo>
                  <a:pt x="32493" y="89606"/>
                </a:lnTo>
                <a:close/>
              </a:path>
              <a:path w="135254" h="200405">
                <a:moveTo>
                  <a:pt x="126386" y="105918"/>
                </a:moveTo>
                <a:lnTo>
                  <a:pt x="81025" y="105918"/>
                </a:lnTo>
                <a:lnTo>
                  <a:pt x="90042" y="108826"/>
                </a:lnTo>
                <a:lnTo>
                  <a:pt x="96011" y="111760"/>
                </a:lnTo>
                <a:lnTo>
                  <a:pt x="101980" y="117729"/>
                </a:lnTo>
                <a:lnTo>
                  <a:pt x="104839" y="123571"/>
                </a:lnTo>
                <a:lnTo>
                  <a:pt x="104901" y="126619"/>
                </a:lnTo>
                <a:lnTo>
                  <a:pt x="107823" y="132588"/>
                </a:lnTo>
                <a:lnTo>
                  <a:pt x="107823" y="150749"/>
                </a:lnTo>
                <a:lnTo>
                  <a:pt x="104901" y="156718"/>
                </a:lnTo>
                <a:lnTo>
                  <a:pt x="104901" y="159626"/>
                </a:lnTo>
                <a:lnTo>
                  <a:pt x="90042" y="174498"/>
                </a:lnTo>
                <a:lnTo>
                  <a:pt x="81025" y="177419"/>
                </a:lnTo>
                <a:lnTo>
                  <a:pt x="123071" y="177419"/>
                </a:lnTo>
                <a:lnTo>
                  <a:pt x="126364" y="170688"/>
                </a:lnTo>
                <a:lnTo>
                  <a:pt x="132333" y="164719"/>
                </a:lnTo>
                <a:lnTo>
                  <a:pt x="132333" y="158750"/>
                </a:lnTo>
                <a:lnTo>
                  <a:pt x="135254" y="152781"/>
                </a:lnTo>
                <a:lnTo>
                  <a:pt x="135172" y="128270"/>
                </a:lnTo>
                <a:lnTo>
                  <a:pt x="129412" y="110490"/>
                </a:lnTo>
                <a:lnTo>
                  <a:pt x="126386" y="105918"/>
                </a:lnTo>
                <a:close/>
              </a:path>
              <a:path w="135254" h="200405">
                <a:moveTo>
                  <a:pt x="103364" y="89535"/>
                </a:moveTo>
                <a:lnTo>
                  <a:pt x="32638" y="89535"/>
                </a:lnTo>
                <a:lnTo>
                  <a:pt x="33019" y="89776"/>
                </a:lnTo>
                <a:lnTo>
                  <a:pt x="102615" y="89776"/>
                </a:lnTo>
                <a:lnTo>
                  <a:pt x="103364" y="89535"/>
                </a:lnTo>
                <a:close/>
              </a:path>
              <a:path w="135254" h="200405">
                <a:moveTo>
                  <a:pt x="78485" y="0"/>
                </a:moveTo>
                <a:lnTo>
                  <a:pt x="57276" y="0"/>
                </a:lnTo>
                <a:lnTo>
                  <a:pt x="48259" y="2921"/>
                </a:lnTo>
                <a:lnTo>
                  <a:pt x="36194" y="5842"/>
                </a:lnTo>
                <a:lnTo>
                  <a:pt x="18160" y="17780"/>
                </a:lnTo>
                <a:lnTo>
                  <a:pt x="12191" y="26797"/>
                </a:lnTo>
                <a:lnTo>
                  <a:pt x="6350" y="50927"/>
                </a:lnTo>
                <a:lnTo>
                  <a:pt x="15112" y="77978"/>
                </a:lnTo>
                <a:lnTo>
                  <a:pt x="24002" y="86868"/>
                </a:lnTo>
                <a:lnTo>
                  <a:pt x="32493" y="89606"/>
                </a:lnTo>
                <a:lnTo>
                  <a:pt x="32638" y="89535"/>
                </a:lnTo>
                <a:lnTo>
                  <a:pt x="103364" y="89535"/>
                </a:lnTo>
                <a:lnTo>
                  <a:pt x="111632" y="86868"/>
                </a:lnTo>
                <a:lnTo>
                  <a:pt x="115570" y="82931"/>
                </a:lnTo>
                <a:lnTo>
                  <a:pt x="59689" y="82931"/>
                </a:lnTo>
                <a:lnTo>
                  <a:pt x="59689" y="80010"/>
                </a:lnTo>
                <a:lnTo>
                  <a:pt x="56768" y="80010"/>
                </a:lnTo>
                <a:lnTo>
                  <a:pt x="38861" y="71247"/>
                </a:lnTo>
                <a:lnTo>
                  <a:pt x="35940" y="65278"/>
                </a:lnTo>
                <a:lnTo>
                  <a:pt x="35940" y="59309"/>
                </a:lnTo>
                <a:lnTo>
                  <a:pt x="33019" y="50292"/>
                </a:lnTo>
                <a:lnTo>
                  <a:pt x="35940" y="44196"/>
                </a:lnTo>
                <a:lnTo>
                  <a:pt x="35940" y="38227"/>
                </a:lnTo>
                <a:lnTo>
                  <a:pt x="38861" y="32258"/>
                </a:lnTo>
                <a:lnTo>
                  <a:pt x="44830" y="29337"/>
                </a:lnTo>
                <a:lnTo>
                  <a:pt x="50800" y="23368"/>
                </a:lnTo>
                <a:lnTo>
                  <a:pt x="56768" y="23368"/>
                </a:lnTo>
                <a:lnTo>
                  <a:pt x="59689" y="20447"/>
                </a:lnTo>
                <a:lnTo>
                  <a:pt x="119367" y="20447"/>
                </a:lnTo>
                <a:lnTo>
                  <a:pt x="117601" y="17780"/>
                </a:lnTo>
                <a:lnTo>
                  <a:pt x="111632" y="11811"/>
                </a:lnTo>
                <a:lnTo>
                  <a:pt x="102615" y="5842"/>
                </a:lnTo>
                <a:lnTo>
                  <a:pt x="78485" y="0"/>
                </a:lnTo>
                <a:close/>
              </a:path>
              <a:path w="135254" h="200405">
                <a:moveTo>
                  <a:pt x="119367" y="20447"/>
                </a:moveTo>
                <a:lnTo>
                  <a:pt x="74815" y="20447"/>
                </a:lnTo>
                <a:lnTo>
                  <a:pt x="80772" y="23368"/>
                </a:lnTo>
                <a:lnTo>
                  <a:pt x="86740" y="23368"/>
                </a:lnTo>
                <a:lnTo>
                  <a:pt x="89661" y="29337"/>
                </a:lnTo>
                <a:lnTo>
                  <a:pt x="95630" y="32258"/>
                </a:lnTo>
                <a:lnTo>
                  <a:pt x="101473" y="44196"/>
                </a:lnTo>
                <a:lnTo>
                  <a:pt x="101473" y="59309"/>
                </a:lnTo>
                <a:lnTo>
                  <a:pt x="95630" y="71247"/>
                </a:lnTo>
                <a:lnTo>
                  <a:pt x="92709" y="74168"/>
                </a:lnTo>
                <a:lnTo>
                  <a:pt x="74815" y="82931"/>
                </a:lnTo>
                <a:lnTo>
                  <a:pt x="115570" y="82931"/>
                </a:lnTo>
                <a:lnTo>
                  <a:pt x="120523" y="77978"/>
                </a:lnTo>
                <a:lnTo>
                  <a:pt x="126491" y="68961"/>
                </a:lnTo>
                <a:lnTo>
                  <a:pt x="129412" y="59944"/>
                </a:lnTo>
                <a:lnTo>
                  <a:pt x="129412" y="50927"/>
                </a:lnTo>
                <a:lnTo>
                  <a:pt x="123570" y="26797"/>
                </a:lnTo>
                <a:lnTo>
                  <a:pt x="119367" y="20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bk object 79"/>
          <p:cNvSpPr/>
          <p:nvPr/>
        </p:nvSpPr>
        <p:spPr>
          <a:xfrm>
            <a:off x="7531920" y="6293160"/>
            <a:ext cx="134640" cy="2012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394" h="202056">
                <a:moveTo>
                  <a:pt x="0" y="102235"/>
                </a:moveTo>
                <a:lnTo>
                  <a:pt x="5842" y="147828"/>
                </a:lnTo>
                <a:lnTo>
                  <a:pt x="29845" y="193167"/>
                </a:lnTo>
                <a:lnTo>
                  <a:pt x="53975" y="202057"/>
                </a:lnTo>
                <a:lnTo>
                  <a:pt x="81407" y="202057"/>
                </a:lnTo>
                <a:lnTo>
                  <a:pt x="93472" y="199136"/>
                </a:lnTo>
                <a:lnTo>
                  <a:pt x="105537" y="193167"/>
                </a:lnTo>
                <a:lnTo>
                  <a:pt x="117221" y="181483"/>
                </a:lnTo>
                <a:lnTo>
                  <a:pt x="69723" y="181483"/>
                </a:lnTo>
                <a:lnTo>
                  <a:pt x="60706" y="178562"/>
                </a:lnTo>
                <a:lnTo>
                  <a:pt x="51689" y="178562"/>
                </a:lnTo>
                <a:lnTo>
                  <a:pt x="39751" y="166624"/>
                </a:lnTo>
                <a:lnTo>
                  <a:pt x="36830" y="154559"/>
                </a:lnTo>
                <a:lnTo>
                  <a:pt x="33909" y="148590"/>
                </a:lnTo>
                <a:lnTo>
                  <a:pt x="30988" y="139573"/>
                </a:lnTo>
                <a:lnTo>
                  <a:pt x="30988" y="124460"/>
                </a:lnTo>
                <a:lnTo>
                  <a:pt x="28067" y="103238"/>
                </a:lnTo>
                <a:lnTo>
                  <a:pt x="27927" y="102616"/>
                </a:lnTo>
                <a:lnTo>
                  <a:pt x="635" y="102616"/>
                </a:lnTo>
                <a:lnTo>
                  <a:pt x="0" y="102235"/>
                </a:lnTo>
                <a:close/>
              </a:path>
              <a:path w="135394" h="202056">
                <a:moveTo>
                  <a:pt x="119407" y="24384"/>
                </a:moveTo>
                <a:lnTo>
                  <a:pt x="78740" y="24384"/>
                </a:lnTo>
                <a:lnTo>
                  <a:pt x="84709" y="27305"/>
                </a:lnTo>
                <a:lnTo>
                  <a:pt x="87630" y="27305"/>
                </a:lnTo>
                <a:lnTo>
                  <a:pt x="90551" y="30213"/>
                </a:lnTo>
                <a:lnTo>
                  <a:pt x="102489" y="48260"/>
                </a:lnTo>
                <a:lnTo>
                  <a:pt x="108407" y="63246"/>
                </a:lnTo>
                <a:lnTo>
                  <a:pt x="108458" y="139573"/>
                </a:lnTo>
                <a:lnTo>
                  <a:pt x="102489" y="154686"/>
                </a:lnTo>
                <a:lnTo>
                  <a:pt x="96520" y="166738"/>
                </a:lnTo>
                <a:lnTo>
                  <a:pt x="84709" y="178562"/>
                </a:lnTo>
                <a:lnTo>
                  <a:pt x="78740" y="178562"/>
                </a:lnTo>
                <a:lnTo>
                  <a:pt x="69723" y="181483"/>
                </a:lnTo>
                <a:lnTo>
                  <a:pt x="117221" y="181483"/>
                </a:lnTo>
                <a:lnTo>
                  <a:pt x="117602" y="181102"/>
                </a:lnTo>
                <a:lnTo>
                  <a:pt x="123571" y="169037"/>
                </a:lnTo>
                <a:lnTo>
                  <a:pt x="129540" y="160020"/>
                </a:lnTo>
                <a:lnTo>
                  <a:pt x="132461" y="147955"/>
                </a:lnTo>
                <a:lnTo>
                  <a:pt x="132461" y="138938"/>
                </a:lnTo>
                <a:lnTo>
                  <a:pt x="135394" y="129921"/>
                </a:lnTo>
                <a:lnTo>
                  <a:pt x="135394" y="75057"/>
                </a:lnTo>
                <a:lnTo>
                  <a:pt x="132553" y="63373"/>
                </a:lnTo>
                <a:lnTo>
                  <a:pt x="132461" y="53975"/>
                </a:lnTo>
                <a:lnTo>
                  <a:pt x="129540" y="41910"/>
                </a:lnTo>
                <a:lnTo>
                  <a:pt x="123571" y="32893"/>
                </a:lnTo>
                <a:lnTo>
                  <a:pt x="119407" y="24384"/>
                </a:lnTo>
                <a:close/>
              </a:path>
              <a:path w="135394" h="202056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8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56" y="75184"/>
                </a:lnTo>
                <a:lnTo>
                  <a:pt x="635" y="102616"/>
                </a:lnTo>
                <a:lnTo>
                  <a:pt x="27927" y="102616"/>
                </a:lnTo>
                <a:lnTo>
                  <a:pt x="30861" y="78359"/>
                </a:lnTo>
                <a:lnTo>
                  <a:pt x="30985" y="62992"/>
                </a:lnTo>
                <a:lnTo>
                  <a:pt x="33782" y="57277"/>
                </a:lnTo>
                <a:lnTo>
                  <a:pt x="39624" y="39243"/>
                </a:lnTo>
                <a:lnTo>
                  <a:pt x="45593" y="30213"/>
                </a:lnTo>
                <a:lnTo>
                  <a:pt x="51562" y="27305"/>
                </a:lnTo>
                <a:lnTo>
                  <a:pt x="60579" y="24384"/>
                </a:lnTo>
                <a:lnTo>
                  <a:pt x="119407" y="24384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394" h="202056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bk object 80"/>
          <p:cNvSpPr/>
          <p:nvPr/>
        </p:nvSpPr>
        <p:spPr>
          <a:xfrm>
            <a:off x="77000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65" h="33401">
                <a:moveTo>
                  <a:pt x="0" y="16700"/>
                </a:moveTo>
                <a:lnTo>
                  <a:pt x="30365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bk object 81"/>
          <p:cNvSpPr/>
          <p:nvPr/>
        </p:nvSpPr>
        <p:spPr>
          <a:xfrm>
            <a:off x="7761240" y="6293520"/>
            <a:ext cx="137880" cy="201240"/>
          </a:xfrm>
          <a:custGeom>
            <a:avLst/>
            <a:gdLst>
              <a:gd name="textAreaLeft" fmla="*/ 0 w 137880"/>
              <a:gd name="textAreaRight" fmla="*/ 138600 w 1378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8429" h="202056">
                <a:moveTo>
                  <a:pt x="27558" y="147954"/>
                </a:moveTo>
                <a:lnTo>
                  <a:pt x="126" y="147954"/>
                </a:lnTo>
                <a:lnTo>
                  <a:pt x="0" y="157225"/>
                </a:lnTo>
                <a:lnTo>
                  <a:pt x="2802" y="162940"/>
                </a:lnTo>
                <a:lnTo>
                  <a:pt x="2921" y="166115"/>
                </a:lnTo>
                <a:lnTo>
                  <a:pt x="32893" y="199135"/>
                </a:lnTo>
                <a:lnTo>
                  <a:pt x="44957" y="202056"/>
                </a:lnTo>
                <a:lnTo>
                  <a:pt x="78358" y="202056"/>
                </a:lnTo>
                <a:lnTo>
                  <a:pt x="90436" y="199135"/>
                </a:lnTo>
                <a:lnTo>
                  <a:pt x="114553" y="181101"/>
                </a:lnTo>
                <a:lnTo>
                  <a:pt x="114781" y="180720"/>
                </a:lnTo>
                <a:lnTo>
                  <a:pt x="54355" y="180720"/>
                </a:lnTo>
                <a:lnTo>
                  <a:pt x="48386" y="177799"/>
                </a:lnTo>
                <a:lnTo>
                  <a:pt x="39370" y="174878"/>
                </a:lnTo>
                <a:lnTo>
                  <a:pt x="33400" y="168909"/>
                </a:lnTo>
                <a:lnTo>
                  <a:pt x="30479" y="162940"/>
                </a:lnTo>
                <a:lnTo>
                  <a:pt x="27558" y="160007"/>
                </a:lnTo>
                <a:lnTo>
                  <a:pt x="27558" y="147954"/>
                </a:lnTo>
                <a:close/>
              </a:path>
              <a:path w="138429" h="202056">
                <a:moveTo>
                  <a:pt x="136073" y="108584"/>
                </a:moveTo>
                <a:lnTo>
                  <a:pt x="108203" y="108584"/>
                </a:lnTo>
                <a:lnTo>
                  <a:pt x="108203" y="126745"/>
                </a:lnTo>
                <a:lnTo>
                  <a:pt x="105282" y="138810"/>
                </a:lnTo>
                <a:lnTo>
                  <a:pt x="102361" y="147827"/>
                </a:lnTo>
                <a:lnTo>
                  <a:pt x="96393" y="159892"/>
                </a:lnTo>
                <a:lnTo>
                  <a:pt x="93472" y="168909"/>
                </a:lnTo>
                <a:lnTo>
                  <a:pt x="84454" y="174878"/>
                </a:lnTo>
                <a:lnTo>
                  <a:pt x="72516" y="180720"/>
                </a:lnTo>
                <a:lnTo>
                  <a:pt x="114781" y="180720"/>
                </a:lnTo>
                <a:lnTo>
                  <a:pt x="123571" y="165988"/>
                </a:lnTo>
                <a:lnTo>
                  <a:pt x="135508" y="123570"/>
                </a:lnTo>
                <a:lnTo>
                  <a:pt x="135533" y="111378"/>
                </a:lnTo>
                <a:lnTo>
                  <a:pt x="136073" y="108584"/>
                </a:lnTo>
                <a:close/>
              </a:path>
              <a:path w="138429" h="202056">
                <a:moveTo>
                  <a:pt x="81533" y="0"/>
                </a:moveTo>
                <a:lnTo>
                  <a:pt x="51180" y="0"/>
                </a:lnTo>
                <a:lnTo>
                  <a:pt x="39115" y="2920"/>
                </a:lnTo>
                <a:lnTo>
                  <a:pt x="27050" y="8889"/>
                </a:lnTo>
                <a:lnTo>
                  <a:pt x="9144" y="26796"/>
                </a:lnTo>
                <a:lnTo>
                  <a:pt x="3175" y="38861"/>
                </a:lnTo>
                <a:lnTo>
                  <a:pt x="253" y="50926"/>
                </a:lnTo>
                <a:lnTo>
                  <a:pt x="253" y="78358"/>
                </a:lnTo>
                <a:lnTo>
                  <a:pt x="27050" y="120395"/>
                </a:lnTo>
                <a:lnTo>
                  <a:pt x="45084" y="129285"/>
                </a:lnTo>
                <a:lnTo>
                  <a:pt x="78485" y="129285"/>
                </a:lnTo>
                <a:lnTo>
                  <a:pt x="87502" y="126364"/>
                </a:lnTo>
                <a:lnTo>
                  <a:pt x="96520" y="120395"/>
                </a:lnTo>
                <a:lnTo>
                  <a:pt x="99440" y="117474"/>
                </a:lnTo>
                <a:lnTo>
                  <a:pt x="102361" y="117474"/>
                </a:lnTo>
                <a:lnTo>
                  <a:pt x="105282" y="114553"/>
                </a:lnTo>
                <a:lnTo>
                  <a:pt x="108203" y="108584"/>
                </a:lnTo>
                <a:lnTo>
                  <a:pt x="136073" y="108584"/>
                </a:lnTo>
                <a:lnTo>
                  <a:pt x="136196" y="107949"/>
                </a:lnTo>
                <a:lnTo>
                  <a:pt x="66166" y="107949"/>
                </a:lnTo>
                <a:lnTo>
                  <a:pt x="48132" y="102107"/>
                </a:lnTo>
                <a:lnTo>
                  <a:pt x="36195" y="96265"/>
                </a:lnTo>
                <a:lnTo>
                  <a:pt x="33286" y="90296"/>
                </a:lnTo>
                <a:lnTo>
                  <a:pt x="30352" y="81279"/>
                </a:lnTo>
                <a:lnTo>
                  <a:pt x="27419" y="75310"/>
                </a:lnTo>
                <a:lnTo>
                  <a:pt x="27419" y="56768"/>
                </a:lnTo>
                <a:lnTo>
                  <a:pt x="30352" y="47751"/>
                </a:lnTo>
                <a:lnTo>
                  <a:pt x="33161" y="42036"/>
                </a:lnTo>
                <a:lnTo>
                  <a:pt x="33286" y="38861"/>
                </a:lnTo>
                <a:lnTo>
                  <a:pt x="48005" y="24129"/>
                </a:lnTo>
                <a:lnTo>
                  <a:pt x="57023" y="24129"/>
                </a:lnTo>
                <a:lnTo>
                  <a:pt x="66039" y="21208"/>
                </a:lnTo>
                <a:lnTo>
                  <a:pt x="117982" y="21208"/>
                </a:lnTo>
                <a:lnTo>
                  <a:pt x="105663" y="8889"/>
                </a:lnTo>
                <a:lnTo>
                  <a:pt x="93611" y="2920"/>
                </a:lnTo>
                <a:lnTo>
                  <a:pt x="81533" y="0"/>
                </a:lnTo>
                <a:close/>
              </a:path>
              <a:path w="138429" h="202056">
                <a:moveTo>
                  <a:pt x="117982" y="21208"/>
                </a:moveTo>
                <a:lnTo>
                  <a:pt x="66039" y="21208"/>
                </a:lnTo>
                <a:lnTo>
                  <a:pt x="75044" y="24129"/>
                </a:lnTo>
                <a:lnTo>
                  <a:pt x="84086" y="24129"/>
                </a:lnTo>
                <a:lnTo>
                  <a:pt x="101980" y="42036"/>
                </a:lnTo>
                <a:lnTo>
                  <a:pt x="104777" y="47751"/>
                </a:lnTo>
                <a:lnTo>
                  <a:pt x="104901" y="78358"/>
                </a:lnTo>
                <a:lnTo>
                  <a:pt x="101980" y="81279"/>
                </a:lnTo>
                <a:lnTo>
                  <a:pt x="99059" y="90296"/>
                </a:lnTo>
                <a:lnTo>
                  <a:pt x="99059" y="93217"/>
                </a:lnTo>
                <a:lnTo>
                  <a:pt x="96138" y="96138"/>
                </a:lnTo>
                <a:lnTo>
                  <a:pt x="90170" y="99059"/>
                </a:lnTo>
                <a:lnTo>
                  <a:pt x="81152" y="105028"/>
                </a:lnTo>
                <a:lnTo>
                  <a:pt x="75183" y="105028"/>
                </a:lnTo>
                <a:lnTo>
                  <a:pt x="66166" y="107949"/>
                </a:lnTo>
                <a:lnTo>
                  <a:pt x="136196" y="107949"/>
                </a:lnTo>
                <a:lnTo>
                  <a:pt x="138429" y="96392"/>
                </a:lnTo>
                <a:lnTo>
                  <a:pt x="135508" y="72135"/>
                </a:lnTo>
                <a:lnTo>
                  <a:pt x="132587" y="50926"/>
                </a:lnTo>
                <a:lnTo>
                  <a:pt x="123571" y="32765"/>
                </a:lnTo>
                <a:lnTo>
                  <a:pt x="123571" y="29832"/>
                </a:lnTo>
                <a:lnTo>
                  <a:pt x="120650" y="23875"/>
                </a:lnTo>
                <a:lnTo>
                  <a:pt x="117982" y="2120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bk object 82"/>
          <p:cNvSpPr/>
          <p:nvPr/>
        </p:nvSpPr>
        <p:spPr>
          <a:xfrm>
            <a:off x="81424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5" h="201041">
                <a:moveTo>
                  <a:pt x="72135" y="0"/>
                </a:moveTo>
                <a:lnTo>
                  <a:pt x="53975" y="0"/>
                </a:lnTo>
                <a:lnTo>
                  <a:pt x="51053" y="2920"/>
                </a:lnTo>
                <a:lnTo>
                  <a:pt x="51053" y="8889"/>
                </a:lnTo>
                <a:lnTo>
                  <a:pt x="45211" y="20827"/>
                </a:lnTo>
                <a:lnTo>
                  <a:pt x="36207" y="26784"/>
                </a:lnTo>
                <a:lnTo>
                  <a:pt x="30225" y="32765"/>
                </a:lnTo>
                <a:lnTo>
                  <a:pt x="21208" y="35686"/>
                </a:lnTo>
                <a:lnTo>
                  <a:pt x="0" y="35686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4"/>
                </a:lnTo>
                <a:lnTo>
                  <a:pt x="44703" y="201040"/>
                </a:lnTo>
                <a:lnTo>
                  <a:pt x="72135" y="201040"/>
                </a:lnTo>
                <a:lnTo>
                  <a:pt x="72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bk object 83"/>
          <p:cNvSpPr/>
          <p:nvPr/>
        </p:nvSpPr>
        <p:spPr>
          <a:xfrm>
            <a:off x="827028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bk object 84"/>
          <p:cNvSpPr/>
          <p:nvPr/>
        </p:nvSpPr>
        <p:spPr>
          <a:xfrm>
            <a:off x="833076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8" h="202564">
                <a:moveTo>
                  <a:pt x="93598" y="2920"/>
                </a:moveTo>
                <a:lnTo>
                  <a:pt x="42290" y="2920"/>
                </a:lnTo>
                <a:lnTo>
                  <a:pt x="30225" y="11937"/>
                </a:lnTo>
                <a:lnTo>
                  <a:pt x="18287" y="23875"/>
                </a:lnTo>
                <a:lnTo>
                  <a:pt x="18287" y="26784"/>
                </a:lnTo>
                <a:lnTo>
                  <a:pt x="12318" y="32765"/>
                </a:lnTo>
                <a:lnTo>
                  <a:pt x="12318" y="38734"/>
                </a:lnTo>
                <a:lnTo>
                  <a:pt x="9397" y="41655"/>
                </a:lnTo>
                <a:lnTo>
                  <a:pt x="6476" y="53720"/>
                </a:lnTo>
                <a:lnTo>
                  <a:pt x="3527" y="75310"/>
                </a:lnTo>
                <a:lnTo>
                  <a:pt x="634" y="102361"/>
                </a:lnTo>
                <a:lnTo>
                  <a:pt x="0" y="102742"/>
                </a:lnTo>
                <a:lnTo>
                  <a:pt x="5841" y="148335"/>
                </a:lnTo>
                <a:lnTo>
                  <a:pt x="29844" y="193674"/>
                </a:lnTo>
                <a:lnTo>
                  <a:pt x="53975" y="202564"/>
                </a:lnTo>
                <a:lnTo>
                  <a:pt x="81406" y="202564"/>
                </a:lnTo>
                <a:lnTo>
                  <a:pt x="93471" y="199643"/>
                </a:lnTo>
                <a:lnTo>
                  <a:pt x="105536" y="193674"/>
                </a:lnTo>
                <a:lnTo>
                  <a:pt x="117601" y="181609"/>
                </a:lnTo>
                <a:lnTo>
                  <a:pt x="117727" y="181355"/>
                </a:lnTo>
                <a:lnTo>
                  <a:pt x="69722" y="181355"/>
                </a:lnTo>
                <a:lnTo>
                  <a:pt x="60718" y="178434"/>
                </a:lnTo>
                <a:lnTo>
                  <a:pt x="54736" y="178434"/>
                </a:lnTo>
                <a:lnTo>
                  <a:pt x="45719" y="172465"/>
                </a:lnTo>
                <a:lnTo>
                  <a:pt x="39750" y="166484"/>
                </a:lnTo>
                <a:lnTo>
                  <a:pt x="36829" y="154431"/>
                </a:lnTo>
                <a:lnTo>
                  <a:pt x="33908" y="148462"/>
                </a:lnTo>
                <a:lnTo>
                  <a:pt x="30987" y="139445"/>
                </a:lnTo>
                <a:lnTo>
                  <a:pt x="30987" y="124332"/>
                </a:lnTo>
                <a:lnTo>
                  <a:pt x="28066" y="103123"/>
                </a:lnTo>
                <a:lnTo>
                  <a:pt x="27939" y="102361"/>
                </a:lnTo>
                <a:lnTo>
                  <a:pt x="30860" y="78104"/>
                </a:lnTo>
                <a:lnTo>
                  <a:pt x="30860" y="62991"/>
                </a:lnTo>
                <a:lnTo>
                  <a:pt x="33781" y="57022"/>
                </a:lnTo>
                <a:lnTo>
                  <a:pt x="39623" y="38988"/>
                </a:lnTo>
                <a:lnTo>
                  <a:pt x="45592" y="29959"/>
                </a:lnTo>
                <a:lnTo>
                  <a:pt x="54609" y="27050"/>
                </a:lnTo>
                <a:lnTo>
                  <a:pt x="60578" y="24129"/>
                </a:lnTo>
                <a:lnTo>
                  <a:pt x="119282" y="24129"/>
                </a:lnTo>
                <a:lnTo>
                  <a:pt x="117728" y="20954"/>
                </a:lnTo>
                <a:lnTo>
                  <a:pt x="93598" y="2920"/>
                </a:lnTo>
                <a:close/>
              </a:path>
              <a:path w="135508" h="202564">
                <a:moveTo>
                  <a:pt x="119282" y="24129"/>
                </a:moveTo>
                <a:lnTo>
                  <a:pt x="78739" y="24129"/>
                </a:lnTo>
                <a:lnTo>
                  <a:pt x="90677" y="29959"/>
                </a:lnTo>
                <a:lnTo>
                  <a:pt x="102615" y="48005"/>
                </a:lnTo>
                <a:lnTo>
                  <a:pt x="108534" y="62991"/>
                </a:lnTo>
                <a:lnTo>
                  <a:pt x="108534" y="139445"/>
                </a:lnTo>
                <a:lnTo>
                  <a:pt x="102615" y="154431"/>
                </a:lnTo>
                <a:lnTo>
                  <a:pt x="96646" y="166484"/>
                </a:lnTo>
                <a:lnTo>
                  <a:pt x="84708" y="178434"/>
                </a:lnTo>
                <a:lnTo>
                  <a:pt x="78739" y="178434"/>
                </a:lnTo>
                <a:lnTo>
                  <a:pt x="69722" y="181355"/>
                </a:lnTo>
                <a:lnTo>
                  <a:pt x="117727" y="181355"/>
                </a:lnTo>
                <a:lnTo>
                  <a:pt x="123570" y="169544"/>
                </a:lnTo>
                <a:lnTo>
                  <a:pt x="132587" y="148335"/>
                </a:lnTo>
                <a:lnTo>
                  <a:pt x="135508" y="130174"/>
                </a:lnTo>
                <a:lnTo>
                  <a:pt x="135456" y="74929"/>
                </a:lnTo>
                <a:lnTo>
                  <a:pt x="132587" y="54101"/>
                </a:lnTo>
                <a:lnTo>
                  <a:pt x="123508" y="32765"/>
                </a:lnTo>
                <a:lnTo>
                  <a:pt x="119282" y="24129"/>
                </a:lnTo>
                <a:close/>
              </a:path>
              <a:path w="135508" h="202564">
                <a:moveTo>
                  <a:pt x="81660" y="0"/>
                </a:moveTo>
                <a:lnTo>
                  <a:pt x="54228" y="0"/>
                </a:lnTo>
                <a:lnTo>
                  <a:pt x="48259" y="2920"/>
                </a:lnTo>
                <a:lnTo>
                  <a:pt x="87629" y="2920"/>
                </a:lnTo>
                <a:lnTo>
                  <a:pt x="8166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bk object 85"/>
          <p:cNvSpPr/>
          <p:nvPr/>
        </p:nvSpPr>
        <p:spPr>
          <a:xfrm>
            <a:off x="2387520" y="5539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bk object 86"/>
          <p:cNvSpPr/>
          <p:nvPr/>
        </p:nvSpPr>
        <p:spPr>
          <a:xfrm>
            <a:off x="2448360" y="5533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bk object 87"/>
          <p:cNvSpPr/>
          <p:nvPr/>
        </p:nvSpPr>
        <p:spPr>
          <a:xfrm>
            <a:off x="2506320" y="552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bk object 88"/>
          <p:cNvSpPr/>
          <p:nvPr/>
        </p:nvSpPr>
        <p:spPr>
          <a:xfrm>
            <a:off x="2567520" y="5524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bk object 89"/>
          <p:cNvSpPr/>
          <p:nvPr/>
        </p:nvSpPr>
        <p:spPr>
          <a:xfrm>
            <a:off x="2625120" y="551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bk object 90"/>
          <p:cNvSpPr/>
          <p:nvPr/>
        </p:nvSpPr>
        <p:spPr>
          <a:xfrm>
            <a:off x="2683440" y="5511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bk object 91"/>
          <p:cNvSpPr/>
          <p:nvPr/>
        </p:nvSpPr>
        <p:spPr>
          <a:xfrm>
            <a:off x="2744280" y="5505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bk object 92"/>
          <p:cNvSpPr/>
          <p:nvPr/>
        </p:nvSpPr>
        <p:spPr>
          <a:xfrm>
            <a:off x="2802240" y="5502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bk object 93"/>
          <p:cNvSpPr/>
          <p:nvPr/>
        </p:nvSpPr>
        <p:spPr>
          <a:xfrm>
            <a:off x="2863080" y="5496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bk object 94"/>
          <p:cNvSpPr/>
          <p:nvPr/>
        </p:nvSpPr>
        <p:spPr>
          <a:xfrm>
            <a:off x="2921040" y="5490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bk object 95"/>
          <p:cNvSpPr/>
          <p:nvPr/>
        </p:nvSpPr>
        <p:spPr>
          <a:xfrm>
            <a:off x="2981880" y="5484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bk object 96"/>
          <p:cNvSpPr/>
          <p:nvPr/>
        </p:nvSpPr>
        <p:spPr>
          <a:xfrm>
            <a:off x="3039840" y="5478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bk object 97"/>
          <p:cNvSpPr/>
          <p:nvPr/>
        </p:nvSpPr>
        <p:spPr>
          <a:xfrm>
            <a:off x="3097800" y="5472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bk object 98"/>
          <p:cNvSpPr/>
          <p:nvPr/>
        </p:nvSpPr>
        <p:spPr>
          <a:xfrm>
            <a:off x="3158640" y="5466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bk object 99"/>
          <p:cNvSpPr/>
          <p:nvPr/>
        </p:nvSpPr>
        <p:spPr>
          <a:xfrm>
            <a:off x="3216600" y="5460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bk object 100"/>
          <p:cNvSpPr/>
          <p:nvPr/>
        </p:nvSpPr>
        <p:spPr>
          <a:xfrm>
            <a:off x="3277440" y="545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bk object 101"/>
          <p:cNvSpPr/>
          <p:nvPr/>
        </p:nvSpPr>
        <p:spPr>
          <a:xfrm>
            <a:off x="3335400" y="544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bk object 102"/>
          <p:cNvSpPr/>
          <p:nvPr/>
        </p:nvSpPr>
        <p:spPr>
          <a:xfrm>
            <a:off x="3393360" y="5441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bk object 103"/>
          <p:cNvSpPr/>
          <p:nvPr/>
        </p:nvSpPr>
        <p:spPr>
          <a:xfrm>
            <a:off x="3454560" y="5432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bk object 104"/>
          <p:cNvSpPr/>
          <p:nvPr/>
        </p:nvSpPr>
        <p:spPr>
          <a:xfrm>
            <a:off x="3512520" y="5426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bk object 105"/>
          <p:cNvSpPr/>
          <p:nvPr/>
        </p:nvSpPr>
        <p:spPr>
          <a:xfrm>
            <a:off x="3573360" y="5420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bk object 106"/>
          <p:cNvSpPr/>
          <p:nvPr/>
        </p:nvSpPr>
        <p:spPr>
          <a:xfrm>
            <a:off x="3630960" y="5411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bk object 107"/>
          <p:cNvSpPr/>
          <p:nvPr/>
        </p:nvSpPr>
        <p:spPr>
          <a:xfrm>
            <a:off x="3692160" y="5405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bk object 108"/>
          <p:cNvSpPr/>
          <p:nvPr/>
        </p:nvSpPr>
        <p:spPr>
          <a:xfrm>
            <a:off x="3750120" y="539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bk object 109"/>
          <p:cNvSpPr/>
          <p:nvPr/>
        </p:nvSpPr>
        <p:spPr>
          <a:xfrm>
            <a:off x="3808080" y="539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bk object 110"/>
          <p:cNvSpPr/>
          <p:nvPr/>
        </p:nvSpPr>
        <p:spPr>
          <a:xfrm>
            <a:off x="3868920" y="5380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bk object 111"/>
          <p:cNvSpPr/>
          <p:nvPr/>
        </p:nvSpPr>
        <p:spPr>
          <a:xfrm>
            <a:off x="3926880" y="5374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bk object 112"/>
          <p:cNvSpPr/>
          <p:nvPr/>
        </p:nvSpPr>
        <p:spPr>
          <a:xfrm>
            <a:off x="3987720" y="536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bk object 113"/>
          <p:cNvSpPr/>
          <p:nvPr/>
        </p:nvSpPr>
        <p:spPr>
          <a:xfrm>
            <a:off x="4045680" y="5356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bk object 114"/>
          <p:cNvSpPr/>
          <p:nvPr/>
        </p:nvSpPr>
        <p:spPr>
          <a:xfrm>
            <a:off x="4103640" y="534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bk object 115"/>
          <p:cNvSpPr/>
          <p:nvPr/>
        </p:nvSpPr>
        <p:spPr>
          <a:xfrm>
            <a:off x="4164480" y="533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bk object 116"/>
          <p:cNvSpPr/>
          <p:nvPr/>
        </p:nvSpPr>
        <p:spPr>
          <a:xfrm>
            <a:off x="4222440" y="5329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bk object 117"/>
          <p:cNvSpPr/>
          <p:nvPr/>
        </p:nvSpPr>
        <p:spPr>
          <a:xfrm>
            <a:off x="4283640" y="5320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bk object 118"/>
          <p:cNvSpPr/>
          <p:nvPr/>
        </p:nvSpPr>
        <p:spPr>
          <a:xfrm>
            <a:off x="4341600" y="5311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bk object 119"/>
          <p:cNvSpPr/>
          <p:nvPr/>
        </p:nvSpPr>
        <p:spPr>
          <a:xfrm>
            <a:off x="4402080" y="530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bk object 120"/>
          <p:cNvSpPr/>
          <p:nvPr/>
        </p:nvSpPr>
        <p:spPr>
          <a:xfrm>
            <a:off x="4460040" y="5289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bk object 121"/>
          <p:cNvSpPr/>
          <p:nvPr/>
        </p:nvSpPr>
        <p:spPr>
          <a:xfrm>
            <a:off x="4518000" y="5280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bk object 122"/>
          <p:cNvSpPr/>
          <p:nvPr/>
        </p:nvSpPr>
        <p:spPr>
          <a:xfrm>
            <a:off x="4579200" y="526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bk object 123"/>
          <p:cNvSpPr/>
          <p:nvPr/>
        </p:nvSpPr>
        <p:spPr>
          <a:xfrm>
            <a:off x="4637160" y="525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bk object 124"/>
          <p:cNvSpPr/>
          <p:nvPr/>
        </p:nvSpPr>
        <p:spPr>
          <a:xfrm>
            <a:off x="4698000" y="5247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bk object 125"/>
          <p:cNvSpPr/>
          <p:nvPr/>
        </p:nvSpPr>
        <p:spPr>
          <a:xfrm>
            <a:off x="4755960" y="5234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bk object 126"/>
          <p:cNvSpPr/>
          <p:nvPr/>
        </p:nvSpPr>
        <p:spPr>
          <a:xfrm>
            <a:off x="4816800" y="522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bk object 127"/>
          <p:cNvSpPr/>
          <p:nvPr/>
        </p:nvSpPr>
        <p:spPr>
          <a:xfrm>
            <a:off x="4874760" y="521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bk object 128"/>
          <p:cNvSpPr/>
          <p:nvPr/>
        </p:nvSpPr>
        <p:spPr>
          <a:xfrm>
            <a:off x="4932720" y="5198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bk object 129"/>
          <p:cNvSpPr/>
          <p:nvPr/>
        </p:nvSpPr>
        <p:spPr>
          <a:xfrm>
            <a:off x="4993560" y="518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bk object 130"/>
          <p:cNvSpPr/>
          <p:nvPr/>
        </p:nvSpPr>
        <p:spPr>
          <a:xfrm>
            <a:off x="5051520" y="517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bk object 131"/>
          <p:cNvSpPr/>
          <p:nvPr/>
        </p:nvSpPr>
        <p:spPr>
          <a:xfrm>
            <a:off x="5112720" y="5158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bk object 132"/>
          <p:cNvSpPr/>
          <p:nvPr/>
        </p:nvSpPr>
        <p:spPr>
          <a:xfrm>
            <a:off x="5170320" y="51433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bk object 133"/>
          <p:cNvSpPr/>
          <p:nvPr/>
        </p:nvSpPr>
        <p:spPr>
          <a:xfrm>
            <a:off x="5228280" y="5127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bk object 134"/>
          <p:cNvSpPr/>
          <p:nvPr/>
        </p:nvSpPr>
        <p:spPr>
          <a:xfrm>
            <a:off x="5289120" y="5112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bk object 135"/>
          <p:cNvSpPr/>
          <p:nvPr/>
        </p:nvSpPr>
        <p:spPr>
          <a:xfrm>
            <a:off x="5347080" y="5097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bk object 136"/>
          <p:cNvSpPr/>
          <p:nvPr/>
        </p:nvSpPr>
        <p:spPr>
          <a:xfrm>
            <a:off x="5407920" y="507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bk object 137"/>
          <p:cNvSpPr/>
          <p:nvPr/>
        </p:nvSpPr>
        <p:spPr>
          <a:xfrm>
            <a:off x="5465880" y="5064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bk object 138"/>
          <p:cNvSpPr/>
          <p:nvPr/>
        </p:nvSpPr>
        <p:spPr>
          <a:xfrm>
            <a:off x="5527080" y="5045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bk object 139"/>
          <p:cNvSpPr/>
          <p:nvPr/>
        </p:nvSpPr>
        <p:spPr>
          <a:xfrm>
            <a:off x="5585040" y="5027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bk object 140"/>
          <p:cNvSpPr/>
          <p:nvPr/>
        </p:nvSpPr>
        <p:spPr>
          <a:xfrm>
            <a:off x="5642640" y="5009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bk object 141"/>
          <p:cNvSpPr/>
          <p:nvPr/>
        </p:nvSpPr>
        <p:spPr>
          <a:xfrm>
            <a:off x="5703840" y="4991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bk object 142"/>
          <p:cNvSpPr/>
          <p:nvPr/>
        </p:nvSpPr>
        <p:spPr>
          <a:xfrm>
            <a:off x="5761800" y="4969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bk object 143"/>
          <p:cNvSpPr/>
          <p:nvPr/>
        </p:nvSpPr>
        <p:spPr>
          <a:xfrm>
            <a:off x="5822640" y="494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bk object 144"/>
          <p:cNvSpPr/>
          <p:nvPr/>
        </p:nvSpPr>
        <p:spPr>
          <a:xfrm>
            <a:off x="5880600" y="492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bk object 145"/>
          <p:cNvSpPr/>
          <p:nvPr/>
        </p:nvSpPr>
        <p:spPr>
          <a:xfrm>
            <a:off x="5938560" y="4905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bk object 146"/>
          <p:cNvSpPr/>
          <p:nvPr/>
        </p:nvSpPr>
        <p:spPr>
          <a:xfrm>
            <a:off x="5999400" y="4880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bk object 147"/>
          <p:cNvSpPr/>
          <p:nvPr/>
        </p:nvSpPr>
        <p:spPr>
          <a:xfrm>
            <a:off x="6057360" y="4856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bk object 148"/>
          <p:cNvSpPr/>
          <p:nvPr/>
        </p:nvSpPr>
        <p:spPr>
          <a:xfrm>
            <a:off x="6118200" y="4832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bk object 149"/>
          <p:cNvSpPr/>
          <p:nvPr/>
        </p:nvSpPr>
        <p:spPr>
          <a:xfrm>
            <a:off x="6176160" y="4804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bk object 150"/>
          <p:cNvSpPr/>
          <p:nvPr/>
        </p:nvSpPr>
        <p:spPr>
          <a:xfrm>
            <a:off x="6237360" y="4777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bk object 151"/>
          <p:cNvSpPr/>
          <p:nvPr/>
        </p:nvSpPr>
        <p:spPr>
          <a:xfrm>
            <a:off x="6295320" y="4750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bk object 152"/>
          <p:cNvSpPr/>
          <p:nvPr/>
        </p:nvSpPr>
        <p:spPr>
          <a:xfrm>
            <a:off x="6353280" y="4719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bk object 153"/>
          <p:cNvSpPr/>
          <p:nvPr/>
        </p:nvSpPr>
        <p:spPr>
          <a:xfrm>
            <a:off x="6413760" y="468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bk object 154"/>
          <p:cNvSpPr/>
          <p:nvPr/>
        </p:nvSpPr>
        <p:spPr>
          <a:xfrm>
            <a:off x="6471720" y="4655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bk object 155"/>
          <p:cNvSpPr/>
          <p:nvPr/>
        </p:nvSpPr>
        <p:spPr>
          <a:xfrm>
            <a:off x="6532920" y="4619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bk object 156"/>
          <p:cNvSpPr/>
          <p:nvPr/>
        </p:nvSpPr>
        <p:spPr>
          <a:xfrm>
            <a:off x="6590880" y="4582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bk object 157"/>
          <p:cNvSpPr/>
          <p:nvPr/>
        </p:nvSpPr>
        <p:spPr>
          <a:xfrm>
            <a:off x="6651720" y="4545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bk object 158"/>
          <p:cNvSpPr/>
          <p:nvPr/>
        </p:nvSpPr>
        <p:spPr>
          <a:xfrm>
            <a:off x="6709680" y="450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bk object 159"/>
          <p:cNvSpPr/>
          <p:nvPr/>
        </p:nvSpPr>
        <p:spPr>
          <a:xfrm>
            <a:off x="6767640" y="4463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bk object 160"/>
          <p:cNvSpPr/>
          <p:nvPr/>
        </p:nvSpPr>
        <p:spPr>
          <a:xfrm>
            <a:off x="6828480" y="4417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bk object 161"/>
          <p:cNvSpPr/>
          <p:nvPr/>
        </p:nvSpPr>
        <p:spPr>
          <a:xfrm>
            <a:off x="6886440" y="4372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bk object 162"/>
          <p:cNvSpPr/>
          <p:nvPr/>
        </p:nvSpPr>
        <p:spPr>
          <a:xfrm>
            <a:off x="6947280" y="4320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bk object 163"/>
          <p:cNvSpPr/>
          <p:nvPr/>
        </p:nvSpPr>
        <p:spPr>
          <a:xfrm>
            <a:off x="7005240" y="426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bk object 164"/>
          <p:cNvSpPr/>
          <p:nvPr/>
        </p:nvSpPr>
        <p:spPr>
          <a:xfrm>
            <a:off x="7063200" y="4210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bk object 165"/>
          <p:cNvSpPr/>
          <p:nvPr/>
        </p:nvSpPr>
        <p:spPr>
          <a:xfrm>
            <a:off x="7124040" y="4152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bk object 166"/>
          <p:cNvSpPr/>
          <p:nvPr/>
        </p:nvSpPr>
        <p:spPr>
          <a:xfrm>
            <a:off x="7182000" y="408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bk object 167"/>
          <p:cNvSpPr/>
          <p:nvPr/>
        </p:nvSpPr>
        <p:spPr>
          <a:xfrm>
            <a:off x="7242840" y="4018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bk object 168"/>
          <p:cNvSpPr/>
          <p:nvPr/>
        </p:nvSpPr>
        <p:spPr>
          <a:xfrm>
            <a:off x="7300800" y="3945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bk object 169"/>
          <p:cNvSpPr/>
          <p:nvPr/>
        </p:nvSpPr>
        <p:spPr>
          <a:xfrm>
            <a:off x="7362000" y="386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bk object 170"/>
          <p:cNvSpPr/>
          <p:nvPr/>
        </p:nvSpPr>
        <p:spPr>
          <a:xfrm>
            <a:off x="7419960" y="3783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bk object 171"/>
          <p:cNvSpPr/>
          <p:nvPr/>
        </p:nvSpPr>
        <p:spPr>
          <a:xfrm>
            <a:off x="7477560" y="369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bk object 172"/>
          <p:cNvSpPr/>
          <p:nvPr/>
        </p:nvSpPr>
        <p:spPr>
          <a:xfrm>
            <a:off x="7538760" y="359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bk object 173"/>
          <p:cNvSpPr/>
          <p:nvPr/>
        </p:nvSpPr>
        <p:spPr>
          <a:xfrm>
            <a:off x="7596720" y="3485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bk object 174"/>
          <p:cNvSpPr/>
          <p:nvPr/>
        </p:nvSpPr>
        <p:spPr>
          <a:xfrm>
            <a:off x="7657560" y="3366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bk object 175"/>
          <p:cNvSpPr/>
          <p:nvPr/>
        </p:nvSpPr>
        <p:spPr>
          <a:xfrm>
            <a:off x="7715520" y="323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bk object 176"/>
          <p:cNvSpPr/>
          <p:nvPr/>
        </p:nvSpPr>
        <p:spPr>
          <a:xfrm>
            <a:off x="7773480" y="3098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bk object 177"/>
          <p:cNvSpPr/>
          <p:nvPr/>
        </p:nvSpPr>
        <p:spPr>
          <a:xfrm>
            <a:off x="7834320" y="2942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bk object 178"/>
          <p:cNvSpPr/>
          <p:nvPr/>
        </p:nvSpPr>
        <p:spPr>
          <a:xfrm>
            <a:off x="7892280" y="2768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bk object 179"/>
          <p:cNvSpPr/>
          <p:nvPr/>
        </p:nvSpPr>
        <p:spPr>
          <a:xfrm>
            <a:off x="7953480" y="2576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bk object 180"/>
          <p:cNvSpPr/>
          <p:nvPr/>
        </p:nvSpPr>
        <p:spPr>
          <a:xfrm>
            <a:off x="8011080" y="2357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08">
                <a:moveTo>
                  <a:pt x="0" y="0"/>
                </a:moveTo>
                <a:lnTo>
                  <a:pt x="2908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bk object 181"/>
          <p:cNvSpPr/>
          <p:nvPr/>
        </p:nvSpPr>
        <p:spPr>
          <a:xfrm>
            <a:off x="8071920" y="211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bk object 182"/>
          <p:cNvSpPr/>
          <p:nvPr/>
        </p:nvSpPr>
        <p:spPr>
          <a:xfrm>
            <a:off x="8129880" y="1830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bk object 183"/>
          <p:cNvSpPr/>
          <p:nvPr/>
        </p:nvSpPr>
        <p:spPr>
          <a:xfrm>
            <a:off x="8187840" y="150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bk object 184"/>
          <p:cNvSpPr/>
          <p:nvPr/>
        </p:nvSpPr>
        <p:spPr>
          <a:xfrm>
            <a:off x="8248680" y="1128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bk object 185"/>
          <p:cNvSpPr/>
          <p:nvPr/>
        </p:nvSpPr>
        <p:spPr>
          <a:xfrm>
            <a:off x="8306640" y="68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bk object 186"/>
          <p:cNvSpPr/>
          <p:nvPr/>
        </p:nvSpPr>
        <p:spPr>
          <a:xfrm>
            <a:off x="2387520" y="695160"/>
            <a:ext cx="5905800" cy="4843440"/>
          </a:xfrm>
          <a:custGeom>
            <a:avLst/>
            <a:gdLst>
              <a:gd name="textAreaLeft" fmla="*/ 0 w 5905800"/>
              <a:gd name="textAreaRight" fmla="*/ 5906520 w 5905800"/>
              <a:gd name="textAreaTop" fmla="*/ 0 h 4843440"/>
              <a:gd name="textAreaBottom" fmla="*/ 4844160 h 4843440"/>
            </a:gdLst>
            <a:ahLst/>
            <a:cxnLst/>
            <a:rect l="textAreaLeft" t="textAreaTop" r="textAreaRight" b="textAreaBottom"/>
            <a:pathLst>
              <a:path w="5906515" h="4844288">
                <a:moveTo>
                  <a:pt x="0" y="4844288"/>
                </a:moveTo>
                <a:lnTo>
                  <a:pt x="60832" y="4838319"/>
                </a:lnTo>
                <a:lnTo>
                  <a:pt x="118617" y="4832350"/>
                </a:lnTo>
                <a:lnTo>
                  <a:pt x="179450" y="4829429"/>
                </a:lnTo>
                <a:lnTo>
                  <a:pt x="237235" y="4823459"/>
                </a:lnTo>
                <a:lnTo>
                  <a:pt x="295020" y="4817491"/>
                </a:lnTo>
                <a:lnTo>
                  <a:pt x="355853" y="4811521"/>
                </a:lnTo>
                <a:lnTo>
                  <a:pt x="413638" y="4808601"/>
                </a:lnTo>
                <a:lnTo>
                  <a:pt x="474471" y="4802632"/>
                </a:lnTo>
                <a:lnTo>
                  <a:pt x="532256" y="4796663"/>
                </a:lnTo>
                <a:lnTo>
                  <a:pt x="593089" y="4790694"/>
                </a:lnTo>
                <a:lnTo>
                  <a:pt x="650874" y="4784725"/>
                </a:lnTo>
                <a:lnTo>
                  <a:pt x="708659" y="4778756"/>
                </a:lnTo>
                <a:lnTo>
                  <a:pt x="769492" y="4772786"/>
                </a:lnTo>
                <a:lnTo>
                  <a:pt x="827277" y="4766818"/>
                </a:lnTo>
                <a:lnTo>
                  <a:pt x="888110" y="4760849"/>
                </a:lnTo>
                <a:lnTo>
                  <a:pt x="1003680" y="4748910"/>
                </a:lnTo>
                <a:lnTo>
                  <a:pt x="1064513" y="4739894"/>
                </a:lnTo>
                <a:lnTo>
                  <a:pt x="1122298" y="4733925"/>
                </a:lnTo>
                <a:lnTo>
                  <a:pt x="1183131" y="4727956"/>
                </a:lnTo>
                <a:lnTo>
                  <a:pt x="1240916" y="4718938"/>
                </a:lnTo>
                <a:lnTo>
                  <a:pt x="1301749" y="4712970"/>
                </a:lnTo>
                <a:lnTo>
                  <a:pt x="1359534" y="4703953"/>
                </a:lnTo>
                <a:lnTo>
                  <a:pt x="1417319" y="4697983"/>
                </a:lnTo>
                <a:lnTo>
                  <a:pt x="1478152" y="4688967"/>
                </a:lnTo>
                <a:lnTo>
                  <a:pt x="1535937" y="4682998"/>
                </a:lnTo>
                <a:lnTo>
                  <a:pt x="1596770" y="4673981"/>
                </a:lnTo>
                <a:lnTo>
                  <a:pt x="1654555" y="4664963"/>
                </a:lnTo>
                <a:lnTo>
                  <a:pt x="1712340" y="4655947"/>
                </a:lnTo>
                <a:lnTo>
                  <a:pt x="1773173" y="4646930"/>
                </a:lnTo>
                <a:lnTo>
                  <a:pt x="1830958" y="4637912"/>
                </a:lnTo>
                <a:lnTo>
                  <a:pt x="1891791" y="4628896"/>
                </a:lnTo>
                <a:lnTo>
                  <a:pt x="1949576" y="4619879"/>
                </a:lnTo>
                <a:lnTo>
                  <a:pt x="2010409" y="4610861"/>
                </a:lnTo>
                <a:lnTo>
                  <a:pt x="2068194" y="4598797"/>
                </a:lnTo>
                <a:lnTo>
                  <a:pt x="2125979" y="4589780"/>
                </a:lnTo>
                <a:lnTo>
                  <a:pt x="2186812" y="4577715"/>
                </a:lnTo>
                <a:lnTo>
                  <a:pt x="2244597" y="4568698"/>
                </a:lnTo>
                <a:lnTo>
                  <a:pt x="2305430" y="4556633"/>
                </a:lnTo>
                <a:lnTo>
                  <a:pt x="2363215" y="4544568"/>
                </a:lnTo>
                <a:lnTo>
                  <a:pt x="2424048" y="4532503"/>
                </a:lnTo>
                <a:lnTo>
                  <a:pt x="2481833" y="4520437"/>
                </a:lnTo>
                <a:lnTo>
                  <a:pt x="2539618" y="4508373"/>
                </a:lnTo>
                <a:lnTo>
                  <a:pt x="2600451" y="4496308"/>
                </a:lnTo>
                <a:lnTo>
                  <a:pt x="2658236" y="4481195"/>
                </a:lnTo>
                <a:lnTo>
                  <a:pt x="2719069" y="4469130"/>
                </a:lnTo>
                <a:lnTo>
                  <a:pt x="2776854" y="4454017"/>
                </a:lnTo>
                <a:lnTo>
                  <a:pt x="2834639" y="4438904"/>
                </a:lnTo>
                <a:lnTo>
                  <a:pt x="2895472" y="4423791"/>
                </a:lnTo>
                <a:lnTo>
                  <a:pt x="2953257" y="4408678"/>
                </a:lnTo>
                <a:lnTo>
                  <a:pt x="3014090" y="4390517"/>
                </a:lnTo>
                <a:lnTo>
                  <a:pt x="3071875" y="4375404"/>
                </a:lnTo>
                <a:lnTo>
                  <a:pt x="3132708" y="4357243"/>
                </a:lnTo>
                <a:lnTo>
                  <a:pt x="3190493" y="4339082"/>
                </a:lnTo>
                <a:lnTo>
                  <a:pt x="3248278" y="4320921"/>
                </a:lnTo>
                <a:lnTo>
                  <a:pt x="3309111" y="4302759"/>
                </a:lnTo>
                <a:lnTo>
                  <a:pt x="3366896" y="4281551"/>
                </a:lnTo>
                <a:lnTo>
                  <a:pt x="3427729" y="4260342"/>
                </a:lnTo>
                <a:lnTo>
                  <a:pt x="3543299" y="4217924"/>
                </a:lnTo>
                <a:lnTo>
                  <a:pt x="3604132" y="4193666"/>
                </a:lnTo>
                <a:lnTo>
                  <a:pt x="3661917" y="4169409"/>
                </a:lnTo>
                <a:lnTo>
                  <a:pt x="3722750" y="4145153"/>
                </a:lnTo>
                <a:lnTo>
                  <a:pt x="3780535" y="4117721"/>
                </a:lnTo>
                <a:lnTo>
                  <a:pt x="3841368" y="4090288"/>
                </a:lnTo>
                <a:lnTo>
                  <a:pt x="3899153" y="4062856"/>
                </a:lnTo>
                <a:lnTo>
                  <a:pt x="3956938" y="4032504"/>
                </a:lnTo>
                <a:lnTo>
                  <a:pt x="4017771" y="3999103"/>
                </a:lnTo>
                <a:lnTo>
                  <a:pt x="4075556" y="3968750"/>
                </a:lnTo>
                <a:lnTo>
                  <a:pt x="4136389" y="3932301"/>
                </a:lnTo>
                <a:lnTo>
                  <a:pt x="4194174" y="3895852"/>
                </a:lnTo>
                <a:lnTo>
                  <a:pt x="4255007" y="3859403"/>
                </a:lnTo>
                <a:lnTo>
                  <a:pt x="4312792" y="3819779"/>
                </a:lnTo>
                <a:lnTo>
                  <a:pt x="4370577" y="3777221"/>
                </a:lnTo>
                <a:lnTo>
                  <a:pt x="4431410" y="3731641"/>
                </a:lnTo>
                <a:lnTo>
                  <a:pt x="4489195" y="3686048"/>
                </a:lnTo>
                <a:lnTo>
                  <a:pt x="4550028" y="3634231"/>
                </a:lnTo>
                <a:lnTo>
                  <a:pt x="4607812" y="3582416"/>
                </a:lnTo>
                <a:lnTo>
                  <a:pt x="4665598" y="3524630"/>
                </a:lnTo>
                <a:lnTo>
                  <a:pt x="4726431" y="3466846"/>
                </a:lnTo>
                <a:lnTo>
                  <a:pt x="4784216" y="3402837"/>
                </a:lnTo>
                <a:lnTo>
                  <a:pt x="4845049" y="3332860"/>
                </a:lnTo>
                <a:lnTo>
                  <a:pt x="4902834" y="3259835"/>
                </a:lnTo>
                <a:lnTo>
                  <a:pt x="4963667" y="3180587"/>
                </a:lnTo>
                <a:lnTo>
                  <a:pt x="5021452" y="3098418"/>
                </a:lnTo>
                <a:lnTo>
                  <a:pt x="5079237" y="3007105"/>
                </a:lnTo>
                <a:lnTo>
                  <a:pt x="5140070" y="2906649"/>
                </a:lnTo>
                <a:lnTo>
                  <a:pt x="5197855" y="2799968"/>
                </a:lnTo>
                <a:lnTo>
                  <a:pt x="5258687" y="2681224"/>
                </a:lnTo>
                <a:lnTo>
                  <a:pt x="5316473" y="2553207"/>
                </a:lnTo>
                <a:lnTo>
                  <a:pt x="5374258" y="2413127"/>
                </a:lnTo>
                <a:lnTo>
                  <a:pt x="5435091" y="2257679"/>
                </a:lnTo>
                <a:lnTo>
                  <a:pt x="5492875" y="2084069"/>
                </a:lnTo>
                <a:lnTo>
                  <a:pt x="5553709" y="1892172"/>
                </a:lnTo>
                <a:lnTo>
                  <a:pt x="5611494" y="1672716"/>
                </a:lnTo>
                <a:lnTo>
                  <a:pt x="5672327" y="1425955"/>
                </a:lnTo>
                <a:lnTo>
                  <a:pt x="5730112" y="1145666"/>
                </a:lnTo>
                <a:lnTo>
                  <a:pt x="5787897" y="822705"/>
                </a:lnTo>
                <a:lnTo>
                  <a:pt x="5848730" y="444880"/>
                </a:lnTo>
                <a:lnTo>
                  <a:pt x="5906515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bk object 187"/>
          <p:cNvSpPr/>
          <p:nvPr/>
        </p:nvSpPr>
        <p:spPr>
          <a:xfrm>
            <a:off x="3711600" y="1895040"/>
            <a:ext cx="2564640" cy="659520"/>
          </a:xfrm>
          <a:custGeom>
            <a:avLst/>
            <a:gdLst>
              <a:gd name="textAreaLeft" fmla="*/ 0 w 2564640"/>
              <a:gd name="textAreaRight" fmla="*/ 2565360 w 2564640"/>
              <a:gd name="textAreaTop" fmla="*/ 0 h 659520"/>
              <a:gd name="textAreaBottom" fmla="*/ 660240 h 659520"/>
            </a:gdLst>
            <a:ahLst/>
            <a:cxnLst/>
            <a:rect l="textAreaLeft" t="textAreaTop" r="textAreaRight" b="textAreaBottom"/>
            <a:pathLst>
              <a:path w="2565400" h="660400">
                <a:moveTo>
                  <a:pt x="0" y="660400"/>
                </a:moveTo>
                <a:lnTo>
                  <a:pt x="2565400" y="660400"/>
                </a:lnTo>
                <a:lnTo>
                  <a:pt x="2565400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10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dt" idx="11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12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61F9705-5889-4F40-9C66-F2C11886F55A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ftr" idx="13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dt" idx="14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5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EBD7EAC-8FD1-4434-9C95-79BE485A3A12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1840" cy="12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02920" y="1818720"/>
            <a:ext cx="9051840" cy="45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9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1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3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5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7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9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1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3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4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5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6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9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1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9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1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3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5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1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3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4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6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7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8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1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3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8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efault 9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0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Functions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Where We Left Off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Variables</a:t>
            </a:r>
            <a:r>
              <a:rPr sz="2800" b="0">
                <a:latin typeface="Cambria"/>
              </a:rPr>
              <a:t>, </a:t>
            </a:r>
            <a:r>
              <a:rPr sz="2800" b="1">
                <a:latin typeface="Cambria"/>
              </a:rPr>
              <a:t>structs</a:t>
            </a:r>
            <a:r>
              <a:rPr sz="2800" b="0">
                <a:latin typeface="Cambria"/>
              </a:rPr>
              <a:t>, and </a:t>
            </a:r>
            <a:r>
              <a:rPr sz="2800" b="1">
                <a:latin typeface="Cambria"/>
              </a:rPr>
              <a:t>arrays</a:t>
            </a:r>
            <a:r>
              <a:rPr sz="2800" b="0">
                <a:latin typeface="Cambria"/>
              </a:rPr>
              <a:t> hold data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Operators</a:t>
            </a:r>
            <a:r>
              <a:rPr sz="2800" b="0">
                <a:latin typeface="Cambria"/>
              </a:rPr>
              <a:t> compute new values from them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Every statement so far has lived in </a:t>
            </a:r>
            <a:r>
              <a:rPr sz="2800" b="1">
                <a:latin typeface="Cambria"/>
              </a:rPr>
              <a:t>main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Real programs have thousands of statements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Same Code, Three Times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psi1 = ( 2736.0f - counts1 ) / 25.6f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psi2 = ( 2736.0f - counts2 ) / 25.6f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psi3 = ( 2736.0f - counts3 ) / 25.6f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Find the calibration error - fix it three times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Miss one, and two readings are wrong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Group Statements Under a Name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A </a:t>
            </a:r>
            <a:r>
              <a:rPr sz="2800" b="1">
                <a:latin typeface="Cambria"/>
              </a:rPr>
              <a:t>function</a:t>
            </a:r>
            <a:r>
              <a:rPr sz="2800" b="0">
                <a:latin typeface="Cambria"/>
              </a:rPr>
              <a:t> is a named block of statements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Write it </a:t>
            </a:r>
            <a:r>
              <a:rPr sz="2800" b="1">
                <a:latin typeface="Cambria"/>
              </a:rPr>
              <a:t>once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Call</a:t>
            </a:r>
            <a:r>
              <a:rPr sz="2800" b="0">
                <a:latin typeface="Cambria"/>
              </a:rPr>
              <a:t> it by name as many times as you need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It can take inputs and give back a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Why Functions?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834640" algn="l"/>
              </a:tabLst>
            </a:pPr>
            <a:r>
              <a:rPr sz="2600" b="1">
                <a:latin typeface="Cambria"/>
              </a:rPr>
              <a:t>Reuse</a:t>
            </a:r>
            <a:r>
              <a:rPr sz="2600" b="0">
                <a:latin typeface="Cambria"/>
              </a:rPr>
              <a:t>	write once, call many times</a:t>
            </a:r>
          </a:p>
          <a:p>
            <a:pPr>
              <a:tabLst>
                <a:tab pos="283464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834640" algn="l"/>
              </a:tabLst>
            </a:pPr>
            <a:r>
              <a:rPr sz="2600" b="1">
                <a:latin typeface="Cambria"/>
              </a:rPr>
              <a:t>Name an idea</a:t>
            </a:r>
            <a:r>
              <a:rPr sz="2600" b="0">
                <a:latin typeface="Cambria"/>
              </a:rPr>
              <a:t>	adc_to_psi says what it does</a:t>
            </a:r>
          </a:p>
          <a:p>
            <a:pPr>
              <a:tabLst>
                <a:tab pos="283464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834640" algn="l"/>
              </a:tabLst>
            </a:pPr>
            <a:r>
              <a:rPr sz="2600" b="1">
                <a:latin typeface="Cambria"/>
              </a:rPr>
              <a:t>Test</a:t>
            </a:r>
            <a:r>
              <a:rPr sz="2600" b="0">
                <a:latin typeface="Cambria"/>
              </a:rPr>
              <a:t>	check one small piece at a time</a:t>
            </a:r>
          </a:p>
          <a:p>
            <a:pPr>
              <a:tabLst>
                <a:tab pos="283464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834640" algn="l"/>
              </a:tabLst>
            </a:pPr>
            <a:r>
              <a:rPr sz="2600" b="1">
                <a:latin typeface="Cambria"/>
              </a:rPr>
              <a:t>Hide detail</a:t>
            </a:r>
            <a:r>
              <a:rPr sz="2600" b="0">
                <a:latin typeface="Cambria"/>
              </a:rPr>
              <a:t>	the caller need not know how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Anatomy of a Function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840480" algn="l"/>
              </a:tabLst>
            </a:pPr>
            <a:r>
              <a:rPr sz="2400" b="1">
                <a:latin typeface="Cambria"/>
              </a:rPr>
              <a:t>float</a:t>
            </a:r>
            <a:r>
              <a:rPr sz="2400" b="0">
                <a:latin typeface="Cambria"/>
              </a:rPr>
              <a:t>	return type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400" b="1">
                <a:latin typeface="Cambria"/>
              </a:rPr>
              <a:t>adc_to_psi</a:t>
            </a:r>
            <a:r>
              <a:rPr sz="2400" b="0">
                <a:latin typeface="Cambria"/>
              </a:rPr>
              <a:t>	name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400" b="1">
                <a:latin typeface="Cambria"/>
              </a:rPr>
              <a:t>( uint32_t counts )</a:t>
            </a:r>
            <a:r>
              <a:rPr sz="2400" b="0">
                <a:latin typeface="Cambria"/>
              </a:rPr>
              <a:t>	parameter list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400" b="1">
                <a:latin typeface="Cambria"/>
              </a:rPr>
              <a:t>{ ... }</a:t>
            </a:r>
            <a:r>
              <a:rPr sz="2400" b="0">
                <a:latin typeface="Cambria"/>
              </a:rPr>
              <a:t>	body - the statements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400" b="0">
                <a:latin typeface="Cambria"/>
              </a:rPr>
              <a:t>float adc_to_psi ( uint32_t counts ) {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400" b="0">
                <a:latin typeface="Cambria"/>
              </a:rPr>
              <a:t>	return ( 2736.0f - (float) counts ) / 25.6f ;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400" b="0">
                <a:latin typeface="Cambria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Function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3931920" algn="l"/>
              </a:tabLst>
            </a:pPr>
            <a:r>
              <a:rPr sz="2400" b="0">
                <a:latin typeface="Cambria"/>
              </a:rPr>
              <a:t>#define ZERO_PSI_COUNTS	2736.0f</a:t>
            </a:r>
          </a:p>
          <a:p>
            <a:pPr>
              <a:tabLst>
                <a:tab pos="548640" algn="l"/>
                <a:tab pos="1097280" algn="l"/>
                <a:tab pos="3931920" algn="l"/>
              </a:tabLst>
            </a:pPr>
            <a:r>
              <a:rPr sz="2400" b="0">
                <a:latin typeface="Cambria"/>
              </a:rPr>
              <a:t>#define COUNTS_PER_PSI	25.6f</a:t>
            </a:r>
          </a:p>
          <a:p>
            <a:pPr>
              <a:tabLst>
                <a:tab pos="548640" algn="l"/>
                <a:tab pos="1097280" algn="l"/>
                <a:tab pos="39319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3931920" algn="l"/>
              </a:tabLst>
            </a:pPr>
            <a:r>
              <a:rPr sz="2400" b="0">
                <a:latin typeface="Cambria"/>
              </a:rPr>
              <a:t>float adc_to_psi ( uint32_t counts ) {</a:t>
            </a:r>
          </a:p>
          <a:p>
            <a:pPr>
              <a:tabLst>
                <a:tab pos="548640" algn="l"/>
                <a:tab pos="1097280" algn="l"/>
                <a:tab pos="3931920" algn="l"/>
              </a:tabLst>
            </a:pPr>
            <a:r>
              <a:rPr sz="2400" b="0">
                <a:latin typeface="Cambria"/>
              </a:rPr>
              <a:t>	return ( ZERO_PSI_COUNTS - (float) counts )</a:t>
            </a:r>
          </a:p>
          <a:p>
            <a:pPr>
              <a:tabLst>
                <a:tab pos="548640" algn="l"/>
                <a:tab pos="1097280" algn="l"/>
                <a:tab pos="3931920" algn="l"/>
              </a:tabLst>
            </a:pPr>
            <a:r>
              <a:rPr sz="2400" b="0">
                <a:latin typeface="Cambria"/>
              </a:rPr>
              <a:t>		/ COUNTS_PER_PSI ;</a:t>
            </a:r>
          </a:p>
          <a:p>
            <a:pPr>
              <a:tabLst>
                <a:tab pos="548640" algn="l"/>
                <a:tab pos="1097280" algn="l"/>
                <a:tab pos="3931920" algn="l"/>
              </a:tabLst>
            </a:pPr>
            <a:r>
              <a:rPr sz="2400" b="0">
                <a:latin typeface="Cambria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Function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4480560" algn="l"/>
              </a:tabLst>
            </a:pPr>
            <a:r>
              <a:rPr sz="2400" b="0">
                <a:latin typeface="Cambria"/>
              </a:rPr>
              <a:t>constexpr float ZERO_PSI_COUNTS	= 2736.0f ;</a:t>
            </a:r>
          </a:p>
          <a:p>
            <a:pPr>
              <a:tabLst>
                <a:tab pos="548640" algn="l"/>
                <a:tab pos="1097280" algn="l"/>
                <a:tab pos="4480560" algn="l"/>
              </a:tabLst>
            </a:pPr>
            <a:r>
              <a:rPr sz="2400" b="0">
                <a:latin typeface="Cambria"/>
              </a:rPr>
              <a:t>constexpr float COUNTS_PER_PSI	= 25.6f ;</a:t>
            </a:r>
          </a:p>
          <a:p>
            <a:pPr>
              <a:tabLst>
                <a:tab pos="548640" algn="l"/>
                <a:tab pos="1097280" algn="l"/>
                <a:tab pos="4480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4480560" algn="l"/>
              </a:tabLst>
            </a:pPr>
            <a:r>
              <a:rPr sz="2400" b="0">
                <a:latin typeface="Cambria"/>
              </a:rPr>
              <a:t>float adc_to_psi ( uint32_t counts ) {</a:t>
            </a:r>
          </a:p>
          <a:p>
            <a:pPr>
              <a:tabLst>
                <a:tab pos="548640" algn="l"/>
                <a:tab pos="1097280" algn="l"/>
                <a:tab pos="4480560" algn="l"/>
              </a:tabLst>
            </a:pPr>
            <a:r>
              <a:rPr sz="2400" b="0">
                <a:latin typeface="Cambria"/>
              </a:rPr>
              <a:t>	return ( ZERO_PSI_COUNTS - (float) counts )</a:t>
            </a:r>
          </a:p>
          <a:p>
            <a:pPr>
              <a:tabLst>
                <a:tab pos="548640" algn="l"/>
                <a:tab pos="1097280" algn="l"/>
                <a:tab pos="4480560" algn="l"/>
              </a:tabLst>
            </a:pPr>
            <a:r>
              <a:rPr sz="2400" b="0">
                <a:latin typeface="Cambria"/>
              </a:rPr>
              <a:t>		/ COUNTS_PER_PSI ;</a:t>
            </a:r>
          </a:p>
          <a:p>
            <a:pPr>
              <a:tabLst>
                <a:tab pos="548640" algn="l"/>
                <a:tab pos="1097280" algn="l"/>
                <a:tab pos="4480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4480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4480560" algn="l"/>
              </a:tabLst>
            </a:pPr>
            <a:r>
              <a:rPr sz="2400" b="0">
                <a:latin typeface="Cambria"/>
              </a:rPr>
              <a:t>The function itself is the same as 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Function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const ZERO_PSI_COUNTS : f32 = 2736.0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const COUNTS_PER_PSI : f32 = 25.6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fn adc_to_psi ( counts : u32 ) -&gt; f32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( ZERO_PSI_COUNTS - counts as f32 ) / COUNTS_PER_PSI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1">
                <a:latin typeface="Cambria"/>
              </a:rPr>
              <a:t>fn</a:t>
            </a:r>
            <a:r>
              <a:rPr sz="2400" b="0">
                <a:latin typeface="Cambria"/>
              </a:rPr>
              <a:t> keyword,  name : type,  return type after </a:t>
            </a:r>
            <a:r>
              <a:rPr sz="2400" b="1">
                <a:latin typeface="Cambria"/>
              </a:rPr>
              <a:t>-&gt;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Returning a Value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C, C++, Rust: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	</a:t>
            </a:r>
            <a:r>
              <a:rPr sz="2600" b="1" dirty="0">
                <a:latin typeface="Cambria"/>
              </a:rPr>
              <a:t>return</a:t>
            </a:r>
            <a:r>
              <a:rPr sz="2600" b="0" dirty="0">
                <a:latin typeface="Cambria"/>
              </a:rPr>
              <a:t> value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Rust also allows a final </a:t>
            </a:r>
            <a:r>
              <a:rPr sz="2600" b="1" dirty="0">
                <a:latin typeface="Cambria"/>
              </a:rPr>
              <a:t>expression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with no semicolon: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	</a:t>
            </a:r>
            <a:r>
              <a:rPr sz="2600" b="0" dirty="0" err="1">
                <a:latin typeface="Cambria"/>
              </a:rPr>
              <a:t>fn</a:t>
            </a:r>
            <a:r>
              <a:rPr sz="2600" b="0" dirty="0">
                <a:latin typeface="Cambria"/>
              </a:rPr>
              <a:t> square ( x : i32 ) -&gt; i32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		x * x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 dirty="0">
                <a:latin typeface="Cambria"/>
              </a:rPr>
              <a:t>	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Functions That Return Nothing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C, C++: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void show ( float psi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printf ( "%.1f psi\n", 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Rust: leave off the -&gt;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fn show ( psi : f32 )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println! ( "{:.1} psi", 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Calling a Function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846320" algn="l"/>
              </a:tabLst>
            </a:pPr>
            <a:r>
              <a:rPr sz="2400" b="0">
                <a:latin typeface="Cambria"/>
              </a:rPr>
              <a:t>psi = adc_to_psi ( 1456 ) ;	50.0</a:t>
            </a:r>
          </a:p>
          <a:p>
            <a:pPr>
              <a:tabLst>
                <a:tab pos="48463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4846320" algn="l"/>
              </a:tabLst>
            </a:pPr>
            <a:r>
              <a:rPr sz="2400" b="0">
                <a:latin typeface="Cambria"/>
              </a:rPr>
              <a:t>my_sample.psi = adc_to_psi ( my_sample.adc_counts ) ;</a:t>
            </a:r>
          </a:p>
          <a:p>
            <a:pPr>
              <a:tabLst>
                <a:tab pos="48463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4846320" algn="l"/>
              </a:tabLst>
            </a:pPr>
            <a:r>
              <a:rPr sz="2400" b="0">
                <a:latin typeface="Cambria"/>
              </a:rPr>
              <a:t>show ( adc_to_psi ( 1200 ) ) ;	60.0 psi</a:t>
            </a:r>
          </a:p>
          <a:p>
            <a:pPr>
              <a:tabLst>
                <a:tab pos="48463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4846320" algn="l"/>
              </a:tabLst>
            </a:pPr>
            <a:r>
              <a:rPr sz="2400" b="0">
                <a:latin typeface="Cambria"/>
              </a:rPr>
              <a:t>Same syntax in C, C++, and Rust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Declare Before Use: C,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0" y="1949942"/>
            <a:ext cx="909490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The compiler reads the file </a:t>
            </a:r>
            <a:r>
              <a:rPr sz="2400" b="1" dirty="0">
                <a:latin typeface="Cambria"/>
              </a:rPr>
              <a:t>top to bottom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A call to a function it has not seen yet is an </a:t>
            </a:r>
            <a:r>
              <a:rPr sz="2400" b="1" dirty="0">
                <a:latin typeface="Cambria"/>
              </a:rPr>
              <a:t>error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Fix it with a </a:t>
            </a:r>
            <a:r>
              <a:rPr sz="2400" b="1" dirty="0">
                <a:latin typeface="Cambria"/>
              </a:rPr>
              <a:t>prototype</a:t>
            </a:r>
            <a:r>
              <a:rPr sz="2400" b="0" dirty="0">
                <a:latin typeface="Cambria"/>
              </a:rPr>
              <a:t> - the signature alone: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	float </a:t>
            </a:r>
            <a:r>
              <a:rPr sz="2400" b="0" dirty="0" err="1">
                <a:latin typeface="Cambria"/>
              </a:rPr>
              <a:t>adc_to_psi</a:t>
            </a:r>
            <a:r>
              <a:rPr sz="2400" b="0" dirty="0">
                <a:latin typeface="Cambria"/>
              </a:rPr>
              <a:t> ( uint32_t counts ) </a:t>
            </a:r>
            <a:r>
              <a:rPr sz="2400" b="0" dirty="0" smtClean="0">
                <a:latin typeface="Cambria"/>
              </a:rPr>
              <a:t>;</a:t>
            </a:r>
            <a:endParaRPr lang="en-US" sz="2400" b="0" dirty="0" smtClean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endParaRPr lang="en-US" sz="2400" dirty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lang="en-US" sz="2400" b="0" dirty="0" smtClean="0">
                <a:latin typeface="Cambria"/>
              </a:rPr>
              <a:t>Better yet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endParaRPr lang="en-US" sz="2400" dirty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lang="en-US" sz="2400" b="1" dirty="0">
                <a:latin typeface="Cambria"/>
              </a:rPr>
              <a:t>e</a:t>
            </a:r>
            <a:r>
              <a:rPr lang="en-US" sz="2400" b="1" dirty="0" smtClean="0">
                <a:latin typeface="Cambria"/>
              </a:rPr>
              <a:t>xtern</a:t>
            </a:r>
            <a:r>
              <a:rPr lang="en-US" sz="2400" b="0" dirty="0" smtClean="0">
                <a:latin typeface="Cambria"/>
              </a:rPr>
              <a:t> float </a:t>
            </a:r>
            <a:r>
              <a:rPr lang="en-US" sz="2400" b="0" dirty="0" err="1" smtClean="0">
                <a:latin typeface="Cambria"/>
              </a:rPr>
              <a:t>adc_to_psi</a:t>
            </a:r>
            <a:r>
              <a:rPr lang="en-US" sz="2400" b="0" dirty="0" smtClean="0">
                <a:latin typeface="Cambria"/>
              </a:rPr>
              <a:t>( uint32_t counts ) ; </a:t>
            </a:r>
            <a:r>
              <a:rPr lang="en-US" sz="1600" b="0" dirty="0" smtClean="0">
                <a:latin typeface="Cambria"/>
              </a:rPr>
              <a:t>// not necessary but shows intention</a:t>
            </a:r>
            <a:endParaRPr sz="1600" b="0" dirty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Rust does not care about order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Prototypes Go in a Header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 err="1">
                <a:latin typeface="Cambria"/>
              </a:rPr>
              <a:t>sensor.h</a:t>
            </a:r>
            <a:endParaRPr sz="2400" b="0" dirty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	#</a:t>
            </a:r>
            <a:r>
              <a:rPr sz="2400" b="0" dirty="0" err="1">
                <a:latin typeface="Cambria"/>
              </a:rPr>
              <a:t>ifndef</a:t>
            </a:r>
            <a:r>
              <a:rPr sz="2400" b="0" dirty="0">
                <a:latin typeface="Cambria"/>
              </a:rPr>
              <a:t> SENSOR_H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	#define SENSOR_H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	</a:t>
            </a:r>
            <a:r>
              <a:rPr sz="2400" b="0" dirty="0" smtClean="0">
                <a:latin typeface="Cambria"/>
              </a:rPr>
              <a:t>float </a:t>
            </a:r>
            <a:r>
              <a:rPr sz="2400" b="0" dirty="0" err="1">
                <a:latin typeface="Cambria"/>
              </a:rPr>
              <a:t>adc_to_psi</a:t>
            </a:r>
            <a:r>
              <a:rPr sz="2400" b="0" dirty="0">
                <a:latin typeface="Cambria"/>
              </a:rPr>
              <a:t> ( uint32_t counts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	#</a:t>
            </a:r>
            <a:r>
              <a:rPr sz="2400" b="0" dirty="0" err="1">
                <a:latin typeface="Cambria"/>
              </a:rPr>
              <a:t>endif</a:t>
            </a:r>
            <a:endParaRPr sz="2400" b="0" dirty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 err="1">
                <a:latin typeface="Cambria"/>
              </a:rPr>
              <a:t>main.c</a:t>
            </a:r>
            <a:endParaRPr sz="2400" b="0" dirty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	#include "</a:t>
            </a:r>
            <a:r>
              <a:rPr sz="2400" b="0" dirty="0" err="1">
                <a:latin typeface="Cambria"/>
              </a:rPr>
              <a:t>sensor.h</a:t>
            </a:r>
            <a:r>
              <a:rPr sz="2400" b="0" dirty="0">
                <a:latin typeface="Cambria"/>
              </a:rPr>
              <a:t>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Using extern in Prototypes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 err="1">
                <a:latin typeface="Cambria"/>
              </a:rPr>
              <a:t>sensor.h</a:t>
            </a:r>
            <a:endParaRPr sz="2400" b="0" dirty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	#</a:t>
            </a:r>
            <a:r>
              <a:rPr sz="2400" b="0" dirty="0" err="1">
                <a:latin typeface="Cambria"/>
              </a:rPr>
              <a:t>ifndef</a:t>
            </a:r>
            <a:r>
              <a:rPr sz="2400" b="0" dirty="0">
                <a:latin typeface="Cambria"/>
              </a:rPr>
              <a:t> SENSOR_H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	#define SENSOR_H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	</a:t>
            </a:r>
            <a:r>
              <a:rPr lang="en-US" sz="2400" b="1" dirty="0" smtClean="0">
                <a:latin typeface="Cambria"/>
              </a:rPr>
              <a:t>extern</a:t>
            </a:r>
            <a:r>
              <a:rPr lang="en-US" sz="2400" b="0" dirty="0" smtClean="0">
                <a:latin typeface="Cambria"/>
              </a:rPr>
              <a:t> </a:t>
            </a:r>
            <a:r>
              <a:rPr sz="2400" b="0" dirty="0" smtClean="0">
                <a:latin typeface="Cambria"/>
              </a:rPr>
              <a:t>float </a:t>
            </a:r>
            <a:r>
              <a:rPr sz="2400" b="0" dirty="0" err="1">
                <a:latin typeface="Cambria"/>
              </a:rPr>
              <a:t>adc_to_psi</a:t>
            </a:r>
            <a:r>
              <a:rPr sz="2400" b="0" dirty="0">
                <a:latin typeface="Cambria"/>
              </a:rPr>
              <a:t> ( uint32_t counts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	#</a:t>
            </a:r>
            <a:r>
              <a:rPr sz="2400" b="0" dirty="0" err="1">
                <a:latin typeface="Cambria"/>
              </a:rPr>
              <a:t>endif</a:t>
            </a:r>
            <a:endParaRPr sz="2400" b="0" dirty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dirty="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 err="1">
                <a:latin typeface="Cambria"/>
              </a:rPr>
              <a:t>main.c</a:t>
            </a:r>
            <a:endParaRPr sz="2400" b="0" dirty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 dirty="0">
                <a:latin typeface="Cambria"/>
              </a:rPr>
              <a:t>	#include "</a:t>
            </a:r>
            <a:r>
              <a:rPr sz="2400" b="0" dirty="0" err="1">
                <a:latin typeface="Cambria"/>
              </a:rPr>
              <a:t>sensor.h</a:t>
            </a:r>
            <a:r>
              <a:rPr sz="2400" b="0" dirty="0" smtClean="0">
                <a:latin typeface="Cambria"/>
              </a:rPr>
              <a:t>"</a:t>
            </a:r>
            <a:endParaRPr lang="en-US" sz="2400" b="0" dirty="0" smtClean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endParaRPr lang="en-US" sz="2400" dirty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endParaRPr lang="en-US" sz="2400" b="0" dirty="0" smtClean="0">
              <a:latin typeface="Cambria"/>
            </a:endParaRP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lang="en-US" sz="2400" dirty="0" smtClean="0">
                <a:latin typeface="Cambria"/>
              </a:rPr>
              <a:t>Extern shows that definition is elsewhere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lang="en-US" sz="2400" b="0" dirty="0" smtClean="0">
                <a:latin typeface="Cambria"/>
              </a:rPr>
              <a:t>Not necessary but useful for easier reading</a:t>
            </a:r>
            <a:endParaRPr sz="2400" b="0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14492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main is a Function Too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371600" algn="l"/>
              </a:tabLst>
            </a:pPr>
            <a:r>
              <a:rPr sz="2400" b="0">
                <a:latin typeface="Cambria"/>
              </a:rPr>
              <a:t>C:	int main ( void ) { ... return 0 ; }</a:t>
            </a:r>
          </a:p>
          <a:p>
            <a:pPr>
              <a:tabLst>
                <a:tab pos="1371600" algn="l"/>
              </a:tabLst>
            </a:pPr>
            <a:r>
              <a:rPr sz="2400" b="0">
                <a:latin typeface="Cambria"/>
              </a:rPr>
              <a:t>C++:	int main ( ) { ... return 0 ; }</a:t>
            </a:r>
          </a:p>
          <a:p>
            <a:pPr>
              <a:tabLst>
                <a:tab pos="1371600" algn="l"/>
              </a:tabLst>
            </a:pPr>
            <a:r>
              <a:rPr sz="2400" b="0">
                <a:latin typeface="Cambria"/>
              </a:rPr>
              <a:t>Rust:	fn main ( ) { ... }</a:t>
            </a:r>
          </a:p>
          <a:p>
            <a:pPr>
              <a:tabLst>
                <a:tab pos="13716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371600" algn="l"/>
              </a:tabLst>
            </a:pPr>
            <a:r>
              <a:rPr sz="2400" b="0">
                <a:latin typeface="Cambria"/>
              </a:rPr>
              <a:t>The operating system </a:t>
            </a:r>
            <a:r>
              <a:rPr sz="2400" b="1">
                <a:latin typeface="Cambria"/>
              </a:rPr>
              <a:t>calls</a:t>
            </a:r>
            <a:r>
              <a:rPr sz="2400" b="0">
                <a:latin typeface="Cambria"/>
              </a:rPr>
              <a:t> main</a:t>
            </a:r>
          </a:p>
          <a:p>
            <a:pPr>
              <a:tabLst>
                <a:tab pos="13716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371600" algn="l"/>
              </a:tabLst>
            </a:pPr>
            <a:r>
              <a:rPr sz="2400" b="0">
                <a:latin typeface="Cambria"/>
              </a:rPr>
              <a:t>Its return value is the </a:t>
            </a:r>
            <a:r>
              <a:rPr sz="2400" b="1">
                <a:latin typeface="Cambria"/>
              </a:rPr>
              <a:t>exit status</a:t>
            </a:r>
          </a:p>
          <a:p>
            <a:pPr>
              <a:tabLst>
                <a:tab pos="1371600" algn="l"/>
              </a:tabLst>
            </a:pPr>
            <a:r>
              <a:rPr sz="2400" b="0">
                <a:latin typeface="Cambria"/>
              </a:rPr>
              <a:t>	0 means success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Parameters and Arguments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926080" algn="l"/>
              </a:tabLst>
            </a:pPr>
            <a:r>
              <a:rPr sz="2600" b="1">
                <a:latin typeface="Cambria"/>
              </a:rPr>
              <a:t>Parameter</a:t>
            </a:r>
            <a:r>
              <a:rPr sz="2600" b="0">
                <a:latin typeface="Cambria"/>
              </a:rPr>
              <a:t>:  the name in the definition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 b="0">
                <a:latin typeface="Cambria"/>
              </a:rPr>
              <a:t>	float adc_to_psi ( uint32_t </a:t>
            </a:r>
            <a:r>
              <a:rPr sz="2600" b="1">
                <a:latin typeface="Cambria"/>
              </a:rPr>
              <a:t>counts</a:t>
            </a:r>
            <a:r>
              <a:rPr sz="2600" b="0">
                <a:latin typeface="Cambria"/>
              </a:rPr>
              <a:t> )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 b="1">
                <a:latin typeface="Cambria"/>
              </a:rPr>
              <a:t>Argument</a:t>
            </a:r>
            <a:r>
              <a:rPr sz="2600" b="0">
                <a:latin typeface="Cambria"/>
              </a:rPr>
              <a:t>:  the value in the call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 b="0">
                <a:latin typeface="Cambria"/>
              </a:rPr>
              <a:t>	adc_to_psi ( </a:t>
            </a:r>
            <a:r>
              <a:rPr sz="2600" b="1">
                <a:latin typeface="Cambria"/>
              </a:rPr>
              <a:t>1456</a:t>
            </a:r>
            <a:r>
              <a:rPr sz="2600" b="0">
                <a:latin typeface="Cambria"/>
              </a:rPr>
              <a:t> )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2926080" algn="l"/>
              </a:tabLst>
            </a:pPr>
            <a:r>
              <a:rPr sz="2600" b="0">
                <a:latin typeface="Cambria"/>
              </a:rPr>
              <a:t>When called:	counts &lt;= ( 1456 )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Parameters are Local Variables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Each call gets </a:t>
            </a:r>
            <a:r>
              <a:rPr sz="2800" b="1">
                <a:latin typeface="Cambria"/>
              </a:rPr>
              <a:t>fresh</a:t>
            </a:r>
            <a:r>
              <a:rPr sz="2800" b="0">
                <a:latin typeface="Cambria"/>
              </a:rPr>
              <a:t> parameters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They exist only while the function runs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Variables declared inside are </a:t>
            </a:r>
            <a:r>
              <a:rPr sz="2800" b="1">
                <a:latin typeface="Cambria"/>
              </a:rPr>
              <a:t>local</a:t>
            </a:r>
            <a:r>
              <a:rPr sz="2800" b="0">
                <a:latin typeface="Cambria"/>
              </a:rPr>
              <a:t> too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When the function returns, they are gone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Call Stack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Each call gets a </a:t>
            </a:r>
            <a:r>
              <a:rPr sz="2600" b="1">
                <a:latin typeface="Cambria"/>
              </a:rPr>
              <a:t>stack frame</a:t>
            </a:r>
            <a:r>
              <a:rPr sz="2600" b="0">
                <a:latin typeface="Cambria"/>
              </a:rPr>
              <a:t> in memory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2103120" y="2788920"/>
            <a:ext cx="4754880" cy="1655064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endParaRPr/>
          </a:p>
        </p:txBody>
      </p:sp>
      <p:sp>
        <p:nvSpPr>
          <p:cNvPr id="390" name="TextBox 389"/>
          <p:cNvSpPr txBox="1"/>
          <p:nvPr/>
        </p:nvSpPr>
        <p:spPr>
          <a:xfrm>
            <a:off x="2286000" y="288036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Cambria"/>
              </a:rPr>
              <a:t>frame:  adc_to_psi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2606039" y="326440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mbria"/>
              </a:rPr>
              <a:t>counts = 1456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2606039" y="363016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mbria"/>
              </a:rPr>
              <a:t>psi = 50.0   (local)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2606039" y="399592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mbria"/>
              </a:rPr>
              <a:t>return address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2103120" y="4608576"/>
            <a:ext cx="4754880" cy="1655064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endParaRPr/>
          </a:p>
        </p:txBody>
      </p:sp>
      <p:sp>
        <p:nvSpPr>
          <p:cNvPr id="395" name="TextBox 394"/>
          <p:cNvSpPr txBox="1"/>
          <p:nvPr/>
        </p:nvSpPr>
        <p:spPr>
          <a:xfrm>
            <a:off x="2286000" y="4700016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Cambria"/>
              </a:rPr>
              <a:t>frame:  main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2606039" y="5084064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mbria"/>
              </a:rPr>
              <a:t>my_sample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2606039" y="5449824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mbria"/>
              </a:rPr>
              <a:t>count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2606039" y="5815584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ambria"/>
              </a:rPr>
              <a:t>...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7086600" y="288036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Cambria"/>
              </a:rPr>
              <a:t>pushed by the call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7086600" y="315468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Cambria"/>
              </a:rPr>
              <a:t>popped by return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580041" y="6656832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Cambria"/>
              </a:rPr>
              <a:t>Parameters and locals vanish when the frame is popped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Scope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114800" algn="l"/>
              </a:tabLst>
            </a:pPr>
            <a:r>
              <a:rPr sz="2400" b="0">
                <a:latin typeface="Cambria"/>
              </a:rPr>
              <a:t>float adc_to_psi ( uint32_t counts ) {</a:t>
            </a:r>
          </a:p>
          <a:p>
            <a:pPr>
              <a:tabLst>
                <a:tab pos="548640" algn="l"/>
                <a:tab pos="4114800" algn="l"/>
              </a:tabLst>
            </a:pPr>
            <a:r>
              <a:rPr sz="2400" b="0">
                <a:latin typeface="Cambria"/>
              </a:rPr>
              <a:t>	float psi = ... ;	local</a:t>
            </a:r>
          </a:p>
          <a:p>
            <a:pPr>
              <a:tabLst>
                <a:tab pos="548640" algn="l"/>
                <a:tab pos="4114800" algn="l"/>
              </a:tabLst>
            </a:pPr>
            <a:r>
              <a:rPr sz="2400" b="0">
                <a:latin typeface="Cambria"/>
              </a:rPr>
              <a:t>	return psi ;</a:t>
            </a:r>
          </a:p>
          <a:p>
            <a:pPr>
              <a:tabLst>
                <a:tab pos="548640" algn="l"/>
                <a:tab pos="411480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41148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114800" algn="l"/>
              </a:tabLst>
            </a:pPr>
            <a:r>
              <a:rPr sz="2400" b="0">
                <a:latin typeface="Cambria"/>
              </a:rPr>
              <a:t>main cannot see </a:t>
            </a:r>
            <a:r>
              <a:rPr sz="2400" b="1">
                <a:latin typeface="Cambria"/>
              </a:rPr>
              <a:t>counts</a:t>
            </a:r>
            <a:r>
              <a:rPr sz="2400" b="0">
                <a:latin typeface="Cambria"/>
              </a:rPr>
              <a:t> or </a:t>
            </a:r>
            <a:r>
              <a:rPr sz="2400" b="1">
                <a:latin typeface="Cambria"/>
              </a:rPr>
              <a:t>psi</a:t>
            </a:r>
          </a:p>
          <a:p>
            <a:pPr>
              <a:tabLst>
                <a:tab pos="548640" algn="l"/>
                <a:tab pos="41148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114800" algn="l"/>
              </a:tabLst>
            </a:pPr>
            <a:r>
              <a:rPr sz="2400" b="0">
                <a:latin typeface="Cambria"/>
              </a:rPr>
              <a:t>Two functions may each have a variable named psi</a:t>
            </a:r>
          </a:p>
          <a:p>
            <a:pPr>
              <a:tabLst>
                <a:tab pos="548640" algn="l"/>
                <a:tab pos="4114800" algn="l"/>
              </a:tabLst>
            </a:pPr>
            <a:r>
              <a:rPr sz="2400" b="0">
                <a:latin typeface="Cambria"/>
              </a:rPr>
              <a:t>They are </a:t>
            </a:r>
            <a:r>
              <a:rPr sz="2400" b="1">
                <a:latin typeface="Cambria"/>
              </a:rPr>
              <a:t>different</a:t>
            </a:r>
            <a:r>
              <a:rPr sz="2400" b="0">
                <a:latin typeface="Cambria"/>
              </a:rPr>
              <a:t> variables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Pass by Value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The </a:t>
            </a:r>
            <a:r>
              <a:rPr sz="2600" b="1">
                <a:latin typeface="Cambria"/>
              </a:rPr>
              <a:t>contents</a:t>
            </a:r>
            <a:r>
              <a:rPr sz="2600" b="0">
                <a:latin typeface="Cambria"/>
              </a:rPr>
              <a:t> of the argument are copied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into the parameter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914400" y="315467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mbria"/>
              </a:rPr>
              <a:t>caller:  main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914400" y="3566160"/>
            <a:ext cx="2743200" cy="10972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Cambria"/>
              </a:rPr>
              <a:t>count</a:t>
            </a:r>
          </a:p>
          <a:p>
            <a:pPr algn="ctr"/>
            <a:r>
              <a:rPr sz="1700" i="1">
                <a:solidFill>
                  <a:srgbClr val="000000"/>
                </a:solidFill>
                <a:latin typeface="Cambria"/>
              </a:rPr>
              <a:t>5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6035040" y="315467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mbria"/>
              </a:rPr>
              <a:t>callee:  bump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6035040" y="3566160"/>
            <a:ext cx="2743200" cy="10972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Cambria"/>
              </a:rPr>
              <a:t>x</a:t>
            </a:r>
          </a:p>
          <a:p>
            <a:pPr algn="ctr"/>
            <a:r>
              <a:rPr sz="1700" i="1">
                <a:solidFill>
                  <a:srgbClr val="000000"/>
                </a:solidFill>
                <a:latin typeface="Cambria"/>
              </a:rPr>
              <a:t>5   then   6</a:t>
            </a:r>
          </a:p>
        </p:txBody>
      </p:sp>
      <p:sp>
        <p:nvSpPr>
          <p:cNvPr id="393" name="Right Arrow 392"/>
          <p:cNvSpPr/>
          <p:nvPr/>
        </p:nvSpPr>
        <p:spPr>
          <a:xfrm>
            <a:off x="3931920" y="3950208"/>
            <a:ext cx="1828800" cy="329184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TextBox 393"/>
          <p:cNvSpPr txBox="1"/>
          <p:nvPr/>
        </p:nvSpPr>
        <p:spPr>
          <a:xfrm>
            <a:off x="3657600" y="352044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mbria"/>
              </a:rPr>
              <a:t>copy of contents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580041" y="5166360"/>
            <a:ext cx="8503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Cambria"/>
              </a:rPr>
              <a:t>x  &lt;=  ( count )        count stays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Pass by Value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void bump ( int x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x = x + 1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int count = 5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bump ( count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count is </a:t>
            </a:r>
            <a:r>
              <a:rPr sz="2600" b="1">
                <a:latin typeface="Cambria"/>
              </a:rPr>
              <a:t>still 5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bump changed its own copy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Pass a Pointer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206240" algn="l"/>
              </a:tabLst>
            </a:pPr>
            <a:r>
              <a:rPr sz="2600" b="0">
                <a:latin typeface="Cambria"/>
              </a:rPr>
              <a:t>void bump ( int *x ) {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600" b="0">
                <a:latin typeface="Cambria"/>
              </a:rPr>
              <a:t>	*x = *x + 1 ;	((x)) &lt;= ((x)) + 1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600" b="0">
                <a:latin typeface="Cambria"/>
              </a:rPr>
              <a:t>int count = 5 ;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600" b="0">
                <a:latin typeface="Cambria"/>
              </a:rPr>
              <a:t>bump ( &amp;count ) ;	x &lt;= &amp;( count )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4206240" algn="l"/>
              </a:tabLst>
            </a:pPr>
            <a:r>
              <a:rPr sz="2600" b="0">
                <a:latin typeface="Cambria"/>
              </a:rPr>
              <a:t>count is now </a:t>
            </a:r>
            <a:r>
              <a:rPr sz="2600" b="1">
                <a:latin typeface="Cambria"/>
              </a:rPr>
              <a:t>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the Pointer Does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The parameter holds the </a:t>
            </a:r>
            <a:r>
              <a:rPr sz="2600" b="1">
                <a:latin typeface="Cambria"/>
              </a:rPr>
              <a:t>address</a:t>
            </a:r>
            <a:r>
              <a:rPr sz="2600" b="0">
                <a:latin typeface="Cambria"/>
              </a:rPr>
              <a:t> of count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914400" y="297180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mbria"/>
              </a:rPr>
              <a:t>caller:  main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914400" y="3383280"/>
            <a:ext cx="2926080" cy="118872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Cambria"/>
              </a:rPr>
              <a:t>count</a:t>
            </a:r>
          </a:p>
          <a:p>
            <a:pPr algn="ctr"/>
            <a:r>
              <a:rPr sz="1700" i="1">
                <a:solidFill>
                  <a:srgbClr val="000000"/>
                </a:solidFill>
                <a:latin typeface="Cambria"/>
              </a:rPr>
              <a:t>5   then   6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914400" y="4645152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Cambria"/>
              </a:rPr>
              <a:t>address  0x1F899BC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5943600" y="297180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mbria"/>
              </a:rPr>
              <a:t>callee:  bump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5943600" y="3383280"/>
            <a:ext cx="2926080" cy="118872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2000" b="1">
                <a:solidFill>
                  <a:srgbClr val="000000"/>
                </a:solidFill>
                <a:latin typeface="Cambria"/>
              </a:rPr>
              <a:t>x</a:t>
            </a:r>
          </a:p>
          <a:p>
            <a:pPr algn="ctr"/>
            <a:r>
              <a:rPr sz="1700" i="1">
                <a:solidFill>
                  <a:srgbClr val="000000"/>
                </a:solidFill>
                <a:latin typeface="Cambria"/>
              </a:rPr>
              <a:t>0x1F899BC</a:t>
            </a:r>
          </a:p>
        </p:txBody>
      </p:sp>
      <p:sp>
        <p:nvSpPr>
          <p:cNvPr id="394" name="Left Arrow 393"/>
          <p:cNvSpPr/>
          <p:nvPr/>
        </p:nvSpPr>
        <p:spPr>
          <a:xfrm>
            <a:off x="4069080" y="3813048"/>
            <a:ext cx="1645920" cy="329184"/>
          </a:xfrm>
          <a:prstGeom prst="leftArrow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TextBox 394"/>
          <p:cNvSpPr txBox="1"/>
          <p:nvPr/>
        </p:nvSpPr>
        <p:spPr>
          <a:xfrm>
            <a:off x="3840480" y="3401568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mbria"/>
              </a:rPr>
              <a:t>points to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580041" y="5257800"/>
            <a:ext cx="8503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Cambria"/>
              </a:rPr>
              <a:t>x  &lt;=  &amp;( count )          ((x))  &lt;=  ((x)) + 1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Pass by Reference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void bump ( int &amp;x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x = x + 1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int count = 5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bump ( count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count is now </a:t>
            </a:r>
            <a:r>
              <a:rPr sz="2600" b="1">
                <a:latin typeface="Cambria"/>
              </a:rPr>
              <a:t>6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x is another </a:t>
            </a:r>
            <a:r>
              <a:rPr sz="2600" b="1">
                <a:latin typeface="Cambria"/>
              </a:rPr>
              <a:t>name</a:t>
            </a:r>
            <a:r>
              <a:rPr sz="2600" b="0">
                <a:latin typeface="Cambria"/>
              </a:rPr>
              <a:t> for count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Hidden Danger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931920" algn="l"/>
              </a:tabLst>
            </a:pPr>
            <a:r>
              <a:rPr sz="2500" b="0">
                <a:latin typeface="Cambria"/>
              </a:rPr>
              <a:t>In C++ these two calls look </a:t>
            </a:r>
            <a:r>
              <a:rPr sz="2500" b="1">
                <a:latin typeface="Cambria"/>
              </a:rPr>
              <a:t>identical</a:t>
            </a:r>
            <a:r>
              <a:rPr sz="2500" b="0">
                <a:latin typeface="Cambria"/>
              </a:rPr>
              <a:t>: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500" b="0">
                <a:latin typeface="Cambria"/>
              </a:rPr>
              <a:t>	show ( count ) ;	cannot change count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500" b="0">
                <a:latin typeface="Cambria"/>
              </a:rPr>
              <a:t>	bump ( count ) ;	changes count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500" b="0">
                <a:latin typeface="Cambria"/>
              </a:rPr>
              <a:t>You must read the </a:t>
            </a:r>
            <a:r>
              <a:rPr sz="2500" b="1">
                <a:latin typeface="Cambria"/>
              </a:rPr>
              <a:t>signature</a:t>
            </a:r>
            <a:r>
              <a:rPr sz="2500" b="0">
                <a:latin typeface="Cambria"/>
              </a:rPr>
              <a:t> to know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931920" algn="l"/>
              </a:tabLst>
            </a:pPr>
            <a:r>
              <a:rPr sz="2500" b="0">
                <a:latin typeface="Cambria"/>
              </a:rPr>
              <a:t>In C, the  &amp;count  at the call is a warning sign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Read-Only Access with const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</a:tabLst>
            </a:pPr>
            <a:r>
              <a:rPr sz="2500" b="0">
                <a:latin typeface="Cambria"/>
              </a:rPr>
              <a:t>Large structs: pass the address, but promise</a:t>
            </a:r>
          </a:p>
          <a:p>
            <a:pPr>
              <a:tabLst>
                <a:tab pos="1280160" algn="l"/>
              </a:tabLst>
            </a:pPr>
            <a:r>
              <a:rPr sz="2500" b="0">
                <a:latin typeface="Cambria"/>
              </a:rPr>
              <a:t>not to change it</a:t>
            </a:r>
          </a:p>
          <a:p>
            <a:pPr>
              <a:tabLst>
                <a:tab pos="12801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500" b="0">
                <a:latin typeface="Cambria"/>
              </a:rPr>
              <a:t>C:	void show ( const sample_t *s ) ;</a:t>
            </a:r>
          </a:p>
          <a:p>
            <a:pPr>
              <a:tabLst>
                <a:tab pos="1280160" algn="l"/>
              </a:tabLst>
            </a:pPr>
            <a:r>
              <a:rPr sz="2500" b="0">
                <a:latin typeface="Cambria"/>
              </a:rPr>
              <a:t>C++:	void show ( const sample_t &amp;s ) ;</a:t>
            </a:r>
          </a:p>
          <a:p>
            <a:pPr>
              <a:tabLst>
                <a:tab pos="12801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500" b="0">
                <a:latin typeface="Cambria"/>
              </a:rPr>
              <a:t>No copy is made</a:t>
            </a:r>
          </a:p>
          <a:p>
            <a:pPr>
              <a:tabLst>
                <a:tab pos="1280160" algn="l"/>
              </a:tabLst>
            </a:pPr>
            <a:r>
              <a:rPr sz="2500" b="0">
                <a:latin typeface="Cambria"/>
              </a:rPr>
              <a:t>The compiler rejects any attempt to modify 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Rust: Ownership Moves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fn show ( s : Sample ) { ... }</a:t>
            </a:r>
          </a:p>
          <a:p>
            <a:pPr>
              <a:tabLst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show ( my_sample ) ;</a:t>
            </a:r>
          </a:p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show ( my_sample ) ;	</a:t>
            </a:r>
            <a:r>
              <a:rPr sz="2500" b="1">
                <a:latin typeface="Cambria"/>
              </a:rPr>
              <a:t>error</a:t>
            </a:r>
            <a:r>
              <a:rPr sz="2500" b="0">
                <a:latin typeface="Cambria"/>
              </a:rPr>
              <a:t>: value moved</a:t>
            </a:r>
          </a:p>
          <a:p>
            <a:pPr>
              <a:tabLst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Passing by value </a:t>
            </a:r>
            <a:r>
              <a:rPr sz="2500" b="1">
                <a:latin typeface="Cambria"/>
              </a:rPr>
              <a:t>moves</a:t>
            </a:r>
            <a:r>
              <a:rPr sz="2500" b="0">
                <a:latin typeface="Cambria"/>
              </a:rPr>
              <a:t> the instance</a:t>
            </a:r>
          </a:p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into the function</a:t>
            </a:r>
          </a:p>
          <a:p>
            <a:pPr>
              <a:tabLst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Copy types like i32 and f32 are copied instead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Rust: Borrowing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840480" algn="l"/>
              </a:tabLst>
            </a:pPr>
            <a:r>
              <a:rPr sz="2500" b="0" dirty="0" err="1">
                <a:latin typeface="Cambria"/>
              </a:rPr>
              <a:t>fn</a:t>
            </a:r>
            <a:r>
              <a:rPr sz="2500" b="0" dirty="0">
                <a:latin typeface="Cambria"/>
              </a:rPr>
              <a:t> show ( s : &amp;Sample ) { ... }</a:t>
            </a:r>
          </a:p>
          <a:p>
            <a:pPr>
              <a:tabLst>
                <a:tab pos="384048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 dirty="0">
                <a:latin typeface="Cambria"/>
              </a:rPr>
              <a:t>show ( &amp;</a:t>
            </a:r>
            <a:r>
              <a:rPr sz="2500" b="0" dirty="0" err="1">
                <a:latin typeface="Cambria"/>
              </a:rPr>
              <a:t>my_sample</a:t>
            </a:r>
            <a:r>
              <a:rPr sz="2500" b="0" dirty="0">
                <a:latin typeface="Cambria"/>
              </a:rPr>
              <a:t> ) ;</a:t>
            </a:r>
          </a:p>
          <a:p>
            <a:pPr>
              <a:tabLst>
                <a:tab pos="3840480" algn="l"/>
              </a:tabLst>
            </a:pPr>
            <a:r>
              <a:rPr sz="2500" b="0" dirty="0">
                <a:latin typeface="Cambria"/>
              </a:rPr>
              <a:t>show ( &amp;</a:t>
            </a:r>
            <a:r>
              <a:rPr sz="2500" b="0" dirty="0" err="1">
                <a:latin typeface="Cambria"/>
              </a:rPr>
              <a:t>my_sample</a:t>
            </a:r>
            <a:r>
              <a:rPr sz="2500" b="0" dirty="0">
                <a:latin typeface="Cambria"/>
              </a:rPr>
              <a:t> ) ;	fine</a:t>
            </a:r>
          </a:p>
          <a:p>
            <a:pPr>
              <a:tabLst>
                <a:tab pos="384048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 dirty="0">
                <a:latin typeface="Cambria"/>
              </a:rPr>
              <a:t>&amp; lends the instance </a:t>
            </a:r>
            <a:r>
              <a:rPr sz="2500" b="1" dirty="0">
                <a:latin typeface="Cambria"/>
              </a:rPr>
              <a:t>read-only</a:t>
            </a:r>
          </a:p>
          <a:p>
            <a:pPr>
              <a:tabLst>
                <a:tab pos="384048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 dirty="0">
                <a:latin typeface="Cambria"/>
              </a:rPr>
              <a:t>Like </a:t>
            </a:r>
            <a:r>
              <a:rPr sz="2500" b="0" dirty="0" err="1">
                <a:latin typeface="Cambria"/>
              </a:rPr>
              <a:t>const</a:t>
            </a:r>
            <a:r>
              <a:rPr sz="2500" b="0" dirty="0">
                <a:latin typeface="Cambria"/>
              </a:rPr>
              <a:t> &amp; in C++, but the &amp; is </a:t>
            </a:r>
            <a:r>
              <a:rPr sz="2500" b="1" dirty="0" smtClean="0">
                <a:latin typeface="Cambria"/>
              </a:rPr>
              <a:t>visible</a:t>
            </a:r>
            <a:r>
              <a:rPr lang="en-US" sz="2500" b="1" dirty="0" smtClean="0">
                <a:latin typeface="Cambria"/>
              </a:rPr>
              <a:t> </a:t>
            </a:r>
            <a:r>
              <a:rPr sz="2500" b="0" dirty="0" smtClean="0">
                <a:latin typeface="Cambria"/>
              </a:rPr>
              <a:t>at </a:t>
            </a:r>
            <a:r>
              <a:rPr sz="2500" b="0" dirty="0">
                <a:latin typeface="Cambria"/>
              </a:rPr>
              <a:t>the call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Rust: Mutable Borrowing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fn bump ( x : &amp;mut i32 )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*x += 1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let mut count = 5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bump ( &amp;mut count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count is now </a:t>
            </a:r>
            <a:r>
              <a:rPr sz="2500" b="1">
                <a:latin typeface="Cambria"/>
              </a:rPr>
              <a:t>6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&amp;mut at the call says:  this may change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Borrowing Rules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572000" algn="l"/>
              </a:tabLst>
            </a:pPr>
            <a:r>
              <a:rPr sz="2500" b="0">
                <a:latin typeface="Cambria"/>
              </a:rPr>
              <a:t>At any moment, a value may have </a:t>
            </a:r>
            <a:r>
              <a:rPr sz="2500" b="1">
                <a:latin typeface="Cambria"/>
              </a:rPr>
              <a:t>either</a:t>
            </a:r>
            <a:r>
              <a:rPr sz="2500" b="0">
                <a:latin typeface="Cambria"/>
              </a:rPr>
              <a:t>: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500" b="0">
                <a:latin typeface="Cambria"/>
              </a:rPr>
              <a:t>	any number of  &amp;  borrows	(readers)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500" b="0">
                <a:latin typeface="Cambria"/>
              </a:rPr>
              <a:t>	</a:t>
            </a:r>
            <a:r>
              <a:rPr sz="2500" b="1">
                <a:latin typeface="Cambria"/>
              </a:rPr>
              <a:t>or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500" b="0">
                <a:latin typeface="Cambria"/>
              </a:rPr>
              <a:t>	exactly one  &amp;mut  borrow	(one writer)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500" b="0">
                <a:latin typeface="Cambria"/>
              </a:rPr>
              <a:t>Checked by the compiler, not at run time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Passing Compared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194560" algn="l"/>
                <a:tab pos="4023360" algn="l"/>
                <a:tab pos="5852160" algn="l"/>
              </a:tabLst>
            </a:pPr>
            <a:r>
              <a:rPr sz="2200" b="0">
                <a:latin typeface="Cambria"/>
              </a:rPr>
              <a:t>	C	C++	Rust</a:t>
            </a:r>
          </a:p>
          <a:p>
            <a:pPr>
              <a:tabLst>
                <a:tab pos="2194560" algn="l"/>
                <a:tab pos="4023360" algn="l"/>
                <a:tab pos="58521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2194560" algn="l"/>
                <a:tab pos="4023360" algn="l"/>
                <a:tab pos="5852160" algn="l"/>
              </a:tabLst>
            </a:pPr>
            <a:r>
              <a:rPr sz="2200" b="1">
                <a:latin typeface="Cambria"/>
              </a:rPr>
              <a:t>Copy</a:t>
            </a:r>
            <a:r>
              <a:rPr sz="2200" b="0">
                <a:latin typeface="Cambria"/>
              </a:rPr>
              <a:t>	int x	int x	x : i32</a:t>
            </a:r>
          </a:p>
          <a:p>
            <a:pPr>
              <a:tabLst>
                <a:tab pos="2194560" algn="l"/>
                <a:tab pos="4023360" algn="l"/>
                <a:tab pos="58521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2194560" algn="l"/>
                <a:tab pos="4023360" algn="l"/>
                <a:tab pos="5852160" algn="l"/>
              </a:tabLst>
            </a:pPr>
            <a:r>
              <a:rPr sz="2200" b="1">
                <a:latin typeface="Cambria"/>
              </a:rPr>
              <a:t>Read only</a:t>
            </a:r>
            <a:r>
              <a:rPr sz="2200" b="0">
                <a:latin typeface="Cambria"/>
              </a:rPr>
              <a:t>	const T *x	const T &amp;x	x : &amp;T</a:t>
            </a:r>
          </a:p>
          <a:p>
            <a:pPr>
              <a:tabLst>
                <a:tab pos="2194560" algn="l"/>
                <a:tab pos="4023360" algn="l"/>
                <a:tab pos="58521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2194560" algn="l"/>
                <a:tab pos="4023360" algn="l"/>
                <a:tab pos="5852160" algn="l"/>
              </a:tabLst>
            </a:pPr>
            <a:r>
              <a:rPr sz="2200" b="1">
                <a:latin typeface="Cambria"/>
              </a:rPr>
              <a:t>Modify</a:t>
            </a:r>
            <a:r>
              <a:rPr sz="2200" b="0">
                <a:latin typeface="Cambria"/>
              </a:rPr>
              <a:t>	T *x	T &amp;x	x : &amp;mut T</a:t>
            </a:r>
          </a:p>
          <a:p>
            <a:pPr>
              <a:tabLst>
                <a:tab pos="2194560" algn="l"/>
                <a:tab pos="4023360" algn="l"/>
                <a:tab pos="585216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2194560" algn="l"/>
                <a:tab pos="4023360" algn="l"/>
                <a:tab pos="5852160" algn="l"/>
              </a:tabLst>
            </a:pPr>
            <a:r>
              <a:rPr sz="2200" b="1">
                <a:latin typeface="Cambria"/>
              </a:rPr>
              <a:t>At the call</a:t>
            </a:r>
            <a:r>
              <a:rPr sz="2200" b="0">
                <a:latin typeface="Cambria"/>
              </a:rPr>
              <a:t>	&amp;v	v	&amp;v  or  &amp;mut v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Passing a Struct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By value copies </a:t>
            </a:r>
            <a:r>
              <a:rPr sz="2400" b="1">
                <a:latin typeface="Cambria"/>
              </a:rPr>
              <a:t>every byte</a:t>
            </a:r>
            <a:r>
              <a:rPr sz="2400" b="0">
                <a:latin typeface="Cambria"/>
              </a:rPr>
              <a:t>: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	void show ( sample_t s ) ;	16 bytes copied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By address copies </a:t>
            </a:r>
            <a:r>
              <a:rPr sz="2400" b="1">
                <a:latin typeface="Cambria"/>
              </a:rPr>
              <a:t>one pointer</a:t>
            </a:r>
            <a:r>
              <a:rPr sz="2400" b="0">
                <a:latin typeface="Cambria"/>
              </a:rPr>
              <a:t>: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	void show ( const sample_t *s ) ;	8 bytes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Inside, reach members with  -&gt;</a:t>
            </a:r>
          </a:p>
          <a:p>
            <a:pPr>
              <a:tabLst>
                <a:tab pos="548640" algn="l"/>
                <a:tab pos="5120640" algn="l"/>
              </a:tabLst>
            </a:pPr>
            <a:r>
              <a:rPr sz="2400" b="0">
                <a:latin typeface="Cambria"/>
              </a:rPr>
              <a:t>	s-&gt;psi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Returning a Struct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</a:tabLst>
            </a:pPr>
            <a:r>
              <a:rPr sz="2300" b="0">
                <a:latin typeface="Cambria"/>
              </a:rPr>
              <a:t>C:	sample_t make_sample ( uint32_t counts ) ;</a:t>
            </a:r>
          </a:p>
          <a:p>
            <a:pPr>
              <a:tabLst>
                <a:tab pos="1280160" algn="l"/>
              </a:tabLst>
            </a:pPr>
            <a:r>
              <a:rPr sz="2300" b="0">
                <a:latin typeface="Cambria"/>
              </a:rPr>
              <a:t>C++:	sample make_sample ( uint32_t counts ) ;</a:t>
            </a:r>
          </a:p>
          <a:p>
            <a:pPr>
              <a:tabLst>
                <a:tab pos="1280160" algn="l"/>
              </a:tabLst>
            </a:pPr>
            <a:r>
              <a:rPr sz="2300" b="0">
                <a:latin typeface="Cambria"/>
              </a:rPr>
              <a:t>Rust:	fn make_sample ( counts : u32 ) -&gt; Sample</a:t>
            </a:r>
          </a:p>
          <a:p>
            <a:pPr>
              <a:tabLst>
                <a:tab pos="12801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300" b="0">
                <a:latin typeface="Cambria"/>
              </a:rPr>
              <a:t>All three can return a whole struct</a:t>
            </a:r>
          </a:p>
          <a:p>
            <a:pPr>
              <a:tabLst>
                <a:tab pos="12801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300" b="0">
                <a:latin typeface="Cambria"/>
              </a:rPr>
              <a:t>The compiler usually builds it directly</a:t>
            </a:r>
          </a:p>
          <a:p>
            <a:pPr>
              <a:tabLst>
                <a:tab pos="1280160" algn="l"/>
              </a:tabLst>
            </a:pPr>
            <a:r>
              <a:rPr sz="2300" b="0">
                <a:latin typeface="Cambria"/>
              </a:rPr>
              <a:t>in the caller's memory - no extra copy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Passing an Array in 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float average ( const float *psi, size_t n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The array </a:t>
            </a:r>
            <a:r>
              <a:rPr sz="2400" b="1">
                <a:latin typeface="Cambria"/>
              </a:rPr>
              <a:t>decays</a:t>
            </a:r>
            <a:r>
              <a:rPr sz="2400" b="0">
                <a:latin typeface="Cambria"/>
              </a:rPr>
              <a:t> to a pointer to element 0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The length is </a:t>
            </a:r>
            <a:r>
              <a:rPr sz="2400" b="1">
                <a:latin typeface="Cambria"/>
              </a:rPr>
              <a:t>lost</a:t>
            </a:r>
            <a:r>
              <a:rPr sz="2400" b="0">
                <a:latin typeface="Cambria"/>
              </a:rPr>
              <a:t> - pass it separately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Inside the function,  sizeof(psi)  is </a:t>
            </a:r>
            <a:r>
              <a:rPr sz="2400" b="1">
                <a:latin typeface="Cambria"/>
              </a:rPr>
              <a:t>8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the size of a pointer, not the array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Passing an Array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Fixed size: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float average ( const std::array&lt;float, 100&gt; &amp;psi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Any size  (C++20):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#include &lt;span&gt;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float average ( std::span&lt;const float&gt; psi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Both know their own  .size()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Passing an Array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fn average ( psi : &amp;[f32] ) -&gt; f32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let mut sum = 0.0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for i in 0..psi.len() { sum += psi[i] ;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sum / psi.len() as f32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average ( &amp;readings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&amp;[f32] is a </a:t>
            </a:r>
            <a:r>
              <a:rPr sz="2300" b="1">
                <a:latin typeface="Cambria"/>
              </a:rPr>
              <a:t>slice</a:t>
            </a:r>
            <a:r>
              <a:rPr sz="2300" b="0">
                <a:latin typeface="Cambria"/>
              </a:rPr>
              <a:t>: pointer and length together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Returning Several Values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C:	pass pointers for the outputs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	void min_max ( const float *v, size_t n,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		float *lo, float *hi ) ;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C, C++:	return a struct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Rust:	return a tuple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	fn min_max ( v : &amp;[f32] ) -&gt; ( f32, f32 )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	let ( lo, hi ) = min_max ( &amp;readings ) 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Same Name, Different Parameters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</a:tabLst>
            </a:pPr>
            <a:r>
              <a:rPr sz="2400" b="0">
                <a:latin typeface="Cambria"/>
              </a:rPr>
              <a:t>C++ allows </a:t>
            </a:r>
            <a:r>
              <a:rPr sz="2400" b="1">
                <a:latin typeface="Cambria"/>
              </a:rPr>
              <a:t>overloading</a:t>
            </a:r>
            <a:r>
              <a:rPr sz="2400" b="0">
                <a:latin typeface="Cambria"/>
              </a:rPr>
              <a:t>:</a:t>
            </a:r>
          </a:p>
          <a:p>
            <a:pPr>
              <a:tabLst>
                <a:tab pos="1280160" algn="l"/>
              </a:tabLst>
            </a:pPr>
            <a:r>
              <a:rPr sz="2400" b="0">
                <a:latin typeface="Cambria"/>
              </a:rPr>
              <a:t>	float to_psi ( uint32_t counts ) ;</a:t>
            </a:r>
          </a:p>
          <a:p>
            <a:pPr>
              <a:tabLst>
                <a:tab pos="1280160" algn="l"/>
              </a:tabLst>
            </a:pPr>
            <a:r>
              <a:rPr sz="2400" b="0">
                <a:latin typeface="Cambria"/>
              </a:rPr>
              <a:t>	float to_psi ( float kpa ) ;</a:t>
            </a:r>
          </a:p>
          <a:p>
            <a:pPr>
              <a:tabLst>
                <a:tab pos="12801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400" b="0">
                <a:latin typeface="Cambria"/>
              </a:rPr>
              <a:t>The compiler picks by the argument types</a:t>
            </a:r>
          </a:p>
          <a:p>
            <a:pPr>
              <a:tabLst>
                <a:tab pos="12801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400" b="0">
                <a:latin typeface="Cambria"/>
              </a:rPr>
              <a:t>C:	not allowed - every name is unique</a:t>
            </a:r>
          </a:p>
          <a:p>
            <a:pPr>
              <a:tabLst>
                <a:tab pos="1280160" algn="l"/>
              </a:tabLst>
            </a:pPr>
            <a:r>
              <a:rPr sz="2400" b="0">
                <a:latin typeface="Cambria"/>
              </a:rPr>
              <a:t>Rust:	not allowed - use different names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Default Arguments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C++ only: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	void show ( float psi, int digits = 1 ) ;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	show ( 50.0f ) ;	digits is 1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	show ( 50.0f, 3 ) ;	digits is 3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C and Rust have no default arguments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600" b="1" dirty="0" smtClean="0">
                <a:solidFill>
                  <a:schemeClr val="lt1"/>
                </a:solidFill>
                <a:latin typeface="Arial"/>
              </a:rPr>
              <a:t>Data and Functions Belong Together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Many functions exist only to work on </a:t>
            </a:r>
            <a:r>
              <a:rPr sz="2500" b="1">
                <a:latin typeface="Cambria"/>
              </a:rPr>
              <a:t>one type</a:t>
            </a:r>
            <a:r>
              <a:rPr sz="2500" b="0">
                <a:latin typeface="Cambria"/>
              </a:rPr>
              <a:t>: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	sample_init	sample_update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	sample_to_kpa	sample_show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The data lives in the struct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The functions live somewhere else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500" b="0">
                <a:latin typeface="Cambria"/>
              </a:rPr>
              <a:t>Can we keep them together?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C Convention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Pass the instance as the </a:t>
            </a:r>
            <a:r>
              <a:rPr sz="2300" b="1">
                <a:latin typeface="Cambria"/>
              </a:rPr>
              <a:t>first</a:t>
            </a:r>
            <a:r>
              <a:rPr sz="2300" b="0">
                <a:latin typeface="Cambria"/>
              </a:rPr>
              <a:t> parameter: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void sample_update ( sample_t *s, uint32_t counts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s-&gt;adc_counts = counts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s-&gt;psi = adc_to_psi ( counts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sample_update ( &amp;my_sample, 1456 ) 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Member Functions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</a:tabLst>
            </a:pPr>
            <a:r>
              <a:rPr sz="2800" b="0">
                <a:latin typeface="Cambria"/>
              </a:rPr>
              <a:t>Put the function </a:t>
            </a:r>
            <a:r>
              <a:rPr sz="2800" b="1">
                <a:latin typeface="Cambria"/>
              </a:rPr>
              <a:t>inside</a:t>
            </a:r>
            <a:r>
              <a:rPr sz="2800" b="0">
                <a:latin typeface="Cambria"/>
              </a:rPr>
              <a:t> the type</a:t>
            </a:r>
          </a:p>
          <a:p>
            <a:pPr>
              <a:tabLst>
                <a:tab pos="12801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800" b="0">
                <a:latin typeface="Cambria"/>
              </a:rPr>
              <a:t>It is called </a:t>
            </a:r>
            <a:r>
              <a:rPr sz="2800" b="1">
                <a:latin typeface="Cambria"/>
              </a:rPr>
              <a:t>on</a:t>
            </a:r>
            <a:r>
              <a:rPr sz="2800" b="0">
                <a:latin typeface="Cambria"/>
              </a:rPr>
              <a:t> an instance:</a:t>
            </a:r>
          </a:p>
          <a:p>
            <a:pPr>
              <a:tabLst>
                <a:tab pos="12801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800" b="0">
                <a:latin typeface="Cambria"/>
              </a:rPr>
              <a:t>	my_sample.update ( 1456 ) ;</a:t>
            </a:r>
          </a:p>
          <a:p>
            <a:pPr>
              <a:tabLst>
                <a:tab pos="12801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800" b="0">
                <a:latin typeface="Cambria"/>
              </a:rPr>
              <a:t>C++:	</a:t>
            </a:r>
            <a:r>
              <a:rPr sz="2800" b="1">
                <a:latin typeface="Cambria"/>
              </a:rPr>
              <a:t>member functions</a:t>
            </a:r>
          </a:p>
          <a:p>
            <a:pPr>
              <a:tabLst>
                <a:tab pos="1280160" algn="l"/>
              </a:tabLst>
            </a:pPr>
            <a:r>
              <a:rPr sz="2800" b="0">
                <a:latin typeface="Cambria"/>
              </a:rPr>
              <a:t>Rust:	</a:t>
            </a:r>
            <a:r>
              <a:rPr sz="2800" b="1">
                <a:latin typeface="Cambria"/>
              </a:rPr>
              <a:t>methods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Member Function in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2194560" algn="l"/>
              </a:tabLst>
            </a:pPr>
            <a:r>
              <a:rPr sz="2400" b="0">
                <a:latin typeface="Cambria"/>
              </a:rPr>
              <a:t>struct sample {</a:t>
            </a:r>
          </a:p>
          <a:p>
            <a:pPr>
              <a:tabLst>
                <a:tab pos="548640" algn="l"/>
                <a:tab pos="1097280" algn="l"/>
                <a:tab pos="2194560" algn="l"/>
              </a:tabLst>
            </a:pPr>
            <a:r>
              <a:rPr sz="2400" b="0">
                <a:latin typeface="Cambria"/>
              </a:rPr>
              <a:t>	uint32_t	adc_counts ;</a:t>
            </a:r>
          </a:p>
          <a:p>
            <a:pPr>
              <a:tabLst>
                <a:tab pos="548640" algn="l"/>
                <a:tab pos="1097280" algn="l"/>
                <a:tab pos="2194560" algn="l"/>
              </a:tabLst>
            </a:pPr>
            <a:r>
              <a:rPr sz="2400" b="0">
                <a:latin typeface="Cambria"/>
              </a:rPr>
              <a:t>	float	psi ;</a:t>
            </a:r>
          </a:p>
          <a:p>
            <a:pPr>
              <a:tabLst>
                <a:tab pos="548640" algn="l"/>
                <a:tab pos="1097280" algn="l"/>
                <a:tab pos="2194560" algn="l"/>
              </a:tabLst>
            </a:pPr>
            <a:r>
              <a:rPr sz="2400" b="0">
                <a:latin typeface="Cambria"/>
              </a:rPr>
              <a:t>	uint64_t	timestamp_ms ;</a:t>
            </a:r>
          </a:p>
          <a:p>
            <a:pPr>
              <a:tabLst>
                <a:tab pos="548640" algn="l"/>
                <a:tab pos="109728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2194560" algn="l"/>
              </a:tabLst>
            </a:pPr>
            <a:r>
              <a:rPr sz="2400" b="0">
                <a:latin typeface="Cambria"/>
              </a:rPr>
              <a:t>	float to_kpa ( ) const {</a:t>
            </a:r>
          </a:p>
          <a:p>
            <a:pPr>
              <a:tabLst>
                <a:tab pos="548640" algn="l"/>
                <a:tab pos="1097280" algn="l"/>
                <a:tab pos="2194560" algn="l"/>
              </a:tabLst>
            </a:pPr>
            <a:r>
              <a:rPr sz="2400" b="0">
                <a:latin typeface="Cambria"/>
              </a:rPr>
              <a:t>		return psi * 6.894757f ;</a:t>
            </a:r>
          </a:p>
          <a:p>
            <a:pPr>
              <a:tabLst>
                <a:tab pos="548640" algn="l"/>
                <a:tab pos="1097280" algn="l"/>
                <a:tab pos="2194560" algn="l"/>
              </a:tabLst>
            </a:pPr>
            <a:r>
              <a:rPr sz="24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2194560" algn="l"/>
              </a:tabLst>
            </a:pPr>
            <a:r>
              <a:rPr sz="2400" b="0">
                <a:latin typeface="Cambria"/>
              </a:rPr>
              <a:t>} 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Calling a Member Function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749039" algn="l"/>
              </a:tabLst>
            </a:pPr>
            <a:r>
              <a:rPr sz="2800" b="0">
                <a:latin typeface="Cambria"/>
              </a:rPr>
              <a:t>sample  my_sample ;</a:t>
            </a:r>
          </a:p>
          <a:p>
            <a:pPr>
              <a:tabLst>
                <a:tab pos="3749039" algn="l"/>
              </a:tabLst>
            </a:pPr>
            <a:r>
              <a:rPr sz="2800" b="0">
                <a:latin typeface="Cambria"/>
              </a:rPr>
              <a:t>sample  sample2 ;</a:t>
            </a:r>
          </a:p>
          <a:p>
            <a:pPr>
              <a:tabLst>
                <a:tab pos="3749039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3749039" algn="l"/>
              </a:tabLst>
            </a:pPr>
            <a:r>
              <a:rPr sz="2800" b="0">
                <a:latin typeface="Cambria"/>
              </a:rPr>
              <a:t>my_sample.to_kpa ( )	uses my_sample.psi</a:t>
            </a:r>
          </a:p>
          <a:p>
            <a:pPr>
              <a:tabLst>
                <a:tab pos="3749039" algn="l"/>
              </a:tabLst>
            </a:pPr>
            <a:r>
              <a:rPr sz="2800" b="0">
                <a:latin typeface="Cambria"/>
              </a:rPr>
              <a:t>sample2.to_kpa ( )	uses sample2.psi</a:t>
            </a:r>
          </a:p>
          <a:p>
            <a:pPr>
              <a:tabLst>
                <a:tab pos="3749039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3749039" algn="l"/>
              </a:tabLst>
            </a:pPr>
            <a:r>
              <a:rPr sz="2800" b="0">
                <a:latin typeface="Cambria"/>
              </a:rPr>
              <a:t>One function, many instances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The Hidden Parameter:  this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The compiler passes the instance </a:t>
            </a:r>
            <a:r>
              <a:rPr sz="2500" b="1">
                <a:latin typeface="Cambria"/>
              </a:rPr>
              <a:t>address</a:t>
            </a:r>
            <a:r>
              <a:rPr sz="2500" b="0">
                <a:latin typeface="Cambria"/>
              </a:rPr>
              <a:t> for you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my_sample.to_kpa (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Inside,  </a:t>
            </a:r>
            <a:r>
              <a:rPr sz="2500" b="1">
                <a:latin typeface="Cambria"/>
              </a:rPr>
              <a:t>this</a:t>
            </a:r>
            <a:r>
              <a:rPr sz="2500" b="0">
                <a:latin typeface="Cambria"/>
              </a:rPr>
              <a:t>  &lt;=  &amp;( my_sample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psi  means  this-&gt;psi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Exactly the C convention - just hidden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const Member Functions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float to_kpa ( ) </a:t>
            </a:r>
            <a:r>
              <a:rPr sz="2600" b="1">
                <a:latin typeface="Cambria"/>
              </a:rPr>
              <a:t>const</a:t>
            </a:r>
            <a:r>
              <a:rPr sz="2600" b="0">
                <a:latin typeface="Cambria"/>
              </a:rPr>
              <a:t>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const after the parameter list promises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not to change the instance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It may be called on a const instance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Mark every member function that only reads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A Member Function That Modifies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struct sample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...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void update ( uint32_t counts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	adc_counts = counts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	psi = adc_to_psi ( counts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}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my_sample.update ( 1456 ) 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Defining It Outside the Struct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sample.h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struct sample { ... float to_kpa ( ) const ; }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sample.cpp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float sample::to_kpa ( ) const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	return psi * 6.894757f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1">
                <a:latin typeface="Cambria"/>
              </a:rPr>
              <a:t>::</a:t>
            </a:r>
            <a:r>
              <a:rPr sz="2300" b="0">
                <a:latin typeface="Cambria"/>
              </a:rPr>
              <a:t> says which type the function belongs to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Methods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struct Sample { adc_counts : u32, psi : f32, ...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impl Sample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fn to_kpa ( &amp;self ) -&gt; f32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self.psi * 6.894757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Methods go in a separate  </a:t>
            </a:r>
            <a:r>
              <a:rPr sz="2400" b="1">
                <a:latin typeface="Cambria"/>
              </a:rPr>
              <a:t>impl</a:t>
            </a:r>
            <a:r>
              <a:rPr sz="2400" b="0">
                <a:latin typeface="Cambria"/>
              </a:rPr>
              <a:t>  block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self is Not Hidden in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011680" algn="l"/>
                <a:tab pos="4846320" algn="l"/>
              </a:tabLst>
            </a:pPr>
            <a:r>
              <a:rPr sz="2500" b="0">
                <a:latin typeface="Cambria"/>
              </a:rPr>
              <a:t>&amp;self	read the instance	like const in C++</a:t>
            </a:r>
          </a:p>
          <a:p>
            <a:pPr>
              <a:tabLst>
                <a:tab pos="2011680" algn="l"/>
                <a:tab pos="48463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011680" algn="l"/>
                <a:tab pos="4846320" algn="l"/>
              </a:tabLst>
            </a:pPr>
            <a:r>
              <a:rPr sz="2500" b="0">
                <a:latin typeface="Cambria"/>
              </a:rPr>
              <a:t>&amp;mut self	modify the instance</a:t>
            </a:r>
          </a:p>
          <a:p>
            <a:pPr>
              <a:tabLst>
                <a:tab pos="2011680" algn="l"/>
                <a:tab pos="48463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011680" algn="l"/>
                <a:tab pos="4846320" algn="l"/>
              </a:tabLst>
            </a:pPr>
            <a:r>
              <a:rPr sz="2500" b="0">
                <a:latin typeface="Cambria"/>
              </a:rPr>
              <a:t>self	take ownership of it</a:t>
            </a:r>
          </a:p>
          <a:p>
            <a:pPr>
              <a:tabLst>
                <a:tab pos="2011680" algn="l"/>
                <a:tab pos="48463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011680" algn="l"/>
                <a:tab pos="4846320" algn="l"/>
              </a:tabLst>
            </a:pPr>
            <a:r>
              <a:rPr sz="2500" b="0">
                <a:latin typeface="Cambria"/>
              </a:rPr>
              <a:t>You must write  </a:t>
            </a:r>
            <a:r>
              <a:rPr sz="2500" b="1">
                <a:latin typeface="Cambria"/>
              </a:rPr>
              <a:t>self.psi</a:t>
            </a:r>
            <a:r>
              <a:rPr sz="2500" b="0">
                <a:latin typeface="Cambria"/>
              </a:rPr>
              <a:t>  -  never just  psi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A Rust Method That Modifies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impl Sample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fn update ( &amp;mut self, counts : u32 )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self.adc_counts = counts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self.psi = adc_to_psi ( counts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let mut my_sample = ...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my_sample.update ( 1456 ) 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Dot Borrows for You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my_sample.update ( 1456 )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is the same as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Sample::update ( &amp;mut my_sample, 1456 )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Which is the C convention again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Constructors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A function that creates an instance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C++:	sample ( uint32_t counts )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		: adc_counts ( counts ),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		  psi ( adc_to_psi ( counts ) ) { }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	sample  s ( 1456 ) ;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Rust:	fn new ( counts : u32 ) -&gt; Sample { ... }</a:t>
            </a:r>
          </a:p>
          <a:p>
            <a:pPr>
              <a:tabLst>
                <a:tab pos="1280160" algn="l"/>
                <a:tab pos="1828800" algn="l"/>
              </a:tabLst>
            </a:pPr>
            <a:r>
              <a:rPr sz="2200" b="0">
                <a:latin typeface="Cambria"/>
              </a:rPr>
              <a:t>	let s = Sample::new ( 1456 ) 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Functions With No Instance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</a:tabLst>
            </a:pPr>
            <a:r>
              <a:rPr sz="2300" b="0">
                <a:latin typeface="Cambria"/>
              </a:rPr>
              <a:t>Belong to the type, but no instance is needed</a:t>
            </a:r>
          </a:p>
          <a:p>
            <a:pPr>
              <a:tabLst>
                <a:tab pos="12801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300" b="0">
                <a:latin typeface="Cambria"/>
              </a:rPr>
              <a:t>C++:	static member functions</a:t>
            </a:r>
          </a:p>
          <a:p>
            <a:pPr>
              <a:tabLst>
                <a:tab pos="1280160" algn="l"/>
              </a:tabLst>
            </a:pPr>
            <a:r>
              <a:rPr sz="2300" b="0">
                <a:latin typeface="Cambria"/>
              </a:rPr>
              <a:t>	sample::from_kpa ( 344.7f )</a:t>
            </a:r>
          </a:p>
          <a:p>
            <a:pPr>
              <a:tabLst>
                <a:tab pos="12801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300" b="0">
                <a:latin typeface="Cambria"/>
              </a:rPr>
              <a:t>Rust:	associated functions - no self</a:t>
            </a:r>
          </a:p>
          <a:p>
            <a:pPr>
              <a:tabLst>
                <a:tab pos="1280160" algn="l"/>
              </a:tabLst>
            </a:pPr>
            <a:r>
              <a:rPr sz="2300" b="0">
                <a:latin typeface="Cambria"/>
              </a:rPr>
              <a:t>	Sample::new ( 1456 )</a:t>
            </a:r>
          </a:p>
          <a:p>
            <a:pPr>
              <a:tabLst>
                <a:tab pos="12801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300" b="0">
                <a:latin typeface="Cambria"/>
              </a:rPr>
              <a:t>Called with  ::  on the </a:t>
            </a:r>
            <a:r>
              <a:rPr sz="2300" b="1">
                <a:latin typeface="Cambria"/>
              </a:rPr>
              <a:t>type</a:t>
            </a:r>
            <a:r>
              <a:rPr sz="2300" b="0">
                <a:latin typeface="Cambria"/>
              </a:rPr>
              <a:t>, not  .  on an instance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Side by Side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80160" algn="l"/>
              </a:tabLst>
            </a:pPr>
            <a:r>
              <a:rPr sz="2500" b="0" dirty="0">
                <a:latin typeface="Cambria"/>
              </a:rPr>
              <a:t>C:	</a:t>
            </a:r>
            <a:r>
              <a:rPr sz="2500" b="0" dirty="0" err="1">
                <a:latin typeface="Cambria"/>
              </a:rPr>
              <a:t>sample_update</a:t>
            </a:r>
            <a:r>
              <a:rPr sz="2500" b="0" dirty="0">
                <a:latin typeface="Cambria"/>
              </a:rPr>
              <a:t> ( &amp;</a:t>
            </a:r>
            <a:r>
              <a:rPr sz="2500" b="0" dirty="0" err="1">
                <a:latin typeface="Cambria"/>
              </a:rPr>
              <a:t>my_sample</a:t>
            </a:r>
            <a:r>
              <a:rPr sz="2500" b="0" dirty="0">
                <a:latin typeface="Cambria"/>
              </a:rPr>
              <a:t>, 1456 ) ;</a:t>
            </a:r>
          </a:p>
          <a:p>
            <a:pPr>
              <a:tabLst>
                <a:tab pos="128016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500" b="0" dirty="0">
                <a:latin typeface="Cambria"/>
              </a:rPr>
              <a:t>C++:	</a:t>
            </a:r>
            <a:r>
              <a:rPr sz="2500" b="0" dirty="0" err="1">
                <a:latin typeface="Cambria"/>
              </a:rPr>
              <a:t>my_sample.update</a:t>
            </a:r>
            <a:r>
              <a:rPr sz="2500" b="0" dirty="0">
                <a:latin typeface="Cambria"/>
              </a:rPr>
              <a:t> ( 1456 ) ;</a:t>
            </a:r>
          </a:p>
          <a:p>
            <a:pPr>
              <a:tabLst>
                <a:tab pos="128016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500" b="0" dirty="0">
                <a:latin typeface="Cambria"/>
              </a:rPr>
              <a:t>Rust:	</a:t>
            </a:r>
            <a:r>
              <a:rPr sz="2500" b="0" dirty="0" err="1">
                <a:latin typeface="Cambria"/>
              </a:rPr>
              <a:t>my_sample.update</a:t>
            </a:r>
            <a:r>
              <a:rPr sz="2500" b="0" dirty="0">
                <a:latin typeface="Cambria"/>
              </a:rPr>
              <a:t> ( 1456 ) ;</a:t>
            </a:r>
          </a:p>
          <a:p>
            <a:pPr>
              <a:tabLst>
                <a:tab pos="1280160" algn="l"/>
              </a:tabLst>
            </a:pPr>
            <a:r>
              <a:rPr sz="2500" dirty="0">
                <a:latin typeface="Cambria"/>
              </a:rPr>
              <a:t> </a:t>
            </a:r>
          </a:p>
          <a:p>
            <a:pPr>
              <a:tabLst>
                <a:tab pos="1280160" algn="l"/>
              </a:tabLst>
            </a:pPr>
            <a:r>
              <a:rPr sz="2500" b="0" dirty="0">
                <a:latin typeface="Cambria"/>
              </a:rPr>
              <a:t>In all three the function receives </a:t>
            </a:r>
            <a:r>
              <a:rPr sz="2500" b="0" dirty="0" smtClean="0">
                <a:latin typeface="Cambria"/>
              </a:rPr>
              <a:t>the</a:t>
            </a:r>
            <a:r>
              <a:rPr lang="en-US" sz="2500" b="0" dirty="0" smtClean="0">
                <a:latin typeface="Cambria"/>
              </a:rPr>
              <a:t> </a:t>
            </a:r>
            <a:r>
              <a:rPr sz="2500" b="1" dirty="0" smtClean="0">
                <a:latin typeface="Cambria"/>
              </a:rPr>
              <a:t>address </a:t>
            </a:r>
            <a:r>
              <a:rPr sz="2500" b="1" dirty="0">
                <a:latin typeface="Cambria"/>
              </a:rPr>
              <a:t>of the instance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Public and Private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920240" algn="l"/>
              </a:tabLst>
            </a:pPr>
            <a:r>
              <a:rPr sz="2400" b="0">
                <a:latin typeface="Cambria"/>
              </a:rPr>
              <a:t>C++:</a:t>
            </a:r>
          </a:p>
          <a:p>
            <a:pPr>
              <a:tabLst>
                <a:tab pos="548640" algn="l"/>
                <a:tab pos="1920240" algn="l"/>
              </a:tabLst>
            </a:pPr>
            <a:r>
              <a:rPr sz="2400" b="0">
                <a:latin typeface="Cambria"/>
              </a:rPr>
              <a:t>	struct	members </a:t>
            </a:r>
            <a:r>
              <a:rPr sz="2400" b="1">
                <a:latin typeface="Cambria"/>
              </a:rPr>
              <a:t>public</a:t>
            </a:r>
            <a:r>
              <a:rPr sz="2400" b="0">
                <a:latin typeface="Cambria"/>
              </a:rPr>
              <a:t> by default</a:t>
            </a:r>
          </a:p>
          <a:p>
            <a:pPr>
              <a:tabLst>
                <a:tab pos="548640" algn="l"/>
                <a:tab pos="1920240" algn="l"/>
              </a:tabLst>
            </a:pPr>
            <a:r>
              <a:rPr sz="2400" b="0">
                <a:latin typeface="Cambria"/>
              </a:rPr>
              <a:t>	class	members </a:t>
            </a:r>
            <a:r>
              <a:rPr sz="2400" b="1">
                <a:latin typeface="Cambria"/>
              </a:rPr>
              <a:t>private</a:t>
            </a:r>
            <a:r>
              <a:rPr sz="2400" b="0">
                <a:latin typeface="Cambria"/>
              </a:rPr>
              <a:t> by default</a:t>
            </a:r>
          </a:p>
          <a:p>
            <a:pPr>
              <a:tabLst>
                <a:tab pos="548640" algn="l"/>
                <a:tab pos="1920240" algn="l"/>
              </a:tabLst>
            </a:pPr>
            <a:r>
              <a:rPr sz="2400" b="0">
                <a:latin typeface="Cambria"/>
              </a:rPr>
              <a:t>	public:   private:   labels change it</a:t>
            </a:r>
          </a:p>
          <a:p>
            <a:pPr>
              <a:tabLst>
                <a:tab pos="548640" algn="l"/>
                <a:tab pos="19202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920240" algn="l"/>
              </a:tabLst>
            </a:pPr>
            <a:r>
              <a:rPr sz="2400" b="0">
                <a:latin typeface="Cambria"/>
              </a:rPr>
              <a:t>Rust:</a:t>
            </a:r>
          </a:p>
          <a:p>
            <a:pPr>
              <a:tabLst>
                <a:tab pos="548640" algn="l"/>
                <a:tab pos="1920240" algn="l"/>
              </a:tabLst>
            </a:pPr>
            <a:r>
              <a:rPr sz="2400" b="0">
                <a:latin typeface="Cambria"/>
              </a:rPr>
              <a:t>	fields and methods are </a:t>
            </a:r>
            <a:r>
              <a:rPr sz="2400" b="1">
                <a:latin typeface="Cambria"/>
              </a:rPr>
              <a:t>private</a:t>
            </a:r>
            <a:r>
              <a:rPr sz="2400" b="0">
                <a:latin typeface="Cambria"/>
              </a:rPr>
              <a:t> to the module</a:t>
            </a:r>
          </a:p>
          <a:p>
            <a:pPr>
              <a:tabLst>
                <a:tab pos="548640" algn="l"/>
                <a:tab pos="1920240" algn="l"/>
              </a:tabLst>
            </a:pPr>
            <a:r>
              <a:rPr sz="2400" b="0">
                <a:latin typeface="Cambria"/>
              </a:rPr>
              <a:t>	pub  makes them public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Why Hide the Data?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psi must always match adc_counts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If anyone can write  my_sample.psi = 99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the two disagree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Make the fields </a:t>
            </a:r>
            <a:r>
              <a:rPr sz="2500" b="1">
                <a:latin typeface="Cambria"/>
              </a:rPr>
              <a:t>private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Allow changes only through  </a:t>
            </a:r>
            <a:r>
              <a:rPr sz="2500" b="1">
                <a:latin typeface="Cambria"/>
              </a:rPr>
              <a:t>update ( )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The type protects its own rules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Functions in the Debugger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194560" algn="l"/>
              </a:tabLst>
            </a:pPr>
            <a:r>
              <a:rPr sz="2500" b="0">
                <a:latin typeface="Cambria"/>
              </a:rPr>
              <a:t>step	go </a:t>
            </a:r>
            <a:r>
              <a:rPr sz="2500" b="1">
                <a:latin typeface="Cambria"/>
              </a:rPr>
              <a:t>into</a:t>
            </a:r>
            <a:r>
              <a:rPr sz="2500" b="0">
                <a:latin typeface="Cambria"/>
              </a:rPr>
              <a:t> the call</a:t>
            </a:r>
          </a:p>
          <a:p>
            <a:pPr>
              <a:tabLst>
                <a:tab pos="2194560" algn="l"/>
              </a:tabLst>
            </a:pPr>
            <a:r>
              <a:rPr sz="2500" b="0">
                <a:latin typeface="Cambria"/>
              </a:rPr>
              <a:t>next	run the call, stop after it</a:t>
            </a:r>
          </a:p>
          <a:p>
            <a:pPr>
              <a:tabLst>
                <a:tab pos="2194560" algn="l"/>
              </a:tabLst>
            </a:pPr>
            <a:r>
              <a:rPr sz="2500" b="0">
                <a:latin typeface="Cambria"/>
              </a:rPr>
              <a:t>finish	run until this function returns</a:t>
            </a:r>
          </a:p>
          <a:p>
            <a:pPr>
              <a:tabLst>
                <a:tab pos="2194560" algn="l"/>
              </a:tabLst>
            </a:pPr>
            <a:r>
              <a:rPr sz="2500" b="0">
                <a:latin typeface="Cambria"/>
              </a:rPr>
              <a:t>backtrace	show the stack of frames</a:t>
            </a:r>
          </a:p>
          <a:p>
            <a:pPr>
              <a:tabLst>
                <a:tab pos="2194560" algn="l"/>
              </a:tabLst>
            </a:pPr>
            <a:r>
              <a:rPr sz="2500" b="0">
                <a:latin typeface="Cambria"/>
              </a:rPr>
              <a:t>frame 1	look at the caller's variables</a:t>
            </a:r>
          </a:p>
          <a:p>
            <a:pPr>
              <a:tabLst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194560" algn="l"/>
              </a:tabLst>
            </a:pPr>
            <a:r>
              <a:rPr sz="2500" b="0">
                <a:latin typeface="Cambria"/>
              </a:rPr>
              <a:t>Now the stack in backtrace makes sense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Good Function Habits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Do </a:t>
            </a:r>
            <a:r>
              <a:rPr sz="2500" b="1">
                <a:latin typeface="Cambria"/>
              </a:rPr>
              <a:t>one</a:t>
            </a:r>
            <a:r>
              <a:rPr sz="2500" b="0">
                <a:latin typeface="Cambria"/>
              </a:rPr>
              <a:t> job</a:t>
            </a:r>
          </a:p>
          <a:p>
            <a:pPr>
              <a:tabLst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Name it with a verb:	update,  show,  adc_to_psi</a:t>
            </a:r>
          </a:p>
          <a:p>
            <a:pPr>
              <a:tabLst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Keep it short enough to see all at once</a:t>
            </a:r>
          </a:p>
          <a:p>
            <a:pPr>
              <a:tabLst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Few parameters - group the rest in a struct</a:t>
            </a:r>
          </a:p>
          <a:p>
            <a:pPr>
              <a:tabLst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840480" algn="l"/>
              </a:tabLst>
            </a:pPr>
            <a:r>
              <a:rPr sz="2500" b="0">
                <a:latin typeface="Cambria"/>
              </a:rPr>
              <a:t>Pass read-only data as  const  or  &amp;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We Can Now Do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108960" algn="l"/>
              </a:tabLst>
            </a:pPr>
            <a:r>
              <a:rPr sz="2400" b="1">
                <a:latin typeface="Cambria"/>
              </a:rPr>
              <a:t>Functions</a:t>
            </a:r>
            <a:r>
              <a:rPr sz="2400" b="0">
                <a:latin typeface="Cambria"/>
              </a:rPr>
              <a:t>	name a group of statements</a:t>
            </a:r>
          </a:p>
          <a:p>
            <a:pPr>
              <a:tabLst>
                <a:tab pos="31089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108960" algn="l"/>
              </a:tabLst>
            </a:pPr>
            <a:r>
              <a:rPr sz="2400" b="1">
                <a:latin typeface="Cambria"/>
              </a:rPr>
              <a:t>Parameters</a:t>
            </a:r>
            <a:r>
              <a:rPr sz="2400" b="0">
                <a:latin typeface="Cambria"/>
              </a:rPr>
              <a:t>	receive arguments by value,</a:t>
            </a:r>
          </a:p>
          <a:p>
            <a:pPr>
              <a:tabLst>
                <a:tab pos="3108960" algn="l"/>
              </a:tabLst>
            </a:pPr>
            <a:r>
              <a:rPr sz="2400" b="0">
                <a:latin typeface="Cambria"/>
              </a:rPr>
              <a:t>	by address, or by borrow</a:t>
            </a:r>
          </a:p>
          <a:p>
            <a:pPr>
              <a:tabLst>
                <a:tab pos="31089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108960" algn="l"/>
              </a:tabLst>
            </a:pPr>
            <a:r>
              <a:rPr sz="2400" b="1">
                <a:latin typeface="Cambria"/>
              </a:rPr>
              <a:t>Member functions</a:t>
            </a:r>
            <a:r>
              <a:rPr sz="2400" b="0">
                <a:latin typeface="Cambria"/>
              </a:rPr>
              <a:t>	functions that belong to a type</a:t>
            </a:r>
          </a:p>
          <a:p>
            <a:pPr>
              <a:tabLst>
                <a:tab pos="31089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3108960" algn="l"/>
              </a:tabLst>
            </a:pPr>
            <a:r>
              <a:rPr sz="2400" b="0">
                <a:latin typeface="Cambria"/>
              </a:rPr>
              <a:t>Every call gets its own frame on the stack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Let's practice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Exercise:  Using </a:t>
            </a:r>
            <a:r>
              <a:rPr sz="2800" b="1">
                <a:latin typeface="Cambria"/>
              </a:rPr>
              <a:t>funcpractice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57903</TotalTime>
  <Words>2490</Words>
  <Application>Microsoft Office PowerPoint</Application>
  <PresentationFormat>Custom</PresentationFormat>
  <Paragraphs>633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62</vt:i4>
      </vt:variant>
    </vt:vector>
  </HeadingPairs>
  <TitlesOfParts>
    <vt:vector size="75" baseType="lpstr">
      <vt:lpstr>ＭＳ Ｐゴシック</vt:lpstr>
      <vt:lpstr>Arial</vt:lpstr>
      <vt:lpstr>Calibri</vt:lpstr>
      <vt:lpstr>Cambria</vt:lpstr>
      <vt:lpstr>DejaVu Sans</vt:lpstr>
      <vt:lpstr>OpenSymbol</vt:lpstr>
      <vt:lpstr>Osaka</vt:lpstr>
      <vt:lpstr>Symbol</vt:lpstr>
      <vt:lpstr>Times New Roman</vt:lpstr>
      <vt:lpstr>Wingdings</vt:lpstr>
      <vt:lpstr>Office Theme</vt:lpstr>
      <vt:lpstr>Theme1</vt:lpstr>
      <vt:lpstr>1_Theme1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</dc:title>
  <dc:subject/>
  <dc:creator>Bill Swartz</dc:creator>
  <dc:description/>
  <cp:lastModifiedBy>Bill Swartz</cp:lastModifiedBy>
  <cp:revision>546</cp:revision>
  <dcterms:created xsi:type="dcterms:W3CDTF">2013-08-28T11:36:20Z</dcterms:created>
  <dcterms:modified xsi:type="dcterms:W3CDTF">2026-10-05T13:45:01Z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2012-08-29T00:00:00Z</vt:filetime>
  </property>
  <property fmtid="{D5CDD505-2E9C-101B-9397-08002B2CF9AE}" pid="3" name="LastSaved">
    <vt:filetime>2013-08-28T00:00:00Z</vt:filetime>
  </property>
  <property fmtid="{D5CDD505-2E9C-101B-9397-08002B2CF9AE}" pid="4" name="Notes">
    <vt:i4>8</vt:i4>
  </property>
  <property fmtid="{D5CDD505-2E9C-101B-9397-08002B2CF9AE}" pid="5" name="PresentationFormat">
    <vt:lpwstr>Custom</vt:lpwstr>
  </property>
  <property fmtid="{D5CDD505-2E9C-101B-9397-08002B2CF9AE}" pid="6" name="Slides">
    <vt:i4>8</vt:i4>
  </property>
</Properties>
</file>