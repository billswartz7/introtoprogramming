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91"/>
  </p:notesMasterIdLst>
  <p:sldIdLst>
    <p:sldId id="256" r:id="rId4"/>
    <p:sldId id="257" r:id="rId5"/>
    <p:sldId id="258" r:id="rId6"/>
    <p:sldId id="284" r:id="rId7"/>
    <p:sldId id="285" r:id="rId8"/>
    <p:sldId id="286" r:id="rId9"/>
    <p:sldId id="287" r:id="rId10"/>
    <p:sldId id="288" r:id="rId11"/>
    <p:sldId id="289" r:id="rId12"/>
    <p:sldId id="326" r:id="rId13"/>
    <p:sldId id="290" r:id="rId14"/>
    <p:sldId id="292" r:id="rId15"/>
    <p:sldId id="291" r:id="rId16"/>
    <p:sldId id="293" r:id="rId17"/>
    <p:sldId id="307" r:id="rId18"/>
    <p:sldId id="308" r:id="rId19"/>
    <p:sldId id="310" r:id="rId20"/>
    <p:sldId id="328" r:id="rId21"/>
    <p:sldId id="327" r:id="rId22"/>
    <p:sldId id="309" r:id="rId23"/>
    <p:sldId id="311" r:id="rId24"/>
    <p:sldId id="313" r:id="rId25"/>
    <p:sldId id="312" r:id="rId26"/>
    <p:sldId id="314" r:id="rId27"/>
    <p:sldId id="294" r:id="rId28"/>
    <p:sldId id="295" r:id="rId29"/>
    <p:sldId id="315" r:id="rId30"/>
    <p:sldId id="296" r:id="rId31"/>
    <p:sldId id="259" r:id="rId32"/>
    <p:sldId id="260" r:id="rId33"/>
    <p:sldId id="261" r:id="rId34"/>
    <p:sldId id="262" r:id="rId35"/>
    <p:sldId id="263" r:id="rId36"/>
    <p:sldId id="264" r:id="rId37"/>
    <p:sldId id="265" r:id="rId38"/>
    <p:sldId id="266" r:id="rId39"/>
    <p:sldId id="267" r:id="rId40"/>
    <p:sldId id="297" r:id="rId41"/>
    <p:sldId id="280" r:id="rId42"/>
    <p:sldId id="317" r:id="rId43"/>
    <p:sldId id="318" r:id="rId44"/>
    <p:sldId id="319" r:id="rId45"/>
    <p:sldId id="320" r:id="rId46"/>
    <p:sldId id="316" r:id="rId47"/>
    <p:sldId id="281" r:id="rId48"/>
    <p:sldId id="282" r:id="rId49"/>
    <p:sldId id="283" r:id="rId50"/>
    <p:sldId id="298" r:id="rId51"/>
    <p:sldId id="299" r:id="rId52"/>
    <p:sldId id="300" r:id="rId53"/>
    <p:sldId id="301" r:id="rId54"/>
    <p:sldId id="302" r:id="rId55"/>
    <p:sldId id="303" r:id="rId56"/>
    <p:sldId id="304" r:id="rId57"/>
    <p:sldId id="305" r:id="rId58"/>
    <p:sldId id="306" r:id="rId59"/>
    <p:sldId id="273" r:id="rId60"/>
    <p:sldId id="274" r:id="rId61"/>
    <p:sldId id="275" r:id="rId62"/>
    <p:sldId id="276" r:id="rId63"/>
    <p:sldId id="277" r:id="rId64"/>
    <p:sldId id="278" r:id="rId65"/>
    <p:sldId id="279" r:id="rId66"/>
    <p:sldId id="268" r:id="rId67"/>
    <p:sldId id="269" r:id="rId68"/>
    <p:sldId id="270" r:id="rId69"/>
    <p:sldId id="271" r:id="rId70"/>
    <p:sldId id="272" r:id="rId71"/>
    <p:sldId id="321" r:id="rId72"/>
    <p:sldId id="322" r:id="rId73"/>
    <p:sldId id="323" r:id="rId74"/>
    <p:sldId id="343" r:id="rId75"/>
    <p:sldId id="344" r:id="rId76"/>
    <p:sldId id="345" r:id="rId77"/>
    <p:sldId id="346" r:id="rId78"/>
    <p:sldId id="347" r:id="rId79"/>
    <p:sldId id="348" r:id="rId80"/>
    <p:sldId id="349" r:id="rId81"/>
    <p:sldId id="350" r:id="rId82"/>
    <p:sldId id="351" r:id="rId83"/>
    <p:sldId id="352" r:id="rId84"/>
    <p:sldId id="353" r:id="rId85"/>
    <p:sldId id="354" r:id="rId86"/>
    <p:sldId id="355" r:id="rId87"/>
    <p:sldId id="356" r:id="rId88"/>
    <p:sldId id="357" r:id="rId89"/>
    <p:sldId id="358" r:id="rId90"/>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showGuides="1">
      <p:cViewPr varScale="1">
        <p:scale>
          <a:sx n="97" d="100"/>
          <a:sy n="97" d="100"/>
        </p:scale>
        <p:origin x="2148" y="78"/>
      </p:cViewPr>
      <p:guideLst>
        <p:guide orient="horz" pos="2424"/>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slide" Target="slides/slide86.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PlaceHolder 1"/>
          <p:cNvSpPr>
            <a:spLocks noGrp="1"/>
          </p:cNvSpPr>
          <p:nvPr>
            <p:ph type="sldNum" idx="19"/>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E84248F-72EB-4DE5-929E-276F76CCF674}"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
        <p:nvSpPr>
          <p:cNvPr id="439" name="Rectangle 7"/>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F1AD9CE5-08E1-4DC7-8E48-11CF26660D51}" type="slidenum">
              <a:rPr lang="en-US" sz="1200" b="0" u="none" strike="noStrike">
                <a:solidFill>
                  <a:schemeClr val="dk1"/>
                </a:solidFill>
                <a:effectLst/>
                <a:uFillTx/>
                <a:latin typeface="Arial"/>
                <a:ea typeface="+mn-ea"/>
              </a:rPr>
              <a:t>1</a:t>
            </a:fld>
            <a:endParaRPr lang="en-US" sz="1200" b="0" u="none" strike="noStrike">
              <a:solidFill>
                <a:srgbClr val="000000"/>
              </a:solidFill>
              <a:effectLst/>
              <a:uFillTx/>
              <a:latin typeface="Arial"/>
            </a:endParaRPr>
          </a:p>
        </p:txBody>
      </p:sp>
      <p:sp>
        <p:nvSpPr>
          <p:cNvPr id="440" name="PlaceHolder 2"/>
          <p:cNvSpPr>
            <a:spLocks noGrp="1" noRot="1" noChangeAspect="1"/>
          </p:cNvSpPr>
          <p:nvPr>
            <p:ph type="sldImg"/>
          </p:nvPr>
        </p:nvSpPr>
        <p:spPr>
          <a:xfrm>
            <a:off x="1192213" y="690563"/>
            <a:ext cx="4467225" cy="3451225"/>
          </a:xfrm>
          <a:prstGeom prst="rect">
            <a:avLst/>
          </a:prstGeom>
          <a:ln w="0">
            <a:noFill/>
          </a:ln>
        </p:spPr>
      </p:sp>
      <p:sp>
        <p:nvSpPr>
          <p:cNvPr id="441"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512294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722897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230482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947784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02771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643392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373754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948551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634147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806794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34015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67484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932139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16304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557694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41707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89216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830346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19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595270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884068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872351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5090043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690510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439440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126088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4314671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417987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018765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29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132323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762562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9703145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9625937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0548098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0371721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276678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105453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4731996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3381050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39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39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2609327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845415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5059299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617143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6895288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1582935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6753326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032993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840728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3347069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49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49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952987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307916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5743316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0383121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02860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6095565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2979705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4912381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6450402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5611601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59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59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4388031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7367523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796535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62</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62</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5988192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63</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63</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3452522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64</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64</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1820400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65</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65</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21350429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66</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66</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13911340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67</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67</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4208828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68</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68</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7987072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69</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69</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51006552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70</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70</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5968767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20"/>
          </p:nvPr>
        </p:nvSpPr>
        <p:spPr>
          <a:xfrm>
            <a:off x="5697360" y="7383600"/>
            <a:ext cx="4358520" cy="3880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F6691F-C7A3-4556-AC77-1B0F1CAD3F1B}" type="slidenum">
              <a:rPr lang="en-US" sz="1200" b="0" u="none" strike="noStrike">
                <a:solidFill>
                  <a:srgbClr val="000000"/>
                </a:solidFill>
                <a:effectLst/>
                <a:uFillTx/>
                <a:latin typeface="Times New Roman"/>
              </a:rPr>
              <a:t>71</a:t>
            </a:fld>
            <a:endParaRPr lang="en-US" sz="1200" b="0" u="none" strike="noStrike">
              <a:solidFill>
                <a:srgbClr val="000000"/>
              </a:solidFill>
              <a:effectLst/>
              <a:uFillTx/>
              <a:latin typeface="Times New Roman"/>
            </a:endParaRPr>
          </a:p>
        </p:txBody>
      </p:sp>
      <p:sp>
        <p:nvSpPr>
          <p:cNvPr id="443" name="Rectangle 3"/>
          <p:cNvSpPr/>
          <p:nvPr/>
        </p:nvSpPr>
        <p:spPr>
          <a:xfrm>
            <a:off x="3885840" y="8685720"/>
            <a:ext cx="2971440" cy="457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6800" rIns="90000" bIns="46800" anchor="b">
            <a:noAutofit/>
          </a:bodyPr>
          <a:lstStyle/>
          <a:p>
            <a:pPr algn="r" defTabSz="914400">
              <a:lnSpc>
                <a:spcPct val="100000"/>
              </a:lnSpc>
            </a:pPr>
            <a:fld id="{AA1B4B1D-9258-481C-811D-9E5067CFB9CB}" type="slidenum">
              <a:rPr lang="en-US" sz="1200" b="0" u="none" strike="noStrike">
                <a:solidFill>
                  <a:schemeClr val="dk1"/>
                </a:solidFill>
                <a:effectLst/>
                <a:uFillTx/>
                <a:latin typeface="Arial"/>
                <a:ea typeface="+mn-ea"/>
              </a:rPr>
              <a:t>71</a:t>
            </a:fld>
            <a:endParaRPr lang="en-US" sz="1200" b="0" u="none" strike="noStrike">
              <a:solidFill>
                <a:srgbClr val="000000"/>
              </a:solidFill>
              <a:effectLst/>
              <a:uFillTx/>
              <a:latin typeface="Arial"/>
            </a:endParaRPr>
          </a:p>
        </p:txBody>
      </p:sp>
      <p:sp>
        <p:nvSpPr>
          <p:cNvPr id="444" name="PlaceHolder 2"/>
          <p:cNvSpPr>
            <a:spLocks noGrp="1" noRot="1" noChangeAspect="1"/>
          </p:cNvSpPr>
          <p:nvPr>
            <p:ph type="sldImg"/>
          </p:nvPr>
        </p:nvSpPr>
        <p:spPr>
          <a:xfrm>
            <a:off x="1192213" y="690563"/>
            <a:ext cx="4467225" cy="3451225"/>
          </a:xfrm>
          <a:prstGeom prst="rect">
            <a:avLst/>
          </a:prstGeom>
          <a:ln w="0">
            <a:noFill/>
          </a:ln>
        </p:spPr>
      </p:sp>
      <p:sp>
        <p:nvSpPr>
          <p:cNvPr id="445" name="PlaceHolder 3"/>
          <p:cNvSpPr>
            <a:spLocks noGrp="1"/>
          </p:cNvSpPr>
          <p:nvPr>
            <p:ph type="body"/>
          </p:nvPr>
        </p:nvSpPr>
        <p:spPr>
          <a:xfrm>
            <a:off x="901800" y="4374000"/>
            <a:ext cx="5046120" cy="4066200"/>
          </a:xfrm>
          <a:prstGeom prst="rect">
            <a:avLst/>
          </a:prstGeom>
          <a:noFill/>
          <a:ln w="0">
            <a:noFill/>
          </a:ln>
        </p:spPr>
        <p:txBody>
          <a:bodyPr lIns="90000" tIns="46800" rIns="90000" bIns="46800" anchor="t">
            <a:noAutofit/>
          </a:bodyPr>
          <a:lstStyle/>
          <a:p>
            <a:pPr indent="0">
              <a:buNone/>
            </a:pP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09169930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Ask the class what is in the file besides instructions. The honest answer is: most of it. The loader has to be told what to do with the bytes, and that description travels with them.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781316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same container for all four is the point of the name: linkable AND executable. A .o is an ELF file the linker reads; the program is an ELF file the kernel reads.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547646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ELF file begins with the same four bytes. That is how the file command knows, how the kernel refuses to run a text file, and what you see if you open the binary in emacs hexl-mode. The three ASCII letters are deliberate - a human reading a dump can see what it is.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901089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After the magic, the file says how to read the rest of itself: 32 or 64 bit, little or big endian, which ABI. The loader must know all of that before it can interpret a single field.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551185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Sixty-four bytes at the front of the file. The two offsets at the bottom are the important ones - they are the roots of the two views we are about to meet.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401611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slide to remember. The same bytes are described twice, for two different readers. The linker reads sections while it is building the program; the kernel reads segments while it is loading it. Neither one needs the other table.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664526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Sections are a build-time idea. Their names start with a dot by convention, and the linker decides which input sections go into which output section.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660795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Walk down the column on the right. Everything a program needs is here, and each kind of thing has its own section so the linker can treat it correctly.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7144167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abstract picture from "Two Views", now with the real section names in it. Walk down the column: the two grey tables at the top and bottom are the two views, and everything between them is the program. Point out that only the middle group is loaded, and that .bss is in the list even though it contributes no bytes to the file.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3060504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loader never reads a section name. It reads a short list of LOAD entries and maps memory accordingly. That is why a stripped binary still runs perfectly.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1914139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Sections with the same permissions are grouped together, because permissions are set per memory page. Code and constants are read-only, so they share one segment; writable data shares another. Two LOAD entries, and the program is in memory.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6015069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satisfying demonstration: declare a huge uninitialized array, build, and watch the file size not change. Then initialize it to anything non-zero and watch the file grow. This is the same .data / .bss split we met in the scope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5354609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main is an ordinary function that somebody else calls. _start comes from crt1.o, which the linker adds without being asked - which is why a program with no main still links to something, and why main can return a value at all.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708327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nm output from the build lecture, now with the letters explained: the letter is the section the symbol lives in. Undefined printf is resolved by libc at link or load time. Lowercase letters mean the symbol is local to the file.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761094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Comparing first.o with first is the exercise that makes the linker concrete: the object file has sections but no segments and no entry point, because it is not loadable yet. Sections are for building, segments are for running.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3115077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Summary. The one sentence: the same bytes are described twice, once for the tool that builds the program and once for the tool that runs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1099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AutoShape 3"/>
          <p:cNvSpPr/>
          <p:nvPr/>
        </p:nvSpPr>
        <p:spPr>
          <a:xfrm>
            <a:off x="481680" y="1829520"/>
            <a:ext cx="8643270" cy="135183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Our first program</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Our goal</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4153530"/>
          </a:xfrm>
          <a:prstGeom prst="rect">
            <a:avLst/>
          </a:prstGeom>
          <a:noFill/>
          <a:ln w="0">
            <a:noFill/>
          </a:ln>
        </p:spPr>
        <p:txBody>
          <a:bodyPr lIns="90000" tIns="45000" rIns="90000" bIns="45000" anchor="t">
            <a:spAutoFit/>
          </a:bodyPr>
          <a:lstStyle/>
          <a:p>
            <a:pPr>
              <a:buClr>
                <a:srgbClr val="000000"/>
              </a:buClr>
              <a:buSzPct val="45000"/>
            </a:pPr>
            <a:r>
              <a:rPr lang="en-US" sz="6600" dirty="0" smtClean="0">
                <a:solidFill>
                  <a:srgbClr val="000000"/>
                </a:solidFill>
                <a:latin typeface="Arial"/>
              </a:rPr>
              <a:t>Add the first 10 integers together and calculate the sum in C, C++, and Rust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Caveat</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2553091"/>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We will concentrate on the basic translation from text to binary</a:t>
            </a:r>
          </a:p>
          <a:p>
            <a:pPr>
              <a:buClr>
                <a:srgbClr val="000000"/>
              </a:buClr>
              <a:buSzPct val="45000"/>
            </a:pPr>
            <a:endParaRPr lang="en-US" sz="4000" dirty="0" smtClean="0">
              <a:solidFill>
                <a:srgbClr val="000000"/>
              </a:solidFill>
              <a:latin typeface="Arial"/>
            </a:endParaRPr>
          </a:p>
          <a:p>
            <a:pPr>
              <a:buClr>
                <a:srgbClr val="000000"/>
              </a:buClr>
              <a:buSzPct val="45000"/>
            </a:pPr>
            <a:r>
              <a:rPr lang="en-US" sz="4000" dirty="0">
                <a:solidFill>
                  <a:srgbClr val="000000"/>
                </a:solidFill>
                <a:latin typeface="Arial"/>
              </a:rPr>
              <a:t>N</a:t>
            </a:r>
            <a:r>
              <a:rPr lang="en-US" sz="4000" dirty="0" smtClean="0">
                <a:solidFill>
                  <a:srgbClr val="000000"/>
                </a:solidFill>
                <a:latin typeface="Arial"/>
              </a:rPr>
              <a:t>ot the particulars of the code yet</a:t>
            </a:r>
          </a:p>
        </p:txBody>
      </p:sp>
    </p:spTree>
    <p:extLst>
      <p:ext uri="{BB962C8B-B14F-4D97-AF65-F5344CB8AC3E}">
        <p14:creationId xmlns:p14="http://schemas.microsoft.com/office/powerpoint/2010/main" val="3806818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Heart of the Computer</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321985"/>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A computer’s main function is to process data</a:t>
            </a:r>
          </a:p>
        </p:txBody>
      </p:sp>
    </p:spTree>
    <p:extLst>
      <p:ext uri="{BB962C8B-B14F-4D97-AF65-F5344CB8AC3E}">
        <p14:creationId xmlns:p14="http://schemas.microsoft.com/office/powerpoint/2010/main" val="3190857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Heart of the Computer</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321985"/>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The computer performs data processing in the data path</a:t>
            </a:r>
          </a:p>
        </p:txBody>
      </p:sp>
    </p:spTree>
    <p:extLst>
      <p:ext uri="{BB962C8B-B14F-4D97-AF65-F5344CB8AC3E}">
        <p14:creationId xmlns:p14="http://schemas.microsoft.com/office/powerpoint/2010/main" val="550629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Heart of the Computer</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2553091"/>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Data operations are performed on data in the </a:t>
            </a:r>
            <a:r>
              <a:rPr lang="en-US" sz="4000" b="1" dirty="0" err="1" smtClean="0">
                <a:solidFill>
                  <a:srgbClr val="000000"/>
                </a:solidFill>
                <a:latin typeface="Arial"/>
              </a:rPr>
              <a:t>datapath</a:t>
            </a:r>
            <a:endParaRPr lang="en-US" sz="4000" b="1" dirty="0" smtClean="0">
              <a:solidFill>
                <a:srgbClr val="000000"/>
              </a:solidFill>
              <a:latin typeface="Arial"/>
            </a:endParaRP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In our case, the operation is add</a:t>
            </a:r>
          </a:p>
        </p:txBody>
      </p:sp>
    </p:spTree>
    <p:extLst>
      <p:ext uri="{BB962C8B-B14F-4D97-AF65-F5344CB8AC3E}">
        <p14:creationId xmlns:p14="http://schemas.microsoft.com/office/powerpoint/2010/main" val="2075296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Generalize Operation Processing</a:t>
            </a:r>
            <a:endParaRPr lang="en-US" sz="4400" b="0" u="none" strike="noStrike" dirty="0">
              <a:solidFill>
                <a:srgbClr val="000000"/>
              </a:solidFill>
              <a:effectLst/>
              <a:uFillTx/>
              <a:latin typeface="Arial"/>
            </a:endParaRPr>
          </a:p>
        </p:txBody>
      </p:sp>
      <p:sp>
        <p:nvSpPr>
          <p:cNvPr id="388" name="TextBox 387"/>
          <p:cNvSpPr txBox="1"/>
          <p:nvPr/>
        </p:nvSpPr>
        <p:spPr>
          <a:xfrm>
            <a:off x="758880" y="2241989"/>
            <a:ext cx="8997840" cy="3784198"/>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All types of operation are possible on data in the </a:t>
            </a:r>
            <a:r>
              <a:rPr lang="en-US" sz="4000" b="1" dirty="0" err="1" smtClean="0">
                <a:solidFill>
                  <a:srgbClr val="000000"/>
                </a:solidFill>
                <a:latin typeface="Arial"/>
              </a:rPr>
              <a:t>datapath</a:t>
            </a:r>
            <a:endParaRPr lang="en-US" sz="4000" b="1" dirty="0" smtClean="0">
              <a:solidFill>
                <a:srgbClr val="000000"/>
              </a:solidFill>
              <a:latin typeface="Arial"/>
            </a:endParaRP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We can do arithmetic like </a:t>
            </a:r>
            <a:r>
              <a:rPr lang="en-US" sz="4000" b="1" dirty="0" smtClean="0">
                <a:solidFill>
                  <a:srgbClr val="FF0000"/>
                </a:solidFill>
                <a:latin typeface="Arial"/>
              </a:rPr>
              <a:t>add</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We can do logic like </a:t>
            </a:r>
            <a:r>
              <a:rPr lang="en-US" sz="4000" b="1" dirty="0" smtClean="0">
                <a:solidFill>
                  <a:srgbClr val="FF0000"/>
                </a:solidFill>
                <a:latin typeface="Arial"/>
              </a:rPr>
              <a:t>and</a:t>
            </a:r>
          </a:p>
        </p:txBody>
      </p:sp>
    </p:spTree>
    <p:extLst>
      <p:ext uri="{BB962C8B-B14F-4D97-AF65-F5344CB8AC3E}">
        <p14:creationId xmlns:p14="http://schemas.microsoft.com/office/powerpoint/2010/main" val="37499535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Generalize Operation Processing</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4399751"/>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We can make a generalize circuit that does arithmetic and logic </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This is called the Arithmetic Logic Unit</a:t>
            </a:r>
          </a:p>
          <a:p>
            <a:pPr>
              <a:buClr>
                <a:srgbClr val="000000"/>
              </a:buClr>
              <a:buSzPct val="45000"/>
            </a:pPr>
            <a:r>
              <a:rPr lang="en-US" sz="4000" dirty="0">
                <a:solidFill>
                  <a:srgbClr val="000000"/>
                </a:solidFill>
                <a:latin typeface="Arial"/>
              </a:rPr>
              <a:t>o</a:t>
            </a:r>
            <a:r>
              <a:rPr lang="en-US" sz="4000" dirty="0" smtClean="0">
                <a:solidFill>
                  <a:srgbClr val="000000"/>
                </a:solidFill>
                <a:latin typeface="Arial"/>
              </a:rPr>
              <a:t>r ALU</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It is the heart of the computer</a:t>
            </a:r>
          </a:p>
        </p:txBody>
      </p:sp>
    </p:spTree>
    <p:extLst>
      <p:ext uri="{BB962C8B-B14F-4D97-AF65-F5344CB8AC3E}">
        <p14:creationId xmlns:p14="http://schemas.microsoft.com/office/powerpoint/2010/main" val="1290057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ALU</a:t>
            </a:r>
            <a:endParaRPr lang="en-US" sz="4400" b="0" u="none" strike="noStrike" dirty="0">
              <a:solidFill>
                <a:srgbClr val="000000"/>
              </a:solidFill>
              <a:effectLst/>
              <a:uFillTx/>
              <a:latin typeface="Arial"/>
            </a:endParaRPr>
          </a:p>
        </p:txBody>
      </p:sp>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4400" dirty="0" smtClean="0"/>
              <a:t>ALU</a:t>
            </a:r>
            <a:endParaRPr lang="en-US" sz="4400" dirty="0"/>
          </a:p>
        </p:txBody>
      </p:sp>
      <p:sp>
        <p:nvSpPr>
          <p:cNvPr id="2" name="TextBox 1"/>
          <p:cNvSpPr txBox="1"/>
          <p:nvPr/>
        </p:nvSpPr>
        <p:spPr>
          <a:xfrm>
            <a:off x="7248525" y="4321208"/>
            <a:ext cx="886781" cy="369332"/>
          </a:xfrm>
          <a:prstGeom prst="rect">
            <a:avLst/>
          </a:prstGeom>
          <a:noFill/>
        </p:spPr>
        <p:txBody>
          <a:bodyPr wrap="none" rtlCol="0">
            <a:spAutoFit/>
          </a:bodyPr>
          <a:lstStyle/>
          <a:p>
            <a:r>
              <a:rPr lang="en-US" dirty="0" smtClean="0"/>
              <a:t>Answer</a:t>
            </a:r>
            <a:endParaRPr lang="en-US" dirty="0"/>
          </a:p>
        </p:txBody>
      </p:sp>
    </p:spTree>
    <p:extLst>
      <p:ext uri="{BB962C8B-B14F-4D97-AF65-F5344CB8AC3E}">
        <p14:creationId xmlns:p14="http://schemas.microsoft.com/office/powerpoint/2010/main" val="2511036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Building an ALU</a:t>
            </a:r>
            <a:endParaRPr lang="en-US" sz="4400" b="0" u="none" strike="noStrike" dirty="0">
              <a:solidFill>
                <a:srgbClr val="000000"/>
              </a:solidFill>
              <a:effectLst/>
              <a:uFillTx/>
              <a:latin typeface="Arial"/>
            </a:endParaRPr>
          </a:p>
        </p:txBody>
      </p:sp>
      <p:sp>
        <p:nvSpPr>
          <p:cNvPr id="388" name="TextBox 387"/>
          <p:cNvSpPr txBox="1"/>
          <p:nvPr/>
        </p:nvSpPr>
        <p:spPr>
          <a:xfrm>
            <a:off x="758880" y="2241989"/>
            <a:ext cx="8997840" cy="5015304"/>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We can design an ALU using digital electronic circuits known as gates</a:t>
            </a:r>
          </a:p>
          <a:p>
            <a:pPr>
              <a:buClr>
                <a:srgbClr val="000000"/>
              </a:buClr>
              <a:buSzPct val="45000"/>
            </a:pPr>
            <a:endParaRPr lang="en-US" sz="4000" b="1" dirty="0">
              <a:solidFill>
                <a:srgbClr val="000000"/>
              </a:solidFill>
              <a:latin typeface="Arial"/>
            </a:endParaRPr>
          </a:p>
          <a:p>
            <a:pPr>
              <a:buClr>
                <a:srgbClr val="000000"/>
              </a:buClr>
              <a:buSzPct val="45000"/>
            </a:pPr>
            <a:r>
              <a:rPr lang="en-US" sz="4000" dirty="0" smtClean="0">
                <a:solidFill>
                  <a:srgbClr val="000000"/>
                </a:solidFill>
                <a:latin typeface="Arial"/>
              </a:rPr>
              <a:t>Today we can synthesize ALUs using computer aided design tools known as CAD tools</a:t>
            </a:r>
          </a:p>
          <a:p>
            <a:pPr>
              <a:buClr>
                <a:srgbClr val="000000"/>
              </a:buClr>
              <a:buSzPct val="45000"/>
            </a:pPr>
            <a:endParaRPr lang="en-US" sz="4000" b="1" dirty="0">
              <a:solidFill>
                <a:srgbClr val="000000"/>
              </a:solidFill>
              <a:latin typeface="Arial"/>
            </a:endParaRPr>
          </a:p>
          <a:p>
            <a:pPr>
              <a:buClr>
                <a:srgbClr val="000000"/>
              </a:buClr>
              <a:buSzPct val="45000"/>
            </a:pPr>
            <a:endParaRPr lang="en-US" sz="4000" b="1" dirty="0" smtClean="0">
              <a:solidFill>
                <a:srgbClr val="FF0000"/>
              </a:solidFill>
              <a:latin typeface="Arial"/>
            </a:endParaRPr>
          </a:p>
        </p:txBody>
      </p:sp>
    </p:spTree>
    <p:extLst>
      <p:ext uri="{BB962C8B-B14F-4D97-AF65-F5344CB8AC3E}">
        <p14:creationId xmlns:p14="http://schemas.microsoft.com/office/powerpoint/2010/main" val="21109514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15774"/>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4 Bit Adder Circuit</a:t>
            </a:r>
            <a:endParaRPr lang="en-US" sz="4400" b="0" u="none" strike="noStrike" dirty="0">
              <a:solidFill>
                <a:srgbClr val="000000"/>
              </a:solidFill>
              <a:effectLst/>
              <a:uFillTx/>
              <a:latin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6090" y="1784699"/>
            <a:ext cx="3365500" cy="5871466"/>
          </a:xfrm>
          <a:prstGeom prst="rect">
            <a:avLst/>
          </a:prstGeom>
        </p:spPr>
      </p:pic>
    </p:spTree>
    <p:extLst>
      <p:ext uri="{BB962C8B-B14F-4D97-AF65-F5344CB8AC3E}">
        <p14:creationId xmlns:p14="http://schemas.microsoft.com/office/powerpoint/2010/main" val="261678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Building a Computer</a:t>
            </a:r>
            <a:endParaRPr lang="en-US" sz="4400" b="0" u="none" strike="noStrike" dirty="0">
              <a:solidFill>
                <a:srgbClr val="000000"/>
              </a:solidFill>
              <a:effectLst/>
              <a:uFillTx/>
              <a:latin typeface="Arial"/>
            </a:endParaRPr>
          </a:p>
        </p:txBody>
      </p:sp>
      <p:sp>
        <p:nvSpPr>
          <p:cNvPr id="3" name="TextBox 2"/>
          <p:cNvSpPr txBox="1"/>
          <p:nvPr/>
        </p:nvSpPr>
        <p:spPr>
          <a:xfrm>
            <a:off x="1028700" y="2190750"/>
            <a:ext cx="8254527" cy="3785652"/>
          </a:xfrm>
          <a:prstGeom prst="rect">
            <a:avLst/>
          </a:prstGeom>
          <a:noFill/>
        </p:spPr>
        <p:txBody>
          <a:bodyPr wrap="square" rtlCol="0">
            <a:spAutoFit/>
          </a:bodyPr>
          <a:lstStyle/>
          <a:p>
            <a:r>
              <a:rPr lang="en-US" sz="4000" dirty="0" smtClean="0"/>
              <a:t>Computer can be thought as completing a sequence of steps</a:t>
            </a:r>
          </a:p>
          <a:p>
            <a:endParaRPr lang="en-US" sz="4000" dirty="0"/>
          </a:p>
          <a:p>
            <a:r>
              <a:rPr lang="en-US" sz="4000" dirty="0" smtClean="0"/>
              <a:t>Get an instruction (Fetch)</a:t>
            </a:r>
          </a:p>
          <a:p>
            <a:r>
              <a:rPr lang="en-US" sz="4000" dirty="0" smtClean="0"/>
              <a:t>Figure out what to do (Decode)</a:t>
            </a:r>
          </a:p>
          <a:p>
            <a:r>
              <a:rPr lang="en-US" sz="4000" dirty="0" smtClean="0"/>
              <a:t>Perform the instruction (Execute)</a:t>
            </a:r>
            <a:endParaRPr lang="en-US" sz="4000" dirty="0"/>
          </a:p>
        </p:txBody>
      </p:sp>
    </p:spTree>
    <p:extLst>
      <p:ext uri="{BB962C8B-B14F-4D97-AF65-F5344CB8AC3E}">
        <p14:creationId xmlns:p14="http://schemas.microsoft.com/office/powerpoint/2010/main" val="7519512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Executing an Instruction</a:t>
            </a:r>
            <a:endParaRPr lang="en-US" sz="4400" b="0" u="none" strike="noStrike" dirty="0">
              <a:solidFill>
                <a:srgbClr val="000000"/>
              </a:solidFill>
              <a:effectLst/>
              <a:uFillTx/>
              <a:latin typeface="Arial"/>
            </a:endParaRPr>
          </a:p>
        </p:txBody>
      </p:sp>
      <p:grpSp>
        <p:nvGrpSpPr>
          <p:cNvPr id="2" name="Group 1"/>
          <p:cNvGrpSpPr/>
          <p:nvPr/>
        </p:nvGrpSpPr>
        <p:grpSpPr>
          <a:xfrm>
            <a:off x="3659798" y="5171287"/>
            <a:ext cx="2586404" cy="1457325"/>
            <a:chOff x="2842846" y="3048000"/>
            <a:chExt cx="4219581" cy="3345769"/>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2" name="TextBox 31"/>
            <p:cNvSpPr txBox="1"/>
            <p:nvPr/>
          </p:nvSpPr>
          <p:spPr>
            <a:xfrm>
              <a:off x="4459466" y="4017007"/>
              <a:ext cx="1475308" cy="847923"/>
            </a:xfrm>
            <a:prstGeom prst="rect">
              <a:avLst/>
            </a:prstGeom>
            <a:noFill/>
          </p:spPr>
          <p:txBody>
            <a:bodyPr wrap="square" rtlCol="0">
              <a:spAutoFit/>
            </a:bodyPr>
            <a:lstStyle/>
            <a:p>
              <a:r>
                <a:rPr lang="en-US" dirty="0" smtClean="0"/>
                <a:t>ALU</a:t>
              </a:r>
              <a:endParaRPr lang="en-US" dirty="0"/>
            </a:p>
          </p:txBody>
        </p:sp>
      </p:grpSp>
      <p:sp>
        <p:nvSpPr>
          <p:cNvPr id="3" name="TextBox 2"/>
          <p:cNvSpPr txBox="1"/>
          <p:nvPr/>
        </p:nvSpPr>
        <p:spPr>
          <a:xfrm>
            <a:off x="4123715" y="2199978"/>
            <a:ext cx="1431289" cy="769441"/>
          </a:xfrm>
          <a:prstGeom prst="rect">
            <a:avLst/>
          </a:prstGeom>
          <a:noFill/>
        </p:spPr>
        <p:txBody>
          <a:bodyPr wrap="none" rtlCol="0">
            <a:spAutoFit/>
          </a:bodyPr>
          <a:lstStyle/>
          <a:p>
            <a:r>
              <a:rPr lang="en-US" sz="4400" dirty="0" smtClean="0"/>
              <a:t>Fetch</a:t>
            </a:r>
            <a:endParaRPr lang="en-US" sz="4400" dirty="0"/>
          </a:p>
        </p:txBody>
      </p:sp>
      <p:sp>
        <p:nvSpPr>
          <p:cNvPr id="45" name="TextBox 44"/>
          <p:cNvSpPr txBox="1"/>
          <p:nvPr/>
        </p:nvSpPr>
        <p:spPr>
          <a:xfrm>
            <a:off x="4037211" y="3429141"/>
            <a:ext cx="1922449" cy="769441"/>
          </a:xfrm>
          <a:prstGeom prst="rect">
            <a:avLst/>
          </a:prstGeom>
          <a:noFill/>
        </p:spPr>
        <p:txBody>
          <a:bodyPr wrap="none" rtlCol="0">
            <a:spAutoFit/>
          </a:bodyPr>
          <a:lstStyle/>
          <a:p>
            <a:r>
              <a:rPr lang="en-US" sz="4400" dirty="0" smtClean="0"/>
              <a:t>Decode</a:t>
            </a:r>
            <a:endParaRPr lang="en-US" sz="4400" dirty="0"/>
          </a:p>
        </p:txBody>
      </p:sp>
      <p:cxnSp>
        <p:nvCxnSpPr>
          <p:cNvPr id="6" name="Straight Arrow Connector 5"/>
          <p:cNvCxnSpPr>
            <a:stCxn id="3" idx="2"/>
          </p:cNvCxnSpPr>
          <p:nvPr/>
        </p:nvCxnSpPr>
        <p:spPr>
          <a:xfrm flipH="1">
            <a:off x="4839359" y="2969419"/>
            <a:ext cx="1" cy="561098"/>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4937454" y="4200914"/>
            <a:ext cx="1" cy="561098"/>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232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Do it again!</a:t>
            </a:r>
            <a:endParaRPr lang="en-US" sz="4400" b="0" u="none" strike="noStrike" dirty="0">
              <a:solidFill>
                <a:srgbClr val="000000"/>
              </a:solidFill>
              <a:effectLst/>
              <a:uFillTx/>
              <a:latin typeface="Arial"/>
            </a:endParaRPr>
          </a:p>
        </p:txBody>
      </p:sp>
      <p:grpSp>
        <p:nvGrpSpPr>
          <p:cNvPr id="2" name="Group 1"/>
          <p:cNvGrpSpPr/>
          <p:nvPr/>
        </p:nvGrpSpPr>
        <p:grpSpPr>
          <a:xfrm>
            <a:off x="3659798" y="5248275"/>
            <a:ext cx="2586404" cy="1457325"/>
            <a:chOff x="2842846" y="3048000"/>
            <a:chExt cx="4219581" cy="3345769"/>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2" name="TextBox 31"/>
            <p:cNvSpPr txBox="1"/>
            <p:nvPr/>
          </p:nvSpPr>
          <p:spPr>
            <a:xfrm>
              <a:off x="4459466" y="4017007"/>
              <a:ext cx="1475308" cy="847923"/>
            </a:xfrm>
            <a:prstGeom prst="rect">
              <a:avLst/>
            </a:prstGeom>
            <a:noFill/>
          </p:spPr>
          <p:txBody>
            <a:bodyPr wrap="square" rtlCol="0">
              <a:spAutoFit/>
            </a:bodyPr>
            <a:lstStyle/>
            <a:p>
              <a:r>
                <a:rPr lang="en-US" dirty="0" smtClean="0"/>
                <a:t>ALU</a:t>
              </a:r>
              <a:endParaRPr lang="en-US" dirty="0"/>
            </a:p>
          </p:txBody>
        </p:sp>
      </p:grpSp>
      <p:sp>
        <p:nvSpPr>
          <p:cNvPr id="3" name="TextBox 2"/>
          <p:cNvSpPr txBox="1"/>
          <p:nvPr/>
        </p:nvSpPr>
        <p:spPr>
          <a:xfrm>
            <a:off x="4123715" y="2199978"/>
            <a:ext cx="1431289" cy="769441"/>
          </a:xfrm>
          <a:prstGeom prst="rect">
            <a:avLst/>
          </a:prstGeom>
          <a:noFill/>
        </p:spPr>
        <p:txBody>
          <a:bodyPr wrap="none" rtlCol="0">
            <a:spAutoFit/>
          </a:bodyPr>
          <a:lstStyle/>
          <a:p>
            <a:r>
              <a:rPr lang="en-US" sz="4400" dirty="0" smtClean="0"/>
              <a:t>Fetch</a:t>
            </a:r>
            <a:endParaRPr lang="en-US" sz="4400" dirty="0"/>
          </a:p>
        </p:txBody>
      </p:sp>
      <p:sp>
        <p:nvSpPr>
          <p:cNvPr id="45" name="TextBox 44"/>
          <p:cNvSpPr txBox="1"/>
          <p:nvPr/>
        </p:nvSpPr>
        <p:spPr>
          <a:xfrm>
            <a:off x="4037211" y="3429141"/>
            <a:ext cx="1922449" cy="769441"/>
          </a:xfrm>
          <a:prstGeom prst="rect">
            <a:avLst/>
          </a:prstGeom>
          <a:noFill/>
        </p:spPr>
        <p:txBody>
          <a:bodyPr wrap="none" rtlCol="0">
            <a:spAutoFit/>
          </a:bodyPr>
          <a:lstStyle/>
          <a:p>
            <a:r>
              <a:rPr lang="en-US" sz="4400" dirty="0" smtClean="0"/>
              <a:t>Decode</a:t>
            </a:r>
            <a:endParaRPr lang="en-US" sz="4400" dirty="0"/>
          </a:p>
        </p:txBody>
      </p:sp>
      <p:cxnSp>
        <p:nvCxnSpPr>
          <p:cNvPr id="6" name="Straight Arrow Connector 5"/>
          <p:cNvCxnSpPr>
            <a:stCxn id="3" idx="2"/>
          </p:cNvCxnSpPr>
          <p:nvPr/>
        </p:nvCxnSpPr>
        <p:spPr>
          <a:xfrm flipH="1">
            <a:off x="4839359" y="2969419"/>
            <a:ext cx="1" cy="561098"/>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4937454" y="4277902"/>
            <a:ext cx="1" cy="561098"/>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p:cNvCxnSpPr/>
          <p:nvPr/>
        </p:nvCxnSpPr>
        <p:spPr>
          <a:xfrm>
            <a:off x="4937454" y="7038975"/>
            <a:ext cx="914400" cy="9144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4914900" y="4533900"/>
            <a:ext cx="0" cy="66675"/>
          </a:xfrm>
          <a:custGeom>
            <a:avLst/>
            <a:gdLst>
              <a:gd name="connsiteX0" fmla="*/ 0 w 0"/>
              <a:gd name="connsiteY0" fmla="*/ 0 h 66675"/>
              <a:gd name="connsiteX1" fmla="*/ 0 w 0"/>
              <a:gd name="connsiteY1" fmla="*/ 66675 h 66675"/>
            </a:gdLst>
            <a:ahLst/>
            <a:cxnLst>
              <a:cxn ang="0">
                <a:pos x="connsiteX0" y="connsiteY0"/>
              </a:cxn>
              <a:cxn ang="0">
                <a:pos x="connsiteX1" y="connsiteY1"/>
              </a:cxn>
            </a:cxnLst>
            <a:rect l="l" t="t" r="r" b="b"/>
            <a:pathLst>
              <a:path h="66675">
                <a:moveTo>
                  <a:pt x="0" y="0"/>
                </a:moveTo>
                <a:lnTo>
                  <a:pt x="0" y="66675"/>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p:nvPr/>
        </p:nvCxnSpPr>
        <p:spPr>
          <a:xfrm flipV="1">
            <a:off x="2698617" y="2606909"/>
            <a:ext cx="844683" cy="8021"/>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4944436" y="6801408"/>
            <a:ext cx="1" cy="561098"/>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2438400" y="7198224"/>
            <a:ext cx="1951196" cy="0"/>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2628900" y="2969419"/>
            <a:ext cx="69717" cy="3831990"/>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9923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Memory</a:t>
            </a:r>
            <a:endParaRPr lang="en-US" sz="4400" b="0" u="none" strike="noStrike" dirty="0">
              <a:solidFill>
                <a:srgbClr val="000000"/>
              </a:solidFill>
              <a:effectLst/>
              <a:uFillTx/>
              <a:latin typeface="Arial"/>
            </a:endParaRPr>
          </a:p>
        </p:txBody>
      </p:sp>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4400" dirty="0" smtClean="0"/>
              <a:t>ALU</a:t>
            </a:r>
            <a:endParaRPr lang="en-US" sz="4400" dirty="0"/>
          </a:p>
        </p:txBody>
      </p:sp>
      <p:sp>
        <p:nvSpPr>
          <p:cNvPr id="2" name="TextBox 1"/>
          <p:cNvSpPr txBox="1"/>
          <p:nvPr/>
        </p:nvSpPr>
        <p:spPr>
          <a:xfrm>
            <a:off x="7162800" y="4060180"/>
            <a:ext cx="990600" cy="646331"/>
          </a:xfrm>
          <a:prstGeom prst="rect">
            <a:avLst/>
          </a:prstGeom>
          <a:noFill/>
        </p:spPr>
        <p:txBody>
          <a:bodyPr wrap="square" rtlCol="0">
            <a:spAutoFit/>
          </a:bodyPr>
          <a:lstStyle/>
          <a:p>
            <a:r>
              <a:rPr lang="en-US" sz="3600" dirty="0" smtClean="0"/>
              <a:t>sum</a:t>
            </a:r>
            <a:endParaRPr lang="en-US" sz="3600" dirty="0"/>
          </a:p>
        </p:txBody>
      </p:sp>
      <p:sp>
        <p:nvSpPr>
          <p:cNvPr id="3" name="TextBox 2"/>
          <p:cNvSpPr txBox="1"/>
          <p:nvPr/>
        </p:nvSpPr>
        <p:spPr>
          <a:xfrm>
            <a:off x="1352550" y="1961347"/>
            <a:ext cx="7810500" cy="584775"/>
          </a:xfrm>
          <a:prstGeom prst="rect">
            <a:avLst/>
          </a:prstGeom>
          <a:noFill/>
        </p:spPr>
        <p:txBody>
          <a:bodyPr wrap="square" rtlCol="0">
            <a:spAutoFit/>
          </a:bodyPr>
          <a:lstStyle/>
          <a:p>
            <a:r>
              <a:rPr lang="en-US" sz="3200" dirty="0" smtClean="0"/>
              <a:t>We need to remember a calculation or state</a:t>
            </a:r>
            <a:endParaRPr lang="en-US" sz="3200" dirty="0"/>
          </a:p>
        </p:txBody>
      </p:sp>
    </p:spTree>
    <p:extLst>
      <p:ext uri="{BB962C8B-B14F-4D97-AF65-F5344CB8AC3E}">
        <p14:creationId xmlns:p14="http://schemas.microsoft.com/office/powerpoint/2010/main" val="2865046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Memory</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735357" y="1788467"/>
            <a:ext cx="8321189" cy="2246769"/>
          </a:xfrm>
          <a:prstGeom prst="rect">
            <a:avLst/>
          </a:prstGeom>
          <a:noFill/>
        </p:spPr>
        <p:txBody>
          <a:bodyPr wrap="none" rtlCol="0">
            <a:spAutoFit/>
          </a:bodyPr>
          <a:lstStyle/>
          <a:p>
            <a:r>
              <a:rPr lang="en-US" sz="2800" dirty="0" smtClean="0"/>
              <a:t>Physically have to put the results of the add somewhere</a:t>
            </a:r>
          </a:p>
          <a:p>
            <a:endParaRPr lang="en-US" sz="2800" dirty="0"/>
          </a:p>
          <a:p>
            <a:r>
              <a:rPr lang="en-US" sz="2800" dirty="0" smtClean="0"/>
              <a:t>That place is called the address of sum</a:t>
            </a:r>
          </a:p>
          <a:p>
            <a:endParaRPr lang="en-US" sz="2800" dirty="0"/>
          </a:p>
          <a:p>
            <a:r>
              <a:rPr lang="en-US" sz="2800" dirty="0" smtClean="0"/>
              <a:t>It is the location of a memory device</a:t>
            </a:r>
            <a:endParaRPr lang="en-US" sz="2800" dirty="0"/>
          </a:p>
        </p:txBody>
      </p:sp>
    </p:spTree>
    <p:extLst>
      <p:ext uri="{BB962C8B-B14F-4D97-AF65-F5344CB8AC3E}">
        <p14:creationId xmlns:p14="http://schemas.microsoft.com/office/powerpoint/2010/main" val="1362044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Location of Storage</a:t>
            </a:r>
            <a:endParaRPr lang="en-US" sz="4400" b="0" u="none" strike="noStrike" dirty="0">
              <a:solidFill>
                <a:srgbClr val="000000"/>
              </a:solidFill>
              <a:effectLst/>
              <a:uFillTx/>
              <a:latin typeface="Arial"/>
            </a:endParaRPr>
          </a:p>
        </p:txBody>
      </p:sp>
      <p:sp>
        <p:nvSpPr>
          <p:cNvPr id="3" name="TextBox 2"/>
          <p:cNvSpPr txBox="1"/>
          <p:nvPr/>
        </p:nvSpPr>
        <p:spPr>
          <a:xfrm>
            <a:off x="735357" y="1788467"/>
            <a:ext cx="8846825" cy="3539430"/>
          </a:xfrm>
          <a:prstGeom prst="rect">
            <a:avLst/>
          </a:prstGeom>
          <a:noFill/>
        </p:spPr>
        <p:txBody>
          <a:bodyPr wrap="square" rtlCol="0">
            <a:spAutoFit/>
          </a:bodyPr>
          <a:lstStyle/>
          <a:p>
            <a:r>
              <a:rPr lang="en-US" sz="2800" dirty="0" smtClean="0"/>
              <a:t>Address is the location of memory or symbol (variable)</a:t>
            </a:r>
          </a:p>
          <a:p>
            <a:endParaRPr lang="en-US" sz="2800" dirty="0"/>
          </a:p>
          <a:p>
            <a:r>
              <a:rPr lang="en-US" sz="2800" dirty="0" smtClean="0"/>
              <a:t>The computer knows them as unsigned integers</a:t>
            </a:r>
          </a:p>
          <a:p>
            <a:endParaRPr lang="en-US" sz="2800" dirty="0" smtClean="0"/>
          </a:p>
          <a:p>
            <a:r>
              <a:rPr lang="en-US" sz="2800" dirty="0"/>
              <a:t>W</a:t>
            </a:r>
            <a:r>
              <a:rPr lang="en-US" sz="2800" dirty="0" smtClean="0"/>
              <a:t>hat are integers and unsigned integers?</a:t>
            </a:r>
          </a:p>
          <a:p>
            <a:endParaRPr lang="en-US" sz="2800" dirty="0"/>
          </a:p>
          <a:p>
            <a:r>
              <a:rPr lang="en-US" sz="2800" dirty="0" smtClean="0"/>
              <a:t>Let’s review</a:t>
            </a:r>
          </a:p>
          <a:p>
            <a:endParaRPr lang="en-US" sz="2800" dirty="0"/>
          </a:p>
        </p:txBody>
      </p:sp>
    </p:spTree>
    <p:extLst>
      <p:ext uri="{BB962C8B-B14F-4D97-AF65-F5344CB8AC3E}">
        <p14:creationId xmlns:p14="http://schemas.microsoft.com/office/powerpoint/2010/main" val="3462682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Location of Storage</a:t>
            </a:r>
            <a:endParaRPr lang="en-US" sz="4400" b="0" u="none" strike="noStrike" dirty="0">
              <a:solidFill>
                <a:srgbClr val="000000"/>
              </a:solidFill>
              <a:effectLst/>
              <a:uFillTx/>
              <a:latin typeface="Arial"/>
            </a:endParaRPr>
          </a:p>
        </p:txBody>
      </p:sp>
      <p:sp>
        <p:nvSpPr>
          <p:cNvPr id="3" name="TextBox 2"/>
          <p:cNvSpPr txBox="1"/>
          <p:nvPr/>
        </p:nvSpPr>
        <p:spPr>
          <a:xfrm>
            <a:off x="735357" y="1788467"/>
            <a:ext cx="8846825" cy="2246769"/>
          </a:xfrm>
          <a:prstGeom prst="rect">
            <a:avLst/>
          </a:prstGeom>
          <a:noFill/>
        </p:spPr>
        <p:txBody>
          <a:bodyPr wrap="square" rtlCol="0">
            <a:spAutoFit/>
          </a:bodyPr>
          <a:lstStyle/>
          <a:p>
            <a:r>
              <a:rPr lang="en-US" sz="2800" dirty="0" smtClean="0"/>
              <a:t>Address is the location of memory or symbol (variable)</a:t>
            </a:r>
          </a:p>
          <a:p>
            <a:endParaRPr lang="en-US" sz="2800" dirty="0"/>
          </a:p>
          <a:p>
            <a:r>
              <a:rPr lang="en-US" sz="2800" dirty="0" smtClean="0"/>
              <a:t>The computer knows them as unsigned integers or integers greater or equal to zero</a:t>
            </a:r>
          </a:p>
          <a:p>
            <a:endParaRPr lang="en-US" sz="2800" dirty="0"/>
          </a:p>
        </p:txBody>
      </p:sp>
    </p:spTree>
    <p:extLst>
      <p:ext uri="{BB962C8B-B14F-4D97-AF65-F5344CB8AC3E}">
        <p14:creationId xmlns:p14="http://schemas.microsoft.com/office/powerpoint/2010/main" val="14370352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Location of Storage</a:t>
            </a:r>
            <a:endParaRPr lang="en-US" sz="4400" b="0" u="none" strike="noStrike" dirty="0">
              <a:solidFill>
                <a:srgbClr val="000000"/>
              </a:solidFill>
              <a:effectLst/>
              <a:uFillTx/>
              <a:latin typeface="Arial"/>
            </a:endParaRPr>
          </a:p>
        </p:txBody>
      </p:sp>
      <p:grpSp>
        <p:nvGrpSpPr>
          <p:cNvPr id="4" name="Group 3"/>
          <p:cNvGrpSpPr/>
          <p:nvPr/>
        </p:nvGrpSpPr>
        <p:grpSpPr>
          <a:xfrm>
            <a:off x="3011321" y="4939610"/>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735357" y="1788467"/>
            <a:ext cx="8846825" cy="5262979"/>
          </a:xfrm>
          <a:prstGeom prst="rect">
            <a:avLst/>
          </a:prstGeom>
          <a:noFill/>
        </p:spPr>
        <p:txBody>
          <a:bodyPr wrap="square" rtlCol="0">
            <a:spAutoFit/>
          </a:bodyPr>
          <a:lstStyle/>
          <a:p>
            <a:r>
              <a:rPr lang="en-US" sz="2800" dirty="0" smtClean="0"/>
              <a:t>Address is the location of memory or symbol (variable)</a:t>
            </a:r>
          </a:p>
          <a:p>
            <a:endParaRPr lang="en-US" sz="2800" dirty="0"/>
          </a:p>
          <a:p>
            <a:r>
              <a:rPr lang="en-US" sz="2800" dirty="0" smtClean="0"/>
              <a:t>The computer knows them as unsigned integers</a:t>
            </a:r>
          </a:p>
          <a:p>
            <a:endParaRPr lang="en-US" sz="2800" dirty="0"/>
          </a:p>
          <a:p>
            <a:r>
              <a:rPr lang="en-US" sz="2800" dirty="0" smtClean="0"/>
              <a:t>Unsigned integers start at 0 and go to 2</a:t>
            </a:r>
            <a:r>
              <a:rPr lang="en-US" sz="2800" baseline="30000" dirty="0" smtClean="0"/>
              <a:t>numbits</a:t>
            </a:r>
            <a:r>
              <a:rPr lang="en-US" sz="2800" dirty="0" smtClean="0"/>
              <a:t> – 1 in binary</a:t>
            </a:r>
            <a:endParaRPr lang="en-US" sz="2800" dirty="0"/>
          </a:p>
          <a:p>
            <a:endParaRPr lang="en-US" sz="2800" dirty="0"/>
          </a:p>
          <a:p>
            <a:r>
              <a:rPr lang="en-US" sz="2800" dirty="0" smtClean="0"/>
              <a:t>Too difficult for humans to keep track of these numbers</a:t>
            </a:r>
          </a:p>
          <a:p>
            <a:endParaRPr lang="en-US" sz="2800" dirty="0"/>
          </a:p>
          <a:p>
            <a:r>
              <a:rPr lang="en-US" sz="2800" dirty="0"/>
              <a:t>                                                              </a:t>
            </a:r>
            <a:r>
              <a:rPr lang="en-US" sz="2800" dirty="0" smtClean="0"/>
              <a:t> </a:t>
            </a:r>
          </a:p>
          <a:p>
            <a:r>
              <a:rPr lang="en-US" sz="2800" dirty="0">
                <a:latin typeface="Arial" panose="020B0604020202020204" pitchFamily="34" charset="0"/>
                <a:cs typeface="Arial" panose="020B0604020202020204" pitchFamily="34" charset="0"/>
              </a:rPr>
              <a:t> </a:t>
            </a:r>
            <a:r>
              <a:rPr lang="en-US" sz="2800" dirty="0" smtClean="0">
                <a:latin typeface="Arial" panose="020B0604020202020204" pitchFamily="34" charset="0"/>
                <a:cs typeface="Arial" panose="020B0604020202020204" pitchFamily="34" charset="0"/>
              </a:rPr>
              <a:t>                                                  </a:t>
            </a:r>
          </a:p>
          <a:p>
            <a:r>
              <a:rPr lang="en-US" sz="2800" dirty="0">
                <a:latin typeface="Arial" panose="020B0604020202020204" pitchFamily="34" charset="0"/>
                <a:cs typeface="Arial" panose="020B0604020202020204" pitchFamily="34" charset="0"/>
              </a:rPr>
              <a:t> </a:t>
            </a:r>
            <a:r>
              <a:rPr lang="en-US" sz="2800" dirty="0" smtClean="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0x1F899BC</a:t>
            </a:r>
            <a:endParaRPr lang="en-US" sz="2400" dirty="0">
              <a:latin typeface="Arial" panose="020B0604020202020204" pitchFamily="34" charset="0"/>
              <a:cs typeface="Arial" panose="020B0604020202020204" pitchFamily="34" charset="0"/>
            </a:endParaRPr>
          </a:p>
          <a:p>
            <a:endParaRPr lang="en-US" sz="2800" dirty="0"/>
          </a:p>
        </p:txBody>
      </p:sp>
      <p:sp>
        <p:nvSpPr>
          <p:cNvPr id="7" name="TextBox 6"/>
          <p:cNvSpPr txBox="1"/>
          <p:nvPr/>
        </p:nvSpPr>
        <p:spPr>
          <a:xfrm>
            <a:off x="1370447" y="5787291"/>
            <a:ext cx="8211735" cy="1107996"/>
          </a:xfrm>
          <a:prstGeom prst="rect">
            <a:avLst/>
          </a:prstGeom>
          <a:noFill/>
        </p:spPr>
        <p:txBody>
          <a:bodyPr wrap="square" rtlCol="0">
            <a:spAutoFit/>
          </a:bodyPr>
          <a:lstStyle/>
          <a:p>
            <a:r>
              <a:rPr lang="en-US" sz="6600" i="1" strike="sngStrike" dirty="0" smtClean="0">
                <a:solidFill>
                  <a:srgbClr val="FF0000"/>
                </a:solidFill>
              </a:rPr>
              <a:t>Assembly language</a:t>
            </a:r>
            <a:endParaRPr lang="en-US" sz="6600" i="1" strike="sngStrike" dirty="0">
              <a:solidFill>
                <a:srgbClr val="FF0000"/>
              </a:solidFill>
            </a:endParaRPr>
          </a:p>
        </p:txBody>
      </p:sp>
    </p:spTree>
    <p:extLst>
      <p:ext uri="{BB962C8B-B14F-4D97-AF65-F5344CB8AC3E}">
        <p14:creationId xmlns:p14="http://schemas.microsoft.com/office/powerpoint/2010/main" val="8214085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Symbol</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407681" y="1816080"/>
            <a:ext cx="9650719" cy="2246769"/>
          </a:xfrm>
          <a:prstGeom prst="rect">
            <a:avLst/>
          </a:prstGeom>
          <a:noFill/>
        </p:spPr>
        <p:txBody>
          <a:bodyPr wrap="square" rtlCol="0">
            <a:spAutoFit/>
          </a:bodyPr>
          <a:lstStyle/>
          <a:p>
            <a:r>
              <a:rPr lang="en-US" sz="2800" dirty="0" smtClean="0"/>
              <a:t>To make it easier, we associate a symbolic name with the address</a:t>
            </a:r>
          </a:p>
          <a:p>
            <a:endParaRPr lang="en-US" sz="2800" dirty="0"/>
          </a:p>
          <a:p>
            <a:r>
              <a:rPr lang="en-US" sz="2800" dirty="0" smtClean="0"/>
              <a:t>This is known as a symbol</a:t>
            </a:r>
          </a:p>
          <a:p>
            <a:endParaRPr lang="en-US" sz="2800" dirty="0"/>
          </a:p>
          <a:p>
            <a:r>
              <a:rPr lang="en-US" sz="2800" dirty="0" smtClean="0"/>
              <a:t>Loosely called a variable</a:t>
            </a:r>
            <a:endParaRPr lang="en-US" sz="2800" dirty="0"/>
          </a:p>
        </p:txBody>
      </p:sp>
      <p:sp>
        <p:nvSpPr>
          <p:cNvPr id="6" name="TextBox 5"/>
          <p:cNvSpPr txBox="1"/>
          <p:nvPr/>
        </p:nvSpPr>
        <p:spPr>
          <a:xfrm>
            <a:off x="6223663" y="4539712"/>
            <a:ext cx="1405862" cy="369332"/>
          </a:xfrm>
          <a:prstGeom prst="rect">
            <a:avLst/>
          </a:prstGeom>
          <a:noFill/>
        </p:spPr>
        <p:txBody>
          <a:bodyPr wrap="square" rtlCol="0">
            <a:spAutoFit/>
          </a:bodyPr>
          <a:lstStyle/>
          <a:p>
            <a:r>
              <a:rPr lang="en-US" dirty="0" smtClean="0"/>
              <a:t>0x1F899BC</a:t>
            </a:r>
            <a:endParaRPr lang="en-US" dirty="0"/>
          </a:p>
        </p:txBody>
      </p:sp>
    </p:spTree>
    <p:extLst>
      <p:ext uri="{BB962C8B-B14F-4D97-AF65-F5344CB8AC3E}">
        <p14:creationId xmlns:p14="http://schemas.microsoft.com/office/powerpoint/2010/main" val="2078421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But not the value</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735357" y="1788467"/>
            <a:ext cx="5733364" cy="2246769"/>
          </a:xfrm>
          <a:prstGeom prst="rect">
            <a:avLst/>
          </a:prstGeom>
          <a:noFill/>
        </p:spPr>
        <p:txBody>
          <a:bodyPr wrap="none" rtlCol="0">
            <a:spAutoFit/>
          </a:bodyPr>
          <a:lstStyle/>
          <a:p>
            <a:r>
              <a:rPr lang="en-US" sz="2800" dirty="0" smtClean="0"/>
              <a:t>The symbol is not the computed value</a:t>
            </a:r>
          </a:p>
          <a:p>
            <a:r>
              <a:rPr lang="en-US" sz="2800" dirty="0" smtClean="0"/>
              <a:t>The address is a location</a:t>
            </a:r>
          </a:p>
          <a:p>
            <a:r>
              <a:rPr lang="en-US" sz="2800" dirty="0" smtClean="0"/>
              <a:t>We need the contents of the address</a:t>
            </a:r>
          </a:p>
          <a:p>
            <a:r>
              <a:rPr lang="en-US" sz="2800" dirty="0" smtClean="0"/>
              <a:t>The contents of sum is 55</a:t>
            </a:r>
          </a:p>
          <a:p>
            <a:r>
              <a:rPr lang="en-US" sz="2800" dirty="0" smtClean="0"/>
              <a:t>The address is </a:t>
            </a:r>
            <a:r>
              <a:rPr lang="en-US" sz="2800" dirty="0"/>
              <a:t>33,069,500</a:t>
            </a:r>
          </a:p>
        </p:txBody>
      </p:sp>
      <p:sp>
        <p:nvSpPr>
          <p:cNvPr id="6" name="TextBox 5"/>
          <p:cNvSpPr txBox="1"/>
          <p:nvPr/>
        </p:nvSpPr>
        <p:spPr>
          <a:xfrm>
            <a:off x="7078260" y="5149770"/>
            <a:ext cx="1405862" cy="369332"/>
          </a:xfrm>
          <a:prstGeom prst="rect">
            <a:avLst/>
          </a:prstGeom>
          <a:noFill/>
        </p:spPr>
        <p:txBody>
          <a:bodyPr wrap="square" rtlCol="0">
            <a:spAutoFit/>
          </a:bodyPr>
          <a:lstStyle/>
          <a:p>
            <a:r>
              <a:rPr lang="en-US" dirty="0"/>
              <a:t>33,069,500</a:t>
            </a:r>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10" name="TextBox 9"/>
          <p:cNvSpPr txBox="1"/>
          <p:nvPr/>
        </p:nvSpPr>
        <p:spPr>
          <a:xfrm>
            <a:off x="7888956" y="4726539"/>
            <a:ext cx="1798056" cy="369332"/>
          </a:xfrm>
          <a:prstGeom prst="rect">
            <a:avLst/>
          </a:prstGeom>
          <a:noFill/>
        </p:spPr>
        <p:txBody>
          <a:bodyPr wrap="none" rtlCol="0">
            <a:spAutoFit/>
          </a:bodyPr>
          <a:lstStyle/>
          <a:p>
            <a:r>
              <a:rPr lang="en-US" dirty="0" smtClean="0"/>
              <a:t>Location in space</a:t>
            </a:r>
            <a:endParaRPr lang="en-US"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60464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Making an association</a:t>
            </a:r>
            <a:endParaRPr lang="en-US" sz="4400" b="0" u="none" strike="noStrike" dirty="0">
              <a:solidFill>
                <a:srgbClr val="000000"/>
              </a:solidFill>
              <a:effectLst/>
              <a:uFillTx/>
              <a:latin typeface="Arial"/>
            </a:endParaRPr>
          </a:p>
        </p:txBody>
      </p:sp>
      <p:sp>
        <p:nvSpPr>
          <p:cNvPr id="3" name="TextBox 2"/>
          <p:cNvSpPr txBox="1"/>
          <p:nvPr/>
        </p:nvSpPr>
        <p:spPr>
          <a:xfrm>
            <a:off x="735357" y="1788467"/>
            <a:ext cx="6778138" cy="2677656"/>
          </a:xfrm>
          <a:prstGeom prst="rect">
            <a:avLst/>
          </a:prstGeom>
          <a:noFill/>
        </p:spPr>
        <p:txBody>
          <a:bodyPr wrap="none" rtlCol="0">
            <a:spAutoFit/>
          </a:bodyPr>
          <a:lstStyle/>
          <a:p>
            <a:r>
              <a:rPr lang="en-US" sz="2800" dirty="0" smtClean="0"/>
              <a:t>Symbolically make an association.   </a:t>
            </a:r>
          </a:p>
          <a:p>
            <a:r>
              <a:rPr lang="en-US" sz="2800" dirty="0" smtClean="0"/>
              <a:t>Let</a:t>
            </a:r>
          </a:p>
          <a:p>
            <a:r>
              <a:rPr lang="en-US" sz="2800" dirty="0" smtClean="0"/>
              <a:t>   sum   be the address or location of memory</a:t>
            </a:r>
            <a:endParaRPr lang="en-US" sz="2800" dirty="0"/>
          </a:p>
          <a:p>
            <a:r>
              <a:rPr lang="en-US" sz="2800" dirty="0" smtClean="0"/>
              <a:t>  $sum  be the contents of memory </a:t>
            </a:r>
          </a:p>
          <a:p>
            <a:endParaRPr lang="en-US" sz="2800" dirty="0"/>
          </a:p>
          <a:p>
            <a:r>
              <a:rPr lang="en-US" sz="2800" dirty="0" smtClean="0"/>
              <a:t>Very clean and exact </a:t>
            </a:r>
            <a:endParaRPr lang="en-US" sz="2800" dirty="0"/>
          </a:p>
        </p:txBody>
      </p:sp>
      <p:sp>
        <p:nvSpPr>
          <p:cNvPr id="10" name="TextBox 9"/>
          <p:cNvSpPr txBox="1"/>
          <p:nvPr/>
        </p:nvSpPr>
        <p:spPr>
          <a:xfrm>
            <a:off x="7669881" y="5495634"/>
            <a:ext cx="1798056" cy="369332"/>
          </a:xfrm>
          <a:prstGeom prst="rect">
            <a:avLst/>
          </a:prstGeom>
          <a:noFill/>
        </p:spPr>
        <p:txBody>
          <a:bodyPr wrap="none" rtlCol="0">
            <a:spAutoFit/>
          </a:bodyPr>
          <a:lstStyle/>
          <a:p>
            <a:r>
              <a:rPr lang="en-US" dirty="0" smtClean="0"/>
              <a:t>Location in space</a:t>
            </a:r>
            <a:endParaRPr lang="en-US" dirty="0"/>
          </a:p>
        </p:txBody>
      </p:sp>
      <p:grpSp>
        <p:nvGrpSpPr>
          <p:cNvPr id="12" name="Group 11"/>
          <p:cNvGrpSpPr/>
          <p:nvPr/>
        </p:nvGrpSpPr>
        <p:grpSpPr>
          <a:xfrm>
            <a:off x="2394338" y="5151477"/>
            <a:ext cx="6665122" cy="2620923"/>
            <a:chOff x="2889638" y="4332327"/>
            <a:chExt cx="6665122" cy="2620923"/>
          </a:xfrm>
        </p:grpSpPr>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6" name="TextBox 5"/>
            <p:cNvSpPr txBox="1"/>
            <p:nvPr/>
          </p:nvSpPr>
          <p:spPr>
            <a:xfrm>
              <a:off x="7078260" y="5149770"/>
              <a:ext cx="1405862" cy="369332"/>
            </a:xfrm>
            <a:prstGeom prst="rect">
              <a:avLst/>
            </a:prstGeom>
            <a:noFill/>
          </p:spPr>
          <p:txBody>
            <a:bodyPr wrap="square" rtlCol="0">
              <a:spAutoFit/>
            </a:bodyPr>
            <a:lstStyle/>
            <a:p>
              <a:r>
                <a:rPr lang="en-US" dirty="0"/>
                <a:t>33,069,500</a:t>
              </a:r>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43217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Humans hate to type</a:t>
            </a:r>
            <a:endParaRPr lang="en-US" sz="4400" b="0" u="none" strike="noStrike" dirty="0">
              <a:solidFill>
                <a:srgbClr val="000000"/>
              </a:solidFill>
              <a:effectLst/>
              <a:uFillTx/>
              <a:latin typeface="Arial"/>
            </a:endParaRPr>
          </a:p>
        </p:txBody>
      </p:sp>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3" name="TextBox 2"/>
          <p:cNvSpPr txBox="1"/>
          <p:nvPr/>
        </p:nvSpPr>
        <p:spPr>
          <a:xfrm>
            <a:off x="601364" y="1864217"/>
            <a:ext cx="8678530" cy="2246769"/>
          </a:xfrm>
          <a:prstGeom prst="rect">
            <a:avLst/>
          </a:prstGeom>
          <a:noFill/>
        </p:spPr>
        <p:txBody>
          <a:bodyPr wrap="none" rtlCol="0">
            <a:spAutoFit/>
          </a:bodyPr>
          <a:lstStyle/>
          <a:p>
            <a:r>
              <a:rPr lang="en-US" sz="2800" dirty="0" smtClean="0"/>
              <a:t>Most of the time we want to process data</a:t>
            </a:r>
          </a:p>
          <a:p>
            <a:r>
              <a:rPr lang="en-US" sz="2800" dirty="0" smtClean="0"/>
              <a:t>We really don’t want to care about the location</a:t>
            </a:r>
          </a:p>
          <a:p>
            <a:r>
              <a:rPr lang="en-US" sz="2800" dirty="0" smtClean="0"/>
              <a:t>We just want the answer</a:t>
            </a:r>
          </a:p>
          <a:p>
            <a:r>
              <a:rPr lang="en-US" sz="2800" dirty="0" smtClean="0"/>
              <a:t>So just drop the address from consideration</a:t>
            </a:r>
          </a:p>
          <a:p>
            <a:r>
              <a:rPr lang="en-US" sz="2800" dirty="0" smtClean="0"/>
              <a:t>The symbol represents the contents of a memory location</a:t>
            </a:r>
          </a:p>
        </p:txBody>
      </p:sp>
      <p:sp>
        <p:nvSpPr>
          <p:cNvPr id="6" name="TextBox 5"/>
          <p:cNvSpPr txBox="1"/>
          <p:nvPr/>
        </p:nvSpPr>
        <p:spPr>
          <a:xfrm>
            <a:off x="7078260" y="5149770"/>
            <a:ext cx="1405862" cy="369332"/>
          </a:xfrm>
          <a:prstGeom prst="rect">
            <a:avLst/>
          </a:prstGeom>
          <a:noFill/>
        </p:spPr>
        <p:txBody>
          <a:bodyPr wrap="square" rtlCol="0">
            <a:spAutoFit/>
          </a:bodyPr>
          <a:lstStyle/>
          <a:p>
            <a:r>
              <a:rPr lang="en-US" dirty="0"/>
              <a:t>33,069,500</a:t>
            </a:r>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10" name="TextBox 9"/>
          <p:cNvSpPr txBox="1"/>
          <p:nvPr/>
        </p:nvSpPr>
        <p:spPr>
          <a:xfrm>
            <a:off x="7888956" y="4726539"/>
            <a:ext cx="1798056" cy="369332"/>
          </a:xfrm>
          <a:prstGeom prst="rect">
            <a:avLst/>
          </a:prstGeom>
          <a:noFill/>
        </p:spPr>
        <p:txBody>
          <a:bodyPr wrap="none" rtlCol="0">
            <a:spAutoFit/>
          </a:bodyPr>
          <a:lstStyle/>
          <a:p>
            <a:r>
              <a:rPr lang="en-US" dirty="0" smtClean="0"/>
              <a:t>Location in space</a:t>
            </a:r>
            <a:endParaRPr lang="en-US"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92018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Humans hate to type</a:t>
            </a:r>
            <a:endParaRPr lang="en-US" sz="4400" b="0" u="none" strike="noStrike" dirty="0">
              <a:solidFill>
                <a:srgbClr val="000000"/>
              </a:solidFill>
              <a:effectLst/>
              <a:uFillTx/>
              <a:latin typeface="Arial"/>
            </a:endParaRPr>
          </a:p>
        </p:txBody>
      </p:sp>
      <p:sp>
        <p:nvSpPr>
          <p:cNvPr id="3" name="TextBox 2"/>
          <p:cNvSpPr txBox="1"/>
          <p:nvPr/>
        </p:nvSpPr>
        <p:spPr>
          <a:xfrm>
            <a:off x="684365" y="1643155"/>
            <a:ext cx="8728159" cy="3108543"/>
          </a:xfrm>
          <a:prstGeom prst="rect">
            <a:avLst/>
          </a:prstGeom>
          <a:noFill/>
        </p:spPr>
        <p:txBody>
          <a:bodyPr wrap="none" rtlCol="0">
            <a:spAutoFit/>
          </a:bodyPr>
          <a:lstStyle/>
          <a:p>
            <a:r>
              <a:rPr lang="en-US" sz="2800" dirty="0" smtClean="0"/>
              <a:t>If we want the address, we will use the &amp; address operator</a:t>
            </a:r>
          </a:p>
          <a:p>
            <a:endParaRPr lang="en-US" sz="2800" dirty="0"/>
          </a:p>
          <a:p>
            <a:r>
              <a:rPr lang="en-US" sz="2800" dirty="0" smtClean="0"/>
              <a:t>&amp;sum </a:t>
            </a:r>
            <a:r>
              <a:rPr lang="en-US" sz="2800" dirty="0" smtClean="0"/>
              <a:t>is 33,069,500</a:t>
            </a:r>
            <a:endParaRPr lang="en-US" sz="2800" dirty="0" smtClean="0"/>
          </a:p>
          <a:p>
            <a:endParaRPr lang="en-US" sz="2800" dirty="0"/>
          </a:p>
          <a:p>
            <a:r>
              <a:rPr lang="en-US" sz="2800" dirty="0" smtClean="0"/>
              <a:t>sum is 11011 in binary or 55</a:t>
            </a:r>
          </a:p>
          <a:p>
            <a:endParaRPr lang="en-US" sz="2800" dirty="0"/>
          </a:p>
          <a:p>
            <a:r>
              <a:rPr lang="en-US" sz="2800" dirty="0" smtClean="0"/>
              <a:t>C, C++, and Rust all do it this way</a:t>
            </a:r>
          </a:p>
        </p:txBody>
      </p:sp>
      <p:grpSp>
        <p:nvGrpSpPr>
          <p:cNvPr id="12" name="Group 11"/>
          <p:cNvGrpSpPr/>
          <p:nvPr/>
        </p:nvGrpSpPr>
        <p:grpSpPr>
          <a:xfrm>
            <a:off x="2480063" y="4989552"/>
            <a:ext cx="6797374" cy="2620923"/>
            <a:chOff x="2889638" y="4332327"/>
            <a:chExt cx="6797374" cy="2620923"/>
          </a:xfrm>
        </p:grpSpPr>
        <p:grpSp>
          <p:nvGrpSpPr>
            <p:cNvPr id="4" name="Group 3"/>
            <p:cNvGrpSpPr/>
            <p:nvPr/>
          </p:nvGrpSpPr>
          <p:grpSpPr>
            <a:xfrm>
              <a:off x="2889638" y="4332327"/>
              <a:ext cx="4035037" cy="2620923"/>
              <a:chOff x="2451488" y="3017877"/>
              <a:chExt cx="5701912" cy="3747718"/>
            </a:xfrm>
          </p:grpSpPr>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2800" dirty="0" smtClean="0"/>
                  <a:t>ALU</a:t>
                </a:r>
                <a:endParaRPr lang="en-US" sz="2800" dirty="0"/>
              </a:p>
            </p:txBody>
          </p:sp>
          <p:sp>
            <p:nvSpPr>
              <p:cNvPr id="2" name="TextBox 1"/>
              <p:cNvSpPr txBox="1"/>
              <p:nvPr/>
            </p:nvSpPr>
            <p:spPr>
              <a:xfrm>
                <a:off x="7162800" y="4060179"/>
                <a:ext cx="990600" cy="572126"/>
              </a:xfrm>
              <a:prstGeom prst="rect">
                <a:avLst/>
              </a:prstGeom>
              <a:noFill/>
            </p:spPr>
            <p:txBody>
              <a:bodyPr wrap="square" rtlCol="0">
                <a:spAutoFit/>
              </a:bodyPr>
              <a:lstStyle/>
              <a:p>
                <a:r>
                  <a:rPr lang="en-US" sz="2000" dirty="0" smtClean="0"/>
                  <a:t>sum</a:t>
                </a:r>
                <a:endParaRPr lang="en-US" sz="2000" dirty="0"/>
              </a:p>
            </p:txBody>
          </p:sp>
        </p:grpSp>
        <p:sp>
          <p:nvSpPr>
            <p:cNvPr id="6" name="TextBox 5"/>
            <p:cNvSpPr txBox="1"/>
            <p:nvPr/>
          </p:nvSpPr>
          <p:spPr>
            <a:xfrm>
              <a:off x="7078260" y="5149770"/>
              <a:ext cx="1405862" cy="369332"/>
            </a:xfrm>
            <a:prstGeom prst="rect">
              <a:avLst/>
            </a:prstGeom>
            <a:noFill/>
          </p:spPr>
          <p:txBody>
            <a:bodyPr wrap="square" rtlCol="0">
              <a:spAutoFit/>
            </a:bodyPr>
            <a:lstStyle/>
            <a:p>
              <a:r>
                <a:rPr lang="en-US" dirty="0"/>
                <a:t>33,069,500</a:t>
              </a:r>
            </a:p>
          </p:txBody>
        </p:sp>
        <p:sp>
          <p:nvSpPr>
            <p:cNvPr id="7" name="Rectangle 6"/>
            <p:cNvSpPr/>
            <p:nvPr/>
          </p:nvSpPr>
          <p:spPr>
            <a:xfrm>
              <a:off x="6524625" y="5569157"/>
              <a:ext cx="2905125" cy="749289"/>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78260" y="5632211"/>
              <a:ext cx="2476500" cy="646331"/>
            </a:xfrm>
            <a:prstGeom prst="rect">
              <a:avLst/>
            </a:prstGeom>
            <a:noFill/>
          </p:spPr>
          <p:txBody>
            <a:bodyPr wrap="square" rtlCol="0">
              <a:spAutoFit/>
            </a:bodyPr>
            <a:lstStyle/>
            <a:p>
              <a:r>
                <a:rPr lang="en-US" sz="3600" dirty="0" smtClean="0"/>
                <a:t>110111</a:t>
              </a:r>
              <a:endParaRPr lang="en-US" sz="3600" dirty="0"/>
            </a:p>
          </p:txBody>
        </p:sp>
        <p:sp>
          <p:nvSpPr>
            <p:cNvPr id="10" name="TextBox 9"/>
            <p:cNvSpPr txBox="1"/>
            <p:nvPr/>
          </p:nvSpPr>
          <p:spPr>
            <a:xfrm>
              <a:off x="7888956" y="4726539"/>
              <a:ext cx="1798056" cy="369332"/>
            </a:xfrm>
            <a:prstGeom prst="rect">
              <a:avLst/>
            </a:prstGeom>
            <a:noFill/>
          </p:spPr>
          <p:txBody>
            <a:bodyPr wrap="none" rtlCol="0">
              <a:spAutoFit/>
            </a:bodyPr>
            <a:lstStyle/>
            <a:p>
              <a:r>
                <a:rPr lang="en-US" dirty="0" smtClean="0"/>
                <a:t>Location in space</a:t>
              </a:r>
              <a:endParaRPr lang="en-US" dirty="0"/>
            </a:p>
          </p:txBody>
        </p:sp>
        <p:sp>
          <p:nvSpPr>
            <p:cNvPr id="45" name="TextBox 44"/>
            <p:cNvSpPr txBox="1"/>
            <p:nvPr/>
          </p:nvSpPr>
          <p:spPr>
            <a:xfrm>
              <a:off x="7241256" y="6439044"/>
              <a:ext cx="2278957" cy="369332"/>
            </a:xfrm>
            <a:prstGeom prst="rect">
              <a:avLst/>
            </a:prstGeom>
            <a:noFill/>
          </p:spPr>
          <p:txBody>
            <a:bodyPr wrap="none" rtlCol="0">
              <a:spAutoFit/>
            </a:bodyPr>
            <a:lstStyle/>
            <a:p>
              <a:r>
                <a:rPr lang="en-US" dirty="0" smtClean="0"/>
                <a:t>Contents in that space</a:t>
              </a:r>
              <a:endParaRPr lang="en-US" dirty="0"/>
            </a:p>
          </p:txBody>
        </p:sp>
        <p:cxnSp>
          <p:nvCxnSpPr>
            <p:cNvPr id="13" name="Straight Arrow Connector 12"/>
            <p:cNvCxnSpPr/>
            <p:nvPr/>
          </p:nvCxnSpPr>
          <p:spPr>
            <a:xfrm flipH="1">
              <a:off x="8316510" y="5095871"/>
              <a:ext cx="322665" cy="147925"/>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4250" y="6187804"/>
              <a:ext cx="257175" cy="349026"/>
            </a:xfrm>
            <a:prstGeom prst="straightConnector1">
              <a:avLst/>
            </a:prstGeom>
            <a:ln w="254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3343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Our goal</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937538"/>
          </a:xfrm>
          <a:prstGeom prst="rect">
            <a:avLst/>
          </a:prstGeom>
          <a:noFill/>
          <a:ln w="0">
            <a:noFill/>
          </a:ln>
        </p:spPr>
        <p:txBody>
          <a:bodyPr lIns="90000" tIns="45000" rIns="90000" bIns="45000" anchor="t">
            <a:spAutoFit/>
          </a:bodyPr>
          <a:lstStyle/>
          <a:p>
            <a:pPr>
              <a:buClr>
                <a:srgbClr val="000000"/>
              </a:buClr>
              <a:buSzPct val="45000"/>
            </a:pPr>
            <a:r>
              <a:rPr lang="en-US" sz="2400" dirty="0" smtClean="0">
                <a:solidFill>
                  <a:srgbClr val="000000"/>
                </a:solidFill>
                <a:latin typeface="Arial"/>
              </a:rPr>
              <a:t>Now that we see what is going on inside the computer, let’s see how to program it.</a:t>
            </a:r>
          </a:p>
          <a:p>
            <a:pPr>
              <a:buClr>
                <a:srgbClr val="000000"/>
              </a:buClr>
              <a:buSzPct val="45000"/>
            </a:pPr>
            <a:endParaRPr lang="en-US" sz="2400" dirty="0">
              <a:solidFill>
                <a:srgbClr val="000000"/>
              </a:solidFill>
              <a:latin typeface="Arial"/>
            </a:endParaRPr>
          </a:p>
          <a:p>
            <a:pPr>
              <a:buClr>
                <a:srgbClr val="000000"/>
              </a:buClr>
              <a:buSzPct val="45000"/>
            </a:pPr>
            <a:r>
              <a:rPr lang="en-US" sz="2400" dirty="0" smtClean="0">
                <a:solidFill>
                  <a:srgbClr val="000000"/>
                </a:solidFill>
                <a:latin typeface="Arial"/>
              </a:rPr>
              <a:t>Add the first 10 integers together and calculate the sum in C, C++, and Rust</a:t>
            </a:r>
          </a:p>
        </p:txBody>
      </p:sp>
    </p:spTree>
    <p:extLst>
      <p:ext uri="{BB962C8B-B14F-4D97-AF65-F5344CB8AC3E}">
        <p14:creationId xmlns:p14="http://schemas.microsoft.com/office/powerpoint/2010/main" val="30347239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Our Program Location</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476421"/>
          </a:xfrm>
          <a:prstGeom prst="rect">
            <a:avLst/>
          </a:prstGeom>
          <a:noFill/>
          <a:ln w="0">
            <a:noFill/>
          </a:ln>
        </p:spPr>
        <p:txBody>
          <a:bodyPr lIns="90000" tIns="45000" rIns="90000" bIns="45000" anchor="t">
            <a:spAutoFit/>
          </a:bodyPr>
          <a:lstStyle/>
          <a:p>
            <a:pPr>
              <a:buClr>
                <a:srgbClr val="000000"/>
              </a:buClr>
              <a:buSzPct val="45000"/>
            </a:pPr>
            <a:r>
              <a:rPr lang="en-US" sz="4400" dirty="0" smtClean="0">
                <a:solidFill>
                  <a:srgbClr val="000000"/>
                </a:solidFill>
                <a:latin typeface="Arial"/>
              </a:rPr>
              <a:t>We will write human readable text for our programs using an </a:t>
            </a:r>
            <a:r>
              <a:rPr lang="en-US" sz="4400" dirty="0" smtClean="0">
                <a:solidFill>
                  <a:srgbClr val="FF0000"/>
                </a:solidFill>
                <a:latin typeface="Arial"/>
              </a:rPr>
              <a:t>editor</a:t>
            </a:r>
          </a:p>
          <a:p>
            <a:pPr>
              <a:buClr>
                <a:srgbClr val="000000"/>
              </a:buClr>
              <a:buSzPct val="45000"/>
            </a:pPr>
            <a:endParaRPr lang="en-US" sz="4400" dirty="0">
              <a:solidFill>
                <a:srgbClr val="000000"/>
              </a:solidFill>
              <a:latin typeface="Arial"/>
            </a:endParaRPr>
          </a:p>
          <a:p>
            <a:pPr>
              <a:buClr>
                <a:srgbClr val="000000"/>
              </a:buClr>
              <a:buSzPct val="45000"/>
            </a:pPr>
            <a:r>
              <a:rPr lang="en-US" sz="4400" dirty="0" smtClean="0">
                <a:solidFill>
                  <a:srgbClr val="000000"/>
                </a:solidFill>
                <a:latin typeface="Arial"/>
              </a:rPr>
              <a:t>It will be stored in a </a:t>
            </a:r>
            <a:r>
              <a:rPr lang="en-US" sz="4400" dirty="0" smtClean="0">
                <a:solidFill>
                  <a:srgbClr val="FF0000"/>
                </a:solidFill>
                <a:latin typeface="Arial"/>
              </a:rPr>
              <a:t>file</a:t>
            </a:r>
            <a:r>
              <a:rPr lang="en-US" sz="4400" dirty="0" smtClean="0">
                <a:solidFill>
                  <a:srgbClr val="000000"/>
                </a:solidFill>
                <a:latin typeface="Arial"/>
              </a:rPr>
              <a:t> which is a collection of contiguous bytes </a:t>
            </a:r>
          </a:p>
        </p:txBody>
      </p:sp>
    </p:spTree>
    <p:extLst>
      <p:ext uri="{BB962C8B-B14F-4D97-AF65-F5344CB8AC3E}">
        <p14:creationId xmlns:p14="http://schemas.microsoft.com/office/powerpoint/2010/main" val="26630084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Editors</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2122204"/>
          </a:xfrm>
          <a:prstGeom prst="rect">
            <a:avLst/>
          </a:prstGeom>
          <a:noFill/>
          <a:ln w="0">
            <a:noFill/>
          </a:ln>
        </p:spPr>
        <p:txBody>
          <a:bodyPr lIns="90000" tIns="45000" rIns="90000" bIns="45000" anchor="t">
            <a:spAutoFit/>
          </a:bodyPr>
          <a:lstStyle/>
          <a:p>
            <a:pPr>
              <a:buClr>
                <a:srgbClr val="000000"/>
              </a:buClr>
              <a:buSzPct val="45000"/>
            </a:pPr>
            <a:r>
              <a:rPr lang="en-US" sz="4400" dirty="0" smtClean="0">
                <a:solidFill>
                  <a:srgbClr val="000000"/>
                </a:solidFill>
                <a:latin typeface="Arial"/>
              </a:rPr>
              <a:t>Many programs to modify code</a:t>
            </a:r>
          </a:p>
          <a:p>
            <a:pPr>
              <a:buClr>
                <a:srgbClr val="000000"/>
              </a:buClr>
              <a:buSzPct val="45000"/>
            </a:pPr>
            <a:endParaRPr lang="en-US" sz="4400" dirty="0">
              <a:solidFill>
                <a:srgbClr val="000000"/>
              </a:solidFill>
              <a:latin typeface="Arial"/>
            </a:endParaRPr>
          </a:p>
          <a:p>
            <a:pPr>
              <a:buClr>
                <a:srgbClr val="000000"/>
              </a:buClr>
              <a:buSzPct val="45000"/>
            </a:pPr>
            <a:r>
              <a:rPr lang="en-US" sz="4400" dirty="0" err="1" smtClean="0">
                <a:solidFill>
                  <a:srgbClr val="000000"/>
                </a:solidFill>
                <a:latin typeface="Arial"/>
              </a:rPr>
              <a:t>VSCode</a:t>
            </a:r>
            <a:r>
              <a:rPr lang="en-US" sz="4400" dirty="0" smtClean="0">
                <a:solidFill>
                  <a:srgbClr val="000000"/>
                </a:solidFill>
                <a:latin typeface="Arial"/>
              </a:rPr>
              <a:t>, vi, </a:t>
            </a:r>
            <a:r>
              <a:rPr lang="en-US" sz="4400" dirty="0" err="1" smtClean="0">
                <a:solidFill>
                  <a:srgbClr val="000000"/>
                </a:solidFill>
                <a:latin typeface="Arial"/>
              </a:rPr>
              <a:t>emacs</a:t>
            </a:r>
            <a:r>
              <a:rPr lang="en-US" sz="4400" dirty="0" smtClean="0">
                <a:solidFill>
                  <a:srgbClr val="000000"/>
                </a:solidFill>
                <a:latin typeface="Arial"/>
              </a:rPr>
              <a:t>, </a:t>
            </a:r>
            <a:r>
              <a:rPr lang="en-US" sz="4400" dirty="0" err="1" smtClean="0">
                <a:solidFill>
                  <a:srgbClr val="000000"/>
                </a:solidFill>
                <a:latin typeface="Arial"/>
              </a:rPr>
              <a:t>gedit</a:t>
            </a:r>
            <a:r>
              <a:rPr lang="en-US" sz="4400" dirty="0" smtClean="0">
                <a:solidFill>
                  <a:srgbClr val="000000"/>
                </a:solidFill>
                <a:latin typeface="Arial"/>
              </a:rPr>
              <a:t>…</a:t>
            </a:r>
          </a:p>
        </p:txBody>
      </p:sp>
    </p:spTree>
    <p:extLst>
      <p:ext uri="{BB962C8B-B14F-4D97-AF65-F5344CB8AC3E}">
        <p14:creationId xmlns:p14="http://schemas.microsoft.com/office/powerpoint/2010/main" val="1920883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u="none" strike="noStrike" dirty="0" smtClean="0">
                <a:solidFill>
                  <a:schemeClr val="lt1"/>
                </a:solidFill>
                <a:effectLst/>
                <a:uFillTx/>
                <a:latin typeface="Arial"/>
              </a:rPr>
              <a:t>Building </a:t>
            </a:r>
            <a:r>
              <a:rPr lang="en-US" sz="4400" b="1" dirty="0" smtClean="0">
                <a:solidFill>
                  <a:schemeClr val="lt1"/>
                </a:solidFill>
                <a:latin typeface="Arial"/>
              </a:rPr>
              <a:t>Our Program</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2122204"/>
          </a:xfrm>
          <a:prstGeom prst="rect">
            <a:avLst/>
          </a:prstGeom>
          <a:noFill/>
          <a:ln w="0">
            <a:noFill/>
          </a:ln>
        </p:spPr>
        <p:txBody>
          <a:bodyPr lIns="90000" tIns="45000" rIns="90000" bIns="45000" anchor="t">
            <a:spAutoFit/>
          </a:bodyPr>
          <a:lstStyle/>
          <a:p>
            <a:pPr>
              <a:buClr>
                <a:srgbClr val="000000"/>
              </a:buClr>
              <a:buSzPct val="45000"/>
            </a:pPr>
            <a:r>
              <a:rPr lang="en-US" sz="4400" dirty="0" smtClean="0">
                <a:solidFill>
                  <a:srgbClr val="000000"/>
                </a:solidFill>
                <a:latin typeface="Arial"/>
              </a:rPr>
              <a:t>We will now show this process of how text in a file is converted to machine code</a:t>
            </a:r>
            <a:endParaRPr lang="en-US" sz="4400" dirty="0">
              <a:solidFill>
                <a:srgbClr val="000000"/>
              </a:solidFill>
              <a:latin typeface="Arial"/>
            </a:endParaRPr>
          </a:p>
        </p:txBody>
      </p:sp>
    </p:spTree>
    <p:extLst>
      <p:ext uri="{BB962C8B-B14F-4D97-AF65-F5344CB8AC3E}">
        <p14:creationId xmlns:p14="http://schemas.microsoft.com/office/powerpoint/2010/main" val="3728312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Compiler/Linker</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4399751"/>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All three compiled languages can compile and link in a single step for simple programs</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Under the hood, it is multiple steps</a:t>
            </a:r>
          </a:p>
          <a:p>
            <a:pPr>
              <a:buClr>
                <a:srgbClr val="000000"/>
              </a:buClr>
              <a:buSzPct val="45000"/>
            </a:pPr>
            <a:r>
              <a:rPr lang="en-US" sz="4000" dirty="0">
                <a:solidFill>
                  <a:srgbClr val="000000"/>
                </a:solidFill>
                <a:latin typeface="Arial"/>
              </a:rPr>
              <a:t>	</a:t>
            </a:r>
            <a:r>
              <a:rPr lang="en-US" sz="4000" dirty="0" smtClean="0">
                <a:solidFill>
                  <a:srgbClr val="000000"/>
                </a:solidFill>
                <a:latin typeface="Arial"/>
              </a:rPr>
              <a:t>compiling</a:t>
            </a:r>
          </a:p>
          <a:p>
            <a:pPr>
              <a:buClr>
                <a:srgbClr val="000000"/>
              </a:buClr>
              <a:buSzPct val="45000"/>
            </a:pPr>
            <a:r>
              <a:rPr lang="en-US" sz="4000" dirty="0">
                <a:solidFill>
                  <a:srgbClr val="000000"/>
                </a:solidFill>
                <a:latin typeface="Arial"/>
              </a:rPr>
              <a:t>	</a:t>
            </a:r>
            <a:r>
              <a:rPr lang="en-US" sz="4000" dirty="0" smtClean="0">
                <a:solidFill>
                  <a:srgbClr val="000000"/>
                </a:solidFill>
                <a:latin typeface="Arial"/>
              </a:rPr>
              <a:t>linking</a:t>
            </a:r>
          </a:p>
        </p:txBody>
      </p:sp>
    </p:spTree>
    <p:extLst>
      <p:ext uri="{BB962C8B-B14F-4D97-AF65-F5344CB8AC3E}">
        <p14:creationId xmlns:p14="http://schemas.microsoft.com/office/powerpoint/2010/main" val="35416916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4276640"/>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Translate human text statements to binary code</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All three have a similar form on the command line</a:t>
            </a:r>
          </a:p>
          <a:p>
            <a:pPr>
              <a:buClr>
                <a:srgbClr val="000000"/>
              </a:buClr>
              <a:buSzPct val="45000"/>
            </a:pPr>
            <a:endParaRPr lang="en-US" sz="4000" dirty="0">
              <a:solidFill>
                <a:srgbClr val="000000"/>
              </a:solidFill>
              <a:latin typeface="Arial"/>
            </a:endParaRPr>
          </a:p>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p:txBody>
      </p:sp>
    </p:spTree>
    <p:extLst>
      <p:ext uri="{BB962C8B-B14F-4D97-AF65-F5344CB8AC3E}">
        <p14:creationId xmlns:p14="http://schemas.microsoft.com/office/powerpoint/2010/main" val="2585899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First</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321985"/>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Let’s call the program “first”</a:t>
            </a:r>
          </a:p>
          <a:p>
            <a:pPr>
              <a:buClr>
                <a:srgbClr val="000000"/>
              </a:buClr>
              <a:buSzPct val="45000"/>
            </a:pPr>
            <a:endParaRPr lang="en-US" sz="4000" dirty="0">
              <a:solidFill>
                <a:srgbClr val="000000"/>
              </a:solidFill>
              <a:latin typeface="Arial"/>
            </a:endParaRPr>
          </a:p>
        </p:txBody>
      </p:sp>
    </p:spTree>
    <p:extLst>
      <p:ext uri="{BB962C8B-B14F-4D97-AF65-F5344CB8AC3E}">
        <p14:creationId xmlns:p14="http://schemas.microsoft.com/office/powerpoint/2010/main" val="2954740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647700" y="364605"/>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First in C</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2553091"/>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In C, our human text will reside in a file called “</a:t>
            </a:r>
            <a:r>
              <a:rPr lang="en-US" sz="4000" dirty="0" err="1" smtClean="0">
                <a:solidFill>
                  <a:srgbClr val="000000"/>
                </a:solidFill>
                <a:latin typeface="Arial"/>
              </a:rPr>
              <a:t>first.c</a:t>
            </a:r>
            <a:r>
              <a:rPr lang="en-US" sz="4000" dirty="0" smtClean="0">
                <a:solidFill>
                  <a:srgbClr val="000000"/>
                </a:solidFill>
                <a:latin typeface="Arial"/>
              </a:rPr>
              <a:t>”</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The file has a suffix of .c</a:t>
            </a:r>
            <a:endParaRPr lang="en-US" sz="4000" dirty="0">
              <a:solidFill>
                <a:srgbClr val="000000"/>
              </a:solidFill>
              <a:latin typeface="Arial"/>
            </a:endParaRPr>
          </a:p>
        </p:txBody>
      </p:sp>
    </p:spTree>
    <p:extLst>
      <p:ext uri="{BB962C8B-B14F-4D97-AF65-F5344CB8AC3E}">
        <p14:creationId xmlns:p14="http://schemas.microsoft.com/office/powerpoint/2010/main" val="14382774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647700" y="364605"/>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First in C++</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168645"/>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In C++, our human text will reside in a file called “first.cpp”</a:t>
            </a:r>
          </a:p>
          <a:p>
            <a:pPr>
              <a:buClr>
                <a:srgbClr val="000000"/>
              </a:buClr>
              <a:buSzPct val="45000"/>
            </a:pPr>
            <a:endParaRPr lang="en-US" sz="4000" dirty="0">
              <a:solidFill>
                <a:srgbClr val="000000"/>
              </a:solidFill>
              <a:latin typeface="Arial"/>
            </a:endParaRPr>
          </a:p>
          <a:p>
            <a:pPr>
              <a:buClr>
                <a:srgbClr val="000000"/>
              </a:buClr>
              <a:buSzPct val="45000"/>
            </a:pPr>
            <a:endParaRPr lang="en-US" sz="4000" dirty="0" smtClean="0">
              <a:solidFill>
                <a:srgbClr val="000000"/>
              </a:solidFill>
              <a:latin typeface="Arial"/>
            </a:endParaRPr>
          </a:p>
          <a:p>
            <a:pPr>
              <a:buClr>
                <a:srgbClr val="000000"/>
              </a:buClr>
              <a:buSzPct val="45000"/>
            </a:pPr>
            <a:r>
              <a:rPr lang="en-US" sz="4000" dirty="0" smtClean="0">
                <a:solidFill>
                  <a:srgbClr val="000000"/>
                </a:solidFill>
                <a:latin typeface="Arial"/>
              </a:rPr>
              <a:t>Sometimes the suffix for C++ is cxx.</a:t>
            </a:r>
            <a:endParaRPr lang="en-US" sz="4000" dirty="0">
              <a:solidFill>
                <a:srgbClr val="000000"/>
              </a:solidFill>
              <a:latin typeface="Arial"/>
            </a:endParaRPr>
          </a:p>
        </p:txBody>
      </p:sp>
    </p:spTree>
    <p:extLst>
      <p:ext uri="{BB962C8B-B14F-4D97-AF65-F5344CB8AC3E}">
        <p14:creationId xmlns:p14="http://schemas.microsoft.com/office/powerpoint/2010/main" val="15648474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647700" y="364605"/>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First in Rust</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937538"/>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In Rust+, our human text will reside in a file called “first.rs”</a:t>
            </a:r>
          </a:p>
          <a:p>
            <a:pPr>
              <a:buClr>
                <a:srgbClr val="000000"/>
              </a:buClr>
              <a:buSzPct val="45000"/>
            </a:pPr>
            <a:endParaRPr lang="en-US" sz="4000" dirty="0">
              <a:solidFill>
                <a:srgbClr val="000000"/>
              </a:solidFill>
              <a:latin typeface="Arial"/>
            </a:endParaRPr>
          </a:p>
        </p:txBody>
      </p:sp>
    </p:spTree>
    <p:extLst>
      <p:ext uri="{BB962C8B-B14F-4D97-AF65-F5344CB8AC3E}">
        <p14:creationId xmlns:p14="http://schemas.microsoft.com/office/powerpoint/2010/main" val="3082573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4276640"/>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Translate human text statements to binary code</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All three have a similar form on the command line</a:t>
            </a:r>
          </a:p>
          <a:p>
            <a:pPr>
              <a:buClr>
                <a:srgbClr val="000000"/>
              </a:buClr>
              <a:buSzPct val="45000"/>
            </a:pPr>
            <a:endParaRPr lang="en-US" sz="4000" dirty="0">
              <a:solidFill>
                <a:srgbClr val="000000"/>
              </a:solidFill>
              <a:latin typeface="Arial"/>
            </a:endParaRPr>
          </a:p>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p:txBody>
      </p:sp>
    </p:spTree>
    <p:extLst>
      <p:ext uri="{BB962C8B-B14F-4D97-AF65-F5344CB8AC3E}">
        <p14:creationId xmlns:p14="http://schemas.microsoft.com/office/powerpoint/2010/main" val="3785290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C on Command Line</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537976"/>
          </a:xfrm>
          <a:prstGeom prst="rect">
            <a:avLst/>
          </a:prstGeom>
          <a:noFill/>
          <a:ln w="0">
            <a:noFill/>
          </a:ln>
        </p:spPr>
        <p:txBody>
          <a:bodyPr lIns="90000" tIns="45000" rIns="90000" bIns="45000" anchor="t">
            <a:spAutoFit/>
          </a:bodyPr>
          <a:lstStyle/>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a:p>
            <a:pPr>
              <a:buClr>
                <a:srgbClr val="000000"/>
              </a:buClr>
              <a:buSzPct val="45000"/>
            </a:pPr>
            <a:endParaRPr lang="en-US" sz="3200" dirty="0" smtClean="0">
              <a:solidFill>
                <a:srgbClr val="000000"/>
              </a:solidFill>
              <a:latin typeface="Arial"/>
            </a:endParaRPr>
          </a:p>
          <a:p>
            <a:pPr>
              <a:buClr>
                <a:srgbClr val="000000"/>
              </a:buClr>
              <a:buSzPct val="45000"/>
            </a:pPr>
            <a:r>
              <a:rPr lang="en-US" sz="3200" dirty="0" err="1">
                <a:solidFill>
                  <a:srgbClr val="000000"/>
                </a:solidFill>
                <a:latin typeface="Arial"/>
              </a:rPr>
              <a:t>gcc</a:t>
            </a:r>
            <a:r>
              <a:rPr lang="en-US" sz="3200" dirty="0">
                <a:solidFill>
                  <a:srgbClr val="000000"/>
                </a:solidFill>
                <a:latin typeface="Arial"/>
              </a:rPr>
              <a:t> –o </a:t>
            </a:r>
            <a:r>
              <a:rPr lang="en-US" sz="3200" dirty="0" smtClean="0">
                <a:solidFill>
                  <a:srgbClr val="000000"/>
                </a:solidFill>
                <a:latin typeface="Arial"/>
              </a:rPr>
              <a:t>first </a:t>
            </a:r>
            <a:r>
              <a:rPr lang="en-US" sz="3200" dirty="0" err="1" smtClean="0">
                <a:solidFill>
                  <a:srgbClr val="000000"/>
                </a:solidFill>
                <a:latin typeface="Arial"/>
              </a:rPr>
              <a:t>first.c</a:t>
            </a:r>
            <a:endParaRPr lang="en-US" sz="3200" dirty="0">
              <a:solidFill>
                <a:srgbClr val="000000"/>
              </a:solidFill>
              <a:latin typeface="Arial"/>
            </a:endParaRPr>
          </a:p>
          <a:p>
            <a:pPr>
              <a:buClr>
                <a:srgbClr val="000000"/>
              </a:buClr>
              <a:buSzPct val="45000"/>
            </a:pPr>
            <a:endParaRPr lang="en-US" sz="3200" dirty="0" smtClean="0">
              <a:solidFill>
                <a:srgbClr val="000000"/>
              </a:solidFill>
              <a:latin typeface="Arial"/>
            </a:endParaRPr>
          </a:p>
          <a:p>
            <a:pPr>
              <a:buClr>
                <a:srgbClr val="000000"/>
              </a:buClr>
              <a:buSzPct val="45000"/>
            </a:pPr>
            <a:endParaRPr lang="en-US" sz="3200" dirty="0">
              <a:solidFill>
                <a:srgbClr val="000000"/>
              </a:solidFill>
              <a:latin typeface="Arial"/>
            </a:endParaRPr>
          </a:p>
          <a:p>
            <a:pPr>
              <a:buClr>
                <a:srgbClr val="000000"/>
              </a:buClr>
              <a:buSzPct val="45000"/>
            </a:pPr>
            <a:r>
              <a:rPr lang="en-US" sz="3200" dirty="0" smtClean="0">
                <a:solidFill>
                  <a:srgbClr val="000000"/>
                </a:solidFill>
                <a:latin typeface="Arial"/>
              </a:rPr>
              <a:t>Options: -o first  : output program should be named first</a:t>
            </a:r>
          </a:p>
        </p:txBody>
      </p:sp>
    </p:spTree>
    <p:extLst>
      <p:ext uri="{BB962C8B-B14F-4D97-AF65-F5344CB8AC3E}">
        <p14:creationId xmlns:p14="http://schemas.microsoft.com/office/powerpoint/2010/main" val="16368241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C++ on Command Line</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537976"/>
          </a:xfrm>
          <a:prstGeom prst="rect">
            <a:avLst/>
          </a:prstGeom>
          <a:noFill/>
          <a:ln w="0">
            <a:noFill/>
          </a:ln>
        </p:spPr>
        <p:txBody>
          <a:bodyPr lIns="90000" tIns="45000" rIns="90000" bIns="45000" anchor="t">
            <a:spAutoFit/>
          </a:bodyPr>
          <a:lstStyle/>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a:p>
            <a:pPr>
              <a:buClr>
                <a:srgbClr val="000000"/>
              </a:buClr>
              <a:buSzPct val="45000"/>
            </a:pPr>
            <a:endParaRPr lang="en-US" sz="3200" dirty="0" smtClean="0">
              <a:solidFill>
                <a:srgbClr val="000000"/>
              </a:solidFill>
              <a:latin typeface="Arial"/>
            </a:endParaRPr>
          </a:p>
          <a:p>
            <a:pPr>
              <a:buClr>
                <a:srgbClr val="000000"/>
              </a:buClr>
              <a:buSzPct val="45000"/>
            </a:pPr>
            <a:r>
              <a:rPr lang="en-US" sz="3200" dirty="0">
                <a:solidFill>
                  <a:srgbClr val="000000"/>
                </a:solidFill>
                <a:latin typeface="Arial"/>
              </a:rPr>
              <a:t>g</a:t>
            </a:r>
            <a:r>
              <a:rPr lang="en-US" sz="3200" dirty="0" smtClean="0">
                <a:solidFill>
                  <a:srgbClr val="000000"/>
                </a:solidFill>
                <a:latin typeface="Arial"/>
              </a:rPr>
              <a:t>++ </a:t>
            </a:r>
            <a:r>
              <a:rPr lang="en-US" sz="3200" dirty="0">
                <a:solidFill>
                  <a:srgbClr val="000000"/>
                </a:solidFill>
                <a:latin typeface="Arial"/>
              </a:rPr>
              <a:t>–o </a:t>
            </a:r>
            <a:r>
              <a:rPr lang="en-US" sz="3200" dirty="0" smtClean="0">
                <a:solidFill>
                  <a:srgbClr val="000000"/>
                </a:solidFill>
                <a:latin typeface="Arial"/>
              </a:rPr>
              <a:t>first first.cpp</a:t>
            </a:r>
            <a:endParaRPr lang="en-US" sz="3200" dirty="0">
              <a:solidFill>
                <a:srgbClr val="000000"/>
              </a:solidFill>
              <a:latin typeface="Arial"/>
            </a:endParaRPr>
          </a:p>
          <a:p>
            <a:pPr>
              <a:buClr>
                <a:srgbClr val="000000"/>
              </a:buClr>
              <a:buSzPct val="45000"/>
            </a:pPr>
            <a:endParaRPr lang="en-US" sz="3200" dirty="0" smtClean="0">
              <a:solidFill>
                <a:srgbClr val="000000"/>
              </a:solidFill>
              <a:latin typeface="Arial"/>
            </a:endParaRPr>
          </a:p>
          <a:p>
            <a:pPr>
              <a:buClr>
                <a:srgbClr val="000000"/>
              </a:buClr>
              <a:buSzPct val="45000"/>
            </a:pPr>
            <a:endParaRPr lang="en-US" sz="3200" dirty="0">
              <a:solidFill>
                <a:srgbClr val="000000"/>
              </a:solidFill>
              <a:latin typeface="Arial"/>
            </a:endParaRPr>
          </a:p>
          <a:p>
            <a:pPr>
              <a:buClr>
                <a:srgbClr val="000000"/>
              </a:buClr>
              <a:buSzPct val="45000"/>
            </a:pPr>
            <a:r>
              <a:rPr lang="en-US" sz="3200" dirty="0" smtClean="0">
                <a:solidFill>
                  <a:srgbClr val="000000"/>
                </a:solidFill>
                <a:latin typeface="Arial"/>
              </a:rPr>
              <a:t>Options: -o first  : output program should be named first</a:t>
            </a:r>
          </a:p>
        </p:txBody>
      </p:sp>
    </p:spTree>
    <p:extLst>
      <p:ext uri="{BB962C8B-B14F-4D97-AF65-F5344CB8AC3E}">
        <p14:creationId xmlns:p14="http://schemas.microsoft.com/office/powerpoint/2010/main" val="816486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Rust on Command Line</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537976"/>
          </a:xfrm>
          <a:prstGeom prst="rect">
            <a:avLst/>
          </a:prstGeom>
          <a:noFill/>
          <a:ln w="0">
            <a:noFill/>
          </a:ln>
        </p:spPr>
        <p:txBody>
          <a:bodyPr lIns="90000" tIns="45000" rIns="90000" bIns="45000" anchor="t">
            <a:spAutoFit/>
          </a:bodyPr>
          <a:lstStyle/>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a:p>
            <a:pPr>
              <a:buClr>
                <a:srgbClr val="000000"/>
              </a:buClr>
              <a:buSzPct val="45000"/>
            </a:pPr>
            <a:endParaRPr lang="en-US" sz="3200" dirty="0" smtClean="0">
              <a:solidFill>
                <a:srgbClr val="000000"/>
              </a:solidFill>
              <a:latin typeface="Arial"/>
            </a:endParaRPr>
          </a:p>
          <a:p>
            <a:pPr>
              <a:buClr>
                <a:srgbClr val="000000"/>
              </a:buClr>
              <a:buSzPct val="45000"/>
            </a:pPr>
            <a:r>
              <a:rPr lang="en-US" sz="3200" dirty="0" err="1">
                <a:solidFill>
                  <a:srgbClr val="000000"/>
                </a:solidFill>
                <a:latin typeface="Arial"/>
              </a:rPr>
              <a:t>r</a:t>
            </a:r>
            <a:r>
              <a:rPr lang="en-US" sz="3200" dirty="0" err="1" smtClean="0">
                <a:solidFill>
                  <a:srgbClr val="000000"/>
                </a:solidFill>
                <a:latin typeface="Arial"/>
              </a:rPr>
              <a:t>ustc</a:t>
            </a:r>
            <a:r>
              <a:rPr lang="en-US" sz="3200" dirty="0" smtClean="0">
                <a:solidFill>
                  <a:srgbClr val="000000"/>
                </a:solidFill>
                <a:latin typeface="Arial"/>
              </a:rPr>
              <a:t> –o first first.rs</a:t>
            </a:r>
            <a:endParaRPr lang="en-US" sz="3200" dirty="0">
              <a:solidFill>
                <a:srgbClr val="000000"/>
              </a:solidFill>
              <a:latin typeface="Arial"/>
            </a:endParaRPr>
          </a:p>
          <a:p>
            <a:pPr>
              <a:buClr>
                <a:srgbClr val="000000"/>
              </a:buClr>
              <a:buSzPct val="45000"/>
            </a:pPr>
            <a:endParaRPr lang="en-US" sz="3200" dirty="0" smtClean="0">
              <a:solidFill>
                <a:srgbClr val="000000"/>
              </a:solidFill>
              <a:latin typeface="Arial"/>
            </a:endParaRPr>
          </a:p>
          <a:p>
            <a:pPr>
              <a:buClr>
                <a:srgbClr val="000000"/>
              </a:buClr>
              <a:buSzPct val="45000"/>
            </a:pPr>
            <a:endParaRPr lang="en-US" sz="3200" dirty="0">
              <a:solidFill>
                <a:srgbClr val="000000"/>
              </a:solidFill>
              <a:latin typeface="Arial"/>
            </a:endParaRPr>
          </a:p>
          <a:p>
            <a:pPr>
              <a:buClr>
                <a:srgbClr val="000000"/>
              </a:buClr>
              <a:buSzPct val="45000"/>
            </a:pPr>
            <a:r>
              <a:rPr lang="en-US" sz="3200" dirty="0" smtClean="0">
                <a:solidFill>
                  <a:srgbClr val="000000"/>
                </a:solidFill>
                <a:latin typeface="Arial"/>
              </a:rPr>
              <a:t>Options: -o first  : output program should be named first</a:t>
            </a:r>
          </a:p>
        </p:txBody>
      </p:sp>
    </p:spTree>
    <p:extLst>
      <p:ext uri="{BB962C8B-B14F-4D97-AF65-F5344CB8AC3E}">
        <p14:creationId xmlns:p14="http://schemas.microsoft.com/office/powerpoint/2010/main" val="4664490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1938992"/>
          </a:xfrm>
          <a:prstGeom prst="rect">
            <a:avLst/>
          </a:prstGeom>
        </p:spPr>
        <p:txBody>
          <a:bodyPr wrap="square">
            <a:spAutoFit/>
          </a:bodyPr>
          <a:lstStyle/>
          <a:p>
            <a:endParaRPr lang="en-US" sz="2400" dirty="0"/>
          </a:p>
          <a:p>
            <a:r>
              <a:rPr lang="en-US" sz="2400" dirty="0" err="1"/>
              <a:t>int</a:t>
            </a:r>
            <a:r>
              <a:rPr lang="en-US" sz="2400" dirty="0"/>
              <a:t> main( </a:t>
            </a:r>
            <a:r>
              <a:rPr lang="en-US" sz="2400" dirty="0" err="1"/>
              <a:t>int</a:t>
            </a:r>
            <a:r>
              <a:rPr lang="en-US" sz="2400" dirty="0"/>
              <a:t> </a:t>
            </a:r>
            <a:r>
              <a:rPr lang="en-US" sz="2400" dirty="0" err="1"/>
              <a:t>argc</a:t>
            </a:r>
            <a:r>
              <a:rPr lang="en-US" sz="2400" dirty="0"/>
              <a:t>, char *</a:t>
            </a:r>
            <a:r>
              <a:rPr lang="en-US" sz="2400" dirty="0" err="1"/>
              <a:t>argv</a:t>
            </a:r>
            <a:r>
              <a:rPr lang="en-US" sz="2400" dirty="0"/>
              <a:t>[] )</a:t>
            </a:r>
          </a:p>
          <a:p>
            <a:r>
              <a:rPr lang="en-US" sz="2400" dirty="0"/>
              <a:t>{</a:t>
            </a:r>
          </a:p>
          <a:p>
            <a:r>
              <a:rPr lang="en-US" sz="2400" dirty="0"/>
              <a:t> </a:t>
            </a:r>
            <a:r>
              <a:rPr lang="en-US" sz="2400" dirty="0" err="1"/>
              <a:t>int</a:t>
            </a:r>
            <a:r>
              <a:rPr lang="en-US" sz="2400" dirty="0"/>
              <a:t> sum = 1 + 2 + 3 + 4 + 5 + 6 + 7 +8 + </a:t>
            </a:r>
            <a:r>
              <a:rPr lang="en-US" sz="2400" dirty="0" smtClean="0"/>
              <a:t>9 </a:t>
            </a:r>
            <a:r>
              <a:rPr lang="en-US" sz="2400" dirty="0"/>
              <a:t>+ 10 ;</a:t>
            </a:r>
          </a:p>
          <a:p>
            <a:r>
              <a:rPr lang="en-US" sz="2400" dirty="0"/>
              <a:t>}</a:t>
            </a:r>
          </a:p>
        </p:txBody>
      </p:sp>
    </p:spTree>
    <p:extLst>
      <p:ext uri="{BB962C8B-B14F-4D97-AF65-F5344CB8AC3E}">
        <p14:creationId xmlns:p14="http://schemas.microsoft.com/office/powerpoint/2010/main" val="3324837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1938992"/>
          </a:xfrm>
          <a:prstGeom prst="rect">
            <a:avLst/>
          </a:prstGeom>
        </p:spPr>
        <p:txBody>
          <a:bodyPr wrap="square">
            <a:spAutoFit/>
          </a:bodyPr>
          <a:lstStyle/>
          <a:p>
            <a:endParaRPr lang="en-US" sz="2400" dirty="0"/>
          </a:p>
          <a:p>
            <a:r>
              <a:rPr lang="en-US" sz="2400" dirty="0" err="1"/>
              <a:t>int</a:t>
            </a:r>
            <a:r>
              <a:rPr lang="en-US" sz="2400" dirty="0"/>
              <a:t> </a:t>
            </a:r>
            <a:r>
              <a:rPr lang="en-US" sz="2400" dirty="0">
                <a:solidFill>
                  <a:srgbClr val="FF0000"/>
                </a:solidFill>
              </a:rPr>
              <a:t>main</a:t>
            </a:r>
            <a:r>
              <a:rPr lang="en-US" sz="2400" dirty="0"/>
              <a:t>( </a:t>
            </a:r>
            <a:r>
              <a:rPr lang="en-US" sz="2400" dirty="0" err="1"/>
              <a:t>int</a:t>
            </a:r>
            <a:r>
              <a:rPr lang="en-US" sz="2400" dirty="0"/>
              <a:t> </a:t>
            </a:r>
            <a:r>
              <a:rPr lang="en-US" sz="2400" dirty="0" err="1"/>
              <a:t>argc</a:t>
            </a:r>
            <a:r>
              <a:rPr lang="en-US" sz="2400" dirty="0"/>
              <a:t>, char *</a:t>
            </a:r>
            <a:r>
              <a:rPr lang="en-US" sz="2400" dirty="0" err="1"/>
              <a:t>argv</a:t>
            </a:r>
            <a:r>
              <a:rPr lang="en-US" sz="2400" dirty="0"/>
              <a:t>[] )</a:t>
            </a:r>
          </a:p>
          <a:p>
            <a:r>
              <a:rPr lang="en-US" sz="2400" dirty="0"/>
              <a:t>{</a:t>
            </a:r>
          </a:p>
          <a:p>
            <a:r>
              <a:rPr lang="en-US" sz="2400" dirty="0"/>
              <a:t> </a:t>
            </a:r>
            <a:r>
              <a:rPr lang="en-US" sz="2400" dirty="0" err="1"/>
              <a:t>int</a:t>
            </a:r>
            <a:r>
              <a:rPr lang="en-US" sz="2400" dirty="0"/>
              <a:t> sum = 1 + 2 + 3 + 4 + 5 + 6 + 7 +8 + </a:t>
            </a:r>
            <a:r>
              <a:rPr lang="en-US" sz="2400" dirty="0" smtClean="0"/>
              <a:t>9 </a:t>
            </a:r>
            <a:r>
              <a:rPr lang="en-US" sz="2400" dirty="0"/>
              <a:t>+ 10 </a:t>
            </a:r>
            <a:r>
              <a:rPr lang="en-US" sz="2400" b="1" dirty="0"/>
              <a:t>;</a:t>
            </a:r>
          </a:p>
          <a:p>
            <a:r>
              <a:rPr lang="en-US" sz="2400" dirty="0"/>
              <a:t>}</a:t>
            </a:r>
          </a:p>
        </p:txBody>
      </p:sp>
      <p:sp>
        <p:nvSpPr>
          <p:cNvPr id="3" name="TextBox 2"/>
          <p:cNvSpPr txBox="1"/>
          <p:nvPr/>
        </p:nvSpPr>
        <p:spPr>
          <a:xfrm>
            <a:off x="2057400" y="2445514"/>
            <a:ext cx="1225144" cy="369332"/>
          </a:xfrm>
          <a:prstGeom prst="rect">
            <a:avLst/>
          </a:prstGeom>
          <a:noFill/>
        </p:spPr>
        <p:txBody>
          <a:bodyPr wrap="none" rtlCol="0">
            <a:spAutoFit/>
          </a:bodyPr>
          <a:lstStyle/>
          <a:p>
            <a:r>
              <a:rPr lang="en-US" dirty="0" smtClean="0">
                <a:solidFill>
                  <a:srgbClr val="FF0000"/>
                </a:solidFill>
              </a:rPr>
              <a:t>Entry point</a:t>
            </a:r>
            <a:endParaRPr lang="en-US" dirty="0">
              <a:solidFill>
                <a:srgbClr val="FF0000"/>
              </a:solidFill>
            </a:endParaRPr>
          </a:p>
        </p:txBody>
      </p:sp>
    </p:spTree>
    <p:extLst>
      <p:ext uri="{BB962C8B-B14F-4D97-AF65-F5344CB8AC3E}">
        <p14:creationId xmlns:p14="http://schemas.microsoft.com/office/powerpoint/2010/main" val="2795692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1938992"/>
          </a:xfrm>
          <a:prstGeom prst="rect">
            <a:avLst/>
          </a:prstGeom>
        </p:spPr>
        <p:txBody>
          <a:bodyPr wrap="square">
            <a:spAutoFit/>
          </a:bodyPr>
          <a:lstStyle/>
          <a:p>
            <a:endParaRPr lang="en-US" sz="2400" dirty="0"/>
          </a:p>
          <a:p>
            <a:r>
              <a:rPr lang="en-US" sz="2400" dirty="0" err="1"/>
              <a:t>int</a:t>
            </a:r>
            <a:r>
              <a:rPr lang="en-US" sz="2400" dirty="0"/>
              <a:t> main( </a:t>
            </a:r>
            <a:r>
              <a:rPr lang="en-US" sz="2400" dirty="0" err="1">
                <a:solidFill>
                  <a:srgbClr val="FF0000"/>
                </a:solidFill>
              </a:rPr>
              <a:t>int</a:t>
            </a:r>
            <a:r>
              <a:rPr lang="en-US" sz="2400" dirty="0">
                <a:solidFill>
                  <a:srgbClr val="FF0000"/>
                </a:solidFill>
              </a:rPr>
              <a:t> </a:t>
            </a:r>
            <a:r>
              <a:rPr lang="en-US" sz="2400" dirty="0" err="1">
                <a:solidFill>
                  <a:srgbClr val="FF0000"/>
                </a:solidFill>
              </a:rPr>
              <a:t>argc</a:t>
            </a:r>
            <a:r>
              <a:rPr lang="en-US" sz="2400" dirty="0">
                <a:solidFill>
                  <a:srgbClr val="FF0000"/>
                </a:solidFill>
              </a:rPr>
              <a:t>, char *</a:t>
            </a:r>
            <a:r>
              <a:rPr lang="en-US" sz="2400" dirty="0" err="1">
                <a:solidFill>
                  <a:srgbClr val="FF0000"/>
                </a:solidFill>
              </a:rPr>
              <a:t>argv</a:t>
            </a:r>
            <a:r>
              <a:rPr lang="en-US" sz="2400" dirty="0">
                <a:solidFill>
                  <a:srgbClr val="FF0000"/>
                </a:solidFill>
              </a:rPr>
              <a:t>[] </a:t>
            </a:r>
            <a:r>
              <a:rPr lang="en-US" sz="2400" dirty="0"/>
              <a:t>)</a:t>
            </a:r>
          </a:p>
          <a:p>
            <a:r>
              <a:rPr lang="en-US" sz="2400" dirty="0"/>
              <a:t>{</a:t>
            </a:r>
          </a:p>
          <a:p>
            <a:r>
              <a:rPr lang="en-US" sz="2400" dirty="0"/>
              <a:t> </a:t>
            </a:r>
            <a:r>
              <a:rPr lang="en-US" sz="2400" dirty="0" err="1"/>
              <a:t>int</a:t>
            </a:r>
            <a:r>
              <a:rPr lang="en-US" sz="2400" dirty="0"/>
              <a:t> sum = 1 + 2 + 3 + 4 + 5 + 6 + 7 +8 + </a:t>
            </a:r>
            <a:r>
              <a:rPr lang="en-US" sz="2400" dirty="0" smtClean="0"/>
              <a:t>9 </a:t>
            </a:r>
            <a:r>
              <a:rPr lang="en-US" sz="2400" dirty="0"/>
              <a:t>+ 10 </a:t>
            </a:r>
            <a:r>
              <a:rPr lang="en-US" sz="2400" b="1" dirty="0"/>
              <a:t>;</a:t>
            </a:r>
          </a:p>
          <a:p>
            <a:r>
              <a:rPr lang="en-US" sz="2400" dirty="0"/>
              <a:t>}</a:t>
            </a:r>
          </a:p>
        </p:txBody>
      </p:sp>
      <p:sp>
        <p:nvSpPr>
          <p:cNvPr id="3" name="TextBox 2"/>
          <p:cNvSpPr txBox="1"/>
          <p:nvPr/>
        </p:nvSpPr>
        <p:spPr>
          <a:xfrm>
            <a:off x="4133850" y="2452628"/>
            <a:ext cx="5186163" cy="369332"/>
          </a:xfrm>
          <a:prstGeom prst="rect">
            <a:avLst/>
          </a:prstGeom>
          <a:noFill/>
        </p:spPr>
        <p:txBody>
          <a:bodyPr wrap="none" rtlCol="0">
            <a:spAutoFit/>
          </a:bodyPr>
          <a:lstStyle/>
          <a:p>
            <a:r>
              <a:rPr lang="en-US" dirty="0" smtClean="0">
                <a:solidFill>
                  <a:srgbClr val="FF0000"/>
                </a:solidFill>
              </a:rPr>
              <a:t>Parameters or arguments associated with entry point</a:t>
            </a:r>
            <a:endParaRPr lang="en-US" dirty="0">
              <a:solidFill>
                <a:srgbClr val="FF0000"/>
              </a:solidFill>
            </a:endParaRPr>
          </a:p>
        </p:txBody>
      </p:sp>
    </p:spTree>
    <p:extLst>
      <p:ext uri="{BB962C8B-B14F-4D97-AF65-F5344CB8AC3E}">
        <p14:creationId xmlns:p14="http://schemas.microsoft.com/office/powerpoint/2010/main" val="10482578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1938992"/>
          </a:xfrm>
          <a:prstGeom prst="rect">
            <a:avLst/>
          </a:prstGeom>
        </p:spPr>
        <p:txBody>
          <a:bodyPr wrap="square">
            <a:spAutoFit/>
          </a:bodyPr>
          <a:lstStyle/>
          <a:p>
            <a:endParaRPr lang="en-US" sz="2400" dirty="0"/>
          </a:p>
          <a:p>
            <a:r>
              <a:rPr lang="en-US" sz="2400" dirty="0" err="1" smtClean="0">
                <a:solidFill>
                  <a:srgbClr val="FF0000"/>
                </a:solidFill>
              </a:rPr>
              <a:t>int</a:t>
            </a:r>
            <a:r>
              <a:rPr lang="en-US" sz="2400" dirty="0" smtClean="0"/>
              <a:t> </a:t>
            </a:r>
            <a:r>
              <a:rPr lang="en-US" sz="2400" dirty="0"/>
              <a:t>main( </a:t>
            </a:r>
            <a:r>
              <a:rPr lang="en-US" sz="2400" dirty="0" err="1"/>
              <a:t>int</a:t>
            </a:r>
            <a:r>
              <a:rPr lang="en-US" sz="2400" dirty="0"/>
              <a:t> </a:t>
            </a:r>
            <a:r>
              <a:rPr lang="en-US" sz="2400" dirty="0" err="1"/>
              <a:t>argc</a:t>
            </a:r>
            <a:r>
              <a:rPr lang="en-US" sz="2400" dirty="0"/>
              <a:t>, char *</a:t>
            </a:r>
            <a:r>
              <a:rPr lang="en-US" sz="2400" dirty="0" err="1"/>
              <a:t>argv</a:t>
            </a:r>
            <a:r>
              <a:rPr lang="en-US" sz="2400" dirty="0"/>
              <a:t>[] )</a:t>
            </a:r>
          </a:p>
          <a:p>
            <a:r>
              <a:rPr lang="en-US" sz="2400" dirty="0"/>
              <a:t>{</a:t>
            </a:r>
          </a:p>
          <a:p>
            <a:r>
              <a:rPr lang="en-US" sz="2400" dirty="0"/>
              <a:t> </a:t>
            </a:r>
            <a:r>
              <a:rPr lang="en-US" sz="2400" dirty="0" err="1"/>
              <a:t>int</a:t>
            </a:r>
            <a:r>
              <a:rPr lang="en-US" sz="2400" dirty="0"/>
              <a:t> sum = 1 + 2 + 3 + 4 + 5 + 6 + 7 +8 + </a:t>
            </a:r>
            <a:r>
              <a:rPr lang="en-US" sz="2400" dirty="0" smtClean="0"/>
              <a:t>9 </a:t>
            </a:r>
            <a:r>
              <a:rPr lang="en-US" sz="2400" dirty="0"/>
              <a:t>+ 10 </a:t>
            </a:r>
            <a:r>
              <a:rPr lang="en-US" sz="2400" b="1" dirty="0"/>
              <a:t>;</a:t>
            </a:r>
          </a:p>
          <a:p>
            <a:r>
              <a:rPr lang="en-US" sz="2400" dirty="0"/>
              <a:t>}</a:t>
            </a:r>
          </a:p>
        </p:txBody>
      </p:sp>
      <p:sp>
        <p:nvSpPr>
          <p:cNvPr id="3" name="TextBox 2"/>
          <p:cNvSpPr txBox="1"/>
          <p:nvPr/>
        </p:nvSpPr>
        <p:spPr>
          <a:xfrm>
            <a:off x="4133850" y="2452628"/>
            <a:ext cx="2452146" cy="369332"/>
          </a:xfrm>
          <a:prstGeom prst="rect">
            <a:avLst/>
          </a:prstGeom>
          <a:noFill/>
        </p:spPr>
        <p:txBody>
          <a:bodyPr wrap="none" rtlCol="0">
            <a:spAutoFit/>
          </a:bodyPr>
          <a:lstStyle/>
          <a:p>
            <a:r>
              <a:rPr lang="en-US" dirty="0" smtClean="0">
                <a:solidFill>
                  <a:srgbClr val="FF0000"/>
                </a:solidFill>
              </a:rPr>
              <a:t>Return value is a integer</a:t>
            </a:r>
            <a:endParaRPr lang="en-US" dirty="0">
              <a:solidFill>
                <a:srgbClr val="FF0000"/>
              </a:solidFill>
            </a:endParaRPr>
          </a:p>
        </p:txBody>
      </p:sp>
    </p:spTree>
    <p:extLst>
      <p:ext uri="{BB962C8B-B14F-4D97-AF65-F5344CB8AC3E}">
        <p14:creationId xmlns:p14="http://schemas.microsoft.com/office/powerpoint/2010/main" val="1136686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1938992"/>
          </a:xfrm>
          <a:prstGeom prst="rect">
            <a:avLst/>
          </a:prstGeom>
        </p:spPr>
        <p:txBody>
          <a:bodyPr wrap="square">
            <a:spAutoFit/>
          </a:bodyPr>
          <a:lstStyle/>
          <a:p>
            <a:endParaRPr lang="en-US" sz="2400" dirty="0"/>
          </a:p>
          <a:p>
            <a:r>
              <a:rPr lang="en-US" sz="2400" dirty="0" err="1" smtClean="0"/>
              <a:t>int</a:t>
            </a:r>
            <a:r>
              <a:rPr lang="en-US" sz="2400" dirty="0" smtClean="0"/>
              <a:t> </a:t>
            </a:r>
            <a:r>
              <a:rPr lang="en-US" sz="2400" dirty="0"/>
              <a:t>main( </a:t>
            </a:r>
            <a:r>
              <a:rPr lang="en-US" sz="2400" dirty="0" err="1"/>
              <a:t>int</a:t>
            </a:r>
            <a:r>
              <a:rPr lang="en-US" sz="2400" dirty="0"/>
              <a:t> </a:t>
            </a:r>
            <a:r>
              <a:rPr lang="en-US" sz="2400" dirty="0" err="1"/>
              <a:t>argc</a:t>
            </a:r>
            <a:r>
              <a:rPr lang="en-US" sz="2400" dirty="0"/>
              <a:t>, char *</a:t>
            </a:r>
            <a:r>
              <a:rPr lang="en-US" sz="2400" dirty="0" err="1"/>
              <a:t>argv</a:t>
            </a:r>
            <a:r>
              <a:rPr lang="en-US" sz="2400" dirty="0"/>
              <a:t>[] )</a:t>
            </a:r>
          </a:p>
          <a:p>
            <a:r>
              <a:rPr lang="en-US" sz="2400" dirty="0"/>
              <a:t>{</a:t>
            </a:r>
          </a:p>
          <a:p>
            <a:r>
              <a:rPr lang="en-US" sz="2400" dirty="0"/>
              <a:t> </a:t>
            </a:r>
            <a:r>
              <a:rPr lang="en-US" sz="2400" dirty="0" err="1">
                <a:solidFill>
                  <a:srgbClr val="FF0000"/>
                </a:solidFill>
              </a:rPr>
              <a:t>int</a:t>
            </a:r>
            <a:r>
              <a:rPr lang="en-US" sz="2400" dirty="0">
                <a:solidFill>
                  <a:srgbClr val="FF0000"/>
                </a:solidFill>
              </a:rPr>
              <a:t> sum </a:t>
            </a:r>
            <a:r>
              <a:rPr lang="en-US" sz="2400" dirty="0"/>
              <a:t>= 1 + 2 + 3 + 4 + 5 + 6 + 7 +8 + </a:t>
            </a:r>
            <a:r>
              <a:rPr lang="en-US" sz="2400" dirty="0" smtClean="0"/>
              <a:t>9 </a:t>
            </a:r>
            <a:r>
              <a:rPr lang="en-US" sz="2400" dirty="0"/>
              <a:t>+ 10 </a:t>
            </a:r>
            <a:r>
              <a:rPr lang="en-US" sz="2400" b="1" dirty="0"/>
              <a:t>;</a:t>
            </a:r>
          </a:p>
          <a:p>
            <a:r>
              <a:rPr lang="en-US" sz="2400" dirty="0"/>
              <a:t>}</a:t>
            </a:r>
          </a:p>
        </p:txBody>
      </p:sp>
      <p:sp>
        <p:nvSpPr>
          <p:cNvPr id="3" name="TextBox 2"/>
          <p:cNvSpPr txBox="1"/>
          <p:nvPr/>
        </p:nvSpPr>
        <p:spPr>
          <a:xfrm>
            <a:off x="990600" y="4510028"/>
            <a:ext cx="3304879" cy="369332"/>
          </a:xfrm>
          <a:prstGeom prst="rect">
            <a:avLst/>
          </a:prstGeom>
          <a:noFill/>
        </p:spPr>
        <p:txBody>
          <a:bodyPr wrap="none" rtlCol="0">
            <a:spAutoFit/>
          </a:bodyPr>
          <a:lstStyle/>
          <a:p>
            <a:r>
              <a:rPr lang="en-US" dirty="0">
                <a:solidFill>
                  <a:srgbClr val="FF0000"/>
                </a:solidFill>
              </a:rPr>
              <a:t>s</a:t>
            </a:r>
            <a:r>
              <a:rPr lang="en-US" dirty="0" smtClean="0">
                <a:solidFill>
                  <a:srgbClr val="FF0000"/>
                </a:solidFill>
              </a:rPr>
              <a:t>um is a variable that is a integer</a:t>
            </a:r>
            <a:endParaRPr lang="en-US" dirty="0">
              <a:solidFill>
                <a:srgbClr val="FF0000"/>
              </a:solidFill>
            </a:endParaRPr>
          </a:p>
        </p:txBody>
      </p:sp>
    </p:spTree>
    <p:extLst>
      <p:ext uri="{BB962C8B-B14F-4D97-AF65-F5344CB8AC3E}">
        <p14:creationId xmlns:p14="http://schemas.microsoft.com/office/powerpoint/2010/main" val="750820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1938992"/>
          </a:xfrm>
          <a:prstGeom prst="rect">
            <a:avLst/>
          </a:prstGeom>
        </p:spPr>
        <p:txBody>
          <a:bodyPr wrap="square">
            <a:spAutoFit/>
          </a:bodyPr>
          <a:lstStyle/>
          <a:p>
            <a:endParaRPr lang="en-US" sz="2400" dirty="0"/>
          </a:p>
          <a:p>
            <a:r>
              <a:rPr lang="en-US" sz="2400" dirty="0" err="1"/>
              <a:t>int</a:t>
            </a:r>
            <a:r>
              <a:rPr lang="en-US" sz="2400" dirty="0"/>
              <a:t> main( </a:t>
            </a:r>
            <a:r>
              <a:rPr lang="en-US" sz="2400" dirty="0" err="1"/>
              <a:t>int</a:t>
            </a:r>
            <a:r>
              <a:rPr lang="en-US" sz="2400" dirty="0"/>
              <a:t> </a:t>
            </a:r>
            <a:r>
              <a:rPr lang="en-US" sz="2400" dirty="0" err="1"/>
              <a:t>argc</a:t>
            </a:r>
            <a:r>
              <a:rPr lang="en-US" sz="2400" dirty="0"/>
              <a:t>, char *</a:t>
            </a:r>
            <a:r>
              <a:rPr lang="en-US" sz="2400" dirty="0" err="1"/>
              <a:t>argv</a:t>
            </a:r>
            <a:r>
              <a:rPr lang="en-US" sz="2400" dirty="0"/>
              <a:t>[] )</a:t>
            </a:r>
          </a:p>
          <a:p>
            <a:r>
              <a:rPr lang="en-US" sz="2400" dirty="0"/>
              <a:t>{</a:t>
            </a:r>
          </a:p>
          <a:p>
            <a:r>
              <a:rPr lang="en-US" sz="2400" dirty="0"/>
              <a:t> </a:t>
            </a:r>
            <a:r>
              <a:rPr lang="en-US" sz="2400" dirty="0" err="1"/>
              <a:t>int</a:t>
            </a:r>
            <a:r>
              <a:rPr lang="en-US" sz="2400" dirty="0"/>
              <a:t> sum = 1 + 2 + 3 + 4 + 5 + 6 + 7 +8 + </a:t>
            </a:r>
            <a:r>
              <a:rPr lang="en-US" sz="2400" dirty="0" smtClean="0"/>
              <a:t>9 </a:t>
            </a:r>
            <a:r>
              <a:rPr lang="en-US" sz="2400" dirty="0"/>
              <a:t>+ 10 </a:t>
            </a:r>
            <a:r>
              <a:rPr lang="en-US" sz="2400" b="1" dirty="0">
                <a:solidFill>
                  <a:srgbClr val="FF0000"/>
                </a:solidFill>
              </a:rPr>
              <a:t>;</a:t>
            </a:r>
          </a:p>
          <a:p>
            <a:r>
              <a:rPr lang="en-US" sz="2400" dirty="0"/>
              <a:t>}</a:t>
            </a:r>
          </a:p>
        </p:txBody>
      </p:sp>
      <p:sp>
        <p:nvSpPr>
          <p:cNvPr id="3" name="TextBox 2"/>
          <p:cNvSpPr txBox="1"/>
          <p:nvPr/>
        </p:nvSpPr>
        <p:spPr>
          <a:xfrm>
            <a:off x="7429500" y="4384506"/>
            <a:ext cx="2110450" cy="369332"/>
          </a:xfrm>
          <a:prstGeom prst="rect">
            <a:avLst/>
          </a:prstGeom>
          <a:noFill/>
        </p:spPr>
        <p:txBody>
          <a:bodyPr wrap="none" rtlCol="0">
            <a:spAutoFit/>
          </a:bodyPr>
          <a:lstStyle/>
          <a:p>
            <a:r>
              <a:rPr lang="en-US" dirty="0" smtClean="0">
                <a:solidFill>
                  <a:srgbClr val="FF0000"/>
                </a:solidFill>
              </a:rPr>
              <a:t>Statement separator</a:t>
            </a:r>
            <a:endParaRPr lang="en-US" dirty="0">
              <a:solidFill>
                <a:srgbClr val="FF0000"/>
              </a:solidFill>
            </a:endParaRPr>
          </a:p>
        </p:txBody>
      </p:sp>
    </p:spTree>
    <p:extLst>
      <p:ext uri="{BB962C8B-B14F-4D97-AF65-F5344CB8AC3E}">
        <p14:creationId xmlns:p14="http://schemas.microsoft.com/office/powerpoint/2010/main" val="292650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C++</a:t>
            </a:r>
            <a:endParaRPr lang="en-US" sz="4400" b="0" u="none" strike="noStrike" dirty="0">
              <a:solidFill>
                <a:srgbClr val="000000"/>
              </a:solidFill>
              <a:effectLst/>
              <a:uFillTx/>
              <a:latin typeface="Arial"/>
            </a:endParaRPr>
          </a:p>
        </p:txBody>
      </p:sp>
      <p:sp>
        <p:nvSpPr>
          <p:cNvPr id="2" name="Rectangle 1"/>
          <p:cNvSpPr/>
          <p:nvPr/>
        </p:nvSpPr>
        <p:spPr>
          <a:xfrm>
            <a:off x="381000" y="2102614"/>
            <a:ext cx="9296400" cy="1200329"/>
          </a:xfrm>
          <a:prstGeom prst="rect">
            <a:avLst/>
          </a:prstGeom>
        </p:spPr>
        <p:txBody>
          <a:bodyPr wrap="square">
            <a:spAutoFit/>
          </a:bodyPr>
          <a:lstStyle/>
          <a:p>
            <a:r>
              <a:rPr lang="en-US" sz="2400" dirty="0" err="1" smtClean="0"/>
              <a:t>int</a:t>
            </a:r>
            <a:r>
              <a:rPr lang="en-US" sz="2400" dirty="0" smtClean="0"/>
              <a:t> </a:t>
            </a:r>
            <a:r>
              <a:rPr lang="en-US" sz="2400" dirty="0"/>
              <a:t>main() {</a:t>
            </a:r>
          </a:p>
          <a:p>
            <a:r>
              <a:rPr lang="en-US" sz="2400" dirty="0"/>
              <a:t>    </a:t>
            </a:r>
            <a:r>
              <a:rPr lang="en-US" sz="2400" dirty="0" err="1"/>
              <a:t>int</a:t>
            </a:r>
            <a:r>
              <a:rPr lang="en-US" sz="2400" dirty="0"/>
              <a:t> sum = 1 + 2 + 3 + 4 + 5 + 6 + 7 +8 + </a:t>
            </a:r>
            <a:r>
              <a:rPr lang="en-US" sz="2400" dirty="0" smtClean="0"/>
              <a:t>9 </a:t>
            </a:r>
            <a:r>
              <a:rPr lang="en-US" sz="2400" dirty="0"/>
              <a:t>+ 10 </a:t>
            </a:r>
            <a:r>
              <a:rPr lang="en-US" sz="2400" dirty="0" smtClean="0"/>
              <a:t>;</a:t>
            </a:r>
          </a:p>
          <a:p>
            <a:r>
              <a:rPr lang="en-US" sz="2400" dirty="0"/>
              <a:t>}</a:t>
            </a:r>
            <a:endParaRPr lang="en-US" sz="2400" dirty="0" smtClean="0"/>
          </a:p>
        </p:txBody>
      </p:sp>
    </p:spTree>
    <p:extLst>
      <p:ext uri="{BB962C8B-B14F-4D97-AF65-F5344CB8AC3E}">
        <p14:creationId xmlns:p14="http://schemas.microsoft.com/office/powerpoint/2010/main" val="3589868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First Text in Rust</a:t>
            </a:r>
            <a:endParaRPr lang="en-US" sz="4400" b="0" u="none" strike="noStrike" dirty="0">
              <a:solidFill>
                <a:srgbClr val="000000"/>
              </a:solidFill>
              <a:effectLst/>
              <a:uFillTx/>
              <a:latin typeface="Arial"/>
            </a:endParaRPr>
          </a:p>
        </p:txBody>
      </p:sp>
      <p:sp>
        <p:nvSpPr>
          <p:cNvPr id="3" name="Rectangle 2"/>
          <p:cNvSpPr/>
          <p:nvPr/>
        </p:nvSpPr>
        <p:spPr>
          <a:xfrm>
            <a:off x="502919" y="1860114"/>
            <a:ext cx="8536305" cy="1569660"/>
          </a:xfrm>
          <a:prstGeom prst="rect">
            <a:avLst/>
          </a:prstGeom>
        </p:spPr>
        <p:txBody>
          <a:bodyPr wrap="square">
            <a:spAutoFit/>
          </a:bodyPr>
          <a:lstStyle/>
          <a:p>
            <a:r>
              <a:rPr lang="en-US" sz="3200" dirty="0" err="1"/>
              <a:t>fn</a:t>
            </a:r>
            <a:r>
              <a:rPr lang="en-US" sz="3200" dirty="0"/>
              <a:t> main() {</a:t>
            </a:r>
          </a:p>
          <a:p>
            <a:r>
              <a:rPr lang="en-US" sz="3200" dirty="0" smtClean="0"/>
              <a:t>      </a:t>
            </a:r>
            <a:r>
              <a:rPr lang="en-US" sz="3200" dirty="0"/>
              <a:t>let sum = 1 + 2 + 3 + 4 + 5 + 6 + 7 + 8 + 9 + 10 ;</a:t>
            </a:r>
          </a:p>
          <a:p>
            <a:r>
              <a:rPr lang="en-US" sz="3200" dirty="0" smtClean="0"/>
              <a:t>}</a:t>
            </a:r>
            <a:endParaRPr lang="en-US" sz="3200" dirty="0"/>
          </a:p>
        </p:txBody>
      </p:sp>
    </p:spTree>
    <p:extLst>
      <p:ext uri="{BB962C8B-B14F-4D97-AF65-F5344CB8AC3E}">
        <p14:creationId xmlns:p14="http://schemas.microsoft.com/office/powerpoint/2010/main" val="1208795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Let’s build the programs</a:t>
            </a:r>
            <a:endParaRPr lang="en-US" sz="4400" b="0" u="none" strike="noStrike" dirty="0">
              <a:solidFill>
                <a:srgbClr val="000000"/>
              </a:solidFill>
              <a:effectLst/>
              <a:uFillTx/>
              <a:latin typeface="Arial"/>
            </a:endParaRPr>
          </a:p>
        </p:txBody>
      </p:sp>
      <p:sp>
        <p:nvSpPr>
          <p:cNvPr id="3" name="Rectangle 2"/>
          <p:cNvSpPr/>
          <p:nvPr/>
        </p:nvSpPr>
        <p:spPr>
          <a:xfrm>
            <a:off x="895350" y="1850589"/>
            <a:ext cx="7048500" cy="584775"/>
          </a:xfrm>
          <a:prstGeom prst="rect">
            <a:avLst/>
          </a:prstGeom>
        </p:spPr>
        <p:txBody>
          <a:bodyPr wrap="square">
            <a:spAutoFit/>
          </a:bodyPr>
          <a:lstStyle/>
          <a:p>
            <a:r>
              <a:rPr lang="en-US" sz="3200" dirty="0" smtClean="0"/>
              <a:t>Try each language </a:t>
            </a:r>
            <a:r>
              <a:rPr lang="en-US" sz="3200" smtClean="0"/>
              <a:t>in turn</a:t>
            </a:r>
            <a:endParaRPr lang="en-US" sz="3200" dirty="0"/>
          </a:p>
        </p:txBody>
      </p:sp>
    </p:spTree>
    <p:extLst>
      <p:ext uri="{BB962C8B-B14F-4D97-AF65-F5344CB8AC3E}">
        <p14:creationId xmlns:p14="http://schemas.microsoft.com/office/powerpoint/2010/main" val="1785318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Programs don’t do anything</a:t>
            </a:r>
            <a:endParaRPr lang="en-US" sz="4400" b="0" u="none" strike="noStrike" dirty="0">
              <a:solidFill>
                <a:srgbClr val="000000"/>
              </a:solidFill>
              <a:effectLst/>
              <a:uFillTx/>
              <a:latin typeface="Arial"/>
            </a:endParaRPr>
          </a:p>
        </p:txBody>
      </p:sp>
      <p:sp>
        <p:nvSpPr>
          <p:cNvPr id="3" name="Rectangle 2"/>
          <p:cNvSpPr/>
          <p:nvPr/>
        </p:nvSpPr>
        <p:spPr>
          <a:xfrm>
            <a:off x="895350" y="1850589"/>
            <a:ext cx="7048500" cy="3539430"/>
          </a:xfrm>
          <a:prstGeom prst="rect">
            <a:avLst/>
          </a:prstGeom>
        </p:spPr>
        <p:txBody>
          <a:bodyPr wrap="square">
            <a:spAutoFit/>
          </a:bodyPr>
          <a:lstStyle/>
          <a:p>
            <a:r>
              <a:rPr lang="en-US" sz="3200" dirty="0" smtClean="0"/>
              <a:t>We don’t see the answer</a:t>
            </a:r>
          </a:p>
          <a:p>
            <a:endParaRPr lang="en-US" sz="3200" dirty="0"/>
          </a:p>
          <a:p>
            <a:r>
              <a:rPr lang="en-US" sz="3200" dirty="0" smtClean="0"/>
              <a:t>We need Input  and Output (I/O)</a:t>
            </a:r>
          </a:p>
          <a:p>
            <a:endParaRPr lang="en-US" sz="3200" dirty="0"/>
          </a:p>
          <a:p>
            <a:r>
              <a:rPr lang="en-US" sz="3200" dirty="0" smtClean="0"/>
              <a:t>Let’s add I/O</a:t>
            </a:r>
          </a:p>
          <a:p>
            <a:endParaRPr lang="en-US" sz="3200" dirty="0"/>
          </a:p>
          <a:p>
            <a:endParaRPr lang="en-US" sz="3200" dirty="0"/>
          </a:p>
        </p:txBody>
      </p:sp>
    </p:spTree>
    <p:extLst>
      <p:ext uri="{BB962C8B-B14F-4D97-AF65-F5344CB8AC3E}">
        <p14:creationId xmlns:p14="http://schemas.microsoft.com/office/powerpoint/2010/main" val="20485887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Adding I/O in C</a:t>
            </a:r>
            <a:endParaRPr lang="en-US" sz="4400" b="0" u="none" strike="noStrike" dirty="0">
              <a:solidFill>
                <a:srgbClr val="000000"/>
              </a:solidFill>
              <a:effectLst/>
              <a:uFillTx/>
              <a:latin typeface="Arial"/>
            </a:endParaRPr>
          </a:p>
        </p:txBody>
      </p:sp>
      <p:sp>
        <p:nvSpPr>
          <p:cNvPr id="3" name="Rectangle 2"/>
          <p:cNvSpPr/>
          <p:nvPr/>
        </p:nvSpPr>
        <p:spPr>
          <a:xfrm>
            <a:off x="895349" y="1850589"/>
            <a:ext cx="8239125" cy="1077218"/>
          </a:xfrm>
          <a:prstGeom prst="rect">
            <a:avLst/>
          </a:prstGeom>
        </p:spPr>
        <p:txBody>
          <a:bodyPr wrap="square">
            <a:spAutoFit/>
          </a:bodyPr>
          <a:lstStyle/>
          <a:p>
            <a:r>
              <a:rPr lang="en-US" sz="3200" dirty="0" err="1"/>
              <a:t>fprintf</a:t>
            </a:r>
            <a:r>
              <a:rPr lang="en-US" sz="3200" dirty="0"/>
              <a:t>( </a:t>
            </a:r>
            <a:r>
              <a:rPr lang="en-US" sz="3200" dirty="0" err="1"/>
              <a:t>stdout</a:t>
            </a:r>
            <a:r>
              <a:rPr lang="en-US" sz="3200" dirty="0"/>
              <a:t>, "The sum is %d\n", sum ) ;</a:t>
            </a:r>
          </a:p>
          <a:p>
            <a:endParaRPr lang="en-US" sz="3200" dirty="0"/>
          </a:p>
        </p:txBody>
      </p:sp>
    </p:spTree>
    <p:extLst>
      <p:ext uri="{BB962C8B-B14F-4D97-AF65-F5344CB8AC3E}">
        <p14:creationId xmlns:p14="http://schemas.microsoft.com/office/powerpoint/2010/main" val="1829770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Adding I/O in C</a:t>
            </a:r>
            <a:endParaRPr lang="en-US" sz="4400" b="0" u="none" strike="noStrike" dirty="0">
              <a:solidFill>
                <a:srgbClr val="000000"/>
              </a:solidFill>
              <a:effectLst/>
              <a:uFillTx/>
              <a:latin typeface="Arial"/>
            </a:endParaRPr>
          </a:p>
        </p:txBody>
      </p:sp>
      <p:sp>
        <p:nvSpPr>
          <p:cNvPr id="3" name="Rectangle 2"/>
          <p:cNvSpPr/>
          <p:nvPr/>
        </p:nvSpPr>
        <p:spPr>
          <a:xfrm>
            <a:off x="895349" y="1850589"/>
            <a:ext cx="8239125" cy="6001643"/>
          </a:xfrm>
          <a:prstGeom prst="rect">
            <a:avLst/>
          </a:prstGeom>
        </p:spPr>
        <p:txBody>
          <a:bodyPr wrap="square">
            <a:spAutoFit/>
          </a:bodyPr>
          <a:lstStyle/>
          <a:p>
            <a:r>
              <a:rPr lang="en-US" sz="3200" dirty="0" smtClean="0"/>
              <a:t>That doesn’t work</a:t>
            </a:r>
          </a:p>
          <a:p>
            <a:endParaRPr lang="en-US" sz="3200" dirty="0"/>
          </a:p>
          <a:p>
            <a:r>
              <a:rPr lang="en-US" sz="3200" dirty="0" smtClean="0"/>
              <a:t>Need to define the </a:t>
            </a:r>
            <a:r>
              <a:rPr lang="en-US" sz="3200" dirty="0" err="1" smtClean="0"/>
              <a:t>fprintf</a:t>
            </a:r>
            <a:r>
              <a:rPr lang="en-US" sz="3200" dirty="0" smtClean="0"/>
              <a:t> function call.</a:t>
            </a:r>
          </a:p>
          <a:p>
            <a:endParaRPr lang="en-US" sz="3200" dirty="0"/>
          </a:p>
          <a:p>
            <a:r>
              <a:rPr lang="en-US" sz="3200" dirty="0" smtClean="0"/>
              <a:t>We use a predefined file which is included using the preprocessor</a:t>
            </a:r>
          </a:p>
          <a:p>
            <a:endParaRPr lang="en-US" sz="3200" dirty="0"/>
          </a:p>
          <a:p>
            <a:r>
              <a:rPr lang="en-US" sz="3200" dirty="0" smtClean="0"/>
              <a:t>#include &lt;</a:t>
            </a:r>
            <a:r>
              <a:rPr lang="en-US" sz="3200" dirty="0" err="1" smtClean="0"/>
              <a:t>stdio.h</a:t>
            </a:r>
            <a:r>
              <a:rPr lang="en-US" sz="3200" dirty="0" smtClean="0"/>
              <a:t>&gt;</a:t>
            </a:r>
          </a:p>
          <a:p>
            <a:endParaRPr lang="en-US" sz="3200" dirty="0"/>
          </a:p>
          <a:p>
            <a:r>
              <a:rPr lang="en-US" sz="3200" dirty="0" smtClean="0"/>
              <a:t>&lt;&gt; Means to search for file in system directories such as /</a:t>
            </a:r>
            <a:r>
              <a:rPr lang="en-US" sz="3200" dirty="0" err="1" smtClean="0"/>
              <a:t>usr</a:t>
            </a:r>
            <a:r>
              <a:rPr lang="en-US" sz="3200" dirty="0" smtClean="0"/>
              <a:t>/include</a:t>
            </a:r>
            <a:endParaRPr lang="en-US" sz="3200" dirty="0"/>
          </a:p>
          <a:p>
            <a:endParaRPr lang="en-US" sz="3200" dirty="0"/>
          </a:p>
        </p:txBody>
      </p:sp>
    </p:spTree>
    <p:extLst>
      <p:ext uri="{BB962C8B-B14F-4D97-AF65-F5344CB8AC3E}">
        <p14:creationId xmlns:p14="http://schemas.microsoft.com/office/powerpoint/2010/main" val="3325758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Adding I/O in C++</a:t>
            </a:r>
            <a:endParaRPr lang="en-US" sz="4400" b="0" u="none" strike="noStrike" dirty="0">
              <a:solidFill>
                <a:srgbClr val="000000"/>
              </a:solidFill>
              <a:effectLst/>
              <a:uFillTx/>
              <a:latin typeface="Arial"/>
            </a:endParaRPr>
          </a:p>
        </p:txBody>
      </p:sp>
      <p:sp>
        <p:nvSpPr>
          <p:cNvPr id="3" name="Rectangle 2"/>
          <p:cNvSpPr/>
          <p:nvPr/>
        </p:nvSpPr>
        <p:spPr>
          <a:xfrm>
            <a:off x="895349" y="1850589"/>
            <a:ext cx="8239125" cy="1569660"/>
          </a:xfrm>
          <a:prstGeom prst="rect">
            <a:avLst/>
          </a:prstGeom>
        </p:spPr>
        <p:txBody>
          <a:bodyPr wrap="square">
            <a:spAutoFit/>
          </a:bodyPr>
          <a:lstStyle/>
          <a:p>
            <a:r>
              <a:rPr lang="en-US" sz="3200" dirty="0" err="1"/>
              <a:t>std</a:t>
            </a:r>
            <a:r>
              <a:rPr lang="en-US" sz="3200" dirty="0"/>
              <a:t>::</a:t>
            </a:r>
            <a:r>
              <a:rPr lang="en-US" sz="3200" dirty="0" err="1"/>
              <a:t>cout</a:t>
            </a:r>
            <a:r>
              <a:rPr lang="en-US" sz="3200" dirty="0"/>
              <a:t> &lt;&lt; "The sum of the first 10 integers is: " &lt;&lt; sum &lt;&lt; </a:t>
            </a:r>
            <a:r>
              <a:rPr lang="en-US" sz="3200" dirty="0" err="1"/>
              <a:t>std</a:t>
            </a:r>
            <a:r>
              <a:rPr lang="en-US" sz="3200" dirty="0"/>
              <a:t>::</a:t>
            </a:r>
            <a:r>
              <a:rPr lang="en-US" sz="3200" dirty="0" err="1"/>
              <a:t>endl</a:t>
            </a:r>
            <a:r>
              <a:rPr lang="en-US" sz="3200" dirty="0"/>
              <a:t>;</a:t>
            </a:r>
          </a:p>
          <a:p>
            <a:endParaRPr lang="en-US" sz="3200" dirty="0"/>
          </a:p>
        </p:txBody>
      </p:sp>
    </p:spTree>
    <p:extLst>
      <p:ext uri="{BB962C8B-B14F-4D97-AF65-F5344CB8AC3E}">
        <p14:creationId xmlns:p14="http://schemas.microsoft.com/office/powerpoint/2010/main" val="39617394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Adding I/O in C++</a:t>
            </a:r>
            <a:endParaRPr lang="en-US" sz="4400" b="0" u="none" strike="noStrike" dirty="0">
              <a:solidFill>
                <a:srgbClr val="000000"/>
              </a:solidFill>
              <a:effectLst/>
              <a:uFillTx/>
              <a:latin typeface="Arial"/>
            </a:endParaRPr>
          </a:p>
        </p:txBody>
      </p:sp>
      <p:sp>
        <p:nvSpPr>
          <p:cNvPr id="3" name="Rectangle 2"/>
          <p:cNvSpPr/>
          <p:nvPr/>
        </p:nvSpPr>
        <p:spPr>
          <a:xfrm>
            <a:off x="895349" y="1850589"/>
            <a:ext cx="8239125" cy="4031873"/>
          </a:xfrm>
          <a:prstGeom prst="rect">
            <a:avLst/>
          </a:prstGeom>
        </p:spPr>
        <p:txBody>
          <a:bodyPr wrap="square">
            <a:spAutoFit/>
          </a:bodyPr>
          <a:lstStyle/>
          <a:p>
            <a:r>
              <a:rPr lang="en-US" sz="3200" dirty="0" smtClean="0"/>
              <a:t>That doesn’t work</a:t>
            </a:r>
          </a:p>
          <a:p>
            <a:endParaRPr lang="en-US" sz="3200" dirty="0"/>
          </a:p>
          <a:p>
            <a:r>
              <a:rPr lang="en-US" sz="3200" dirty="0" smtClean="0"/>
              <a:t>Again we need to define </a:t>
            </a:r>
            <a:r>
              <a:rPr lang="en-US" sz="3200" b="1" dirty="0" err="1" smtClean="0">
                <a:solidFill>
                  <a:srgbClr val="FF0000"/>
                </a:solidFill>
              </a:rPr>
              <a:t>std</a:t>
            </a:r>
            <a:endParaRPr lang="en-US" sz="3200" b="1" dirty="0" smtClean="0">
              <a:solidFill>
                <a:srgbClr val="FF0000"/>
              </a:solidFill>
            </a:endParaRPr>
          </a:p>
          <a:p>
            <a:endParaRPr lang="en-US" sz="3200" b="1" dirty="0">
              <a:solidFill>
                <a:srgbClr val="FF0000"/>
              </a:solidFill>
            </a:endParaRPr>
          </a:p>
          <a:p>
            <a:r>
              <a:rPr lang="en-US" sz="3200" dirty="0"/>
              <a:t>#include &lt;</a:t>
            </a:r>
            <a:r>
              <a:rPr lang="en-US" sz="3200" dirty="0" err="1"/>
              <a:t>iostream</a:t>
            </a:r>
            <a:r>
              <a:rPr lang="en-US" sz="3200" dirty="0"/>
              <a:t>&gt; </a:t>
            </a:r>
            <a:endParaRPr lang="en-US" sz="3200" dirty="0" smtClean="0"/>
          </a:p>
          <a:p>
            <a:endParaRPr lang="en-US" sz="3200" dirty="0"/>
          </a:p>
          <a:p>
            <a:r>
              <a:rPr lang="en-US" sz="3200" dirty="0" smtClean="0"/>
              <a:t>Works like C, just a different set of objects</a:t>
            </a:r>
            <a:endParaRPr lang="en-US" sz="3200" dirty="0"/>
          </a:p>
          <a:p>
            <a:endParaRPr lang="en-US" sz="3200" dirty="0"/>
          </a:p>
        </p:txBody>
      </p:sp>
    </p:spTree>
    <p:extLst>
      <p:ext uri="{BB962C8B-B14F-4D97-AF65-F5344CB8AC3E}">
        <p14:creationId xmlns:p14="http://schemas.microsoft.com/office/powerpoint/2010/main" val="35335654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Adding I/O in Rust</a:t>
            </a:r>
            <a:endParaRPr lang="en-US" sz="4400" b="0" u="none" strike="noStrike" dirty="0">
              <a:solidFill>
                <a:srgbClr val="000000"/>
              </a:solidFill>
              <a:effectLst/>
              <a:uFillTx/>
              <a:latin typeface="Arial"/>
            </a:endParaRPr>
          </a:p>
        </p:txBody>
      </p:sp>
      <p:sp>
        <p:nvSpPr>
          <p:cNvPr id="3" name="Rectangle 2"/>
          <p:cNvSpPr/>
          <p:nvPr/>
        </p:nvSpPr>
        <p:spPr>
          <a:xfrm>
            <a:off x="909277" y="1460064"/>
            <a:ext cx="8239125" cy="7478970"/>
          </a:xfrm>
          <a:prstGeom prst="rect">
            <a:avLst/>
          </a:prstGeom>
        </p:spPr>
        <p:txBody>
          <a:bodyPr wrap="square">
            <a:spAutoFit/>
          </a:bodyPr>
          <a:lstStyle/>
          <a:p>
            <a:endParaRPr lang="en-US" sz="3200" dirty="0"/>
          </a:p>
          <a:p>
            <a:r>
              <a:rPr lang="en-US" sz="3200" dirty="0" err="1" smtClean="0"/>
              <a:t>println</a:t>
            </a:r>
            <a:r>
              <a:rPr lang="en-US" sz="3200" dirty="0"/>
              <a:t>!("The total sum is: {}", sum</a:t>
            </a:r>
            <a:r>
              <a:rPr lang="en-US" sz="3200" dirty="0" smtClean="0"/>
              <a:t>);</a:t>
            </a:r>
          </a:p>
          <a:p>
            <a:endParaRPr lang="en-US" sz="3200" dirty="0"/>
          </a:p>
          <a:p>
            <a:r>
              <a:rPr lang="en-US" sz="3200" dirty="0" smtClean="0"/>
              <a:t>Hey, that works!</a:t>
            </a:r>
          </a:p>
          <a:p>
            <a:endParaRPr lang="en-US" sz="3200" dirty="0"/>
          </a:p>
          <a:p>
            <a:r>
              <a:rPr lang="en-US" sz="3200" dirty="0" err="1" smtClean="0"/>
              <a:t>Println</a:t>
            </a:r>
            <a:r>
              <a:rPr lang="en-US" sz="3200" dirty="0" smtClean="0"/>
              <a:t> is an integral part of the Rust language</a:t>
            </a:r>
          </a:p>
          <a:p>
            <a:endParaRPr lang="en-US" sz="3200" dirty="0"/>
          </a:p>
          <a:p>
            <a:r>
              <a:rPr lang="en-US" sz="3200" dirty="0" smtClean="0"/>
              <a:t>In C and C++, I/O was an external addition</a:t>
            </a:r>
          </a:p>
          <a:p>
            <a:endParaRPr lang="en-US" sz="3200" dirty="0"/>
          </a:p>
          <a:p>
            <a:r>
              <a:rPr lang="en-US" sz="3200" dirty="0" smtClean="0"/>
              <a:t>Every machine could have a different way</a:t>
            </a:r>
          </a:p>
          <a:p>
            <a:endParaRPr lang="en-US" sz="3200" dirty="0"/>
          </a:p>
          <a:p>
            <a:r>
              <a:rPr lang="en-US" sz="3200" dirty="0" smtClean="0"/>
              <a:t>In the end, C,C++ made common libraries</a:t>
            </a:r>
          </a:p>
          <a:p>
            <a:endParaRPr lang="en-US" sz="3200" dirty="0"/>
          </a:p>
          <a:p>
            <a:endParaRPr lang="en-US" sz="3200" dirty="0"/>
          </a:p>
          <a:p>
            <a:endParaRPr lang="en-US" sz="3200" dirty="0"/>
          </a:p>
        </p:txBody>
      </p:sp>
    </p:spTree>
    <p:extLst>
      <p:ext uri="{BB962C8B-B14F-4D97-AF65-F5344CB8AC3E}">
        <p14:creationId xmlns:p14="http://schemas.microsoft.com/office/powerpoint/2010/main" val="1901917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smtClean="0">
                <a:solidFill>
                  <a:schemeClr val="lt1"/>
                </a:solidFill>
                <a:effectLst/>
                <a:uFillTx/>
                <a:latin typeface="Arial"/>
              </a:rPr>
              <a:t>10 input </a:t>
            </a:r>
            <a:r>
              <a:rPr lang="en-US" sz="4400" b="1" dirty="0" smtClean="0">
                <a:solidFill>
                  <a:schemeClr val="lt1"/>
                </a:solidFill>
                <a:latin typeface="Arial"/>
              </a:rPr>
              <a:t>ALU</a:t>
            </a:r>
            <a:endParaRPr lang="en-US" sz="4400" b="0" u="none" strike="noStrike" dirty="0">
              <a:solidFill>
                <a:srgbClr val="000000"/>
              </a:solidFill>
              <a:effectLst/>
              <a:uFillTx/>
              <a:latin typeface="Arial"/>
            </a:endParaRPr>
          </a:p>
        </p:txBody>
      </p:sp>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4629323" y="6396263"/>
            <a:ext cx="603050" cy="369332"/>
          </a:xfrm>
          <a:prstGeom prst="rect">
            <a:avLst/>
          </a:prstGeom>
          <a:noFill/>
        </p:spPr>
        <p:txBody>
          <a:bodyPr wrap="none" rtlCol="0">
            <a:spAutoFit/>
          </a:bodyPr>
          <a:lstStyle/>
          <a:p>
            <a:r>
              <a:rPr lang="en-US" dirty="0" smtClean="0"/>
              <a:t>ADD</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4400" dirty="0" smtClean="0"/>
              <a:t>ALU</a:t>
            </a:r>
            <a:endParaRPr lang="en-US" sz="4400" dirty="0"/>
          </a:p>
        </p:txBody>
      </p:sp>
      <p:sp>
        <p:nvSpPr>
          <p:cNvPr id="2" name="TextBox 1"/>
          <p:cNvSpPr txBox="1"/>
          <p:nvPr/>
        </p:nvSpPr>
        <p:spPr>
          <a:xfrm>
            <a:off x="628650" y="1713384"/>
            <a:ext cx="8743950" cy="1323439"/>
          </a:xfrm>
          <a:prstGeom prst="rect">
            <a:avLst/>
          </a:prstGeom>
          <a:noFill/>
        </p:spPr>
        <p:txBody>
          <a:bodyPr wrap="square" rtlCol="0">
            <a:spAutoFit/>
          </a:bodyPr>
          <a:lstStyle/>
          <a:p>
            <a:r>
              <a:rPr lang="en-US" sz="4000" dirty="0" smtClean="0"/>
              <a:t>How often are we going to add exactly 10 numbers???</a:t>
            </a:r>
            <a:endParaRPr lang="en-US" sz="4000" dirty="0"/>
          </a:p>
        </p:txBody>
      </p:sp>
      <p:sp>
        <p:nvSpPr>
          <p:cNvPr id="3" name="TextBox 2"/>
          <p:cNvSpPr txBox="1"/>
          <p:nvPr/>
        </p:nvSpPr>
        <p:spPr>
          <a:xfrm>
            <a:off x="739160" y="6052811"/>
            <a:ext cx="4324582" cy="1384995"/>
          </a:xfrm>
          <a:prstGeom prst="rect">
            <a:avLst/>
          </a:prstGeom>
          <a:noFill/>
        </p:spPr>
        <p:txBody>
          <a:bodyPr wrap="none" rtlCol="0">
            <a:spAutoFit/>
          </a:bodyPr>
          <a:lstStyle/>
          <a:p>
            <a:r>
              <a:rPr lang="en-US" sz="2800" dirty="0" smtClean="0"/>
              <a:t>Not often : Amdahl’s Law</a:t>
            </a:r>
          </a:p>
          <a:p>
            <a:endParaRPr lang="en-US" sz="2800" dirty="0"/>
          </a:p>
          <a:p>
            <a:r>
              <a:rPr lang="en-US" sz="2800" dirty="0" smtClean="0"/>
              <a:t>Design for the common case</a:t>
            </a:r>
            <a:endParaRPr lang="en-US" sz="2800" dirty="0"/>
          </a:p>
        </p:txBody>
      </p:sp>
    </p:spTree>
    <p:extLst>
      <p:ext uri="{BB962C8B-B14F-4D97-AF65-F5344CB8AC3E}">
        <p14:creationId xmlns:p14="http://schemas.microsoft.com/office/powerpoint/2010/main" val="949508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Efficient ALU</a:t>
            </a:r>
            <a:endParaRPr lang="en-US" sz="4400" b="0" u="none" strike="noStrike" dirty="0">
              <a:solidFill>
                <a:srgbClr val="000000"/>
              </a:solidFill>
              <a:effectLst/>
              <a:uFillTx/>
              <a:latin typeface="Arial"/>
            </a:endParaRPr>
          </a:p>
        </p:txBody>
      </p:sp>
      <p:sp>
        <p:nvSpPr>
          <p:cNvPr id="2" name="Rectangle 1"/>
          <p:cNvSpPr/>
          <p:nvPr/>
        </p:nvSpPr>
        <p:spPr>
          <a:xfrm>
            <a:off x="1990725" y="2445514"/>
            <a:ext cx="7029450" cy="830997"/>
          </a:xfrm>
          <a:prstGeom prst="rect">
            <a:avLst/>
          </a:prstGeom>
        </p:spPr>
        <p:txBody>
          <a:bodyPr wrap="square">
            <a:spAutoFit/>
          </a:bodyPr>
          <a:lstStyle/>
          <a:p>
            <a:endParaRPr lang="en-US" sz="2400" dirty="0"/>
          </a:p>
          <a:p>
            <a:r>
              <a:rPr lang="en-US" sz="2400" dirty="0" smtClean="0"/>
              <a:t>sum </a:t>
            </a:r>
            <a:r>
              <a:rPr lang="en-US" sz="2400" dirty="0"/>
              <a:t>= </a:t>
            </a:r>
            <a:r>
              <a:rPr lang="en-US" sz="2400" dirty="0" smtClean="0"/>
              <a:t>((((((((</a:t>
            </a:r>
            <a:r>
              <a:rPr lang="en-US" sz="2400" b="1" dirty="0" smtClean="0">
                <a:solidFill>
                  <a:srgbClr val="FF0000"/>
                </a:solidFill>
              </a:rPr>
              <a:t>1 </a:t>
            </a:r>
            <a:r>
              <a:rPr lang="en-US" sz="2400" b="1" dirty="0">
                <a:solidFill>
                  <a:srgbClr val="FF0000"/>
                </a:solidFill>
              </a:rPr>
              <a:t>+ </a:t>
            </a:r>
            <a:r>
              <a:rPr lang="en-US" sz="2400" b="1" dirty="0" smtClean="0">
                <a:solidFill>
                  <a:srgbClr val="FF0000"/>
                </a:solidFill>
              </a:rPr>
              <a:t>2</a:t>
            </a:r>
            <a:r>
              <a:rPr lang="en-US" sz="2400" dirty="0" smtClean="0"/>
              <a:t>) </a:t>
            </a:r>
            <a:r>
              <a:rPr lang="en-US" sz="2400" dirty="0"/>
              <a:t>+ </a:t>
            </a:r>
            <a:r>
              <a:rPr lang="en-US" sz="2400" dirty="0" smtClean="0"/>
              <a:t>3) </a:t>
            </a:r>
            <a:r>
              <a:rPr lang="en-US" sz="2400" dirty="0"/>
              <a:t>+ </a:t>
            </a:r>
            <a:r>
              <a:rPr lang="en-US" sz="2400" dirty="0" smtClean="0"/>
              <a:t>4) </a:t>
            </a:r>
            <a:r>
              <a:rPr lang="en-US" sz="2400" dirty="0"/>
              <a:t>+ </a:t>
            </a:r>
            <a:r>
              <a:rPr lang="en-US" sz="2400" dirty="0" smtClean="0"/>
              <a:t>5) </a:t>
            </a:r>
            <a:r>
              <a:rPr lang="en-US" sz="2400" dirty="0"/>
              <a:t>+ </a:t>
            </a:r>
            <a:r>
              <a:rPr lang="en-US" sz="2400" dirty="0" smtClean="0"/>
              <a:t>6) </a:t>
            </a:r>
            <a:r>
              <a:rPr lang="en-US" sz="2400" dirty="0"/>
              <a:t>+ </a:t>
            </a:r>
            <a:r>
              <a:rPr lang="en-US" sz="2400" dirty="0" smtClean="0"/>
              <a:t>7) </a:t>
            </a:r>
            <a:r>
              <a:rPr lang="en-US" sz="2400" dirty="0"/>
              <a:t>+</a:t>
            </a:r>
            <a:r>
              <a:rPr lang="en-US" sz="2400" dirty="0" smtClean="0"/>
              <a:t>8) </a:t>
            </a:r>
            <a:r>
              <a:rPr lang="en-US" sz="2400" dirty="0"/>
              <a:t>+ </a:t>
            </a:r>
            <a:r>
              <a:rPr lang="en-US" sz="2400" dirty="0" smtClean="0"/>
              <a:t>9) </a:t>
            </a:r>
            <a:r>
              <a:rPr lang="en-US" sz="2400" dirty="0"/>
              <a:t>+ 10 </a:t>
            </a:r>
            <a:r>
              <a:rPr lang="en-US" sz="2400" dirty="0" smtClean="0"/>
              <a:t>;</a:t>
            </a:r>
            <a:endParaRPr lang="en-US" sz="2400" dirty="0"/>
          </a:p>
        </p:txBody>
      </p:sp>
      <p:grpSp>
        <p:nvGrpSpPr>
          <p:cNvPr id="4" name="Group 3"/>
          <p:cNvGrpSpPr/>
          <p:nvPr/>
        </p:nvGrpSpPr>
        <p:grpSpPr>
          <a:xfrm>
            <a:off x="4338637" y="356235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p:cNvCxnSpPr/>
          <p:nvPr/>
        </p:nvCxnSpPr>
        <p:spPr>
          <a:xfrm flipV="1">
            <a:off x="3147652" y="41719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147649"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176602" y="496724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5235648" y="614131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3640" y="6315165"/>
            <a:ext cx="1131592" cy="369332"/>
          </a:xfrm>
          <a:prstGeom prst="rect">
            <a:avLst/>
          </a:prstGeom>
          <a:noFill/>
        </p:spPr>
        <p:txBody>
          <a:bodyPr wrap="none" rtlCol="0">
            <a:spAutoFit/>
          </a:bodyPr>
          <a:lstStyle/>
          <a:p>
            <a:r>
              <a:rPr lang="en-US" dirty="0" smtClean="0"/>
              <a:t>Operation</a:t>
            </a:r>
            <a:endParaRPr lang="en-US" dirty="0"/>
          </a:p>
        </p:txBody>
      </p:sp>
      <p:sp>
        <p:nvSpPr>
          <p:cNvPr id="22" name="TextBox 21"/>
          <p:cNvSpPr txBox="1"/>
          <p:nvPr/>
        </p:nvSpPr>
        <p:spPr>
          <a:xfrm>
            <a:off x="4934123" y="6910613"/>
            <a:ext cx="603050" cy="369332"/>
          </a:xfrm>
          <a:prstGeom prst="rect">
            <a:avLst/>
          </a:prstGeom>
          <a:noFill/>
        </p:spPr>
        <p:txBody>
          <a:bodyPr wrap="none" rtlCol="0">
            <a:spAutoFit/>
          </a:bodyPr>
          <a:lstStyle/>
          <a:p>
            <a:r>
              <a:rPr lang="en-US" dirty="0" smtClean="0"/>
              <a:t>ADD</a:t>
            </a:r>
            <a:endParaRPr lang="en-US" dirty="0"/>
          </a:p>
        </p:txBody>
      </p:sp>
      <p:sp>
        <p:nvSpPr>
          <p:cNvPr id="24" name="TextBox 23"/>
          <p:cNvSpPr txBox="1"/>
          <p:nvPr/>
        </p:nvSpPr>
        <p:spPr>
          <a:xfrm>
            <a:off x="2775833" y="5364718"/>
            <a:ext cx="301686" cy="369332"/>
          </a:xfrm>
          <a:prstGeom prst="rect">
            <a:avLst/>
          </a:prstGeom>
          <a:noFill/>
        </p:spPr>
        <p:txBody>
          <a:bodyPr wrap="none" rtlCol="0">
            <a:spAutoFit/>
          </a:bodyPr>
          <a:lstStyle/>
          <a:p>
            <a:r>
              <a:rPr lang="en-US" dirty="0" smtClean="0"/>
              <a:t>2</a:t>
            </a:r>
            <a:endParaRPr lang="en-US" dirty="0"/>
          </a:p>
        </p:txBody>
      </p:sp>
      <p:sp>
        <p:nvSpPr>
          <p:cNvPr id="31" name="TextBox 30"/>
          <p:cNvSpPr txBox="1"/>
          <p:nvPr/>
        </p:nvSpPr>
        <p:spPr>
          <a:xfrm>
            <a:off x="2756288" y="4020057"/>
            <a:ext cx="301686" cy="369332"/>
          </a:xfrm>
          <a:prstGeom prst="rect">
            <a:avLst/>
          </a:prstGeom>
          <a:noFill/>
        </p:spPr>
        <p:txBody>
          <a:bodyPr wrap="none" rtlCol="0">
            <a:spAutoFit/>
          </a:bodyPr>
          <a:lstStyle/>
          <a:p>
            <a:r>
              <a:rPr lang="en-US" dirty="0"/>
              <a:t>1</a:t>
            </a:r>
          </a:p>
        </p:txBody>
      </p:sp>
      <p:sp>
        <p:nvSpPr>
          <p:cNvPr id="33" name="TextBox 32"/>
          <p:cNvSpPr txBox="1"/>
          <p:nvPr/>
        </p:nvSpPr>
        <p:spPr>
          <a:xfrm>
            <a:off x="4764266" y="4531357"/>
            <a:ext cx="1475307" cy="769441"/>
          </a:xfrm>
          <a:prstGeom prst="rect">
            <a:avLst/>
          </a:prstGeom>
          <a:noFill/>
        </p:spPr>
        <p:txBody>
          <a:bodyPr wrap="square" rtlCol="0">
            <a:spAutoFit/>
          </a:bodyPr>
          <a:lstStyle/>
          <a:p>
            <a:r>
              <a:rPr lang="en-US" sz="4400" dirty="0" smtClean="0"/>
              <a:t>ALU</a:t>
            </a:r>
            <a:endParaRPr lang="en-US" sz="4400" dirty="0"/>
          </a:p>
        </p:txBody>
      </p:sp>
      <p:sp>
        <p:nvSpPr>
          <p:cNvPr id="34" name="TextBox 33"/>
          <p:cNvSpPr txBox="1"/>
          <p:nvPr/>
        </p:nvSpPr>
        <p:spPr>
          <a:xfrm>
            <a:off x="7589298" y="4731411"/>
            <a:ext cx="301686" cy="369332"/>
          </a:xfrm>
          <a:prstGeom prst="rect">
            <a:avLst/>
          </a:prstGeom>
          <a:noFill/>
        </p:spPr>
        <p:txBody>
          <a:bodyPr wrap="none" rtlCol="0">
            <a:spAutoFit/>
          </a:bodyPr>
          <a:lstStyle/>
          <a:p>
            <a:r>
              <a:rPr lang="en-US" dirty="0" smtClean="0"/>
              <a:t>3</a:t>
            </a:r>
            <a:endParaRPr lang="en-US" dirty="0"/>
          </a:p>
        </p:txBody>
      </p:sp>
    </p:spTree>
    <p:extLst>
      <p:ext uri="{BB962C8B-B14F-4D97-AF65-F5344CB8AC3E}">
        <p14:creationId xmlns:p14="http://schemas.microsoft.com/office/powerpoint/2010/main" val="3751413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Accumulate</a:t>
            </a:r>
            <a:endParaRPr lang="en-US" sz="4400" b="0" u="none" strike="noStrike" dirty="0">
              <a:solidFill>
                <a:srgbClr val="000000"/>
              </a:solidFill>
              <a:effectLst/>
              <a:uFillTx/>
              <a:latin typeface="Arial"/>
            </a:endParaRPr>
          </a:p>
        </p:txBody>
      </p:sp>
      <p:sp>
        <p:nvSpPr>
          <p:cNvPr id="2" name="Rectangle 1"/>
          <p:cNvSpPr/>
          <p:nvPr/>
        </p:nvSpPr>
        <p:spPr>
          <a:xfrm>
            <a:off x="1990725" y="2445514"/>
            <a:ext cx="7029450" cy="830997"/>
          </a:xfrm>
          <a:prstGeom prst="rect">
            <a:avLst/>
          </a:prstGeom>
        </p:spPr>
        <p:txBody>
          <a:bodyPr wrap="square">
            <a:spAutoFit/>
          </a:bodyPr>
          <a:lstStyle/>
          <a:p>
            <a:endParaRPr lang="en-US" sz="2400" dirty="0"/>
          </a:p>
          <a:p>
            <a:r>
              <a:rPr lang="en-US" sz="2400" dirty="0" smtClean="0"/>
              <a:t>sum </a:t>
            </a:r>
            <a:r>
              <a:rPr lang="en-US" sz="2400" dirty="0"/>
              <a:t>= </a:t>
            </a:r>
            <a:r>
              <a:rPr lang="en-US" sz="2400" dirty="0" smtClean="0"/>
              <a:t>((((((((</a:t>
            </a:r>
            <a:r>
              <a:rPr lang="en-US" sz="2400" dirty="0" smtClean="0">
                <a:solidFill>
                  <a:srgbClr val="FF0000"/>
                </a:solidFill>
              </a:rPr>
              <a:t>1 </a:t>
            </a:r>
            <a:r>
              <a:rPr lang="en-US" sz="2400" dirty="0">
                <a:solidFill>
                  <a:srgbClr val="FF0000"/>
                </a:solidFill>
              </a:rPr>
              <a:t>+ </a:t>
            </a:r>
            <a:r>
              <a:rPr lang="en-US" sz="2400" dirty="0" smtClean="0">
                <a:solidFill>
                  <a:srgbClr val="FF0000"/>
                </a:solidFill>
              </a:rPr>
              <a:t>2</a:t>
            </a:r>
            <a:r>
              <a:rPr lang="en-US" sz="2400" b="1" dirty="0" smtClean="0">
                <a:solidFill>
                  <a:srgbClr val="FF0000"/>
                </a:solidFill>
              </a:rPr>
              <a:t>) </a:t>
            </a:r>
            <a:r>
              <a:rPr lang="en-US" sz="2400" b="1" dirty="0">
                <a:solidFill>
                  <a:srgbClr val="FF0000"/>
                </a:solidFill>
              </a:rPr>
              <a:t>+ </a:t>
            </a:r>
            <a:r>
              <a:rPr lang="en-US" sz="2400" b="1" dirty="0" smtClean="0">
                <a:solidFill>
                  <a:srgbClr val="FF0000"/>
                </a:solidFill>
              </a:rPr>
              <a:t>3</a:t>
            </a:r>
            <a:r>
              <a:rPr lang="en-US" sz="2400" dirty="0" smtClean="0"/>
              <a:t>) </a:t>
            </a:r>
            <a:r>
              <a:rPr lang="en-US" sz="2400" dirty="0"/>
              <a:t>+ </a:t>
            </a:r>
            <a:r>
              <a:rPr lang="en-US" sz="2400" dirty="0" smtClean="0"/>
              <a:t>4) </a:t>
            </a:r>
            <a:r>
              <a:rPr lang="en-US" sz="2400" dirty="0"/>
              <a:t>+ </a:t>
            </a:r>
            <a:r>
              <a:rPr lang="en-US" sz="2400" dirty="0" smtClean="0"/>
              <a:t>5) </a:t>
            </a:r>
            <a:r>
              <a:rPr lang="en-US" sz="2400" dirty="0"/>
              <a:t>+ </a:t>
            </a:r>
            <a:r>
              <a:rPr lang="en-US" sz="2400" dirty="0" smtClean="0"/>
              <a:t>6) </a:t>
            </a:r>
            <a:r>
              <a:rPr lang="en-US" sz="2400" dirty="0"/>
              <a:t>+ </a:t>
            </a:r>
            <a:r>
              <a:rPr lang="en-US" sz="2400" dirty="0" smtClean="0"/>
              <a:t>7) </a:t>
            </a:r>
            <a:r>
              <a:rPr lang="en-US" sz="2400" dirty="0"/>
              <a:t>+</a:t>
            </a:r>
            <a:r>
              <a:rPr lang="en-US" sz="2400" dirty="0" smtClean="0"/>
              <a:t>8) </a:t>
            </a:r>
            <a:r>
              <a:rPr lang="en-US" sz="2400" dirty="0"/>
              <a:t>+ </a:t>
            </a:r>
            <a:r>
              <a:rPr lang="en-US" sz="2400" dirty="0" smtClean="0"/>
              <a:t>9) </a:t>
            </a:r>
            <a:r>
              <a:rPr lang="en-US" sz="2400" dirty="0"/>
              <a:t>+ 10 </a:t>
            </a:r>
            <a:r>
              <a:rPr lang="en-US" sz="2400" dirty="0" smtClean="0"/>
              <a:t>;</a:t>
            </a:r>
            <a:endParaRPr lang="en-US" sz="2400" dirty="0"/>
          </a:p>
        </p:txBody>
      </p:sp>
      <p:grpSp>
        <p:nvGrpSpPr>
          <p:cNvPr id="4" name="Group 3"/>
          <p:cNvGrpSpPr/>
          <p:nvPr/>
        </p:nvGrpSpPr>
        <p:grpSpPr>
          <a:xfrm>
            <a:off x="4338637" y="356235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p:cNvCxnSpPr/>
          <p:nvPr/>
        </p:nvCxnSpPr>
        <p:spPr>
          <a:xfrm flipV="1">
            <a:off x="3147652" y="41719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147649"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176602" y="496724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5235648" y="614131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3640" y="6315165"/>
            <a:ext cx="1131592" cy="369332"/>
          </a:xfrm>
          <a:prstGeom prst="rect">
            <a:avLst/>
          </a:prstGeom>
          <a:noFill/>
        </p:spPr>
        <p:txBody>
          <a:bodyPr wrap="none" rtlCol="0">
            <a:spAutoFit/>
          </a:bodyPr>
          <a:lstStyle/>
          <a:p>
            <a:r>
              <a:rPr lang="en-US" dirty="0" smtClean="0"/>
              <a:t>Operation</a:t>
            </a:r>
            <a:endParaRPr lang="en-US" dirty="0"/>
          </a:p>
        </p:txBody>
      </p:sp>
      <p:sp>
        <p:nvSpPr>
          <p:cNvPr id="22" name="TextBox 21"/>
          <p:cNvSpPr txBox="1"/>
          <p:nvPr/>
        </p:nvSpPr>
        <p:spPr>
          <a:xfrm>
            <a:off x="4934123" y="6910613"/>
            <a:ext cx="603050" cy="369332"/>
          </a:xfrm>
          <a:prstGeom prst="rect">
            <a:avLst/>
          </a:prstGeom>
          <a:noFill/>
        </p:spPr>
        <p:txBody>
          <a:bodyPr wrap="none" rtlCol="0">
            <a:spAutoFit/>
          </a:bodyPr>
          <a:lstStyle/>
          <a:p>
            <a:r>
              <a:rPr lang="en-US" dirty="0" smtClean="0"/>
              <a:t>ADD</a:t>
            </a:r>
            <a:endParaRPr lang="en-US" dirty="0"/>
          </a:p>
        </p:txBody>
      </p:sp>
      <p:sp>
        <p:nvSpPr>
          <p:cNvPr id="24" name="TextBox 23"/>
          <p:cNvSpPr txBox="1"/>
          <p:nvPr/>
        </p:nvSpPr>
        <p:spPr>
          <a:xfrm>
            <a:off x="2805208" y="5175752"/>
            <a:ext cx="367408" cy="523220"/>
          </a:xfrm>
          <a:prstGeom prst="rect">
            <a:avLst/>
          </a:prstGeom>
          <a:noFill/>
        </p:spPr>
        <p:txBody>
          <a:bodyPr wrap="none" rtlCol="0">
            <a:spAutoFit/>
          </a:bodyPr>
          <a:lstStyle/>
          <a:p>
            <a:r>
              <a:rPr lang="en-US" sz="2800" dirty="0" smtClean="0"/>
              <a:t>3</a:t>
            </a:r>
            <a:endParaRPr lang="en-US" sz="2800" dirty="0"/>
          </a:p>
        </p:txBody>
      </p:sp>
      <p:sp>
        <p:nvSpPr>
          <p:cNvPr id="31" name="TextBox 30"/>
          <p:cNvSpPr txBox="1"/>
          <p:nvPr/>
        </p:nvSpPr>
        <p:spPr>
          <a:xfrm>
            <a:off x="2756288" y="4020057"/>
            <a:ext cx="301686" cy="369332"/>
          </a:xfrm>
          <a:prstGeom prst="rect">
            <a:avLst/>
          </a:prstGeom>
          <a:noFill/>
        </p:spPr>
        <p:txBody>
          <a:bodyPr wrap="none" rtlCol="0">
            <a:spAutoFit/>
          </a:bodyPr>
          <a:lstStyle/>
          <a:p>
            <a:r>
              <a:rPr lang="en-US" dirty="0" smtClean="0"/>
              <a:t>3</a:t>
            </a:r>
            <a:endParaRPr lang="en-US" dirty="0"/>
          </a:p>
        </p:txBody>
      </p:sp>
      <p:sp>
        <p:nvSpPr>
          <p:cNvPr id="33" name="TextBox 32"/>
          <p:cNvSpPr txBox="1"/>
          <p:nvPr/>
        </p:nvSpPr>
        <p:spPr>
          <a:xfrm>
            <a:off x="4764266" y="4531357"/>
            <a:ext cx="1475307" cy="769441"/>
          </a:xfrm>
          <a:prstGeom prst="rect">
            <a:avLst/>
          </a:prstGeom>
          <a:noFill/>
        </p:spPr>
        <p:txBody>
          <a:bodyPr wrap="square" rtlCol="0">
            <a:spAutoFit/>
          </a:bodyPr>
          <a:lstStyle/>
          <a:p>
            <a:r>
              <a:rPr lang="en-US" sz="4400" dirty="0" smtClean="0"/>
              <a:t>ALU</a:t>
            </a:r>
            <a:endParaRPr lang="en-US" sz="4400" dirty="0"/>
          </a:p>
        </p:txBody>
      </p:sp>
      <p:sp>
        <p:nvSpPr>
          <p:cNvPr id="34" name="TextBox 33"/>
          <p:cNvSpPr txBox="1"/>
          <p:nvPr/>
        </p:nvSpPr>
        <p:spPr>
          <a:xfrm>
            <a:off x="7589298" y="4731411"/>
            <a:ext cx="301686" cy="369332"/>
          </a:xfrm>
          <a:prstGeom prst="rect">
            <a:avLst/>
          </a:prstGeom>
          <a:noFill/>
        </p:spPr>
        <p:txBody>
          <a:bodyPr wrap="none" rtlCol="0">
            <a:spAutoFit/>
          </a:bodyPr>
          <a:lstStyle/>
          <a:p>
            <a:r>
              <a:rPr lang="en-US" dirty="0" smtClean="0"/>
              <a:t>3</a:t>
            </a:r>
            <a:endParaRPr lang="en-US" dirty="0"/>
          </a:p>
        </p:txBody>
      </p:sp>
      <p:cxnSp>
        <p:nvCxnSpPr>
          <p:cNvPr id="23" name="Straight Arrow Connector 22"/>
          <p:cNvCxnSpPr/>
          <p:nvPr/>
        </p:nvCxnSpPr>
        <p:spPr>
          <a:xfrm flipH="1">
            <a:off x="3299100" y="7279945"/>
            <a:ext cx="3987525" cy="6849"/>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7674653" y="5057015"/>
            <a:ext cx="1" cy="2163786"/>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936200" y="5664370"/>
            <a:ext cx="1" cy="1670922"/>
          </a:xfrm>
          <a:prstGeom prst="straightConnector1">
            <a:avLst/>
          </a:prstGeom>
          <a:ln w="635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433677" y="6510546"/>
            <a:ext cx="1565813" cy="707886"/>
          </a:xfrm>
          <a:prstGeom prst="rect">
            <a:avLst/>
          </a:prstGeom>
          <a:noFill/>
        </p:spPr>
        <p:txBody>
          <a:bodyPr wrap="none" rtlCol="0">
            <a:spAutoFit/>
          </a:bodyPr>
          <a:lstStyle/>
          <a:p>
            <a:r>
              <a:rPr lang="en-US" sz="4000" dirty="0" smtClean="0"/>
              <a:t>Iterate</a:t>
            </a:r>
            <a:endParaRPr lang="en-US" sz="4000" dirty="0"/>
          </a:p>
        </p:txBody>
      </p:sp>
      <p:sp>
        <p:nvSpPr>
          <p:cNvPr id="27" name="TextBox 26"/>
          <p:cNvSpPr txBox="1"/>
          <p:nvPr/>
        </p:nvSpPr>
        <p:spPr>
          <a:xfrm>
            <a:off x="2500313" y="5175752"/>
            <a:ext cx="367408" cy="523220"/>
          </a:xfrm>
          <a:prstGeom prst="rect">
            <a:avLst/>
          </a:prstGeom>
          <a:noFill/>
        </p:spPr>
        <p:txBody>
          <a:bodyPr wrap="none" rtlCol="0">
            <a:spAutoFit/>
          </a:bodyPr>
          <a:lstStyle/>
          <a:p>
            <a:r>
              <a:rPr lang="en-US" sz="2800" dirty="0" smtClean="0"/>
              <a:t>2</a:t>
            </a:r>
            <a:endParaRPr lang="en-US" sz="2800" dirty="0"/>
          </a:p>
        </p:txBody>
      </p:sp>
      <p:sp>
        <p:nvSpPr>
          <p:cNvPr id="28" name="TextBox 27"/>
          <p:cNvSpPr txBox="1"/>
          <p:nvPr/>
        </p:nvSpPr>
        <p:spPr>
          <a:xfrm>
            <a:off x="2507712" y="4020057"/>
            <a:ext cx="301686" cy="369332"/>
          </a:xfrm>
          <a:prstGeom prst="rect">
            <a:avLst/>
          </a:prstGeom>
          <a:noFill/>
        </p:spPr>
        <p:txBody>
          <a:bodyPr wrap="none" rtlCol="0">
            <a:spAutoFit/>
          </a:bodyPr>
          <a:lstStyle/>
          <a:p>
            <a:r>
              <a:rPr lang="en-US" dirty="0"/>
              <a:t>1</a:t>
            </a:r>
          </a:p>
        </p:txBody>
      </p:sp>
      <p:sp>
        <p:nvSpPr>
          <p:cNvPr id="12" name="Rectangle 11"/>
          <p:cNvSpPr/>
          <p:nvPr/>
        </p:nvSpPr>
        <p:spPr>
          <a:xfrm>
            <a:off x="2428875" y="3848100"/>
            <a:ext cx="376333" cy="1850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890984" y="4731411"/>
            <a:ext cx="301686" cy="369332"/>
          </a:xfrm>
          <a:prstGeom prst="rect">
            <a:avLst/>
          </a:prstGeom>
          <a:noFill/>
        </p:spPr>
        <p:txBody>
          <a:bodyPr wrap="none" rtlCol="0">
            <a:spAutoFit/>
          </a:bodyPr>
          <a:lstStyle/>
          <a:p>
            <a:r>
              <a:rPr lang="en-US" dirty="0" smtClean="0"/>
              <a:t>6</a:t>
            </a:r>
            <a:endParaRPr lang="en-US" dirty="0"/>
          </a:p>
        </p:txBody>
      </p:sp>
      <p:sp>
        <p:nvSpPr>
          <p:cNvPr id="13" name="Rectangle 12"/>
          <p:cNvSpPr/>
          <p:nvPr/>
        </p:nvSpPr>
        <p:spPr>
          <a:xfrm>
            <a:off x="7513843" y="4708862"/>
            <a:ext cx="321619" cy="3481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190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1" grpId="0"/>
      <p:bldP spid="12" grpId="0" animBg="1"/>
      <p:bldP spid="29" grpId="0"/>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Loop</a:t>
            </a:r>
            <a:endParaRPr lang="en-US" sz="4400" b="0" u="none" strike="noStrike" dirty="0">
              <a:solidFill>
                <a:srgbClr val="000000"/>
              </a:solidFill>
              <a:effectLst/>
              <a:uFillTx/>
              <a:latin typeface="Arial"/>
            </a:endParaRPr>
          </a:p>
        </p:txBody>
      </p:sp>
      <p:sp>
        <p:nvSpPr>
          <p:cNvPr id="388" name="TextBox 387"/>
          <p:cNvSpPr txBox="1"/>
          <p:nvPr/>
        </p:nvSpPr>
        <p:spPr>
          <a:xfrm>
            <a:off x="758880" y="2203889"/>
            <a:ext cx="8997840" cy="3168645"/>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Let’s call the program “loop”</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Let’s use a variable to help iterate or accumulate a result</a:t>
            </a:r>
          </a:p>
          <a:p>
            <a:pPr>
              <a:buClr>
                <a:srgbClr val="000000"/>
              </a:buClr>
              <a:buSzPct val="45000"/>
            </a:pPr>
            <a:endParaRPr lang="en-US" sz="4000" dirty="0">
              <a:solidFill>
                <a:srgbClr val="000000"/>
              </a:solidFill>
              <a:latin typeface="Arial"/>
            </a:endParaRPr>
          </a:p>
        </p:txBody>
      </p:sp>
    </p:spTree>
    <p:extLst>
      <p:ext uri="{BB962C8B-B14F-4D97-AF65-F5344CB8AC3E}">
        <p14:creationId xmlns:p14="http://schemas.microsoft.com/office/powerpoint/2010/main" val="265427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647700" y="364605"/>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Loop in C</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937538"/>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In C, our human text will reside in a file called “</a:t>
            </a:r>
            <a:r>
              <a:rPr lang="en-US" sz="4000" dirty="0" err="1" smtClean="0">
                <a:solidFill>
                  <a:srgbClr val="000000"/>
                </a:solidFill>
                <a:latin typeface="Arial"/>
              </a:rPr>
              <a:t>loop.c</a:t>
            </a:r>
            <a:r>
              <a:rPr lang="en-US" sz="4000" dirty="0" smtClean="0">
                <a:solidFill>
                  <a:srgbClr val="000000"/>
                </a:solidFill>
                <a:latin typeface="Arial"/>
              </a:rPr>
              <a:t>”</a:t>
            </a:r>
          </a:p>
          <a:p>
            <a:pPr>
              <a:buClr>
                <a:srgbClr val="000000"/>
              </a:buClr>
              <a:buSzPct val="45000"/>
            </a:pPr>
            <a:endParaRPr lang="en-US" sz="4000" dirty="0">
              <a:solidFill>
                <a:srgbClr val="000000"/>
              </a:solidFill>
              <a:latin typeface="Arial"/>
            </a:endParaRPr>
          </a:p>
        </p:txBody>
      </p:sp>
    </p:spTree>
    <p:extLst>
      <p:ext uri="{BB962C8B-B14F-4D97-AF65-F5344CB8AC3E}">
        <p14:creationId xmlns:p14="http://schemas.microsoft.com/office/powerpoint/2010/main" val="35115614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647700" y="364605"/>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Loop in C++</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937538"/>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In C++, our human text will reside in a file called “loop.cpp”</a:t>
            </a:r>
          </a:p>
          <a:p>
            <a:pPr>
              <a:buClr>
                <a:srgbClr val="000000"/>
              </a:buClr>
              <a:buSzPct val="45000"/>
            </a:pPr>
            <a:endParaRPr lang="en-US" sz="4000" dirty="0">
              <a:solidFill>
                <a:srgbClr val="000000"/>
              </a:solidFill>
              <a:latin typeface="Arial"/>
            </a:endParaRPr>
          </a:p>
        </p:txBody>
      </p:sp>
    </p:spTree>
    <p:extLst>
      <p:ext uri="{BB962C8B-B14F-4D97-AF65-F5344CB8AC3E}">
        <p14:creationId xmlns:p14="http://schemas.microsoft.com/office/powerpoint/2010/main" val="2501341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647700" y="364605"/>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Loop in Rust</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1937538"/>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In Rust+, our human text will reside in a file called “loop.rs”</a:t>
            </a:r>
          </a:p>
          <a:p>
            <a:pPr>
              <a:buClr>
                <a:srgbClr val="000000"/>
              </a:buClr>
              <a:buSzPct val="45000"/>
            </a:pPr>
            <a:endParaRPr lang="en-US" sz="4000" dirty="0">
              <a:solidFill>
                <a:srgbClr val="000000"/>
              </a:solidFill>
              <a:latin typeface="Arial"/>
            </a:endParaRPr>
          </a:p>
        </p:txBody>
      </p:sp>
    </p:spTree>
    <p:extLst>
      <p:ext uri="{BB962C8B-B14F-4D97-AF65-F5344CB8AC3E}">
        <p14:creationId xmlns:p14="http://schemas.microsoft.com/office/powerpoint/2010/main" val="3939492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4276640"/>
          </a:xfrm>
          <a:prstGeom prst="rect">
            <a:avLst/>
          </a:prstGeom>
          <a:noFill/>
          <a:ln w="0">
            <a:noFill/>
          </a:ln>
        </p:spPr>
        <p:txBody>
          <a:bodyPr lIns="90000" tIns="45000" rIns="90000" bIns="45000" anchor="t">
            <a:spAutoFit/>
          </a:bodyPr>
          <a:lstStyle/>
          <a:p>
            <a:pPr>
              <a:buClr>
                <a:srgbClr val="000000"/>
              </a:buClr>
              <a:buSzPct val="45000"/>
            </a:pPr>
            <a:r>
              <a:rPr lang="en-US" sz="4000" dirty="0" smtClean="0">
                <a:solidFill>
                  <a:srgbClr val="000000"/>
                </a:solidFill>
                <a:latin typeface="Arial"/>
              </a:rPr>
              <a:t>Translate human text statements to binary code</a:t>
            </a:r>
          </a:p>
          <a:p>
            <a:pPr>
              <a:buClr>
                <a:srgbClr val="000000"/>
              </a:buClr>
              <a:buSzPct val="45000"/>
            </a:pPr>
            <a:endParaRPr lang="en-US" sz="4000" dirty="0">
              <a:solidFill>
                <a:srgbClr val="000000"/>
              </a:solidFill>
              <a:latin typeface="Arial"/>
            </a:endParaRPr>
          </a:p>
          <a:p>
            <a:pPr>
              <a:buClr>
                <a:srgbClr val="000000"/>
              </a:buClr>
              <a:buSzPct val="45000"/>
            </a:pPr>
            <a:r>
              <a:rPr lang="en-US" sz="4000" dirty="0" smtClean="0">
                <a:solidFill>
                  <a:srgbClr val="000000"/>
                </a:solidFill>
                <a:latin typeface="Arial"/>
              </a:rPr>
              <a:t>All three have a similar form on the command line</a:t>
            </a:r>
          </a:p>
          <a:p>
            <a:pPr>
              <a:buClr>
                <a:srgbClr val="000000"/>
              </a:buClr>
              <a:buSzPct val="45000"/>
            </a:pPr>
            <a:endParaRPr lang="en-US" sz="4000" dirty="0">
              <a:solidFill>
                <a:srgbClr val="000000"/>
              </a:solidFill>
              <a:latin typeface="Arial"/>
            </a:endParaRPr>
          </a:p>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p:txBody>
      </p:sp>
    </p:spTree>
    <p:extLst>
      <p:ext uri="{BB962C8B-B14F-4D97-AF65-F5344CB8AC3E}">
        <p14:creationId xmlns:p14="http://schemas.microsoft.com/office/powerpoint/2010/main" val="3166836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C on Command Line</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537976"/>
          </a:xfrm>
          <a:prstGeom prst="rect">
            <a:avLst/>
          </a:prstGeom>
          <a:noFill/>
          <a:ln w="0">
            <a:noFill/>
          </a:ln>
        </p:spPr>
        <p:txBody>
          <a:bodyPr lIns="90000" tIns="45000" rIns="90000" bIns="45000" anchor="t">
            <a:spAutoFit/>
          </a:bodyPr>
          <a:lstStyle/>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a:p>
            <a:pPr>
              <a:buClr>
                <a:srgbClr val="000000"/>
              </a:buClr>
              <a:buSzPct val="45000"/>
            </a:pPr>
            <a:endParaRPr lang="en-US" sz="3200" dirty="0" smtClean="0">
              <a:solidFill>
                <a:srgbClr val="000000"/>
              </a:solidFill>
              <a:latin typeface="Arial"/>
            </a:endParaRPr>
          </a:p>
          <a:p>
            <a:pPr>
              <a:buClr>
                <a:srgbClr val="000000"/>
              </a:buClr>
              <a:buSzPct val="45000"/>
            </a:pPr>
            <a:r>
              <a:rPr lang="en-US" sz="3200" dirty="0" err="1">
                <a:solidFill>
                  <a:srgbClr val="000000"/>
                </a:solidFill>
                <a:latin typeface="Arial"/>
              </a:rPr>
              <a:t>gcc</a:t>
            </a:r>
            <a:r>
              <a:rPr lang="en-US" sz="3200" dirty="0">
                <a:solidFill>
                  <a:srgbClr val="000000"/>
                </a:solidFill>
                <a:latin typeface="Arial"/>
              </a:rPr>
              <a:t> –o loop </a:t>
            </a:r>
            <a:r>
              <a:rPr lang="en-US" sz="3200" dirty="0" err="1">
                <a:solidFill>
                  <a:srgbClr val="000000"/>
                </a:solidFill>
                <a:latin typeface="Arial"/>
              </a:rPr>
              <a:t>loop.c</a:t>
            </a:r>
            <a:endParaRPr lang="en-US" sz="3200" dirty="0">
              <a:solidFill>
                <a:srgbClr val="000000"/>
              </a:solidFill>
              <a:latin typeface="Arial"/>
            </a:endParaRPr>
          </a:p>
          <a:p>
            <a:pPr>
              <a:buClr>
                <a:srgbClr val="000000"/>
              </a:buClr>
              <a:buSzPct val="45000"/>
            </a:pPr>
            <a:endParaRPr lang="en-US" sz="3200" dirty="0" smtClean="0">
              <a:solidFill>
                <a:srgbClr val="000000"/>
              </a:solidFill>
              <a:latin typeface="Arial"/>
            </a:endParaRPr>
          </a:p>
          <a:p>
            <a:pPr>
              <a:buClr>
                <a:srgbClr val="000000"/>
              </a:buClr>
              <a:buSzPct val="45000"/>
            </a:pPr>
            <a:endParaRPr lang="en-US" sz="3200" dirty="0">
              <a:solidFill>
                <a:srgbClr val="000000"/>
              </a:solidFill>
              <a:latin typeface="Arial"/>
            </a:endParaRPr>
          </a:p>
          <a:p>
            <a:pPr>
              <a:buClr>
                <a:srgbClr val="000000"/>
              </a:buClr>
              <a:buSzPct val="45000"/>
            </a:pPr>
            <a:r>
              <a:rPr lang="en-US" sz="3200" dirty="0" smtClean="0">
                <a:solidFill>
                  <a:srgbClr val="000000"/>
                </a:solidFill>
                <a:latin typeface="Arial"/>
              </a:rPr>
              <a:t>Options: -o loop  : output program should be named loop</a:t>
            </a:r>
          </a:p>
        </p:txBody>
      </p:sp>
    </p:spTree>
    <p:extLst>
      <p:ext uri="{BB962C8B-B14F-4D97-AF65-F5344CB8AC3E}">
        <p14:creationId xmlns:p14="http://schemas.microsoft.com/office/powerpoint/2010/main" val="939977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C++ on Command Line</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537976"/>
          </a:xfrm>
          <a:prstGeom prst="rect">
            <a:avLst/>
          </a:prstGeom>
          <a:noFill/>
          <a:ln w="0">
            <a:noFill/>
          </a:ln>
        </p:spPr>
        <p:txBody>
          <a:bodyPr lIns="90000" tIns="45000" rIns="90000" bIns="45000" anchor="t">
            <a:spAutoFit/>
          </a:bodyPr>
          <a:lstStyle/>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a:p>
            <a:pPr>
              <a:buClr>
                <a:srgbClr val="000000"/>
              </a:buClr>
              <a:buSzPct val="45000"/>
            </a:pPr>
            <a:endParaRPr lang="en-US" sz="3200" dirty="0" smtClean="0">
              <a:solidFill>
                <a:srgbClr val="000000"/>
              </a:solidFill>
              <a:latin typeface="Arial"/>
            </a:endParaRPr>
          </a:p>
          <a:p>
            <a:pPr>
              <a:buClr>
                <a:srgbClr val="000000"/>
              </a:buClr>
              <a:buSzPct val="45000"/>
            </a:pPr>
            <a:r>
              <a:rPr lang="en-US" sz="3200" dirty="0">
                <a:solidFill>
                  <a:srgbClr val="000000"/>
                </a:solidFill>
                <a:latin typeface="Arial"/>
              </a:rPr>
              <a:t>g</a:t>
            </a:r>
            <a:r>
              <a:rPr lang="en-US" sz="3200" dirty="0" smtClean="0">
                <a:solidFill>
                  <a:srgbClr val="000000"/>
                </a:solidFill>
                <a:latin typeface="Arial"/>
              </a:rPr>
              <a:t>++ </a:t>
            </a:r>
            <a:r>
              <a:rPr lang="en-US" sz="3200" dirty="0">
                <a:solidFill>
                  <a:srgbClr val="000000"/>
                </a:solidFill>
                <a:latin typeface="Arial"/>
              </a:rPr>
              <a:t>–o loop </a:t>
            </a:r>
            <a:r>
              <a:rPr lang="en-US" sz="3200" dirty="0" smtClean="0">
                <a:solidFill>
                  <a:srgbClr val="000000"/>
                </a:solidFill>
                <a:latin typeface="Arial"/>
              </a:rPr>
              <a:t>loop.cpp</a:t>
            </a:r>
            <a:endParaRPr lang="en-US" sz="3200" dirty="0">
              <a:solidFill>
                <a:srgbClr val="000000"/>
              </a:solidFill>
              <a:latin typeface="Arial"/>
            </a:endParaRPr>
          </a:p>
          <a:p>
            <a:pPr>
              <a:buClr>
                <a:srgbClr val="000000"/>
              </a:buClr>
              <a:buSzPct val="45000"/>
            </a:pPr>
            <a:endParaRPr lang="en-US" sz="3200" dirty="0" smtClean="0">
              <a:solidFill>
                <a:srgbClr val="000000"/>
              </a:solidFill>
              <a:latin typeface="Arial"/>
            </a:endParaRPr>
          </a:p>
          <a:p>
            <a:pPr>
              <a:buClr>
                <a:srgbClr val="000000"/>
              </a:buClr>
              <a:buSzPct val="45000"/>
            </a:pPr>
            <a:endParaRPr lang="en-US" sz="3200" dirty="0">
              <a:solidFill>
                <a:srgbClr val="000000"/>
              </a:solidFill>
              <a:latin typeface="Arial"/>
            </a:endParaRPr>
          </a:p>
          <a:p>
            <a:pPr>
              <a:buClr>
                <a:srgbClr val="000000"/>
              </a:buClr>
              <a:buSzPct val="45000"/>
            </a:pPr>
            <a:r>
              <a:rPr lang="en-US" sz="3200" dirty="0" smtClean="0">
                <a:solidFill>
                  <a:srgbClr val="000000"/>
                </a:solidFill>
                <a:latin typeface="Arial"/>
              </a:rPr>
              <a:t>Options: -o loop  : output program should be named loop</a:t>
            </a:r>
          </a:p>
        </p:txBody>
      </p:sp>
    </p:spTree>
    <p:extLst>
      <p:ext uri="{BB962C8B-B14F-4D97-AF65-F5344CB8AC3E}">
        <p14:creationId xmlns:p14="http://schemas.microsoft.com/office/powerpoint/2010/main" val="360077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Compiling Rust on Command Line</a:t>
            </a:r>
            <a:endParaRPr lang="en-US" sz="4400" b="0" u="none" strike="noStrike" dirty="0">
              <a:solidFill>
                <a:srgbClr val="000000"/>
              </a:solidFill>
              <a:effectLst/>
              <a:uFillTx/>
              <a:latin typeface="Arial"/>
            </a:endParaRPr>
          </a:p>
        </p:txBody>
      </p:sp>
      <p:sp>
        <p:nvSpPr>
          <p:cNvPr id="388" name="TextBox 387"/>
          <p:cNvSpPr txBox="1"/>
          <p:nvPr/>
        </p:nvSpPr>
        <p:spPr>
          <a:xfrm>
            <a:off x="701700" y="2241989"/>
            <a:ext cx="8997840" cy="3537976"/>
          </a:xfrm>
          <a:prstGeom prst="rect">
            <a:avLst/>
          </a:prstGeom>
          <a:noFill/>
          <a:ln w="0">
            <a:noFill/>
          </a:ln>
        </p:spPr>
        <p:txBody>
          <a:bodyPr lIns="90000" tIns="45000" rIns="90000" bIns="45000" anchor="t">
            <a:spAutoFit/>
          </a:bodyPr>
          <a:lstStyle/>
          <a:p>
            <a:pPr>
              <a:buClr>
                <a:srgbClr val="000000"/>
              </a:buClr>
              <a:buSzPct val="45000"/>
            </a:pPr>
            <a:r>
              <a:rPr lang="en-US" sz="3200" dirty="0" smtClean="0">
                <a:solidFill>
                  <a:srgbClr val="000000"/>
                </a:solidFill>
                <a:latin typeface="Arial"/>
              </a:rPr>
              <a:t>&lt;</a:t>
            </a:r>
            <a:r>
              <a:rPr lang="en-US" sz="3200" dirty="0" err="1" smtClean="0">
                <a:solidFill>
                  <a:srgbClr val="000000"/>
                </a:solidFill>
                <a:latin typeface="Arial"/>
              </a:rPr>
              <a:t>compiler_name</a:t>
            </a:r>
            <a:r>
              <a:rPr lang="en-US" sz="3200" dirty="0" smtClean="0">
                <a:solidFill>
                  <a:srgbClr val="000000"/>
                </a:solidFill>
                <a:latin typeface="Arial"/>
              </a:rPr>
              <a:t>&gt; &lt;options&gt; &lt;</a:t>
            </a:r>
            <a:r>
              <a:rPr lang="en-US" sz="3200" dirty="0" err="1" smtClean="0">
                <a:solidFill>
                  <a:srgbClr val="000000"/>
                </a:solidFill>
                <a:latin typeface="Arial"/>
              </a:rPr>
              <a:t>file_to_compile</a:t>
            </a:r>
            <a:r>
              <a:rPr lang="en-US" sz="3200" dirty="0" smtClean="0">
                <a:solidFill>
                  <a:srgbClr val="000000"/>
                </a:solidFill>
                <a:latin typeface="Arial"/>
              </a:rPr>
              <a:t>&gt;</a:t>
            </a:r>
          </a:p>
          <a:p>
            <a:pPr>
              <a:buClr>
                <a:srgbClr val="000000"/>
              </a:buClr>
              <a:buSzPct val="45000"/>
            </a:pPr>
            <a:endParaRPr lang="en-US" sz="3200" dirty="0" smtClean="0">
              <a:solidFill>
                <a:srgbClr val="000000"/>
              </a:solidFill>
              <a:latin typeface="Arial"/>
            </a:endParaRPr>
          </a:p>
          <a:p>
            <a:pPr>
              <a:buClr>
                <a:srgbClr val="000000"/>
              </a:buClr>
              <a:buSzPct val="45000"/>
            </a:pPr>
            <a:r>
              <a:rPr lang="en-US" sz="3200" dirty="0" err="1">
                <a:solidFill>
                  <a:srgbClr val="000000"/>
                </a:solidFill>
                <a:latin typeface="Arial"/>
              </a:rPr>
              <a:t>r</a:t>
            </a:r>
            <a:r>
              <a:rPr lang="en-US" sz="3200" dirty="0" err="1" smtClean="0">
                <a:solidFill>
                  <a:srgbClr val="000000"/>
                </a:solidFill>
                <a:latin typeface="Arial"/>
              </a:rPr>
              <a:t>ustc</a:t>
            </a:r>
            <a:r>
              <a:rPr lang="en-US" sz="3200" dirty="0" smtClean="0">
                <a:solidFill>
                  <a:srgbClr val="000000"/>
                </a:solidFill>
                <a:latin typeface="Arial"/>
              </a:rPr>
              <a:t> –o </a:t>
            </a:r>
            <a:r>
              <a:rPr lang="en-US" sz="3200" dirty="0">
                <a:solidFill>
                  <a:srgbClr val="000000"/>
                </a:solidFill>
                <a:latin typeface="Arial"/>
              </a:rPr>
              <a:t>loop </a:t>
            </a:r>
            <a:r>
              <a:rPr lang="en-US" sz="3200" dirty="0" smtClean="0">
                <a:solidFill>
                  <a:srgbClr val="000000"/>
                </a:solidFill>
                <a:latin typeface="Arial"/>
              </a:rPr>
              <a:t>loop.rs</a:t>
            </a:r>
            <a:endParaRPr lang="en-US" sz="3200" dirty="0">
              <a:solidFill>
                <a:srgbClr val="000000"/>
              </a:solidFill>
              <a:latin typeface="Arial"/>
            </a:endParaRPr>
          </a:p>
          <a:p>
            <a:pPr>
              <a:buClr>
                <a:srgbClr val="000000"/>
              </a:buClr>
              <a:buSzPct val="45000"/>
            </a:pPr>
            <a:endParaRPr lang="en-US" sz="3200" dirty="0" smtClean="0">
              <a:solidFill>
                <a:srgbClr val="000000"/>
              </a:solidFill>
              <a:latin typeface="Arial"/>
            </a:endParaRPr>
          </a:p>
          <a:p>
            <a:pPr>
              <a:buClr>
                <a:srgbClr val="000000"/>
              </a:buClr>
              <a:buSzPct val="45000"/>
            </a:pPr>
            <a:endParaRPr lang="en-US" sz="3200" dirty="0">
              <a:solidFill>
                <a:srgbClr val="000000"/>
              </a:solidFill>
              <a:latin typeface="Arial"/>
            </a:endParaRPr>
          </a:p>
          <a:p>
            <a:pPr>
              <a:buClr>
                <a:srgbClr val="000000"/>
              </a:buClr>
              <a:buSzPct val="45000"/>
            </a:pPr>
            <a:r>
              <a:rPr lang="en-US" sz="3200" dirty="0" smtClean="0">
                <a:solidFill>
                  <a:srgbClr val="000000"/>
                </a:solidFill>
                <a:latin typeface="Arial"/>
              </a:rPr>
              <a:t>Options: -o loop  : output program should be named loop</a:t>
            </a:r>
          </a:p>
        </p:txBody>
      </p:sp>
    </p:spTree>
    <p:extLst>
      <p:ext uri="{BB962C8B-B14F-4D97-AF65-F5344CB8AC3E}">
        <p14:creationId xmlns:p14="http://schemas.microsoft.com/office/powerpoint/2010/main" val="13629829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Loop Text in C</a:t>
            </a:r>
            <a:endParaRPr lang="en-US" sz="4400" b="0" u="none" strike="noStrike" dirty="0">
              <a:solidFill>
                <a:srgbClr val="000000"/>
              </a:solidFill>
              <a:effectLst/>
              <a:uFillTx/>
              <a:latin typeface="Arial"/>
            </a:endParaRPr>
          </a:p>
        </p:txBody>
      </p:sp>
      <p:sp>
        <p:nvSpPr>
          <p:cNvPr id="2" name="Rectangle 1"/>
          <p:cNvSpPr/>
          <p:nvPr/>
        </p:nvSpPr>
        <p:spPr>
          <a:xfrm>
            <a:off x="1990725" y="2445514"/>
            <a:ext cx="6229350" cy="3785652"/>
          </a:xfrm>
          <a:prstGeom prst="rect">
            <a:avLst/>
          </a:prstGeom>
        </p:spPr>
        <p:txBody>
          <a:bodyPr wrap="square">
            <a:spAutoFit/>
          </a:bodyPr>
          <a:lstStyle/>
          <a:p>
            <a:r>
              <a:rPr lang="en-US" sz="2400" dirty="0"/>
              <a:t>#include &lt;</a:t>
            </a:r>
            <a:r>
              <a:rPr lang="en-US" sz="2400" dirty="0" err="1"/>
              <a:t>stdio.h</a:t>
            </a:r>
            <a:r>
              <a:rPr lang="en-US" sz="2400" dirty="0"/>
              <a:t>&gt;</a:t>
            </a:r>
          </a:p>
          <a:p>
            <a:endParaRPr lang="en-US" sz="2400" dirty="0"/>
          </a:p>
          <a:p>
            <a:r>
              <a:rPr lang="en-US" sz="2400" dirty="0" err="1"/>
              <a:t>int</a:t>
            </a:r>
            <a:r>
              <a:rPr lang="en-US" sz="2400" dirty="0"/>
              <a:t> main( </a:t>
            </a:r>
            <a:r>
              <a:rPr lang="en-US" sz="2400" dirty="0" err="1"/>
              <a:t>int</a:t>
            </a:r>
            <a:r>
              <a:rPr lang="en-US" sz="2400" dirty="0"/>
              <a:t> </a:t>
            </a:r>
            <a:r>
              <a:rPr lang="en-US" sz="2400" dirty="0" err="1"/>
              <a:t>argc</a:t>
            </a:r>
            <a:r>
              <a:rPr lang="en-US" sz="2400" dirty="0"/>
              <a:t>, char *</a:t>
            </a:r>
            <a:r>
              <a:rPr lang="en-US" sz="2400" dirty="0" err="1"/>
              <a:t>argv</a:t>
            </a:r>
            <a:r>
              <a:rPr lang="en-US" sz="2400" dirty="0"/>
              <a:t>[] )</a:t>
            </a:r>
          </a:p>
          <a:p>
            <a:r>
              <a:rPr lang="en-US" sz="2400" dirty="0"/>
              <a:t>{</a:t>
            </a:r>
          </a:p>
          <a:p>
            <a:r>
              <a:rPr lang="en-US" sz="2400" dirty="0"/>
              <a:t>        </a:t>
            </a:r>
            <a:r>
              <a:rPr lang="en-US" sz="2400" dirty="0" err="1"/>
              <a:t>int</a:t>
            </a:r>
            <a:r>
              <a:rPr lang="en-US" sz="2400" dirty="0"/>
              <a:t> sum = 0 ;</a:t>
            </a:r>
          </a:p>
          <a:p>
            <a:r>
              <a:rPr lang="en-US" sz="2400" dirty="0"/>
              <a:t>        for( </a:t>
            </a:r>
            <a:r>
              <a:rPr lang="en-US" sz="2400" dirty="0" err="1"/>
              <a:t>int</a:t>
            </a:r>
            <a:r>
              <a:rPr lang="en-US" sz="2400" dirty="0"/>
              <a:t> </a:t>
            </a:r>
            <a:r>
              <a:rPr lang="en-US" sz="2400" dirty="0" err="1"/>
              <a:t>i</a:t>
            </a:r>
            <a:r>
              <a:rPr lang="en-US" sz="2400" dirty="0"/>
              <a:t> = 1 ; </a:t>
            </a:r>
            <a:r>
              <a:rPr lang="en-US" sz="2400" dirty="0" err="1"/>
              <a:t>i</a:t>
            </a:r>
            <a:r>
              <a:rPr lang="en-US" sz="2400" dirty="0"/>
              <a:t> &lt;= 10 ; </a:t>
            </a:r>
            <a:r>
              <a:rPr lang="en-US" sz="2400" dirty="0" err="1"/>
              <a:t>i</a:t>
            </a:r>
            <a:r>
              <a:rPr lang="en-US" sz="2400" dirty="0"/>
              <a:t>++ ){</a:t>
            </a:r>
          </a:p>
          <a:p>
            <a:r>
              <a:rPr lang="en-US" sz="2400" dirty="0"/>
              <a:t>                sum += </a:t>
            </a:r>
            <a:r>
              <a:rPr lang="en-US" sz="2400" dirty="0" err="1"/>
              <a:t>i</a:t>
            </a:r>
            <a:r>
              <a:rPr lang="en-US" sz="2400" dirty="0"/>
              <a:t> ;</a:t>
            </a:r>
          </a:p>
          <a:p>
            <a:r>
              <a:rPr lang="en-US" sz="2400" dirty="0"/>
              <a:t>        }</a:t>
            </a:r>
          </a:p>
          <a:p>
            <a:r>
              <a:rPr lang="en-US" sz="2400" dirty="0"/>
              <a:t>        </a:t>
            </a:r>
            <a:r>
              <a:rPr lang="en-US" sz="2400" dirty="0" err="1"/>
              <a:t>fprintf</a:t>
            </a:r>
            <a:r>
              <a:rPr lang="en-US" sz="2400" dirty="0"/>
              <a:t>( </a:t>
            </a:r>
            <a:r>
              <a:rPr lang="en-US" sz="2400" dirty="0" err="1"/>
              <a:t>stdout</a:t>
            </a:r>
            <a:r>
              <a:rPr lang="en-US" sz="2400" dirty="0"/>
              <a:t>, "The sum is %d\n", sum ) ;</a:t>
            </a:r>
          </a:p>
          <a:p>
            <a:r>
              <a:rPr lang="en-US" sz="2400" dirty="0"/>
              <a:t>}</a:t>
            </a:r>
          </a:p>
        </p:txBody>
      </p:sp>
    </p:spTree>
    <p:extLst>
      <p:ext uri="{BB962C8B-B14F-4D97-AF65-F5344CB8AC3E}">
        <p14:creationId xmlns:p14="http://schemas.microsoft.com/office/powerpoint/2010/main" val="2786559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Loop Text in C++</a:t>
            </a:r>
            <a:endParaRPr lang="en-US" sz="4400" b="0" u="none" strike="noStrike" dirty="0">
              <a:solidFill>
                <a:srgbClr val="000000"/>
              </a:solidFill>
              <a:effectLst/>
              <a:uFillTx/>
              <a:latin typeface="Arial"/>
            </a:endParaRPr>
          </a:p>
        </p:txBody>
      </p:sp>
      <p:sp>
        <p:nvSpPr>
          <p:cNvPr id="2" name="Rectangle 1"/>
          <p:cNvSpPr/>
          <p:nvPr/>
        </p:nvSpPr>
        <p:spPr>
          <a:xfrm>
            <a:off x="381000" y="2102614"/>
            <a:ext cx="9296400" cy="4154984"/>
          </a:xfrm>
          <a:prstGeom prst="rect">
            <a:avLst/>
          </a:prstGeom>
        </p:spPr>
        <p:txBody>
          <a:bodyPr wrap="square">
            <a:spAutoFit/>
          </a:bodyPr>
          <a:lstStyle/>
          <a:p>
            <a:r>
              <a:rPr lang="en-US" sz="2400" dirty="0" smtClean="0"/>
              <a:t>#</a:t>
            </a:r>
            <a:r>
              <a:rPr lang="en-US" sz="2400" dirty="0"/>
              <a:t>include &lt;</a:t>
            </a:r>
            <a:r>
              <a:rPr lang="en-US" sz="2400" dirty="0" err="1"/>
              <a:t>iostream</a:t>
            </a:r>
            <a:r>
              <a:rPr lang="en-US" sz="2400" dirty="0"/>
              <a:t>&gt;</a:t>
            </a:r>
          </a:p>
          <a:p>
            <a:endParaRPr lang="en-US" sz="2400" dirty="0"/>
          </a:p>
          <a:p>
            <a:r>
              <a:rPr lang="en-US" sz="2400" dirty="0" err="1"/>
              <a:t>int</a:t>
            </a:r>
            <a:r>
              <a:rPr lang="en-US" sz="2400" dirty="0"/>
              <a:t> main() {</a:t>
            </a:r>
          </a:p>
          <a:p>
            <a:r>
              <a:rPr lang="en-US" sz="2400" dirty="0"/>
              <a:t>    </a:t>
            </a:r>
            <a:r>
              <a:rPr lang="en-US" sz="2400" dirty="0" err="1"/>
              <a:t>int</a:t>
            </a:r>
            <a:r>
              <a:rPr lang="en-US" sz="2400" dirty="0"/>
              <a:t> sum = 0;</a:t>
            </a:r>
          </a:p>
          <a:p>
            <a:endParaRPr lang="en-US" sz="2400" dirty="0"/>
          </a:p>
          <a:p>
            <a:r>
              <a:rPr lang="en-US" sz="2400" dirty="0"/>
              <a:t>    for (</a:t>
            </a:r>
            <a:r>
              <a:rPr lang="en-US" sz="2400" dirty="0" err="1"/>
              <a:t>int</a:t>
            </a:r>
            <a:r>
              <a:rPr lang="en-US" sz="2400" dirty="0"/>
              <a:t> </a:t>
            </a:r>
            <a:r>
              <a:rPr lang="en-US" sz="2400" dirty="0" err="1"/>
              <a:t>i</a:t>
            </a:r>
            <a:r>
              <a:rPr lang="en-US" sz="2400" dirty="0"/>
              <a:t> = 1; </a:t>
            </a:r>
            <a:r>
              <a:rPr lang="en-US" sz="2400" dirty="0" err="1"/>
              <a:t>i</a:t>
            </a:r>
            <a:r>
              <a:rPr lang="en-US" sz="2400" dirty="0"/>
              <a:t> &lt;= 10; </a:t>
            </a:r>
            <a:r>
              <a:rPr lang="en-US" sz="2400" dirty="0" err="1" smtClean="0"/>
              <a:t>i</a:t>
            </a:r>
            <a:r>
              <a:rPr lang="en-US" sz="2400" dirty="0" smtClean="0"/>
              <a:t>++ ) </a:t>
            </a:r>
            <a:r>
              <a:rPr lang="en-US" sz="2400" dirty="0"/>
              <a:t>{</a:t>
            </a:r>
          </a:p>
          <a:p>
            <a:r>
              <a:rPr lang="en-US" sz="2400" dirty="0"/>
              <a:t>        sum += </a:t>
            </a:r>
            <a:r>
              <a:rPr lang="en-US" sz="2400" dirty="0" err="1"/>
              <a:t>i</a:t>
            </a:r>
            <a:r>
              <a:rPr lang="en-US" sz="2400" dirty="0"/>
              <a:t>;</a:t>
            </a:r>
          </a:p>
          <a:p>
            <a:r>
              <a:rPr lang="en-US" sz="2400" dirty="0"/>
              <a:t>    }</a:t>
            </a:r>
          </a:p>
          <a:p>
            <a:endParaRPr lang="en-US" sz="2400" dirty="0"/>
          </a:p>
          <a:p>
            <a:r>
              <a:rPr lang="en-US" sz="2400" dirty="0"/>
              <a:t>    </a:t>
            </a:r>
            <a:r>
              <a:rPr lang="en-US" sz="2400" dirty="0" err="1"/>
              <a:t>std</a:t>
            </a:r>
            <a:r>
              <a:rPr lang="en-US" sz="2400" dirty="0"/>
              <a:t>::</a:t>
            </a:r>
            <a:r>
              <a:rPr lang="en-US" sz="2400" dirty="0" err="1"/>
              <a:t>cout</a:t>
            </a:r>
            <a:r>
              <a:rPr lang="en-US" sz="2400" dirty="0"/>
              <a:t> &lt;&lt; "The sum of the first 10 integers is: " &lt;&lt; sum &lt;&lt; </a:t>
            </a:r>
            <a:r>
              <a:rPr lang="en-US" sz="2400" dirty="0" err="1"/>
              <a:t>std</a:t>
            </a:r>
            <a:r>
              <a:rPr lang="en-US" sz="2400" dirty="0"/>
              <a:t>::</a:t>
            </a:r>
            <a:r>
              <a:rPr lang="en-US" sz="2400" dirty="0" err="1"/>
              <a:t>endl</a:t>
            </a:r>
            <a:r>
              <a:rPr lang="en-US" sz="2400" dirty="0"/>
              <a:t>;</a:t>
            </a:r>
          </a:p>
          <a:p>
            <a:r>
              <a:rPr lang="en-US" sz="2400" dirty="0"/>
              <a:t>    return 0;</a:t>
            </a:r>
          </a:p>
        </p:txBody>
      </p:sp>
    </p:spTree>
    <p:extLst>
      <p:ext uri="{BB962C8B-B14F-4D97-AF65-F5344CB8AC3E}">
        <p14:creationId xmlns:p14="http://schemas.microsoft.com/office/powerpoint/2010/main" val="28056673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Loop Text in Rust</a:t>
            </a:r>
            <a:endParaRPr lang="en-US" sz="4400" b="0" u="none" strike="noStrike" dirty="0">
              <a:solidFill>
                <a:srgbClr val="000000"/>
              </a:solidFill>
              <a:effectLst/>
              <a:uFillTx/>
              <a:latin typeface="Arial"/>
            </a:endParaRPr>
          </a:p>
        </p:txBody>
      </p:sp>
      <p:sp>
        <p:nvSpPr>
          <p:cNvPr id="3" name="Rectangle 2"/>
          <p:cNvSpPr/>
          <p:nvPr/>
        </p:nvSpPr>
        <p:spPr>
          <a:xfrm>
            <a:off x="895350" y="1841064"/>
            <a:ext cx="7048500" cy="4524315"/>
          </a:xfrm>
          <a:prstGeom prst="rect">
            <a:avLst/>
          </a:prstGeom>
        </p:spPr>
        <p:txBody>
          <a:bodyPr wrap="square">
            <a:spAutoFit/>
          </a:bodyPr>
          <a:lstStyle/>
          <a:p>
            <a:r>
              <a:rPr lang="en-US" sz="3200" dirty="0" err="1"/>
              <a:t>fn</a:t>
            </a:r>
            <a:r>
              <a:rPr lang="en-US" sz="3200" dirty="0"/>
              <a:t> main() {</a:t>
            </a:r>
          </a:p>
          <a:p>
            <a:r>
              <a:rPr lang="en-US" sz="3200" dirty="0"/>
              <a:t>    let lo = 1 ;</a:t>
            </a:r>
          </a:p>
          <a:p>
            <a:r>
              <a:rPr lang="en-US" sz="3200" dirty="0"/>
              <a:t>    let hi = 10 ;</a:t>
            </a:r>
          </a:p>
          <a:p>
            <a:r>
              <a:rPr lang="en-US" sz="3200" dirty="0"/>
              <a:t>    let </a:t>
            </a:r>
            <a:r>
              <a:rPr lang="en-US" sz="3200" dirty="0" err="1"/>
              <a:t>mut</a:t>
            </a:r>
            <a:r>
              <a:rPr lang="en-US" sz="3200" dirty="0"/>
              <a:t> sum = 0 ;</a:t>
            </a:r>
          </a:p>
          <a:p>
            <a:r>
              <a:rPr lang="en-US" sz="3200" dirty="0"/>
              <a:t>    for </a:t>
            </a:r>
            <a:r>
              <a:rPr lang="en-US" sz="3200" dirty="0" err="1"/>
              <a:t>i</a:t>
            </a:r>
            <a:r>
              <a:rPr lang="en-US" sz="3200" dirty="0"/>
              <a:t> in lo..=hi {</a:t>
            </a:r>
          </a:p>
          <a:p>
            <a:r>
              <a:rPr lang="en-US" sz="3200" dirty="0"/>
              <a:t>        sum += </a:t>
            </a:r>
            <a:r>
              <a:rPr lang="en-US" sz="3200" dirty="0" err="1"/>
              <a:t>i</a:t>
            </a:r>
            <a:r>
              <a:rPr lang="en-US" sz="3200" dirty="0"/>
              <a:t> ;</a:t>
            </a:r>
          </a:p>
          <a:p>
            <a:r>
              <a:rPr lang="en-US" sz="3200" dirty="0"/>
              <a:t>    }</a:t>
            </a:r>
          </a:p>
          <a:p>
            <a:r>
              <a:rPr lang="en-US" sz="3200" dirty="0"/>
              <a:t>    </a:t>
            </a:r>
            <a:r>
              <a:rPr lang="en-US" sz="3200" dirty="0" err="1"/>
              <a:t>println</a:t>
            </a:r>
            <a:r>
              <a:rPr lang="en-US" sz="3200" dirty="0"/>
              <a:t>!("The total sum is: {}", sum);</a:t>
            </a:r>
          </a:p>
          <a:p>
            <a:r>
              <a:rPr lang="en-US" sz="3200" dirty="0"/>
              <a:t>}</a:t>
            </a:r>
          </a:p>
        </p:txBody>
      </p:sp>
    </p:spTree>
    <p:extLst>
      <p:ext uri="{BB962C8B-B14F-4D97-AF65-F5344CB8AC3E}">
        <p14:creationId xmlns:p14="http://schemas.microsoft.com/office/powerpoint/2010/main" val="36611551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Let’s build the programs</a:t>
            </a:r>
            <a:endParaRPr lang="en-US" sz="4400" b="0" u="none" strike="noStrike" dirty="0">
              <a:solidFill>
                <a:srgbClr val="000000"/>
              </a:solidFill>
              <a:effectLst/>
              <a:uFillTx/>
              <a:latin typeface="Arial"/>
            </a:endParaRPr>
          </a:p>
        </p:txBody>
      </p:sp>
      <p:sp>
        <p:nvSpPr>
          <p:cNvPr id="3" name="Rectangle 2"/>
          <p:cNvSpPr/>
          <p:nvPr/>
        </p:nvSpPr>
        <p:spPr>
          <a:xfrm>
            <a:off x="895350" y="1850589"/>
            <a:ext cx="7048500" cy="584775"/>
          </a:xfrm>
          <a:prstGeom prst="rect">
            <a:avLst/>
          </a:prstGeom>
        </p:spPr>
        <p:txBody>
          <a:bodyPr wrap="square">
            <a:spAutoFit/>
          </a:bodyPr>
          <a:lstStyle/>
          <a:p>
            <a:r>
              <a:rPr lang="en-US" sz="3200" dirty="0" smtClean="0"/>
              <a:t>Try each language </a:t>
            </a:r>
            <a:r>
              <a:rPr lang="en-US" sz="3200" smtClean="0"/>
              <a:t>in turn</a:t>
            </a:r>
            <a:endParaRPr lang="en-US" sz="3200" dirty="0"/>
          </a:p>
        </p:txBody>
      </p:sp>
    </p:spTree>
    <p:extLst>
      <p:ext uri="{BB962C8B-B14F-4D97-AF65-F5344CB8AC3E}">
        <p14:creationId xmlns:p14="http://schemas.microsoft.com/office/powerpoint/2010/main" val="877065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Let’s see what is created</a:t>
            </a:r>
            <a:endParaRPr lang="en-US" sz="4400" b="0" u="none" strike="noStrike" dirty="0">
              <a:solidFill>
                <a:srgbClr val="000000"/>
              </a:solidFill>
              <a:effectLst/>
              <a:uFillTx/>
              <a:latin typeface="Arial"/>
            </a:endParaRPr>
          </a:p>
        </p:txBody>
      </p:sp>
      <p:sp>
        <p:nvSpPr>
          <p:cNvPr id="3" name="Rectangle 2"/>
          <p:cNvSpPr/>
          <p:nvPr/>
        </p:nvSpPr>
        <p:spPr>
          <a:xfrm>
            <a:off x="895350" y="1850589"/>
            <a:ext cx="7924800" cy="5509200"/>
          </a:xfrm>
          <a:prstGeom prst="rect">
            <a:avLst/>
          </a:prstGeom>
        </p:spPr>
        <p:txBody>
          <a:bodyPr wrap="square">
            <a:spAutoFit/>
          </a:bodyPr>
          <a:lstStyle/>
          <a:p>
            <a:r>
              <a:rPr lang="en-US" sz="3200" dirty="0" smtClean="0"/>
              <a:t>Output the binary in human readable form</a:t>
            </a:r>
          </a:p>
          <a:p>
            <a:endParaRPr lang="en-US" sz="3200" dirty="0"/>
          </a:p>
          <a:p>
            <a:r>
              <a:rPr lang="en-US" sz="3200" dirty="0" smtClean="0"/>
              <a:t>Assembly listing</a:t>
            </a:r>
          </a:p>
          <a:p>
            <a:endParaRPr lang="en-US" sz="3200" dirty="0"/>
          </a:p>
          <a:p>
            <a:r>
              <a:rPr lang="en-US" sz="3200" dirty="0" smtClean="0"/>
              <a:t>In C, C++,  add the –S to the options</a:t>
            </a:r>
          </a:p>
          <a:p>
            <a:endParaRPr lang="en-US" sz="3200" dirty="0"/>
          </a:p>
          <a:p>
            <a:r>
              <a:rPr lang="en-US" sz="3200" dirty="0" smtClean="0"/>
              <a:t>In Rust, add  --emit=</a:t>
            </a:r>
            <a:r>
              <a:rPr lang="en-US" sz="3200" dirty="0" err="1" smtClean="0"/>
              <a:t>asm</a:t>
            </a:r>
            <a:endParaRPr lang="en-US" sz="3200" dirty="0" smtClean="0"/>
          </a:p>
          <a:p>
            <a:endParaRPr lang="en-US" sz="3200" dirty="0"/>
          </a:p>
          <a:p>
            <a:r>
              <a:rPr lang="en-US" sz="3200" dirty="0" smtClean="0"/>
              <a:t>These will create .s or assembly listing files</a:t>
            </a:r>
          </a:p>
          <a:p>
            <a:endParaRPr lang="en-US" sz="3200" dirty="0"/>
          </a:p>
          <a:p>
            <a:r>
              <a:rPr lang="en-US" sz="3200" dirty="0" smtClean="0"/>
              <a:t>Look at these files in an editor</a:t>
            </a:r>
            <a:endParaRPr lang="en-US" sz="3200" dirty="0"/>
          </a:p>
        </p:txBody>
      </p:sp>
    </p:spTree>
    <p:extLst>
      <p:ext uri="{BB962C8B-B14F-4D97-AF65-F5344CB8AC3E}">
        <p14:creationId xmlns:p14="http://schemas.microsoft.com/office/powerpoint/2010/main" val="662394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What is linking?</a:t>
            </a:r>
            <a:endParaRPr lang="en-US" sz="4400" b="0" u="none" strike="noStrike" dirty="0">
              <a:solidFill>
                <a:srgbClr val="000000"/>
              </a:solidFill>
              <a:effectLst/>
              <a:uFillTx/>
              <a:latin typeface="Arial"/>
            </a:endParaRPr>
          </a:p>
        </p:txBody>
      </p:sp>
      <p:sp>
        <p:nvSpPr>
          <p:cNvPr id="3" name="Rectangle 2"/>
          <p:cNvSpPr/>
          <p:nvPr/>
        </p:nvSpPr>
        <p:spPr>
          <a:xfrm>
            <a:off x="723899" y="1841064"/>
            <a:ext cx="8562975" cy="5016758"/>
          </a:xfrm>
          <a:prstGeom prst="rect">
            <a:avLst/>
          </a:prstGeom>
        </p:spPr>
        <p:txBody>
          <a:bodyPr wrap="square">
            <a:spAutoFit/>
          </a:bodyPr>
          <a:lstStyle/>
          <a:p>
            <a:r>
              <a:rPr lang="en-US" sz="3200" dirty="0" smtClean="0"/>
              <a:t>Combines pieces of object code together</a:t>
            </a:r>
          </a:p>
          <a:p>
            <a:endParaRPr lang="en-US" sz="3200" dirty="0"/>
          </a:p>
          <a:p>
            <a:r>
              <a:rPr lang="en-US" sz="3200" dirty="0" smtClean="0"/>
              <a:t>Resolves addresses</a:t>
            </a:r>
          </a:p>
          <a:p>
            <a:endParaRPr lang="en-US" sz="3200" dirty="0" smtClean="0"/>
          </a:p>
          <a:p>
            <a:r>
              <a:rPr lang="en-US" sz="3200" dirty="0" smtClean="0"/>
              <a:t>Computer must have known addresses to function</a:t>
            </a:r>
          </a:p>
          <a:p>
            <a:endParaRPr lang="en-US" sz="3200" dirty="0"/>
          </a:p>
          <a:p>
            <a:r>
              <a:rPr lang="en-US" sz="3200" dirty="0" smtClean="0"/>
              <a:t>Let’s look at link info using </a:t>
            </a:r>
            <a:r>
              <a:rPr lang="en-US" sz="3200" b="1" dirty="0" smtClean="0">
                <a:solidFill>
                  <a:srgbClr val="FF0000"/>
                </a:solidFill>
              </a:rPr>
              <a:t>nm</a:t>
            </a:r>
            <a:r>
              <a:rPr lang="en-US" sz="3200" dirty="0" smtClean="0"/>
              <a:t> which lists the symbols found in binary objects.</a:t>
            </a:r>
          </a:p>
          <a:p>
            <a:endParaRPr lang="en-US" sz="3200" dirty="0"/>
          </a:p>
          <a:p>
            <a:r>
              <a:rPr lang="en-US" sz="3200" dirty="0"/>
              <a:t>n</a:t>
            </a:r>
            <a:r>
              <a:rPr lang="en-US" sz="3200" dirty="0" smtClean="0"/>
              <a:t>m &lt;</a:t>
            </a:r>
            <a:r>
              <a:rPr lang="en-US" sz="3200" dirty="0" err="1" smtClean="0"/>
              <a:t>object_file_name</a:t>
            </a:r>
            <a:r>
              <a:rPr lang="en-US" sz="3200" dirty="0" smtClean="0"/>
              <a:t>&gt;</a:t>
            </a:r>
            <a:endParaRPr lang="en-US" sz="3200" dirty="0"/>
          </a:p>
        </p:txBody>
      </p:sp>
    </p:spTree>
    <p:extLst>
      <p:ext uri="{BB962C8B-B14F-4D97-AF65-F5344CB8AC3E}">
        <p14:creationId xmlns:p14="http://schemas.microsoft.com/office/powerpoint/2010/main" val="2172527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u="none" strike="noStrike" dirty="0">
                <a:solidFill>
                  <a:schemeClr val="lt1"/>
                </a:solidFill>
                <a:effectLst/>
                <a:uFillTx/>
                <a:latin typeface="Arial"/>
              </a:rPr>
              <a:t> </a:t>
            </a:r>
            <a:r>
              <a:rPr lang="en-US" sz="4400" b="1" dirty="0" smtClean="0">
                <a:solidFill>
                  <a:schemeClr val="lt1"/>
                </a:solidFill>
                <a:latin typeface="Arial"/>
              </a:rPr>
              <a:t>Can you look at program binary?</a:t>
            </a:r>
            <a:endParaRPr lang="en-US" sz="4400" b="0" u="none" strike="noStrike" dirty="0">
              <a:solidFill>
                <a:srgbClr val="000000"/>
              </a:solidFill>
              <a:effectLst/>
              <a:uFillTx/>
              <a:latin typeface="Arial"/>
            </a:endParaRPr>
          </a:p>
        </p:txBody>
      </p:sp>
      <p:sp>
        <p:nvSpPr>
          <p:cNvPr id="3" name="Rectangle 2"/>
          <p:cNvSpPr/>
          <p:nvPr/>
        </p:nvSpPr>
        <p:spPr>
          <a:xfrm>
            <a:off x="723899" y="1841064"/>
            <a:ext cx="8562975" cy="4031873"/>
          </a:xfrm>
          <a:prstGeom prst="rect">
            <a:avLst/>
          </a:prstGeom>
        </p:spPr>
        <p:txBody>
          <a:bodyPr wrap="square">
            <a:spAutoFit/>
          </a:bodyPr>
          <a:lstStyle/>
          <a:p>
            <a:r>
              <a:rPr lang="en-US" sz="3200" dirty="0" smtClean="0"/>
              <a:t>Sure</a:t>
            </a:r>
          </a:p>
          <a:p>
            <a:endParaRPr lang="en-US" sz="3200" dirty="0" smtClean="0"/>
          </a:p>
          <a:p>
            <a:r>
              <a:rPr lang="en-US" sz="3200" dirty="0" smtClean="0"/>
              <a:t>Use </a:t>
            </a:r>
            <a:r>
              <a:rPr lang="en-US" sz="3200" dirty="0" err="1" smtClean="0"/>
              <a:t>emacs</a:t>
            </a:r>
            <a:r>
              <a:rPr lang="en-US" sz="3200" dirty="0" smtClean="0"/>
              <a:t> in </a:t>
            </a:r>
            <a:r>
              <a:rPr lang="en-US" sz="3200" dirty="0" err="1" smtClean="0"/>
              <a:t>hexl</a:t>
            </a:r>
            <a:r>
              <a:rPr lang="en-US" sz="3200" dirty="0" smtClean="0"/>
              <a:t>-mode</a:t>
            </a:r>
          </a:p>
          <a:p>
            <a:endParaRPr lang="en-US" sz="3200" dirty="0"/>
          </a:p>
          <a:p>
            <a:r>
              <a:rPr lang="en-US" sz="3200" dirty="0" smtClean="0"/>
              <a:t>It clearly show the file magic</a:t>
            </a:r>
          </a:p>
          <a:p>
            <a:endParaRPr lang="en-US" sz="3200" dirty="0"/>
          </a:p>
          <a:p>
            <a:r>
              <a:rPr lang="en-US" sz="3200" dirty="0" smtClean="0"/>
              <a:t>This file is of type ELF</a:t>
            </a:r>
          </a:p>
          <a:p>
            <a:endParaRPr lang="en-US" sz="3200" dirty="0" smtClean="0"/>
          </a:p>
        </p:txBody>
      </p:sp>
    </p:spTree>
    <p:extLst>
      <p:ext uri="{BB962C8B-B14F-4D97-AF65-F5344CB8AC3E}">
        <p14:creationId xmlns:p14="http://schemas.microsoft.com/office/powerpoint/2010/main" val="526057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What the Linker Produced</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Lst>
            </a:pPr>
            <a:r>
              <a:rPr sz="2300" b="0">
                <a:latin typeface="Cambria"/>
              </a:rPr>
              <a:t>gcc -o first first.c</a:t>
            </a:r>
          </a:p>
          <a:p>
            <a:pPr>
              <a:tabLst>
                <a:tab pos="548640" algn="l"/>
              </a:tabLst>
            </a:pPr>
            <a:r>
              <a:rPr sz="2300">
                <a:latin typeface="Cambria"/>
              </a:rPr>
              <a:t> </a:t>
            </a:r>
          </a:p>
          <a:p>
            <a:pPr>
              <a:tabLst>
                <a:tab pos="548640" algn="l"/>
              </a:tabLst>
            </a:pPr>
            <a:r>
              <a:rPr sz="2300" b="0">
                <a:latin typeface="Cambria"/>
              </a:rPr>
              <a:t>The file  </a:t>
            </a:r>
            <a:r>
              <a:rPr sz="2300" b="1">
                <a:latin typeface="Cambria"/>
              </a:rPr>
              <a:t>first</a:t>
            </a:r>
            <a:r>
              <a:rPr sz="2300" b="0">
                <a:latin typeface="Cambria"/>
              </a:rPr>
              <a:t>  is not just machine code</a:t>
            </a:r>
          </a:p>
          <a:p>
            <a:pPr>
              <a:tabLst>
                <a:tab pos="548640" algn="l"/>
              </a:tabLst>
            </a:pPr>
            <a:r>
              <a:rPr sz="2300">
                <a:latin typeface="Cambria"/>
              </a:rPr>
              <a:t> </a:t>
            </a:r>
          </a:p>
          <a:p>
            <a:pPr>
              <a:tabLst>
                <a:tab pos="548640" algn="l"/>
              </a:tabLst>
            </a:pPr>
            <a:r>
              <a:rPr sz="2300" b="0">
                <a:latin typeface="Cambria"/>
              </a:rPr>
              <a:t>It also carries:</a:t>
            </a:r>
          </a:p>
          <a:p>
            <a:pPr>
              <a:tabLst>
                <a:tab pos="548640" algn="l"/>
              </a:tabLst>
            </a:pPr>
            <a:r>
              <a:rPr sz="2300" b="0">
                <a:latin typeface="Cambria"/>
              </a:rPr>
              <a:t>	where each piece must be </a:t>
            </a:r>
            <a:r>
              <a:rPr sz="2300" b="1">
                <a:latin typeface="Cambria"/>
              </a:rPr>
              <a:t>loaded</a:t>
            </a:r>
          </a:p>
          <a:p>
            <a:pPr>
              <a:tabLst>
                <a:tab pos="548640" algn="l"/>
              </a:tabLst>
            </a:pPr>
            <a:r>
              <a:rPr sz="2300" b="0">
                <a:latin typeface="Cambria"/>
              </a:rPr>
              <a:t>	what </a:t>
            </a:r>
            <a:r>
              <a:rPr sz="2300" b="1">
                <a:latin typeface="Cambria"/>
              </a:rPr>
              <a:t>permissions</a:t>
            </a:r>
            <a:r>
              <a:rPr sz="2300" b="0">
                <a:latin typeface="Cambria"/>
              </a:rPr>
              <a:t> each piece needs</a:t>
            </a:r>
          </a:p>
          <a:p>
            <a:pPr>
              <a:tabLst>
                <a:tab pos="548640" algn="l"/>
              </a:tabLst>
            </a:pPr>
            <a:r>
              <a:rPr sz="2300" b="0">
                <a:latin typeface="Cambria"/>
              </a:rPr>
              <a:t>	the </a:t>
            </a:r>
            <a:r>
              <a:rPr sz="2300" b="1">
                <a:latin typeface="Cambria"/>
              </a:rPr>
              <a:t>names</a:t>
            </a:r>
            <a:r>
              <a:rPr sz="2300" b="0">
                <a:latin typeface="Cambria"/>
              </a:rPr>
              <a:t> of everything in it</a:t>
            </a:r>
          </a:p>
          <a:p>
            <a:pPr>
              <a:tabLst>
                <a:tab pos="548640" algn="l"/>
              </a:tabLst>
            </a:pPr>
            <a:r>
              <a:rPr sz="2300" b="0">
                <a:latin typeface="Cambria"/>
              </a:rPr>
              <a:t>	where execution </a:t>
            </a:r>
            <a:r>
              <a:rPr sz="2300" b="1">
                <a:latin typeface="Cambria"/>
              </a:rPr>
              <a:t>starts</a:t>
            </a:r>
          </a:p>
        </p:txBody>
      </p:sp>
    </p:spTree>
    <p:extLst>
      <p:ext uri="{BB962C8B-B14F-4D97-AF65-F5344CB8AC3E}">
        <p14:creationId xmlns:p14="http://schemas.microsoft.com/office/powerpoint/2010/main" val="21718436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ELF</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926080" algn="l"/>
              </a:tabLst>
            </a:pPr>
            <a:r>
              <a:rPr sz="2200" b="1">
                <a:latin typeface="Cambria"/>
              </a:rPr>
              <a:t>E</a:t>
            </a:r>
            <a:r>
              <a:rPr sz="2200" b="0">
                <a:latin typeface="Cambria"/>
              </a:rPr>
              <a:t>xecutable and </a:t>
            </a:r>
            <a:r>
              <a:rPr sz="2200" b="1">
                <a:latin typeface="Cambria"/>
              </a:rPr>
              <a:t>L</a:t>
            </a:r>
            <a:r>
              <a:rPr sz="2200" b="0">
                <a:latin typeface="Cambria"/>
              </a:rPr>
              <a:t>inkable </a:t>
            </a:r>
            <a:r>
              <a:rPr sz="2200" b="1">
                <a:latin typeface="Cambria"/>
              </a:rPr>
              <a:t>F</a:t>
            </a:r>
            <a:r>
              <a:rPr sz="2200" b="0">
                <a:latin typeface="Cambria"/>
              </a:rPr>
              <a:t>ormat</a:t>
            </a:r>
          </a:p>
          <a:p>
            <a:pPr>
              <a:tabLst>
                <a:tab pos="548640" algn="l"/>
                <a:tab pos="2926080" algn="l"/>
              </a:tabLst>
            </a:pPr>
            <a:r>
              <a:rPr sz="2200">
                <a:latin typeface="Cambria"/>
              </a:rPr>
              <a:t> </a:t>
            </a:r>
          </a:p>
          <a:p>
            <a:pPr>
              <a:tabLst>
                <a:tab pos="548640" algn="l"/>
                <a:tab pos="2926080" algn="l"/>
              </a:tabLst>
            </a:pPr>
            <a:r>
              <a:rPr sz="2200" b="0">
                <a:latin typeface="Cambria"/>
              </a:rPr>
              <a:t>The standard binary format on Linux and Unix</a:t>
            </a:r>
          </a:p>
          <a:p>
            <a:pPr>
              <a:tabLst>
                <a:tab pos="548640" algn="l"/>
                <a:tab pos="2926080" algn="l"/>
              </a:tabLst>
            </a:pPr>
            <a:r>
              <a:rPr sz="2200">
                <a:latin typeface="Cambria"/>
              </a:rPr>
              <a:t> </a:t>
            </a:r>
          </a:p>
          <a:p>
            <a:pPr>
              <a:tabLst>
                <a:tab pos="548640" algn="l"/>
                <a:tab pos="2926080" algn="l"/>
              </a:tabLst>
            </a:pPr>
            <a:r>
              <a:rPr sz="2200" b="0">
                <a:latin typeface="Cambria"/>
              </a:rPr>
              <a:t>One format, four jobs:</a:t>
            </a:r>
          </a:p>
          <a:p>
            <a:pPr>
              <a:tabLst>
                <a:tab pos="548640" algn="l"/>
                <a:tab pos="2926080" algn="l"/>
              </a:tabLst>
            </a:pPr>
            <a:r>
              <a:rPr sz="2200" b="0">
                <a:latin typeface="Cambria"/>
              </a:rPr>
              <a:t>	</a:t>
            </a:r>
            <a:r>
              <a:rPr sz="2200" b="1">
                <a:latin typeface="Cambria"/>
              </a:rPr>
              <a:t>executables</a:t>
            </a:r>
            <a:r>
              <a:rPr sz="2200" b="0">
                <a:latin typeface="Cambria"/>
              </a:rPr>
              <a:t>	first,  a.out</a:t>
            </a:r>
          </a:p>
          <a:p>
            <a:pPr>
              <a:tabLst>
                <a:tab pos="548640" algn="l"/>
                <a:tab pos="2926080" algn="l"/>
              </a:tabLst>
            </a:pPr>
            <a:r>
              <a:rPr sz="2200" b="0">
                <a:latin typeface="Cambria"/>
              </a:rPr>
              <a:t>	</a:t>
            </a:r>
            <a:r>
              <a:rPr sz="2200" b="1">
                <a:latin typeface="Cambria"/>
              </a:rPr>
              <a:t>object files</a:t>
            </a:r>
            <a:r>
              <a:rPr sz="2200" b="0">
                <a:latin typeface="Cambria"/>
              </a:rPr>
              <a:t>	first.o</a:t>
            </a:r>
          </a:p>
          <a:p>
            <a:pPr>
              <a:tabLst>
                <a:tab pos="548640" algn="l"/>
                <a:tab pos="2926080" algn="l"/>
              </a:tabLst>
            </a:pPr>
            <a:r>
              <a:rPr sz="2200" b="0">
                <a:latin typeface="Cambria"/>
              </a:rPr>
              <a:t>	</a:t>
            </a:r>
            <a:r>
              <a:rPr sz="2200" b="1">
                <a:latin typeface="Cambria"/>
              </a:rPr>
              <a:t>shared libraries</a:t>
            </a:r>
            <a:r>
              <a:rPr sz="2200" b="0">
                <a:latin typeface="Cambria"/>
              </a:rPr>
              <a:t>	libc.so</a:t>
            </a:r>
          </a:p>
          <a:p>
            <a:pPr>
              <a:tabLst>
                <a:tab pos="548640" algn="l"/>
                <a:tab pos="2926080" algn="l"/>
              </a:tabLst>
            </a:pPr>
            <a:r>
              <a:rPr sz="2200" b="0">
                <a:latin typeface="Cambria"/>
              </a:rPr>
              <a:t>	</a:t>
            </a:r>
            <a:r>
              <a:rPr sz="2200" b="1">
                <a:latin typeface="Cambria"/>
              </a:rPr>
              <a:t>core dumps</a:t>
            </a:r>
            <a:r>
              <a:rPr sz="2200" b="0">
                <a:latin typeface="Cambria"/>
              </a:rPr>
              <a:t>	core</a:t>
            </a:r>
          </a:p>
        </p:txBody>
      </p:sp>
    </p:spTree>
    <p:extLst>
      <p:ext uri="{BB962C8B-B14F-4D97-AF65-F5344CB8AC3E}">
        <p14:creationId xmlns:p14="http://schemas.microsoft.com/office/powerpoint/2010/main" val="9381967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Magic Number</a:t>
            </a:r>
            <a:endParaRPr lang="en-US" sz="4400" b="0" u="none" strike="noStrike" dirty="0">
              <a:solidFill>
                <a:srgbClr val="000000"/>
              </a:solidFill>
              <a:effectLst/>
              <a:uFillTx/>
              <a:latin typeface="Arial"/>
            </a:endParaRPr>
          </a:p>
        </p:txBody>
      </p:sp>
      <p:sp>
        <p:nvSpPr>
          <p:cNvPr id="388" name="Rectangle 387"/>
          <p:cNvSpPr/>
          <p:nvPr/>
        </p:nvSpPr>
        <p:spPr>
          <a:xfrm>
            <a:off x="1051560" y="2788920"/>
            <a:ext cx="96012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7f</a:t>
            </a:r>
          </a:p>
        </p:txBody>
      </p:sp>
      <p:sp>
        <p:nvSpPr>
          <p:cNvPr id="389" name="Rectangle 388"/>
          <p:cNvSpPr/>
          <p:nvPr/>
        </p:nvSpPr>
        <p:spPr>
          <a:xfrm>
            <a:off x="1051560" y="3410712"/>
            <a:ext cx="96012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0">
                <a:solidFill>
                  <a:srgbClr val="000000"/>
                </a:solidFill>
                <a:latin typeface="Cambria"/>
              </a:rPr>
              <a:t>DEL</a:t>
            </a:r>
          </a:p>
        </p:txBody>
      </p:sp>
      <p:sp>
        <p:nvSpPr>
          <p:cNvPr id="390" name="TextBox 389"/>
          <p:cNvSpPr txBox="1"/>
          <p:nvPr/>
        </p:nvSpPr>
        <p:spPr>
          <a:xfrm>
            <a:off x="1051560" y="4069079"/>
            <a:ext cx="960120" cy="310896"/>
          </a:xfrm>
          <a:prstGeom prst="rect">
            <a:avLst/>
          </a:prstGeom>
          <a:noFill/>
        </p:spPr>
        <p:txBody>
          <a:bodyPr wrap="square" lIns="0" tIns="0" rIns="0" bIns="0">
            <a:spAutoFit/>
          </a:bodyPr>
          <a:lstStyle/>
          <a:p>
            <a:pPr algn="ctr"/>
            <a:r>
              <a:rPr sz="1400" b="0" i="0">
                <a:solidFill>
                  <a:srgbClr val="000000"/>
                </a:solidFill>
                <a:latin typeface="Cambria"/>
              </a:rPr>
              <a:t>0</a:t>
            </a:r>
          </a:p>
        </p:txBody>
      </p:sp>
      <p:sp>
        <p:nvSpPr>
          <p:cNvPr id="391" name="Rectangle 390"/>
          <p:cNvSpPr/>
          <p:nvPr/>
        </p:nvSpPr>
        <p:spPr>
          <a:xfrm>
            <a:off x="2011680" y="2788920"/>
            <a:ext cx="96012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45</a:t>
            </a:r>
          </a:p>
        </p:txBody>
      </p:sp>
      <p:sp>
        <p:nvSpPr>
          <p:cNvPr id="392" name="Rectangle 391"/>
          <p:cNvSpPr/>
          <p:nvPr/>
        </p:nvSpPr>
        <p:spPr>
          <a:xfrm>
            <a:off x="2011680" y="3410712"/>
            <a:ext cx="96012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E</a:t>
            </a:r>
          </a:p>
        </p:txBody>
      </p:sp>
      <p:sp>
        <p:nvSpPr>
          <p:cNvPr id="393" name="TextBox 392"/>
          <p:cNvSpPr txBox="1"/>
          <p:nvPr/>
        </p:nvSpPr>
        <p:spPr>
          <a:xfrm>
            <a:off x="2011680" y="4069079"/>
            <a:ext cx="960120" cy="310896"/>
          </a:xfrm>
          <a:prstGeom prst="rect">
            <a:avLst/>
          </a:prstGeom>
          <a:noFill/>
        </p:spPr>
        <p:txBody>
          <a:bodyPr wrap="square" lIns="0" tIns="0" rIns="0" bIns="0">
            <a:spAutoFit/>
          </a:bodyPr>
          <a:lstStyle/>
          <a:p>
            <a:pPr algn="ctr"/>
            <a:r>
              <a:rPr sz="1400" b="0" i="0">
                <a:solidFill>
                  <a:srgbClr val="000000"/>
                </a:solidFill>
                <a:latin typeface="Cambria"/>
              </a:rPr>
              <a:t>1</a:t>
            </a:r>
          </a:p>
        </p:txBody>
      </p:sp>
      <p:sp>
        <p:nvSpPr>
          <p:cNvPr id="394" name="Rectangle 393"/>
          <p:cNvSpPr/>
          <p:nvPr/>
        </p:nvSpPr>
        <p:spPr>
          <a:xfrm>
            <a:off x="2971800" y="2788920"/>
            <a:ext cx="96012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4c</a:t>
            </a:r>
          </a:p>
        </p:txBody>
      </p:sp>
      <p:sp>
        <p:nvSpPr>
          <p:cNvPr id="395" name="Rectangle 394"/>
          <p:cNvSpPr/>
          <p:nvPr/>
        </p:nvSpPr>
        <p:spPr>
          <a:xfrm>
            <a:off x="2971800" y="3410712"/>
            <a:ext cx="96012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L</a:t>
            </a:r>
          </a:p>
        </p:txBody>
      </p:sp>
      <p:sp>
        <p:nvSpPr>
          <p:cNvPr id="396" name="TextBox 395"/>
          <p:cNvSpPr txBox="1"/>
          <p:nvPr/>
        </p:nvSpPr>
        <p:spPr>
          <a:xfrm>
            <a:off x="2971800" y="4069079"/>
            <a:ext cx="960120" cy="310896"/>
          </a:xfrm>
          <a:prstGeom prst="rect">
            <a:avLst/>
          </a:prstGeom>
          <a:noFill/>
        </p:spPr>
        <p:txBody>
          <a:bodyPr wrap="square" lIns="0" tIns="0" rIns="0" bIns="0">
            <a:spAutoFit/>
          </a:bodyPr>
          <a:lstStyle/>
          <a:p>
            <a:pPr algn="ctr"/>
            <a:r>
              <a:rPr sz="1400" b="0" i="0">
                <a:solidFill>
                  <a:srgbClr val="000000"/>
                </a:solidFill>
                <a:latin typeface="Cambria"/>
              </a:rPr>
              <a:t>2</a:t>
            </a:r>
          </a:p>
        </p:txBody>
      </p:sp>
      <p:sp>
        <p:nvSpPr>
          <p:cNvPr id="397" name="Rectangle 396"/>
          <p:cNvSpPr/>
          <p:nvPr/>
        </p:nvSpPr>
        <p:spPr>
          <a:xfrm>
            <a:off x="3931920" y="2788920"/>
            <a:ext cx="96012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46</a:t>
            </a:r>
          </a:p>
        </p:txBody>
      </p:sp>
      <p:sp>
        <p:nvSpPr>
          <p:cNvPr id="398" name="Rectangle 397"/>
          <p:cNvSpPr/>
          <p:nvPr/>
        </p:nvSpPr>
        <p:spPr>
          <a:xfrm>
            <a:off x="3931920" y="3410712"/>
            <a:ext cx="96012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900" b="0">
                <a:solidFill>
                  <a:srgbClr val="000000"/>
                </a:solidFill>
                <a:latin typeface="Cambria"/>
              </a:rPr>
              <a:t>F</a:t>
            </a:r>
          </a:p>
        </p:txBody>
      </p:sp>
      <p:sp>
        <p:nvSpPr>
          <p:cNvPr id="399" name="TextBox 398"/>
          <p:cNvSpPr txBox="1"/>
          <p:nvPr/>
        </p:nvSpPr>
        <p:spPr>
          <a:xfrm>
            <a:off x="3931920" y="4069079"/>
            <a:ext cx="960120" cy="310896"/>
          </a:xfrm>
          <a:prstGeom prst="rect">
            <a:avLst/>
          </a:prstGeom>
          <a:noFill/>
        </p:spPr>
        <p:txBody>
          <a:bodyPr wrap="square" lIns="0" tIns="0" rIns="0" bIns="0">
            <a:spAutoFit/>
          </a:bodyPr>
          <a:lstStyle/>
          <a:p>
            <a:pPr algn="ctr"/>
            <a:r>
              <a:rPr sz="1400" b="0" i="0">
                <a:solidFill>
                  <a:srgbClr val="000000"/>
                </a:solidFill>
                <a:latin typeface="Cambria"/>
              </a:rPr>
              <a:t>3</a:t>
            </a:r>
          </a:p>
        </p:txBody>
      </p:sp>
      <p:sp>
        <p:nvSpPr>
          <p:cNvPr id="400" name="Rectangle 399"/>
          <p:cNvSpPr/>
          <p:nvPr/>
        </p:nvSpPr>
        <p:spPr>
          <a:xfrm>
            <a:off x="4892040" y="2788920"/>
            <a:ext cx="96012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02</a:t>
            </a:r>
          </a:p>
        </p:txBody>
      </p:sp>
      <p:sp>
        <p:nvSpPr>
          <p:cNvPr id="401" name="Rectangle 400"/>
          <p:cNvSpPr/>
          <p:nvPr/>
        </p:nvSpPr>
        <p:spPr>
          <a:xfrm>
            <a:off x="4892040" y="3410712"/>
            <a:ext cx="9601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02" name="TextBox 401"/>
          <p:cNvSpPr txBox="1"/>
          <p:nvPr/>
        </p:nvSpPr>
        <p:spPr>
          <a:xfrm>
            <a:off x="4892040" y="4069079"/>
            <a:ext cx="960120" cy="310896"/>
          </a:xfrm>
          <a:prstGeom prst="rect">
            <a:avLst/>
          </a:prstGeom>
          <a:noFill/>
        </p:spPr>
        <p:txBody>
          <a:bodyPr wrap="square" lIns="0" tIns="0" rIns="0" bIns="0">
            <a:spAutoFit/>
          </a:bodyPr>
          <a:lstStyle/>
          <a:p>
            <a:pPr algn="ctr"/>
            <a:r>
              <a:rPr sz="1400" b="0" i="0">
                <a:solidFill>
                  <a:srgbClr val="000000"/>
                </a:solidFill>
                <a:latin typeface="Cambria"/>
              </a:rPr>
              <a:t>4</a:t>
            </a:r>
          </a:p>
        </p:txBody>
      </p:sp>
      <p:sp>
        <p:nvSpPr>
          <p:cNvPr id="403" name="Rectangle 402"/>
          <p:cNvSpPr/>
          <p:nvPr/>
        </p:nvSpPr>
        <p:spPr>
          <a:xfrm>
            <a:off x="5852160" y="2788920"/>
            <a:ext cx="96012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01</a:t>
            </a:r>
          </a:p>
        </p:txBody>
      </p:sp>
      <p:sp>
        <p:nvSpPr>
          <p:cNvPr id="404" name="Rectangle 403"/>
          <p:cNvSpPr/>
          <p:nvPr/>
        </p:nvSpPr>
        <p:spPr>
          <a:xfrm>
            <a:off x="5852160" y="3410712"/>
            <a:ext cx="9601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05" name="TextBox 404"/>
          <p:cNvSpPr txBox="1"/>
          <p:nvPr/>
        </p:nvSpPr>
        <p:spPr>
          <a:xfrm>
            <a:off x="5852160" y="4069079"/>
            <a:ext cx="960120" cy="310896"/>
          </a:xfrm>
          <a:prstGeom prst="rect">
            <a:avLst/>
          </a:prstGeom>
          <a:noFill/>
        </p:spPr>
        <p:txBody>
          <a:bodyPr wrap="square" lIns="0" tIns="0" rIns="0" bIns="0">
            <a:spAutoFit/>
          </a:bodyPr>
          <a:lstStyle/>
          <a:p>
            <a:pPr algn="ctr"/>
            <a:r>
              <a:rPr sz="1400" b="0" i="0">
                <a:solidFill>
                  <a:srgbClr val="000000"/>
                </a:solidFill>
                <a:latin typeface="Cambria"/>
              </a:rPr>
              <a:t>5</a:t>
            </a:r>
          </a:p>
        </p:txBody>
      </p:sp>
      <p:sp>
        <p:nvSpPr>
          <p:cNvPr id="406" name="Rectangle 405"/>
          <p:cNvSpPr/>
          <p:nvPr/>
        </p:nvSpPr>
        <p:spPr>
          <a:xfrm>
            <a:off x="6812280" y="2788920"/>
            <a:ext cx="96012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01</a:t>
            </a:r>
          </a:p>
        </p:txBody>
      </p:sp>
      <p:sp>
        <p:nvSpPr>
          <p:cNvPr id="407" name="Rectangle 406"/>
          <p:cNvSpPr/>
          <p:nvPr/>
        </p:nvSpPr>
        <p:spPr>
          <a:xfrm>
            <a:off x="6812280" y="3410712"/>
            <a:ext cx="9601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08" name="TextBox 407"/>
          <p:cNvSpPr txBox="1"/>
          <p:nvPr/>
        </p:nvSpPr>
        <p:spPr>
          <a:xfrm>
            <a:off x="6812280" y="4069079"/>
            <a:ext cx="960120" cy="310896"/>
          </a:xfrm>
          <a:prstGeom prst="rect">
            <a:avLst/>
          </a:prstGeom>
          <a:noFill/>
        </p:spPr>
        <p:txBody>
          <a:bodyPr wrap="square" lIns="0" tIns="0" rIns="0" bIns="0">
            <a:spAutoFit/>
          </a:bodyPr>
          <a:lstStyle/>
          <a:p>
            <a:pPr algn="ctr"/>
            <a:r>
              <a:rPr sz="1400" b="0" i="0">
                <a:solidFill>
                  <a:srgbClr val="000000"/>
                </a:solidFill>
                <a:latin typeface="Cambria"/>
              </a:rPr>
              <a:t>6</a:t>
            </a:r>
          </a:p>
        </p:txBody>
      </p:sp>
      <p:sp>
        <p:nvSpPr>
          <p:cNvPr id="409" name="Rectangle 408"/>
          <p:cNvSpPr/>
          <p:nvPr/>
        </p:nvSpPr>
        <p:spPr>
          <a:xfrm>
            <a:off x="7772400" y="2788920"/>
            <a:ext cx="96012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00</a:t>
            </a:r>
          </a:p>
        </p:txBody>
      </p:sp>
      <p:sp>
        <p:nvSpPr>
          <p:cNvPr id="410" name="Rectangle 409"/>
          <p:cNvSpPr/>
          <p:nvPr/>
        </p:nvSpPr>
        <p:spPr>
          <a:xfrm>
            <a:off x="7772400" y="3410712"/>
            <a:ext cx="9601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11" name="TextBox 410"/>
          <p:cNvSpPr txBox="1"/>
          <p:nvPr/>
        </p:nvSpPr>
        <p:spPr>
          <a:xfrm>
            <a:off x="7772400" y="4069079"/>
            <a:ext cx="960120" cy="310896"/>
          </a:xfrm>
          <a:prstGeom prst="rect">
            <a:avLst/>
          </a:prstGeom>
          <a:noFill/>
        </p:spPr>
        <p:txBody>
          <a:bodyPr wrap="square" lIns="0" tIns="0" rIns="0" bIns="0">
            <a:spAutoFit/>
          </a:bodyPr>
          <a:lstStyle/>
          <a:p>
            <a:pPr algn="ctr"/>
            <a:r>
              <a:rPr sz="1400" b="0" i="0">
                <a:solidFill>
                  <a:srgbClr val="000000"/>
                </a:solidFill>
                <a:latin typeface="Cambria"/>
              </a:rPr>
              <a:t>7</a:t>
            </a:r>
          </a:p>
        </p:txBody>
      </p:sp>
      <p:sp>
        <p:nvSpPr>
          <p:cNvPr id="412" name="TextBox 411"/>
          <p:cNvSpPr txBox="1"/>
          <p:nvPr/>
        </p:nvSpPr>
        <p:spPr>
          <a:xfrm>
            <a:off x="667512" y="2194560"/>
            <a:ext cx="8778240" cy="310896"/>
          </a:xfrm>
          <a:prstGeom prst="rect">
            <a:avLst/>
          </a:prstGeom>
          <a:noFill/>
        </p:spPr>
        <p:txBody>
          <a:bodyPr wrap="square" lIns="0" tIns="0" rIns="0" bIns="0">
            <a:spAutoFit/>
          </a:bodyPr>
          <a:lstStyle/>
          <a:p>
            <a:pPr algn="ctr"/>
            <a:r>
              <a:rPr sz="2200" b="0" i="0">
                <a:solidFill>
                  <a:srgbClr val="000000"/>
                </a:solidFill>
                <a:latin typeface="Cambria"/>
              </a:rPr>
              <a:t>The first bytes of </a:t>
            </a:r>
            <a:r>
              <a:rPr sz="2200" b="1" i="0">
                <a:solidFill>
                  <a:srgbClr val="000000"/>
                </a:solidFill>
                <a:latin typeface="Cambria"/>
              </a:rPr>
              <a:t>every</a:t>
            </a:r>
            <a:r>
              <a:rPr sz="2200" b="0" i="0">
                <a:solidFill>
                  <a:srgbClr val="000000"/>
                </a:solidFill>
                <a:latin typeface="Cambria"/>
              </a:rPr>
              <a:t> ELF file</a:t>
            </a:r>
          </a:p>
        </p:txBody>
      </p:sp>
      <p:sp>
        <p:nvSpPr>
          <p:cNvPr id="413" name="TextBox 412"/>
          <p:cNvSpPr txBox="1"/>
          <p:nvPr/>
        </p:nvSpPr>
        <p:spPr>
          <a:xfrm>
            <a:off x="667512" y="4526280"/>
            <a:ext cx="8778240" cy="310896"/>
          </a:xfrm>
          <a:prstGeom prst="rect">
            <a:avLst/>
          </a:prstGeom>
          <a:noFill/>
        </p:spPr>
        <p:txBody>
          <a:bodyPr wrap="square" lIns="0" tIns="0" rIns="0" bIns="0">
            <a:spAutoFit/>
          </a:bodyPr>
          <a:lstStyle/>
          <a:p>
            <a:pPr algn="ctr"/>
            <a:r>
              <a:rPr sz="2000" b="0" i="0">
                <a:solidFill>
                  <a:srgbClr val="000000"/>
                </a:solidFill>
                <a:latin typeface="Cambria"/>
              </a:rPr>
              <a:t>0x7F  then the letters  </a:t>
            </a:r>
            <a:r>
              <a:rPr sz="2000" b="1" i="0">
                <a:solidFill>
                  <a:srgbClr val="000000"/>
                </a:solidFill>
                <a:latin typeface="Cambria"/>
              </a:rPr>
              <a:t>E L F</a:t>
            </a:r>
            <a:r>
              <a:rPr sz="2000" b="0" i="0">
                <a:solidFill>
                  <a:srgbClr val="000000"/>
                </a:solidFill>
                <a:latin typeface="Cambria"/>
              </a:rPr>
              <a:t>  -  readable in a hex dump</a:t>
            </a:r>
          </a:p>
        </p:txBody>
      </p:sp>
      <p:sp>
        <p:nvSpPr>
          <p:cNvPr id="414" name="TextBox 413"/>
          <p:cNvSpPr txBox="1"/>
          <p:nvPr/>
        </p:nvSpPr>
        <p:spPr>
          <a:xfrm>
            <a:off x="667512" y="5029200"/>
            <a:ext cx="8778240" cy="310896"/>
          </a:xfrm>
          <a:prstGeom prst="rect">
            <a:avLst/>
          </a:prstGeom>
          <a:noFill/>
        </p:spPr>
        <p:txBody>
          <a:bodyPr wrap="square" lIns="0" tIns="0" rIns="0" bIns="0">
            <a:spAutoFit/>
          </a:bodyPr>
          <a:lstStyle/>
          <a:p>
            <a:pPr algn="ctr"/>
            <a:r>
              <a:rPr sz="1900" b="0" i="1">
                <a:solidFill>
                  <a:srgbClr val="000000"/>
                </a:solidFill>
                <a:latin typeface="Cambria"/>
              </a:rPr>
              <a:t>This is how  file  knows, and why the kernel will not run a text file</a:t>
            </a:r>
          </a:p>
        </p:txBody>
      </p:sp>
    </p:spTree>
    <p:extLst>
      <p:ext uri="{BB962C8B-B14F-4D97-AF65-F5344CB8AC3E}">
        <p14:creationId xmlns:p14="http://schemas.microsoft.com/office/powerpoint/2010/main" val="20333206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First Sixteen Bytes</a:t>
            </a:r>
            <a:endParaRPr lang="en-US" sz="4400" b="0" u="none" strike="noStrike" dirty="0">
              <a:solidFill>
                <a:srgbClr val="000000"/>
              </a:solidFill>
              <a:effectLst/>
              <a:uFillTx/>
              <a:latin typeface="Arial"/>
            </a:endParaRPr>
          </a:p>
        </p:txBody>
      </p:sp>
      <p:sp>
        <p:nvSpPr>
          <p:cNvPr id="388" name="Rectangle 387"/>
          <p:cNvSpPr/>
          <p:nvPr/>
        </p:nvSpPr>
        <p:spPr>
          <a:xfrm>
            <a:off x="960120" y="2194560"/>
            <a:ext cx="146304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Byte</a:t>
            </a:r>
          </a:p>
        </p:txBody>
      </p:sp>
      <p:sp>
        <p:nvSpPr>
          <p:cNvPr id="389" name="Rectangle 388"/>
          <p:cNvSpPr/>
          <p:nvPr/>
        </p:nvSpPr>
        <p:spPr>
          <a:xfrm>
            <a:off x="2423160" y="2194560"/>
            <a:ext cx="201168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Field</a:t>
            </a:r>
          </a:p>
        </p:txBody>
      </p:sp>
      <p:sp>
        <p:nvSpPr>
          <p:cNvPr id="390" name="Rectangle 389"/>
          <p:cNvSpPr/>
          <p:nvPr/>
        </p:nvSpPr>
        <p:spPr>
          <a:xfrm>
            <a:off x="4434840" y="2194560"/>
            <a:ext cx="466344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Example</a:t>
            </a:r>
          </a:p>
        </p:txBody>
      </p:sp>
      <p:sp>
        <p:nvSpPr>
          <p:cNvPr id="391" name="Rectangle 390"/>
          <p:cNvSpPr/>
          <p:nvPr/>
        </p:nvSpPr>
        <p:spPr>
          <a:xfrm>
            <a:off x="960120" y="2798064"/>
            <a:ext cx="14630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0 - 3</a:t>
            </a:r>
          </a:p>
        </p:txBody>
      </p:sp>
      <p:sp>
        <p:nvSpPr>
          <p:cNvPr id="392" name="Rectangle 391"/>
          <p:cNvSpPr/>
          <p:nvPr/>
        </p:nvSpPr>
        <p:spPr>
          <a:xfrm>
            <a:off x="2423160" y="2798064"/>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magic</a:t>
            </a:r>
          </a:p>
        </p:txBody>
      </p:sp>
      <p:sp>
        <p:nvSpPr>
          <p:cNvPr id="393" name="Rectangle 392"/>
          <p:cNvSpPr/>
          <p:nvPr/>
        </p:nvSpPr>
        <p:spPr>
          <a:xfrm>
            <a:off x="4434840" y="2798064"/>
            <a:ext cx="466344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7f 45 4c 46</a:t>
            </a:r>
          </a:p>
        </p:txBody>
      </p:sp>
      <p:sp>
        <p:nvSpPr>
          <p:cNvPr id="394" name="Rectangle 393"/>
          <p:cNvSpPr/>
          <p:nvPr/>
        </p:nvSpPr>
        <p:spPr>
          <a:xfrm>
            <a:off x="960120" y="3401568"/>
            <a:ext cx="14630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4</a:t>
            </a:r>
          </a:p>
        </p:txBody>
      </p:sp>
      <p:sp>
        <p:nvSpPr>
          <p:cNvPr id="395" name="Rectangle 394"/>
          <p:cNvSpPr/>
          <p:nvPr/>
        </p:nvSpPr>
        <p:spPr>
          <a:xfrm>
            <a:off x="2423160" y="3401568"/>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class</a:t>
            </a:r>
          </a:p>
        </p:txBody>
      </p:sp>
      <p:sp>
        <p:nvSpPr>
          <p:cNvPr id="396" name="Rectangle 395"/>
          <p:cNvSpPr/>
          <p:nvPr/>
        </p:nvSpPr>
        <p:spPr>
          <a:xfrm>
            <a:off x="4434840" y="3401568"/>
            <a:ext cx="466344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 = 32-bit,  2 = 64-bit</a:t>
            </a:r>
          </a:p>
        </p:txBody>
      </p:sp>
      <p:sp>
        <p:nvSpPr>
          <p:cNvPr id="397" name="Rectangle 396"/>
          <p:cNvSpPr/>
          <p:nvPr/>
        </p:nvSpPr>
        <p:spPr>
          <a:xfrm>
            <a:off x="960120" y="4005072"/>
            <a:ext cx="14630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5</a:t>
            </a:r>
          </a:p>
        </p:txBody>
      </p:sp>
      <p:sp>
        <p:nvSpPr>
          <p:cNvPr id="398" name="Rectangle 397"/>
          <p:cNvSpPr/>
          <p:nvPr/>
        </p:nvSpPr>
        <p:spPr>
          <a:xfrm>
            <a:off x="2423160" y="4005072"/>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data</a:t>
            </a:r>
          </a:p>
        </p:txBody>
      </p:sp>
      <p:sp>
        <p:nvSpPr>
          <p:cNvPr id="399" name="Rectangle 398"/>
          <p:cNvSpPr/>
          <p:nvPr/>
        </p:nvSpPr>
        <p:spPr>
          <a:xfrm>
            <a:off x="4434840" y="4005072"/>
            <a:ext cx="466344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 = little-endian,  2 = big</a:t>
            </a:r>
          </a:p>
        </p:txBody>
      </p:sp>
      <p:sp>
        <p:nvSpPr>
          <p:cNvPr id="400" name="Rectangle 399"/>
          <p:cNvSpPr/>
          <p:nvPr/>
        </p:nvSpPr>
        <p:spPr>
          <a:xfrm>
            <a:off x="960120" y="4608576"/>
            <a:ext cx="14630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6</a:t>
            </a:r>
          </a:p>
        </p:txBody>
      </p:sp>
      <p:sp>
        <p:nvSpPr>
          <p:cNvPr id="401" name="Rectangle 400"/>
          <p:cNvSpPr/>
          <p:nvPr/>
        </p:nvSpPr>
        <p:spPr>
          <a:xfrm>
            <a:off x="2423160" y="4608576"/>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version</a:t>
            </a:r>
          </a:p>
        </p:txBody>
      </p:sp>
      <p:sp>
        <p:nvSpPr>
          <p:cNvPr id="402" name="Rectangle 401"/>
          <p:cNvSpPr/>
          <p:nvPr/>
        </p:nvSpPr>
        <p:spPr>
          <a:xfrm>
            <a:off x="4434840" y="4608576"/>
            <a:ext cx="466344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960120" y="5212080"/>
            <a:ext cx="14630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7</a:t>
            </a:r>
          </a:p>
        </p:txBody>
      </p:sp>
      <p:sp>
        <p:nvSpPr>
          <p:cNvPr id="404" name="Rectangle 403"/>
          <p:cNvSpPr/>
          <p:nvPr/>
        </p:nvSpPr>
        <p:spPr>
          <a:xfrm>
            <a:off x="2423160" y="5212080"/>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OS ABI</a:t>
            </a:r>
          </a:p>
        </p:txBody>
      </p:sp>
      <p:sp>
        <p:nvSpPr>
          <p:cNvPr id="405" name="Rectangle 404"/>
          <p:cNvSpPr/>
          <p:nvPr/>
        </p:nvSpPr>
        <p:spPr>
          <a:xfrm>
            <a:off x="4434840" y="5212080"/>
            <a:ext cx="466344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 = System V</a:t>
            </a:r>
          </a:p>
        </p:txBody>
      </p:sp>
      <p:sp>
        <p:nvSpPr>
          <p:cNvPr id="406" name="Rectangle 405"/>
          <p:cNvSpPr/>
          <p:nvPr/>
        </p:nvSpPr>
        <p:spPr>
          <a:xfrm>
            <a:off x="960120" y="5815583"/>
            <a:ext cx="14630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8 - 15</a:t>
            </a:r>
          </a:p>
        </p:txBody>
      </p:sp>
      <p:sp>
        <p:nvSpPr>
          <p:cNvPr id="407" name="Rectangle 406"/>
          <p:cNvSpPr/>
          <p:nvPr/>
        </p:nvSpPr>
        <p:spPr>
          <a:xfrm>
            <a:off x="2423160" y="5815583"/>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padding</a:t>
            </a:r>
          </a:p>
        </p:txBody>
      </p:sp>
      <p:sp>
        <p:nvSpPr>
          <p:cNvPr id="408" name="Rectangle 407"/>
          <p:cNvSpPr/>
          <p:nvPr/>
        </p:nvSpPr>
        <p:spPr>
          <a:xfrm>
            <a:off x="4434840" y="5815583"/>
            <a:ext cx="466344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zero</a:t>
            </a:r>
          </a:p>
        </p:txBody>
      </p:sp>
      <p:sp>
        <p:nvSpPr>
          <p:cNvPr id="409" name="TextBox 408"/>
          <p:cNvSpPr txBox="1"/>
          <p:nvPr/>
        </p:nvSpPr>
        <p:spPr>
          <a:xfrm>
            <a:off x="667512" y="6601968"/>
            <a:ext cx="8778240" cy="310896"/>
          </a:xfrm>
          <a:prstGeom prst="rect">
            <a:avLst/>
          </a:prstGeom>
          <a:noFill/>
        </p:spPr>
        <p:txBody>
          <a:bodyPr wrap="square" lIns="0" tIns="0" rIns="0" bIns="0">
            <a:spAutoFit/>
          </a:bodyPr>
          <a:lstStyle/>
          <a:p>
            <a:pPr algn="ctr"/>
            <a:r>
              <a:rPr sz="1900" b="0" i="1">
                <a:solidFill>
                  <a:srgbClr val="000000"/>
                </a:solidFill>
                <a:latin typeface="Cambria"/>
              </a:rPr>
              <a:t>Before it reads anything else, the loader learns </a:t>
            </a:r>
            <a:r>
              <a:rPr sz="1900" b="1" i="1">
                <a:solidFill>
                  <a:srgbClr val="000000"/>
                </a:solidFill>
                <a:latin typeface="Cambria"/>
              </a:rPr>
              <a:t>how to read the rest</a:t>
            </a:r>
          </a:p>
        </p:txBody>
      </p:sp>
    </p:spTree>
    <p:extLst>
      <p:ext uri="{BB962C8B-B14F-4D97-AF65-F5344CB8AC3E}">
        <p14:creationId xmlns:p14="http://schemas.microsoft.com/office/powerpoint/2010/main" val="1799625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ELF Header</a:t>
            </a:r>
            <a:endParaRPr lang="en-US" sz="4400" b="0" u="none" strike="noStrike" dirty="0">
              <a:solidFill>
                <a:srgbClr val="000000"/>
              </a:solidFill>
              <a:effectLst/>
              <a:uFillTx/>
              <a:latin typeface="Arial"/>
            </a:endParaRPr>
          </a:p>
        </p:txBody>
      </p:sp>
      <p:sp>
        <p:nvSpPr>
          <p:cNvPr id="388" name="Rectangle 387"/>
          <p:cNvSpPr/>
          <p:nvPr/>
        </p:nvSpPr>
        <p:spPr>
          <a:xfrm>
            <a:off x="731520" y="2377440"/>
            <a:ext cx="2286000" cy="676656"/>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Field</a:t>
            </a:r>
          </a:p>
        </p:txBody>
      </p:sp>
      <p:sp>
        <p:nvSpPr>
          <p:cNvPr id="389" name="Rectangle 388"/>
          <p:cNvSpPr/>
          <p:nvPr/>
        </p:nvSpPr>
        <p:spPr>
          <a:xfrm>
            <a:off x="3017520" y="2377440"/>
            <a:ext cx="6126480" cy="676656"/>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What it says</a:t>
            </a:r>
          </a:p>
        </p:txBody>
      </p:sp>
      <p:sp>
        <p:nvSpPr>
          <p:cNvPr id="390" name="Rectangle 389"/>
          <p:cNvSpPr/>
          <p:nvPr/>
        </p:nvSpPr>
        <p:spPr>
          <a:xfrm>
            <a:off x="731520" y="3054096"/>
            <a:ext cx="2286000" cy="676656"/>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e_type</a:t>
            </a:r>
          </a:p>
        </p:txBody>
      </p:sp>
      <p:sp>
        <p:nvSpPr>
          <p:cNvPr id="391" name="Rectangle 390"/>
          <p:cNvSpPr/>
          <p:nvPr/>
        </p:nvSpPr>
        <p:spPr>
          <a:xfrm>
            <a:off x="3017520" y="3054096"/>
            <a:ext cx="6126480" cy="67665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REL ( .o ),  EXEC,  DYN ( shared / PIE ),  CORE</a:t>
            </a:r>
          </a:p>
        </p:txBody>
      </p:sp>
      <p:sp>
        <p:nvSpPr>
          <p:cNvPr id="392" name="Rectangle 391"/>
          <p:cNvSpPr/>
          <p:nvPr/>
        </p:nvSpPr>
        <p:spPr>
          <a:xfrm>
            <a:off x="731520" y="3730752"/>
            <a:ext cx="2286000" cy="676656"/>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e_machine</a:t>
            </a:r>
          </a:p>
        </p:txBody>
      </p:sp>
      <p:sp>
        <p:nvSpPr>
          <p:cNvPr id="393" name="Rectangle 392"/>
          <p:cNvSpPr/>
          <p:nvPr/>
        </p:nvSpPr>
        <p:spPr>
          <a:xfrm>
            <a:off x="3017520" y="3730752"/>
            <a:ext cx="6126480" cy="67665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x86-64,  ARM,  RISC-V,  Xtensa ...</a:t>
            </a:r>
          </a:p>
        </p:txBody>
      </p:sp>
      <p:sp>
        <p:nvSpPr>
          <p:cNvPr id="394" name="Rectangle 393"/>
          <p:cNvSpPr/>
          <p:nvPr/>
        </p:nvSpPr>
        <p:spPr>
          <a:xfrm>
            <a:off x="731520" y="4407408"/>
            <a:ext cx="2286000" cy="676656"/>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e_entry</a:t>
            </a:r>
          </a:p>
        </p:txBody>
      </p:sp>
      <p:sp>
        <p:nvSpPr>
          <p:cNvPr id="395" name="Rectangle 394"/>
          <p:cNvSpPr/>
          <p:nvPr/>
        </p:nvSpPr>
        <p:spPr>
          <a:xfrm>
            <a:off x="3017520" y="4407408"/>
            <a:ext cx="6126480" cy="67665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address of the first instruction</a:t>
            </a:r>
          </a:p>
        </p:txBody>
      </p:sp>
      <p:sp>
        <p:nvSpPr>
          <p:cNvPr id="396" name="Rectangle 395"/>
          <p:cNvSpPr/>
          <p:nvPr/>
        </p:nvSpPr>
        <p:spPr>
          <a:xfrm>
            <a:off x="731520" y="5084064"/>
            <a:ext cx="2286000" cy="676656"/>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e_phoff</a:t>
            </a:r>
          </a:p>
        </p:txBody>
      </p:sp>
      <p:sp>
        <p:nvSpPr>
          <p:cNvPr id="397" name="Rectangle 396"/>
          <p:cNvSpPr/>
          <p:nvPr/>
        </p:nvSpPr>
        <p:spPr>
          <a:xfrm>
            <a:off x="3017520" y="5084064"/>
            <a:ext cx="6126480" cy="67665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where the SEGMENT table starts</a:t>
            </a:r>
          </a:p>
        </p:txBody>
      </p:sp>
      <p:sp>
        <p:nvSpPr>
          <p:cNvPr id="398" name="Rectangle 397"/>
          <p:cNvSpPr/>
          <p:nvPr/>
        </p:nvSpPr>
        <p:spPr>
          <a:xfrm>
            <a:off x="731520" y="5760720"/>
            <a:ext cx="2286000" cy="676656"/>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e_shoff</a:t>
            </a:r>
          </a:p>
        </p:txBody>
      </p:sp>
      <p:sp>
        <p:nvSpPr>
          <p:cNvPr id="399" name="Rectangle 398"/>
          <p:cNvSpPr/>
          <p:nvPr/>
        </p:nvSpPr>
        <p:spPr>
          <a:xfrm>
            <a:off x="3017520" y="5760720"/>
            <a:ext cx="6126480" cy="67665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where the SECTION table starts</a:t>
            </a:r>
          </a:p>
        </p:txBody>
      </p:sp>
      <p:sp>
        <p:nvSpPr>
          <p:cNvPr id="400" name="TextBox 399"/>
          <p:cNvSpPr txBox="1"/>
          <p:nvPr/>
        </p:nvSpPr>
        <p:spPr>
          <a:xfrm>
            <a:off x="667512" y="6620256"/>
            <a:ext cx="8778240" cy="310896"/>
          </a:xfrm>
          <a:prstGeom prst="rect">
            <a:avLst/>
          </a:prstGeom>
          <a:noFill/>
        </p:spPr>
        <p:txBody>
          <a:bodyPr wrap="square" lIns="0" tIns="0" rIns="0" bIns="0">
            <a:spAutoFit/>
          </a:bodyPr>
          <a:lstStyle/>
          <a:p>
            <a:pPr algn="ctr"/>
            <a:r>
              <a:rPr sz="2100" b="0" i="0">
                <a:solidFill>
                  <a:srgbClr val="000000"/>
                </a:solidFill>
                <a:latin typeface="Cambria"/>
              </a:rPr>
              <a:t>The last two fields are the roots of the </a:t>
            </a:r>
            <a:r>
              <a:rPr sz="2100" b="1" i="0">
                <a:solidFill>
                  <a:srgbClr val="000000"/>
                </a:solidFill>
                <a:latin typeface="Cambria"/>
              </a:rPr>
              <a:t>two views</a:t>
            </a:r>
          </a:p>
        </p:txBody>
      </p:sp>
    </p:spTree>
    <p:extLst>
      <p:ext uri="{BB962C8B-B14F-4D97-AF65-F5344CB8AC3E}">
        <p14:creationId xmlns:p14="http://schemas.microsoft.com/office/powerpoint/2010/main" val="1408658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Two Views of One File</a:t>
            </a:r>
            <a:endParaRPr lang="en-US" sz="4400" b="0" u="none" strike="noStrike" dirty="0">
              <a:solidFill>
                <a:srgbClr val="000000"/>
              </a:solidFill>
              <a:effectLst/>
              <a:uFillTx/>
              <a:latin typeface="Arial"/>
            </a:endParaRPr>
          </a:p>
        </p:txBody>
      </p:sp>
      <p:sp>
        <p:nvSpPr>
          <p:cNvPr id="388" name="Rectangle 387"/>
          <p:cNvSpPr/>
          <p:nvPr/>
        </p:nvSpPr>
        <p:spPr>
          <a:xfrm>
            <a:off x="3886200" y="2240280"/>
            <a:ext cx="2286000" cy="38404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89" name="TextBox 388"/>
          <p:cNvSpPr txBox="1"/>
          <p:nvPr/>
        </p:nvSpPr>
        <p:spPr>
          <a:xfrm>
            <a:off x="3886200" y="1819656"/>
            <a:ext cx="2286000" cy="310896"/>
          </a:xfrm>
          <a:prstGeom prst="rect">
            <a:avLst/>
          </a:prstGeom>
          <a:noFill/>
        </p:spPr>
        <p:txBody>
          <a:bodyPr wrap="square" lIns="0" tIns="0" rIns="0" bIns="0">
            <a:spAutoFit/>
          </a:bodyPr>
          <a:lstStyle/>
          <a:p>
            <a:pPr algn="ctr"/>
            <a:r>
              <a:rPr sz="1900" b="1" i="0">
                <a:solidFill>
                  <a:srgbClr val="000000"/>
                </a:solidFill>
                <a:latin typeface="Cambria"/>
              </a:rPr>
              <a:t>one file</a:t>
            </a:r>
          </a:p>
        </p:txBody>
      </p:sp>
      <p:sp>
        <p:nvSpPr>
          <p:cNvPr id="390" name="Rectangle 389"/>
          <p:cNvSpPr/>
          <p:nvPr/>
        </p:nvSpPr>
        <p:spPr>
          <a:xfrm>
            <a:off x="4050791" y="2395728"/>
            <a:ext cx="1956816" cy="54864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ELF header</a:t>
            </a:r>
          </a:p>
        </p:txBody>
      </p:sp>
      <p:sp>
        <p:nvSpPr>
          <p:cNvPr id="391" name="Rectangle 390"/>
          <p:cNvSpPr/>
          <p:nvPr/>
        </p:nvSpPr>
        <p:spPr>
          <a:xfrm>
            <a:off x="4050791" y="3035808"/>
            <a:ext cx="1956816" cy="54864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segment table</a:t>
            </a:r>
          </a:p>
        </p:txBody>
      </p:sp>
      <p:sp>
        <p:nvSpPr>
          <p:cNvPr id="392" name="Rectangle 391"/>
          <p:cNvSpPr/>
          <p:nvPr/>
        </p:nvSpPr>
        <p:spPr>
          <a:xfrm>
            <a:off x="4050791" y="3675887"/>
            <a:ext cx="1956816" cy="1600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the bytes</a:t>
            </a:r>
          </a:p>
        </p:txBody>
      </p:sp>
      <p:sp>
        <p:nvSpPr>
          <p:cNvPr id="393" name="Rectangle 392"/>
          <p:cNvSpPr/>
          <p:nvPr/>
        </p:nvSpPr>
        <p:spPr>
          <a:xfrm>
            <a:off x="4050791" y="5367528"/>
            <a:ext cx="1956816" cy="54864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section table</a:t>
            </a:r>
          </a:p>
        </p:txBody>
      </p:sp>
      <p:sp>
        <p:nvSpPr>
          <p:cNvPr id="394" name="Rounded Rectangle 393"/>
          <p:cNvSpPr/>
          <p:nvPr/>
        </p:nvSpPr>
        <p:spPr>
          <a:xfrm>
            <a:off x="502920" y="3685032"/>
            <a:ext cx="2743200" cy="960120"/>
          </a:xfrm>
          <a:prstGeom prst="round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900" b="1">
                <a:solidFill>
                  <a:srgbClr val="000000"/>
                </a:solidFill>
                <a:latin typeface="Cambria"/>
              </a:rPr>
              <a:t>the linker</a:t>
            </a:r>
          </a:p>
        </p:txBody>
      </p:sp>
      <p:sp>
        <p:nvSpPr>
          <p:cNvPr id="395" name="TextBox 394"/>
          <p:cNvSpPr txBox="1"/>
          <p:nvPr/>
        </p:nvSpPr>
        <p:spPr>
          <a:xfrm>
            <a:off x="502920" y="4727448"/>
            <a:ext cx="2743200" cy="310896"/>
          </a:xfrm>
          <a:prstGeom prst="rect">
            <a:avLst/>
          </a:prstGeom>
          <a:noFill/>
        </p:spPr>
        <p:txBody>
          <a:bodyPr wrap="square" lIns="0" tIns="0" rIns="0" bIns="0">
            <a:spAutoFit/>
          </a:bodyPr>
          <a:lstStyle/>
          <a:p>
            <a:pPr algn="ctr"/>
            <a:r>
              <a:rPr sz="1700" b="0" i="0">
                <a:solidFill>
                  <a:srgbClr val="000000"/>
                </a:solidFill>
                <a:latin typeface="Cambria"/>
              </a:rPr>
              <a:t>reads </a:t>
            </a:r>
            <a:r>
              <a:rPr sz="1700" b="1" i="0">
                <a:solidFill>
                  <a:srgbClr val="000000"/>
                </a:solidFill>
                <a:latin typeface="Cambria"/>
              </a:rPr>
              <a:t>sections</a:t>
            </a:r>
          </a:p>
        </p:txBody>
      </p:sp>
      <p:sp>
        <p:nvSpPr>
          <p:cNvPr id="396" name="TextBox 395"/>
          <p:cNvSpPr txBox="1"/>
          <p:nvPr/>
        </p:nvSpPr>
        <p:spPr>
          <a:xfrm>
            <a:off x="502920" y="5120640"/>
            <a:ext cx="2743200" cy="310896"/>
          </a:xfrm>
          <a:prstGeom prst="rect">
            <a:avLst/>
          </a:prstGeom>
          <a:noFill/>
        </p:spPr>
        <p:txBody>
          <a:bodyPr wrap="square" lIns="0" tIns="0" rIns="0" bIns="0">
            <a:spAutoFit/>
          </a:bodyPr>
          <a:lstStyle/>
          <a:p>
            <a:pPr algn="ctr"/>
            <a:r>
              <a:rPr sz="1600" b="0" i="1">
                <a:solidFill>
                  <a:srgbClr val="000000"/>
                </a:solidFill>
                <a:latin typeface="Cambria"/>
              </a:rPr>
              <a:t>at build time</a:t>
            </a:r>
          </a:p>
        </p:txBody>
      </p:sp>
      <p:cxnSp>
        <p:nvCxnSpPr>
          <p:cNvPr id="397" name="Connector 396"/>
          <p:cNvCxnSpPr/>
          <p:nvPr/>
        </p:nvCxnSpPr>
        <p:spPr>
          <a:xfrm>
            <a:off x="3310128" y="4160520"/>
            <a:ext cx="521208"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8" name="Rounded Rectangle 397"/>
          <p:cNvSpPr/>
          <p:nvPr/>
        </p:nvSpPr>
        <p:spPr>
          <a:xfrm>
            <a:off x="6812280" y="3685032"/>
            <a:ext cx="2743200" cy="960120"/>
          </a:xfrm>
          <a:prstGeom prst="round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900" b="1">
                <a:solidFill>
                  <a:srgbClr val="000000"/>
                </a:solidFill>
                <a:latin typeface="Cambria"/>
              </a:rPr>
              <a:t>the kernel</a:t>
            </a:r>
          </a:p>
        </p:txBody>
      </p:sp>
      <p:sp>
        <p:nvSpPr>
          <p:cNvPr id="399" name="TextBox 398"/>
          <p:cNvSpPr txBox="1"/>
          <p:nvPr/>
        </p:nvSpPr>
        <p:spPr>
          <a:xfrm>
            <a:off x="6812280" y="4727448"/>
            <a:ext cx="2743200" cy="310896"/>
          </a:xfrm>
          <a:prstGeom prst="rect">
            <a:avLst/>
          </a:prstGeom>
          <a:noFill/>
        </p:spPr>
        <p:txBody>
          <a:bodyPr wrap="square" lIns="0" tIns="0" rIns="0" bIns="0">
            <a:spAutoFit/>
          </a:bodyPr>
          <a:lstStyle/>
          <a:p>
            <a:pPr algn="ctr"/>
            <a:r>
              <a:rPr sz="1700" b="0" i="0">
                <a:solidFill>
                  <a:srgbClr val="000000"/>
                </a:solidFill>
                <a:latin typeface="Cambria"/>
              </a:rPr>
              <a:t>reads </a:t>
            </a:r>
            <a:r>
              <a:rPr sz="1700" b="1" i="0">
                <a:solidFill>
                  <a:srgbClr val="000000"/>
                </a:solidFill>
                <a:latin typeface="Cambria"/>
              </a:rPr>
              <a:t>segments</a:t>
            </a:r>
          </a:p>
        </p:txBody>
      </p:sp>
      <p:sp>
        <p:nvSpPr>
          <p:cNvPr id="400" name="TextBox 399"/>
          <p:cNvSpPr txBox="1"/>
          <p:nvPr/>
        </p:nvSpPr>
        <p:spPr>
          <a:xfrm>
            <a:off x="6812280" y="5120640"/>
            <a:ext cx="2743200" cy="310896"/>
          </a:xfrm>
          <a:prstGeom prst="rect">
            <a:avLst/>
          </a:prstGeom>
          <a:noFill/>
        </p:spPr>
        <p:txBody>
          <a:bodyPr wrap="square" lIns="0" tIns="0" rIns="0" bIns="0">
            <a:spAutoFit/>
          </a:bodyPr>
          <a:lstStyle/>
          <a:p>
            <a:pPr algn="ctr"/>
            <a:r>
              <a:rPr sz="1600" b="0" i="1">
                <a:solidFill>
                  <a:srgbClr val="000000"/>
                </a:solidFill>
                <a:latin typeface="Cambria"/>
              </a:rPr>
              <a:t>at load time</a:t>
            </a:r>
          </a:p>
        </p:txBody>
      </p:sp>
      <p:cxnSp>
        <p:nvCxnSpPr>
          <p:cNvPr id="401" name="Connector 400"/>
          <p:cNvCxnSpPr/>
          <p:nvPr/>
        </p:nvCxnSpPr>
        <p:spPr>
          <a:xfrm flipH="1">
            <a:off x="6227064" y="4160520"/>
            <a:ext cx="521208"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a:off x="667512" y="6583680"/>
            <a:ext cx="8778240" cy="310896"/>
          </a:xfrm>
          <a:prstGeom prst="rect">
            <a:avLst/>
          </a:prstGeom>
          <a:noFill/>
        </p:spPr>
        <p:txBody>
          <a:bodyPr wrap="square" lIns="0" tIns="0" rIns="0" bIns="0">
            <a:spAutoFit/>
          </a:bodyPr>
          <a:lstStyle/>
          <a:p>
            <a:pPr algn="ctr"/>
            <a:r>
              <a:rPr sz="2100" b="0" i="0">
                <a:solidFill>
                  <a:srgbClr val="000000"/>
                </a:solidFill>
                <a:latin typeface="Cambria"/>
              </a:rPr>
              <a:t>The same bytes, </a:t>
            </a:r>
            <a:r>
              <a:rPr sz="2100" b="1" i="0">
                <a:solidFill>
                  <a:srgbClr val="000000"/>
                </a:solidFill>
                <a:latin typeface="Cambria"/>
              </a:rPr>
              <a:t>described twice</a:t>
            </a:r>
            <a:r>
              <a:rPr sz="2100" b="0" i="0">
                <a:solidFill>
                  <a:srgbClr val="000000"/>
                </a:solidFill>
                <a:latin typeface="Cambria"/>
              </a:rPr>
              <a:t>, for two different readers</a:t>
            </a:r>
          </a:p>
        </p:txBody>
      </p:sp>
    </p:spTree>
    <p:extLst>
      <p:ext uri="{BB962C8B-B14F-4D97-AF65-F5344CB8AC3E}">
        <p14:creationId xmlns:p14="http://schemas.microsoft.com/office/powerpoint/2010/main" val="19866255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Linking View</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Used by the </a:t>
            </a:r>
            <a:r>
              <a:rPr sz="2400" b="1">
                <a:latin typeface="Cambria"/>
              </a:rPr>
              <a:t>compiler</a:t>
            </a:r>
            <a:r>
              <a:rPr sz="2400" b="0">
                <a:latin typeface="Cambria"/>
              </a:rPr>
              <a:t> and the </a:t>
            </a:r>
            <a:r>
              <a:rPr sz="2400" b="1">
                <a:latin typeface="Cambria"/>
              </a:rPr>
              <a:t>linker</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Divides the file into </a:t>
            </a:r>
            <a:r>
              <a:rPr sz="2400" b="1">
                <a:latin typeface="Cambria"/>
              </a:rPr>
              <a:t>sections</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Each section has a </a:t>
            </a:r>
            <a:r>
              <a:rPr sz="2400" b="1">
                <a:latin typeface="Cambria"/>
              </a:rPr>
              <a:t>name</a:t>
            </a:r>
            <a:r>
              <a:rPr sz="2400" b="0">
                <a:latin typeface="Cambria"/>
              </a:rPr>
              <a:t>, a </a:t>
            </a:r>
            <a:r>
              <a:rPr sz="2400" b="1">
                <a:latin typeface="Cambria"/>
              </a:rPr>
              <a:t>size</a:t>
            </a:r>
            <a:r>
              <a:rPr sz="2400" b="0">
                <a:latin typeface="Cambria"/>
              </a:rPr>
              <a:t>, and a </a:t>
            </a:r>
            <a:r>
              <a:rPr sz="2400" b="1">
                <a:latin typeface="Cambria"/>
              </a:rPr>
              <a:t>kind</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This is the view  </a:t>
            </a:r>
            <a:r>
              <a:rPr sz="2400" b="1">
                <a:latin typeface="Cambria"/>
              </a:rPr>
              <a:t>nm</a:t>
            </a:r>
            <a:r>
              <a:rPr sz="2400" b="0">
                <a:latin typeface="Cambria"/>
              </a:rPr>
              <a:t>  and  </a:t>
            </a:r>
            <a:r>
              <a:rPr sz="2400" b="1">
                <a:latin typeface="Cambria"/>
              </a:rPr>
              <a:t>objdump</a:t>
            </a:r>
            <a:r>
              <a:rPr sz="2400" b="0">
                <a:latin typeface="Cambria"/>
              </a:rPr>
              <a:t>  show you</a:t>
            </a:r>
          </a:p>
        </p:txBody>
      </p:sp>
    </p:spTree>
    <p:extLst>
      <p:ext uri="{BB962C8B-B14F-4D97-AF65-F5344CB8AC3E}">
        <p14:creationId xmlns:p14="http://schemas.microsoft.com/office/powerpoint/2010/main" val="6379281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The Sections You Will Meet</a:t>
            </a:r>
            <a:endParaRPr lang="en-US" sz="4000" b="0" u="none" strike="noStrike" dirty="0">
              <a:solidFill>
                <a:srgbClr val="000000"/>
              </a:solidFill>
              <a:effectLst/>
              <a:uFillTx/>
              <a:latin typeface="Arial"/>
            </a:endParaRPr>
          </a:p>
        </p:txBody>
      </p:sp>
      <p:sp>
        <p:nvSpPr>
          <p:cNvPr id="388" name="Rectangle 387"/>
          <p:cNvSpPr/>
          <p:nvPr/>
        </p:nvSpPr>
        <p:spPr>
          <a:xfrm>
            <a:off x="685800" y="2148840"/>
            <a:ext cx="192024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Section</a:t>
            </a:r>
          </a:p>
        </p:txBody>
      </p:sp>
      <p:sp>
        <p:nvSpPr>
          <p:cNvPr id="389" name="Rectangle 388"/>
          <p:cNvSpPr/>
          <p:nvPr/>
        </p:nvSpPr>
        <p:spPr>
          <a:xfrm>
            <a:off x="2606040" y="2148840"/>
            <a:ext cx="393192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Holds</a:t>
            </a:r>
          </a:p>
        </p:txBody>
      </p:sp>
      <p:sp>
        <p:nvSpPr>
          <p:cNvPr id="390" name="Rectangle 389"/>
          <p:cNvSpPr/>
          <p:nvPr/>
        </p:nvSpPr>
        <p:spPr>
          <a:xfrm>
            <a:off x="6537960" y="2148840"/>
            <a:ext cx="26517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At run time</a:t>
            </a:r>
          </a:p>
        </p:txBody>
      </p:sp>
      <p:sp>
        <p:nvSpPr>
          <p:cNvPr id="391" name="Rectangle 390"/>
          <p:cNvSpPr/>
          <p:nvPr/>
        </p:nvSpPr>
        <p:spPr>
          <a:xfrm>
            <a:off x="685800" y="2752344"/>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.text</a:t>
            </a:r>
          </a:p>
        </p:txBody>
      </p:sp>
      <p:sp>
        <p:nvSpPr>
          <p:cNvPr id="392" name="Rectangle 391"/>
          <p:cNvSpPr/>
          <p:nvPr/>
        </p:nvSpPr>
        <p:spPr>
          <a:xfrm>
            <a:off x="2606040" y="2752344"/>
            <a:ext cx="39319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the machine code</a:t>
            </a:r>
          </a:p>
        </p:txBody>
      </p:sp>
      <p:sp>
        <p:nvSpPr>
          <p:cNvPr id="393" name="Rectangle 392"/>
          <p:cNvSpPr/>
          <p:nvPr/>
        </p:nvSpPr>
        <p:spPr>
          <a:xfrm>
            <a:off x="6537960" y="2752344"/>
            <a:ext cx="26517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read + execute</a:t>
            </a:r>
          </a:p>
        </p:txBody>
      </p:sp>
      <p:sp>
        <p:nvSpPr>
          <p:cNvPr id="394" name="Rectangle 393"/>
          <p:cNvSpPr/>
          <p:nvPr/>
        </p:nvSpPr>
        <p:spPr>
          <a:xfrm>
            <a:off x="685800" y="3355848"/>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.rodata</a:t>
            </a:r>
          </a:p>
        </p:txBody>
      </p:sp>
      <p:sp>
        <p:nvSpPr>
          <p:cNvPr id="395" name="Rectangle 394"/>
          <p:cNvSpPr/>
          <p:nvPr/>
        </p:nvSpPr>
        <p:spPr>
          <a:xfrm>
            <a:off x="2606040" y="3355848"/>
            <a:ext cx="39319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constants, string literals</a:t>
            </a:r>
          </a:p>
        </p:txBody>
      </p:sp>
      <p:sp>
        <p:nvSpPr>
          <p:cNvPr id="396" name="Rectangle 395"/>
          <p:cNvSpPr/>
          <p:nvPr/>
        </p:nvSpPr>
        <p:spPr>
          <a:xfrm>
            <a:off x="6537960" y="3355848"/>
            <a:ext cx="26517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read only</a:t>
            </a:r>
          </a:p>
        </p:txBody>
      </p:sp>
      <p:sp>
        <p:nvSpPr>
          <p:cNvPr id="397" name="Rectangle 396"/>
          <p:cNvSpPr/>
          <p:nvPr/>
        </p:nvSpPr>
        <p:spPr>
          <a:xfrm>
            <a:off x="685800" y="3959352"/>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.data</a:t>
            </a:r>
          </a:p>
        </p:txBody>
      </p:sp>
      <p:sp>
        <p:nvSpPr>
          <p:cNvPr id="398" name="Rectangle 397"/>
          <p:cNvSpPr/>
          <p:nvPr/>
        </p:nvSpPr>
        <p:spPr>
          <a:xfrm>
            <a:off x="2606040" y="3959352"/>
            <a:ext cx="39319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globals with a value</a:t>
            </a:r>
          </a:p>
        </p:txBody>
      </p:sp>
      <p:sp>
        <p:nvSpPr>
          <p:cNvPr id="399" name="Rectangle 398"/>
          <p:cNvSpPr/>
          <p:nvPr/>
        </p:nvSpPr>
        <p:spPr>
          <a:xfrm>
            <a:off x="6537960" y="3959352"/>
            <a:ext cx="26517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read + write</a:t>
            </a:r>
          </a:p>
        </p:txBody>
      </p:sp>
      <p:sp>
        <p:nvSpPr>
          <p:cNvPr id="400" name="Rectangle 399"/>
          <p:cNvSpPr/>
          <p:nvPr/>
        </p:nvSpPr>
        <p:spPr>
          <a:xfrm>
            <a:off x="685800" y="4562856"/>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.bss</a:t>
            </a:r>
          </a:p>
        </p:txBody>
      </p:sp>
      <p:sp>
        <p:nvSpPr>
          <p:cNvPr id="401" name="Rectangle 400"/>
          <p:cNvSpPr/>
          <p:nvPr/>
        </p:nvSpPr>
        <p:spPr>
          <a:xfrm>
            <a:off x="2606040" y="4562856"/>
            <a:ext cx="39319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globals that start at zero</a:t>
            </a:r>
          </a:p>
        </p:txBody>
      </p:sp>
      <p:sp>
        <p:nvSpPr>
          <p:cNvPr id="402" name="Rectangle 401"/>
          <p:cNvSpPr/>
          <p:nvPr/>
        </p:nvSpPr>
        <p:spPr>
          <a:xfrm>
            <a:off x="6537960" y="4562856"/>
            <a:ext cx="26517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read + write</a:t>
            </a:r>
          </a:p>
        </p:txBody>
      </p:sp>
      <p:sp>
        <p:nvSpPr>
          <p:cNvPr id="403" name="Rectangle 402"/>
          <p:cNvSpPr/>
          <p:nvPr/>
        </p:nvSpPr>
        <p:spPr>
          <a:xfrm>
            <a:off x="685800" y="5166360"/>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.symtab</a:t>
            </a:r>
          </a:p>
        </p:txBody>
      </p:sp>
      <p:sp>
        <p:nvSpPr>
          <p:cNvPr id="404" name="Rectangle 403"/>
          <p:cNvSpPr/>
          <p:nvPr/>
        </p:nvSpPr>
        <p:spPr>
          <a:xfrm>
            <a:off x="2606040" y="5166360"/>
            <a:ext cx="39319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the symbol names</a:t>
            </a:r>
          </a:p>
        </p:txBody>
      </p:sp>
      <p:sp>
        <p:nvSpPr>
          <p:cNvPr id="405" name="Rectangle 404"/>
          <p:cNvSpPr/>
          <p:nvPr/>
        </p:nvSpPr>
        <p:spPr>
          <a:xfrm>
            <a:off x="6537960" y="5166360"/>
            <a:ext cx="26517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not loaded</a:t>
            </a:r>
          </a:p>
        </p:txBody>
      </p:sp>
      <p:sp>
        <p:nvSpPr>
          <p:cNvPr id="406" name="Rectangle 405"/>
          <p:cNvSpPr/>
          <p:nvPr/>
        </p:nvSpPr>
        <p:spPr>
          <a:xfrm>
            <a:off x="685800" y="5769864"/>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.debug_*</a:t>
            </a:r>
          </a:p>
        </p:txBody>
      </p:sp>
      <p:sp>
        <p:nvSpPr>
          <p:cNvPr id="407" name="Rectangle 406"/>
          <p:cNvSpPr/>
          <p:nvPr/>
        </p:nvSpPr>
        <p:spPr>
          <a:xfrm>
            <a:off x="2606040" y="5769864"/>
            <a:ext cx="39319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what  -g  added</a:t>
            </a:r>
          </a:p>
        </p:txBody>
      </p:sp>
      <p:sp>
        <p:nvSpPr>
          <p:cNvPr id="408" name="Rectangle 407"/>
          <p:cNvSpPr/>
          <p:nvPr/>
        </p:nvSpPr>
        <p:spPr>
          <a:xfrm>
            <a:off x="6537960" y="5769864"/>
            <a:ext cx="26517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not loaded</a:t>
            </a:r>
          </a:p>
        </p:txBody>
      </p:sp>
      <p:sp>
        <p:nvSpPr>
          <p:cNvPr id="409" name="TextBox 408"/>
          <p:cNvSpPr txBox="1"/>
          <p:nvPr/>
        </p:nvSpPr>
        <p:spPr>
          <a:xfrm>
            <a:off x="667512" y="6565392"/>
            <a:ext cx="8778240" cy="310896"/>
          </a:xfrm>
          <a:prstGeom prst="rect">
            <a:avLst/>
          </a:prstGeom>
          <a:noFill/>
        </p:spPr>
        <p:txBody>
          <a:bodyPr wrap="square" lIns="0" tIns="0" rIns="0" bIns="0">
            <a:spAutoFit/>
          </a:bodyPr>
          <a:lstStyle/>
          <a:p>
            <a:pPr algn="ctr"/>
            <a:r>
              <a:rPr sz="1900" b="0" i="1">
                <a:solidFill>
                  <a:srgbClr val="000000"/>
                </a:solidFill>
                <a:latin typeface="Cambria"/>
              </a:rPr>
              <a:t>The last two are for </a:t>
            </a:r>
            <a:r>
              <a:rPr sz="1900" b="1" i="1">
                <a:solidFill>
                  <a:srgbClr val="000000"/>
                </a:solidFill>
                <a:latin typeface="Cambria"/>
              </a:rPr>
              <a:t>you</a:t>
            </a:r>
            <a:r>
              <a:rPr sz="1900" b="0" i="1">
                <a:solidFill>
                  <a:srgbClr val="000000"/>
                </a:solidFill>
                <a:latin typeface="Cambria"/>
              </a:rPr>
              <a:t>, not for the machine  -  strip removes them</a:t>
            </a:r>
          </a:p>
        </p:txBody>
      </p:sp>
    </p:spTree>
    <p:extLst>
      <p:ext uri="{BB962C8B-B14F-4D97-AF65-F5344CB8AC3E}">
        <p14:creationId xmlns:p14="http://schemas.microsoft.com/office/powerpoint/2010/main" val="34170148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Inside the File</a:t>
            </a:r>
            <a:endParaRPr lang="en-US" sz="4400" b="0" u="none" strike="noStrike" dirty="0">
              <a:solidFill>
                <a:srgbClr val="000000"/>
              </a:solidFill>
              <a:effectLst/>
              <a:uFillTx/>
              <a:latin typeface="Arial"/>
            </a:endParaRPr>
          </a:p>
        </p:txBody>
      </p:sp>
      <p:sp>
        <p:nvSpPr>
          <p:cNvPr id="388" name="Rectangle 387"/>
          <p:cNvSpPr/>
          <p:nvPr/>
        </p:nvSpPr>
        <p:spPr>
          <a:xfrm>
            <a:off x="2971800" y="2084831"/>
            <a:ext cx="196596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ELF header</a:t>
            </a:r>
          </a:p>
        </p:txBody>
      </p:sp>
      <p:sp>
        <p:nvSpPr>
          <p:cNvPr id="389" name="TextBox 388"/>
          <p:cNvSpPr txBox="1"/>
          <p:nvPr/>
        </p:nvSpPr>
        <p:spPr>
          <a:xfrm>
            <a:off x="5120640" y="2185415"/>
            <a:ext cx="4434840" cy="310896"/>
          </a:xfrm>
          <a:prstGeom prst="rect">
            <a:avLst/>
          </a:prstGeom>
          <a:noFill/>
        </p:spPr>
        <p:txBody>
          <a:bodyPr wrap="square" lIns="0" tIns="0" rIns="0" bIns="0">
            <a:spAutoFit/>
          </a:bodyPr>
          <a:lstStyle/>
          <a:p>
            <a:pPr algn="l"/>
            <a:r>
              <a:rPr sz="1500" b="0" i="0">
                <a:solidFill>
                  <a:srgbClr val="000000"/>
                </a:solidFill>
                <a:latin typeface="Cambria"/>
              </a:rPr>
              <a:t>how to read the rest of the file</a:t>
            </a:r>
          </a:p>
        </p:txBody>
      </p:sp>
      <p:sp>
        <p:nvSpPr>
          <p:cNvPr id="390" name="Rectangle 389"/>
          <p:cNvSpPr/>
          <p:nvPr/>
        </p:nvSpPr>
        <p:spPr>
          <a:xfrm>
            <a:off x="2971800" y="2596896"/>
            <a:ext cx="196596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segment table</a:t>
            </a:r>
          </a:p>
        </p:txBody>
      </p:sp>
      <p:sp>
        <p:nvSpPr>
          <p:cNvPr id="391" name="TextBox 390"/>
          <p:cNvSpPr txBox="1"/>
          <p:nvPr/>
        </p:nvSpPr>
        <p:spPr>
          <a:xfrm>
            <a:off x="5120640" y="2697479"/>
            <a:ext cx="4434840" cy="310896"/>
          </a:xfrm>
          <a:prstGeom prst="rect">
            <a:avLst/>
          </a:prstGeom>
          <a:noFill/>
        </p:spPr>
        <p:txBody>
          <a:bodyPr wrap="square" lIns="0" tIns="0" rIns="0" bIns="0">
            <a:spAutoFit/>
          </a:bodyPr>
          <a:lstStyle/>
          <a:p>
            <a:pPr algn="l"/>
            <a:r>
              <a:rPr sz="1500" b="0" i="0">
                <a:solidFill>
                  <a:srgbClr val="000000"/>
                </a:solidFill>
                <a:latin typeface="Cambria"/>
              </a:rPr>
              <a:t>what the kernel maps   -   the execution view</a:t>
            </a:r>
          </a:p>
        </p:txBody>
      </p:sp>
      <p:sp>
        <p:nvSpPr>
          <p:cNvPr id="392" name="Rectangle 391"/>
          <p:cNvSpPr/>
          <p:nvPr/>
        </p:nvSpPr>
        <p:spPr>
          <a:xfrm>
            <a:off x="2971800" y="3108960"/>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.text</a:t>
            </a:r>
          </a:p>
        </p:txBody>
      </p:sp>
      <p:sp>
        <p:nvSpPr>
          <p:cNvPr id="393" name="TextBox 392"/>
          <p:cNvSpPr txBox="1"/>
          <p:nvPr/>
        </p:nvSpPr>
        <p:spPr>
          <a:xfrm>
            <a:off x="5120640" y="3209544"/>
            <a:ext cx="4434840" cy="310896"/>
          </a:xfrm>
          <a:prstGeom prst="rect">
            <a:avLst/>
          </a:prstGeom>
          <a:noFill/>
        </p:spPr>
        <p:txBody>
          <a:bodyPr wrap="square" lIns="0" tIns="0" rIns="0" bIns="0">
            <a:spAutoFit/>
          </a:bodyPr>
          <a:lstStyle/>
          <a:p>
            <a:pPr algn="l"/>
            <a:r>
              <a:rPr sz="1500" b="0" i="0">
                <a:solidFill>
                  <a:srgbClr val="000000"/>
                </a:solidFill>
                <a:latin typeface="Cambria"/>
              </a:rPr>
              <a:t>the machine code</a:t>
            </a:r>
          </a:p>
        </p:txBody>
      </p:sp>
      <p:sp>
        <p:nvSpPr>
          <p:cNvPr id="394" name="Rectangle 393"/>
          <p:cNvSpPr/>
          <p:nvPr/>
        </p:nvSpPr>
        <p:spPr>
          <a:xfrm>
            <a:off x="2971800" y="3621024"/>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.rodata</a:t>
            </a:r>
          </a:p>
        </p:txBody>
      </p:sp>
      <p:sp>
        <p:nvSpPr>
          <p:cNvPr id="395" name="TextBox 394"/>
          <p:cNvSpPr txBox="1"/>
          <p:nvPr/>
        </p:nvSpPr>
        <p:spPr>
          <a:xfrm>
            <a:off x="5120640" y="3721608"/>
            <a:ext cx="4434840" cy="310896"/>
          </a:xfrm>
          <a:prstGeom prst="rect">
            <a:avLst/>
          </a:prstGeom>
          <a:noFill/>
        </p:spPr>
        <p:txBody>
          <a:bodyPr wrap="square" lIns="0" tIns="0" rIns="0" bIns="0">
            <a:spAutoFit/>
          </a:bodyPr>
          <a:lstStyle/>
          <a:p>
            <a:pPr algn="l"/>
            <a:r>
              <a:rPr sz="1500" b="0" i="0">
                <a:solidFill>
                  <a:srgbClr val="000000"/>
                </a:solidFill>
                <a:latin typeface="Cambria"/>
              </a:rPr>
              <a:t>constants and string literals</a:t>
            </a:r>
          </a:p>
        </p:txBody>
      </p:sp>
      <p:sp>
        <p:nvSpPr>
          <p:cNvPr id="396" name="Rectangle 395"/>
          <p:cNvSpPr/>
          <p:nvPr/>
        </p:nvSpPr>
        <p:spPr>
          <a:xfrm>
            <a:off x="2971800" y="4133087"/>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.data</a:t>
            </a:r>
          </a:p>
        </p:txBody>
      </p:sp>
      <p:sp>
        <p:nvSpPr>
          <p:cNvPr id="397" name="TextBox 396"/>
          <p:cNvSpPr txBox="1"/>
          <p:nvPr/>
        </p:nvSpPr>
        <p:spPr>
          <a:xfrm>
            <a:off x="5120640" y="4233672"/>
            <a:ext cx="4434840" cy="310896"/>
          </a:xfrm>
          <a:prstGeom prst="rect">
            <a:avLst/>
          </a:prstGeom>
          <a:noFill/>
        </p:spPr>
        <p:txBody>
          <a:bodyPr wrap="square" lIns="0" tIns="0" rIns="0" bIns="0">
            <a:spAutoFit/>
          </a:bodyPr>
          <a:lstStyle/>
          <a:p>
            <a:pPr algn="l"/>
            <a:r>
              <a:rPr sz="1500" b="0" i="0">
                <a:solidFill>
                  <a:srgbClr val="000000"/>
                </a:solidFill>
                <a:latin typeface="Cambria"/>
              </a:rPr>
              <a:t>globals with a starting value</a:t>
            </a:r>
          </a:p>
        </p:txBody>
      </p:sp>
      <p:sp>
        <p:nvSpPr>
          <p:cNvPr id="398" name="Rectangle 397"/>
          <p:cNvSpPr/>
          <p:nvPr/>
        </p:nvSpPr>
        <p:spPr>
          <a:xfrm>
            <a:off x="2971800" y="4645152"/>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.bss</a:t>
            </a:r>
          </a:p>
        </p:txBody>
      </p:sp>
      <p:sp>
        <p:nvSpPr>
          <p:cNvPr id="399" name="TextBox 398"/>
          <p:cNvSpPr txBox="1"/>
          <p:nvPr/>
        </p:nvSpPr>
        <p:spPr>
          <a:xfrm>
            <a:off x="5120640" y="4745736"/>
            <a:ext cx="4434840" cy="310896"/>
          </a:xfrm>
          <a:prstGeom prst="rect">
            <a:avLst/>
          </a:prstGeom>
          <a:noFill/>
        </p:spPr>
        <p:txBody>
          <a:bodyPr wrap="square" lIns="0" tIns="0" rIns="0" bIns="0">
            <a:spAutoFit/>
          </a:bodyPr>
          <a:lstStyle/>
          <a:p>
            <a:pPr algn="l"/>
            <a:r>
              <a:rPr sz="1500" b="0" i="0">
                <a:solidFill>
                  <a:srgbClr val="000000"/>
                </a:solidFill>
                <a:latin typeface="Cambria"/>
              </a:rPr>
              <a:t>globals that start at zero  -  a size, no bytes</a:t>
            </a:r>
          </a:p>
        </p:txBody>
      </p:sp>
      <p:sp>
        <p:nvSpPr>
          <p:cNvPr id="400" name="Rectangle 399"/>
          <p:cNvSpPr/>
          <p:nvPr/>
        </p:nvSpPr>
        <p:spPr>
          <a:xfrm>
            <a:off x="2971800" y="5157216"/>
            <a:ext cx="196596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.symtab</a:t>
            </a:r>
          </a:p>
        </p:txBody>
      </p:sp>
      <p:sp>
        <p:nvSpPr>
          <p:cNvPr id="401" name="TextBox 400"/>
          <p:cNvSpPr txBox="1"/>
          <p:nvPr/>
        </p:nvSpPr>
        <p:spPr>
          <a:xfrm>
            <a:off x="5120640" y="5257800"/>
            <a:ext cx="4434840" cy="310896"/>
          </a:xfrm>
          <a:prstGeom prst="rect">
            <a:avLst/>
          </a:prstGeom>
          <a:noFill/>
        </p:spPr>
        <p:txBody>
          <a:bodyPr wrap="square" lIns="0" tIns="0" rIns="0" bIns="0">
            <a:spAutoFit/>
          </a:bodyPr>
          <a:lstStyle/>
          <a:p>
            <a:pPr algn="l"/>
            <a:r>
              <a:rPr sz="1500" b="0" i="0">
                <a:solidFill>
                  <a:srgbClr val="000000"/>
                </a:solidFill>
                <a:latin typeface="Cambria"/>
              </a:rPr>
              <a:t>the name of every function and global</a:t>
            </a:r>
          </a:p>
        </p:txBody>
      </p:sp>
      <p:sp>
        <p:nvSpPr>
          <p:cNvPr id="402" name="Rectangle 401"/>
          <p:cNvSpPr/>
          <p:nvPr/>
        </p:nvSpPr>
        <p:spPr>
          <a:xfrm>
            <a:off x="2971800" y="5669280"/>
            <a:ext cx="196596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.debug_*</a:t>
            </a:r>
          </a:p>
        </p:txBody>
      </p:sp>
      <p:sp>
        <p:nvSpPr>
          <p:cNvPr id="403" name="TextBox 402"/>
          <p:cNvSpPr txBox="1"/>
          <p:nvPr/>
        </p:nvSpPr>
        <p:spPr>
          <a:xfrm>
            <a:off x="5120640" y="5769864"/>
            <a:ext cx="4434840" cy="310896"/>
          </a:xfrm>
          <a:prstGeom prst="rect">
            <a:avLst/>
          </a:prstGeom>
          <a:noFill/>
        </p:spPr>
        <p:txBody>
          <a:bodyPr wrap="square" lIns="0" tIns="0" rIns="0" bIns="0">
            <a:spAutoFit/>
          </a:bodyPr>
          <a:lstStyle/>
          <a:p>
            <a:pPr algn="l"/>
            <a:r>
              <a:rPr sz="1500" b="0" i="0">
                <a:solidFill>
                  <a:srgbClr val="000000"/>
                </a:solidFill>
                <a:latin typeface="Cambria"/>
              </a:rPr>
              <a:t>what  -g  added</a:t>
            </a:r>
          </a:p>
        </p:txBody>
      </p:sp>
      <p:sp>
        <p:nvSpPr>
          <p:cNvPr id="404" name="Rectangle 403"/>
          <p:cNvSpPr/>
          <p:nvPr/>
        </p:nvSpPr>
        <p:spPr>
          <a:xfrm>
            <a:off x="2971800" y="6181344"/>
            <a:ext cx="196596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section table</a:t>
            </a:r>
          </a:p>
        </p:txBody>
      </p:sp>
      <p:sp>
        <p:nvSpPr>
          <p:cNvPr id="405" name="TextBox 404"/>
          <p:cNvSpPr txBox="1"/>
          <p:nvPr/>
        </p:nvSpPr>
        <p:spPr>
          <a:xfrm>
            <a:off x="5120640" y="6281928"/>
            <a:ext cx="4434840" cy="310896"/>
          </a:xfrm>
          <a:prstGeom prst="rect">
            <a:avLst/>
          </a:prstGeom>
          <a:noFill/>
        </p:spPr>
        <p:txBody>
          <a:bodyPr wrap="square" lIns="0" tIns="0" rIns="0" bIns="0">
            <a:spAutoFit/>
          </a:bodyPr>
          <a:lstStyle/>
          <a:p>
            <a:pPr algn="l"/>
            <a:r>
              <a:rPr sz="1500" b="0" i="0">
                <a:solidFill>
                  <a:srgbClr val="000000"/>
                </a:solidFill>
                <a:latin typeface="Cambria"/>
              </a:rPr>
              <a:t>where each section is   -   the linking view</a:t>
            </a:r>
          </a:p>
        </p:txBody>
      </p:sp>
      <p:sp>
        <p:nvSpPr>
          <p:cNvPr id="406" name="TextBox 405"/>
          <p:cNvSpPr txBox="1"/>
          <p:nvPr/>
        </p:nvSpPr>
        <p:spPr>
          <a:xfrm>
            <a:off x="2971800" y="1664207"/>
            <a:ext cx="1965960" cy="310896"/>
          </a:xfrm>
          <a:prstGeom prst="rect">
            <a:avLst/>
          </a:prstGeom>
          <a:noFill/>
        </p:spPr>
        <p:txBody>
          <a:bodyPr wrap="square" lIns="0" tIns="0" rIns="0" bIns="0">
            <a:spAutoFit/>
          </a:bodyPr>
          <a:lstStyle/>
          <a:p>
            <a:pPr algn="ctr"/>
            <a:r>
              <a:rPr sz="1800" b="1" i="0">
                <a:solidFill>
                  <a:srgbClr val="000000"/>
                </a:solidFill>
                <a:latin typeface="Cambria"/>
              </a:rPr>
              <a:t>one file</a:t>
            </a:r>
          </a:p>
        </p:txBody>
      </p:sp>
      <p:cxnSp>
        <p:nvCxnSpPr>
          <p:cNvPr id="407" name="Connector 406"/>
          <p:cNvCxnSpPr/>
          <p:nvPr/>
        </p:nvCxnSpPr>
        <p:spPr>
          <a:xfrm>
            <a:off x="2825496" y="3154679"/>
            <a:ext cx="0" cy="1956817"/>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2825496" y="3154679"/>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2825496" y="5111496"/>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sp>
        <p:nvSpPr>
          <p:cNvPr id="410" name="TextBox 409"/>
          <p:cNvSpPr txBox="1"/>
          <p:nvPr/>
        </p:nvSpPr>
        <p:spPr>
          <a:xfrm>
            <a:off x="960120" y="3840480"/>
            <a:ext cx="1737360" cy="310896"/>
          </a:xfrm>
          <a:prstGeom prst="rect">
            <a:avLst/>
          </a:prstGeom>
          <a:noFill/>
        </p:spPr>
        <p:txBody>
          <a:bodyPr wrap="square" lIns="0" tIns="0" rIns="0" bIns="0">
            <a:spAutoFit/>
          </a:bodyPr>
          <a:lstStyle/>
          <a:p>
            <a:pPr algn="r"/>
            <a:r>
              <a:rPr sz="1500" b="1" i="0">
                <a:solidFill>
                  <a:srgbClr val="000000"/>
                </a:solidFill>
                <a:latin typeface="Cambria"/>
              </a:rPr>
              <a:t>loaded into</a:t>
            </a:r>
          </a:p>
        </p:txBody>
      </p:sp>
      <p:sp>
        <p:nvSpPr>
          <p:cNvPr id="411" name="TextBox 410"/>
          <p:cNvSpPr txBox="1"/>
          <p:nvPr/>
        </p:nvSpPr>
        <p:spPr>
          <a:xfrm>
            <a:off x="960120" y="4114800"/>
            <a:ext cx="1737360" cy="310896"/>
          </a:xfrm>
          <a:prstGeom prst="rect">
            <a:avLst/>
          </a:prstGeom>
          <a:noFill/>
        </p:spPr>
        <p:txBody>
          <a:bodyPr wrap="square" lIns="0" tIns="0" rIns="0" bIns="0">
            <a:spAutoFit/>
          </a:bodyPr>
          <a:lstStyle/>
          <a:p>
            <a:pPr algn="r"/>
            <a:r>
              <a:rPr sz="1500" b="1" i="0">
                <a:solidFill>
                  <a:srgbClr val="000000"/>
                </a:solidFill>
                <a:latin typeface="Cambria"/>
              </a:rPr>
              <a:t>memory</a:t>
            </a:r>
          </a:p>
        </p:txBody>
      </p:sp>
      <p:cxnSp>
        <p:nvCxnSpPr>
          <p:cNvPr id="412" name="Connector 411"/>
          <p:cNvCxnSpPr/>
          <p:nvPr/>
        </p:nvCxnSpPr>
        <p:spPr>
          <a:xfrm>
            <a:off x="2825496" y="5202936"/>
            <a:ext cx="0" cy="932688"/>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2825496" y="5202936"/>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2825496" y="6135624"/>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sp>
        <p:nvSpPr>
          <p:cNvPr id="415" name="TextBox 414"/>
          <p:cNvSpPr txBox="1"/>
          <p:nvPr/>
        </p:nvSpPr>
        <p:spPr>
          <a:xfrm>
            <a:off x="960120" y="5376672"/>
            <a:ext cx="1737360" cy="310896"/>
          </a:xfrm>
          <a:prstGeom prst="rect">
            <a:avLst/>
          </a:prstGeom>
          <a:noFill/>
        </p:spPr>
        <p:txBody>
          <a:bodyPr wrap="square" lIns="0" tIns="0" rIns="0" bIns="0">
            <a:spAutoFit/>
          </a:bodyPr>
          <a:lstStyle/>
          <a:p>
            <a:pPr algn="r"/>
            <a:r>
              <a:rPr sz="1500" b="1" i="0">
                <a:solidFill>
                  <a:srgbClr val="000000"/>
                </a:solidFill>
                <a:latin typeface="Cambria"/>
              </a:rPr>
              <a:t>for you,</a:t>
            </a:r>
          </a:p>
        </p:txBody>
      </p:sp>
      <p:sp>
        <p:nvSpPr>
          <p:cNvPr id="416" name="TextBox 415"/>
          <p:cNvSpPr txBox="1"/>
          <p:nvPr/>
        </p:nvSpPr>
        <p:spPr>
          <a:xfrm>
            <a:off x="960120" y="5650992"/>
            <a:ext cx="1737360" cy="310896"/>
          </a:xfrm>
          <a:prstGeom prst="rect">
            <a:avLst/>
          </a:prstGeom>
          <a:noFill/>
        </p:spPr>
        <p:txBody>
          <a:bodyPr wrap="square" lIns="0" tIns="0" rIns="0" bIns="0">
            <a:spAutoFit/>
          </a:bodyPr>
          <a:lstStyle/>
          <a:p>
            <a:pPr algn="r"/>
            <a:r>
              <a:rPr sz="1500" b="1" i="0">
                <a:solidFill>
                  <a:srgbClr val="000000"/>
                </a:solidFill>
                <a:latin typeface="Cambria"/>
              </a:rPr>
              <a:t>not the machine</a:t>
            </a:r>
          </a:p>
        </p:txBody>
      </p:sp>
      <p:sp>
        <p:nvSpPr>
          <p:cNvPr id="417" name="TextBox 416"/>
          <p:cNvSpPr txBox="1"/>
          <p:nvPr/>
        </p:nvSpPr>
        <p:spPr>
          <a:xfrm>
            <a:off x="667512" y="6876288"/>
            <a:ext cx="8778240" cy="310896"/>
          </a:xfrm>
          <a:prstGeom prst="rect">
            <a:avLst/>
          </a:prstGeom>
          <a:noFill/>
        </p:spPr>
        <p:txBody>
          <a:bodyPr wrap="square" lIns="0" tIns="0" rIns="0" bIns="0">
            <a:spAutoFit/>
          </a:bodyPr>
          <a:lstStyle/>
          <a:p>
            <a:pPr algn="ctr"/>
            <a:r>
              <a:rPr sz="1900" b="0" i="0">
                <a:solidFill>
                  <a:srgbClr val="000000"/>
                </a:solidFill>
                <a:latin typeface="Cambria"/>
              </a:rPr>
              <a:t>Two tables describe the same bytes  -  one for the </a:t>
            </a:r>
            <a:r>
              <a:rPr sz="1900" b="1" i="0">
                <a:solidFill>
                  <a:srgbClr val="000000"/>
                </a:solidFill>
                <a:latin typeface="Cambria"/>
              </a:rPr>
              <a:t>linker</a:t>
            </a:r>
            <a:r>
              <a:rPr sz="1900" b="0" i="0">
                <a:solidFill>
                  <a:srgbClr val="000000"/>
                </a:solidFill>
                <a:latin typeface="Cambria"/>
              </a:rPr>
              <a:t>, one for the </a:t>
            </a:r>
            <a:r>
              <a:rPr sz="1900" b="1" i="0">
                <a:solidFill>
                  <a:srgbClr val="000000"/>
                </a:solidFill>
                <a:latin typeface="Cambria"/>
              </a:rPr>
              <a:t>kernel</a:t>
            </a:r>
          </a:p>
        </p:txBody>
      </p:sp>
    </p:spTree>
    <p:extLst>
      <p:ext uri="{BB962C8B-B14F-4D97-AF65-F5344CB8AC3E}">
        <p14:creationId xmlns:p14="http://schemas.microsoft.com/office/powerpoint/2010/main" val="42306427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Execution View</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Lst>
            </a:pPr>
            <a:r>
              <a:rPr sz="2200" b="0">
                <a:latin typeface="Cambria"/>
              </a:rPr>
              <a:t>Used by the </a:t>
            </a:r>
            <a:r>
              <a:rPr sz="2200" b="1">
                <a:latin typeface="Cambria"/>
              </a:rPr>
              <a:t>kernel</a:t>
            </a:r>
            <a:r>
              <a:rPr sz="2200" b="0">
                <a:latin typeface="Cambria"/>
              </a:rPr>
              <a:t> when it loads your program</a:t>
            </a:r>
          </a:p>
          <a:p>
            <a:pPr>
              <a:tabLst>
                <a:tab pos="548640" algn="l"/>
              </a:tabLst>
            </a:pPr>
            <a:r>
              <a:rPr sz="2200">
                <a:latin typeface="Cambria"/>
              </a:rPr>
              <a:t> </a:t>
            </a:r>
          </a:p>
          <a:p>
            <a:pPr>
              <a:tabLst>
                <a:tab pos="548640" algn="l"/>
              </a:tabLst>
            </a:pPr>
            <a:r>
              <a:rPr sz="2200" b="0">
                <a:latin typeface="Cambria"/>
              </a:rPr>
              <a:t>Groups sections into </a:t>
            </a:r>
            <a:r>
              <a:rPr sz="2200" b="1">
                <a:latin typeface="Cambria"/>
              </a:rPr>
              <a:t>segments</a:t>
            </a:r>
          </a:p>
          <a:p>
            <a:pPr>
              <a:tabLst>
                <a:tab pos="548640" algn="l"/>
              </a:tabLst>
            </a:pPr>
            <a:r>
              <a:rPr sz="2200">
                <a:latin typeface="Cambria"/>
              </a:rPr>
              <a:t> </a:t>
            </a:r>
          </a:p>
          <a:p>
            <a:pPr>
              <a:tabLst>
                <a:tab pos="548640" algn="l"/>
              </a:tabLst>
            </a:pPr>
            <a:r>
              <a:rPr sz="2200" b="0">
                <a:latin typeface="Cambria"/>
              </a:rPr>
              <a:t>A segment says:</a:t>
            </a:r>
          </a:p>
          <a:p>
            <a:pPr>
              <a:tabLst>
                <a:tab pos="548640" algn="l"/>
              </a:tabLst>
            </a:pPr>
            <a:r>
              <a:rPr sz="2200" b="0">
                <a:latin typeface="Cambria"/>
              </a:rPr>
              <a:t>	copy </a:t>
            </a:r>
            <a:r>
              <a:rPr sz="2200" b="1">
                <a:latin typeface="Cambria"/>
              </a:rPr>
              <a:t>these bytes</a:t>
            </a:r>
          </a:p>
          <a:p>
            <a:pPr>
              <a:tabLst>
                <a:tab pos="548640" algn="l"/>
              </a:tabLst>
            </a:pPr>
            <a:r>
              <a:rPr sz="2200" b="0">
                <a:latin typeface="Cambria"/>
              </a:rPr>
              <a:t>	to </a:t>
            </a:r>
            <a:r>
              <a:rPr sz="2200" b="1">
                <a:latin typeface="Cambria"/>
              </a:rPr>
              <a:t>this address</a:t>
            </a:r>
          </a:p>
          <a:p>
            <a:pPr>
              <a:tabLst>
                <a:tab pos="548640" algn="l"/>
              </a:tabLst>
            </a:pPr>
            <a:r>
              <a:rPr sz="2200" b="0">
                <a:latin typeface="Cambria"/>
              </a:rPr>
              <a:t>	with </a:t>
            </a:r>
            <a:r>
              <a:rPr sz="2200" b="1">
                <a:latin typeface="Cambria"/>
              </a:rPr>
              <a:t>these permissions</a:t>
            </a:r>
          </a:p>
          <a:p>
            <a:pPr>
              <a:tabLst>
                <a:tab pos="548640" algn="l"/>
              </a:tabLst>
            </a:pPr>
            <a:r>
              <a:rPr sz="2200">
                <a:latin typeface="Cambria"/>
              </a:rPr>
              <a:t> </a:t>
            </a:r>
          </a:p>
          <a:p>
            <a:pPr>
              <a:tabLst>
                <a:tab pos="548640" algn="l"/>
              </a:tabLst>
            </a:pPr>
            <a:r>
              <a:rPr sz="2200" b="0">
                <a:latin typeface="Cambria"/>
              </a:rPr>
              <a:t>Names are gone  -  the loader does not care</a:t>
            </a:r>
          </a:p>
        </p:txBody>
      </p:sp>
    </p:spTree>
    <p:extLst>
      <p:ext uri="{BB962C8B-B14F-4D97-AF65-F5344CB8AC3E}">
        <p14:creationId xmlns:p14="http://schemas.microsoft.com/office/powerpoint/2010/main" val="38881532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Sections Become Segments</a:t>
            </a:r>
            <a:endParaRPr lang="en-US" sz="4000" b="0" u="none" strike="noStrike" dirty="0">
              <a:solidFill>
                <a:srgbClr val="000000"/>
              </a:solidFill>
              <a:effectLst/>
              <a:uFillTx/>
              <a:latin typeface="Arial"/>
            </a:endParaRPr>
          </a:p>
        </p:txBody>
      </p:sp>
      <p:sp>
        <p:nvSpPr>
          <p:cNvPr id="388" name="Rectangle 387"/>
          <p:cNvSpPr/>
          <p:nvPr/>
        </p:nvSpPr>
        <p:spPr>
          <a:xfrm>
            <a:off x="914400" y="2423160"/>
            <a:ext cx="28346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.text</a:t>
            </a:r>
          </a:p>
        </p:txBody>
      </p:sp>
      <p:sp>
        <p:nvSpPr>
          <p:cNvPr id="389" name="Rectangle 388"/>
          <p:cNvSpPr/>
          <p:nvPr/>
        </p:nvSpPr>
        <p:spPr>
          <a:xfrm>
            <a:off x="914400" y="3154680"/>
            <a:ext cx="28346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.rodata</a:t>
            </a:r>
          </a:p>
        </p:txBody>
      </p:sp>
      <p:sp>
        <p:nvSpPr>
          <p:cNvPr id="390" name="Rectangle 389"/>
          <p:cNvSpPr/>
          <p:nvPr/>
        </p:nvSpPr>
        <p:spPr>
          <a:xfrm>
            <a:off x="914400" y="3886200"/>
            <a:ext cx="28346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.data</a:t>
            </a:r>
          </a:p>
        </p:txBody>
      </p:sp>
      <p:sp>
        <p:nvSpPr>
          <p:cNvPr id="391" name="Rectangle 390"/>
          <p:cNvSpPr/>
          <p:nvPr/>
        </p:nvSpPr>
        <p:spPr>
          <a:xfrm>
            <a:off x="914400" y="4617720"/>
            <a:ext cx="28346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.bss</a:t>
            </a:r>
          </a:p>
        </p:txBody>
      </p:sp>
      <p:sp>
        <p:nvSpPr>
          <p:cNvPr id="392" name="TextBox 391"/>
          <p:cNvSpPr txBox="1"/>
          <p:nvPr/>
        </p:nvSpPr>
        <p:spPr>
          <a:xfrm>
            <a:off x="914400" y="1984248"/>
            <a:ext cx="2834640" cy="310896"/>
          </a:xfrm>
          <a:prstGeom prst="rect">
            <a:avLst/>
          </a:prstGeom>
          <a:noFill/>
        </p:spPr>
        <p:txBody>
          <a:bodyPr wrap="square" lIns="0" tIns="0" rIns="0" bIns="0">
            <a:spAutoFit/>
          </a:bodyPr>
          <a:lstStyle/>
          <a:p>
            <a:pPr algn="ctr"/>
            <a:r>
              <a:rPr sz="1900" b="1" i="0">
                <a:solidFill>
                  <a:srgbClr val="000000"/>
                </a:solidFill>
                <a:latin typeface="Cambria"/>
              </a:rPr>
              <a:t>sections</a:t>
            </a:r>
          </a:p>
        </p:txBody>
      </p:sp>
      <p:sp>
        <p:nvSpPr>
          <p:cNvPr id="393" name="Rectangle 392"/>
          <p:cNvSpPr/>
          <p:nvPr/>
        </p:nvSpPr>
        <p:spPr>
          <a:xfrm>
            <a:off x="5806440" y="2423160"/>
            <a:ext cx="3291840" cy="133502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LOAD    r - x</a:t>
            </a:r>
          </a:p>
        </p:txBody>
      </p:sp>
      <p:sp>
        <p:nvSpPr>
          <p:cNvPr id="394" name="Rectangle 393"/>
          <p:cNvSpPr/>
          <p:nvPr/>
        </p:nvSpPr>
        <p:spPr>
          <a:xfrm>
            <a:off x="5806440" y="3886200"/>
            <a:ext cx="3291840" cy="133502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LOAD    r w -</a:t>
            </a:r>
          </a:p>
        </p:txBody>
      </p:sp>
      <p:sp>
        <p:nvSpPr>
          <p:cNvPr id="395" name="TextBox 394"/>
          <p:cNvSpPr txBox="1"/>
          <p:nvPr/>
        </p:nvSpPr>
        <p:spPr>
          <a:xfrm>
            <a:off x="5806440" y="1984248"/>
            <a:ext cx="3291840" cy="310896"/>
          </a:xfrm>
          <a:prstGeom prst="rect">
            <a:avLst/>
          </a:prstGeom>
          <a:noFill/>
        </p:spPr>
        <p:txBody>
          <a:bodyPr wrap="square" lIns="0" tIns="0" rIns="0" bIns="0">
            <a:spAutoFit/>
          </a:bodyPr>
          <a:lstStyle/>
          <a:p>
            <a:pPr algn="ctr"/>
            <a:r>
              <a:rPr sz="1900" b="1" i="0">
                <a:solidFill>
                  <a:srgbClr val="000000"/>
                </a:solidFill>
                <a:latin typeface="Cambria"/>
              </a:rPr>
              <a:t>segments</a:t>
            </a:r>
          </a:p>
        </p:txBody>
      </p:sp>
      <p:cxnSp>
        <p:nvCxnSpPr>
          <p:cNvPr id="396" name="Connector 395"/>
          <p:cNvCxnSpPr/>
          <p:nvPr/>
        </p:nvCxnSpPr>
        <p:spPr>
          <a:xfrm>
            <a:off x="3822191" y="2724912"/>
            <a:ext cx="1911097" cy="36576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flipV="1">
            <a:off x="3822191" y="3090672"/>
            <a:ext cx="1911097" cy="36576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3822191" y="4187952"/>
            <a:ext cx="1911097" cy="36576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flipV="1">
            <a:off x="3822191" y="4553712"/>
            <a:ext cx="1911097" cy="36576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67512" y="5532120"/>
            <a:ext cx="8778240" cy="310896"/>
          </a:xfrm>
          <a:prstGeom prst="rect">
            <a:avLst/>
          </a:prstGeom>
          <a:noFill/>
        </p:spPr>
        <p:txBody>
          <a:bodyPr wrap="square" lIns="0" tIns="0" rIns="0" bIns="0">
            <a:spAutoFit/>
          </a:bodyPr>
          <a:lstStyle/>
          <a:p>
            <a:pPr algn="ctr"/>
            <a:r>
              <a:rPr sz="2000" b="0" i="0">
                <a:solidFill>
                  <a:srgbClr val="000000"/>
                </a:solidFill>
                <a:latin typeface="Cambria"/>
              </a:rPr>
              <a:t>Grouped by </a:t>
            </a:r>
            <a:r>
              <a:rPr sz="2000" b="1" i="0">
                <a:solidFill>
                  <a:srgbClr val="000000"/>
                </a:solidFill>
                <a:latin typeface="Cambria"/>
              </a:rPr>
              <a:t>permission</a:t>
            </a:r>
            <a:r>
              <a:rPr sz="2000" b="0" i="0">
                <a:solidFill>
                  <a:srgbClr val="000000"/>
                </a:solidFill>
                <a:latin typeface="Cambria"/>
              </a:rPr>
              <a:t>, because permissions are set per memory page</a:t>
            </a:r>
          </a:p>
        </p:txBody>
      </p:sp>
      <p:sp>
        <p:nvSpPr>
          <p:cNvPr id="401" name="TextBox 400"/>
          <p:cNvSpPr txBox="1"/>
          <p:nvPr/>
        </p:nvSpPr>
        <p:spPr>
          <a:xfrm>
            <a:off x="667512" y="6035040"/>
            <a:ext cx="8778240" cy="310896"/>
          </a:xfrm>
          <a:prstGeom prst="rect">
            <a:avLst/>
          </a:prstGeom>
          <a:noFill/>
        </p:spPr>
        <p:txBody>
          <a:bodyPr wrap="square" lIns="0" tIns="0" rIns="0" bIns="0">
            <a:spAutoFit/>
          </a:bodyPr>
          <a:lstStyle/>
          <a:p>
            <a:pPr algn="ctr"/>
            <a:r>
              <a:rPr sz="1900" b="0" i="1">
                <a:solidFill>
                  <a:srgbClr val="000000"/>
                </a:solidFill>
                <a:latin typeface="Cambria"/>
              </a:rPr>
              <a:t>Two LOAD entries and the program is in memory</a:t>
            </a:r>
          </a:p>
        </p:txBody>
      </p:sp>
    </p:spTree>
    <p:extLst>
      <p:ext uri="{BB962C8B-B14F-4D97-AF65-F5344CB8AC3E}">
        <p14:creationId xmlns:p14="http://schemas.microsoft.com/office/powerpoint/2010/main" val="11791882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Why  .bss  Costs No Space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280160" algn="l"/>
              </a:tabLst>
            </a:pPr>
            <a:r>
              <a:rPr sz="2200" b="1">
                <a:latin typeface="Cambria"/>
              </a:rPr>
              <a:t>.data</a:t>
            </a:r>
            <a:r>
              <a:rPr sz="2200" b="0">
                <a:latin typeface="Cambria"/>
              </a:rPr>
              <a:t>	initialized globals</a:t>
            </a:r>
          </a:p>
          <a:p>
            <a:pPr>
              <a:tabLst>
                <a:tab pos="1280160" algn="l"/>
              </a:tabLst>
            </a:pPr>
            <a:r>
              <a:rPr sz="2200" b="0">
                <a:latin typeface="Cambria"/>
              </a:rPr>
              <a:t>	the </a:t>
            </a:r>
            <a:r>
              <a:rPr sz="2200" b="1">
                <a:latin typeface="Cambria"/>
              </a:rPr>
              <a:t>values</a:t>
            </a:r>
            <a:r>
              <a:rPr sz="2200" b="0">
                <a:latin typeface="Cambria"/>
              </a:rPr>
              <a:t> are in the file</a:t>
            </a:r>
          </a:p>
          <a:p>
            <a:pPr>
              <a:tabLst>
                <a:tab pos="1280160" algn="l"/>
              </a:tabLst>
            </a:pPr>
            <a:r>
              <a:rPr sz="2200">
                <a:latin typeface="Cambria"/>
              </a:rPr>
              <a:t> </a:t>
            </a:r>
          </a:p>
          <a:p>
            <a:pPr>
              <a:tabLst>
                <a:tab pos="1280160" algn="l"/>
              </a:tabLst>
            </a:pPr>
            <a:r>
              <a:rPr sz="2200" b="1">
                <a:latin typeface="Cambria"/>
              </a:rPr>
              <a:t>.bss</a:t>
            </a:r>
            <a:r>
              <a:rPr sz="2200" b="0">
                <a:latin typeface="Cambria"/>
              </a:rPr>
              <a:t>	globals that start at </a:t>
            </a:r>
            <a:r>
              <a:rPr sz="2200" b="1">
                <a:latin typeface="Cambria"/>
              </a:rPr>
              <a:t>zero</a:t>
            </a:r>
          </a:p>
          <a:p>
            <a:pPr>
              <a:tabLst>
                <a:tab pos="1280160" algn="l"/>
              </a:tabLst>
            </a:pPr>
            <a:r>
              <a:rPr sz="2200" b="0">
                <a:latin typeface="Cambria"/>
              </a:rPr>
              <a:t>	only a </a:t>
            </a:r>
            <a:r>
              <a:rPr sz="2200" b="1">
                <a:latin typeface="Cambria"/>
              </a:rPr>
              <a:t>size</a:t>
            </a:r>
            <a:r>
              <a:rPr sz="2200" b="0">
                <a:latin typeface="Cambria"/>
              </a:rPr>
              <a:t> is in the file</a:t>
            </a:r>
          </a:p>
          <a:p>
            <a:pPr>
              <a:tabLst>
                <a:tab pos="1280160" algn="l"/>
              </a:tabLst>
            </a:pPr>
            <a:r>
              <a:rPr sz="2200">
                <a:latin typeface="Cambria"/>
              </a:rPr>
              <a:t> </a:t>
            </a:r>
          </a:p>
          <a:p>
            <a:pPr>
              <a:tabLst>
                <a:tab pos="1280160" algn="l"/>
              </a:tabLst>
            </a:pPr>
            <a:r>
              <a:rPr sz="2200" b="0">
                <a:latin typeface="Cambria"/>
              </a:rPr>
              <a:t>int bigG [ 1000000 ] ;</a:t>
            </a:r>
          </a:p>
          <a:p>
            <a:pPr>
              <a:tabLst>
                <a:tab pos="1280160" algn="l"/>
              </a:tabLst>
            </a:pPr>
            <a:r>
              <a:rPr sz="2200" b="0">
                <a:latin typeface="Cambria"/>
              </a:rPr>
              <a:t>	4 MB of RAM,  and </a:t>
            </a:r>
            <a:r>
              <a:rPr sz="2200" b="1">
                <a:latin typeface="Cambria"/>
              </a:rPr>
              <a:t>0 bytes</a:t>
            </a:r>
            <a:r>
              <a:rPr sz="2200" b="0">
                <a:latin typeface="Cambria"/>
              </a:rPr>
              <a:t> of file</a:t>
            </a:r>
          </a:p>
          <a:p>
            <a:pPr>
              <a:tabLst>
                <a:tab pos="1280160" algn="l"/>
              </a:tabLst>
            </a:pPr>
            <a:r>
              <a:rPr sz="2200">
                <a:latin typeface="Cambria"/>
              </a:rPr>
              <a:t> </a:t>
            </a:r>
          </a:p>
          <a:p>
            <a:pPr>
              <a:tabLst>
                <a:tab pos="1280160" algn="l"/>
              </a:tabLst>
            </a:pPr>
            <a:r>
              <a:rPr sz="2200" b="0">
                <a:latin typeface="Cambria"/>
              </a:rPr>
              <a:t>The loader zeroes the pages for you</a:t>
            </a:r>
          </a:p>
        </p:txBody>
      </p:sp>
    </p:spTree>
    <p:extLst>
      <p:ext uri="{BB962C8B-B14F-4D97-AF65-F5344CB8AC3E}">
        <p14:creationId xmlns:p14="http://schemas.microsoft.com/office/powerpoint/2010/main" val="37187144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Where Does It Start?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834640" algn="l"/>
              </a:tabLst>
            </a:pPr>
            <a:r>
              <a:rPr sz="2100" b="0">
                <a:latin typeface="Cambria"/>
              </a:rPr>
              <a:t>The header holds  </a:t>
            </a:r>
            <a:r>
              <a:rPr sz="2100" b="1">
                <a:latin typeface="Cambria"/>
              </a:rPr>
              <a:t>e_entry</a:t>
            </a:r>
            <a:r>
              <a:rPr sz="2100" b="0">
                <a:latin typeface="Cambria"/>
              </a:rPr>
              <a:t>:</a:t>
            </a:r>
          </a:p>
          <a:p>
            <a:pPr>
              <a:tabLst>
                <a:tab pos="548640" algn="l"/>
                <a:tab pos="2834640" algn="l"/>
              </a:tabLst>
            </a:pPr>
            <a:r>
              <a:rPr sz="2100" b="0">
                <a:latin typeface="Cambria"/>
              </a:rPr>
              <a:t>the address of the first instruction</a:t>
            </a:r>
          </a:p>
          <a:p>
            <a:pPr>
              <a:tabLst>
                <a:tab pos="548640" algn="l"/>
                <a:tab pos="2834640" algn="l"/>
              </a:tabLst>
            </a:pPr>
            <a:r>
              <a:rPr sz="2100">
                <a:latin typeface="Cambria"/>
              </a:rPr>
              <a:t> </a:t>
            </a:r>
          </a:p>
          <a:p>
            <a:pPr>
              <a:tabLst>
                <a:tab pos="548640" algn="l"/>
                <a:tab pos="2834640" algn="l"/>
              </a:tabLst>
            </a:pPr>
            <a:r>
              <a:rPr sz="2100" b="0">
                <a:latin typeface="Cambria"/>
              </a:rPr>
              <a:t>It is </a:t>
            </a:r>
            <a:r>
              <a:rPr sz="2100" b="1">
                <a:latin typeface="Cambria"/>
              </a:rPr>
              <a:t>not</a:t>
            </a:r>
            <a:r>
              <a:rPr sz="2100" b="0">
                <a:latin typeface="Cambria"/>
              </a:rPr>
              <a:t>  main</a:t>
            </a:r>
          </a:p>
          <a:p>
            <a:pPr>
              <a:tabLst>
                <a:tab pos="548640" algn="l"/>
                <a:tab pos="2834640" algn="l"/>
              </a:tabLst>
            </a:pPr>
            <a:r>
              <a:rPr sz="2100">
                <a:latin typeface="Cambria"/>
              </a:rPr>
              <a:t> </a:t>
            </a:r>
          </a:p>
          <a:p>
            <a:pPr>
              <a:tabLst>
                <a:tab pos="548640" algn="l"/>
                <a:tab pos="2834640" algn="l"/>
              </a:tabLst>
            </a:pPr>
            <a:r>
              <a:rPr sz="2100" b="0">
                <a:latin typeface="Cambria"/>
              </a:rPr>
              <a:t>	_start	in the C runtime</a:t>
            </a:r>
          </a:p>
          <a:p>
            <a:pPr>
              <a:tabLst>
                <a:tab pos="548640" algn="l"/>
                <a:tab pos="2834640" algn="l"/>
              </a:tabLst>
            </a:pPr>
            <a:r>
              <a:rPr sz="2100" b="0">
                <a:latin typeface="Cambria"/>
              </a:rPr>
              <a:t>	↓</a:t>
            </a:r>
          </a:p>
          <a:p>
            <a:pPr>
              <a:tabLst>
                <a:tab pos="548640" algn="l"/>
                <a:tab pos="2834640" algn="l"/>
              </a:tabLst>
            </a:pPr>
            <a:r>
              <a:rPr sz="2100" b="0">
                <a:latin typeface="Cambria"/>
              </a:rPr>
              <a:t>	__libc_start_main	sets up argc, argv, env</a:t>
            </a:r>
          </a:p>
          <a:p>
            <a:pPr>
              <a:tabLst>
                <a:tab pos="548640" algn="l"/>
                <a:tab pos="2834640" algn="l"/>
              </a:tabLst>
            </a:pPr>
            <a:r>
              <a:rPr sz="2100" b="0">
                <a:latin typeface="Cambria"/>
              </a:rPr>
              <a:t>	↓</a:t>
            </a:r>
          </a:p>
          <a:p>
            <a:pPr>
              <a:tabLst>
                <a:tab pos="548640" algn="l"/>
                <a:tab pos="2834640" algn="l"/>
              </a:tabLst>
            </a:pPr>
            <a:r>
              <a:rPr sz="2100" b="0">
                <a:latin typeface="Cambria"/>
              </a:rPr>
              <a:t>	main	your code at last</a:t>
            </a:r>
          </a:p>
        </p:txBody>
      </p:sp>
    </p:spTree>
    <p:extLst>
      <p:ext uri="{BB962C8B-B14F-4D97-AF65-F5344CB8AC3E}">
        <p14:creationId xmlns:p14="http://schemas.microsoft.com/office/powerpoint/2010/main" val="29462980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Symbols in the File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3200400" algn="l"/>
              </a:tabLst>
            </a:pPr>
            <a:r>
              <a:rPr sz="2000" b="0">
                <a:latin typeface="Cambria"/>
              </a:rPr>
              <a:t>$ nm first</a:t>
            </a:r>
          </a:p>
          <a:p>
            <a:pPr>
              <a:tabLst>
                <a:tab pos="548640" algn="l"/>
                <a:tab pos="3200400" algn="l"/>
              </a:tabLst>
            </a:pPr>
            <a:r>
              <a:rPr sz="2000">
                <a:latin typeface="Cambria"/>
              </a:rPr>
              <a:t> </a:t>
            </a:r>
          </a:p>
          <a:p>
            <a:pPr>
              <a:tabLst>
                <a:tab pos="548640" algn="l"/>
                <a:tab pos="3200400" algn="l"/>
              </a:tabLst>
            </a:pPr>
            <a:r>
              <a:rPr sz="2000" b="0">
                <a:latin typeface="Cambria"/>
              </a:rPr>
              <a:t>	0000000000001129	</a:t>
            </a:r>
            <a:r>
              <a:rPr sz="2000" b="1">
                <a:latin typeface="Cambria"/>
              </a:rPr>
              <a:t>T</a:t>
            </a:r>
            <a:r>
              <a:rPr sz="2000" b="0">
                <a:latin typeface="Cambria"/>
              </a:rPr>
              <a:t> main</a:t>
            </a:r>
          </a:p>
          <a:p>
            <a:pPr>
              <a:tabLst>
                <a:tab pos="548640" algn="l"/>
                <a:tab pos="3200400" algn="l"/>
              </a:tabLst>
            </a:pPr>
            <a:r>
              <a:rPr sz="2000" b="0">
                <a:latin typeface="Cambria"/>
              </a:rPr>
              <a:t>	0000000000004010	</a:t>
            </a:r>
            <a:r>
              <a:rPr sz="2000" b="1">
                <a:latin typeface="Cambria"/>
              </a:rPr>
              <a:t>B</a:t>
            </a:r>
            <a:r>
              <a:rPr sz="2000" b="0">
                <a:latin typeface="Cambria"/>
              </a:rPr>
              <a:t> countG</a:t>
            </a:r>
          </a:p>
          <a:p>
            <a:pPr>
              <a:tabLst>
                <a:tab pos="548640" algn="l"/>
                <a:tab pos="3200400" algn="l"/>
              </a:tabLst>
            </a:pPr>
            <a:r>
              <a:rPr sz="2000" b="0">
                <a:latin typeface="Cambria"/>
              </a:rPr>
              <a:t>		</a:t>
            </a:r>
            <a:r>
              <a:rPr sz="2000" b="1">
                <a:latin typeface="Cambria"/>
              </a:rPr>
              <a:t>U</a:t>
            </a:r>
            <a:r>
              <a:rPr sz="2000" b="0">
                <a:latin typeface="Cambria"/>
              </a:rPr>
              <a:t> printf</a:t>
            </a:r>
          </a:p>
          <a:p>
            <a:pPr>
              <a:tabLst>
                <a:tab pos="548640" algn="l"/>
                <a:tab pos="3200400" algn="l"/>
              </a:tabLst>
            </a:pPr>
            <a:r>
              <a:rPr sz="2000">
                <a:latin typeface="Cambria"/>
              </a:rPr>
              <a:t> </a:t>
            </a:r>
          </a:p>
          <a:p>
            <a:pPr>
              <a:tabLst>
                <a:tab pos="548640" algn="l"/>
                <a:tab pos="3200400" algn="l"/>
              </a:tabLst>
            </a:pPr>
            <a:r>
              <a:rPr sz="2000" b="1">
                <a:latin typeface="Cambria"/>
              </a:rPr>
              <a:t>T</a:t>
            </a:r>
            <a:r>
              <a:rPr sz="2000" b="0">
                <a:latin typeface="Cambria"/>
              </a:rPr>
              <a:t> code    </a:t>
            </a:r>
            <a:r>
              <a:rPr sz="2000" b="1">
                <a:latin typeface="Cambria"/>
              </a:rPr>
              <a:t>D</a:t>
            </a:r>
            <a:r>
              <a:rPr sz="2000" b="0">
                <a:latin typeface="Cambria"/>
              </a:rPr>
              <a:t> data    </a:t>
            </a:r>
            <a:r>
              <a:rPr sz="2000" b="1">
                <a:latin typeface="Cambria"/>
              </a:rPr>
              <a:t>B</a:t>
            </a:r>
            <a:r>
              <a:rPr sz="2000" b="0">
                <a:latin typeface="Cambria"/>
              </a:rPr>
              <a:t> bss    </a:t>
            </a:r>
            <a:r>
              <a:rPr sz="2000" b="1">
                <a:latin typeface="Cambria"/>
              </a:rPr>
              <a:t>U</a:t>
            </a:r>
            <a:r>
              <a:rPr sz="2000" b="0">
                <a:latin typeface="Cambria"/>
              </a:rPr>
              <a:t> undefined</a:t>
            </a:r>
          </a:p>
          <a:p>
            <a:pPr>
              <a:tabLst>
                <a:tab pos="548640" algn="l"/>
                <a:tab pos="3200400" algn="l"/>
              </a:tabLst>
            </a:pPr>
            <a:r>
              <a:rPr sz="2000">
                <a:latin typeface="Cambria"/>
              </a:rPr>
              <a:t> </a:t>
            </a:r>
          </a:p>
          <a:p>
            <a:pPr>
              <a:tabLst>
                <a:tab pos="548640" algn="l"/>
                <a:tab pos="3200400" algn="l"/>
              </a:tabLst>
            </a:pPr>
            <a:r>
              <a:rPr sz="2000" b="0">
                <a:latin typeface="Cambria"/>
              </a:rPr>
              <a:t>A </a:t>
            </a:r>
            <a:r>
              <a:rPr sz="2000" b="1">
                <a:latin typeface="Cambria"/>
              </a:rPr>
              <a:t>U</a:t>
            </a:r>
            <a:r>
              <a:rPr sz="2000" b="0">
                <a:latin typeface="Cambria"/>
              </a:rPr>
              <a:t> symbol is one that </a:t>
            </a:r>
            <a:r>
              <a:rPr sz="2000" b="1">
                <a:latin typeface="Cambria"/>
              </a:rPr>
              <a:t>another file</a:t>
            </a:r>
            <a:r>
              <a:rPr sz="2000" b="0">
                <a:latin typeface="Cambria"/>
              </a:rPr>
              <a:t> must supply</a:t>
            </a:r>
          </a:p>
          <a:p>
            <a:pPr>
              <a:tabLst>
                <a:tab pos="548640" algn="l"/>
                <a:tab pos="3200400" algn="l"/>
              </a:tabLst>
            </a:pPr>
            <a:r>
              <a:rPr sz="2000">
                <a:latin typeface="Cambria"/>
              </a:rPr>
              <a:t> </a:t>
            </a:r>
          </a:p>
          <a:p>
            <a:pPr>
              <a:tabLst>
                <a:tab pos="548640" algn="l"/>
                <a:tab pos="3200400" algn="l"/>
              </a:tabLst>
            </a:pPr>
            <a:r>
              <a:rPr sz="2000" b="0">
                <a:latin typeface="Cambria"/>
              </a:rPr>
              <a:t>A </a:t>
            </a:r>
            <a:r>
              <a:rPr sz="2000" b="1">
                <a:latin typeface="Cambria"/>
              </a:rPr>
              <a:t>U</a:t>
            </a:r>
            <a:r>
              <a:rPr sz="2000" b="0">
                <a:latin typeface="Cambria"/>
              </a:rPr>
              <a:t> that nobody defines is a </a:t>
            </a:r>
            <a:r>
              <a:rPr sz="2000" b="1">
                <a:latin typeface="Cambria"/>
              </a:rPr>
              <a:t>link error</a:t>
            </a:r>
          </a:p>
        </p:txBody>
      </p:sp>
    </p:spTree>
    <p:extLst>
      <p:ext uri="{BB962C8B-B14F-4D97-AF65-F5344CB8AC3E}">
        <p14:creationId xmlns:p14="http://schemas.microsoft.com/office/powerpoint/2010/main" val="23932019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Look at It Yourself</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926080" algn="l"/>
              </a:tabLst>
            </a:pPr>
            <a:r>
              <a:rPr sz="1950" b="0">
                <a:latin typeface="Cambria"/>
              </a:rPr>
              <a:t>$ file first	→  ELF 64-bit LSB ...</a:t>
            </a:r>
          </a:p>
          <a:p>
            <a:pPr>
              <a:tabLst>
                <a:tab pos="548640" algn="l"/>
                <a:tab pos="2926080" algn="l"/>
              </a:tabLst>
            </a:pPr>
            <a:r>
              <a:rPr sz="1950" b="0">
                <a:latin typeface="Cambria"/>
              </a:rPr>
              <a:t>$ readelf -h first	→  the header</a:t>
            </a:r>
          </a:p>
          <a:p>
            <a:pPr>
              <a:tabLst>
                <a:tab pos="548640" algn="l"/>
                <a:tab pos="2926080" algn="l"/>
              </a:tabLst>
            </a:pPr>
            <a:r>
              <a:rPr sz="1950" b="0">
                <a:latin typeface="Cambria"/>
              </a:rPr>
              <a:t>$ readelf -S first	→  the </a:t>
            </a:r>
            <a:r>
              <a:rPr sz="1950" b="1">
                <a:latin typeface="Cambria"/>
              </a:rPr>
              <a:t>sections</a:t>
            </a:r>
          </a:p>
          <a:p>
            <a:pPr>
              <a:tabLst>
                <a:tab pos="548640" algn="l"/>
                <a:tab pos="2926080" algn="l"/>
              </a:tabLst>
            </a:pPr>
            <a:r>
              <a:rPr sz="1950" b="0">
                <a:latin typeface="Cambria"/>
              </a:rPr>
              <a:t>$ readelf -l first	→  the </a:t>
            </a:r>
            <a:r>
              <a:rPr sz="1950" b="1">
                <a:latin typeface="Cambria"/>
              </a:rPr>
              <a:t>segments</a:t>
            </a:r>
          </a:p>
          <a:p>
            <a:pPr>
              <a:tabLst>
                <a:tab pos="548640" algn="l"/>
                <a:tab pos="2926080" algn="l"/>
              </a:tabLst>
            </a:pPr>
            <a:r>
              <a:rPr sz="1950" b="0">
                <a:latin typeface="Cambria"/>
              </a:rPr>
              <a:t>$ nm first	→  the symbols</a:t>
            </a:r>
          </a:p>
          <a:p>
            <a:pPr>
              <a:tabLst>
                <a:tab pos="548640" algn="l"/>
                <a:tab pos="2926080" algn="l"/>
              </a:tabLst>
            </a:pPr>
            <a:r>
              <a:rPr sz="1950" b="0">
                <a:latin typeface="Cambria"/>
              </a:rPr>
              <a:t>$ size first	→  text / data / bss totals</a:t>
            </a:r>
          </a:p>
          <a:p>
            <a:pPr>
              <a:tabLst>
                <a:tab pos="548640" algn="l"/>
                <a:tab pos="2926080" algn="l"/>
              </a:tabLst>
            </a:pPr>
            <a:r>
              <a:rPr sz="1950" b="0">
                <a:latin typeface="Cambria"/>
              </a:rPr>
              <a:t>$ objdump -d first	→  disassembly</a:t>
            </a:r>
          </a:p>
          <a:p>
            <a:pPr>
              <a:tabLst>
                <a:tab pos="548640" algn="l"/>
                <a:tab pos="2926080" algn="l"/>
              </a:tabLst>
            </a:pPr>
            <a:r>
              <a:rPr sz="1950">
                <a:latin typeface="Cambria"/>
              </a:rPr>
              <a:t> </a:t>
            </a:r>
          </a:p>
          <a:p>
            <a:pPr>
              <a:tabLst>
                <a:tab pos="548640" algn="l"/>
                <a:tab pos="2926080" algn="l"/>
              </a:tabLst>
            </a:pPr>
            <a:r>
              <a:rPr sz="1950" b="0">
                <a:latin typeface="Cambria"/>
              </a:rPr>
              <a:t>Run these on  </a:t>
            </a:r>
            <a:r>
              <a:rPr sz="1950" b="1">
                <a:latin typeface="Cambria"/>
              </a:rPr>
              <a:t>first.o</a:t>
            </a:r>
            <a:r>
              <a:rPr sz="1950" b="0">
                <a:latin typeface="Cambria"/>
              </a:rPr>
              <a:t>  as well, and compare</a:t>
            </a:r>
          </a:p>
        </p:txBody>
      </p:sp>
    </p:spTree>
    <p:extLst>
      <p:ext uri="{BB962C8B-B14F-4D97-AF65-F5344CB8AC3E}">
        <p14:creationId xmlns:p14="http://schemas.microsoft.com/office/powerpoint/2010/main" val="8530354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We Can Now Say</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A program file is a </a:t>
            </a:r>
            <a:r>
              <a:rPr sz="2300" b="1">
                <a:latin typeface="Cambria"/>
              </a:rPr>
              <a:t>described</a:t>
            </a:r>
            <a:r>
              <a:rPr sz="2300" b="0">
                <a:latin typeface="Cambria"/>
              </a:rPr>
              <a:t> container,</a:t>
            </a:r>
          </a:p>
          <a:p>
            <a:pPr>
              <a:tabLst>
                <a:tab pos="548640" algn="l"/>
                <a:tab pos="1097280" algn="l"/>
                <a:tab pos="1645920" algn="l"/>
                <a:tab pos="2194560" algn="l"/>
              </a:tabLst>
            </a:pPr>
            <a:r>
              <a:rPr sz="2300" b="0">
                <a:latin typeface="Cambria"/>
              </a:rPr>
              <a:t>not a bare image of memory</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1">
                <a:latin typeface="Cambria"/>
              </a:rPr>
              <a:t>Sections</a:t>
            </a:r>
            <a:r>
              <a:rPr sz="2300" b="0">
                <a:latin typeface="Cambria"/>
              </a:rPr>
              <a:t> are for the </a:t>
            </a:r>
            <a:r>
              <a:rPr sz="2300" b="1">
                <a:latin typeface="Cambria"/>
              </a:rPr>
              <a:t>linker</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1">
                <a:latin typeface="Cambria"/>
              </a:rPr>
              <a:t>Segments</a:t>
            </a:r>
            <a:r>
              <a:rPr sz="2300" b="0">
                <a:latin typeface="Cambria"/>
              </a:rPr>
              <a:t> are for the </a:t>
            </a:r>
            <a:r>
              <a:rPr sz="2300" b="1">
                <a:latin typeface="Cambria"/>
              </a:rPr>
              <a:t>loader</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Permissions, addresses and the entry point</a:t>
            </a:r>
          </a:p>
          <a:p>
            <a:pPr>
              <a:tabLst>
                <a:tab pos="548640" algn="l"/>
                <a:tab pos="1097280" algn="l"/>
                <a:tab pos="1645920" algn="l"/>
                <a:tab pos="2194560" algn="l"/>
              </a:tabLst>
            </a:pPr>
            <a:r>
              <a:rPr sz="2300" b="0">
                <a:latin typeface="Cambria"/>
              </a:rPr>
              <a:t>all travel </a:t>
            </a:r>
            <a:r>
              <a:rPr sz="2300" b="1">
                <a:latin typeface="Cambria"/>
              </a:rPr>
              <a:t>with</a:t>
            </a:r>
            <a:r>
              <a:rPr sz="2300" b="0">
                <a:latin typeface="Cambria"/>
              </a:rPr>
              <a:t> the code</a:t>
            </a:r>
          </a:p>
        </p:txBody>
      </p:sp>
    </p:spTree>
    <p:extLst>
      <p:ext uri="{BB962C8B-B14F-4D97-AF65-F5344CB8AC3E}">
        <p14:creationId xmlns:p14="http://schemas.microsoft.com/office/powerpoint/2010/main" val="159142421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56227</TotalTime>
  <Words>3751</Words>
  <Application>Microsoft Office PowerPoint</Application>
  <PresentationFormat>Custom</PresentationFormat>
  <Paragraphs>944</Paragraphs>
  <Slides>87</Slides>
  <Notes>87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87</vt:i4>
      </vt:variant>
    </vt:vector>
  </HeadingPairs>
  <TitlesOfParts>
    <vt:vector size="100" baseType="lpstr">
      <vt:lpstr>ＭＳ Ｐゴシック</vt:lpstr>
      <vt:lpstr>Arial</vt:lpstr>
      <vt:lpstr>Calibri</vt:lpstr>
      <vt:lpstr>Cambria</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474</cp:revision>
  <dcterms:created xsi:type="dcterms:W3CDTF">2013-08-28T11:36:20Z</dcterms:created>
  <dcterms:modified xsi:type="dcterms:W3CDTF">2026-10-26T18:18:28Z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