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84"/>
  </p:notesMasterIdLst>
  <p:sldIdLst>
    <p:sldId id="256" r:id="rId4"/>
    <p:sldId id="307" r:id="rId5"/>
    <p:sldId id="308" r:id="rId6"/>
    <p:sldId id="352" r:id="rId7"/>
    <p:sldId id="353" r:id="rId8"/>
    <p:sldId id="354" r:id="rId9"/>
    <p:sldId id="355" r:id="rId10"/>
    <p:sldId id="356" r:id="rId11"/>
    <p:sldId id="387" r:id="rId12"/>
    <p:sldId id="357" r:id="rId13"/>
    <p:sldId id="358" r:id="rId14"/>
    <p:sldId id="359" r:id="rId15"/>
    <p:sldId id="360" r:id="rId16"/>
    <p:sldId id="361" r:id="rId17"/>
    <p:sldId id="362" r:id="rId18"/>
    <p:sldId id="363" r:id="rId19"/>
    <p:sldId id="364" r:id="rId20"/>
    <p:sldId id="365" r:id="rId21"/>
    <p:sldId id="373" r:id="rId22"/>
    <p:sldId id="374" r:id="rId23"/>
    <p:sldId id="375" r:id="rId24"/>
    <p:sldId id="376" r:id="rId25"/>
    <p:sldId id="366" r:id="rId26"/>
    <p:sldId id="367" r:id="rId27"/>
    <p:sldId id="368" r:id="rId28"/>
    <p:sldId id="369" r:id="rId29"/>
    <p:sldId id="370" r:id="rId30"/>
    <p:sldId id="371" r:id="rId31"/>
    <p:sldId id="372" r:id="rId32"/>
    <p:sldId id="377" r:id="rId33"/>
    <p:sldId id="378" r:id="rId34"/>
    <p:sldId id="379" r:id="rId35"/>
    <p:sldId id="380" r:id="rId36"/>
    <p:sldId id="381" r:id="rId37"/>
    <p:sldId id="382" r:id="rId38"/>
    <p:sldId id="383" r:id="rId39"/>
    <p:sldId id="384" r:id="rId40"/>
    <p:sldId id="385" r:id="rId41"/>
    <p:sldId id="386" r:id="rId42"/>
    <p:sldId id="310" r:id="rId43"/>
    <p:sldId id="309" r:id="rId44"/>
    <p:sldId id="311" r:id="rId45"/>
    <p:sldId id="388" r:id="rId46"/>
    <p:sldId id="389" r:id="rId47"/>
    <p:sldId id="313" r:id="rId48"/>
    <p:sldId id="312" r:id="rId49"/>
    <p:sldId id="314" r:id="rId50"/>
    <p:sldId id="315" r:id="rId51"/>
    <p:sldId id="319" r:id="rId52"/>
    <p:sldId id="320" r:id="rId53"/>
    <p:sldId id="321" r:id="rId54"/>
    <p:sldId id="323" r:id="rId55"/>
    <p:sldId id="339" r:id="rId56"/>
    <p:sldId id="322" r:id="rId57"/>
    <p:sldId id="318" r:id="rId58"/>
    <p:sldId id="324" r:id="rId59"/>
    <p:sldId id="327" r:id="rId60"/>
    <p:sldId id="328" r:id="rId61"/>
    <p:sldId id="329" r:id="rId62"/>
    <p:sldId id="330" r:id="rId63"/>
    <p:sldId id="331" r:id="rId64"/>
    <p:sldId id="332" r:id="rId65"/>
    <p:sldId id="333" r:id="rId66"/>
    <p:sldId id="335" r:id="rId67"/>
    <p:sldId id="334" r:id="rId68"/>
    <p:sldId id="336" r:id="rId69"/>
    <p:sldId id="337" r:id="rId70"/>
    <p:sldId id="340" r:id="rId71"/>
    <p:sldId id="351" r:id="rId72"/>
    <p:sldId id="325" r:id="rId73"/>
    <p:sldId id="326" r:id="rId74"/>
    <p:sldId id="341" r:id="rId75"/>
    <p:sldId id="342" r:id="rId76"/>
    <p:sldId id="345" r:id="rId77"/>
    <p:sldId id="346" r:id="rId78"/>
    <p:sldId id="347" r:id="rId79"/>
    <p:sldId id="348" r:id="rId80"/>
    <p:sldId id="349" r:id="rId81"/>
    <p:sldId id="350" r:id="rId82"/>
    <p:sldId id="293" r:id="rId83"/>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4660"/>
  </p:normalViewPr>
  <p:slideViewPr>
    <p:cSldViewPr snapToGrid="0" showGuides="1">
      <p:cViewPr varScale="1">
        <p:scale>
          <a:sx n="97" d="100"/>
          <a:sy n="97" d="100"/>
        </p:scale>
        <p:origin x="1122" y="78"/>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PlaceHolder 1"/>
          <p:cNvSpPr>
            <a:spLocks noGrp="1"/>
          </p:cNvSpPr>
          <p:nvPr>
            <p:ph type="sldNum" idx="19"/>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E84248F-72EB-4DE5-929E-276F76CCF674}"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
        <p:nvSpPr>
          <p:cNvPr id="439" name="Rectangle 7"/>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F1AD9CE5-08E1-4DC7-8E48-11CF26660D51}" type="slidenum">
              <a:rPr lang="en-US" sz="1200" b="0" u="none" strike="noStrike">
                <a:solidFill>
                  <a:schemeClr val="dk1"/>
                </a:solidFill>
                <a:effectLst/>
                <a:uFillTx/>
                <a:latin typeface="Arial"/>
                <a:ea typeface="+mn-ea"/>
              </a:rPr>
              <a:t>1</a:t>
            </a:fld>
            <a:endParaRPr lang="en-US" sz="1200" b="0" u="none" strike="noStrike">
              <a:solidFill>
                <a:srgbClr val="000000"/>
              </a:solidFill>
              <a:effectLst/>
              <a:uFillTx/>
              <a:latin typeface="Arial"/>
            </a:endParaRPr>
          </a:p>
        </p:txBody>
      </p:sp>
      <p:sp>
        <p:nvSpPr>
          <p:cNvPr id="440" name="PlaceHolder 2"/>
          <p:cNvSpPr>
            <a:spLocks noGrp="1" noRot="1" noChangeAspect="1"/>
          </p:cNvSpPr>
          <p:nvPr>
            <p:ph type="sldImg"/>
          </p:nvPr>
        </p:nvSpPr>
        <p:spPr>
          <a:xfrm>
            <a:off x="1192213" y="690563"/>
            <a:ext cx="4467225" cy="3451225"/>
          </a:xfrm>
          <a:prstGeom prst="rect">
            <a:avLst/>
          </a:prstGeom>
          <a:ln w="0">
            <a:noFill/>
          </a:ln>
        </p:spPr>
      </p:sp>
      <p:sp>
        <p:nvSpPr>
          <p:cNvPr id="441"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512294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557694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41707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092485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Start from the hardware. A transistor is on or off, a voltage is high or low. Everything above that is interpretation. Four bits is small enough to draw completely, which is why we use it for the next several slides.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33875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Here is every four-bit pattern there is. Ask the class what number 1011 is. The honest answer is that the question has no answer yet - nothing here says what any pattern means.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77223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is the key idea of the whole review. Representation is a human convention layered on top of patterns. Different conventions give different answers for the same bits, and the machine cannot tell you which one you meant.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80042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perfectly legal mapping: every pattern gets exactly one value, every value is used once. Nothing is wrong with it. Ask what 0101 + 1 should be - the answer is 0 + 1 = 1, which is the pattern 1010, three ticks away. Counting goes nowhere.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095075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perfectly legal mapping: every pattern gets exactly one value, every value is used once. Nothing is wrong with it. Ask what 0101 + 1 should be - the answer is 0 + 1 = 1, which is the pattern 1010, three ticks away. Counting goes nowhere.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40638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Put the number on the board: 2 to the 64 is about 1.8 times 10 to the 19. No table that size can exist. The mapping has to be a rule the hardware can evaluate, not a list it has to store.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10747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same rule as decimal, with 10 replaced by 2. Each column has a weight, the weight is a power of the base, and the digit says how many of that weight to take. Read the bits right to left: 1, 2, 4, 8.</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17297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rule does not change when the word gets wider - a 64-bit unsigned integer is the same formula with 64 terms. That is exactly what an arbitrary mapping could not give us.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58679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the circle has structure. Neighbouring patterns are neighbouring numbers. This is the mapping the machine uses for addresses, which is what slide 4 was talking about.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27535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Walk a finger around the circle while counting out loud. The wrap at the top is the single most important feature of the picture - it is where overflow lives, and it is why the representation is drawn as a circle instead of a line.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35119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Zero to 2 to the n, minus 1. The minus one trips students up: there are 2 to the n patterns, but one of them is used for zero.</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32124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is the point the lecture returns to a few slides from now. Negative addresses would waste half the patterns and double the bounds checking on every single memory access.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8688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Emphasize the conservation law: the patterns are fixed. Buying negative numbers is always paid for with positive ones. This frames the next several slides as a choice, not a rule handed down.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23203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Still used for floating point, where the sign really is a separate field. For integers it was abandoned because add and subtract need to inspect the signs first and then decide what to do, which costs gates and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0656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fourth scheme, and the only one that is not about flipping bits. Choose K so that the most negative value you need lands on the all-zeros pattern. For n bits the usual choice is K = 2^(n-1), which is 8 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00079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Compare this circle with the twos complement circle. The values are the same set, but they have been rotated: zero has moved from 0000 to 1000. That rotation is the whole trick - the patterns now run in increasing numeric order all the way round.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44641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is why the scheme exists. Two floating point numbers can be compared by treating their bits as integers, because the biased exponent already sorts correctly. We will meet it again on the floating point slides. The cost is that ordinary addition no longer works directly - adding two biased numbers adds the bias twice.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12458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That last line is a real bug source. In C, negating INT_MIN is undefined behaviour; in Rust it panics in a debug build. Show it on the circle: 1000 is directly opposite 0000, so flipping and adding one lands back on itself.</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44594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Flipping every bit is the complement operation, the ~ operator in C. It is one gate per bit and it happens in parallel, so negation costs nothing. That is what made it attractive.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10487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Look at the two ends of the circle. 0000 is plus zero and 1111 is minus zero - the same quantity in two patterns. Also notice the mapping is a mirror: the negative half is the positive half reflected.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30465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Demonstrate the end-around carry if there is time: (-3) + 4 in four-bit ones complement is 1100 + 0100 = 1 0000, and that leading carry has to be added back to give 0001 = 1. Real machines used this, and everyone was glad to stop.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34759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Have them negate 1011 on paper: flip gives 0100, add 1 gives 0101, which is +5. The operation is its own inverse, as negation should be. The one exception is the most negative number, which we come back to.</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585196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picture that matters. One zero. The top bit is 1 for exactly the negative half. And the whole circle is the unsigned circle with the second half relabelled - the patterns never moved.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97985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second line is the whole reason. The same transistors add signed and unsigned numbers, and the ALU never has to ask which kind it is holding. That is why this representation won and the others did not.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80014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rule with one change: the top weight is negative. Minus 8 plus 2 plus 1 is minus 5. This one formula reads any twos complement number, of any width, with no flipping and no special cases.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828626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numbers behind the type names on the slides that follow. Point out that 8-bit signed stops at 127 - the classic limit students hit when a counter suddenly goes negative.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14765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bits do not carry their own interpretation. 1111 is 15 or minus 1 depending only on the type you declared. This is why mixing signed and unsigned in one comparison is such a reliable source of bugs.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45865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Let them stare at it for a moment. Humans cannot read long binary reliably, but we do not want to convert to decimal either, because decimal hides where the bit boundaries are.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314347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why hex, and not octal or decimal, is the programmer notation: 16 is 2 to the 4, so the digit boundary and the bit boundary line up. Each hex digit is one of the sixteen patterns we just drew on the circle.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607438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same 16 patterns a third time - as numbers, as bits, and now as single characters. Students should memorize A = 10 through F = 15; everything else follows.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034011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address from the earlier slide. Split the bits into groups of four from the RIGHT, then write each group as its digit. Grouping from the right matters - pad the left end with zeros if the last group is short.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650704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Byte values in hex always take exactly two digits, which is why memory dumps line up so neatly. Note the last two lines: the same byte, two readings, exactly the point from a few slides back.</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700327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patterns, different notation for us. The digit separators are worth showing - an apostrophe in C++14 and later, an underscore in Rust, and Rust allows it in hex and binary literals too.</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536925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Reach for the debugger first, not a print statement. p/x prints a value in hex and x/16xb dumps sixteen bytes, which is how you see the actual patterns in memory rather than an interpretation of them.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076454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Bridge back into the lecture. Addresses are unsigned integers, which is now a statement with content rather than a definition to accept on faith.</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280523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892165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884068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8723512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5812244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3465599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5090043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690510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4394404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9739351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292260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1933549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708149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4330612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2930508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6166627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5318493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898074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108164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5405276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44292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471488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7624345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45096544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9947300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0008357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8085330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8458581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4300184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1748149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1883987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5637367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5643508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2733005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37749121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1075823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44204937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5675990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6982678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8378127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9100128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80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80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16304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AutoShape 3"/>
          <p:cNvSpPr/>
          <p:nvPr/>
        </p:nvSpPr>
        <p:spPr>
          <a:xfrm>
            <a:off x="481680" y="1829520"/>
            <a:ext cx="8643270" cy="135183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Variables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Let’s Review Memory</a:t>
            </a:r>
            <a:endParaRPr lang="en-US" sz="4400" b="0" u="none" strike="noStrike" dirty="0">
              <a:solidFill>
                <a:srgbClr val="000000"/>
              </a:solidFill>
              <a:effectLst/>
              <a:uFillTx/>
              <a:latin typeface="Arial"/>
            </a:endParaRPr>
          </a:p>
        </p:txBody>
      </p:sp>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4400" dirty="0" smtClean="0"/>
              <a:t>ALU</a:t>
            </a:r>
            <a:endParaRPr lang="en-US" sz="4400" dirty="0"/>
          </a:p>
        </p:txBody>
      </p:sp>
      <p:sp>
        <p:nvSpPr>
          <p:cNvPr id="2" name="TextBox 1"/>
          <p:cNvSpPr txBox="1"/>
          <p:nvPr/>
        </p:nvSpPr>
        <p:spPr>
          <a:xfrm>
            <a:off x="7162800" y="4060180"/>
            <a:ext cx="990600" cy="646331"/>
          </a:xfrm>
          <a:prstGeom prst="rect">
            <a:avLst/>
          </a:prstGeom>
          <a:noFill/>
        </p:spPr>
        <p:txBody>
          <a:bodyPr wrap="square" rtlCol="0">
            <a:spAutoFit/>
          </a:bodyPr>
          <a:lstStyle/>
          <a:p>
            <a:r>
              <a:rPr lang="en-US" sz="3600" dirty="0" smtClean="0"/>
              <a:t>sum</a:t>
            </a:r>
            <a:endParaRPr lang="en-US" sz="3600" dirty="0"/>
          </a:p>
        </p:txBody>
      </p:sp>
      <p:sp>
        <p:nvSpPr>
          <p:cNvPr id="3" name="TextBox 2"/>
          <p:cNvSpPr txBox="1"/>
          <p:nvPr/>
        </p:nvSpPr>
        <p:spPr>
          <a:xfrm>
            <a:off x="1352550" y="1961347"/>
            <a:ext cx="7810500" cy="584775"/>
          </a:xfrm>
          <a:prstGeom prst="rect">
            <a:avLst/>
          </a:prstGeom>
          <a:noFill/>
        </p:spPr>
        <p:txBody>
          <a:bodyPr wrap="square" rtlCol="0">
            <a:spAutoFit/>
          </a:bodyPr>
          <a:lstStyle/>
          <a:p>
            <a:r>
              <a:rPr lang="en-US" sz="3200" dirty="0" smtClean="0"/>
              <a:t>We need to remember a calculation or state</a:t>
            </a:r>
            <a:endParaRPr lang="en-US" sz="3200" dirty="0"/>
          </a:p>
        </p:txBody>
      </p:sp>
    </p:spTree>
    <p:extLst>
      <p:ext uri="{BB962C8B-B14F-4D97-AF65-F5344CB8AC3E}">
        <p14:creationId xmlns:p14="http://schemas.microsoft.com/office/powerpoint/2010/main" val="2865046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Memory</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735357" y="1788467"/>
            <a:ext cx="8321189" cy="2246769"/>
          </a:xfrm>
          <a:prstGeom prst="rect">
            <a:avLst/>
          </a:prstGeom>
          <a:noFill/>
        </p:spPr>
        <p:txBody>
          <a:bodyPr wrap="none" rtlCol="0">
            <a:spAutoFit/>
          </a:bodyPr>
          <a:lstStyle/>
          <a:p>
            <a:r>
              <a:rPr lang="en-US" sz="2800" dirty="0" smtClean="0"/>
              <a:t>Physically have to put the results of the add somewhere</a:t>
            </a:r>
          </a:p>
          <a:p>
            <a:endParaRPr lang="en-US" sz="2800" dirty="0"/>
          </a:p>
          <a:p>
            <a:r>
              <a:rPr lang="en-US" sz="2800" dirty="0" smtClean="0"/>
              <a:t>That place is called the address of sum</a:t>
            </a:r>
          </a:p>
          <a:p>
            <a:endParaRPr lang="en-US" sz="2800" dirty="0"/>
          </a:p>
          <a:p>
            <a:r>
              <a:rPr lang="en-US" sz="2800" dirty="0" smtClean="0"/>
              <a:t>It is the location of a memory device</a:t>
            </a:r>
            <a:endParaRPr lang="en-US" sz="2800" dirty="0"/>
          </a:p>
        </p:txBody>
      </p:sp>
    </p:spTree>
    <p:extLst>
      <p:ext uri="{BB962C8B-B14F-4D97-AF65-F5344CB8AC3E}">
        <p14:creationId xmlns:p14="http://schemas.microsoft.com/office/powerpoint/2010/main" val="1362044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Location of Storage</a:t>
            </a:r>
            <a:endParaRPr lang="en-US" sz="4400" b="0" u="none" strike="noStrike" dirty="0">
              <a:solidFill>
                <a:srgbClr val="000000"/>
              </a:solidFill>
              <a:effectLst/>
              <a:uFillTx/>
              <a:latin typeface="Arial"/>
            </a:endParaRPr>
          </a:p>
        </p:txBody>
      </p:sp>
      <p:sp>
        <p:nvSpPr>
          <p:cNvPr id="3" name="TextBox 2"/>
          <p:cNvSpPr txBox="1"/>
          <p:nvPr/>
        </p:nvSpPr>
        <p:spPr>
          <a:xfrm>
            <a:off x="735357" y="1788467"/>
            <a:ext cx="8846825" cy="3539430"/>
          </a:xfrm>
          <a:prstGeom prst="rect">
            <a:avLst/>
          </a:prstGeom>
          <a:noFill/>
        </p:spPr>
        <p:txBody>
          <a:bodyPr wrap="square" rtlCol="0">
            <a:spAutoFit/>
          </a:bodyPr>
          <a:lstStyle/>
          <a:p>
            <a:r>
              <a:rPr lang="en-US" sz="2800" dirty="0" smtClean="0"/>
              <a:t>Address is the location of memory or symbol (variable)</a:t>
            </a:r>
          </a:p>
          <a:p>
            <a:endParaRPr lang="en-US" sz="2800" dirty="0"/>
          </a:p>
          <a:p>
            <a:r>
              <a:rPr lang="en-US" sz="2800" dirty="0" smtClean="0"/>
              <a:t>The computer knows them as unsigned integers</a:t>
            </a:r>
          </a:p>
          <a:p>
            <a:endParaRPr lang="en-US" sz="2800" dirty="0"/>
          </a:p>
          <a:p>
            <a:r>
              <a:rPr lang="en-US" sz="2800" dirty="0" smtClean="0"/>
              <a:t>What are integers and unsigned integers?</a:t>
            </a:r>
          </a:p>
          <a:p>
            <a:endParaRPr lang="en-US" sz="2800" dirty="0"/>
          </a:p>
          <a:p>
            <a:r>
              <a:rPr lang="en-US" sz="2800" smtClean="0"/>
              <a:t>Let’s review</a:t>
            </a:r>
            <a:endParaRPr lang="en-US" sz="2800" dirty="0" smtClean="0"/>
          </a:p>
          <a:p>
            <a:endParaRPr lang="en-US" sz="2800" dirty="0"/>
          </a:p>
        </p:txBody>
      </p:sp>
    </p:spTree>
    <p:extLst>
      <p:ext uri="{BB962C8B-B14F-4D97-AF65-F5344CB8AC3E}">
        <p14:creationId xmlns:p14="http://schemas.microsoft.com/office/powerpoint/2010/main" val="1289724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Everything Is Bits</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3693319"/>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A memory device holds one of </a:t>
            </a:r>
            <a:r>
              <a:rPr sz="2600" b="1" dirty="0">
                <a:latin typeface="Cambria"/>
              </a:rPr>
              <a:t>two</a:t>
            </a:r>
            <a:r>
              <a:rPr sz="2600" b="0" dirty="0">
                <a:latin typeface="Cambria"/>
              </a:rPr>
              <a:t> states</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We call them  </a:t>
            </a:r>
            <a:r>
              <a:rPr sz="2600" b="1" dirty="0">
                <a:latin typeface="Cambria"/>
              </a:rPr>
              <a:t>0</a:t>
            </a:r>
            <a:r>
              <a:rPr sz="2600" b="0" dirty="0">
                <a:latin typeface="Cambria"/>
              </a:rPr>
              <a:t>  and  </a:t>
            </a:r>
            <a:r>
              <a:rPr sz="2600" b="1" dirty="0">
                <a:latin typeface="Cambria"/>
              </a:rPr>
              <a:t>1</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One such device is a  </a:t>
            </a:r>
            <a:r>
              <a:rPr sz="2600" b="1" dirty="0" smtClean="0">
                <a:latin typeface="Cambria"/>
              </a:rPr>
              <a:t>bit</a:t>
            </a:r>
            <a:r>
              <a:rPr lang="en-US" sz="2600" b="1" dirty="0" smtClean="0">
                <a:latin typeface="Cambria"/>
              </a:rPr>
              <a:t>, </a:t>
            </a:r>
            <a:r>
              <a:rPr lang="en-US" sz="2600" dirty="0" smtClean="0">
                <a:latin typeface="Cambria"/>
              </a:rPr>
              <a:t>a</a:t>
            </a:r>
            <a:r>
              <a:rPr lang="en-US" sz="2600" b="1" dirty="0" smtClean="0">
                <a:latin typeface="Cambria"/>
              </a:rPr>
              <a:t> bi</a:t>
            </a:r>
            <a:r>
              <a:rPr lang="en-US" sz="2600" dirty="0" smtClean="0">
                <a:latin typeface="Cambria"/>
              </a:rPr>
              <a:t>nary</a:t>
            </a:r>
            <a:r>
              <a:rPr lang="en-US" sz="2600" b="1" dirty="0" smtClean="0">
                <a:latin typeface="Cambria"/>
              </a:rPr>
              <a:t> </a:t>
            </a:r>
            <a:r>
              <a:rPr lang="en-US" sz="2600" dirty="0" smtClean="0">
                <a:latin typeface="Cambria"/>
              </a:rPr>
              <a:t>digi</a:t>
            </a:r>
            <a:r>
              <a:rPr lang="en-US" sz="2600" b="1" dirty="0" smtClean="0">
                <a:latin typeface="Cambria"/>
              </a:rPr>
              <a:t>t</a:t>
            </a:r>
            <a:endParaRPr sz="2600" b="1" dirty="0">
              <a:latin typeface="Cambria"/>
            </a:endParaRP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n  bits give  </a:t>
            </a:r>
            <a:r>
              <a:rPr sz="2600" b="1" dirty="0">
                <a:latin typeface="Cambria"/>
              </a:rPr>
              <a:t>2^n</a:t>
            </a:r>
            <a:r>
              <a:rPr sz="2600" b="0" dirty="0">
                <a:latin typeface="Cambria"/>
              </a:rPr>
              <a:t>  different patterns</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4 bits  give  16 patterns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Sixteen Patterns</a:t>
            </a:r>
            <a:endParaRPr lang="en-US" sz="4400" b="0" u="none" strike="noStrike" dirty="0">
              <a:solidFill>
                <a:srgbClr val="000000"/>
              </a:solidFill>
              <a:effectLst/>
              <a:uFillTx/>
              <a:latin typeface="Arial"/>
            </a:endParaRPr>
          </a:p>
        </p:txBody>
      </p:sp>
      <p:sp>
        <p:nvSpPr>
          <p:cNvPr id="388" name="Rectangle 387"/>
          <p:cNvSpPr/>
          <p:nvPr/>
        </p:nvSpPr>
        <p:spPr>
          <a:xfrm>
            <a:off x="2148840" y="2331720"/>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0000</a:t>
            </a:r>
          </a:p>
        </p:txBody>
      </p:sp>
      <p:sp>
        <p:nvSpPr>
          <p:cNvPr id="389" name="Rectangle 388"/>
          <p:cNvSpPr/>
          <p:nvPr/>
        </p:nvSpPr>
        <p:spPr>
          <a:xfrm>
            <a:off x="3566160" y="2331720"/>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0001</a:t>
            </a:r>
          </a:p>
        </p:txBody>
      </p:sp>
      <p:sp>
        <p:nvSpPr>
          <p:cNvPr id="390" name="Rectangle 389"/>
          <p:cNvSpPr/>
          <p:nvPr/>
        </p:nvSpPr>
        <p:spPr>
          <a:xfrm>
            <a:off x="4983480" y="2331720"/>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0010</a:t>
            </a:r>
          </a:p>
        </p:txBody>
      </p:sp>
      <p:sp>
        <p:nvSpPr>
          <p:cNvPr id="391" name="Rectangle 390"/>
          <p:cNvSpPr/>
          <p:nvPr/>
        </p:nvSpPr>
        <p:spPr>
          <a:xfrm>
            <a:off x="6400800" y="2331720"/>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0011</a:t>
            </a:r>
          </a:p>
        </p:txBody>
      </p:sp>
      <p:sp>
        <p:nvSpPr>
          <p:cNvPr id="392" name="Rectangle 391"/>
          <p:cNvSpPr/>
          <p:nvPr/>
        </p:nvSpPr>
        <p:spPr>
          <a:xfrm>
            <a:off x="2148840" y="2990087"/>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0100</a:t>
            </a:r>
          </a:p>
        </p:txBody>
      </p:sp>
      <p:sp>
        <p:nvSpPr>
          <p:cNvPr id="393" name="Rectangle 392"/>
          <p:cNvSpPr/>
          <p:nvPr/>
        </p:nvSpPr>
        <p:spPr>
          <a:xfrm>
            <a:off x="3566160" y="2990087"/>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0101</a:t>
            </a:r>
          </a:p>
        </p:txBody>
      </p:sp>
      <p:sp>
        <p:nvSpPr>
          <p:cNvPr id="394" name="Rectangle 393"/>
          <p:cNvSpPr/>
          <p:nvPr/>
        </p:nvSpPr>
        <p:spPr>
          <a:xfrm>
            <a:off x="4983480" y="2990087"/>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0110</a:t>
            </a:r>
          </a:p>
        </p:txBody>
      </p:sp>
      <p:sp>
        <p:nvSpPr>
          <p:cNvPr id="395" name="Rectangle 394"/>
          <p:cNvSpPr/>
          <p:nvPr/>
        </p:nvSpPr>
        <p:spPr>
          <a:xfrm>
            <a:off x="6400800" y="2990087"/>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0111</a:t>
            </a:r>
          </a:p>
        </p:txBody>
      </p:sp>
      <p:sp>
        <p:nvSpPr>
          <p:cNvPr id="396" name="Rectangle 395"/>
          <p:cNvSpPr/>
          <p:nvPr/>
        </p:nvSpPr>
        <p:spPr>
          <a:xfrm>
            <a:off x="2148840" y="3648456"/>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1000</a:t>
            </a:r>
          </a:p>
        </p:txBody>
      </p:sp>
      <p:sp>
        <p:nvSpPr>
          <p:cNvPr id="397" name="Rectangle 396"/>
          <p:cNvSpPr/>
          <p:nvPr/>
        </p:nvSpPr>
        <p:spPr>
          <a:xfrm>
            <a:off x="3566160" y="3648456"/>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1001</a:t>
            </a:r>
          </a:p>
        </p:txBody>
      </p:sp>
      <p:sp>
        <p:nvSpPr>
          <p:cNvPr id="398" name="Rectangle 397"/>
          <p:cNvSpPr/>
          <p:nvPr/>
        </p:nvSpPr>
        <p:spPr>
          <a:xfrm>
            <a:off x="4983480" y="3648456"/>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1010</a:t>
            </a:r>
          </a:p>
        </p:txBody>
      </p:sp>
      <p:sp>
        <p:nvSpPr>
          <p:cNvPr id="399" name="Rectangle 398"/>
          <p:cNvSpPr/>
          <p:nvPr/>
        </p:nvSpPr>
        <p:spPr>
          <a:xfrm>
            <a:off x="6400800" y="3648456"/>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1011</a:t>
            </a:r>
          </a:p>
        </p:txBody>
      </p:sp>
      <p:sp>
        <p:nvSpPr>
          <p:cNvPr id="400" name="Rectangle 399"/>
          <p:cNvSpPr/>
          <p:nvPr/>
        </p:nvSpPr>
        <p:spPr>
          <a:xfrm>
            <a:off x="2148840" y="4306824"/>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1100</a:t>
            </a:r>
          </a:p>
        </p:txBody>
      </p:sp>
      <p:sp>
        <p:nvSpPr>
          <p:cNvPr id="401" name="Rectangle 400"/>
          <p:cNvSpPr/>
          <p:nvPr/>
        </p:nvSpPr>
        <p:spPr>
          <a:xfrm>
            <a:off x="3566160" y="4306824"/>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1101</a:t>
            </a:r>
          </a:p>
        </p:txBody>
      </p:sp>
      <p:sp>
        <p:nvSpPr>
          <p:cNvPr id="402" name="Rectangle 401"/>
          <p:cNvSpPr/>
          <p:nvPr/>
        </p:nvSpPr>
        <p:spPr>
          <a:xfrm>
            <a:off x="4983480" y="4306824"/>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1110</a:t>
            </a:r>
          </a:p>
        </p:txBody>
      </p:sp>
      <p:sp>
        <p:nvSpPr>
          <p:cNvPr id="403" name="Rectangle 402"/>
          <p:cNvSpPr/>
          <p:nvPr/>
        </p:nvSpPr>
        <p:spPr>
          <a:xfrm>
            <a:off x="6400800" y="4306824"/>
            <a:ext cx="141732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1111</a:t>
            </a:r>
          </a:p>
        </p:txBody>
      </p:sp>
      <p:sp>
        <p:nvSpPr>
          <p:cNvPr id="404" name="TextBox 403"/>
          <p:cNvSpPr txBox="1"/>
          <p:nvPr/>
        </p:nvSpPr>
        <p:spPr>
          <a:xfrm>
            <a:off x="822960" y="5330952"/>
            <a:ext cx="8412480" cy="310896"/>
          </a:xfrm>
          <a:prstGeom prst="rect">
            <a:avLst/>
          </a:prstGeom>
          <a:noFill/>
        </p:spPr>
        <p:txBody>
          <a:bodyPr wrap="square" lIns="0" tIns="0" rIns="0" bIns="0">
            <a:spAutoFit/>
          </a:bodyPr>
          <a:lstStyle/>
          <a:p>
            <a:pPr algn="ctr"/>
            <a:r>
              <a:rPr sz="2100" b="0" i="0">
                <a:solidFill>
                  <a:srgbClr val="000000"/>
                </a:solidFill>
                <a:latin typeface="Cambria"/>
              </a:rPr>
              <a:t>Sixteen patterns.   Nothing here says what any of them </a:t>
            </a:r>
            <a:r>
              <a:rPr sz="2100" b="1" i="0">
                <a:solidFill>
                  <a:srgbClr val="000000"/>
                </a:solidFill>
                <a:latin typeface="Cambria"/>
              </a:rPr>
              <a:t>means</a:t>
            </a:r>
            <a:r>
              <a:rPr sz="2100" b="0" i="0">
                <a:solidFill>
                  <a:srgbClr val="000000"/>
                </a:solidFill>
                <a:latin typeface="Cambria"/>
              </a:rPr>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Meaning Is a Mapping</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3554819"/>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A pattern by itself means </a:t>
            </a:r>
            <a:r>
              <a:rPr sz="2500" b="1" dirty="0">
                <a:latin typeface="Cambria"/>
              </a:rPr>
              <a:t>nothing</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We must </a:t>
            </a:r>
            <a:r>
              <a:rPr sz="2500" b="1" dirty="0">
                <a:latin typeface="Cambria"/>
              </a:rPr>
              <a:t>choose</a:t>
            </a:r>
            <a:r>
              <a:rPr sz="2500" b="0" dirty="0">
                <a:latin typeface="Cambria"/>
              </a:rPr>
              <a:t> </a:t>
            </a:r>
            <a:r>
              <a:rPr lang="en-US" sz="2500" b="0" dirty="0" smtClean="0">
                <a:latin typeface="Cambria"/>
              </a:rPr>
              <a:t>an association for each pattern</a:t>
            </a:r>
            <a:endParaRPr sz="2500" b="0" dirty="0">
              <a:latin typeface="Cambria"/>
            </a:endParaRP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Any one-to-one mapping is legal</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The hardware does not </a:t>
            </a:r>
            <a:r>
              <a:rPr sz="2500" b="0" dirty="0" smtClean="0">
                <a:latin typeface="Cambria"/>
              </a:rPr>
              <a:t>care</a:t>
            </a:r>
            <a:r>
              <a:rPr lang="en-US" sz="2500" b="0" dirty="0" smtClean="0">
                <a:latin typeface="Cambria"/>
              </a:rPr>
              <a:t> </a:t>
            </a:r>
            <a:r>
              <a:rPr sz="2500" b="0" dirty="0" smtClean="0">
                <a:latin typeface="Cambria"/>
              </a:rPr>
              <a:t>but </a:t>
            </a:r>
            <a:r>
              <a:rPr sz="2500" b="1" dirty="0">
                <a:latin typeface="Cambria"/>
              </a:rPr>
              <a:t>we</a:t>
            </a:r>
            <a:r>
              <a:rPr sz="2500" b="0" dirty="0">
                <a:latin typeface="Cambria"/>
              </a:rPr>
              <a:t> </a:t>
            </a:r>
            <a:r>
              <a:rPr sz="2500" b="0" dirty="0" smtClean="0">
                <a:latin typeface="Cambria"/>
              </a:rPr>
              <a:t>do</a:t>
            </a:r>
            <a:endParaRPr lang="en-US" sz="2500" b="0" dirty="0" smtClean="0">
              <a:latin typeface="Cambria"/>
            </a:endParaRPr>
          </a:p>
          <a:p>
            <a:pPr>
              <a:tabLst>
                <a:tab pos="548640" algn="l"/>
                <a:tab pos="1097280" algn="l"/>
                <a:tab pos="1645920" algn="l"/>
                <a:tab pos="2194560" algn="l"/>
              </a:tabLst>
            </a:pPr>
            <a:endParaRPr lang="en-US" sz="2500" dirty="0">
              <a:latin typeface="Cambria"/>
            </a:endParaRPr>
          </a:p>
          <a:p>
            <a:pPr>
              <a:tabLst>
                <a:tab pos="548640" algn="l"/>
                <a:tab pos="1097280" algn="l"/>
                <a:tab pos="1645920" algn="l"/>
                <a:tab pos="2194560" algn="l"/>
              </a:tabLst>
            </a:pPr>
            <a:r>
              <a:rPr lang="en-US" sz="2500" b="0" dirty="0" smtClean="0">
                <a:latin typeface="Cambria"/>
              </a:rPr>
              <a:t>Some associations are more efficient than others</a:t>
            </a:r>
            <a:endParaRPr sz="25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 patterns to symbols</a:t>
            </a:r>
            <a:endParaRPr lang="en-US" sz="4400" b="0" u="none" strike="noStrike" dirty="0">
              <a:solidFill>
                <a:srgbClr val="000000"/>
              </a:solidFill>
              <a:effectLst/>
              <a:uFillTx/>
              <a:latin typeface="Arial"/>
            </a:endParaRPr>
          </a:p>
        </p:txBody>
      </p:sp>
      <p:grpSp>
        <p:nvGrpSpPr>
          <p:cNvPr id="5" name="Group 4"/>
          <p:cNvGrpSpPr/>
          <p:nvPr/>
        </p:nvGrpSpPr>
        <p:grpSpPr>
          <a:xfrm>
            <a:off x="2674953" y="2034872"/>
            <a:ext cx="4708492" cy="4708494"/>
            <a:chOff x="2674953" y="2034872"/>
            <a:chExt cx="4708492" cy="4708494"/>
          </a:xfrm>
        </p:grpSpPr>
        <p:sp>
          <p:nvSpPr>
            <p:cNvPr id="424" name="TextBox 423"/>
            <p:cNvSpPr txBox="1"/>
            <p:nvPr/>
          </p:nvSpPr>
          <p:spPr>
            <a:xfrm rot="14850000">
              <a:off x="2927824" y="5119827"/>
              <a:ext cx="80150"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a:t>
              </a:r>
              <a:endParaRPr sz="1600" b="1" dirty="0">
                <a:solidFill>
                  <a:srgbClr val="000000"/>
                </a:solidFill>
                <a:latin typeface="Cambria"/>
              </a:endParaRPr>
            </a:p>
          </p:txBody>
        </p:sp>
        <p:sp>
          <p:nvSpPr>
            <p:cNvPr id="427" name="TextBox 426"/>
            <p:cNvSpPr txBox="1"/>
            <p:nvPr/>
          </p:nvSpPr>
          <p:spPr>
            <a:xfrm rot="16200000">
              <a:off x="2749974" y="4266009"/>
              <a:ext cx="96180"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c</a:t>
              </a:r>
              <a:endParaRPr sz="1600" b="1" dirty="0">
                <a:solidFill>
                  <a:srgbClr val="000000"/>
                </a:solidFill>
                <a:latin typeface="Cambria"/>
              </a:endParaRPr>
            </a:p>
          </p:txBody>
        </p:sp>
        <p:sp>
          <p:nvSpPr>
            <p:cNvPr id="430" name="TextBox 429"/>
            <p:cNvSpPr txBox="1"/>
            <p:nvPr/>
          </p:nvSpPr>
          <p:spPr>
            <a:xfrm rot="17550000">
              <a:off x="2602139"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3</a:t>
              </a:r>
            </a:p>
          </p:txBody>
        </p:sp>
        <p:sp>
          <p:nvSpPr>
            <p:cNvPr id="388" name="Oval 387"/>
            <p:cNvSpPr/>
            <p:nvPr/>
          </p:nvSpPr>
          <p:spPr>
            <a:xfrm>
              <a:off x="3182112" y="2542032"/>
              <a:ext cx="3694176" cy="3694176"/>
            </a:xfrm>
            <a:prstGeom prst="ellipse">
              <a:avLst/>
            </a:prstGeom>
            <a:no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9" name="Connector 388"/>
            <p:cNvCxnSpPr/>
            <p:nvPr/>
          </p:nvCxnSpPr>
          <p:spPr>
            <a:xfrm flipV="1">
              <a:off x="5029200" y="2450591"/>
              <a:ext cx="0"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0" name="TextBox 389"/>
            <p:cNvSpPr txBox="1"/>
            <p:nvPr/>
          </p:nvSpPr>
          <p:spPr>
            <a:xfrm>
              <a:off x="4572000" y="2706624"/>
              <a:ext cx="914400" cy="292608"/>
            </a:xfrm>
            <a:prstGeom prst="rect">
              <a:avLst/>
            </a:prstGeom>
            <a:noFill/>
          </p:spPr>
          <p:txBody>
            <a:bodyPr wrap="none" lIns="0" tIns="0" rIns="0" bIns="0" anchor="ctr">
              <a:spAutoFit/>
            </a:bodyPr>
            <a:lstStyle/>
            <a:p>
              <a:pPr algn="ctr"/>
              <a:r>
                <a:rPr sz="1250" b="0">
                  <a:solidFill>
                    <a:srgbClr val="000000"/>
                  </a:solidFill>
                  <a:latin typeface="Cambria"/>
                </a:rPr>
                <a:t>0000</a:t>
              </a:r>
            </a:p>
          </p:txBody>
        </p:sp>
        <p:sp>
          <p:nvSpPr>
            <p:cNvPr id="391" name="TextBox 390"/>
            <p:cNvSpPr txBox="1"/>
            <p:nvPr/>
          </p:nvSpPr>
          <p:spPr>
            <a:xfrm>
              <a:off x="4973895" y="2034872"/>
              <a:ext cx="110608" cy="246221"/>
            </a:xfrm>
            <a:prstGeom prst="rect">
              <a:avLst/>
            </a:prstGeom>
            <a:noFill/>
          </p:spPr>
          <p:txBody>
            <a:bodyPr wrap="none" lIns="0" tIns="0" rIns="0" bIns="0" anchor="ctr">
              <a:spAutoFit/>
            </a:bodyPr>
            <a:lstStyle/>
            <a:p>
              <a:pPr algn="ctr"/>
              <a:r>
                <a:rPr lang="en-US" sz="1600" b="1" dirty="0">
                  <a:solidFill>
                    <a:srgbClr val="000000"/>
                  </a:solidFill>
                  <a:latin typeface="Cambria"/>
                </a:rPr>
                <a:t>a</a:t>
              </a:r>
              <a:endParaRPr sz="1600" b="1" dirty="0">
                <a:solidFill>
                  <a:srgbClr val="000000"/>
                </a:solidFill>
                <a:latin typeface="Cambria"/>
              </a:endParaRPr>
            </a:p>
          </p:txBody>
        </p:sp>
        <p:cxnSp>
          <p:nvCxnSpPr>
            <p:cNvPr id="392" name="Connector 391"/>
            <p:cNvCxnSpPr/>
            <p:nvPr/>
          </p:nvCxnSpPr>
          <p:spPr>
            <a:xfrm flipV="1">
              <a:off x="57010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rot="1350000">
              <a:off x="5159875"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0001</a:t>
              </a:r>
            </a:p>
          </p:txBody>
        </p:sp>
        <p:sp>
          <p:nvSpPr>
            <p:cNvPr id="394" name="TextBox 393"/>
            <p:cNvSpPr txBox="1"/>
            <p:nvPr/>
          </p:nvSpPr>
          <p:spPr>
            <a:xfrm rot="1350000">
              <a:off x="5822104" y="2204708"/>
              <a:ext cx="121828"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a:t>
              </a:r>
              <a:endParaRPr sz="1600" b="1" dirty="0">
                <a:solidFill>
                  <a:srgbClr val="000000"/>
                </a:solidFill>
                <a:latin typeface="Cambria"/>
              </a:endParaRPr>
            </a:p>
          </p:txBody>
        </p:sp>
        <p:cxnSp>
          <p:nvCxnSpPr>
            <p:cNvPr id="395" name="Connector 394"/>
            <p:cNvCxnSpPr/>
            <p:nvPr/>
          </p:nvCxnSpPr>
          <p:spPr>
            <a:xfrm flipV="1">
              <a:off x="6270630"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rot="2700000">
              <a:off x="5658251"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0010</a:t>
              </a:r>
            </a:p>
          </p:txBody>
        </p:sp>
        <p:sp>
          <p:nvSpPr>
            <p:cNvPr id="397" name="TextBox 396"/>
            <p:cNvSpPr txBox="1"/>
            <p:nvPr/>
          </p:nvSpPr>
          <p:spPr>
            <a:xfrm rot="2700000">
              <a:off x="6241091"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2</a:t>
              </a:r>
            </a:p>
          </p:txBody>
        </p:sp>
        <p:cxnSp>
          <p:nvCxnSpPr>
            <p:cNvPr id="398" name="Connector 397"/>
            <p:cNvCxnSpPr/>
            <p:nvPr/>
          </p:nvCxnSpPr>
          <p:spPr>
            <a:xfrm flipV="1">
              <a:off x="6651207"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9" name="TextBox 398"/>
            <p:cNvSpPr txBox="1"/>
            <p:nvPr/>
          </p:nvSpPr>
          <p:spPr>
            <a:xfrm rot="4050000">
              <a:off x="5991256"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0011</a:t>
              </a:r>
            </a:p>
          </p:txBody>
        </p:sp>
        <p:sp>
          <p:nvSpPr>
            <p:cNvPr id="400" name="TextBox 399"/>
            <p:cNvSpPr txBox="1"/>
            <p:nvPr/>
          </p:nvSpPr>
          <p:spPr>
            <a:xfrm rot="4050000">
              <a:off x="6724740"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9</a:t>
              </a:r>
            </a:p>
          </p:txBody>
        </p:sp>
        <p:cxnSp>
          <p:nvCxnSpPr>
            <p:cNvPr id="401" name="Connector 400"/>
            <p:cNvCxnSpPr/>
            <p:nvPr/>
          </p:nvCxnSpPr>
          <p:spPr>
            <a:xfrm>
              <a:off x="6784848"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rot="5400000">
              <a:off x="6108192"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0100</a:t>
              </a:r>
            </a:p>
          </p:txBody>
        </p:sp>
        <p:sp>
          <p:nvSpPr>
            <p:cNvPr id="403" name="TextBox 402"/>
            <p:cNvSpPr txBox="1"/>
            <p:nvPr/>
          </p:nvSpPr>
          <p:spPr>
            <a:xfrm rot="5400000">
              <a:off x="7178582" y="4266009"/>
              <a:ext cx="163506"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w</a:t>
              </a:r>
              <a:endParaRPr sz="1600" b="1" dirty="0">
                <a:solidFill>
                  <a:srgbClr val="000000"/>
                </a:solidFill>
                <a:latin typeface="Cambria"/>
              </a:endParaRPr>
            </a:p>
          </p:txBody>
        </p:sp>
        <p:cxnSp>
          <p:nvCxnSpPr>
            <p:cNvPr id="404" name="Connector 403"/>
            <p:cNvCxnSpPr/>
            <p:nvPr/>
          </p:nvCxnSpPr>
          <p:spPr>
            <a:xfrm>
              <a:off x="6651207"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5" name="TextBox 404"/>
            <p:cNvSpPr txBox="1"/>
            <p:nvPr/>
          </p:nvSpPr>
          <p:spPr>
            <a:xfrm rot="6750000">
              <a:off x="5991256"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0101</a:t>
              </a:r>
            </a:p>
          </p:txBody>
        </p:sp>
        <p:sp>
          <p:nvSpPr>
            <p:cNvPr id="406" name="TextBox 405"/>
            <p:cNvSpPr txBox="1"/>
            <p:nvPr/>
          </p:nvSpPr>
          <p:spPr>
            <a:xfrm rot="6750000">
              <a:off x="6724740"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0</a:t>
              </a:r>
            </a:p>
          </p:txBody>
        </p:sp>
        <p:cxnSp>
          <p:nvCxnSpPr>
            <p:cNvPr id="407" name="Connector 406"/>
            <p:cNvCxnSpPr/>
            <p:nvPr/>
          </p:nvCxnSpPr>
          <p:spPr>
            <a:xfrm>
              <a:off x="6270630"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rot="8100000">
              <a:off x="5658251"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0110</a:t>
              </a:r>
            </a:p>
          </p:txBody>
        </p:sp>
        <p:sp>
          <p:nvSpPr>
            <p:cNvPr id="409" name="TextBox 408"/>
            <p:cNvSpPr txBox="1"/>
            <p:nvPr/>
          </p:nvSpPr>
          <p:spPr>
            <a:xfrm rot="8100000">
              <a:off x="6241091"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11</a:t>
              </a:r>
            </a:p>
          </p:txBody>
        </p:sp>
        <p:cxnSp>
          <p:nvCxnSpPr>
            <p:cNvPr id="410" name="Connector 409"/>
            <p:cNvCxnSpPr/>
            <p:nvPr/>
          </p:nvCxnSpPr>
          <p:spPr>
            <a:xfrm>
              <a:off x="57010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1" name="TextBox 410"/>
            <p:cNvSpPr txBox="1"/>
            <p:nvPr/>
          </p:nvSpPr>
          <p:spPr>
            <a:xfrm rot="9450000">
              <a:off x="5159875"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0111</a:t>
              </a:r>
            </a:p>
          </p:txBody>
        </p:sp>
        <p:sp>
          <p:nvSpPr>
            <p:cNvPr id="412" name="TextBox 411"/>
            <p:cNvSpPr txBox="1"/>
            <p:nvPr/>
          </p:nvSpPr>
          <p:spPr>
            <a:xfrm rot="9450000">
              <a:off x="5517258"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4</a:t>
              </a:r>
            </a:p>
          </p:txBody>
        </p:sp>
        <p:cxnSp>
          <p:nvCxnSpPr>
            <p:cNvPr id="413" name="Connector 412"/>
            <p:cNvCxnSpPr/>
            <p:nvPr/>
          </p:nvCxnSpPr>
          <p:spPr>
            <a:xfrm>
              <a:off x="5029200" y="6144768"/>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4" name="TextBox 413"/>
            <p:cNvSpPr txBox="1"/>
            <p:nvPr/>
          </p:nvSpPr>
          <p:spPr>
            <a:xfrm rot="10800000">
              <a:off x="4572000" y="5779007"/>
              <a:ext cx="914400" cy="292608"/>
            </a:xfrm>
            <a:prstGeom prst="rect">
              <a:avLst/>
            </a:prstGeom>
            <a:noFill/>
          </p:spPr>
          <p:txBody>
            <a:bodyPr wrap="none" lIns="0" tIns="0" rIns="0" bIns="0" anchor="ctr">
              <a:spAutoFit/>
            </a:bodyPr>
            <a:lstStyle/>
            <a:p>
              <a:pPr algn="ctr"/>
              <a:r>
                <a:rPr sz="1250" b="0">
                  <a:solidFill>
                    <a:srgbClr val="000000"/>
                  </a:solidFill>
                  <a:latin typeface="Cambria"/>
                </a:rPr>
                <a:t>1000</a:t>
              </a:r>
            </a:p>
          </p:txBody>
        </p:sp>
        <p:sp>
          <p:nvSpPr>
            <p:cNvPr id="415" name="TextBox 414"/>
            <p:cNvSpPr txBox="1"/>
            <p:nvPr/>
          </p:nvSpPr>
          <p:spPr>
            <a:xfrm rot="10800000">
              <a:off x="4968286" y="6497145"/>
              <a:ext cx="121828"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q</a:t>
              </a:r>
              <a:endParaRPr sz="1600" b="1" dirty="0">
                <a:solidFill>
                  <a:srgbClr val="000000"/>
                </a:solidFill>
                <a:latin typeface="Cambria"/>
              </a:endParaRPr>
            </a:p>
          </p:txBody>
        </p:sp>
        <p:cxnSp>
          <p:nvCxnSpPr>
            <p:cNvPr id="416" name="Connector 415"/>
            <p:cNvCxnSpPr/>
            <p:nvPr/>
          </p:nvCxnSpPr>
          <p:spPr>
            <a:xfrm flipH="1">
              <a:off x="42873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rot="12150000">
              <a:off x="3984124"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1001</a:t>
              </a:r>
            </a:p>
          </p:txBody>
        </p:sp>
        <p:sp>
          <p:nvSpPr>
            <p:cNvPr id="418" name="TextBox 417"/>
            <p:cNvSpPr txBox="1"/>
            <p:nvPr/>
          </p:nvSpPr>
          <p:spPr>
            <a:xfrm rot="12150000">
              <a:off x="3809621"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14</a:t>
              </a:r>
            </a:p>
          </p:txBody>
        </p:sp>
        <p:cxnSp>
          <p:nvCxnSpPr>
            <p:cNvPr id="419" name="Connector 418"/>
            <p:cNvCxnSpPr/>
            <p:nvPr/>
          </p:nvCxnSpPr>
          <p:spPr>
            <a:xfrm flipH="1">
              <a:off x="3658453"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0" name="TextBox 419"/>
            <p:cNvSpPr txBox="1"/>
            <p:nvPr/>
          </p:nvSpPr>
          <p:spPr>
            <a:xfrm rot="13500000">
              <a:off x="3485748"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1010</a:t>
              </a:r>
            </a:p>
          </p:txBody>
        </p:sp>
        <p:sp>
          <p:nvSpPr>
            <p:cNvPr id="421" name="TextBox 420"/>
            <p:cNvSpPr txBox="1"/>
            <p:nvPr/>
          </p:nvSpPr>
          <p:spPr>
            <a:xfrm rot="13500000">
              <a:off x="3085788"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1</a:t>
              </a:r>
            </a:p>
          </p:txBody>
        </p:sp>
        <p:cxnSp>
          <p:nvCxnSpPr>
            <p:cNvPr id="422" name="Connector 421"/>
            <p:cNvCxnSpPr/>
            <p:nvPr/>
          </p:nvCxnSpPr>
          <p:spPr>
            <a:xfrm flipH="1">
              <a:off x="3238233"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3" name="TextBox 422"/>
            <p:cNvSpPr txBox="1"/>
            <p:nvPr/>
          </p:nvSpPr>
          <p:spPr>
            <a:xfrm rot="14850000">
              <a:off x="3152743"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1011</a:t>
              </a:r>
            </a:p>
          </p:txBody>
        </p:sp>
        <p:cxnSp>
          <p:nvCxnSpPr>
            <p:cNvPr id="425" name="Connector 424"/>
            <p:cNvCxnSpPr/>
            <p:nvPr/>
          </p:nvCxnSpPr>
          <p:spPr>
            <a:xfrm flipH="1">
              <a:off x="3090672"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6" name="TextBox 425"/>
            <p:cNvSpPr txBox="1"/>
            <p:nvPr/>
          </p:nvSpPr>
          <p:spPr>
            <a:xfrm rot="16200000">
              <a:off x="3035808"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1100</a:t>
              </a:r>
            </a:p>
          </p:txBody>
        </p:sp>
        <p:cxnSp>
          <p:nvCxnSpPr>
            <p:cNvPr id="428" name="Connector 427"/>
            <p:cNvCxnSpPr/>
            <p:nvPr/>
          </p:nvCxnSpPr>
          <p:spPr>
            <a:xfrm flipH="1" flipV="1">
              <a:off x="3238233"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9" name="TextBox 428"/>
            <p:cNvSpPr txBox="1"/>
            <p:nvPr/>
          </p:nvSpPr>
          <p:spPr>
            <a:xfrm rot="17550000">
              <a:off x="3152743"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1101</a:t>
              </a:r>
            </a:p>
          </p:txBody>
        </p:sp>
        <p:cxnSp>
          <p:nvCxnSpPr>
            <p:cNvPr id="431" name="Connector 430"/>
            <p:cNvCxnSpPr/>
            <p:nvPr/>
          </p:nvCxnSpPr>
          <p:spPr>
            <a:xfrm flipH="1" flipV="1">
              <a:off x="3658453"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2" name="TextBox 431"/>
            <p:cNvSpPr txBox="1"/>
            <p:nvPr/>
          </p:nvSpPr>
          <p:spPr>
            <a:xfrm rot="18900000">
              <a:off x="3485748"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1110</a:t>
              </a:r>
            </a:p>
          </p:txBody>
        </p:sp>
        <p:sp>
          <p:nvSpPr>
            <p:cNvPr id="433" name="TextBox 432"/>
            <p:cNvSpPr txBox="1"/>
            <p:nvPr/>
          </p:nvSpPr>
          <p:spPr>
            <a:xfrm rot="18900000">
              <a:off x="3356970" y="2688357"/>
              <a:ext cx="189155" cy="246221"/>
            </a:xfrm>
            <a:prstGeom prst="rect">
              <a:avLst/>
            </a:prstGeom>
            <a:noFill/>
          </p:spPr>
          <p:txBody>
            <a:bodyPr wrap="none" lIns="0" tIns="0" rIns="0" bIns="0" anchor="ctr">
              <a:spAutoFit/>
            </a:bodyPr>
            <a:lstStyle/>
            <a:p>
              <a:pPr algn="ctr"/>
              <a:r>
                <a:rPr lang="en-US" sz="1600" b="1" dirty="0">
                  <a:solidFill>
                    <a:srgbClr val="000000"/>
                  </a:solidFill>
                  <a:latin typeface="Cambria"/>
                </a:rPr>
                <a:t>@</a:t>
              </a:r>
              <a:endParaRPr sz="1600" b="1" dirty="0">
                <a:solidFill>
                  <a:srgbClr val="000000"/>
                </a:solidFill>
                <a:latin typeface="Cambria"/>
              </a:endParaRPr>
            </a:p>
          </p:txBody>
        </p:sp>
        <p:cxnSp>
          <p:nvCxnSpPr>
            <p:cNvPr id="434" name="Connector 433"/>
            <p:cNvCxnSpPr/>
            <p:nvPr/>
          </p:nvCxnSpPr>
          <p:spPr>
            <a:xfrm flipH="1" flipV="1">
              <a:off x="42873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5" name="TextBox 434"/>
            <p:cNvSpPr txBox="1"/>
            <p:nvPr/>
          </p:nvSpPr>
          <p:spPr>
            <a:xfrm rot="20250000">
              <a:off x="3984124"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1111</a:t>
              </a:r>
            </a:p>
          </p:txBody>
        </p:sp>
        <p:sp>
          <p:nvSpPr>
            <p:cNvPr id="436" name="TextBox 435"/>
            <p:cNvSpPr txBox="1"/>
            <p:nvPr/>
          </p:nvSpPr>
          <p:spPr>
            <a:xfrm rot="20250000">
              <a:off x="3809621"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5</a:t>
              </a:r>
            </a:p>
          </p:txBody>
        </p:sp>
        <p:sp>
          <p:nvSpPr>
            <p:cNvPr id="437" name="TextBox 436"/>
            <p:cNvSpPr txBox="1"/>
            <p:nvPr/>
          </p:nvSpPr>
          <p:spPr>
            <a:xfrm>
              <a:off x="3977639" y="3566160"/>
              <a:ext cx="2103120" cy="1645919"/>
            </a:xfrm>
            <a:prstGeom prst="rect">
              <a:avLst/>
            </a:prstGeom>
            <a:noFill/>
          </p:spPr>
          <p:txBody>
            <a:bodyPr wrap="square" lIns="0" tIns="0" rIns="0" bIns="0" anchor="ctr">
              <a:spAutoFit/>
            </a:bodyPr>
            <a:lstStyle/>
            <a:p>
              <a:pPr algn="ctr"/>
              <a:r>
                <a:rPr sz="1600" dirty="0">
                  <a:solidFill>
                    <a:srgbClr val="000000"/>
                  </a:solidFill>
                  <a:latin typeface="Cambria"/>
                </a:rPr>
                <a:t>4-bit</a:t>
              </a:r>
            </a:p>
            <a:p>
              <a:pPr algn="ctr"/>
              <a:r>
                <a:rPr sz="1600" dirty="0">
                  <a:solidFill>
                    <a:srgbClr val="000000"/>
                  </a:solidFill>
                  <a:latin typeface="Cambria"/>
                </a:rPr>
                <a:t>arbitrary</a:t>
              </a:r>
            </a:p>
            <a:p>
              <a:pPr algn="ctr"/>
              <a:r>
                <a:rPr sz="1600" dirty="0">
                  <a:solidFill>
                    <a:srgbClr val="000000"/>
                  </a:solidFill>
                  <a:latin typeface="Cambria"/>
                </a:rPr>
                <a:t>mapping</a:t>
              </a:r>
            </a:p>
          </p:txBody>
        </p:sp>
      </p:grpSp>
      <p:sp>
        <p:nvSpPr>
          <p:cNvPr id="438" name="TextBox 437"/>
          <p:cNvSpPr txBox="1"/>
          <p:nvPr/>
        </p:nvSpPr>
        <p:spPr>
          <a:xfrm>
            <a:off x="822960" y="6931152"/>
            <a:ext cx="8412480" cy="310896"/>
          </a:xfrm>
          <a:prstGeom prst="rect">
            <a:avLst/>
          </a:prstGeom>
          <a:noFill/>
        </p:spPr>
        <p:txBody>
          <a:bodyPr wrap="square" lIns="0" tIns="0" rIns="0" bIns="0">
            <a:spAutoFit/>
          </a:bodyPr>
          <a:lstStyle/>
          <a:p>
            <a:pPr algn="ctr"/>
            <a:r>
              <a:rPr lang="en-US" sz="2000" b="0" i="1" dirty="0" smtClean="0">
                <a:solidFill>
                  <a:srgbClr val="000000"/>
                </a:solidFill>
                <a:latin typeface="Cambria"/>
              </a:rPr>
              <a:t>Make an association or 1 to 1 mapping</a:t>
            </a:r>
            <a:endParaRPr sz="2000" b="0" i="1" dirty="0">
              <a:solidFill>
                <a:srgbClr val="000000"/>
              </a:solidFill>
              <a:latin typeface="Cambri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An Arbitrary Mapping</a:t>
            </a:r>
            <a:endParaRPr lang="en-US" sz="4400" b="0" u="none" strike="noStrike" dirty="0">
              <a:solidFill>
                <a:srgbClr val="000000"/>
              </a:solidFill>
              <a:effectLst/>
              <a:uFillTx/>
              <a:latin typeface="Arial"/>
            </a:endParaRPr>
          </a:p>
        </p:txBody>
      </p:sp>
      <p:sp>
        <p:nvSpPr>
          <p:cNvPr id="438" name="TextBox 437"/>
          <p:cNvSpPr txBox="1"/>
          <p:nvPr/>
        </p:nvSpPr>
        <p:spPr>
          <a:xfrm>
            <a:off x="1639057" y="5524922"/>
            <a:ext cx="8412480" cy="2031325"/>
          </a:xfrm>
          <a:prstGeom prst="rect">
            <a:avLst/>
          </a:prstGeom>
          <a:noFill/>
        </p:spPr>
        <p:txBody>
          <a:bodyPr wrap="square" lIns="0" tIns="0" rIns="0" bIns="0">
            <a:spAutoFit/>
          </a:bodyPr>
          <a:lstStyle/>
          <a:p>
            <a:r>
              <a:rPr sz="2800" b="0" i="1" dirty="0">
                <a:solidFill>
                  <a:srgbClr val="000000"/>
                </a:solidFill>
                <a:latin typeface="Cambria"/>
              </a:rPr>
              <a:t>Legal  -  every pattern has one value </a:t>
            </a:r>
            <a:endParaRPr lang="en-US" sz="2800" i="1" dirty="0">
              <a:solidFill>
                <a:srgbClr val="000000"/>
              </a:solidFill>
              <a:latin typeface="Cambria"/>
            </a:endParaRPr>
          </a:p>
          <a:p>
            <a:r>
              <a:rPr lang="en-US" sz="2800" i="1" dirty="0" smtClean="0">
                <a:solidFill>
                  <a:srgbClr val="000000"/>
                </a:solidFill>
                <a:latin typeface="Cambria"/>
              </a:rPr>
              <a:t>N</a:t>
            </a:r>
            <a:r>
              <a:rPr lang="en-US" sz="2800" b="0" i="1" dirty="0" smtClean="0">
                <a:solidFill>
                  <a:srgbClr val="000000"/>
                </a:solidFill>
                <a:latin typeface="Cambria"/>
              </a:rPr>
              <a:t>ot efficient for arithmetic</a:t>
            </a:r>
          </a:p>
          <a:p>
            <a:r>
              <a:rPr lang="en-US" sz="2800" i="1" dirty="0" smtClean="0">
                <a:solidFill>
                  <a:srgbClr val="000000"/>
                </a:solidFill>
                <a:latin typeface="Cambria"/>
              </a:rPr>
              <a:t>Requires a </a:t>
            </a:r>
            <a:r>
              <a:rPr lang="en-US" sz="2800" b="0" i="1" dirty="0" smtClean="0">
                <a:solidFill>
                  <a:srgbClr val="000000"/>
                </a:solidFill>
                <a:latin typeface="Cambria"/>
              </a:rPr>
              <a:t>complex transformation</a:t>
            </a:r>
          </a:p>
          <a:p>
            <a:r>
              <a:rPr lang="en-US" sz="2800" b="1" i="1" dirty="0" smtClean="0">
                <a:solidFill>
                  <a:srgbClr val="000000"/>
                </a:solidFill>
                <a:latin typeface="Cambria"/>
              </a:rPr>
              <a:t>1 + 1</a:t>
            </a:r>
            <a:r>
              <a:rPr lang="en-US" sz="2800" i="1" dirty="0" smtClean="0">
                <a:solidFill>
                  <a:srgbClr val="000000"/>
                </a:solidFill>
                <a:latin typeface="Cambria"/>
              </a:rPr>
              <a:t>  lands nowhere useful or obvious</a:t>
            </a:r>
          </a:p>
          <a:p>
            <a:endParaRPr sz="2000" b="0" i="1" dirty="0">
              <a:solidFill>
                <a:srgbClr val="000000"/>
              </a:solidFill>
              <a:latin typeface="Cambria"/>
            </a:endParaRPr>
          </a:p>
        </p:txBody>
      </p:sp>
      <p:grpSp>
        <p:nvGrpSpPr>
          <p:cNvPr id="152" name="Group 151"/>
          <p:cNvGrpSpPr/>
          <p:nvPr/>
        </p:nvGrpSpPr>
        <p:grpSpPr>
          <a:xfrm>
            <a:off x="3259324" y="1907458"/>
            <a:ext cx="3539032" cy="3547882"/>
            <a:chOff x="2674953" y="2034872"/>
            <a:chExt cx="4708492" cy="4708494"/>
          </a:xfrm>
        </p:grpSpPr>
        <p:sp>
          <p:nvSpPr>
            <p:cNvPr id="153" name="TextBox 152"/>
            <p:cNvSpPr txBox="1"/>
            <p:nvPr/>
          </p:nvSpPr>
          <p:spPr>
            <a:xfrm rot="14850000">
              <a:off x="2927824" y="5119827"/>
              <a:ext cx="80150"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a:t>
              </a:r>
              <a:endParaRPr sz="1600" b="1" dirty="0">
                <a:solidFill>
                  <a:srgbClr val="000000"/>
                </a:solidFill>
                <a:latin typeface="Cambria"/>
              </a:endParaRPr>
            </a:p>
          </p:txBody>
        </p:sp>
        <p:sp>
          <p:nvSpPr>
            <p:cNvPr id="154" name="TextBox 153"/>
            <p:cNvSpPr txBox="1"/>
            <p:nvPr/>
          </p:nvSpPr>
          <p:spPr>
            <a:xfrm rot="16200000">
              <a:off x="2749974" y="4266009"/>
              <a:ext cx="96180"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c</a:t>
              </a:r>
              <a:endParaRPr sz="1600" b="1" dirty="0">
                <a:solidFill>
                  <a:srgbClr val="000000"/>
                </a:solidFill>
                <a:latin typeface="Cambria"/>
              </a:endParaRPr>
            </a:p>
          </p:txBody>
        </p:sp>
        <p:sp>
          <p:nvSpPr>
            <p:cNvPr id="155" name="TextBox 154"/>
            <p:cNvSpPr txBox="1"/>
            <p:nvPr/>
          </p:nvSpPr>
          <p:spPr>
            <a:xfrm rot="17550000">
              <a:off x="2602139"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3</a:t>
              </a:r>
            </a:p>
          </p:txBody>
        </p:sp>
        <p:sp>
          <p:nvSpPr>
            <p:cNvPr id="156" name="Oval 155"/>
            <p:cNvSpPr/>
            <p:nvPr/>
          </p:nvSpPr>
          <p:spPr>
            <a:xfrm>
              <a:off x="3182112" y="2542032"/>
              <a:ext cx="3694176" cy="3694176"/>
            </a:xfrm>
            <a:prstGeom prst="ellipse">
              <a:avLst/>
            </a:prstGeom>
            <a:no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7" name="Connector 388"/>
            <p:cNvCxnSpPr/>
            <p:nvPr/>
          </p:nvCxnSpPr>
          <p:spPr>
            <a:xfrm flipV="1">
              <a:off x="5029200" y="2450591"/>
              <a:ext cx="0"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4572000" y="2706624"/>
              <a:ext cx="914400" cy="292608"/>
            </a:xfrm>
            <a:prstGeom prst="rect">
              <a:avLst/>
            </a:prstGeom>
            <a:noFill/>
          </p:spPr>
          <p:txBody>
            <a:bodyPr wrap="none" lIns="0" tIns="0" rIns="0" bIns="0" anchor="ctr">
              <a:spAutoFit/>
            </a:bodyPr>
            <a:lstStyle/>
            <a:p>
              <a:pPr algn="ctr"/>
              <a:r>
                <a:rPr sz="1250" b="0">
                  <a:solidFill>
                    <a:srgbClr val="000000"/>
                  </a:solidFill>
                  <a:latin typeface="Cambria"/>
                </a:rPr>
                <a:t>0000</a:t>
              </a:r>
            </a:p>
          </p:txBody>
        </p:sp>
        <p:sp>
          <p:nvSpPr>
            <p:cNvPr id="159" name="TextBox 158"/>
            <p:cNvSpPr txBox="1"/>
            <p:nvPr/>
          </p:nvSpPr>
          <p:spPr>
            <a:xfrm>
              <a:off x="4973895" y="2034872"/>
              <a:ext cx="110608" cy="246221"/>
            </a:xfrm>
            <a:prstGeom prst="rect">
              <a:avLst/>
            </a:prstGeom>
            <a:noFill/>
          </p:spPr>
          <p:txBody>
            <a:bodyPr wrap="none" lIns="0" tIns="0" rIns="0" bIns="0" anchor="ctr">
              <a:spAutoFit/>
            </a:bodyPr>
            <a:lstStyle/>
            <a:p>
              <a:pPr algn="ctr"/>
              <a:r>
                <a:rPr lang="en-US" sz="1600" b="1" dirty="0">
                  <a:solidFill>
                    <a:srgbClr val="000000"/>
                  </a:solidFill>
                  <a:latin typeface="Cambria"/>
                </a:rPr>
                <a:t>a</a:t>
              </a:r>
              <a:endParaRPr sz="1600" b="1" dirty="0">
                <a:solidFill>
                  <a:srgbClr val="000000"/>
                </a:solidFill>
                <a:latin typeface="Cambria"/>
              </a:endParaRPr>
            </a:p>
          </p:txBody>
        </p:sp>
        <p:cxnSp>
          <p:nvCxnSpPr>
            <p:cNvPr id="160" name="Connector 391"/>
            <p:cNvCxnSpPr/>
            <p:nvPr/>
          </p:nvCxnSpPr>
          <p:spPr>
            <a:xfrm flipV="1">
              <a:off x="57010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rot="1350000">
              <a:off x="5159875"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0001</a:t>
              </a:r>
            </a:p>
          </p:txBody>
        </p:sp>
        <p:sp>
          <p:nvSpPr>
            <p:cNvPr id="162" name="TextBox 161"/>
            <p:cNvSpPr txBox="1"/>
            <p:nvPr/>
          </p:nvSpPr>
          <p:spPr>
            <a:xfrm rot="1350000">
              <a:off x="5822104" y="2204708"/>
              <a:ext cx="121828"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a:t>
              </a:r>
              <a:endParaRPr sz="1600" b="1" dirty="0">
                <a:solidFill>
                  <a:srgbClr val="000000"/>
                </a:solidFill>
                <a:latin typeface="Cambria"/>
              </a:endParaRPr>
            </a:p>
          </p:txBody>
        </p:sp>
        <p:cxnSp>
          <p:nvCxnSpPr>
            <p:cNvPr id="163" name="Connector 394"/>
            <p:cNvCxnSpPr/>
            <p:nvPr/>
          </p:nvCxnSpPr>
          <p:spPr>
            <a:xfrm flipV="1">
              <a:off x="6270630"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rot="2700000">
              <a:off x="5658251"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0010</a:t>
              </a:r>
            </a:p>
          </p:txBody>
        </p:sp>
        <p:sp>
          <p:nvSpPr>
            <p:cNvPr id="165" name="TextBox 164"/>
            <p:cNvSpPr txBox="1"/>
            <p:nvPr/>
          </p:nvSpPr>
          <p:spPr>
            <a:xfrm rot="2700000">
              <a:off x="6241091"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2</a:t>
              </a:r>
            </a:p>
          </p:txBody>
        </p:sp>
        <p:cxnSp>
          <p:nvCxnSpPr>
            <p:cNvPr id="166" name="Connector 397"/>
            <p:cNvCxnSpPr/>
            <p:nvPr/>
          </p:nvCxnSpPr>
          <p:spPr>
            <a:xfrm flipV="1">
              <a:off x="6651207"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rot="4050000">
              <a:off x="5991256"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0011</a:t>
              </a:r>
            </a:p>
          </p:txBody>
        </p:sp>
        <p:sp>
          <p:nvSpPr>
            <p:cNvPr id="168" name="TextBox 167"/>
            <p:cNvSpPr txBox="1"/>
            <p:nvPr/>
          </p:nvSpPr>
          <p:spPr>
            <a:xfrm rot="4050000">
              <a:off x="6724740"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9</a:t>
              </a:r>
            </a:p>
          </p:txBody>
        </p:sp>
        <p:cxnSp>
          <p:nvCxnSpPr>
            <p:cNvPr id="169" name="Connector 400"/>
            <p:cNvCxnSpPr/>
            <p:nvPr/>
          </p:nvCxnSpPr>
          <p:spPr>
            <a:xfrm>
              <a:off x="6784848"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rot="5400000">
              <a:off x="6108192"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0100</a:t>
              </a:r>
            </a:p>
          </p:txBody>
        </p:sp>
        <p:sp>
          <p:nvSpPr>
            <p:cNvPr id="171" name="TextBox 170"/>
            <p:cNvSpPr txBox="1"/>
            <p:nvPr/>
          </p:nvSpPr>
          <p:spPr>
            <a:xfrm rot="5400000">
              <a:off x="7178582" y="4266009"/>
              <a:ext cx="163506"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w</a:t>
              </a:r>
              <a:endParaRPr sz="1600" b="1" dirty="0">
                <a:solidFill>
                  <a:srgbClr val="000000"/>
                </a:solidFill>
                <a:latin typeface="Cambria"/>
              </a:endParaRPr>
            </a:p>
          </p:txBody>
        </p:sp>
        <p:cxnSp>
          <p:nvCxnSpPr>
            <p:cNvPr id="172" name="Connector 403"/>
            <p:cNvCxnSpPr/>
            <p:nvPr/>
          </p:nvCxnSpPr>
          <p:spPr>
            <a:xfrm>
              <a:off x="6651207"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rot="6750000">
              <a:off x="5991256"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0101</a:t>
              </a:r>
            </a:p>
          </p:txBody>
        </p:sp>
        <p:sp>
          <p:nvSpPr>
            <p:cNvPr id="174" name="TextBox 173"/>
            <p:cNvSpPr txBox="1"/>
            <p:nvPr/>
          </p:nvSpPr>
          <p:spPr>
            <a:xfrm rot="6750000">
              <a:off x="6724740"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0</a:t>
              </a:r>
            </a:p>
          </p:txBody>
        </p:sp>
        <p:cxnSp>
          <p:nvCxnSpPr>
            <p:cNvPr id="175" name="Connector 406"/>
            <p:cNvCxnSpPr/>
            <p:nvPr/>
          </p:nvCxnSpPr>
          <p:spPr>
            <a:xfrm>
              <a:off x="6270630"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rot="8100000">
              <a:off x="5658251"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0110</a:t>
              </a:r>
            </a:p>
          </p:txBody>
        </p:sp>
        <p:sp>
          <p:nvSpPr>
            <p:cNvPr id="177" name="TextBox 176"/>
            <p:cNvSpPr txBox="1"/>
            <p:nvPr/>
          </p:nvSpPr>
          <p:spPr>
            <a:xfrm rot="8100000">
              <a:off x="6241091"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11</a:t>
              </a:r>
            </a:p>
          </p:txBody>
        </p:sp>
        <p:cxnSp>
          <p:nvCxnSpPr>
            <p:cNvPr id="178" name="Connector 409"/>
            <p:cNvCxnSpPr/>
            <p:nvPr/>
          </p:nvCxnSpPr>
          <p:spPr>
            <a:xfrm>
              <a:off x="57010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rot="9450000">
              <a:off x="5159875"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0111</a:t>
              </a:r>
            </a:p>
          </p:txBody>
        </p:sp>
        <p:sp>
          <p:nvSpPr>
            <p:cNvPr id="180" name="TextBox 179"/>
            <p:cNvSpPr txBox="1"/>
            <p:nvPr/>
          </p:nvSpPr>
          <p:spPr>
            <a:xfrm rot="9450000">
              <a:off x="5517258"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4</a:t>
              </a:r>
            </a:p>
          </p:txBody>
        </p:sp>
        <p:cxnSp>
          <p:nvCxnSpPr>
            <p:cNvPr id="181" name="Connector 412"/>
            <p:cNvCxnSpPr/>
            <p:nvPr/>
          </p:nvCxnSpPr>
          <p:spPr>
            <a:xfrm>
              <a:off x="5029200" y="6144768"/>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rot="10800000">
              <a:off x="4572000" y="5779007"/>
              <a:ext cx="914400" cy="292608"/>
            </a:xfrm>
            <a:prstGeom prst="rect">
              <a:avLst/>
            </a:prstGeom>
            <a:noFill/>
          </p:spPr>
          <p:txBody>
            <a:bodyPr wrap="none" lIns="0" tIns="0" rIns="0" bIns="0" anchor="ctr">
              <a:spAutoFit/>
            </a:bodyPr>
            <a:lstStyle/>
            <a:p>
              <a:pPr algn="ctr"/>
              <a:r>
                <a:rPr sz="1250" b="0">
                  <a:solidFill>
                    <a:srgbClr val="000000"/>
                  </a:solidFill>
                  <a:latin typeface="Cambria"/>
                </a:rPr>
                <a:t>1000</a:t>
              </a:r>
            </a:p>
          </p:txBody>
        </p:sp>
        <p:sp>
          <p:nvSpPr>
            <p:cNvPr id="183" name="TextBox 182"/>
            <p:cNvSpPr txBox="1"/>
            <p:nvPr/>
          </p:nvSpPr>
          <p:spPr>
            <a:xfrm rot="10800000">
              <a:off x="4968286" y="6497145"/>
              <a:ext cx="121828" cy="246221"/>
            </a:xfrm>
            <a:prstGeom prst="rect">
              <a:avLst/>
            </a:prstGeom>
            <a:noFill/>
          </p:spPr>
          <p:txBody>
            <a:bodyPr wrap="none" lIns="0" tIns="0" rIns="0" bIns="0" anchor="ctr">
              <a:spAutoFit/>
            </a:bodyPr>
            <a:lstStyle/>
            <a:p>
              <a:pPr algn="ctr"/>
              <a:r>
                <a:rPr lang="en-US" sz="1600" b="1" dirty="0" smtClean="0">
                  <a:solidFill>
                    <a:srgbClr val="000000"/>
                  </a:solidFill>
                  <a:latin typeface="Cambria"/>
                </a:rPr>
                <a:t>q</a:t>
              </a:r>
              <a:endParaRPr sz="1600" b="1" dirty="0">
                <a:solidFill>
                  <a:srgbClr val="000000"/>
                </a:solidFill>
                <a:latin typeface="Cambria"/>
              </a:endParaRPr>
            </a:p>
          </p:txBody>
        </p:sp>
        <p:cxnSp>
          <p:nvCxnSpPr>
            <p:cNvPr id="184" name="Connector 415"/>
            <p:cNvCxnSpPr/>
            <p:nvPr/>
          </p:nvCxnSpPr>
          <p:spPr>
            <a:xfrm flipH="1">
              <a:off x="42873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rot="12150000">
              <a:off x="3984124"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1001</a:t>
              </a:r>
            </a:p>
          </p:txBody>
        </p:sp>
        <p:sp>
          <p:nvSpPr>
            <p:cNvPr id="186" name="TextBox 185"/>
            <p:cNvSpPr txBox="1"/>
            <p:nvPr/>
          </p:nvSpPr>
          <p:spPr>
            <a:xfrm rot="12150000">
              <a:off x="3809621"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14</a:t>
              </a:r>
            </a:p>
          </p:txBody>
        </p:sp>
        <p:cxnSp>
          <p:nvCxnSpPr>
            <p:cNvPr id="187" name="Connector 418"/>
            <p:cNvCxnSpPr/>
            <p:nvPr/>
          </p:nvCxnSpPr>
          <p:spPr>
            <a:xfrm flipH="1">
              <a:off x="3658453"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rot="13500000">
              <a:off x="3485748"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1010</a:t>
              </a:r>
            </a:p>
          </p:txBody>
        </p:sp>
        <p:sp>
          <p:nvSpPr>
            <p:cNvPr id="189" name="TextBox 188"/>
            <p:cNvSpPr txBox="1"/>
            <p:nvPr/>
          </p:nvSpPr>
          <p:spPr>
            <a:xfrm rot="13500000">
              <a:off x="3085788"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1</a:t>
              </a:r>
            </a:p>
          </p:txBody>
        </p:sp>
        <p:cxnSp>
          <p:nvCxnSpPr>
            <p:cNvPr id="190" name="Connector 421"/>
            <p:cNvCxnSpPr/>
            <p:nvPr/>
          </p:nvCxnSpPr>
          <p:spPr>
            <a:xfrm flipH="1">
              <a:off x="3238233"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rot="14850000">
              <a:off x="3152743"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1011</a:t>
              </a:r>
            </a:p>
          </p:txBody>
        </p:sp>
        <p:cxnSp>
          <p:nvCxnSpPr>
            <p:cNvPr id="192" name="Connector 424"/>
            <p:cNvCxnSpPr/>
            <p:nvPr/>
          </p:nvCxnSpPr>
          <p:spPr>
            <a:xfrm flipH="1">
              <a:off x="3090672"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93" name="TextBox 192"/>
            <p:cNvSpPr txBox="1"/>
            <p:nvPr/>
          </p:nvSpPr>
          <p:spPr>
            <a:xfrm rot="16200000">
              <a:off x="3035808"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1100</a:t>
              </a:r>
            </a:p>
          </p:txBody>
        </p:sp>
        <p:cxnSp>
          <p:nvCxnSpPr>
            <p:cNvPr id="194" name="Connector 427"/>
            <p:cNvCxnSpPr/>
            <p:nvPr/>
          </p:nvCxnSpPr>
          <p:spPr>
            <a:xfrm flipH="1" flipV="1">
              <a:off x="3238233"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95" name="TextBox 194"/>
            <p:cNvSpPr txBox="1"/>
            <p:nvPr/>
          </p:nvSpPr>
          <p:spPr>
            <a:xfrm rot="17550000">
              <a:off x="3152743"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1101</a:t>
              </a:r>
            </a:p>
          </p:txBody>
        </p:sp>
        <p:cxnSp>
          <p:nvCxnSpPr>
            <p:cNvPr id="196" name="Connector 430"/>
            <p:cNvCxnSpPr/>
            <p:nvPr/>
          </p:nvCxnSpPr>
          <p:spPr>
            <a:xfrm flipH="1" flipV="1">
              <a:off x="3658453"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97" name="TextBox 196"/>
            <p:cNvSpPr txBox="1"/>
            <p:nvPr/>
          </p:nvSpPr>
          <p:spPr>
            <a:xfrm rot="18900000">
              <a:off x="3485748"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1110</a:t>
              </a:r>
            </a:p>
          </p:txBody>
        </p:sp>
        <p:sp>
          <p:nvSpPr>
            <p:cNvPr id="198" name="TextBox 197"/>
            <p:cNvSpPr txBox="1"/>
            <p:nvPr/>
          </p:nvSpPr>
          <p:spPr>
            <a:xfrm rot="18900000">
              <a:off x="3356970" y="2688357"/>
              <a:ext cx="189155" cy="246221"/>
            </a:xfrm>
            <a:prstGeom prst="rect">
              <a:avLst/>
            </a:prstGeom>
            <a:noFill/>
          </p:spPr>
          <p:txBody>
            <a:bodyPr wrap="none" lIns="0" tIns="0" rIns="0" bIns="0" anchor="ctr">
              <a:spAutoFit/>
            </a:bodyPr>
            <a:lstStyle/>
            <a:p>
              <a:pPr algn="ctr"/>
              <a:r>
                <a:rPr lang="en-US" sz="1600" b="1" dirty="0">
                  <a:solidFill>
                    <a:srgbClr val="000000"/>
                  </a:solidFill>
                  <a:latin typeface="Cambria"/>
                </a:rPr>
                <a:t>@</a:t>
              </a:r>
              <a:endParaRPr sz="1600" b="1" dirty="0">
                <a:solidFill>
                  <a:srgbClr val="000000"/>
                </a:solidFill>
                <a:latin typeface="Cambria"/>
              </a:endParaRPr>
            </a:p>
          </p:txBody>
        </p:sp>
        <p:cxnSp>
          <p:nvCxnSpPr>
            <p:cNvPr id="199" name="Connector 433"/>
            <p:cNvCxnSpPr/>
            <p:nvPr/>
          </p:nvCxnSpPr>
          <p:spPr>
            <a:xfrm flipH="1" flipV="1">
              <a:off x="42873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rot="20250000">
              <a:off x="3984124"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1111</a:t>
              </a:r>
            </a:p>
          </p:txBody>
        </p:sp>
        <p:sp>
          <p:nvSpPr>
            <p:cNvPr id="201" name="TextBox 200"/>
            <p:cNvSpPr txBox="1"/>
            <p:nvPr/>
          </p:nvSpPr>
          <p:spPr>
            <a:xfrm rot="20250000">
              <a:off x="3809621"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5</a:t>
              </a:r>
            </a:p>
          </p:txBody>
        </p:sp>
        <p:sp>
          <p:nvSpPr>
            <p:cNvPr id="202" name="TextBox 201"/>
            <p:cNvSpPr txBox="1"/>
            <p:nvPr/>
          </p:nvSpPr>
          <p:spPr>
            <a:xfrm>
              <a:off x="3977639" y="3566160"/>
              <a:ext cx="2103120" cy="1645919"/>
            </a:xfrm>
            <a:prstGeom prst="rect">
              <a:avLst/>
            </a:prstGeom>
            <a:noFill/>
          </p:spPr>
          <p:txBody>
            <a:bodyPr wrap="square" lIns="0" tIns="0" rIns="0" bIns="0" anchor="ctr">
              <a:spAutoFit/>
            </a:bodyPr>
            <a:lstStyle/>
            <a:p>
              <a:pPr algn="ctr"/>
              <a:r>
                <a:rPr sz="1600" dirty="0">
                  <a:solidFill>
                    <a:srgbClr val="000000"/>
                  </a:solidFill>
                  <a:latin typeface="Cambria"/>
                </a:rPr>
                <a:t>4-bit</a:t>
              </a:r>
            </a:p>
            <a:p>
              <a:pPr algn="ctr"/>
              <a:r>
                <a:rPr sz="1600" dirty="0">
                  <a:solidFill>
                    <a:srgbClr val="000000"/>
                  </a:solidFill>
                  <a:latin typeface="Cambria"/>
                </a:rPr>
                <a:t>arbitrary</a:t>
              </a:r>
            </a:p>
            <a:p>
              <a:pPr algn="ctr"/>
              <a:r>
                <a:rPr sz="1600" dirty="0">
                  <a:solidFill>
                    <a:srgbClr val="000000"/>
                  </a:solidFill>
                  <a:latin typeface="Cambria"/>
                </a:rPr>
                <a:t>mapping</a:t>
              </a:r>
            </a:p>
          </p:txBody>
        </p:sp>
      </p:grpSp>
    </p:spTree>
    <p:extLst>
      <p:ext uri="{BB962C8B-B14F-4D97-AF65-F5344CB8AC3E}">
        <p14:creationId xmlns:p14="http://schemas.microsoft.com/office/powerpoint/2010/main" val="85979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Why an Arbitrary Mapping Fails</a:t>
            </a:r>
            <a:endParaRPr lang="en-US" sz="36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548640" algn="l"/>
                <a:tab pos="2011680" algn="l"/>
              </a:tabLst>
            </a:pPr>
            <a:r>
              <a:rPr sz="2400" b="0" dirty="0">
                <a:latin typeface="Cambria"/>
              </a:rPr>
              <a:t>No relation between the </a:t>
            </a:r>
            <a:r>
              <a:rPr sz="2400" b="1" dirty="0">
                <a:latin typeface="Cambria"/>
              </a:rPr>
              <a:t>pattern</a:t>
            </a:r>
            <a:r>
              <a:rPr sz="2400" b="0" dirty="0">
                <a:latin typeface="Cambria"/>
              </a:rPr>
              <a:t> and the </a:t>
            </a:r>
            <a:r>
              <a:rPr sz="2400" b="1" dirty="0">
                <a:latin typeface="Cambria"/>
              </a:rPr>
              <a:t>value</a:t>
            </a:r>
          </a:p>
          <a:p>
            <a:pPr>
              <a:tabLst>
                <a:tab pos="548640" algn="l"/>
                <a:tab pos="2011680" algn="l"/>
              </a:tabLst>
            </a:pPr>
            <a:r>
              <a:rPr sz="2400" dirty="0">
                <a:latin typeface="Cambria"/>
              </a:rPr>
              <a:t> </a:t>
            </a:r>
          </a:p>
          <a:p>
            <a:pPr>
              <a:tabLst>
                <a:tab pos="548640" algn="l"/>
                <a:tab pos="2011680" algn="l"/>
              </a:tabLst>
            </a:pPr>
            <a:r>
              <a:rPr sz="2400" b="0" dirty="0">
                <a:latin typeface="Cambria"/>
              </a:rPr>
              <a:t>Adding 1 could move anywhere on the circle</a:t>
            </a:r>
          </a:p>
          <a:p>
            <a:pPr>
              <a:tabLst>
                <a:tab pos="548640" algn="l"/>
                <a:tab pos="2011680" algn="l"/>
              </a:tabLst>
            </a:pPr>
            <a:r>
              <a:rPr sz="2400" dirty="0">
                <a:latin typeface="Cambria"/>
              </a:rPr>
              <a:t> </a:t>
            </a:r>
          </a:p>
          <a:p>
            <a:pPr>
              <a:tabLst>
                <a:tab pos="548640" algn="l"/>
                <a:tab pos="2011680" algn="l"/>
              </a:tabLst>
            </a:pPr>
            <a:r>
              <a:rPr sz="2400" b="0" dirty="0">
                <a:latin typeface="Cambria"/>
              </a:rPr>
              <a:t>Every operation needs a </a:t>
            </a:r>
            <a:r>
              <a:rPr sz="2400" b="1" dirty="0">
                <a:latin typeface="Cambria"/>
              </a:rPr>
              <a:t>lookup table</a:t>
            </a:r>
          </a:p>
          <a:p>
            <a:pPr>
              <a:tabLst>
                <a:tab pos="548640" algn="l"/>
                <a:tab pos="2011680" algn="l"/>
              </a:tabLst>
            </a:pPr>
            <a:r>
              <a:rPr sz="2400" dirty="0">
                <a:latin typeface="Cambria"/>
              </a:rPr>
              <a:t> </a:t>
            </a:r>
          </a:p>
          <a:p>
            <a:pPr>
              <a:tabLst>
                <a:tab pos="548640" algn="l"/>
                <a:tab pos="2011680" algn="l"/>
              </a:tabLst>
            </a:pPr>
            <a:r>
              <a:rPr sz="2400" b="0" dirty="0">
                <a:latin typeface="Cambria"/>
              </a:rPr>
              <a:t>	4 bits	16 entries</a:t>
            </a:r>
          </a:p>
          <a:p>
            <a:pPr>
              <a:tabLst>
                <a:tab pos="548640" algn="l"/>
                <a:tab pos="2011680" algn="l"/>
              </a:tabLst>
            </a:pPr>
            <a:r>
              <a:rPr sz="2400" b="0" dirty="0">
                <a:latin typeface="Cambria"/>
              </a:rPr>
              <a:t>	64 bits	18 billion </a:t>
            </a:r>
            <a:r>
              <a:rPr sz="2400" b="0" dirty="0" err="1">
                <a:latin typeface="Cambria"/>
              </a:rPr>
              <a:t>billion</a:t>
            </a:r>
            <a:r>
              <a:rPr sz="2400" b="0" dirty="0">
                <a:latin typeface="Cambria"/>
              </a:rPr>
              <a:t> entries</a:t>
            </a:r>
          </a:p>
          <a:p>
            <a:pPr>
              <a:tabLst>
                <a:tab pos="548640" algn="l"/>
                <a:tab pos="2011680" algn="l"/>
              </a:tabLst>
            </a:pPr>
            <a:r>
              <a:rPr sz="2400" dirty="0">
                <a:latin typeface="Cambria"/>
              </a:rPr>
              <a:t> </a:t>
            </a:r>
          </a:p>
          <a:p>
            <a:pPr>
              <a:tabLst>
                <a:tab pos="548640" algn="l"/>
                <a:tab pos="2011680" algn="l"/>
              </a:tabLst>
            </a:pPr>
            <a:r>
              <a:rPr sz="2400" b="0" dirty="0">
                <a:latin typeface="Cambria"/>
              </a:rPr>
              <a:t>We need a mapping that </a:t>
            </a:r>
            <a:r>
              <a:rPr sz="2400" b="1" dirty="0">
                <a:latin typeface="Cambria"/>
              </a:rPr>
              <a:t>computes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Positional Notation</a:t>
            </a:r>
            <a:endParaRPr lang="en-US" sz="4400" b="0" u="none" strike="noStrike" dirty="0">
              <a:solidFill>
                <a:srgbClr val="000000"/>
              </a:solidFill>
              <a:effectLst/>
              <a:uFillTx/>
              <a:latin typeface="Arial"/>
            </a:endParaRPr>
          </a:p>
        </p:txBody>
      </p:sp>
      <p:sp>
        <p:nvSpPr>
          <p:cNvPr id="388" name="TextBox 387"/>
          <p:cNvSpPr txBox="1"/>
          <p:nvPr/>
        </p:nvSpPr>
        <p:spPr>
          <a:xfrm>
            <a:off x="2651760" y="2130552"/>
            <a:ext cx="1188720" cy="310896"/>
          </a:xfrm>
          <a:prstGeom prst="rect">
            <a:avLst/>
          </a:prstGeom>
          <a:noFill/>
        </p:spPr>
        <p:txBody>
          <a:bodyPr wrap="square" lIns="0" tIns="0" rIns="0" bIns="0">
            <a:spAutoFit/>
          </a:bodyPr>
          <a:lstStyle/>
          <a:p>
            <a:pPr algn="ctr"/>
            <a:r>
              <a:rPr sz="2200" b="1" i="0">
                <a:solidFill>
                  <a:srgbClr val="000000"/>
                </a:solidFill>
                <a:latin typeface="Cambria"/>
              </a:rPr>
              <a:t>2³ = 8</a:t>
            </a:r>
          </a:p>
        </p:txBody>
      </p:sp>
      <p:sp>
        <p:nvSpPr>
          <p:cNvPr id="389" name="Rectangle 388"/>
          <p:cNvSpPr/>
          <p:nvPr/>
        </p:nvSpPr>
        <p:spPr>
          <a:xfrm>
            <a:off x="2651760" y="2606040"/>
            <a:ext cx="11887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1</a:t>
            </a:r>
          </a:p>
        </p:txBody>
      </p:sp>
      <p:sp>
        <p:nvSpPr>
          <p:cNvPr id="390" name="TextBox 389"/>
          <p:cNvSpPr txBox="1"/>
          <p:nvPr/>
        </p:nvSpPr>
        <p:spPr>
          <a:xfrm>
            <a:off x="3840480" y="2130552"/>
            <a:ext cx="1188720" cy="310896"/>
          </a:xfrm>
          <a:prstGeom prst="rect">
            <a:avLst/>
          </a:prstGeom>
          <a:noFill/>
        </p:spPr>
        <p:txBody>
          <a:bodyPr wrap="square" lIns="0" tIns="0" rIns="0" bIns="0">
            <a:spAutoFit/>
          </a:bodyPr>
          <a:lstStyle/>
          <a:p>
            <a:pPr algn="ctr"/>
            <a:r>
              <a:rPr sz="2200" b="1" i="0">
                <a:solidFill>
                  <a:srgbClr val="000000"/>
                </a:solidFill>
                <a:latin typeface="Cambria"/>
              </a:rPr>
              <a:t>2² = 4</a:t>
            </a:r>
          </a:p>
        </p:txBody>
      </p:sp>
      <p:sp>
        <p:nvSpPr>
          <p:cNvPr id="391" name="Rectangle 390"/>
          <p:cNvSpPr/>
          <p:nvPr/>
        </p:nvSpPr>
        <p:spPr>
          <a:xfrm>
            <a:off x="3840480" y="2606040"/>
            <a:ext cx="1188720" cy="8686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0</a:t>
            </a:r>
          </a:p>
        </p:txBody>
      </p:sp>
      <p:sp>
        <p:nvSpPr>
          <p:cNvPr id="392" name="TextBox 391"/>
          <p:cNvSpPr txBox="1"/>
          <p:nvPr/>
        </p:nvSpPr>
        <p:spPr>
          <a:xfrm>
            <a:off x="5029200" y="2130552"/>
            <a:ext cx="1188720" cy="310896"/>
          </a:xfrm>
          <a:prstGeom prst="rect">
            <a:avLst/>
          </a:prstGeom>
          <a:noFill/>
        </p:spPr>
        <p:txBody>
          <a:bodyPr wrap="square" lIns="0" tIns="0" rIns="0" bIns="0">
            <a:spAutoFit/>
          </a:bodyPr>
          <a:lstStyle/>
          <a:p>
            <a:pPr algn="ctr"/>
            <a:r>
              <a:rPr sz="2200" b="1" i="0">
                <a:solidFill>
                  <a:srgbClr val="000000"/>
                </a:solidFill>
                <a:latin typeface="Cambria"/>
              </a:rPr>
              <a:t>2¹ = 2</a:t>
            </a:r>
          </a:p>
        </p:txBody>
      </p:sp>
      <p:sp>
        <p:nvSpPr>
          <p:cNvPr id="393" name="Rectangle 392"/>
          <p:cNvSpPr/>
          <p:nvPr/>
        </p:nvSpPr>
        <p:spPr>
          <a:xfrm>
            <a:off x="5029200" y="2606040"/>
            <a:ext cx="11887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1</a:t>
            </a:r>
          </a:p>
        </p:txBody>
      </p:sp>
      <p:sp>
        <p:nvSpPr>
          <p:cNvPr id="394" name="TextBox 393"/>
          <p:cNvSpPr txBox="1"/>
          <p:nvPr/>
        </p:nvSpPr>
        <p:spPr>
          <a:xfrm>
            <a:off x="6217920" y="2130552"/>
            <a:ext cx="1188720" cy="310896"/>
          </a:xfrm>
          <a:prstGeom prst="rect">
            <a:avLst/>
          </a:prstGeom>
          <a:noFill/>
        </p:spPr>
        <p:txBody>
          <a:bodyPr wrap="square" lIns="0" tIns="0" rIns="0" bIns="0">
            <a:spAutoFit/>
          </a:bodyPr>
          <a:lstStyle/>
          <a:p>
            <a:pPr algn="ctr"/>
            <a:r>
              <a:rPr sz="2200" b="1" i="0">
                <a:solidFill>
                  <a:srgbClr val="000000"/>
                </a:solidFill>
                <a:latin typeface="Cambria"/>
              </a:rPr>
              <a:t>2⁰ = 1</a:t>
            </a:r>
          </a:p>
        </p:txBody>
      </p:sp>
      <p:sp>
        <p:nvSpPr>
          <p:cNvPr id="395" name="Rectangle 394"/>
          <p:cNvSpPr/>
          <p:nvPr/>
        </p:nvSpPr>
        <p:spPr>
          <a:xfrm>
            <a:off x="6217920" y="2606040"/>
            <a:ext cx="11887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1</a:t>
            </a:r>
          </a:p>
        </p:txBody>
      </p:sp>
      <p:sp>
        <p:nvSpPr>
          <p:cNvPr id="396" name="TextBox 395"/>
          <p:cNvSpPr txBox="1"/>
          <p:nvPr/>
        </p:nvSpPr>
        <p:spPr>
          <a:xfrm>
            <a:off x="2651760" y="3977639"/>
            <a:ext cx="1188720" cy="310896"/>
          </a:xfrm>
          <a:prstGeom prst="rect">
            <a:avLst/>
          </a:prstGeom>
          <a:noFill/>
        </p:spPr>
        <p:txBody>
          <a:bodyPr wrap="square" lIns="0" tIns="0" rIns="0" bIns="0">
            <a:spAutoFit/>
          </a:bodyPr>
          <a:lstStyle/>
          <a:p>
            <a:pPr algn="ctr"/>
            <a:r>
              <a:rPr sz="2600" b="0" i="0">
                <a:solidFill>
                  <a:srgbClr val="000000"/>
                </a:solidFill>
                <a:latin typeface="Cambria"/>
              </a:rPr>
              <a:t>1 · 8</a:t>
            </a:r>
          </a:p>
        </p:txBody>
      </p:sp>
      <p:sp>
        <p:nvSpPr>
          <p:cNvPr id="397" name="TextBox 396"/>
          <p:cNvSpPr txBox="1"/>
          <p:nvPr/>
        </p:nvSpPr>
        <p:spPr>
          <a:xfrm>
            <a:off x="3246120" y="3977639"/>
            <a:ext cx="1188720" cy="310896"/>
          </a:xfrm>
          <a:prstGeom prst="rect">
            <a:avLst/>
          </a:prstGeom>
          <a:noFill/>
        </p:spPr>
        <p:txBody>
          <a:bodyPr wrap="square" lIns="0" tIns="0" rIns="0" bIns="0">
            <a:spAutoFit/>
          </a:bodyPr>
          <a:lstStyle/>
          <a:p>
            <a:pPr algn="ctr"/>
            <a:r>
              <a:rPr sz="2600" b="0" i="0">
                <a:solidFill>
                  <a:srgbClr val="000000"/>
                </a:solidFill>
                <a:latin typeface="Cambria"/>
              </a:rPr>
              <a:t>+</a:t>
            </a:r>
          </a:p>
        </p:txBody>
      </p:sp>
      <p:sp>
        <p:nvSpPr>
          <p:cNvPr id="398" name="TextBox 397"/>
          <p:cNvSpPr txBox="1"/>
          <p:nvPr/>
        </p:nvSpPr>
        <p:spPr>
          <a:xfrm>
            <a:off x="3840480" y="3977639"/>
            <a:ext cx="1188720" cy="310896"/>
          </a:xfrm>
          <a:prstGeom prst="rect">
            <a:avLst/>
          </a:prstGeom>
          <a:noFill/>
        </p:spPr>
        <p:txBody>
          <a:bodyPr wrap="square" lIns="0" tIns="0" rIns="0" bIns="0">
            <a:spAutoFit/>
          </a:bodyPr>
          <a:lstStyle/>
          <a:p>
            <a:pPr algn="ctr"/>
            <a:r>
              <a:rPr sz="2600" b="0" i="0">
                <a:solidFill>
                  <a:srgbClr val="000000"/>
                </a:solidFill>
                <a:latin typeface="Cambria"/>
              </a:rPr>
              <a:t>0 · 4</a:t>
            </a:r>
          </a:p>
        </p:txBody>
      </p:sp>
      <p:sp>
        <p:nvSpPr>
          <p:cNvPr id="399" name="TextBox 398"/>
          <p:cNvSpPr txBox="1"/>
          <p:nvPr/>
        </p:nvSpPr>
        <p:spPr>
          <a:xfrm>
            <a:off x="4434840" y="3977639"/>
            <a:ext cx="1188720" cy="310896"/>
          </a:xfrm>
          <a:prstGeom prst="rect">
            <a:avLst/>
          </a:prstGeom>
          <a:noFill/>
        </p:spPr>
        <p:txBody>
          <a:bodyPr wrap="square" lIns="0" tIns="0" rIns="0" bIns="0">
            <a:spAutoFit/>
          </a:bodyPr>
          <a:lstStyle/>
          <a:p>
            <a:pPr algn="ctr"/>
            <a:r>
              <a:rPr sz="2600" b="0" i="0">
                <a:solidFill>
                  <a:srgbClr val="000000"/>
                </a:solidFill>
                <a:latin typeface="Cambria"/>
              </a:rPr>
              <a:t>+</a:t>
            </a:r>
          </a:p>
        </p:txBody>
      </p:sp>
      <p:sp>
        <p:nvSpPr>
          <p:cNvPr id="400" name="TextBox 399"/>
          <p:cNvSpPr txBox="1"/>
          <p:nvPr/>
        </p:nvSpPr>
        <p:spPr>
          <a:xfrm>
            <a:off x="5029200" y="3977639"/>
            <a:ext cx="1188720" cy="310896"/>
          </a:xfrm>
          <a:prstGeom prst="rect">
            <a:avLst/>
          </a:prstGeom>
          <a:noFill/>
        </p:spPr>
        <p:txBody>
          <a:bodyPr wrap="square" lIns="0" tIns="0" rIns="0" bIns="0">
            <a:spAutoFit/>
          </a:bodyPr>
          <a:lstStyle/>
          <a:p>
            <a:pPr algn="ctr"/>
            <a:r>
              <a:rPr sz="2600" b="0" i="0">
                <a:solidFill>
                  <a:srgbClr val="000000"/>
                </a:solidFill>
                <a:latin typeface="Cambria"/>
              </a:rPr>
              <a:t>1 · 2</a:t>
            </a:r>
          </a:p>
        </p:txBody>
      </p:sp>
      <p:sp>
        <p:nvSpPr>
          <p:cNvPr id="401" name="TextBox 400"/>
          <p:cNvSpPr txBox="1"/>
          <p:nvPr/>
        </p:nvSpPr>
        <p:spPr>
          <a:xfrm>
            <a:off x="5623560" y="3977639"/>
            <a:ext cx="1188720" cy="310896"/>
          </a:xfrm>
          <a:prstGeom prst="rect">
            <a:avLst/>
          </a:prstGeom>
          <a:noFill/>
        </p:spPr>
        <p:txBody>
          <a:bodyPr wrap="square" lIns="0" tIns="0" rIns="0" bIns="0">
            <a:spAutoFit/>
          </a:bodyPr>
          <a:lstStyle/>
          <a:p>
            <a:pPr algn="ctr"/>
            <a:r>
              <a:rPr sz="2600" b="0" i="0">
                <a:solidFill>
                  <a:srgbClr val="000000"/>
                </a:solidFill>
                <a:latin typeface="Cambria"/>
              </a:rPr>
              <a:t>+</a:t>
            </a:r>
          </a:p>
        </p:txBody>
      </p:sp>
      <p:sp>
        <p:nvSpPr>
          <p:cNvPr id="402" name="TextBox 401"/>
          <p:cNvSpPr txBox="1"/>
          <p:nvPr/>
        </p:nvSpPr>
        <p:spPr>
          <a:xfrm>
            <a:off x="6217920" y="3977639"/>
            <a:ext cx="1188720" cy="310896"/>
          </a:xfrm>
          <a:prstGeom prst="rect">
            <a:avLst/>
          </a:prstGeom>
          <a:noFill/>
        </p:spPr>
        <p:txBody>
          <a:bodyPr wrap="square" lIns="0" tIns="0" rIns="0" bIns="0">
            <a:spAutoFit/>
          </a:bodyPr>
          <a:lstStyle/>
          <a:p>
            <a:pPr algn="ctr"/>
            <a:r>
              <a:rPr sz="2600" b="0" i="0">
                <a:solidFill>
                  <a:srgbClr val="000000"/>
                </a:solidFill>
                <a:latin typeface="Cambria"/>
              </a:rPr>
              <a:t>1 · 1</a:t>
            </a:r>
          </a:p>
        </p:txBody>
      </p:sp>
      <p:sp>
        <p:nvSpPr>
          <p:cNvPr id="403" name="TextBox 402"/>
          <p:cNvSpPr txBox="1"/>
          <p:nvPr/>
        </p:nvSpPr>
        <p:spPr>
          <a:xfrm>
            <a:off x="822960" y="4754879"/>
            <a:ext cx="8412480" cy="310896"/>
          </a:xfrm>
          <a:prstGeom prst="rect">
            <a:avLst/>
          </a:prstGeom>
          <a:noFill/>
        </p:spPr>
        <p:txBody>
          <a:bodyPr wrap="square" lIns="0" tIns="0" rIns="0" bIns="0">
            <a:spAutoFit/>
          </a:bodyPr>
          <a:lstStyle/>
          <a:p>
            <a:pPr algn="ctr"/>
            <a:r>
              <a:rPr sz="3000" b="0" i="0">
                <a:solidFill>
                  <a:srgbClr val="000000"/>
                </a:solidFill>
                <a:latin typeface="Cambria"/>
              </a:rPr>
              <a:t>=   </a:t>
            </a:r>
            <a:r>
              <a:rPr sz="3000" b="1" i="0">
                <a:solidFill>
                  <a:srgbClr val="000000"/>
                </a:solidFill>
                <a:latin typeface="Cambria"/>
              </a:rPr>
              <a:t>11</a:t>
            </a:r>
          </a:p>
        </p:txBody>
      </p:sp>
      <p:sp>
        <p:nvSpPr>
          <p:cNvPr id="404" name="TextBox 403"/>
          <p:cNvSpPr txBox="1"/>
          <p:nvPr/>
        </p:nvSpPr>
        <p:spPr>
          <a:xfrm>
            <a:off x="822960" y="5486400"/>
            <a:ext cx="8412480" cy="310896"/>
          </a:xfrm>
          <a:prstGeom prst="rect">
            <a:avLst/>
          </a:prstGeom>
          <a:noFill/>
        </p:spPr>
        <p:txBody>
          <a:bodyPr wrap="square" lIns="0" tIns="0" rIns="0" bIns="0">
            <a:spAutoFit/>
          </a:bodyPr>
          <a:lstStyle/>
          <a:p>
            <a:pPr algn="ctr"/>
            <a:r>
              <a:rPr sz="2200" b="0" i="1">
                <a:solidFill>
                  <a:srgbClr val="000000"/>
                </a:solidFill>
                <a:latin typeface="Cambria"/>
              </a:rPr>
              <a:t>Each column has a </a:t>
            </a:r>
            <a:r>
              <a:rPr sz="2200" b="1" i="1">
                <a:solidFill>
                  <a:srgbClr val="000000"/>
                </a:solidFill>
                <a:latin typeface="Cambria"/>
              </a:rPr>
              <a:t>weight</a:t>
            </a:r>
            <a:r>
              <a:rPr sz="2200" b="0" i="1">
                <a:solidFill>
                  <a:srgbClr val="000000"/>
                </a:solidFill>
                <a:latin typeface="Cambria"/>
              </a:rPr>
              <a:t>  -  a power of two</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Unsigned Rule</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822960" algn="l"/>
                <a:tab pos="3566160" algn="l"/>
                <a:tab pos="5760720" algn="l"/>
              </a:tabLst>
            </a:pPr>
            <a:r>
              <a:rPr sz="2300" b="0">
                <a:latin typeface="Cambria"/>
              </a:rPr>
              <a:t>Number  =  sum of the </a:t>
            </a:r>
            <a:r>
              <a:rPr sz="2300" b="1">
                <a:latin typeface="Cambria"/>
              </a:rPr>
              <a:t>weights</a:t>
            </a:r>
            <a:r>
              <a:rPr sz="2300" b="0">
                <a:latin typeface="Cambria"/>
              </a:rPr>
              <a:t> whose bit is 1</a:t>
            </a:r>
          </a:p>
          <a:p>
            <a:pPr>
              <a:tabLst>
                <a:tab pos="822960" algn="l"/>
                <a:tab pos="3566160" algn="l"/>
                <a:tab pos="5760720" algn="l"/>
              </a:tabLst>
            </a:pPr>
            <a:r>
              <a:rPr sz="2300">
                <a:latin typeface="Cambria"/>
              </a:rPr>
              <a:t> </a:t>
            </a:r>
          </a:p>
          <a:p>
            <a:pPr>
              <a:tabLst>
                <a:tab pos="822960" algn="l"/>
                <a:tab pos="3566160" algn="l"/>
                <a:tab pos="5760720" algn="l"/>
              </a:tabLst>
            </a:pPr>
            <a:r>
              <a:rPr sz="2300" b="0">
                <a:latin typeface="Cambria"/>
              </a:rPr>
              <a:t>	b3·2³   +   b2·2²   +   b1·2¹   +   b0·2⁰</a:t>
            </a:r>
          </a:p>
          <a:p>
            <a:pPr>
              <a:tabLst>
                <a:tab pos="822960" algn="l"/>
                <a:tab pos="3566160" algn="l"/>
                <a:tab pos="5760720" algn="l"/>
              </a:tabLst>
            </a:pPr>
            <a:r>
              <a:rPr sz="2300">
                <a:latin typeface="Cambria"/>
              </a:rPr>
              <a:t> </a:t>
            </a:r>
          </a:p>
          <a:p>
            <a:pPr>
              <a:tabLst>
                <a:tab pos="822960" algn="l"/>
                <a:tab pos="3566160" algn="l"/>
                <a:tab pos="5760720" algn="l"/>
              </a:tabLst>
            </a:pPr>
            <a:r>
              <a:rPr sz="2300" b="0">
                <a:latin typeface="Cambria"/>
              </a:rPr>
              <a:t>1011	=  8 + 0 + 2 + 1	=  11</a:t>
            </a:r>
          </a:p>
          <a:p>
            <a:pPr>
              <a:tabLst>
                <a:tab pos="822960" algn="l"/>
                <a:tab pos="3566160" algn="l"/>
                <a:tab pos="5760720" algn="l"/>
              </a:tabLst>
            </a:pPr>
            <a:r>
              <a:rPr sz="2300" b="0">
                <a:latin typeface="Cambria"/>
              </a:rPr>
              <a:t>1111	=  8 + 4 + 2 + 1	=  15</a:t>
            </a:r>
          </a:p>
          <a:p>
            <a:pPr>
              <a:tabLst>
                <a:tab pos="822960" algn="l"/>
                <a:tab pos="3566160" algn="l"/>
                <a:tab pos="5760720" algn="l"/>
              </a:tabLst>
            </a:pPr>
            <a:r>
              <a:rPr sz="2300" b="0">
                <a:latin typeface="Cambria"/>
              </a:rPr>
              <a:t>0000	=  0	=  0</a:t>
            </a:r>
          </a:p>
          <a:p>
            <a:pPr>
              <a:tabLst>
                <a:tab pos="822960" algn="l"/>
                <a:tab pos="3566160" algn="l"/>
                <a:tab pos="5760720" algn="l"/>
              </a:tabLst>
            </a:pPr>
            <a:r>
              <a:rPr sz="2300">
                <a:latin typeface="Cambria"/>
              </a:rPr>
              <a:t> </a:t>
            </a:r>
          </a:p>
          <a:p>
            <a:pPr>
              <a:tabLst>
                <a:tab pos="822960" algn="l"/>
                <a:tab pos="3566160" algn="l"/>
                <a:tab pos="5760720" algn="l"/>
              </a:tabLst>
            </a:pPr>
            <a:r>
              <a:rPr sz="2300" b="0">
                <a:latin typeface="Cambria"/>
              </a:rPr>
              <a:t>One rule, any number of bits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Unsigned Representation</a:t>
            </a:r>
            <a:endParaRPr lang="en-US" sz="4000" b="0" u="none" strike="noStrike" dirty="0">
              <a:solidFill>
                <a:srgbClr val="000000"/>
              </a:solidFill>
              <a:effectLst/>
              <a:uFillTx/>
              <a:latin typeface="Arial"/>
            </a:endParaRPr>
          </a:p>
        </p:txBody>
      </p:sp>
      <p:sp>
        <p:nvSpPr>
          <p:cNvPr id="388" name="Oval 387"/>
          <p:cNvSpPr/>
          <p:nvPr/>
        </p:nvSpPr>
        <p:spPr>
          <a:xfrm>
            <a:off x="3182112" y="2542032"/>
            <a:ext cx="3694176" cy="3694176"/>
          </a:xfrm>
          <a:prstGeom prst="ellipse">
            <a:avLst/>
          </a:prstGeom>
          <a:no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9" name="Connector 388"/>
          <p:cNvCxnSpPr/>
          <p:nvPr/>
        </p:nvCxnSpPr>
        <p:spPr>
          <a:xfrm flipV="1">
            <a:off x="5029200" y="2450591"/>
            <a:ext cx="0"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0" name="TextBox 389"/>
          <p:cNvSpPr txBox="1"/>
          <p:nvPr/>
        </p:nvSpPr>
        <p:spPr>
          <a:xfrm>
            <a:off x="4572000" y="2706624"/>
            <a:ext cx="914400" cy="292608"/>
          </a:xfrm>
          <a:prstGeom prst="rect">
            <a:avLst/>
          </a:prstGeom>
          <a:noFill/>
        </p:spPr>
        <p:txBody>
          <a:bodyPr wrap="none" lIns="0" tIns="0" rIns="0" bIns="0" anchor="ctr">
            <a:spAutoFit/>
          </a:bodyPr>
          <a:lstStyle/>
          <a:p>
            <a:pPr algn="ctr"/>
            <a:r>
              <a:rPr sz="1250" b="0">
                <a:solidFill>
                  <a:srgbClr val="000000"/>
                </a:solidFill>
                <a:latin typeface="Cambria"/>
              </a:rPr>
              <a:t>0000</a:t>
            </a:r>
          </a:p>
        </p:txBody>
      </p:sp>
      <p:sp>
        <p:nvSpPr>
          <p:cNvPr id="391" name="TextBox 390"/>
          <p:cNvSpPr txBox="1"/>
          <p:nvPr/>
        </p:nvSpPr>
        <p:spPr>
          <a:xfrm>
            <a:off x="4663440" y="2011679"/>
            <a:ext cx="731520" cy="292608"/>
          </a:xfrm>
          <a:prstGeom prst="rect">
            <a:avLst/>
          </a:prstGeom>
          <a:noFill/>
        </p:spPr>
        <p:txBody>
          <a:bodyPr wrap="none" lIns="0" tIns="0" rIns="0" bIns="0" anchor="ctr">
            <a:spAutoFit/>
          </a:bodyPr>
          <a:lstStyle/>
          <a:p>
            <a:pPr algn="ctr"/>
            <a:r>
              <a:rPr sz="1600" b="1">
                <a:solidFill>
                  <a:srgbClr val="000000"/>
                </a:solidFill>
                <a:latin typeface="Cambria"/>
              </a:rPr>
              <a:t>0</a:t>
            </a:r>
          </a:p>
        </p:txBody>
      </p:sp>
      <p:cxnSp>
        <p:nvCxnSpPr>
          <p:cNvPr id="392" name="Connector 391"/>
          <p:cNvCxnSpPr/>
          <p:nvPr/>
        </p:nvCxnSpPr>
        <p:spPr>
          <a:xfrm flipV="1">
            <a:off x="57010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rot="1350000">
            <a:off x="5159875"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0001</a:t>
            </a:r>
          </a:p>
        </p:txBody>
      </p:sp>
      <p:sp>
        <p:nvSpPr>
          <p:cNvPr id="394" name="TextBox 393"/>
          <p:cNvSpPr txBox="1"/>
          <p:nvPr/>
        </p:nvSpPr>
        <p:spPr>
          <a:xfrm rot="1350000">
            <a:off x="5517258"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1</a:t>
            </a:r>
          </a:p>
        </p:txBody>
      </p:sp>
      <p:cxnSp>
        <p:nvCxnSpPr>
          <p:cNvPr id="395" name="Connector 394"/>
          <p:cNvCxnSpPr/>
          <p:nvPr/>
        </p:nvCxnSpPr>
        <p:spPr>
          <a:xfrm flipV="1">
            <a:off x="6270630"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rot="2700000">
            <a:off x="5658251"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0010</a:t>
            </a:r>
          </a:p>
        </p:txBody>
      </p:sp>
      <p:sp>
        <p:nvSpPr>
          <p:cNvPr id="397" name="TextBox 396"/>
          <p:cNvSpPr txBox="1"/>
          <p:nvPr/>
        </p:nvSpPr>
        <p:spPr>
          <a:xfrm rot="2700000">
            <a:off x="6241091"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2</a:t>
            </a:r>
          </a:p>
        </p:txBody>
      </p:sp>
      <p:cxnSp>
        <p:nvCxnSpPr>
          <p:cNvPr id="398" name="Connector 397"/>
          <p:cNvCxnSpPr/>
          <p:nvPr/>
        </p:nvCxnSpPr>
        <p:spPr>
          <a:xfrm flipV="1">
            <a:off x="6651207"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9" name="TextBox 398"/>
          <p:cNvSpPr txBox="1"/>
          <p:nvPr/>
        </p:nvSpPr>
        <p:spPr>
          <a:xfrm rot="4050000">
            <a:off x="5991256"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0011</a:t>
            </a:r>
          </a:p>
        </p:txBody>
      </p:sp>
      <p:sp>
        <p:nvSpPr>
          <p:cNvPr id="400" name="TextBox 399"/>
          <p:cNvSpPr txBox="1"/>
          <p:nvPr/>
        </p:nvSpPr>
        <p:spPr>
          <a:xfrm rot="4050000">
            <a:off x="6724740"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3</a:t>
            </a:r>
          </a:p>
        </p:txBody>
      </p:sp>
      <p:cxnSp>
        <p:nvCxnSpPr>
          <p:cNvPr id="401" name="Connector 400"/>
          <p:cNvCxnSpPr/>
          <p:nvPr/>
        </p:nvCxnSpPr>
        <p:spPr>
          <a:xfrm>
            <a:off x="6784848"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rot="5400000">
            <a:off x="6108192"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0100</a:t>
            </a:r>
          </a:p>
        </p:txBody>
      </p:sp>
      <p:sp>
        <p:nvSpPr>
          <p:cNvPr id="403" name="TextBox 402"/>
          <p:cNvSpPr txBox="1"/>
          <p:nvPr/>
        </p:nvSpPr>
        <p:spPr>
          <a:xfrm rot="5400000">
            <a:off x="6894575" y="4242816"/>
            <a:ext cx="731520" cy="292608"/>
          </a:xfrm>
          <a:prstGeom prst="rect">
            <a:avLst/>
          </a:prstGeom>
          <a:noFill/>
        </p:spPr>
        <p:txBody>
          <a:bodyPr wrap="none" lIns="0" tIns="0" rIns="0" bIns="0" anchor="ctr">
            <a:spAutoFit/>
          </a:bodyPr>
          <a:lstStyle/>
          <a:p>
            <a:pPr algn="ctr"/>
            <a:r>
              <a:rPr sz="1600" b="1">
                <a:solidFill>
                  <a:srgbClr val="000000"/>
                </a:solidFill>
                <a:latin typeface="Cambria"/>
              </a:rPr>
              <a:t>4</a:t>
            </a:r>
          </a:p>
        </p:txBody>
      </p:sp>
      <p:cxnSp>
        <p:nvCxnSpPr>
          <p:cNvPr id="404" name="Connector 403"/>
          <p:cNvCxnSpPr/>
          <p:nvPr/>
        </p:nvCxnSpPr>
        <p:spPr>
          <a:xfrm>
            <a:off x="6651207"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5" name="TextBox 404"/>
          <p:cNvSpPr txBox="1"/>
          <p:nvPr/>
        </p:nvSpPr>
        <p:spPr>
          <a:xfrm rot="6750000">
            <a:off x="5991256"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0101</a:t>
            </a:r>
          </a:p>
        </p:txBody>
      </p:sp>
      <p:sp>
        <p:nvSpPr>
          <p:cNvPr id="406" name="TextBox 405"/>
          <p:cNvSpPr txBox="1"/>
          <p:nvPr/>
        </p:nvSpPr>
        <p:spPr>
          <a:xfrm rot="6750000">
            <a:off x="6724740"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5</a:t>
            </a:r>
          </a:p>
        </p:txBody>
      </p:sp>
      <p:cxnSp>
        <p:nvCxnSpPr>
          <p:cNvPr id="407" name="Connector 406"/>
          <p:cNvCxnSpPr/>
          <p:nvPr/>
        </p:nvCxnSpPr>
        <p:spPr>
          <a:xfrm>
            <a:off x="6270630"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rot="8100000">
            <a:off x="5658251"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0110</a:t>
            </a:r>
          </a:p>
        </p:txBody>
      </p:sp>
      <p:sp>
        <p:nvSpPr>
          <p:cNvPr id="409" name="TextBox 408"/>
          <p:cNvSpPr txBox="1"/>
          <p:nvPr/>
        </p:nvSpPr>
        <p:spPr>
          <a:xfrm rot="8100000">
            <a:off x="6241091"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6</a:t>
            </a:r>
          </a:p>
        </p:txBody>
      </p:sp>
      <p:cxnSp>
        <p:nvCxnSpPr>
          <p:cNvPr id="410" name="Connector 409"/>
          <p:cNvCxnSpPr/>
          <p:nvPr/>
        </p:nvCxnSpPr>
        <p:spPr>
          <a:xfrm>
            <a:off x="57010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1" name="TextBox 410"/>
          <p:cNvSpPr txBox="1"/>
          <p:nvPr/>
        </p:nvSpPr>
        <p:spPr>
          <a:xfrm rot="9450000">
            <a:off x="5159875"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0111</a:t>
            </a:r>
          </a:p>
        </p:txBody>
      </p:sp>
      <p:sp>
        <p:nvSpPr>
          <p:cNvPr id="412" name="TextBox 411"/>
          <p:cNvSpPr txBox="1"/>
          <p:nvPr/>
        </p:nvSpPr>
        <p:spPr>
          <a:xfrm rot="9450000">
            <a:off x="5517258"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7</a:t>
            </a:r>
          </a:p>
        </p:txBody>
      </p:sp>
      <p:cxnSp>
        <p:nvCxnSpPr>
          <p:cNvPr id="413" name="Connector 412"/>
          <p:cNvCxnSpPr/>
          <p:nvPr/>
        </p:nvCxnSpPr>
        <p:spPr>
          <a:xfrm>
            <a:off x="5029200" y="6144768"/>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4" name="TextBox 413"/>
          <p:cNvSpPr txBox="1"/>
          <p:nvPr/>
        </p:nvSpPr>
        <p:spPr>
          <a:xfrm rot="10800000">
            <a:off x="4572000" y="5779007"/>
            <a:ext cx="914400" cy="292608"/>
          </a:xfrm>
          <a:prstGeom prst="rect">
            <a:avLst/>
          </a:prstGeom>
          <a:noFill/>
        </p:spPr>
        <p:txBody>
          <a:bodyPr wrap="none" lIns="0" tIns="0" rIns="0" bIns="0" anchor="ctr">
            <a:spAutoFit/>
          </a:bodyPr>
          <a:lstStyle/>
          <a:p>
            <a:pPr algn="ctr"/>
            <a:r>
              <a:rPr sz="1250" b="0">
                <a:solidFill>
                  <a:srgbClr val="000000"/>
                </a:solidFill>
                <a:latin typeface="Cambria"/>
              </a:rPr>
              <a:t>1000</a:t>
            </a:r>
          </a:p>
        </p:txBody>
      </p:sp>
      <p:sp>
        <p:nvSpPr>
          <p:cNvPr id="415" name="TextBox 414"/>
          <p:cNvSpPr txBox="1"/>
          <p:nvPr/>
        </p:nvSpPr>
        <p:spPr>
          <a:xfrm rot="10800000">
            <a:off x="4663440" y="6473952"/>
            <a:ext cx="731520" cy="292608"/>
          </a:xfrm>
          <a:prstGeom prst="rect">
            <a:avLst/>
          </a:prstGeom>
          <a:noFill/>
        </p:spPr>
        <p:txBody>
          <a:bodyPr wrap="none" lIns="0" tIns="0" rIns="0" bIns="0" anchor="ctr">
            <a:spAutoFit/>
          </a:bodyPr>
          <a:lstStyle/>
          <a:p>
            <a:pPr algn="ctr"/>
            <a:r>
              <a:rPr sz="1600" b="1">
                <a:solidFill>
                  <a:srgbClr val="000000"/>
                </a:solidFill>
                <a:latin typeface="Cambria"/>
              </a:rPr>
              <a:t>8</a:t>
            </a:r>
          </a:p>
        </p:txBody>
      </p:sp>
      <p:cxnSp>
        <p:nvCxnSpPr>
          <p:cNvPr id="416" name="Connector 415"/>
          <p:cNvCxnSpPr/>
          <p:nvPr/>
        </p:nvCxnSpPr>
        <p:spPr>
          <a:xfrm flipH="1">
            <a:off x="42873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rot="12150000">
            <a:off x="3984124"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1001</a:t>
            </a:r>
          </a:p>
        </p:txBody>
      </p:sp>
      <p:sp>
        <p:nvSpPr>
          <p:cNvPr id="418" name="TextBox 417"/>
          <p:cNvSpPr txBox="1"/>
          <p:nvPr/>
        </p:nvSpPr>
        <p:spPr>
          <a:xfrm rot="12150000">
            <a:off x="3809621"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9</a:t>
            </a:r>
          </a:p>
        </p:txBody>
      </p:sp>
      <p:cxnSp>
        <p:nvCxnSpPr>
          <p:cNvPr id="419" name="Connector 418"/>
          <p:cNvCxnSpPr/>
          <p:nvPr/>
        </p:nvCxnSpPr>
        <p:spPr>
          <a:xfrm flipH="1">
            <a:off x="3658453"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0" name="TextBox 419"/>
          <p:cNvSpPr txBox="1"/>
          <p:nvPr/>
        </p:nvSpPr>
        <p:spPr>
          <a:xfrm rot="13500000">
            <a:off x="3485748"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1010</a:t>
            </a:r>
          </a:p>
        </p:txBody>
      </p:sp>
      <p:sp>
        <p:nvSpPr>
          <p:cNvPr id="421" name="TextBox 420"/>
          <p:cNvSpPr txBox="1"/>
          <p:nvPr/>
        </p:nvSpPr>
        <p:spPr>
          <a:xfrm rot="13500000">
            <a:off x="3085788"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10</a:t>
            </a:r>
          </a:p>
        </p:txBody>
      </p:sp>
      <p:cxnSp>
        <p:nvCxnSpPr>
          <p:cNvPr id="422" name="Connector 421"/>
          <p:cNvCxnSpPr/>
          <p:nvPr/>
        </p:nvCxnSpPr>
        <p:spPr>
          <a:xfrm flipH="1">
            <a:off x="3238233"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3" name="TextBox 422"/>
          <p:cNvSpPr txBox="1"/>
          <p:nvPr/>
        </p:nvSpPr>
        <p:spPr>
          <a:xfrm rot="14850000">
            <a:off x="3152743"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1011</a:t>
            </a:r>
          </a:p>
        </p:txBody>
      </p:sp>
      <p:sp>
        <p:nvSpPr>
          <p:cNvPr id="424" name="TextBox 423"/>
          <p:cNvSpPr txBox="1"/>
          <p:nvPr/>
        </p:nvSpPr>
        <p:spPr>
          <a:xfrm rot="14850000">
            <a:off x="2602139"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11</a:t>
            </a:r>
          </a:p>
        </p:txBody>
      </p:sp>
      <p:cxnSp>
        <p:nvCxnSpPr>
          <p:cNvPr id="425" name="Connector 424"/>
          <p:cNvCxnSpPr/>
          <p:nvPr/>
        </p:nvCxnSpPr>
        <p:spPr>
          <a:xfrm flipH="1">
            <a:off x="3090672"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6" name="TextBox 425"/>
          <p:cNvSpPr txBox="1"/>
          <p:nvPr/>
        </p:nvSpPr>
        <p:spPr>
          <a:xfrm rot="16200000">
            <a:off x="3035808"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1100</a:t>
            </a:r>
          </a:p>
        </p:txBody>
      </p:sp>
      <p:sp>
        <p:nvSpPr>
          <p:cNvPr id="427" name="TextBox 426"/>
          <p:cNvSpPr txBox="1"/>
          <p:nvPr/>
        </p:nvSpPr>
        <p:spPr>
          <a:xfrm rot="16200000">
            <a:off x="2432304" y="4242816"/>
            <a:ext cx="731520" cy="292608"/>
          </a:xfrm>
          <a:prstGeom prst="rect">
            <a:avLst/>
          </a:prstGeom>
          <a:noFill/>
        </p:spPr>
        <p:txBody>
          <a:bodyPr wrap="none" lIns="0" tIns="0" rIns="0" bIns="0" anchor="ctr">
            <a:spAutoFit/>
          </a:bodyPr>
          <a:lstStyle/>
          <a:p>
            <a:pPr algn="ctr"/>
            <a:r>
              <a:rPr sz="1600" b="1">
                <a:solidFill>
                  <a:srgbClr val="000000"/>
                </a:solidFill>
                <a:latin typeface="Cambria"/>
              </a:rPr>
              <a:t>12</a:t>
            </a:r>
          </a:p>
        </p:txBody>
      </p:sp>
      <p:cxnSp>
        <p:nvCxnSpPr>
          <p:cNvPr id="428" name="Connector 427"/>
          <p:cNvCxnSpPr/>
          <p:nvPr/>
        </p:nvCxnSpPr>
        <p:spPr>
          <a:xfrm flipH="1" flipV="1">
            <a:off x="3238233"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9" name="TextBox 428"/>
          <p:cNvSpPr txBox="1"/>
          <p:nvPr/>
        </p:nvSpPr>
        <p:spPr>
          <a:xfrm rot="17550000">
            <a:off x="3152743"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1101</a:t>
            </a:r>
          </a:p>
        </p:txBody>
      </p:sp>
      <p:sp>
        <p:nvSpPr>
          <p:cNvPr id="430" name="TextBox 429"/>
          <p:cNvSpPr txBox="1"/>
          <p:nvPr/>
        </p:nvSpPr>
        <p:spPr>
          <a:xfrm rot="17550000">
            <a:off x="2602139"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13</a:t>
            </a:r>
          </a:p>
        </p:txBody>
      </p:sp>
      <p:cxnSp>
        <p:nvCxnSpPr>
          <p:cNvPr id="431" name="Connector 430"/>
          <p:cNvCxnSpPr/>
          <p:nvPr/>
        </p:nvCxnSpPr>
        <p:spPr>
          <a:xfrm flipH="1" flipV="1">
            <a:off x="3658453"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2" name="TextBox 431"/>
          <p:cNvSpPr txBox="1"/>
          <p:nvPr/>
        </p:nvSpPr>
        <p:spPr>
          <a:xfrm rot="18900000">
            <a:off x="3485748"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1110</a:t>
            </a:r>
          </a:p>
        </p:txBody>
      </p:sp>
      <p:sp>
        <p:nvSpPr>
          <p:cNvPr id="433" name="TextBox 432"/>
          <p:cNvSpPr txBox="1"/>
          <p:nvPr/>
        </p:nvSpPr>
        <p:spPr>
          <a:xfrm rot="18900000">
            <a:off x="3085788"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14</a:t>
            </a:r>
          </a:p>
        </p:txBody>
      </p:sp>
      <p:cxnSp>
        <p:nvCxnSpPr>
          <p:cNvPr id="434" name="Connector 433"/>
          <p:cNvCxnSpPr/>
          <p:nvPr/>
        </p:nvCxnSpPr>
        <p:spPr>
          <a:xfrm flipH="1" flipV="1">
            <a:off x="42873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5" name="TextBox 434"/>
          <p:cNvSpPr txBox="1"/>
          <p:nvPr/>
        </p:nvSpPr>
        <p:spPr>
          <a:xfrm rot="20250000">
            <a:off x="3984124"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1111</a:t>
            </a:r>
          </a:p>
        </p:txBody>
      </p:sp>
      <p:sp>
        <p:nvSpPr>
          <p:cNvPr id="436" name="TextBox 435"/>
          <p:cNvSpPr txBox="1"/>
          <p:nvPr/>
        </p:nvSpPr>
        <p:spPr>
          <a:xfrm rot="20250000">
            <a:off x="3809621"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15</a:t>
            </a:r>
          </a:p>
        </p:txBody>
      </p:sp>
      <p:sp>
        <p:nvSpPr>
          <p:cNvPr id="437" name="TextBox 436"/>
          <p:cNvSpPr txBox="1"/>
          <p:nvPr/>
        </p:nvSpPr>
        <p:spPr>
          <a:xfrm>
            <a:off x="3977639" y="3566160"/>
            <a:ext cx="2103120" cy="1645919"/>
          </a:xfrm>
          <a:prstGeom prst="rect">
            <a:avLst/>
          </a:prstGeom>
          <a:noFill/>
        </p:spPr>
        <p:txBody>
          <a:bodyPr wrap="square" lIns="0" tIns="0" rIns="0" bIns="0" anchor="ctr">
            <a:spAutoFit/>
          </a:bodyPr>
          <a:lstStyle/>
          <a:p>
            <a:pPr algn="ctr"/>
            <a:r>
              <a:rPr sz="1600">
                <a:solidFill>
                  <a:srgbClr val="000000"/>
                </a:solidFill>
                <a:latin typeface="Cambria"/>
              </a:rPr>
              <a:t>4-bit</a:t>
            </a:r>
          </a:p>
          <a:p>
            <a:pPr algn="ctr"/>
            <a:r>
              <a:rPr sz="1600">
                <a:solidFill>
                  <a:srgbClr val="000000"/>
                </a:solidFill>
                <a:latin typeface="Cambria"/>
              </a:rPr>
              <a:t>unsigned integer</a:t>
            </a:r>
          </a:p>
          <a:p>
            <a:pPr algn="ctr"/>
            <a:r>
              <a:rPr sz="1600">
                <a:solidFill>
                  <a:srgbClr val="000000"/>
                </a:solidFill>
                <a:latin typeface="Cambria"/>
              </a:rPr>
              <a:t>representation</a:t>
            </a:r>
          </a:p>
        </p:txBody>
      </p:sp>
      <p:sp>
        <p:nvSpPr>
          <p:cNvPr id="438" name="TextBox 437"/>
          <p:cNvSpPr txBox="1"/>
          <p:nvPr/>
        </p:nvSpPr>
        <p:spPr>
          <a:xfrm>
            <a:off x="822960" y="6931152"/>
            <a:ext cx="8412480" cy="310896"/>
          </a:xfrm>
          <a:prstGeom prst="rect">
            <a:avLst/>
          </a:prstGeom>
          <a:noFill/>
        </p:spPr>
        <p:txBody>
          <a:bodyPr wrap="square" lIns="0" tIns="0" rIns="0" bIns="0">
            <a:spAutoFit/>
          </a:bodyPr>
          <a:lstStyle/>
          <a:p>
            <a:pPr algn="ctr"/>
            <a:r>
              <a:rPr sz="2100" b="0" i="1">
                <a:solidFill>
                  <a:srgbClr val="000000"/>
                </a:solidFill>
                <a:latin typeface="Cambria"/>
              </a:rPr>
              <a:t>Neighbouring patterns are neighbouring numbers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Counting Works</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4339650"/>
          </a:xfrm>
          <a:prstGeom prst="rect">
            <a:avLst/>
          </a:prstGeom>
          <a:noFill/>
        </p:spPr>
        <p:txBody>
          <a:bodyPr wrap="square">
            <a:spAutoFit/>
          </a:bodyPr>
          <a:lstStyle/>
          <a:p>
            <a:pPr>
              <a:tabLst>
                <a:tab pos="548640" algn="l"/>
                <a:tab pos="3017520" algn="l"/>
              </a:tabLst>
            </a:pPr>
            <a:r>
              <a:rPr sz="2300" b="0" dirty="0">
                <a:latin typeface="Cambria"/>
              </a:rPr>
              <a:t>Add 1  =  move </a:t>
            </a:r>
            <a:r>
              <a:rPr sz="2300" b="1" dirty="0">
                <a:latin typeface="Cambria"/>
              </a:rPr>
              <a:t>one tick clockwise</a:t>
            </a:r>
          </a:p>
          <a:p>
            <a:pPr>
              <a:tabLst>
                <a:tab pos="548640" algn="l"/>
                <a:tab pos="3017520" algn="l"/>
              </a:tabLst>
            </a:pPr>
            <a:r>
              <a:rPr sz="2300" dirty="0">
                <a:latin typeface="Cambria"/>
              </a:rPr>
              <a:t> </a:t>
            </a:r>
          </a:p>
          <a:p>
            <a:pPr>
              <a:tabLst>
                <a:tab pos="548640" algn="l"/>
                <a:tab pos="3017520" algn="l"/>
              </a:tabLst>
            </a:pPr>
            <a:r>
              <a:rPr sz="2300" b="0" dirty="0">
                <a:latin typeface="Cambria"/>
              </a:rPr>
              <a:t>The bit pattern and the value stay in step</a:t>
            </a:r>
          </a:p>
          <a:p>
            <a:pPr>
              <a:tabLst>
                <a:tab pos="548640" algn="l"/>
                <a:tab pos="3017520" algn="l"/>
              </a:tabLst>
            </a:pPr>
            <a:r>
              <a:rPr sz="2300" dirty="0">
                <a:latin typeface="Cambria"/>
              </a:rPr>
              <a:t> </a:t>
            </a:r>
          </a:p>
          <a:p>
            <a:pPr>
              <a:tabLst>
                <a:tab pos="548640" algn="l"/>
                <a:tab pos="3017520" algn="l"/>
              </a:tabLst>
            </a:pPr>
            <a:r>
              <a:rPr sz="2300" b="0" dirty="0">
                <a:latin typeface="Cambria"/>
              </a:rPr>
              <a:t>Past the top:	1111 + 1  =  0000</a:t>
            </a:r>
          </a:p>
          <a:p>
            <a:pPr>
              <a:tabLst>
                <a:tab pos="548640" algn="l"/>
                <a:tab pos="3017520" algn="l"/>
              </a:tabLst>
            </a:pPr>
            <a:r>
              <a:rPr sz="2300" b="0" dirty="0">
                <a:latin typeface="Cambria"/>
              </a:rPr>
              <a:t>		15 + 1  =  0</a:t>
            </a:r>
          </a:p>
          <a:p>
            <a:pPr>
              <a:tabLst>
                <a:tab pos="548640" algn="l"/>
                <a:tab pos="3017520" algn="l"/>
              </a:tabLst>
            </a:pPr>
            <a:r>
              <a:rPr sz="2300" dirty="0">
                <a:latin typeface="Cambria"/>
              </a:rPr>
              <a:t> </a:t>
            </a:r>
          </a:p>
          <a:p>
            <a:pPr>
              <a:tabLst>
                <a:tab pos="548640" algn="l"/>
                <a:tab pos="3017520" algn="l"/>
              </a:tabLst>
            </a:pPr>
            <a:r>
              <a:rPr sz="2300" b="0" dirty="0">
                <a:latin typeface="Cambria"/>
              </a:rPr>
              <a:t>The count </a:t>
            </a:r>
            <a:r>
              <a:rPr sz="2300" b="1" dirty="0">
                <a:latin typeface="Cambria"/>
              </a:rPr>
              <a:t>wraps</a:t>
            </a:r>
            <a:r>
              <a:rPr sz="2300" b="0" dirty="0">
                <a:latin typeface="Cambria"/>
              </a:rPr>
              <a:t>  -  arithmetic modulo 2^n</a:t>
            </a:r>
          </a:p>
          <a:p>
            <a:pPr>
              <a:tabLst>
                <a:tab pos="548640" algn="l"/>
                <a:tab pos="3017520" algn="l"/>
              </a:tabLst>
            </a:pPr>
            <a:r>
              <a:rPr sz="2300" dirty="0">
                <a:latin typeface="Cambria"/>
              </a:rPr>
              <a:t> </a:t>
            </a:r>
          </a:p>
          <a:p>
            <a:pPr>
              <a:tabLst>
                <a:tab pos="548640" algn="l"/>
                <a:tab pos="3017520" algn="l"/>
              </a:tabLst>
            </a:pPr>
            <a:r>
              <a:rPr sz="2300" b="0" dirty="0">
                <a:latin typeface="Cambria"/>
              </a:rPr>
              <a:t>The circle is not a mistake;  it is the </a:t>
            </a:r>
            <a:r>
              <a:rPr sz="2300" b="0" dirty="0" smtClean="0">
                <a:latin typeface="Cambria"/>
              </a:rPr>
              <a:t>machine</a:t>
            </a:r>
            <a:endParaRPr lang="en-US" sz="2300" b="0" dirty="0" smtClean="0">
              <a:latin typeface="Cambria"/>
            </a:endParaRPr>
          </a:p>
          <a:p>
            <a:pPr>
              <a:tabLst>
                <a:tab pos="548640" algn="l"/>
                <a:tab pos="3017520" algn="l"/>
              </a:tabLst>
            </a:pPr>
            <a:endParaRPr lang="en-US" sz="2300" dirty="0">
              <a:latin typeface="Cambria"/>
            </a:endParaRPr>
          </a:p>
          <a:p>
            <a:pPr>
              <a:tabLst>
                <a:tab pos="548640" algn="l"/>
                <a:tab pos="3017520" algn="l"/>
              </a:tabLst>
            </a:pPr>
            <a:r>
              <a:rPr lang="en-US" sz="2300" b="0" dirty="0" smtClean="0">
                <a:latin typeface="Cambria"/>
              </a:rPr>
              <a:t>A computer only has a finite bit length</a:t>
            </a:r>
            <a:endParaRPr sz="23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Unsigned Range</a:t>
            </a:r>
            <a:endParaRPr lang="en-US" sz="4400" b="0" u="none" strike="noStrike" dirty="0">
              <a:solidFill>
                <a:srgbClr val="000000"/>
              </a:solidFill>
              <a:effectLst/>
              <a:uFillTx/>
              <a:latin typeface="Arial"/>
            </a:endParaRPr>
          </a:p>
        </p:txBody>
      </p:sp>
      <p:sp>
        <p:nvSpPr>
          <p:cNvPr id="388" name="Rectangle 387"/>
          <p:cNvSpPr/>
          <p:nvPr/>
        </p:nvSpPr>
        <p:spPr>
          <a:xfrm>
            <a:off x="1005840" y="2423160"/>
            <a:ext cx="137160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Bits</a:t>
            </a:r>
          </a:p>
        </p:txBody>
      </p:sp>
      <p:sp>
        <p:nvSpPr>
          <p:cNvPr id="389" name="Rectangle 388"/>
          <p:cNvSpPr/>
          <p:nvPr/>
        </p:nvSpPr>
        <p:spPr>
          <a:xfrm>
            <a:off x="2377440" y="2423160"/>
            <a:ext cx="283464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Patterns</a:t>
            </a:r>
          </a:p>
        </p:txBody>
      </p:sp>
      <p:sp>
        <p:nvSpPr>
          <p:cNvPr id="390" name="Rectangle 389"/>
          <p:cNvSpPr/>
          <p:nvPr/>
        </p:nvSpPr>
        <p:spPr>
          <a:xfrm>
            <a:off x="5212080" y="2423160"/>
            <a:ext cx="384048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Range</a:t>
            </a:r>
          </a:p>
        </p:txBody>
      </p:sp>
      <p:sp>
        <p:nvSpPr>
          <p:cNvPr id="391" name="Rectangle 390"/>
          <p:cNvSpPr/>
          <p:nvPr/>
        </p:nvSpPr>
        <p:spPr>
          <a:xfrm>
            <a:off x="1005840" y="3154680"/>
            <a:ext cx="137160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8</a:t>
            </a:r>
          </a:p>
        </p:txBody>
      </p:sp>
      <p:sp>
        <p:nvSpPr>
          <p:cNvPr id="392" name="Rectangle 391"/>
          <p:cNvSpPr/>
          <p:nvPr/>
        </p:nvSpPr>
        <p:spPr>
          <a:xfrm>
            <a:off x="2377440" y="3154680"/>
            <a:ext cx="28346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256</a:t>
            </a:r>
          </a:p>
        </p:txBody>
      </p:sp>
      <p:sp>
        <p:nvSpPr>
          <p:cNvPr id="393" name="Rectangle 392"/>
          <p:cNvSpPr/>
          <p:nvPr/>
        </p:nvSpPr>
        <p:spPr>
          <a:xfrm>
            <a:off x="5212080" y="3154680"/>
            <a:ext cx="38404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0 .. 255</a:t>
            </a:r>
          </a:p>
        </p:txBody>
      </p:sp>
      <p:sp>
        <p:nvSpPr>
          <p:cNvPr id="394" name="Rectangle 393"/>
          <p:cNvSpPr/>
          <p:nvPr/>
        </p:nvSpPr>
        <p:spPr>
          <a:xfrm>
            <a:off x="1005840" y="3886200"/>
            <a:ext cx="137160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16</a:t>
            </a:r>
          </a:p>
        </p:txBody>
      </p:sp>
      <p:sp>
        <p:nvSpPr>
          <p:cNvPr id="395" name="Rectangle 394"/>
          <p:cNvSpPr/>
          <p:nvPr/>
        </p:nvSpPr>
        <p:spPr>
          <a:xfrm>
            <a:off x="2377440" y="3886200"/>
            <a:ext cx="28346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65,536</a:t>
            </a:r>
          </a:p>
        </p:txBody>
      </p:sp>
      <p:sp>
        <p:nvSpPr>
          <p:cNvPr id="396" name="Rectangle 395"/>
          <p:cNvSpPr/>
          <p:nvPr/>
        </p:nvSpPr>
        <p:spPr>
          <a:xfrm>
            <a:off x="5212080" y="3886200"/>
            <a:ext cx="38404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0 .. 65,535</a:t>
            </a:r>
          </a:p>
        </p:txBody>
      </p:sp>
      <p:sp>
        <p:nvSpPr>
          <p:cNvPr id="397" name="Rectangle 396"/>
          <p:cNvSpPr/>
          <p:nvPr/>
        </p:nvSpPr>
        <p:spPr>
          <a:xfrm>
            <a:off x="1005840" y="4617720"/>
            <a:ext cx="137160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32</a:t>
            </a:r>
          </a:p>
        </p:txBody>
      </p:sp>
      <p:sp>
        <p:nvSpPr>
          <p:cNvPr id="398" name="Rectangle 397"/>
          <p:cNvSpPr/>
          <p:nvPr/>
        </p:nvSpPr>
        <p:spPr>
          <a:xfrm>
            <a:off x="2377440" y="4617720"/>
            <a:ext cx="28346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4,294,967,296</a:t>
            </a:r>
          </a:p>
        </p:txBody>
      </p:sp>
      <p:sp>
        <p:nvSpPr>
          <p:cNvPr id="399" name="Rectangle 398"/>
          <p:cNvSpPr/>
          <p:nvPr/>
        </p:nvSpPr>
        <p:spPr>
          <a:xfrm>
            <a:off x="5212080" y="4617720"/>
            <a:ext cx="38404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0 .. 4,294,967,295</a:t>
            </a:r>
          </a:p>
        </p:txBody>
      </p:sp>
      <p:sp>
        <p:nvSpPr>
          <p:cNvPr id="400" name="Rectangle 399"/>
          <p:cNvSpPr/>
          <p:nvPr/>
        </p:nvSpPr>
        <p:spPr>
          <a:xfrm>
            <a:off x="1005840" y="5349240"/>
            <a:ext cx="137160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64</a:t>
            </a:r>
          </a:p>
        </p:txBody>
      </p:sp>
      <p:sp>
        <p:nvSpPr>
          <p:cNvPr id="401" name="Rectangle 400"/>
          <p:cNvSpPr/>
          <p:nvPr/>
        </p:nvSpPr>
        <p:spPr>
          <a:xfrm>
            <a:off x="2377440" y="5349240"/>
            <a:ext cx="28346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1.8 × 10¹⁹</a:t>
            </a:r>
          </a:p>
        </p:txBody>
      </p:sp>
      <p:sp>
        <p:nvSpPr>
          <p:cNvPr id="402" name="Rectangle 401"/>
          <p:cNvSpPr/>
          <p:nvPr/>
        </p:nvSpPr>
        <p:spPr>
          <a:xfrm>
            <a:off x="5212080" y="5349240"/>
            <a:ext cx="38404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0 .. 1.8 × 10¹⁹</a:t>
            </a:r>
          </a:p>
        </p:txBody>
      </p:sp>
      <p:sp>
        <p:nvSpPr>
          <p:cNvPr id="403" name="TextBox 402"/>
          <p:cNvSpPr txBox="1"/>
          <p:nvPr/>
        </p:nvSpPr>
        <p:spPr>
          <a:xfrm>
            <a:off x="822960" y="6309360"/>
            <a:ext cx="8412480" cy="310896"/>
          </a:xfrm>
          <a:prstGeom prst="rect">
            <a:avLst/>
          </a:prstGeom>
          <a:noFill/>
        </p:spPr>
        <p:txBody>
          <a:bodyPr wrap="square" lIns="0" tIns="0" rIns="0" bIns="0">
            <a:spAutoFit/>
          </a:bodyPr>
          <a:lstStyle/>
          <a:p>
            <a:pPr algn="ctr"/>
            <a:r>
              <a:rPr sz="2400" b="0" i="0">
                <a:solidFill>
                  <a:srgbClr val="000000"/>
                </a:solidFill>
                <a:latin typeface="Cambria"/>
              </a:rPr>
              <a:t>n bits:    0  ..  2^n − 1</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Addresses Are Unsigned</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2677656"/>
          </a:xfrm>
          <a:prstGeom prst="rect">
            <a:avLst/>
          </a:prstGeom>
          <a:noFill/>
        </p:spPr>
        <p:txBody>
          <a:bodyPr wrap="square">
            <a:spAutoFit/>
          </a:bodyPr>
          <a:lstStyle/>
          <a:p>
            <a:pPr>
              <a:tabLst>
                <a:tab pos="548640" algn="l"/>
                <a:tab pos="1920240" algn="l"/>
              </a:tabLst>
            </a:pPr>
            <a:r>
              <a:rPr sz="2400" b="0" dirty="0">
                <a:latin typeface="Cambria"/>
              </a:rPr>
              <a:t>An address is a </a:t>
            </a:r>
            <a:r>
              <a:rPr sz="2400" b="1" dirty="0">
                <a:latin typeface="Cambria"/>
              </a:rPr>
              <a:t>position</a:t>
            </a:r>
            <a:r>
              <a:rPr sz="2400" b="0" dirty="0">
                <a:latin typeface="Cambria"/>
              </a:rPr>
              <a:t>, never negative</a:t>
            </a:r>
          </a:p>
          <a:p>
            <a:pPr>
              <a:tabLst>
                <a:tab pos="548640" algn="l"/>
                <a:tab pos="1920240" algn="l"/>
              </a:tabLst>
            </a:pPr>
            <a:r>
              <a:rPr sz="2400" dirty="0">
                <a:latin typeface="Cambria"/>
              </a:rPr>
              <a:t> </a:t>
            </a:r>
          </a:p>
          <a:p>
            <a:pPr>
              <a:tabLst>
                <a:tab pos="548640" algn="l"/>
                <a:tab pos="1920240" algn="l"/>
              </a:tabLst>
            </a:pPr>
            <a:r>
              <a:rPr sz="2400" b="0" dirty="0">
                <a:latin typeface="Cambria"/>
              </a:rPr>
              <a:t>Unsigned gives us:</a:t>
            </a:r>
          </a:p>
          <a:p>
            <a:pPr>
              <a:tabLst>
                <a:tab pos="548640" algn="l"/>
                <a:tab pos="1920240" algn="l"/>
              </a:tabLst>
            </a:pPr>
            <a:r>
              <a:rPr sz="2400" b="0" dirty="0">
                <a:latin typeface="Cambria"/>
              </a:rPr>
              <a:t>	the </a:t>
            </a:r>
            <a:r>
              <a:rPr sz="2400" b="1" dirty="0">
                <a:latin typeface="Cambria"/>
              </a:rPr>
              <a:t>largest</a:t>
            </a:r>
            <a:r>
              <a:rPr sz="2400" b="0" dirty="0">
                <a:latin typeface="Cambria"/>
              </a:rPr>
              <a:t> range for the bits we have</a:t>
            </a:r>
          </a:p>
          <a:p>
            <a:pPr>
              <a:tabLst>
                <a:tab pos="548640" algn="l"/>
                <a:tab pos="1920240" algn="l"/>
              </a:tabLst>
            </a:pPr>
            <a:r>
              <a:rPr sz="2400" b="0" dirty="0">
                <a:latin typeface="Cambria"/>
              </a:rPr>
              <a:t>	</a:t>
            </a:r>
            <a:endParaRPr sz="2400" dirty="0">
              <a:latin typeface="Cambria"/>
            </a:endParaRPr>
          </a:p>
          <a:p>
            <a:pPr>
              <a:tabLst>
                <a:tab pos="548640" algn="l"/>
                <a:tab pos="1920240" algn="l"/>
              </a:tabLst>
            </a:pPr>
            <a:r>
              <a:rPr sz="2400" b="0" dirty="0">
                <a:latin typeface="Cambria"/>
              </a:rPr>
              <a:t>32 bits	4 GB of address space</a:t>
            </a:r>
          </a:p>
          <a:p>
            <a:pPr>
              <a:tabLst>
                <a:tab pos="548640" algn="l"/>
                <a:tab pos="1920240" algn="l"/>
              </a:tabLst>
            </a:pPr>
            <a:r>
              <a:rPr sz="2400" b="0" dirty="0">
                <a:latin typeface="Cambria"/>
              </a:rPr>
              <a:t>64 bits	more than we can </a:t>
            </a:r>
            <a:r>
              <a:rPr lang="en-US" sz="2400" b="0" dirty="0" smtClean="0">
                <a:latin typeface="Cambria"/>
              </a:rPr>
              <a:t>physically </a:t>
            </a:r>
            <a:r>
              <a:rPr sz="2400" b="0" dirty="0" smtClean="0">
                <a:latin typeface="Cambria"/>
              </a:rPr>
              <a:t>build</a:t>
            </a:r>
            <a:r>
              <a:rPr lang="en-US" sz="2400" b="0" dirty="0" smtClean="0">
                <a:latin typeface="Cambria"/>
              </a:rPr>
              <a:t> – 18 </a:t>
            </a:r>
            <a:r>
              <a:rPr lang="en-US" sz="2400" b="0" dirty="0" err="1" smtClean="0">
                <a:latin typeface="Cambria"/>
              </a:rPr>
              <a:t>exa</a:t>
            </a:r>
            <a:r>
              <a:rPr lang="en-US" sz="2400" b="0" dirty="0" smtClean="0">
                <a:latin typeface="Cambria"/>
              </a:rPr>
              <a:t> Bytes</a:t>
            </a:r>
            <a:endParaRPr sz="24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8">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We Also Need Negatives</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4324261"/>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Program data is often </a:t>
            </a:r>
            <a:r>
              <a:rPr sz="2500" b="1" dirty="0">
                <a:latin typeface="Cambria"/>
              </a:rPr>
              <a:t>signed</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Still only 16 patterns for 4 bits</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So some patterns must mean </a:t>
            </a:r>
            <a:r>
              <a:rPr sz="2500" b="1" dirty="0">
                <a:latin typeface="Cambria"/>
              </a:rPr>
              <a:t>negative</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Whatever we choose, we </a:t>
            </a:r>
            <a:r>
              <a:rPr sz="2500" b="1" dirty="0">
                <a:latin typeface="Cambria"/>
              </a:rPr>
              <a:t>lose</a:t>
            </a:r>
            <a:r>
              <a:rPr sz="2500" b="0" dirty="0">
                <a:latin typeface="Cambria"/>
              </a:rPr>
              <a:t> positive range</a:t>
            </a:r>
          </a:p>
          <a:p>
            <a:pPr>
              <a:tabLst>
                <a:tab pos="548640" algn="l"/>
                <a:tab pos="1097280" algn="l"/>
                <a:tab pos="1645920" algn="l"/>
                <a:tab pos="2194560" algn="l"/>
              </a:tabLst>
            </a:pPr>
            <a:r>
              <a:rPr sz="2500" dirty="0">
                <a:latin typeface="Cambria"/>
              </a:rPr>
              <a:t> </a:t>
            </a:r>
            <a:endParaRPr lang="en-US" sz="2500" dirty="0">
              <a:latin typeface="Cambria"/>
            </a:endParaRPr>
          </a:p>
          <a:p>
            <a:pPr>
              <a:tabLst>
                <a:tab pos="548640" algn="l"/>
                <a:tab pos="1097280" algn="l"/>
                <a:tab pos="1645920" algn="l"/>
                <a:tab pos="2194560" algn="l"/>
              </a:tabLst>
            </a:pPr>
            <a:r>
              <a:rPr lang="en-US" sz="2500" b="0" dirty="0" smtClean="0">
                <a:latin typeface="Cambria"/>
              </a:rPr>
              <a:t>Ideally, we would like to cut it in half </a:t>
            </a:r>
          </a:p>
          <a:p>
            <a:pPr>
              <a:tabLst>
                <a:tab pos="548640" algn="l"/>
                <a:tab pos="1097280" algn="l"/>
                <a:tab pos="1645920" algn="l"/>
                <a:tab pos="2194560" algn="l"/>
              </a:tabLst>
            </a:pPr>
            <a:endParaRPr lang="en-US" sz="2500" dirty="0">
              <a:latin typeface="Cambria"/>
            </a:endParaRPr>
          </a:p>
          <a:p>
            <a:pPr>
              <a:tabLst>
                <a:tab pos="548640" algn="l"/>
                <a:tab pos="1097280" algn="l"/>
                <a:tab pos="1645920" algn="l"/>
                <a:tab pos="2194560" algn="l"/>
              </a:tabLst>
            </a:pPr>
            <a:r>
              <a:rPr lang="en-US" sz="2500" b="0" dirty="0" smtClean="0">
                <a:latin typeface="Cambria"/>
              </a:rPr>
              <a:t>Half positive, half negative but zero spoils the fun</a:t>
            </a:r>
            <a:endParaRPr sz="25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Sign and Magnitude</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3631763"/>
          </a:xfrm>
          <a:prstGeom prst="rect">
            <a:avLst/>
          </a:prstGeom>
          <a:noFill/>
        </p:spPr>
        <p:txBody>
          <a:bodyPr wrap="square">
            <a:spAutoFit/>
          </a:bodyPr>
          <a:lstStyle/>
          <a:p>
            <a:pPr>
              <a:tabLst>
                <a:tab pos="548640" algn="l"/>
                <a:tab pos="1645920" algn="l"/>
              </a:tabLst>
            </a:pPr>
            <a:r>
              <a:rPr sz="2300" b="0" dirty="0">
                <a:latin typeface="Cambria"/>
              </a:rPr>
              <a:t>The obvious idea:  the top bit is the </a:t>
            </a:r>
            <a:r>
              <a:rPr sz="2300" b="1" dirty="0">
                <a:latin typeface="Cambria"/>
              </a:rPr>
              <a:t>sign</a:t>
            </a:r>
          </a:p>
          <a:p>
            <a:pPr>
              <a:tabLst>
                <a:tab pos="548640" algn="l"/>
                <a:tab pos="1645920" algn="l"/>
              </a:tabLst>
            </a:pPr>
            <a:r>
              <a:rPr sz="2300" dirty="0">
                <a:latin typeface="Cambria"/>
              </a:rPr>
              <a:t> </a:t>
            </a:r>
          </a:p>
          <a:p>
            <a:pPr>
              <a:tabLst>
                <a:tab pos="548640" algn="l"/>
                <a:tab pos="1645920" algn="l"/>
              </a:tabLst>
            </a:pPr>
            <a:r>
              <a:rPr sz="2300" b="0" dirty="0">
                <a:latin typeface="Cambria"/>
              </a:rPr>
              <a:t>	0 101	=  </a:t>
            </a:r>
            <a:r>
              <a:rPr sz="2300" b="1" dirty="0">
                <a:latin typeface="Cambria"/>
              </a:rPr>
              <a:t>+</a:t>
            </a:r>
            <a:r>
              <a:rPr sz="2300" b="0" dirty="0">
                <a:latin typeface="Cambria"/>
              </a:rPr>
              <a:t>5</a:t>
            </a:r>
          </a:p>
          <a:p>
            <a:pPr>
              <a:tabLst>
                <a:tab pos="548640" algn="l"/>
                <a:tab pos="1645920" algn="l"/>
              </a:tabLst>
            </a:pPr>
            <a:r>
              <a:rPr sz="2300" b="0" dirty="0">
                <a:latin typeface="Cambria"/>
              </a:rPr>
              <a:t>	1 101	=  </a:t>
            </a:r>
            <a:r>
              <a:rPr sz="2300" b="1" dirty="0">
                <a:latin typeface="Cambria"/>
              </a:rPr>
              <a:t>−</a:t>
            </a:r>
            <a:r>
              <a:rPr sz="2300" b="0" dirty="0">
                <a:latin typeface="Cambria"/>
              </a:rPr>
              <a:t>5</a:t>
            </a:r>
          </a:p>
          <a:p>
            <a:pPr>
              <a:tabLst>
                <a:tab pos="548640" algn="l"/>
                <a:tab pos="1645920" algn="l"/>
              </a:tabLst>
            </a:pPr>
            <a:r>
              <a:rPr sz="2300" dirty="0">
                <a:latin typeface="Cambria"/>
              </a:rPr>
              <a:t> </a:t>
            </a:r>
          </a:p>
          <a:p>
            <a:pPr>
              <a:tabLst>
                <a:tab pos="548640" algn="l"/>
                <a:tab pos="1645920" algn="l"/>
              </a:tabLst>
            </a:pPr>
            <a:r>
              <a:rPr sz="2300" b="0" dirty="0">
                <a:latin typeface="Cambria"/>
              </a:rPr>
              <a:t>Problems:</a:t>
            </a:r>
          </a:p>
          <a:p>
            <a:pPr>
              <a:tabLst>
                <a:tab pos="548640" algn="l"/>
                <a:tab pos="1645920" algn="l"/>
              </a:tabLst>
            </a:pPr>
            <a:r>
              <a:rPr sz="2300" b="0" dirty="0">
                <a:latin typeface="Cambria"/>
              </a:rPr>
              <a:t>	0000 = +0   and   1000 = −0</a:t>
            </a:r>
          </a:p>
          <a:p>
            <a:pPr>
              <a:tabLst>
                <a:tab pos="548640" algn="l"/>
                <a:tab pos="1645920" algn="l"/>
              </a:tabLst>
            </a:pPr>
            <a:r>
              <a:rPr sz="2300" b="0" dirty="0">
                <a:latin typeface="Cambria"/>
              </a:rPr>
              <a:t>	</a:t>
            </a:r>
            <a:r>
              <a:rPr lang="en-US" sz="2300" b="1" dirty="0" smtClean="0">
                <a:latin typeface="Cambria"/>
              </a:rPr>
              <a:t>T</a:t>
            </a:r>
            <a:r>
              <a:rPr sz="2300" b="1" dirty="0" smtClean="0">
                <a:latin typeface="Cambria"/>
              </a:rPr>
              <a:t>wo</a:t>
            </a:r>
            <a:r>
              <a:rPr sz="2300" b="0" dirty="0" smtClean="0">
                <a:latin typeface="Cambria"/>
              </a:rPr>
              <a:t> </a:t>
            </a:r>
            <a:r>
              <a:rPr sz="2300" b="0" dirty="0">
                <a:latin typeface="Cambria"/>
              </a:rPr>
              <a:t>zeros  -  which one do you compare?</a:t>
            </a:r>
          </a:p>
          <a:p>
            <a:pPr>
              <a:tabLst>
                <a:tab pos="548640" algn="l"/>
                <a:tab pos="1645920" algn="l"/>
              </a:tabLst>
            </a:pPr>
            <a:r>
              <a:rPr sz="2300" b="0" dirty="0">
                <a:latin typeface="Cambria"/>
              </a:rPr>
              <a:t>	</a:t>
            </a:r>
            <a:r>
              <a:rPr lang="en-US" sz="2300" b="0" dirty="0" smtClean="0">
                <a:latin typeface="Cambria"/>
              </a:rPr>
              <a:t>T</a:t>
            </a:r>
            <a:r>
              <a:rPr sz="2300" b="0" dirty="0" smtClean="0">
                <a:latin typeface="Cambria"/>
              </a:rPr>
              <a:t>he </a:t>
            </a:r>
            <a:r>
              <a:rPr sz="2300" b="0" dirty="0">
                <a:latin typeface="Cambria"/>
              </a:rPr>
              <a:t>adder needs special </a:t>
            </a:r>
            <a:r>
              <a:rPr sz="2300" b="0" dirty="0" smtClean="0">
                <a:latin typeface="Cambria"/>
              </a:rPr>
              <a:t>cases</a:t>
            </a:r>
            <a:r>
              <a:rPr lang="en-US" sz="2300" b="0" dirty="0" smtClean="0">
                <a:latin typeface="Cambria"/>
              </a:rPr>
              <a:t> needs to handle both zeros</a:t>
            </a:r>
          </a:p>
          <a:p>
            <a:pPr>
              <a:tabLst>
                <a:tab pos="548640" algn="l"/>
                <a:tab pos="1645920" algn="l"/>
              </a:tabLst>
            </a:pPr>
            <a:r>
              <a:rPr lang="en-US" sz="2300" dirty="0">
                <a:latin typeface="Cambria"/>
              </a:rPr>
              <a:t>	</a:t>
            </a:r>
            <a:r>
              <a:rPr lang="en-US" sz="2300" dirty="0" smtClean="0">
                <a:latin typeface="Cambria"/>
              </a:rPr>
              <a:t>Resulting in more complicated and larger hardware</a:t>
            </a:r>
            <a:endParaRPr sz="2300" b="0" dirty="0">
              <a:latin typeface="Cambri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Biased  ( Excess-K )</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4693593"/>
          </a:xfrm>
          <a:prstGeom prst="rect">
            <a:avLst/>
          </a:prstGeom>
          <a:noFill/>
        </p:spPr>
        <p:txBody>
          <a:bodyPr wrap="square">
            <a:spAutoFit/>
          </a:bodyPr>
          <a:lstStyle/>
          <a:p>
            <a:pPr>
              <a:tabLst>
                <a:tab pos="548640" algn="l"/>
                <a:tab pos="1737360" algn="l"/>
              </a:tabLst>
            </a:pPr>
            <a:r>
              <a:rPr lang="en-US" sz="2300" b="0" dirty="0" smtClean="0">
                <a:latin typeface="Cambria"/>
              </a:rPr>
              <a:t>Another way:</a:t>
            </a:r>
          </a:p>
          <a:p>
            <a:pPr>
              <a:tabLst>
                <a:tab pos="548640" algn="l"/>
                <a:tab pos="1737360" algn="l"/>
              </a:tabLst>
            </a:pPr>
            <a:endParaRPr lang="en-US" sz="2300" dirty="0">
              <a:latin typeface="Cambria"/>
            </a:endParaRPr>
          </a:p>
          <a:p>
            <a:pPr>
              <a:tabLst>
                <a:tab pos="548640" algn="l"/>
                <a:tab pos="1737360" algn="l"/>
              </a:tabLst>
            </a:pPr>
            <a:r>
              <a:rPr sz="2300" b="0" dirty="0" smtClean="0">
                <a:latin typeface="Cambria"/>
              </a:rPr>
              <a:t>Read </a:t>
            </a:r>
            <a:r>
              <a:rPr sz="2300" b="0" dirty="0">
                <a:latin typeface="Cambria"/>
              </a:rPr>
              <a:t>the pattern as </a:t>
            </a:r>
            <a:r>
              <a:rPr sz="2300" b="1" dirty="0" smtClean="0">
                <a:latin typeface="Cambria"/>
              </a:rPr>
              <a:t>unsigned</a:t>
            </a:r>
            <a:r>
              <a:rPr sz="2300" b="0" dirty="0" smtClean="0">
                <a:latin typeface="Cambria"/>
              </a:rPr>
              <a:t>,</a:t>
            </a:r>
            <a:r>
              <a:rPr lang="en-US" sz="2300" b="0" dirty="0" smtClean="0">
                <a:latin typeface="Cambria"/>
              </a:rPr>
              <a:t> </a:t>
            </a:r>
            <a:r>
              <a:rPr sz="2300" b="0" dirty="0" smtClean="0">
                <a:latin typeface="Cambria"/>
              </a:rPr>
              <a:t>then </a:t>
            </a:r>
            <a:r>
              <a:rPr sz="2300" b="0" dirty="0">
                <a:latin typeface="Cambria"/>
              </a:rPr>
              <a:t>subtract a fixed </a:t>
            </a:r>
            <a:r>
              <a:rPr sz="2300" b="1" dirty="0" smtClean="0">
                <a:latin typeface="Cambria"/>
              </a:rPr>
              <a:t>bias</a:t>
            </a:r>
            <a:r>
              <a:rPr sz="2300" b="0" dirty="0" smtClean="0">
                <a:latin typeface="Cambria"/>
              </a:rPr>
              <a:t> K</a:t>
            </a:r>
            <a:endParaRPr sz="2300" b="0" dirty="0">
              <a:latin typeface="Cambria"/>
            </a:endParaRPr>
          </a:p>
          <a:p>
            <a:pPr>
              <a:tabLst>
                <a:tab pos="548640" algn="l"/>
                <a:tab pos="1737360" algn="l"/>
              </a:tabLst>
            </a:pPr>
            <a:r>
              <a:rPr sz="2300" dirty="0">
                <a:latin typeface="Cambria"/>
              </a:rPr>
              <a:t> </a:t>
            </a:r>
            <a:endParaRPr lang="en-US" sz="2300" dirty="0" smtClean="0">
              <a:latin typeface="Cambria"/>
            </a:endParaRPr>
          </a:p>
          <a:p>
            <a:pPr>
              <a:tabLst>
                <a:tab pos="548640" algn="l"/>
                <a:tab pos="1737360" algn="l"/>
              </a:tabLst>
            </a:pPr>
            <a:r>
              <a:rPr lang="en-US" sz="2300" dirty="0" smtClean="0">
                <a:latin typeface="Cambria"/>
              </a:rPr>
              <a:t>K is usually half the full unsigned range</a:t>
            </a:r>
          </a:p>
          <a:p>
            <a:pPr>
              <a:tabLst>
                <a:tab pos="548640" algn="l"/>
                <a:tab pos="1737360" algn="l"/>
              </a:tabLst>
            </a:pPr>
            <a:r>
              <a:rPr lang="en-US" sz="2300" dirty="0">
                <a:latin typeface="Cambria"/>
              </a:rPr>
              <a:t>	e</a:t>
            </a:r>
            <a:r>
              <a:rPr lang="en-US" sz="2300" dirty="0" smtClean="0">
                <a:latin typeface="Cambria"/>
              </a:rPr>
              <a:t>ither (2</a:t>
            </a:r>
            <a:r>
              <a:rPr lang="en-US" sz="2300" baseline="30000" dirty="0" smtClean="0">
                <a:latin typeface="Cambria"/>
              </a:rPr>
              <a:t>n</a:t>
            </a:r>
            <a:r>
              <a:rPr lang="en-US" sz="2300" dirty="0" smtClean="0">
                <a:latin typeface="Cambria"/>
              </a:rPr>
              <a:t> / 2)   or (2</a:t>
            </a:r>
            <a:r>
              <a:rPr lang="en-US" sz="2300" baseline="30000" dirty="0" smtClean="0">
                <a:latin typeface="Cambria"/>
              </a:rPr>
              <a:t>n</a:t>
            </a:r>
            <a:r>
              <a:rPr lang="en-US" sz="2300" dirty="0" smtClean="0">
                <a:latin typeface="Cambria"/>
              </a:rPr>
              <a:t> / 2) - 1</a:t>
            </a:r>
          </a:p>
          <a:p>
            <a:pPr>
              <a:tabLst>
                <a:tab pos="548640" algn="l"/>
                <a:tab pos="1737360" algn="l"/>
              </a:tabLst>
            </a:pPr>
            <a:endParaRPr sz="2300" dirty="0">
              <a:latin typeface="Cambria"/>
            </a:endParaRPr>
          </a:p>
          <a:p>
            <a:pPr>
              <a:tabLst>
                <a:tab pos="548640" algn="l"/>
                <a:tab pos="1737360" algn="l"/>
              </a:tabLst>
            </a:pPr>
            <a:r>
              <a:rPr sz="2300" b="0" dirty="0">
                <a:latin typeface="Cambria"/>
              </a:rPr>
              <a:t>	value  =  pattern  −  K</a:t>
            </a:r>
          </a:p>
          <a:p>
            <a:pPr>
              <a:tabLst>
                <a:tab pos="548640" algn="l"/>
                <a:tab pos="1737360" algn="l"/>
              </a:tabLst>
            </a:pPr>
            <a:r>
              <a:rPr sz="2300" dirty="0">
                <a:latin typeface="Cambria"/>
              </a:rPr>
              <a:t> </a:t>
            </a:r>
          </a:p>
          <a:p>
            <a:pPr>
              <a:tabLst>
                <a:tab pos="548640" algn="l"/>
                <a:tab pos="1737360" algn="l"/>
              </a:tabLst>
            </a:pPr>
            <a:r>
              <a:rPr sz="2300" b="0" dirty="0">
                <a:latin typeface="Cambria"/>
              </a:rPr>
              <a:t>4 bits with  K = 8:</a:t>
            </a:r>
          </a:p>
          <a:p>
            <a:pPr>
              <a:tabLst>
                <a:tab pos="548640" algn="l"/>
                <a:tab pos="1737360" algn="l"/>
              </a:tabLst>
            </a:pPr>
            <a:r>
              <a:rPr sz="2300" b="0" dirty="0">
                <a:latin typeface="Cambria"/>
              </a:rPr>
              <a:t>	0000	=  −8</a:t>
            </a:r>
          </a:p>
          <a:p>
            <a:pPr>
              <a:tabLst>
                <a:tab pos="548640" algn="l"/>
                <a:tab pos="1737360" algn="l"/>
              </a:tabLst>
            </a:pPr>
            <a:r>
              <a:rPr sz="2300" b="0" dirty="0">
                <a:latin typeface="Cambria"/>
              </a:rPr>
              <a:t>	1000	=  0</a:t>
            </a:r>
          </a:p>
          <a:p>
            <a:pPr>
              <a:tabLst>
                <a:tab pos="548640" algn="l"/>
                <a:tab pos="1737360" algn="l"/>
              </a:tabLst>
            </a:pPr>
            <a:r>
              <a:rPr sz="2300" b="0" dirty="0">
                <a:latin typeface="Cambria"/>
              </a:rPr>
              <a:t>	1111	=  +7</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Biased Representation</a:t>
            </a:r>
            <a:endParaRPr lang="en-US" sz="4400" b="0" u="none" strike="noStrike" dirty="0">
              <a:solidFill>
                <a:srgbClr val="000000"/>
              </a:solidFill>
              <a:effectLst/>
              <a:uFillTx/>
              <a:latin typeface="Arial"/>
            </a:endParaRPr>
          </a:p>
        </p:txBody>
      </p:sp>
      <p:sp>
        <p:nvSpPr>
          <p:cNvPr id="388" name="Oval 387"/>
          <p:cNvSpPr/>
          <p:nvPr/>
        </p:nvSpPr>
        <p:spPr>
          <a:xfrm>
            <a:off x="3182112" y="2542032"/>
            <a:ext cx="3694176" cy="3694176"/>
          </a:xfrm>
          <a:prstGeom prst="ellipse">
            <a:avLst/>
          </a:prstGeom>
          <a:no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9" name="Connector 388"/>
          <p:cNvCxnSpPr/>
          <p:nvPr/>
        </p:nvCxnSpPr>
        <p:spPr>
          <a:xfrm flipV="1">
            <a:off x="5029200" y="2450591"/>
            <a:ext cx="0"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0" name="TextBox 389"/>
          <p:cNvSpPr txBox="1"/>
          <p:nvPr/>
        </p:nvSpPr>
        <p:spPr>
          <a:xfrm>
            <a:off x="4572000" y="2706624"/>
            <a:ext cx="914400" cy="292608"/>
          </a:xfrm>
          <a:prstGeom prst="rect">
            <a:avLst/>
          </a:prstGeom>
          <a:noFill/>
        </p:spPr>
        <p:txBody>
          <a:bodyPr wrap="none" lIns="0" tIns="0" rIns="0" bIns="0" anchor="ctr">
            <a:spAutoFit/>
          </a:bodyPr>
          <a:lstStyle/>
          <a:p>
            <a:pPr algn="ctr"/>
            <a:r>
              <a:rPr sz="1250" b="0">
                <a:solidFill>
                  <a:srgbClr val="000000"/>
                </a:solidFill>
                <a:latin typeface="Cambria"/>
              </a:rPr>
              <a:t>0000</a:t>
            </a:r>
          </a:p>
        </p:txBody>
      </p:sp>
      <p:sp>
        <p:nvSpPr>
          <p:cNvPr id="391" name="TextBox 390"/>
          <p:cNvSpPr txBox="1"/>
          <p:nvPr/>
        </p:nvSpPr>
        <p:spPr>
          <a:xfrm>
            <a:off x="4663440" y="2011679"/>
            <a:ext cx="731520" cy="292608"/>
          </a:xfrm>
          <a:prstGeom prst="rect">
            <a:avLst/>
          </a:prstGeom>
          <a:noFill/>
        </p:spPr>
        <p:txBody>
          <a:bodyPr wrap="none" lIns="0" tIns="0" rIns="0" bIns="0" anchor="ctr">
            <a:spAutoFit/>
          </a:bodyPr>
          <a:lstStyle/>
          <a:p>
            <a:pPr algn="ctr"/>
            <a:r>
              <a:rPr sz="1600" b="1">
                <a:solidFill>
                  <a:srgbClr val="A61C1C"/>
                </a:solidFill>
                <a:latin typeface="Cambria"/>
              </a:rPr>
              <a:t>−8</a:t>
            </a:r>
          </a:p>
        </p:txBody>
      </p:sp>
      <p:cxnSp>
        <p:nvCxnSpPr>
          <p:cNvPr id="392" name="Connector 391"/>
          <p:cNvCxnSpPr/>
          <p:nvPr/>
        </p:nvCxnSpPr>
        <p:spPr>
          <a:xfrm flipV="1">
            <a:off x="57010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rot="1350000">
            <a:off x="5159875"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0001</a:t>
            </a:r>
          </a:p>
        </p:txBody>
      </p:sp>
      <p:sp>
        <p:nvSpPr>
          <p:cNvPr id="394" name="TextBox 393"/>
          <p:cNvSpPr txBox="1"/>
          <p:nvPr/>
        </p:nvSpPr>
        <p:spPr>
          <a:xfrm rot="1350000">
            <a:off x="5517258" y="2181515"/>
            <a:ext cx="731520" cy="292608"/>
          </a:xfrm>
          <a:prstGeom prst="rect">
            <a:avLst/>
          </a:prstGeom>
          <a:noFill/>
        </p:spPr>
        <p:txBody>
          <a:bodyPr wrap="none" lIns="0" tIns="0" rIns="0" bIns="0" anchor="ctr">
            <a:spAutoFit/>
          </a:bodyPr>
          <a:lstStyle/>
          <a:p>
            <a:pPr algn="ctr"/>
            <a:r>
              <a:rPr sz="1600" b="1">
                <a:solidFill>
                  <a:srgbClr val="A61C1C"/>
                </a:solidFill>
                <a:latin typeface="Cambria"/>
              </a:rPr>
              <a:t>−7</a:t>
            </a:r>
          </a:p>
        </p:txBody>
      </p:sp>
      <p:cxnSp>
        <p:nvCxnSpPr>
          <p:cNvPr id="395" name="Connector 394"/>
          <p:cNvCxnSpPr/>
          <p:nvPr/>
        </p:nvCxnSpPr>
        <p:spPr>
          <a:xfrm flipV="1">
            <a:off x="6270630"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rot="2700000">
            <a:off x="5658251"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0010</a:t>
            </a:r>
          </a:p>
        </p:txBody>
      </p:sp>
      <p:sp>
        <p:nvSpPr>
          <p:cNvPr id="397" name="TextBox 396"/>
          <p:cNvSpPr txBox="1"/>
          <p:nvPr/>
        </p:nvSpPr>
        <p:spPr>
          <a:xfrm rot="2700000">
            <a:off x="6241091" y="2665164"/>
            <a:ext cx="731520" cy="292608"/>
          </a:xfrm>
          <a:prstGeom prst="rect">
            <a:avLst/>
          </a:prstGeom>
          <a:noFill/>
        </p:spPr>
        <p:txBody>
          <a:bodyPr wrap="none" lIns="0" tIns="0" rIns="0" bIns="0" anchor="ctr">
            <a:spAutoFit/>
          </a:bodyPr>
          <a:lstStyle/>
          <a:p>
            <a:pPr algn="ctr"/>
            <a:r>
              <a:rPr sz="1600" b="1">
                <a:solidFill>
                  <a:srgbClr val="A61C1C"/>
                </a:solidFill>
                <a:latin typeface="Cambria"/>
              </a:rPr>
              <a:t>−6</a:t>
            </a:r>
          </a:p>
        </p:txBody>
      </p:sp>
      <p:cxnSp>
        <p:nvCxnSpPr>
          <p:cNvPr id="398" name="Connector 397"/>
          <p:cNvCxnSpPr/>
          <p:nvPr/>
        </p:nvCxnSpPr>
        <p:spPr>
          <a:xfrm flipV="1">
            <a:off x="6651207"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9" name="TextBox 398"/>
          <p:cNvSpPr txBox="1"/>
          <p:nvPr/>
        </p:nvSpPr>
        <p:spPr>
          <a:xfrm rot="4050000">
            <a:off x="5991256"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0011</a:t>
            </a:r>
          </a:p>
        </p:txBody>
      </p:sp>
      <p:sp>
        <p:nvSpPr>
          <p:cNvPr id="400" name="TextBox 399"/>
          <p:cNvSpPr txBox="1"/>
          <p:nvPr/>
        </p:nvSpPr>
        <p:spPr>
          <a:xfrm rot="4050000">
            <a:off x="6724740" y="3388997"/>
            <a:ext cx="731520" cy="292608"/>
          </a:xfrm>
          <a:prstGeom prst="rect">
            <a:avLst/>
          </a:prstGeom>
          <a:noFill/>
        </p:spPr>
        <p:txBody>
          <a:bodyPr wrap="none" lIns="0" tIns="0" rIns="0" bIns="0" anchor="ctr">
            <a:spAutoFit/>
          </a:bodyPr>
          <a:lstStyle/>
          <a:p>
            <a:pPr algn="ctr"/>
            <a:r>
              <a:rPr sz="1600" b="1">
                <a:solidFill>
                  <a:srgbClr val="A61C1C"/>
                </a:solidFill>
                <a:latin typeface="Cambria"/>
              </a:rPr>
              <a:t>−5</a:t>
            </a:r>
          </a:p>
        </p:txBody>
      </p:sp>
      <p:cxnSp>
        <p:nvCxnSpPr>
          <p:cNvPr id="401" name="Connector 400"/>
          <p:cNvCxnSpPr/>
          <p:nvPr/>
        </p:nvCxnSpPr>
        <p:spPr>
          <a:xfrm>
            <a:off x="6784848"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rot="5400000">
            <a:off x="6108192"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0100</a:t>
            </a:r>
          </a:p>
        </p:txBody>
      </p:sp>
      <p:sp>
        <p:nvSpPr>
          <p:cNvPr id="403" name="TextBox 402"/>
          <p:cNvSpPr txBox="1"/>
          <p:nvPr/>
        </p:nvSpPr>
        <p:spPr>
          <a:xfrm rot="5400000">
            <a:off x="6894575" y="4242816"/>
            <a:ext cx="731520" cy="292608"/>
          </a:xfrm>
          <a:prstGeom prst="rect">
            <a:avLst/>
          </a:prstGeom>
          <a:noFill/>
        </p:spPr>
        <p:txBody>
          <a:bodyPr wrap="none" lIns="0" tIns="0" rIns="0" bIns="0" anchor="ctr">
            <a:spAutoFit/>
          </a:bodyPr>
          <a:lstStyle/>
          <a:p>
            <a:pPr algn="ctr"/>
            <a:r>
              <a:rPr sz="1600" b="1">
                <a:solidFill>
                  <a:srgbClr val="A61C1C"/>
                </a:solidFill>
                <a:latin typeface="Cambria"/>
              </a:rPr>
              <a:t>−4</a:t>
            </a:r>
          </a:p>
        </p:txBody>
      </p:sp>
      <p:cxnSp>
        <p:nvCxnSpPr>
          <p:cNvPr id="404" name="Connector 403"/>
          <p:cNvCxnSpPr/>
          <p:nvPr/>
        </p:nvCxnSpPr>
        <p:spPr>
          <a:xfrm>
            <a:off x="6651207"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5" name="TextBox 404"/>
          <p:cNvSpPr txBox="1"/>
          <p:nvPr/>
        </p:nvSpPr>
        <p:spPr>
          <a:xfrm rot="6750000">
            <a:off x="5991256"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0101</a:t>
            </a:r>
          </a:p>
        </p:txBody>
      </p:sp>
      <p:sp>
        <p:nvSpPr>
          <p:cNvPr id="406" name="TextBox 405"/>
          <p:cNvSpPr txBox="1"/>
          <p:nvPr/>
        </p:nvSpPr>
        <p:spPr>
          <a:xfrm rot="6750000">
            <a:off x="6724740" y="5096634"/>
            <a:ext cx="731520" cy="292608"/>
          </a:xfrm>
          <a:prstGeom prst="rect">
            <a:avLst/>
          </a:prstGeom>
          <a:noFill/>
        </p:spPr>
        <p:txBody>
          <a:bodyPr wrap="none" lIns="0" tIns="0" rIns="0" bIns="0" anchor="ctr">
            <a:spAutoFit/>
          </a:bodyPr>
          <a:lstStyle/>
          <a:p>
            <a:pPr algn="ctr"/>
            <a:r>
              <a:rPr sz="1600" b="1">
                <a:solidFill>
                  <a:srgbClr val="A61C1C"/>
                </a:solidFill>
                <a:latin typeface="Cambria"/>
              </a:rPr>
              <a:t>−3</a:t>
            </a:r>
          </a:p>
        </p:txBody>
      </p:sp>
      <p:cxnSp>
        <p:nvCxnSpPr>
          <p:cNvPr id="407" name="Connector 406"/>
          <p:cNvCxnSpPr/>
          <p:nvPr/>
        </p:nvCxnSpPr>
        <p:spPr>
          <a:xfrm>
            <a:off x="6270630"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rot="8100000">
            <a:off x="5658251"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0110</a:t>
            </a:r>
          </a:p>
        </p:txBody>
      </p:sp>
      <p:sp>
        <p:nvSpPr>
          <p:cNvPr id="409" name="TextBox 408"/>
          <p:cNvSpPr txBox="1"/>
          <p:nvPr/>
        </p:nvSpPr>
        <p:spPr>
          <a:xfrm rot="8100000">
            <a:off x="6241091" y="5820467"/>
            <a:ext cx="731520" cy="292608"/>
          </a:xfrm>
          <a:prstGeom prst="rect">
            <a:avLst/>
          </a:prstGeom>
          <a:noFill/>
        </p:spPr>
        <p:txBody>
          <a:bodyPr wrap="none" lIns="0" tIns="0" rIns="0" bIns="0" anchor="ctr">
            <a:spAutoFit/>
          </a:bodyPr>
          <a:lstStyle/>
          <a:p>
            <a:pPr algn="ctr"/>
            <a:r>
              <a:rPr sz="1600" b="1">
                <a:solidFill>
                  <a:srgbClr val="A61C1C"/>
                </a:solidFill>
                <a:latin typeface="Cambria"/>
              </a:rPr>
              <a:t>−2</a:t>
            </a:r>
          </a:p>
        </p:txBody>
      </p:sp>
      <p:cxnSp>
        <p:nvCxnSpPr>
          <p:cNvPr id="410" name="Connector 409"/>
          <p:cNvCxnSpPr/>
          <p:nvPr/>
        </p:nvCxnSpPr>
        <p:spPr>
          <a:xfrm>
            <a:off x="57010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1" name="TextBox 410"/>
          <p:cNvSpPr txBox="1"/>
          <p:nvPr/>
        </p:nvSpPr>
        <p:spPr>
          <a:xfrm rot="9450000">
            <a:off x="5159875"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0111</a:t>
            </a:r>
          </a:p>
        </p:txBody>
      </p:sp>
      <p:sp>
        <p:nvSpPr>
          <p:cNvPr id="412" name="TextBox 411"/>
          <p:cNvSpPr txBox="1"/>
          <p:nvPr/>
        </p:nvSpPr>
        <p:spPr>
          <a:xfrm rot="9450000">
            <a:off x="5517258" y="6304116"/>
            <a:ext cx="731520" cy="292608"/>
          </a:xfrm>
          <a:prstGeom prst="rect">
            <a:avLst/>
          </a:prstGeom>
          <a:noFill/>
        </p:spPr>
        <p:txBody>
          <a:bodyPr wrap="none" lIns="0" tIns="0" rIns="0" bIns="0" anchor="ctr">
            <a:spAutoFit/>
          </a:bodyPr>
          <a:lstStyle/>
          <a:p>
            <a:pPr algn="ctr"/>
            <a:r>
              <a:rPr sz="1600" b="1">
                <a:solidFill>
                  <a:srgbClr val="A61C1C"/>
                </a:solidFill>
                <a:latin typeface="Cambria"/>
              </a:rPr>
              <a:t>−1</a:t>
            </a:r>
          </a:p>
        </p:txBody>
      </p:sp>
      <p:cxnSp>
        <p:nvCxnSpPr>
          <p:cNvPr id="413" name="Connector 412"/>
          <p:cNvCxnSpPr/>
          <p:nvPr/>
        </p:nvCxnSpPr>
        <p:spPr>
          <a:xfrm>
            <a:off x="5029200" y="6144768"/>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4" name="TextBox 413"/>
          <p:cNvSpPr txBox="1"/>
          <p:nvPr/>
        </p:nvSpPr>
        <p:spPr>
          <a:xfrm rot="10800000">
            <a:off x="4572000" y="5779007"/>
            <a:ext cx="914400" cy="292608"/>
          </a:xfrm>
          <a:prstGeom prst="rect">
            <a:avLst/>
          </a:prstGeom>
          <a:noFill/>
        </p:spPr>
        <p:txBody>
          <a:bodyPr wrap="none" lIns="0" tIns="0" rIns="0" bIns="0" anchor="ctr">
            <a:spAutoFit/>
          </a:bodyPr>
          <a:lstStyle/>
          <a:p>
            <a:pPr algn="ctr"/>
            <a:r>
              <a:rPr sz="1250" b="0">
                <a:solidFill>
                  <a:srgbClr val="000000"/>
                </a:solidFill>
                <a:latin typeface="Cambria"/>
              </a:rPr>
              <a:t>1000</a:t>
            </a:r>
          </a:p>
        </p:txBody>
      </p:sp>
      <p:sp>
        <p:nvSpPr>
          <p:cNvPr id="415" name="TextBox 414"/>
          <p:cNvSpPr txBox="1"/>
          <p:nvPr/>
        </p:nvSpPr>
        <p:spPr>
          <a:xfrm rot="10800000">
            <a:off x="4663440" y="6473952"/>
            <a:ext cx="731520" cy="292608"/>
          </a:xfrm>
          <a:prstGeom prst="rect">
            <a:avLst/>
          </a:prstGeom>
          <a:noFill/>
        </p:spPr>
        <p:txBody>
          <a:bodyPr wrap="none" lIns="0" tIns="0" rIns="0" bIns="0" anchor="ctr">
            <a:spAutoFit/>
          </a:bodyPr>
          <a:lstStyle/>
          <a:p>
            <a:pPr algn="ctr"/>
            <a:r>
              <a:rPr sz="1600" b="1">
                <a:solidFill>
                  <a:srgbClr val="000000"/>
                </a:solidFill>
                <a:latin typeface="Cambria"/>
              </a:rPr>
              <a:t>0</a:t>
            </a:r>
          </a:p>
        </p:txBody>
      </p:sp>
      <p:cxnSp>
        <p:nvCxnSpPr>
          <p:cNvPr id="416" name="Connector 415"/>
          <p:cNvCxnSpPr/>
          <p:nvPr/>
        </p:nvCxnSpPr>
        <p:spPr>
          <a:xfrm flipH="1">
            <a:off x="42873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rot="12150000">
            <a:off x="3984124"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1001</a:t>
            </a:r>
          </a:p>
        </p:txBody>
      </p:sp>
      <p:sp>
        <p:nvSpPr>
          <p:cNvPr id="418" name="TextBox 417"/>
          <p:cNvSpPr txBox="1"/>
          <p:nvPr/>
        </p:nvSpPr>
        <p:spPr>
          <a:xfrm rot="12150000">
            <a:off x="3809621"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1</a:t>
            </a:r>
          </a:p>
        </p:txBody>
      </p:sp>
      <p:cxnSp>
        <p:nvCxnSpPr>
          <p:cNvPr id="419" name="Connector 418"/>
          <p:cNvCxnSpPr/>
          <p:nvPr/>
        </p:nvCxnSpPr>
        <p:spPr>
          <a:xfrm flipH="1">
            <a:off x="3658453"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0" name="TextBox 419"/>
          <p:cNvSpPr txBox="1"/>
          <p:nvPr/>
        </p:nvSpPr>
        <p:spPr>
          <a:xfrm rot="13500000">
            <a:off x="3485748"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1010</a:t>
            </a:r>
          </a:p>
        </p:txBody>
      </p:sp>
      <p:sp>
        <p:nvSpPr>
          <p:cNvPr id="421" name="TextBox 420"/>
          <p:cNvSpPr txBox="1"/>
          <p:nvPr/>
        </p:nvSpPr>
        <p:spPr>
          <a:xfrm rot="13500000">
            <a:off x="3085788"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2</a:t>
            </a:r>
          </a:p>
        </p:txBody>
      </p:sp>
      <p:cxnSp>
        <p:nvCxnSpPr>
          <p:cNvPr id="422" name="Connector 421"/>
          <p:cNvCxnSpPr/>
          <p:nvPr/>
        </p:nvCxnSpPr>
        <p:spPr>
          <a:xfrm flipH="1">
            <a:off x="3238233"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3" name="TextBox 422"/>
          <p:cNvSpPr txBox="1"/>
          <p:nvPr/>
        </p:nvSpPr>
        <p:spPr>
          <a:xfrm rot="14850000">
            <a:off x="3152743"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1011</a:t>
            </a:r>
          </a:p>
        </p:txBody>
      </p:sp>
      <p:sp>
        <p:nvSpPr>
          <p:cNvPr id="424" name="TextBox 423"/>
          <p:cNvSpPr txBox="1"/>
          <p:nvPr/>
        </p:nvSpPr>
        <p:spPr>
          <a:xfrm rot="14850000">
            <a:off x="2602139"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3</a:t>
            </a:r>
          </a:p>
        </p:txBody>
      </p:sp>
      <p:cxnSp>
        <p:nvCxnSpPr>
          <p:cNvPr id="425" name="Connector 424"/>
          <p:cNvCxnSpPr/>
          <p:nvPr/>
        </p:nvCxnSpPr>
        <p:spPr>
          <a:xfrm flipH="1">
            <a:off x="3090672"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6" name="TextBox 425"/>
          <p:cNvSpPr txBox="1"/>
          <p:nvPr/>
        </p:nvSpPr>
        <p:spPr>
          <a:xfrm rot="16200000">
            <a:off x="3035808"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1100</a:t>
            </a:r>
          </a:p>
        </p:txBody>
      </p:sp>
      <p:sp>
        <p:nvSpPr>
          <p:cNvPr id="427" name="TextBox 426"/>
          <p:cNvSpPr txBox="1"/>
          <p:nvPr/>
        </p:nvSpPr>
        <p:spPr>
          <a:xfrm rot="16200000">
            <a:off x="2432304" y="4242816"/>
            <a:ext cx="731520" cy="292608"/>
          </a:xfrm>
          <a:prstGeom prst="rect">
            <a:avLst/>
          </a:prstGeom>
          <a:noFill/>
        </p:spPr>
        <p:txBody>
          <a:bodyPr wrap="none" lIns="0" tIns="0" rIns="0" bIns="0" anchor="ctr">
            <a:spAutoFit/>
          </a:bodyPr>
          <a:lstStyle/>
          <a:p>
            <a:pPr algn="ctr"/>
            <a:r>
              <a:rPr sz="1600" b="1">
                <a:solidFill>
                  <a:srgbClr val="000000"/>
                </a:solidFill>
                <a:latin typeface="Cambria"/>
              </a:rPr>
              <a:t>4</a:t>
            </a:r>
          </a:p>
        </p:txBody>
      </p:sp>
      <p:cxnSp>
        <p:nvCxnSpPr>
          <p:cNvPr id="428" name="Connector 427"/>
          <p:cNvCxnSpPr/>
          <p:nvPr/>
        </p:nvCxnSpPr>
        <p:spPr>
          <a:xfrm flipH="1" flipV="1">
            <a:off x="3238233"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9" name="TextBox 428"/>
          <p:cNvSpPr txBox="1"/>
          <p:nvPr/>
        </p:nvSpPr>
        <p:spPr>
          <a:xfrm rot="17550000">
            <a:off x="3152743"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1101</a:t>
            </a:r>
          </a:p>
        </p:txBody>
      </p:sp>
      <p:sp>
        <p:nvSpPr>
          <p:cNvPr id="430" name="TextBox 429"/>
          <p:cNvSpPr txBox="1"/>
          <p:nvPr/>
        </p:nvSpPr>
        <p:spPr>
          <a:xfrm rot="17550000">
            <a:off x="2602139"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5</a:t>
            </a:r>
          </a:p>
        </p:txBody>
      </p:sp>
      <p:cxnSp>
        <p:nvCxnSpPr>
          <p:cNvPr id="431" name="Connector 430"/>
          <p:cNvCxnSpPr/>
          <p:nvPr/>
        </p:nvCxnSpPr>
        <p:spPr>
          <a:xfrm flipH="1" flipV="1">
            <a:off x="3658453"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2" name="TextBox 431"/>
          <p:cNvSpPr txBox="1"/>
          <p:nvPr/>
        </p:nvSpPr>
        <p:spPr>
          <a:xfrm rot="18900000">
            <a:off x="3485748"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1110</a:t>
            </a:r>
          </a:p>
        </p:txBody>
      </p:sp>
      <p:sp>
        <p:nvSpPr>
          <p:cNvPr id="433" name="TextBox 432"/>
          <p:cNvSpPr txBox="1"/>
          <p:nvPr/>
        </p:nvSpPr>
        <p:spPr>
          <a:xfrm rot="18900000">
            <a:off x="3085788"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6</a:t>
            </a:r>
          </a:p>
        </p:txBody>
      </p:sp>
      <p:cxnSp>
        <p:nvCxnSpPr>
          <p:cNvPr id="434" name="Connector 433"/>
          <p:cNvCxnSpPr/>
          <p:nvPr/>
        </p:nvCxnSpPr>
        <p:spPr>
          <a:xfrm flipH="1" flipV="1">
            <a:off x="42873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5" name="TextBox 434"/>
          <p:cNvSpPr txBox="1"/>
          <p:nvPr/>
        </p:nvSpPr>
        <p:spPr>
          <a:xfrm rot="20250000">
            <a:off x="3984124"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1111</a:t>
            </a:r>
          </a:p>
        </p:txBody>
      </p:sp>
      <p:sp>
        <p:nvSpPr>
          <p:cNvPr id="436" name="TextBox 435"/>
          <p:cNvSpPr txBox="1"/>
          <p:nvPr/>
        </p:nvSpPr>
        <p:spPr>
          <a:xfrm rot="20250000">
            <a:off x="3809621"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7</a:t>
            </a:r>
          </a:p>
        </p:txBody>
      </p:sp>
      <p:sp>
        <p:nvSpPr>
          <p:cNvPr id="437" name="TextBox 436"/>
          <p:cNvSpPr txBox="1"/>
          <p:nvPr/>
        </p:nvSpPr>
        <p:spPr>
          <a:xfrm>
            <a:off x="3977639" y="3566160"/>
            <a:ext cx="2103120" cy="1645919"/>
          </a:xfrm>
          <a:prstGeom prst="rect">
            <a:avLst/>
          </a:prstGeom>
          <a:noFill/>
        </p:spPr>
        <p:txBody>
          <a:bodyPr wrap="square" lIns="0" tIns="0" rIns="0" bIns="0" anchor="ctr">
            <a:spAutoFit/>
          </a:bodyPr>
          <a:lstStyle/>
          <a:p>
            <a:pPr algn="ctr"/>
            <a:r>
              <a:rPr sz="1600">
                <a:solidFill>
                  <a:srgbClr val="000000"/>
                </a:solidFill>
                <a:latin typeface="Cambria"/>
              </a:rPr>
              <a:t>4-bit</a:t>
            </a:r>
          </a:p>
          <a:p>
            <a:pPr algn="ctr"/>
            <a:r>
              <a:rPr sz="1600">
                <a:solidFill>
                  <a:srgbClr val="000000"/>
                </a:solidFill>
                <a:latin typeface="Cambria"/>
              </a:rPr>
              <a:t>biased  ( excess-8 )</a:t>
            </a:r>
          </a:p>
          <a:p>
            <a:pPr algn="ctr"/>
            <a:r>
              <a:rPr sz="1600">
                <a:solidFill>
                  <a:srgbClr val="000000"/>
                </a:solidFill>
                <a:latin typeface="Cambria"/>
              </a:rPr>
              <a:t>representation</a:t>
            </a:r>
          </a:p>
        </p:txBody>
      </p:sp>
      <p:sp>
        <p:nvSpPr>
          <p:cNvPr id="438" name="TextBox 437"/>
          <p:cNvSpPr txBox="1"/>
          <p:nvPr/>
        </p:nvSpPr>
        <p:spPr>
          <a:xfrm>
            <a:off x="822960" y="6931152"/>
            <a:ext cx="8412480" cy="310896"/>
          </a:xfrm>
          <a:prstGeom prst="rect">
            <a:avLst/>
          </a:prstGeom>
          <a:noFill/>
        </p:spPr>
        <p:txBody>
          <a:bodyPr wrap="square" lIns="0" tIns="0" rIns="0" bIns="0">
            <a:spAutoFit/>
          </a:bodyPr>
          <a:lstStyle/>
          <a:p>
            <a:pPr algn="ctr"/>
            <a:r>
              <a:rPr sz="2000" b="0" i="1">
                <a:solidFill>
                  <a:srgbClr val="000000"/>
                </a:solidFill>
                <a:latin typeface="Cambria"/>
              </a:rPr>
              <a:t>value  =  pattern  −  8   -   the patterns now run in </a:t>
            </a:r>
            <a:r>
              <a:rPr sz="2000" b="1" i="1">
                <a:solidFill>
                  <a:srgbClr val="000000"/>
                </a:solidFill>
                <a:latin typeface="Cambria"/>
              </a:rPr>
              <a:t>numeric order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Why Bias Is Useful</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3477875"/>
          </a:xfrm>
          <a:prstGeom prst="rect">
            <a:avLst/>
          </a:prstGeom>
          <a:noFill/>
        </p:spPr>
        <p:txBody>
          <a:bodyPr wrap="square">
            <a:spAutoFit/>
          </a:bodyPr>
          <a:lstStyle/>
          <a:p>
            <a:pPr>
              <a:tabLst>
                <a:tab pos="548640" algn="l"/>
              </a:tabLst>
            </a:pPr>
            <a:r>
              <a:rPr sz="2200" b="0" dirty="0">
                <a:latin typeface="Cambria"/>
              </a:rPr>
              <a:t>The </a:t>
            </a:r>
            <a:r>
              <a:rPr sz="2200" b="1" dirty="0">
                <a:latin typeface="Cambria"/>
              </a:rPr>
              <a:t>unsigned order</a:t>
            </a:r>
            <a:r>
              <a:rPr sz="2200" b="0" dirty="0">
                <a:latin typeface="Cambria"/>
              </a:rPr>
              <a:t> is the </a:t>
            </a:r>
            <a:r>
              <a:rPr sz="2200" b="1" dirty="0">
                <a:latin typeface="Cambria"/>
              </a:rPr>
              <a:t>signed order</a:t>
            </a:r>
          </a:p>
          <a:p>
            <a:pPr>
              <a:tabLst>
                <a:tab pos="548640" algn="l"/>
              </a:tabLst>
            </a:pPr>
            <a:r>
              <a:rPr sz="2200" dirty="0">
                <a:latin typeface="Cambria"/>
              </a:rPr>
              <a:t> </a:t>
            </a:r>
          </a:p>
          <a:p>
            <a:pPr>
              <a:tabLst>
                <a:tab pos="548640" algn="l"/>
              </a:tabLst>
            </a:pPr>
            <a:r>
              <a:rPr sz="2200" b="0" dirty="0">
                <a:latin typeface="Cambria"/>
              </a:rPr>
              <a:t>	0000 &lt; 0001 &lt; ... &lt; 1111</a:t>
            </a:r>
          </a:p>
          <a:p>
            <a:pPr>
              <a:tabLst>
                <a:tab pos="548640" algn="l"/>
              </a:tabLst>
            </a:pPr>
            <a:r>
              <a:rPr sz="2200" b="0" dirty="0">
                <a:latin typeface="Cambria"/>
              </a:rPr>
              <a:t>	−8  &lt;  −7  &lt; ... &lt;  +7</a:t>
            </a:r>
          </a:p>
          <a:p>
            <a:pPr>
              <a:tabLst>
                <a:tab pos="548640" algn="l"/>
              </a:tabLst>
            </a:pPr>
            <a:r>
              <a:rPr sz="2200" dirty="0">
                <a:latin typeface="Cambria"/>
              </a:rPr>
              <a:t> </a:t>
            </a:r>
          </a:p>
          <a:p>
            <a:pPr>
              <a:tabLst>
                <a:tab pos="548640" algn="l"/>
              </a:tabLst>
            </a:pPr>
            <a:r>
              <a:rPr sz="2200" b="0" dirty="0">
                <a:latin typeface="Cambria"/>
              </a:rPr>
              <a:t>So an </a:t>
            </a:r>
            <a:r>
              <a:rPr sz="2200" b="1" dirty="0">
                <a:latin typeface="Cambria"/>
              </a:rPr>
              <a:t>unsigned compare</a:t>
            </a:r>
            <a:r>
              <a:rPr sz="2200" b="0" dirty="0">
                <a:latin typeface="Cambria"/>
              </a:rPr>
              <a:t> sorts signed values</a:t>
            </a:r>
          </a:p>
          <a:p>
            <a:pPr>
              <a:tabLst>
                <a:tab pos="548640" algn="l"/>
              </a:tabLst>
            </a:pPr>
            <a:r>
              <a:rPr sz="2200" dirty="0">
                <a:latin typeface="Cambria"/>
              </a:rPr>
              <a:t> </a:t>
            </a:r>
          </a:p>
          <a:p>
            <a:pPr>
              <a:tabLst>
                <a:tab pos="548640" algn="l"/>
              </a:tabLst>
            </a:pPr>
            <a:r>
              <a:rPr sz="2200" b="0" dirty="0">
                <a:latin typeface="Cambria"/>
              </a:rPr>
              <a:t>Used for the </a:t>
            </a:r>
            <a:r>
              <a:rPr sz="2200" b="1" dirty="0">
                <a:latin typeface="Cambria"/>
              </a:rPr>
              <a:t>exponent</a:t>
            </a:r>
            <a:r>
              <a:rPr sz="2200" b="0" dirty="0">
                <a:latin typeface="Cambria"/>
              </a:rPr>
              <a:t> of a floating </a:t>
            </a:r>
            <a:r>
              <a:rPr sz="2200" b="0" dirty="0" smtClean="0">
                <a:latin typeface="Cambria"/>
              </a:rPr>
              <a:t>point</a:t>
            </a:r>
            <a:r>
              <a:rPr lang="en-US" sz="2200" b="0" dirty="0" smtClean="0">
                <a:latin typeface="Cambria"/>
              </a:rPr>
              <a:t> </a:t>
            </a:r>
            <a:r>
              <a:rPr sz="2200" b="0" dirty="0" smtClean="0">
                <a:latin typeface="Cambria"/>
              </a:rPr>
              <a:t>number</a:t>
            </a:r>
            <a:r>
              <a:rPr lang="en-US" sz="2200" dirty="0">
                <a:latin typeface="Cambria"/>
              </a:rPr>
              <a:t>s</a:t>
            </a:r>
            <a:r>
              <a:rPr sz="2200" b="0" dirty="0" smtClean="0">
                <a:latin typeface="Cambria"/>
              </a:rPr>
              <a:t>:  </a:t>
            </a:r>
            <a:endParaRPr lang="en-US" sz="2200" b="0" dirty="0" smtClean="0">
              <a:latin typeface="Cambria"/>
            </a:endParaRPr>
          </a:p>
          <a:p>
            <a:pPr>
              <a:tabLst>
                <a:tab pos="548640" algn="l"/>
              </a:tabLst>
            </a:pPr>
            <a:endParaRPr lang="en-US" sz="2200" dirty="0">
              <a:latin typeface="Cambria"/>
            </a:endParaRPr>
          </a:p>
          <a:p>
            <a:pPr>
              <a:tabLst>
                <a:tab pos="548640" algn="l"/>
              </a:tabLst>
            </a:pPr>
            <a:r>
              <a:rPr lang="en-US" sz="2200" b="0" dirty="0" smtClean="0">
                <a:latin typeface="Cambria"/>
              </a:rPr>
              <a:t>	</a:t>
            </a:r>
            <a:r>
              <a:rPr sz="2200" b="0" dirty="0" smtClean="0">
                <a:latin typeface="Cambria"/>
              </a:rPr>
              <a:t>K </a:t>
            </a:r>
            <a:r>
              <a:rPr sz="2200" b="0" dirty="0">
                <a:latin typeface="Cambria"/>
              </a:rPr>
              <a:t>= 127 for f32,  1023 for f64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The Range Is Not Symmetric</a:t>
            </a:r>
            <a:endParaRPr lang="en-US" sz="4000" b="0" u="none" strike="noStrike" dirty="0">
              <a:solidFill>
                <a:srgbClr val="000000"/>
              </a:solidFill>
              <a:effectLst/>
              <a:uFillTx/>
              <a:latin typeface="Arial"/>
            </a:endParaRPr>
          </a:p>
        </p:txBody>
      </p:sp>
      <p:sp>
        <p:nvSpPr>
          <p:cNvPr id="388" name="TextBox 387"/>
          <p:cNvSpPr txBox="1"/>
          <p:nvPr/>
        </p:nvSpPr>
        <p:spPr>
          <a:xfrm>
            <a:off x="735357" y="1788467"/>
            <a:ext cx="8846825" cy="2800767"/>
          </a:xfrm>
          <a:prstGeom prst="rect">
            <a:avLst/>
          </a:prstGeom>
          <a:noFill/>
        </p:spPr>
        <p:txBody>
          <a:bodyPr wrap="square">
            <a:spAutoFit/>
          </a:bodyPr>
          <a:lstStyle/>
          <a:p>
            <a:pPr>
              <a:tabLst>
                <a:tab pos="1371600" algn="l"/>
              </a:tabLst>
            </a:pPr>
            <a:r>
              <a:rPr sz="2200" b="0" dirty="0">
                <a:latin typeface="Cambria"/>
              </a:rPr>
              <a:t>n bits:	− 2^(n−1)   ..   + 2^(n−1) − 1</a:t>
            </a:r>
          </a:p>
          <a:p>
            <a:pPr>
              <a:tabLst>
                <a:tab pos="1371600" algn="l"/>
              </a:tabLst>
            </a:pPr>
            <a:r>
              <a:rPr sz="2200" dirty="0">
                <a:latin typeface="Cambria"/>
              </a:rPr>
              <a:t> </a:t>
            </a:r>
          </a:p>
          <a:p>
            <a:pPr>
              <a:tabLst>
                <a:tab pos="1371600" algn="l"/>
              </a:tabLst>
            </a:pPr>
            <a:r>
              <a:rPr sz="2200" b="0" dirty="0">
                <a:latin typeface="Cambria"/>
              </a:rPr>
              <a:t>4 bits:	−8  ..  +7</a:t>
            </a:r>
          </a:p>
          <a:p>
            <a:pPr>
              <a:tabLst>
                <a:tab pos="1371600" algn="l"/>
              </a:tabLst>
            </a:pPr>
            <a:r>
              <a:rPr sz="2200" dirty="0">
                <a:latin typeface="Cambria"/>
              </a:rPr>
              <a:t> </a:t>
            </a:r>
          </a:p>
          <a:p>
            <a:pPr>
              <a:tabLst>
                <a:tab pos="1371600" algn="l"/>
              </a:tabLst>
            </a:pPr>
            <a:r>
              <a:rPr sz="2200" b="0" dirty="0">
                <a:latin typeface="Cambria"/>
              </a:rPr>
              <a:t>There are eight negatives but only seven </a:t>
            </a:r>
            <a:r>
              <a:rPr sz="2200" b="0" dirty="0" smtClean="0">
                <a:latin typeface="Cambria"/>
              </a:rPr>
              <a:t>positives</a:t>
            </a:r>
            <a:r>
              <a:rPr lang="en-US" sz="2200" b="0" dirty="0" smtClean="0">
                <a:latin typeface="Cambria"/>
              </a:rPr>
              <a:t> </a:t>
            </a:r>
            <a:r>
              <a:rPr sz="2200" b="0" dirty="0" smtClean="0">
                <a:latin typeface="Cambria"/>
              </a:rPr>
              <a:t>because  </a:t>
            </a:r>
            <a:r>
              <a:rPr sz="2200" b="1" dirty="0">
                <a:latin typeface="Cambria"/>
              </a:rPr>
              <a:t>0</a:t>
            </a:r>
            <a:r>
              <a:rPr sz="2200" b="0" dirty="0">
                <a:latin typeface="Cambria"/>
              </a:rPr>
              <a:t>  takes one of the positive patterns</a:t>
            </a:r>
          </a:p>
          <a:p>
            <a:pPr>
              <a:tabLst>
                <a:tab pos="1371600" algn="l"/>
              </a:tabLst>
            </a:pPr>
            <a:r>
              <a:rPr sz="2200" dirty="0">
                <a:latin typeface="Cambria"/>
              </a:rPr>
              <a:t> </a:t>
            </a:r>
          </a:p>
          <a:p>
            <a:pPr>
              <a:tabLst>
                <a:tab pos="1371600" algn="l"/>
              </a:tabLst>
            </a:pPr>
            <a:r>
              <a:rPr sz="2200" b="0" dirty="0">
                <a:latin typeface="Cambria"/>
              </a:rPr>
              <a:t>−8 has </a:t>
            </a:r>
            <a:r>
              <a:rPr sz="2200" b="1" dirty="0">
                <a:latin typeface="Cambria"/>
              </a:rPr>
              <a:t>no positive partner</a:t>
            </a:r>
            <a:r>
              <a:rPr sz="2200" b="0" dirty="0">
                <a:latin typeface="Cambria"/>
              </a:rPr>
              <a:t>:  negate 1000 </a:t>
            </a:r>
            <a:r>
              <a:rPr sz="2200" b="0" dirty="0" smtClean="0">
                <a:latin typeface="Cambria"/>
              </a:rPr>
              <a:t>and</a:t>
            </a:r>
            <a:r>
              <a:rPr lang="en-US" sz="2200" b="0" dirty="0" smtClean="0">
                <a:latin typeface="Cambria"/>
              </a:rPr>
              <a:t> </a:t>
            </a:r>
            <a:r>
              <a:rPr sz="2200" b="0" dirty="0" smtClean="0">
                <a:latin typeface="Cambria"/>
              </a:rPr>
              <a:t>you </a:t>
            </a:r>
            <a:r>
              <a:rPr sz="2200" b="0" dirty="0">
                <a:latin typeface="Cambria"/>
              </a:rPr>
              <a:t>get 1000 back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One's Complement</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3785652"/>
          </a:xfrm>
          <a:prstGeom prst="rect">
            <a:avLst/>
          </a:prstGeom>
          <a:noFill/>
        </p:spPr>
        <p:txBody>
          <a:bodyPr wrap="square">
            <a:spAutoFit/>
          </a:bodyPr>
          <a:lstStyle/>
          <a:p>
            <a:pPr>
              <a:tabLst>
                <a:tab pos="548640" algn="l"/>
                <a:tab pos="1645920" algn="l"/>
              </a:tabLst>
            </a:pPr>
            <a:r>
              <a:rPr lang="en-US" sz="2400" b="0" dirty="0" smtClean="0">
                <a:latin typeface="Cambria"/>
              </a:rPr>
              <a:t>Another try:</a:t>
            </a:r>
          </a:p>
          <a:p>
            <a:pPr>
              <a:tabLst>
                <a:tab pos="548640" algn="l"/>
                <a:tab pos="1645920" algn="l"/>
              </a:tabLst>
            </a:pPr>
            <a:endParaRPr lang="en-US" sz="2400" dirty="0">
              <a:latin typeface="Cambria"/>
            </a:endParaRPr>
          </a:p>
          <a:p>
            <a:pPr>
              <a:tabLst>
                <a:tab pos="548640" algn="l"/>
                <a:tab pos="1645920" algn="l"/>
              </a:tabLst>
            </a:pPr>
            <a:r>
              <a:rPr sz="2400" b="0" dirty="0" smtClean="0">
                <a:latin typeface="Cambria"/>
              </a:rPr>
              <a:t>Negate </a:t>
            </a:r>
            <a:r>
              <a:rPr sz="2400" b="0" dirty="0">
                <a:latin typeface="Cambria"/>
              </a:rPr>
              <a:t>by </a:t>
            </a:r>
            <a:r>
              <a:rPr sz="2400" b="1" dirty="0">
                <a:latin typeface="Cambria"/>
              </a:rPr>
              <a:t>flipping every bit</a:t>
            </a:r>
          </a:p>
          <a:p>
            <a:pPr>
              <a:tabLst>
                <a:tab pos="548640" algn="l"/>
                <a:tab pos="1645920" algn="l"/>
              </a:tabLst>
            </a:pPr>
            <a:r>
              <a:rPr sz="2400" dirty="0">
                <a:latin typeface="Cambria"/>
              </a:rPr>
              <a:t> </a:t>
            </a:r>
          </a:p>
          <a:p>
            <a:pPr>
              <a:tabLst>
                <a:tab pos="548640" algn="l"/>
                <a:tab pos="1645920" algn="l"/>
              </a:tabLst>
            </a:pPr>
            <a:r>
              <a:rPr sz="2400" b="0" dirty="0">
                <a:latin typeface="Cambria"/>
              </a:rPr>
              <a:t>	0011	=  +3</a:t>
            </a:r>
          </a:p>
          <a:p>
            <a:pPr>
              <a:tabLst>
                <a:tab pos="548640" algn="l"/>
                <a:tab pos="1645920" algn="l"/>
              </a:tabLst>
            </a:pPr>
            <a:r>
              <a:rPr sz="2400" b="0" dirty="0">
                <a:latin typeface="Cambria"/>
              </a:rPr>
              <a:t>	1100	=  −3</a:t>
            </a:r>
          </a:p>
          <a:p>
            <a:pPr>
              <a:tabLst>
                <a:tab pos="548640" algn="l"/>
                <a:tab pos="1645920" algn="l"/>
              </a:tabLst>
            </a:pPr>
            <a:r>
              <a:rPr sz="2400" dirty="0">
                <a:latin typeface="Cambria"/>
              </a:rPr>
              <a:t> </a:t>
            </a:r>
          </a:p>
          <a:p>
            <a:pPr>
              <a:tabLst>
                <a:tab pos="548640" algn="l"/>
                <a:tab pos="1645920" algn="l"/>
              </a:tabLst>
            </a:pPr>
            <a:r>
              <a:rPr sz="2400" b="0" dirty="0">
                <a:latin typeface="Cambria"/>
              </a:rPr>
              <a:t>Positive numbers are unchanged</a:t>
            </a:r>
          </a:p>
          <a:p>
            <a:pPr>
              <a:tabLst>
                <a:tab pos="548640" algn="l"/>
                <a:tab pos="1645920" algn="l"/>
              </a:tabLst>
            </a:pPr>
            <a:r>
              <a:rPr sz="2400" dirty="0">
                <a:latin typeface="Cambria"/>
              </a:rPr>
              <a:t> </a:t>
            </a:r>
          </a:p>
          <a:p>
            <a:pPr>
              <a:tabLst>
                <a:tab pos="548640" algn="l"/>
                <a:tab pos="1645920" algn="l"/>
              </a:tabLst>
            </a:pPr>
            <a:r>
              <a:rPr sz="2400" b="0" dirty="0">
                <a:latin typeface="Cambria"/>
              </a:rPr>
              <a:t>The top bit still tells you the sign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One's Complement Representation</a:t>
            </a:r>
            <a:endParaRPr lang="en-US" sz="3600" b="0" u="none" strike="noStrike" dirty="0">
              <a:solidFill>
                <a:srgbClr val="000000"/>
              </a:solidFill>
              <a:effectLst/>
              <a:uFillTx/>
              <a:latin typeface="Arial"/>
            </a:endParaRPr>
          </a:p>
        </p:txBody>
      </p:sp>
      <p:sp>
        <p:nvSpPr>
          <p:cNvPr id="388" name="Oval 387"/>
          <p:cNvSpPr/>
          <p:nvPr/>
        </p:nvSpPr>
        <p:spPr>
          <a:xfrm>
            <a:off x="3182112" y="2542032"/>
            <a:ext cx="3694176" cy="3694176"/>
          </a:xfrm>
          <a:prstGeom prst="ellipse">
            <a:avLst/>
          </a:prstGeom>
          <a:no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9" name="Connector 388"/>
          <p:cNvCxnSpPr/>
          <p:nvPr/>
        </p:nvCxnSpPr>
        <p:spPr>
          <a:xfrm flipV="1">
            <a:off x="5029200" y="2450591"/>
            <a:ext cx="0"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0" name="TextBox 389"/>
          <p:cNvSpPr txBox="1"/>
          <p:nvPr/>
        </p:nvSpPr>
        <p:spPr>
          <a:xfrm>
            <a:off x="4572000" y="2706624"/>
            <a:ext cx="914400" cy="292608"/>
          </a:xfrm>
          <a:prstGeom prst="rect">
            <a:avLst/>
          </a:prstGeom>
          <a:noFill/>
        </p:spPr>
        <p:txBody>
          <a:bodyPr wrap="none" lIns="0" tIns="0" rIns="0" bIns="0" anchor="ctr">
            <a:spAutoFit/>
          </a:bodyPr>
          <a:lstStyle/>
          <a:p>
            <a:pPr algn="ctr"/>
            <a:r>
              <a:rPr sz="1250" b="0">
                <a:solidFill>
                  <a:srgbClr val="000000"/>
                </a:solidFill>
                <a:latin typeface="Cambria"/>
              </a:rPr>
              <a:t>0000</a:t>
            </a:r>
          </a:p>
        </p:txBody>
      </p:sp>
      <p:sp>
        <p:nvSpPr>
          <p:cNvPr id="391" name="TextBox 390"/>
          <p:cNvSpPr txBox="1"/>
          <p:nvPr/>
        </p:nvSpPr>
        <p:spPr>
          <a:xfrm>
            <a:off x="4663440" y="2011679"/>
            <a:ext cx="731520" cy="292608"/>
          </a:xfrm>
          <a:prstGeom prst="rect">
            <a:avLst/>
          </a:prstGeom>
          <a:noFill/>
        </p:spPr>
        <p:txBody>
          <a:bodyPr wrap="none" lIns="0" tIns="0" rIns="0" bIns="0" anchor="ctr">
            <a:spAutoFit/>
          </a:bodyPr>
          <a:lstStyle/>
          <a:p>
            <a:pPr algn="ctr"/>
            <a:r>
              <a:rPr sz="1600" b="1">
                <a:solidFill>
                  <a:srgbClr val="000000"/>
                </a:solidFill>
                <a:latin typeface="Cambria"/>
              </a:rPr>
              <a:t>+0</a:t>
            </a:r>
          </a:p>
        </p:txBody>
      </p:sp>
      <p:cxnSp>
        <p:nvCxnSpPr>
          <p:cNvPr id="392" name="Connector 391"/>
          <p:cNvCxnSpPr/>
          <p:nvPr/>
        </p:nvCxnSpPr>
        <p:spPr>
          <a:xfrm flipV="1">
            <a:off x="57010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rot="1350000">
            <a:off x="5159875"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0001</a:t>
            </a:r>
          </a:p>
        </p:txBody>
      </p:sp>
      <p:sp>
        <p:nvSpPr>
          <p:cNvPr id="394" name="TextBox 393"/>
          <p:cNvSpPr txBox="1"/>
          <p:nvPr/>
        </p:nvSpPr>
        <p:spPr>
          <a:xfrm rot="1350000">
            <a:off x="5517258"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1</a:t>
            </a:r>
          </a:p>
        </p:txBody>
      </p:sp>
      <p:cxnSp>
        <p:nvCxnSpPr>
          <p:cNvPr id="395" name="Connector 394"/>
          <p:cNvCxnSpPr/>
          <p:nvPr/>
        </p:nvCxnSpPr>
        <p:spPr>
          <a:xfrm flipV="1">
            <a:off x="6270630"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rot="2700000">
            <a:off x="5658251"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0010</a:t>
            </a:r>
          </a:p>
        </p:txBody>
      </p:sp>
      <p:sp>
        <p:nvSpPr>
          <p:cNvPr id="397" name="TextBox 396"/>
          <p:cNvSpPr txBox="1"/>
          <p:nvPr/>
        </p:nvSpPr>
        <p:spPr>
          <a:xfrm rot="2700000">
            <a:off x="6241091"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2</a:t>
            </a:r>
          </a:p>
        </p:txBody>
      </p:sp>
      <p:cxnSp>
        <p:nvCxnSpPr>
          <p:cNvPr id="398" name="Connector 397"/>
          <p:cNvCxnSpPr/>
          <p:nvPr/>
        </p:nvCxnSpPr>
        <p:spPr>
          <a:xfrm flipV="1">
            <a:off x="6651207"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9" name="TextBox 398"/>
          <p:cNvSpPr txBox="1"/>
          <p:nvPr/>
        </p:nvSpPr>
        <p:spPr>
          <a:xfrm rot="4050000">
            <a:off x="5991256"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0011</a:t>
            </a:r>
          </a:p>
        </p:txBody>
      </p:sp>
      <p:sp>
        <p:nvSpPr>
          <p:cNvPr id="400" name="TextBox 399"/>
          <p:cNvSpPr txBox="1"/>
          <p:nvPr/>
        </p:nvSpPr>
        <p:spPr>
          <a:xfrm rot="4050000">
            <a:off x="6724740"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3</a:t>
            </a:r>
          </a:p>
        </p:txBody>
      </p:sp>
      <p:cxnSp>
        <p:nvCxnSpPr>
          <p:cNvPr id="401" name="Connector 400"/>
          <p:cNvCxnSpPr/>
          <p:nvPr/>
        </p:nvCxnSpPr>
        <p:spPr>
          <a:xfrm>
            <a:off x="6784848"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rot="5400000">
            <a:off x="6108192"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0100</a:t>
            </a:r>
          </a:p>
        </p:txBody>
      </p:sp>
      <p:sp>
        <p:nvSpPr>
          <p:cNvPr id="403" name="TextBox 402"/>
          <p:cNvSpPr txBox="1"/>
          <p:nvPr/>
        </p:nvSpPr>
        <p:spPr>
          <a:xfrm rot="5400000">
            <a:off x="6894575" y="4242816"/>
            <a:ext cx="731520" cy="292608"/>
          </a:xfrm>
          <a:prstGeom prst="rect">
            <a:avLst/>
          </a:prstGeom>
          <a:noFill/>
        </p:spPr>
        <p:txBody>
          <a:bodyPr wrap="none" lIns="0" tIns="0" rIns="0" bIns="0" anchor="ctr">
            <a:spAutoFit/>
          </a:bodyPr>
          <a:lstStyle/>
          <a:p>
            <a:pPr algn="ctr"/>
            <a:r>
              <a:rPr sz="1600" b="1">
                <a:solidFill>
                  <a:srgbClr val="000000"/>
                </a:solidFill>
                <a:latin typeface="Cambria"/>
              </a:rPr>
              <a:t>4</a:t>
            </a:r>
          </a:p>
        </p:txBody>
      </p:sp>
      <p:cxnSp>
        <p:nvCxnSpPr>
          <p:cNvPr id="404" name="Connector 403"/>
          <p:cNvCxnSpPr/>
          <p:nvPr/>
        </p:nvCxnSpPr>
        <p:spPr>
          <a:xfrm>
            <a:off x="6651207"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5" name="TextBox 404"/>
          <p:cNvSpPr txBox="1"/>
          <p:nvPr/>
        </p:nvSpPr>
        <p:spPr>
          <a:xfrm rot="6750000">
            <a:off x="5991256"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0101</a:t>
            </a:r>
          </a:p>
        </p:txBody>
      </p:sp>
      <p:sp>
        <p:nvSpPr>
          <p:cNvPr id="406" name="TextBox 405"/>
          <p:cNvSpPr txBox="1"/>
          <p:nvPr/>
        </p:nvSpPr>
        <p:spPr>
          <a:xfrm rot="6750000">
            <a:off x="6724740"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5</a:t>
            </a:r>
          </a:p>
        </p:txBody>
      </p:sp>
      <p:cxnSp>
        <p:nvCxnSpPr>
          <p:cNvPr id="407" name="Connector 406"/>
          <p:cNvCxnSpPr/>
          <p:nvPr/>
        </p:nvCxnSpPr>
        <p:spPr>
          <a:xfrm>
            <a:off x="6270630"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rot="8100000">
            <a:off x="5658251"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0110</a:t>
            </a:r>
          </a:p>
        </p:txBody>
      </p:sp>
      <p:sp>
        <p:nvSpPr>
          <p:cNvPr id="409" name="TextBox 408"/>
          <p:cNvSpPr txBox="1"/>
          <p:nvPr/>
        </p:nvSpPr>
        <p:spPr>
          <a:xfrm rot="8100000">
            <a:off x="6241091"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6</a:t>
            </a:r>
          </a:p>
        </p:txBody>
      </p:sp>
      <p:cxnSp>
        <p:nvCxnSpPr>
          <p:cNvPr id="410" name="Connector 409"/>
          <p:cNvCxnSpPr/>
          <p:nvPr/>
        </p:nvCxnSpPr>
        <p:spPr>
          <a:xfrm>
            <a:off x="57010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1" name="TextBox 410"/>
          <p:cNvSpPr txBox="1"/>
          <p:nvPr/>
        </p:nvSpPr>
        <p:spPr>
          <a:xfrm rot="9450000">
            <a:off x="5159875"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0111</a:t>
            </a:r>
          </a:p>
        </p:txBody>
      </p:sp>
      <p:sp>
        <p:nvSpPr>
          <p:cNvPr id="412" name="TextBox 411"/>
          <p:cNvSpPr txBox="1"/>
          <p:nvPr/>
        </p:nvSpPr>
        <p:spPr>
          <a:xfrm rot="9450000">
            <a:off x="5517258"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7</a:t>
            </a:r>
          </a:p>
        </p:txBody>
      </p:sp>
      <p:cxnSp>
        <p:nvCxnSpPr>
          <p:cNvPr id="413" name="Connector 412"/>
          <p:cNvCxnSpPr/>
          <p:nvPr/>
        </p:nvCxnSpPr>
        <p:spPr>
          <a:xfrm>
            <a:off x="5029200" y="6144768"/>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4" name="TextBox 413"/>
          <p:cNvSpPr txBox="1"/>
          <p:nvPr/>
        </p:nvSpPr>
        <p:spPr>
          <a:xfrm rot="10800000">
            <a:off x="4572000" y="5779007"/>
            <a:ext cx="914400" cy="292608"/>
          </a:xfrm>
          <a:prstGeom prst="rect">
            <a:avLst/>
          </a:prstGeom>
          <a:noFill/>
        </p:spPr>
        <p:txBody>
          <a:bodyPr wrap="none" lIns="0" tIns="0" rIns="0" bIns="0" anchor="ctr">
            <a:spAutoFit/>
          </a:bodyPr>
          <a:lstStyle/>
          <a:p>
            <a:pPr algn="ctr"/>
            <a:r>
              <a:rPr sz="1250" b="0">
                <a:solidFill>
                  <a:srgbClr val="000000"/>
                </a:solidFill>
                <a:latin typeface="Cambria"/>
              </a:rPr>
              <a:t>1000</a:t>
            </a:r>
          </a:p>
        </p:txBody>
      </p:sp>
      <p:sp>
        <p:nvSpPr>
          <p:cNvPr id="415" name="TextBox 414"/>
          <p:cNvSpPr txBox="1"/>
          <p:nvPr/>
        </p:nvSpPr>
        <p:spPr>
          <a:xfrm rot="10800000">
            <a:off x="4663440" y="6473952"/>
            <a:ext cx="731520" cy="292608"/>
          </a:xfrm>
          <a:prstGeom prst="rect">
            <a:avLst/>
          </a:prstGeom>
          <a:noFill/>
        </p:spPr>
        <p:txBody>
          <a:bodyPr wrap="none" lIns="0" tIns="0" rIns="0" bIns="0" anchor="ctr">
            <a:spAutoFit/>
          </a:bodyPr>
          <a:lstStyle/>
          <a:p>
            <a:pPr algn="ctr"/>
            <a:r>
              <a:rPr sz="1600" b="1">
                <a:solidFill>
                  <a:srgbClr val="A61C1C"/>
                </a:solidFill>
                <a:latin typeface="Cambria"/>
              </a:rPr>
              <a:t>−7</a:t>
            </a:r>
          </a:p>
        </p:txBody>
      </p:sp>
      <p:cxnSp>
        <p:nvCxnSpPr>
          <p:cNvPr id="416" name="Connector 415"/>
          <p:cNvCxnSpPr/>
          <p:nvPr/>
        </p:nvCxnSpPr>
        <p:spPr>
          <a:xfrm flipH="1">
            <a:off x="42873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rot="12150000">
            <a:off x="3984124"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1001</a:t>
            </a:r>
          </a:p>
        </p:txBody>
      </p:sp>
      <p:sp>
        <p:nvSpPr>
          <p:cNvPr id="418" name="TextBox 417"/>
          <p:cNvSpPr txBox="1"/>
          <p:nvPr/>
        </p:nvSpPr>
        <p:spPr>
          <a:xfrm rot="12150000">
            <a:off x="3809621" y="6304116"/>
            <a:ext cx="731520" cy="292608"/>
          </a:xfrm>
          <a:prstGeom prst="rect">
            <a:avLst/>
          </a:prstGeom>
          <a:noFill/>
        </p:spPr>
        <p:txBody>
          <a:bodyPr wrap="none" lIns="0" tIns="0" rIns="0" bIns="0" anchor="ctr">
            <a:spAutoFit/>
          </a:bodyPr>
          <a:lstStyle/>
          <a:p>
            <a:pPr algn="ctr"/>
            <a:r>
              <a:rPr sz="1600" b="1">
                <a:solidFill>
                  <a:srgbClr val="A61C1C"/>
                </a:solidFill>
                <a:latin typeface="Cambria"/>
              </a:rPr>
              <a:t>−6</a:t>
            </a:r>
          </a:p>
        </p:txBody>
      </p:sp>
      <p:cxnSp>
        <p:nvCxnSpPr>
          <p:cNvPr id="419" name="Connector 418"/>
          <p:cNvCxnSpPr/>
          <p:nvPr/>
        </p:nvCxnSpPr>
        <p:spPr>
          <a:xfrm flipH="1">
            <a:off x="3658453"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0" name="TextBox 419"/>
          <p:cNvSpPr txBox="1"/>
          <p:nvPr/>
        </p:nvSpPr>
        <p:spPr>
          <a:xfrm rot="13500000">
            <a:off x="3485748"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1010</a:t>
            </a:r>
          </a:p>
        </p:txBody>
      </p:sp>
      <p:sp>
        <p:nvSpPr>
          <p:cNvPr id="421" name="TextBox 420"/>
          <p:cNvSpPr txBox="1"/>
          <p:nvPr/>
        </p:nvSpPr>
        <p:spPr>
          <a:xfrm rot="13500000">
            <a:off x="3085788" y="5820467"/>
            <a:ext cx="731520" cy="292608"/>
          </a:xfrm>
          <a:prstGeom prst="rect">
            <a:avLst/>
          </a:prstGeom>
          <a:noFill/>
        </p:spPr>
        <p:txBody>
          <a:bodyPr wrap="none" lIns="0" tIns="0" rIns="0" bIns="0" anchor="ctr">
            <a:spAutoFit/>
          </a:bodyPr>
          <a:lstStyle/>
          <a:p>
            <a:pPr algn="ctr"/>
            <a:r>
              <a:rPr sz="1600" b="1">
                <a:solidFill>
                  <a:srgbClr val="A61C1C"/>
                </a:solidFill>
                <a:latin typeface="Cambria"/>
              </a:rPr>
              <a:t>−5</a:t>
            </a:r>
          </a:p>
        </p:txBody>
      </p:sp>
      <p:cxnSp>
        <p:nvCxnSpPr>
          <p:cNvPr id="422" name="Connector 421"/>
          <p:cNvCxnSpPr/>
          <p:nvPr/>
        </p:nvCxnSpPr>
        <p:spPr>
          <a:xfrm flipH="1">
            <a:off x="3238233"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3" name="TextBox 422"/>
          <p:cNvSpPr txBox="1"/>
          <p:nvPr/>
        </p:nvSpPr>
        <p:spPr>
          <a:xfrm rot="14850000">
            <a:off x="3152743"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1011</a:t>
            </a:r>
          </a:p>
        </p:txBody>
      </p:sp>
      <p:sp>
        <p:nvSpPr>
          <p:cNvPr id="424" name="TextBox 423"/>
          <p:cNvSpPr txBox="1"/>
          <p:nvPr/>
        </p:nvSpPr>
        <p:spPr>
          <a:xfrm rot="14850000">
            <a:off x="2602139" y="5096634"/>
            <a:ext cx="731520" cy="292608"/>
          </a:xfrm>
          <a:prstGeom prst="rect">
            <a:avLst/>
          </a:prstGeom>
          <a:noFill/>
        </p:spPr>
        <p:txBody>
          <a:bodyPr wrap="none" lIns="0" tIns="0" rIns="0" bIns="0" anchor="ctr">
            <a:spAutoFit/>
          </a:bodyPr>
          <a:lstStyle/>
          <a:p>
            <a:pPr algn="ctr"/>
            <a:r>
              <a:rPr sz="1600" b="1">
                <a:solidFill>
                  <a:srgbClr val="A61C1C"/>
                </a:solidFill>
                <a:latin typeface="Cambria"/>
              </a:rPr>
              <a:t>−4</a:t>
            </a:r>
          </a:p>
        </p:txBody>
      </p:sp>
      <p:cxnSp>
        <p:nvCxnSpPr>
          <p:cNvPr id="425" name="Connector 424"/>
          <p:cNvCxnSpPr/>
          <p:nvPr/>
        </p:nvCxnSpPr>
        <p:spPr>
          <a:xfrm flipH="1">
            <a:off x="3090672"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6" name="TextBox 425"/>
          <p:cNvSpPr txBox="1"/>
          <p:nvPr/>
        </p:nvSpPr>
        <p:spPr>
          <a:xfrm rot="16200000">
            <a:off x="3035808"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1100</a:t>
            </a:r>
          </a:p>
        </p:txBody>
      </p:sp>
      <p:sp>
        <p:nvSpPr>
          <p:cNvPr id="427" name="TextBox 426"/>
          <p:cNvSpPr txBox="1"/>
          <p:nvPr/>
        </p:nvSpPr>
        <p:spPr>
          <a:xfrm rot="16200000">
            <a:off x="2432304" y="4242816"/>
            <a:ext cx="731520" cy="292608"/>
          </a:xfrm>
          <a:prstGeom prst="rect">
            <a:avLst/>
          </a:prstGeom>
          <a:noFill/>
        </p:spPr>
        <p:txBody>
          <a:bodyPr wrap="none" lIns="0" tIns="0" rIns="0" bIns="0" anchor="ctr">
            <a:spAutoFit/>
          </a:bodyPr>
          <a:lstStyle/>
          <a:p>
            <a:pPr algn="ctr"/>
            <a:r>
              <a:rPr sz="1600" b="1">
                <a:solidFill>
                  <a:srgbClr val="A61C1C"/>
                </a:solidFill>
                <a:latin typeface="Cambria"/>
              </a:rPr>
              <a:t>−3</a:t>
            </a:r>
          </a:p>
        </p:txBody>
      </p:sp>
      <p:cxnSp>
        <p:nvCxnSpPr>
          <p:cNvPr id="428" name="Connector 427"/>
          <p:cNvCxnSpPr/>
          <p:nvPr/>
        </p:nvCxnSpPr>
        <p:spPr>
          <a:xfrm flipH="1" flipV="1">
            <a:off x="3238233"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9" name="TextBox 428"/>
          <p:cNvSpPr txBox="1"/>
          <p:nvPr/>
        </p:nvSpPr>
        <p:spPr>
          <a:xfrm rot="17550000">
            <a:off x="3152743"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1101</a:t>
            </a:r>
          </a:p>
        </p:txBody>
      </p:sp>
      <p:sp>
        <p:nvSpPr>
          <p:cNvPr id="430" name="TextBox 429"/>
          <p:cNvSpPr txBox="1"/>
          <p:nvPr/>
        </p:nvSpPr>
        <p:spPr>
          <a:xfrm rot="17550000">
            <a:off x="2602139" y="3388997"/>
            <a:ext cx="731520" cy="292608"/>
          </a:xfrm>
          <a:prstGeom prst="rect">
            <a:avLst/>
          </a:prstGeom>
          <a:noFill/>
        </p:spPr>
        <p:txBody>
          <a:bodyPr wrap="none" lIns="0" tIns="0" rIns="0" bIns="0" anchor="ctr">
            <a:spAutoFit/>
          </a:bodyPr>
          <a:lstStyle/>
          <a:p>
            <a:pPr algn="ctr"/>
            <a:r>
              <a:rPr sz="1600" b="1">
                <a:solidFill>
                  <a:srgbClr val="A61C1C"/>
                </a:solidFill>
                <a:latin typeface="Cambria"/>
              </a:rPr>
              <a:t>−2</a:t>
            </a:r>
          </a:p>
        </p:txBody>
      </p:sp>
      <p:cxnSp>
        <p:nvCxnSpPr>
          <p:cNvPr id="431" name="Connector 430"/>
          <p:cNvCxnSpPr/>
          <p:nvPr/>
        </p:nvCxnSpPr>
        <p:spPr>
          <a:xfrm flipH="1" flipV="1">
            <a:off x="3658453"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2" name="TextBox 431"/>
          <p:cNvSpPr txBox="1"/>
          <p:nvPr/>
        </p:nvSpPr>
        <p:spPr>
          <a:xfrm rot="18900000">
            <a:off x="3485748"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1110</a:t>
            </a:r>
          </a:p>
        </p:txBody>
      </p:sp>
      <p:sp>
        <p:nvSpPr>
          <p:cNvPr id="433" name="TextBox 432"/>
          <p:cNvSpPr txBox="1"/>
          <p:nvPr/>
        </p:nvSpPr>
        <p:spPr>
          <a:xfrm rot="18900000">
            <a:off x="3085788" y="2665164"/>
            <a:ext cx="731520" cy="292608"/>
          </a:xfrm>
          <a:prstGeom prst="rect">
            <a:avLst/>
          </a:prstGeom>
          <a:noFill/>
        </p:spPr>
        <p:txBody>
          <a:bodyPr wrap="none" lIns="0" tIns="0" rIns="0" bIns="0" anchor="ctr">
            <a:spAutoFit/>
          </a:bodyPr>
          <a:lstStyle/>
          <a:p>
            <a:pPr algn="ctr"/>
            <a:r>
              <a:rPr sz="1600" b="1">
                <a:solidFill>
                  <a:srgbClr val="A61C1C"/>
                </a:solidFill>
                <a:latin typeface="Cambria"/>
              </a:rPr>
              <a:t>−1</a:t>
            </a:r>
          </a:p>
        </p:txBody>
      </p:sp>
      <p:cxnSp>
        <p:nvCxnSpPr>
          <p:cNvPr id="434" name="Connector 433"/>
          <p:cNvCxnSpPr/>
          <p:nvPr/>
        </p:nvCxnSpPr>
        <p:spPr>
          <a:xfrm flipH="1" flipV="1">
            <a:off x="42873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5" name="TextBox 434"/>
          <p:cNvSpPr txBox="1"/>
          <p:nvPr/>
        </p:nvSpPr>
        <p:spPr>
          <a:xfrm rot="20250000">
            <a:off x="3984124"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1111</a:t>
            </a:r>
          </a:p>
        </p:txBody>
      </p:sp>
      <p:sp>
        <p:nvSpPr>
          <p:cNvPr id="436" name="TextBox 435"/>
          <p:cNvSpPr txBox="1"/>
          <p:nvPr/>
        </p:nvSpPr>
        <p:spPr>
          <a:xfrm rot="20250000">
            <a:off x="3809621" y="2181515"/>
            <a:ext cx="731520" cy="292608"/>
          </a:xfrm>
          <a:prstGeom prst="rect">
            <a:avLst/>
          </a:prstGeom>
          <a:noFill/>
        </p:spPr>
        <p:txBody>
          <a:bodyPr wrap="none" lIns="0" tIns="0" rIns="0" bIns="0" anchor="ctr">
            <a:spAutoFit/>
          </a:bodyPr>
          <a:lstStyle/>
          <a:p>
            <a:pPr algn="ctr"/>
            <a:r>
              <a:rPr sz="1600" b="1">
                <a:solidFill>
                  <a:srgbClr val="A61C1C"/>
                </a:solidFill>
                <a:latin typeface="Cambria"/>
              </a:rPr>
              <a:t>−0</a:t>
            </a:r>
          </a:p>
        </p:txBody>
      </p:sp>
      <p:sp>
        <p:nvSpPr>
          <p:cNvPr id="437" name="TextBox 436"/>
          <p:cNvSpPr txBox="1"/>
          <p:nvPr/>
        </p:nvSpPr>
        <p:spPr>
          <a:xfrm>
            <a:off x="3977639" y="3566160"/>
            <a:ext cx="2103120" cy="1645919"/>
          </a:xfrm>
          <a:prstGeom prst="rect">
            <a:avLst/>
          </a:prstGeom>
          <a:noFill/>
        </p:spPr>
        <p:txBody>
          <a:bodyPr wrap="square" lIns="0" tIns="0" rIns="0" bIns="0" anchor="ctr">
            <a:spAutoFit/>
          </a:bodyPr>
          <a:lstStyle/>
          <a:p>
            <a:pPr algn="ctr"/>
            <a:r>
              <a:rPr sz="1600">
                <a:solidFill>
                  <a:srgbClr val="000000"/>
                </a:solidFill>
                <a:latin typeface="Cambria"/>
              </a:rPr>
              <a:t>4-bit</a:t>
            </a:r>
          </a:p>
          <a:p>
            <a:pPr algn="ctr"/>
            <a:r>
              <a:rPr sz="1600">
                <a:solidFill>
                  <a:srgbClr val="000000"/>
                </a:solidFill>
                <a:latin typeface="Cambria"/>
              </a:rPr>
              <a:t>one's complement</a:t>
            </a:r>
          </a:p>
          <a:p>
            <a:pPr algn="ctr"/>
            <a:r>
              <a:rPr sz="1600">
                <a:solidFill>
                  <a:srgbClr val="000000"/>
                </a:solidFill>
                <a:latin typeface="Cambria"/>
              </a:rPr>
              <a:t>representation</a:t>
            </a:r>
          </a:p>
        </p:txBody>
      </p:sp>
      <p:sp>
        <p:nvSpPr>
          <p:cNvPr id="438" name="TextBox 437"/>
          <p:cNvSpPr txBox="1"/>
          <p:nvPr/>
        </p:nvSpPr>
        <p:spPr>
          <a:xfrm>
            <a:off x="822960" y="6931152"/>
            <a:ext cx="8412480" cy="310896"/>
          </a:xfrm>
          <a:prstGeom prst="rect">
            <a:avLst/>
          </a:prstGeom>
          <a:noFill/>
        </p:spPr>
        <p:txBody>
          <a:bodyPr wrap="square" lIns="0" tIns="0" rIns="0" bIns="0">
            <a:spAutoFit/>
          </a:bodyPr>
          <a:lstStyle/>
          <a:p>
            <a:pPr algn="ctr"/>
            <a:r>
              <a:rPr sz="2000" b="0" i="1" dirty="0">
                <a:solidFill>
                  <a:srgbClr val="000000"/>
                </a:solidFill>
                <a:latin typeface="Cambria"/>
              </a:rPr>
              <a:t>Negate by flipping the bits  -  </a:t>
            </a:r>
            <a:r>
              <a:rPr sz="2000" b="0" i="1" dirty="0">
                <a:solidFill>
                  <a:srgbClr val="FF0000"/>
                </a:solidFill>
                <a:latin typeface="Cambria"/>
              </a:rPr>
              <a:t>but  </a:t>
            </a:r>
            <a:r>
              <a:rPr sz="2000" b="1" i="1" dirty="0">
                <a:solidFill>
                  <a:srgbClr val="FF0000"/>
                </a:solidFill>
                <a:latin typeface="Cambria"/>
              </a:rPr>
              <a:t>0000</a:t>
            </a:r>
            <a:r>
              <a:rPr sz="2000" b="0" i="1" dirty="0">
                <a:solidFill>
                  <a:srgbClr val="FF0000"/>
                </a:solidFill>
                <a:latin typeface="Cambria"/>
              </a:rPr>
              <a:t>  and  </a:t>
            </a:r>
            <a:r>
              <a:rPr sz="2000" b="1" i="1" dirty="0">
                <a:solidFill>
                  <a:srgbClr val="FF0000"/>
                </a:solidFill>
                <a:latin typeface="Cambria"/>
              </a:rPr>
              <a:t>1111</a:t>
            </a:r>
            <a:r>
              <a:rPr sz="2000" b="0" i="1" dirty="0">
                <a:solidFill>
                  <a:srgbClr val="FF0000"/>
                </a:solidFill>
                <a:latin typeface="Cambria"/>
              </a:rPr>
              <a:t>  are both zero</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One's Complement:  The Problems</a:t>
            </a:r>
            <a:endParaRPr lang="en-US" sz="3600" b="0" u="none" strike="noStrike" dirty="0">
              <a:solidFill>
                <a:srgbClr val="000000"/>
              </a:solidFill>
              <a:effectLst/>
              <a:uFillTx/>
              <a:latin typeface="Arial"/>
            </a:endParaRPr>
          </a:p>
        </p:txBody>
      </p:sp>
      <p:sp>
        <p:nvSpPr>
          <p:cNvPr id="388" name="TextBox 387"/>
          <p:cNvSpPr txBox="1"/>
          <p:nvPr/>
        </p:nvSpPr>
        <p:spPr>
          <a:xfrm>
            <a:off x="735357" y="1788467"/>
            <a:ext cx="8846825" cy="3631763"/>
          </a:xfrm>
          <a:prstGeom prst="rect">
            <a:avLst/>
          </a:prstGeom>
          <a:noFill/>
          <a:ln>
            <a:noFill/>
          </a:ln>
        </p:spPr>
        <p:txBody>
          <a:bodyPr wrap="square">
            <a:spAutoFit/>
          </a:bodyPr>
          <a:lstStyle/>
          <a:p>
            <a:pPr>
              <a:tabLst>
                <a:tab pos="548640" algn="l"/>
                <a:tab pos="2194560" algn="l"/>
              </a:tabLst>
            </a:pPr>
            <a:r>
              <a:rPr sz="2300" b="1" dirty="0">
                <a:latin typeface="Cambria"/>
              </a:rPr>
              <a:t>Two zeros</a:t>
            </a:r>
            <a:r>
              <a:rPr sz="2300" b="0" dirty="0">
                <a:latin typeface="Cambria"/>
              </a:rPr>
              <a:t>	0000  and  1111</a:t>
            </a:r>
          </a:p>
          <a:p>
            <a:pPr>
              <a:tabLst>
                <a:tab pos="548640" algn="l"/>
                <a:tab pos="2194560" algn="l"/>
              </a:tabLst>
            </a:pPr>
            <a:r>
              <a:rPr sz="2300" b="0" dirty="0">
                <a:latin typeface="Cambria"/>
              </a:rPr>
              <a:t>	a == 0  needs two tests</a:t>
            </a:r>
          </a:p>
          <a:p>
            <a:pPr>
              <a:tabLst>
                <a:tab pos="548640" algn="l"/>
                <a:tab pos="2194560" algn="l"/>
              </a:tabLst>
            </a:pPr>
            <a:r>
              <a:rPr sz="2300" dirty="0">
                <a:latin typeface="Cambria"/>
              </a:rPr>
              <a:t> </a:t>
            </a:r>
          </a:p>
          <a:p>
            <a:pPr>
              <a:tabLst>
                <a:tab pos="548640" algn="l"/>
                <a:tab pos="2194560" algn="l"/>
              </a:tabLst>
            </a:pPr>
            <a:r>
              <a:rPr sz="2300" b="1" dirty="0">
                <a:latin typeface="Cambria"/>
              </a:rPr>
              <a:t>End-around carry</a:t>
            </a:r>
          </a:p>
          <a:p>
            <a:pPr>
              <a:tabLst>
                <a:tab pos="548640" algn="l"/>
                <a:tab pos="2194560" algn="l"/>
              </a:tabLst>
            </a:pPr>
            <a:r>
              <a:rPr sz="2300" b="0" dirty="0">
                <a:latin typeface="Cambria"/>
              </a:rPr>
              <a:t>	a carry out of the top must be </a:t>
            </a:r>
            <a:r>
              <a:rPr sz="2300" b="0" dirty="0" smtClean="0">
                <a:latin typeface="Cambria"/>
              </a:rPr>
              <a:t>added</a:t>
            </a:r>
            <a:r>
              <a:rPr lang="en-US" sz="2300" b="0" dirty="0" smtClean="0">
                <a:latin typeface="Cambria"/>
              </a:rPr>
              <a:t> </a:t>
            </a:r>
            <a:r>
              <a:rPr sz="2300" b="0" dirty="0" smtClean="0">
                <a:latin typeface="Cambria"/>
              </a:rPr>
              <a:t>back </a:t>
            </a:r>
            <a:r>
              <a:rPr sz="2300" b="0" dirty="0">
                <a:latin typeface="Cambria"/>
              </a:rPr>
              <a:t>in at the </a:t>
            </a:r>
            <a:r>
              <a:rPr sz="2300" b="0" dirty="0" smtClean="0">
                <a:latin typeface="Cambria"/>
              </a:rPr>
              <a:t>bottom</a:t>
            </a:r>
            <a:endParaRPr lang="en-US" sz="2300" b="0" dirty="0" smtClean="0">
              <a:latin typeface="Cambria"/>
            </a:endParaRPr>
          </a:p>
          <a:p>
            <a:pPr>
              <a:tabLst>
                <a:tab pos="548640" algn="l"/>
                <a:tab pos="2194560" algn="l"/>
              </a:tabLst>
            </a:pPr>
            <a:endParaRPr lang="en-US" sz="2300" dirty="0">
              <a:latin typeface="Cambria"/>
            </a:endParaRPr>
          </a:p>
          <a:p>
            <a:pPr>
              <a:tabLst>
                <a:tab pos="548640" algn="l"/>
                <a:tab pos="2194560" algn="l"/>
              </a:tabLst>
            </a:pPr>
            <a:r>
              <a:rPr lang="en-US" sz="2300" b="0" dirty="0" smtClean="0">
                <a:latin typeface="Cambria"/>
              </a:rPr>
              <a:t>Example 5 – 2 =  5 + (-2) = 0101 + 1101 = 1 0 0 1 0 =&gt; 0 0 1 1</a:t>
            </a:r>
          </a:p>
          <a:p>
            <a:pPr>
              <a:tabLst>
                <a:tab pos="548640" algn="l"/>
                <a:tab pos="2194560" algn="l"/>
              </a:tabLst>
            </a:pPr>
            <a:endParaRPr sz="2300" b="0" dirty="0">
              <a:latin typeface="Cambria"/>
            </a:endParaRPr>
          </a:p>
          <a:p>
            <a:pPr>
              <a:tabLst>
                <a:tab pos="548640" algn="l"/>
                <a:tab pos="2194560" algn="l"/>
              </a:tabLst>
            </a:pPr>
            <a:r>
              <a:rPr sz="2300" dirty="0">
                <a:latin typeface="Cambria"/>
              </a:rPr>
              <a:t> </a:t>
            </a:r>
          </a:p>
          <a:p>
            <a:pPr>
              <a:tabLst>
                <a:tab pos="548640" algn="l"/>
                <a:tab pos="2194560" algn="l"/>
              </a:tabLst>
            </a:pPr>
            <a:r>
              <a:rPr sz="2300" b="0" dirty="0">
                <a:latin typeface="Cambria"/>
              </a:rPr>
              <a:t>Correct, but the hardware is </a:t>
            </a:r>
            <a:r>
              <a:rPr sz="2300" b="0" dirty="0" smtClean="0">
                <a:latin typeface="Cambria"/>
              </a:rPr>
              <a:t>awkward</a:t>
            </a:r>
            <a:r>
              <a:rPr lang="en-US" sz="2300" b="0" dirty="0" smtClean="0">
                <a:latin typeface="Cambria"/>
              </a:rPr>
              <a:t> and complex</a:t>
            </a:r>
            <a:endParaRPr sz="2300" b="0" dirty="0">
              <a:latin typeface="Cambria"/>
            </a:endParaRPr>
          </a:p>
        </p:txBody>
      </p:sp>
      <p:sp>
        <p:nvSpPr>
          <p:cNvPr id="8" name="Freeform 7"/>
          <p:cNvSpPr/>
          <p:nvPr/>
        </p:nvSpPr>
        <p:spPr>
          <a:xfrm>
            <a:off x="6158687" y="3669106"/>
            <a:ext cx="1818968" cy="71409"/>
          </a:xfrm>
          <a:custGeom>
            <a:avLst/>
            <a:gdLst>
              <a:gd name="connsiteX0" fmla="*/ 0 w 2206120"/>
              <a:gd name="connsiteY0" fmla="*/ 218893 h 290760"/>
              <a:gd name="connsiteX1" fmla="*/ 983226 w 2206120"/>
              <a:gd name="connsiteY1" fmla="*/ 22248 h 290760"/>
              <a:gd name="connsiteX2" fmla="*/ 1602658 w 2206120"/>
              <a:gd name="connsiteY2" fmla="*/ 32080 h 290760"/>
              <a:gd name="connsiteX3" fmla="*/ 2143432 w 2206120"/>
              <a:gd name="connsiteY3" fmla="*/ 268054 h 290760"/>
              <a:gd name="connsiteX4" fmla="*/ 2172929 w 2206120"/>
              <a:gd name="connsiteY4" fmla="*/ 268054 h 290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120" h="290760">
                <a:moveTo>
                  <a:pt x="0" y="218893"/>
                </a:moveTo>
                <a:cubicBezTo>
                  <a:pt x="358058" y="136138"/>
                  <a:pt x="716116" y="53383"/>
                  <a:pt x="983226" y="22248"/>
                </a:cubicBezTo>
                <a:cubicBezTo>
                  <a:pt x="1250336" y="-8887"/>
                  <a:pt x="1409290" y="-8888"/>
                  <a:pt x="1602658" y="32080"/>
                </a:cubicBezTo>
                <a:cubicBezTo>
                  <a:pt x="1796026" y="73048"/>
                  <a:pt x="2048387" y="228725"/>
                  <a:pt x="2143432" y="268054"/>
                </a:cubicBezTo>
                <a:cubicBezTo>
                  <a:pt x="2238477" y="307383"/>
                  <a:pt x="2205703" y="287718"/>
                  <a:pt x="2172929" y="26805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a:stCxn id="8" idx="3"/>
          </p:cNvCxnSpPr>
          <p:nvPr/>
        </p:nvCxnSpPr>
        <p:spPr>
          <a:xfrm>
            <a:off x="7925968" y="3734939"/>
            <a:ext cx="438839" cy="224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977655" y="3746549"/>
            <a:ext cx="324465" cy="199228"/>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8" idx="0"/>
          </p:cNvCxnSpPr>
          <p:nvPr/>
        </p:nvCxnSpPr>
        <p:spPr>
          <a:xfrm flipV="1">
            <a:off x="6086168" y="3722865"/>
            <a:ext cx="72519" cy="22291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Two's Complement</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548640" algn="l"/>
                <a:tab pos="1371600" algn="l"/>
                <a:tab pos="2926080" algn="l"/>
              </a:tabLst>
            </a:pPr>
            <a:r>
              <a:rPr sz="2300" b="0" dirty="0">
                <a:latin typeface="Cambria"/>
              </a:rPr>
              <a:t>Negate by  </a:t>
            </a:r>
            <a:r>
              <a:rPr sz="2300" b="1" dirty="0">
                <a:latin typeface="Cambria"/>
              </a:rPr>
              <a:t>flip every bit, then add 1</a:t>
            </a:r>
          </a:p>
          <a:p>
            <a:pPr>
              <a:tabLst>
                <a:tab pos="548640" algn="l"/>
                <a:tab pos="1371600" algn="l"/>
                <a:tab pos="2926080" algn="l"/>
              </a:tabLst>
            </a:pPr>
            <a:r>
              <a:rPr sz="2300" dirty="0">
                <a:latin typeface="Cambria"/>
              </a:rPr>
              <a:t> </a:t>
            </a:r>
          </a:p>
          <a:p>
            <a:pPr>
              <a:tabLst>
                <a:tab pos="548640" algn="l"/>
                <a:tab pos="1371600" algn="l"/>
                <a:tab pos="2926080" algn="l"/>
              </a:tabLst>
            </a:pPr>
            <a:r>
              <a:rPr sz="2300" b="0" dirty="0">
                <a:latin typeface="Cambria"/>
              </a:rPr>
              <a:t>		0101	=  +5</a:t>
            </a:r>
          </a:p>
          <a:p>
            <a:pPr>
              <a:tabLst>
                <a:tab pos="548640" algn="l"/>
                <a:tab pos="1371600" algn="l"/>
                <a:tab pos="2926080" algn="l"/>
              </a:tabLst>
            </a:pPr>
            <a:r>
              <a:rPr sz="2300" b="0" dirty="0">
                <a:latin typeface="Cambria"/>
              </a:rPr>
              <a:t>	flip	1010</a:t>
            </a:r>
          </a:p>
          <a:p>
            <a:pPr>
              <a:tabLst>
                <a:tab pos="548640" algn="l"/>
                <a:tab pos="1371600" algn="l"/>
                <a:tab pos="2926080" algn="l"/>
              </a:tabLst>
            </a:pPr>
            <a:r>
              <a:rPr sz="2300" b="0" dirty="0">
                <a:latin typeface="Cambria"/>
              </a:rPr>
              <a:t>	add 1	1011	=  −5</a:t>
            </a:r>
          </a:p>
          <a:p>
            <a:pPr>
              <a:tabLst>
                <a:tab pos="548640" algn="l"/>
                <a:tab pos="1371600" algn="l"/>
                <a:tab pos="2926080" algn="l"/>
              </a:tabLst>
            </a:pPr>
            <a:r>
              <a:rPr sz="2300" dirty="0">
                <a:latin typeface="Cambria"/>
              </a:rPr>
              <a:t> </a:t>
            </a:r>
          </a:p>
          <a:p>
            <a:pPr>
              <a:tabLst>
                <a:tab pos="548640" algn="l"/>
                <a:tab pos="1371600" algn="l"/>
                <a:tab pos="2926080" algn="l"/>
              </a:tabLst>
            </a:pPr>
            <a:r>
              <a:rPr sz="2300" b="0" dirty="0">
                <a:latin typeface="Cambria"/>
              </a:rPr>
              <a:t>Do it again and you get  0101  back</a:t>
            </a:r>
          </a:p>
          <a:p>
            <a:pPr>
              <a:tabLst>
                <a:tab pos="548640" algn="l"/>
                <a:tab pos="1371600" algn="l"/>
                <a:tab pos="2926080" algn="l"/>
              </a:tabLst>
            </a:pPr>
            <a:r>
              <a:rPr sz="2300" dirty="0">
                <a:latin typeface="Cambria"/>
              </a:rPr>
              <a:t> </a:t>
            </a:r>
          </a:p>
          <a:p>
            <a:pPr>
              <a:tabLst>
                <a:tab pos="548640" algn="l"/>
                <a:tab pos="1371600" algn="l"/>
                <a:tab pos="2926080" algn="l"/>
              </a:tabLst>
            </a:pPr>
            <a:r>
              <a:rPr sz="2300" b="0" dirty="0">
                <a:latin typeface="Cambria"/>
              </a:rPr>
              <a:t>This is what every modern machine uses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Two's Complement Representation</a:t>
            </a:r>
            <a:endParaRPr lang="en-US" sz="3600" b="0" u="none" strike="noStrike" dirty="0">
              <a:solidFill>
                <a:srgbClr val="000000"/>
              </a:solidFill>
              <a:effectLst/>
              <a:uFillTx/>
              <a:latin typeface="Arial"/>
            </a:endParaRPr>
          </a:p>
        </p:txBody>
      </p:sp>
      <p:sp>
        <p:nvSpPr>
          <p:cNvPr id="388" name="Oval 387"/>
          <p:cNvSpPr/>
          <p:nvPr/>
        </p:nvSpPr>
        <p:spPr>
          <a:xfrm>
            <a:off x="3182112" y="2542032"/>
            <a:ext cx="3694176" cy="3694176"/>
          </a:xfrm>
          <a:prstGeom prst="ellipse">
            <a:avLst/>
          </a:prstGeom>
          <a:no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9" name="Connector 388"/>
          <p:cNvCxnSpPr/>
          <p:nvPr/>
        </p:nvCxnSpPr>
        <p:spPr>
          <a:xfrm flipV="1">
            <a:off x="5029200" y="2450591"/>
            <a:ext cx="0"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0" name="TextBox 389"/>
          <p:cNvSpPr txBox="1"/>
          <p:nvPr/>
        </p:nvSpPr>
        <p:spPr>
          <a:xfrm>
            <a:off x="4572000" y="2706624"/>
            <a:ext cx="914400" cy="292608"/>
          </a:xfrm>
          <a:prstGeom prst="rect">
            <a:avLst/>
          </a:prstGeom>
          <a:noFill/>
        </p:spPr>
        <p:txBody>
          <a:bodyPr wrap="none" lIns="0" tIns="0" rIns="0" bIns="0" anchor="ctr">
            <a:spAutoFit/>
          </a:bodyPr>
          <a:lstStyle/>
          <a:p>
            <a:pPr algn="ctr"/>
            <a:r>
              <a:rPr sz="1250" b="0">
                <a:solidFill>
                  <a:srgbClr val="000000"/>
                </a:solidFill>
                <a:latin typeface="Cambria"/>
              </a:rPr>
              <a:t>0000</a:t>
            </a:r>
          </a:p>
        </p:txBody>
      </p:sp>
      <p:sp>
        <p:nvSpPr>
          <p:cNvPr id="391" name="TextBox 390"/>
          <p:cNvSpPr txBox="1"/>
          <p:nvPr/>
        </p:nvSpPr>
        <p:spPr>
          <a:xfrm>
            <a:off x="4663440" y="2011679"/>
            <a:ext cx="731520" cy="292608"/>
          </a:xfrm>
          <a:prstGeom prst="rect">
            <a:avLst/>
          </a:prstGeom>
          <a:noFill/>
        </p:spPr>
        <p:txBody>
          <a:bodyPr wrap="none" lIns="0" tIns="0" rIns="0" bIns="0" anchor="ctr">
            <a:spAutoFit/>
          </a:bodyPr>
          <a:lstStyle/>
          <a:p>
            <a:pPr algn="ctr"/>
            <a:r>
              <a:rPr sz="1600" b="1">
                <a:solidFill>
                  <a:srgbClr val="000000"/>
                </a:solidFill>
                <a:latin typeface="Cambria"/>
              </a:rPr>
              <a:t>0</a:t>
            </a:r>
          </a:p>
        </p:txBody>
      </p:sp>
      <p:cxnSp>
        <p:nvCxnSpPr>
          <p:cNvPr id="392" name="Connector 391"/>
          <p:cNvCxnSpPr/>
          <p:nvPr/>
        </p:nvCxnSpPr>
        <p:spPr>
          <a:xfrm flipV="1">
            <a:off x="57010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rot="1350000">
            <a:off x="5159875"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0001</a:t>
            </a:r>
          </a:p>
        </p:txBody>
      </p:sp>
      <p:sp>
        <p:nvSpPr>
          <p:cNvPr id="394" name="TextBox 393"/>
          <p:cNvSpPr txBox="1"/>
          <p:nvPr/>
        </p:nvSpPr>
        <p:spPr>
          <a:xfrm rot="1350000">
            <a:off x="5517258" y="2181515"/>
            <a:ext cx="731520" cy="292608"/>
          </a:xfrm>
          <a:prstGeom prst="rect">
            <a:avLst/>
          </a:prstGeom>
          <a:noFill/>
        </p:spPr>
        <p:txBody>
          <a:bodyPr wrap="none" lIns="0" tIns="0" rIns="0" bIns="0" anchor="ctr">
            <a:spAutoFit/>
          </a:bodyPr>
          <a:lstStyle/>
          <a:p>
            <a:pPr algn="ctr"/>
            <a:r>
              <a:rPr sz="1600" b="1">
                <a:solidFill>
                  <a:srgbClr val="000000"/>
                </a:solidFill>
                <a:latin typeface="Cambria"/>
              </a:rPr>
              <a:t>1</a:t>
            </a:r>
          </a:p>
        </p:txBody>
      </p:sp>
      <p:cxnSp>
        <p:nvCxnSpPr>
          <p:cNvPr id="395" name="Connector 394"/>
          <p:cNvCxnSpPr/>
          <p:nvPr/>
        </p:nvCxnSpPr>
        <p:spPr>
          <a:xfrm flipV="1">
            <a:off x="6270630"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rot="2700000">
            <a:off x="5658251"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0010</a:t>
            </a:r>
          </a:p>
        </p:txBody>
      </p:sp>
      <p:sp>
        <p:nvSpPr>
          <p:cNvPr id="397" name="TextBox 396"/>
          <p:cNvSpPr txBox="1"/>
          <p:nvPr/>
        </p:nvSpPr>
        <p:spPr>
          <a:xfrm rot="2700000">
            <a:off x="6241091" y="2665164"/>
            <a:ext cx="731520" cy="292608"/>
          </a:xfrm>
          <a:prstGeom prst="rect">
            <a:avLst/>
          </a:prstGeom>
          <a:noFill/>
        </p:spPr>
        <p:txBody>
          <a:bodyPr wrap="none" lIns="0" tIns="0" rIns="0" bIns="0" anchor="ctr">
            <a:spAutoFit/>
          </a:bodyPr>
          <a:lstStyle/>
          <a:p>
            <a:pPr algn="ctr"/>
            <a:r>
              <a:rPr sz="1600" b="1">
                <a:solidFill>
                  <a:srgbClr val="000000"/>
                </a:solidFill>
                <a:latin typeface="Cambria"/>
              </a:rPr>
              <a:t>2</a:t>
            </a:r>
          </a:p>
        </p:txBody>
      </p:sp>
      <p:cxnSp>
        <p:nvCxnSpPr>
          <p:cNvPr id="398" name="Connector 397"/>
          <p:cNvCxnSpPr/>
          <p:nvPr/>
        </p:nvCxnSpPr>
        <p:spPr>
          <a:xfrm flipV="1">
            <a:off x="6651207"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99" name="TextBox 398"/>
          <p:cNvSpPr txBox="1"/>
          <p:nvPr/>
        </p:nvSpPr>
        <p:spPr>
          <a:xfrm rot="4050000">
            <a:off x="5991256"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0011</a:t>
            </a:r>
          </a:p>
        </p:txBody>
      </p:sp>
      <p:sp>
        <p:nvSpPr>
          <p:cNvPr id="400" name="TextBox 399"/>
          <p:cNvSpPr txBox="1"/>
          <p:nvPr/>
        </p:nvSpPr>
        <p:spPr>
          <a:xfrm rot="4050000">
            <a:off x="6724740" y="3388997"/>
            <a:ext cx="731520" cy="292608"/>
          </a:xfrm>
          <a:prstGeom prst="rect">
            <a:avLst/>
          </a:prstGeom>
          <a:noFill/>
        </p:spPr>
        <p:txBody>
          <a:bodyPr wrap="none" lIns="0" tIns="0" rIns="0" bIns="0" anchor="ctr">
            <a:spAutoFit/>
          </a:bodyPr>
          <a:lstStyle/>
          <a:p>
            <a:pPr algn="ctr"/>
            <a:r>
              <a:rPr sz="1600" b="1">
                <a:solidFill>
                  <a:srgbClr val="000000"/>
                </a:solidFill>
                <a:latin typeface="Cambria"/>
              </a:rPr>
              <a:t>3</a:t>
            </a:r>
          </a:p>
        </p:txBody>
      </p:sp>
      <p:cxnSp>
        <p:nvCxnSpPr>
          <p:cNvPr id="401" name="Connector 400"/>
          <p:cNvCxnSpPr/>
          <p:nvPr/>
        </p:nvCxnSpPr>
        <p:spPr>
          <a:xfrm>
            <a:off x="6784848"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rot="5400000">
            <a:off x="6108192"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0100</a:t>
            </a:r>
          </a:p>
        </p:txBody>
      </p:sp>
      <p:sp>
        <p:nvSpPr>
          <p:cNvPr id="403" name="TextBox 402"/>
          <p:cNvSpPr txBox="1"/>
          <p:nvPr/>
        </p:nvSpPr>
        <p:spPr>
          <a:xfrm rot="5400000">
            <a:off x="6894575" y="4242816"/>
            <a:ext cx="731520" cy="292608"/>
          </a:xfrm>
          <a:prstGeom prst="rect">
            <a:avLst/>
          </a:prstGeom>
          <a:noFill/>
        </p:spPr>
        <p:txBody>
          <a:bodyPr wrap="none" lIns="0" tIns="0" rIns="0" bIns="0" anchor="ctr">
            <a:spAutoFit/>
          </a:bodyPr>
          <a:lstStyle/>
          <a:p>
            <a:pPr algn="ctr"/>
            <a:r>
              <a:rPr sz="1600" b="1">
                <a:solidFill>
                  <a:srgbClr val="000000"/>
                </a:solidFill>
                <a:latin typeface="Cambria"/>
              </a:rPr>
              <a:t>4</a:t>
            </a:r>
          </a:p>
        </p:txBody>
      </p:sp>
      <p:cxnSp>
        <p:nvCxnSpPr>
          <p:cNvPr id="404" name="Connector 403"/>
          <p:cNvCxnSpPr/>
          <p:nvPr/>
        </p:nvCxnSpPr>
        <p:spPr>
          <a:xfrm>
            <a:off x="6651207"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5" name="TextBox 404"/>
          <p:cNvSpPr txBox="1"/>
          <p:nvPr/>
        </p:nvSpPr>
        <p:spPr>
          <a:xfrm rot="6750000">
            <a:off x="5991256"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0101</a:t>
            </a:r>
          </a:p>
        </p:txBody>
      </p:sp>
      <p:sp>
        <p:nvSpPr>
          <p:cNvPr id="406" name="TextBox 405"/>
          <p:cNvSpPr txBox="1"/>
          <p:nvPr/>
        </p:nvSpPr>
        <p:spPr>
          <a:xfrm rot="6750000">
            <a:off x="6724740" y="5096634"/>
            <a:ext cx="731520" cy="292608"/>
          </a:xfrm>
          <a:prstGeom prst="rect">
            <a:avLst/>
          </a:prstGeom>
          <a:noFill/>
        </p:spPr>
        <p:txBody>
          <a:bodyPr wrap="none" lIns="0" tIns="0" rIns="0" bIns="0" anchor="ctr">
            <a:spAutoFit/>
          </a:bodyPr>
          <a:lstStyle/>
          <a:p>
            <a:pPr algn="ctr"/>
            <a:r>
              <a:rPr sz="1600" b="1">
                <a:solidFill>
                  <a:srgbClr val="000000"/>
                </a:solidFill>
                <a:latin typeface="Cambria"/>
              </a:rPr>
              <a:t>5</a:t>
            </a:r>
          </a:p>
        </p:txBody>
      </p:sp>
      <p:cxnSp>
        <p:nvCxnSpPr>
          <p:cNvPr id="407" name="Connector 406"/>
          <p:cNvCxnSpPr/>
          <p:nvPr/>
        </p:nvCxnSpPr>
        <p:spPr>
          <a:xfrm>
            <a:off x="6270630"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rot="8100000">
            <a:off x="5658251"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0110</a:t>
            </a:r>
          </a:p>
        </p:txBody>
      </p:sp>
      <p:sp>
        <p:nvSpPr>
          <p:cNvPr id="409" name="TextBox 408"/>
          <p:cNvSpPr txBox="1"/>
          <p:nvPr/>
        </p:nvSpPr>
        <p:spPr>
          <a:xfrm rot="8100000">
            <a:off x="6241091" y="5820467"/>
            <a:ext cx="731520" cy="292608"/>
          </a:xfrm>
          <a:prstGeom prst="rect">
            <a:avLst/>
          </a:prstGeom>
          <a:noFill/>
        </p:spPr>
        <p:txBody>
          <a:bodyPr wrap="none" lIns="0" tIns="0" rIns="0" bIns="0" anchor="ctr">
            <a:spAutoFit/>
          </a:bodyPr>
          <a:lstStyle/>
          <a:p>
            <a:pPr algn="ctr"/>
            <a:r>
              <a:rPr sz="1600" b="1">
                <a:solidFill>
                  <a:srgbClr val="000000"/>
                </a:solidFill>
                <a:latin typeface="Cambria"/>
              </a:rPr>
              <a:t>6</a:t>
            </a:r>
          </a:p>
        </p:txBody>
      </p:sp>
      <p:cxnSp>
        <p:nvCxnSpPr>
          <p:cNvPr id="410" name="Connector 409"/>
          <p:cNvCxnSpPr/>
          <p:nvPr/>
        </p:nvCxnSpPr>
        <p:spPr>
          <a:xfrm>
            <a:off x="57010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1" name="TextBox 410"/>
          <p:cNvSpPr txBox="1"/>
          <p:nvPr/>
        </p:nvSpPr>
        <p:spPr>
          <a:xfrm rot="9450000">
            <a:off x="5159875"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0111</a:t>
            </a:r>
          </a:p>
        </p:txBody>
      </p:sp>
      <p:sp>
        <p:nvSpPr>
          <p:cNvPr id="412" name="TextBox 411"/>
          <p:cNvSpPr txBox="1"/>
          <p:nvPr/>
        </p:nvSpPr>
        <p:spPr>
          <a:xfrm rot="9450000">
            <a:off x="5517258" y="6304116"/>
            <a:ext cx="731520" cy="292608"/>
          </a:xfrm>
          <a:prstGeom prst="rect">
            <a:avLst/>
          </a:prstGeom>
          <a:noFill/>
        </p:spPr>
        <p:txBody>
          <a:bodyPr wrap="none" lIns="0" tIns="0" rIns="0" bIns="0" anchor="ctr">
            <a:spAutoFit/>
          </a:bodyPr>
          <a:lstStyle/>
          <a:p>
            <a:pPr algn="ctr"/>
            <a:r>
              <a:rPr sz="1600" b="1">
                <a:solidFill>
                  <a:srgbClr val="000000"/>
                </a:solidFill>
                <a:latin typeface="Cambria"/>
              </a:rPr>
              <a:t>7</a:t>
            </a:r>
          </a:p>
        </p:txBody>
      </p:sp>
      <p:cxnSp>
        <p:nvCxnSpPr>
          <p:cNvPr id="413" name="Connector 412"/>
          <p:cNvCxnSpPr/>
          <p:nvPr/>
        </p:nvCxnSpPr>
        <p:spPr>
          <a:xfrm>
            <a:off x="5029200" y="6144768"/>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4" name="TextBox 413"/>
          <p:cNvSpPr txBox="1"/>
          <p:nvPr/>
        </p:nvSpPr>
        <p:spPr>
          <a:xfrm rot="10800000">
            <a:off x="4572000" y="5779007"/>
            <a:ext cx="914400" cy="292608"/>
          </a:xfrm>
          <a:prstGeom prst="rect">
            <a:avLst/>
          </a:prstGeom>
          <a:noFill/>
        </p:spPr>
        <p:txBody>
          <a:bodyPr wrap="none" lIns="0" tIns="0" rIns="0" bIns="0" anchor="ctr">
            <a:spAutoFit/>
          </a:bodyPr>
          <a:lstStyle/>
          <a:p>
            <a:pPr algn="ctr"/>
            <a:r>
              <a:rPr sz="1250" b="0">
                <a:solidFill>
                  <a:srgbClr val="000000"/>
                </a:solidFill>
                <a:latin typeface="Cambria"/>
              </a:rPr>
              <a:t>1000</a:t>
            </a:r>
          </a:p>
        </p:txBody>
      </p:sp>
      <p:sp>
        <p:nvSpPr>
          <p:cNvPr id="415" name="TextBox 414"/>
          <p:cNvSpPr txBox="1"/>
          <p:nvPr/>
        </p:nvSpPr>
        <p:spPr>
          <a:xfrm rot="10800000">
            <a:off x="4663440" y="6473952"/>
            <a:ext cx="731520" cy="292608"/>
          </a:xfrm>
          <a:prstGeom prst="rect">
            <a:avLst/>
          </a:prstGeom>
          <a:noFill/>
        </p:spPr>
        <p:txBody>
          <a:bodyPr wrap="none" lIns="0" tIns="0" rIns="0" bIns="0" anchor="ctr">
            <a:spAutoFit/>
          </a:bodyPr>
          <a:lstStyle/>
          <a:p>
            <a:pPr algn="ctr"/>
            <a:r>
              <a:rPr sz="1600" b="1">
                <a:solidFill>
                  <a:srgbClr val="A61C1C"/>
                </a:solidFill>
                <a:latin typeface="Cambria"/>
              </a:rPr>
              <a:t>−8</a:t>
            </a:r>
          </a:p>
        </p:txBody>
      </p:sp>
      <p:cxnSp>
        <p:nvCxnSpPr>
          <p:cNvPr id="416" name="Connector 415"/>
          <p:cNvCxnSpPr/>
          <p:nvPr/>
        </p:nvCxnSpPr>
        <p:spPr>
          <a:xfrm flipH="1">
            <a:off x="4287357" y="6011127"/>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rot="12150000">
            <a:off x="3984124" y="5662072"/>
            <a:ext cx="914400" cy="292608"/>
          </a:xfrm>
          <a:prstGeom prst="rect">
            <a:avLst/>
          </a:prstGeom>
          <a:noFill/>
        </p:spPr>
        <p:txBody>
          <a:bodyPr wrap="none" lIns="0" tIns="0" rIns="0" bIns="0" anchor="ctr">
            <a:spAutoFit/>
          </a:bodyPr>
          <a:lstStyle/>
          <a:p>
            <a:pPr algn="ctr"/>
            <a:r>
              <a:rPr sz="1250" b="0">
                <a:solidFill>
                  <a:srgbClr val="000000"/>
                </a:solidFill>
                <a:latin typeface="Cambria"/>
              </a:rPr>
              <a:t>1001</a:t>
            </a:r>
          </a:p>
        </p:txBody>
      </p:sp>
      <p:sp>
        <p:nvSpPr>
          <p:cNvPr id="418" name="TextBox 417"/>
          <p:cNvSpPr txBox="1"/>
          <p:nvPr/>
        </p:nvSpPr>
        <p:spPr>
          <a:xfrm rot="12150000">
            <a:off x="3809621" y="6304116"/>
            <a:ext cx="731520" cy="292608"/>
          </a:xfrm>
          <a:prstGeom prst="rect">
            <a:avLst/>
          </a:prstGeom>
          <a:noFill/>
        </p:spPr>
        <p:txBody>
          <a:bodyPr wrap="none" lIns="0" tIns="0" rIns="0" bIns="0" anchor="ctr">
            <a:spAutoFit/>
          </a:bodyPr>
          <a:lstStyle/>
          <a:p>
            <a:pPr algn="ctr"/>
            <a:r>
              <a:rPr sz="1600" b="1">
                <a:solidFill>
                  <a:srgbClr val="A61C1C"/>
                </a:solidFill>
                <a:latin typeface="Cambria"/>
              </a:rPr>
              <a:t>−7</a:t>
            </a:r>
          </a:p>
        </p:txBody>
      </p:sp>
      <p:cxnSp>
        <p:nvCxnSpPr>
          <p:cNvPr id="419" name="Connector 418"/>
          <p:cNvCxnSpPr/>
          <p:nvPr/>
        </p:nvCxnSpPr>
        <p:spPr>
          <a:xfrm flipH="1">
            <a:off x="3658453" y="5630550"/>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0" name="TextBox 419"/>
          <p:cNvSpPr txBox="1"/>
          <p:nvPr/>
        </p:nvSpPr>
        <p:spPr>
          <a:xfrm rot="13500000">
            <a:off x="3485748" y="5329067"/>
            <a:ext cx="914400" cy="292608"/>
          </a:xfrm>
          <a:prstGeom prst="rect">
            <a:avLst/>
          </a:prstGeom>
          <a:noFill/>
        </p:spPr>
        <p:txBody>
          <a:bodyPr wrap="none" lIns="0" tIns="0" rIns="0" bIns="0" anchor="ctr">
            <a:spAutoFit/>
          </a:bodyPr>
          <a:lstStyle/>
          <a:p>
            <a:pPr algn="ctr"/>
            <a:r>
              <a:rPr sz="1250" b="0">
                <a:solidFill>
                  <a:srgbClr val="000000"/>
                </a:solidFill>
                <a:latin typeface="Cambria"/>
              </a:rPr>
              <a:t>1010</a:t>
            </a:r>
          </a:p>
        </p:txBody>
      </p:sp>
      <p:sp>
        <p:nvSpPr>
          <p:cNvPr id="421" name="TextBox 420"/>
          <p:cNvSpPr txBox="1"/>
          <p:nvPr/>
        </p:nvSpPr>
        <p:spPr>
          <a:xfrm rot="13500000">
            <a:off x="3085788" y="5820467"/>
            <a:ext cx="731520" cy="292608"/>
          </a:xfrm>
          <a:prstGeom prst="rect">
            <a:avLst/>
          </a:prstGeom>
          <a:noFill/>
        </p:spPr>
        <p:txBody>
          <a:bodyPr wrap="none" lIns="0" tIns="0" rIns="0" bIns="0" anchor="ctr">
            <a:spAutoFit/>
          </a:bodyPr>
          <a:lstStyle/>
          <a:p>
            <a:pPr algn="ctr"/>
            <a:r>
              <a:rPr sz="1600" b="1">
                <a:solidFill>
                  <a:srgbClr val="A61C1C"/>
                </a:solidFill>
                <a:latin typeface="Cambria"/>
              </a:rPr>
              <a:t>−6</a:t>
            </a:r>
          </a:p>
        </p:txBody>
      </p:sp>
      <p:cxnSp>
        <p:nvCxnSpPr>
          <p:cNvPr id="422" name="Connector 421"/>
          <p:cNvCxnSpPr/>
          <p:nvPr/>
        </p:nvCxnSpPr>
        <p:spPr>
          <a:xfrm flipH="1">
            <a:off x="3238233" y="50609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3" name="TextBox 422"/>
          <p:cNvSpPr txBox="1"/>
          <p:nvPr/>
        </p:nvSpPr>
        <p:spPr>
          <a:xfrm rot="14850000">
            <a:off x="3152743" y="4830691"/>
            <a:ext cx="914400" cy="292608"/>
          </a:xfrm>
          <a:prstGeom prst="rect">
            <a:avLst/>
          </a:prstGeom>
          <a:noFill/>
        </p:spPr>
        <p:txBody>
          <a:bodyPr wrap="none" lIns="0" tIns="0" rIns="0" bIns="0" anchor="ctr">
            <a:spAutoFit/>
          </a:bodyPr>
          <a:lstStyle/>
          <a:p>
            <a:pPr algn="ctr"/>
            <a:r>
              <a:rPr sz="1250" b="0">
                <a:solidFill>
                  <a:srgbClr val="000000"/>
                </a:solidFill>
                <a:latin typeface="Cambria"/>
              </a:rPr>
              <a:t>1011</a:t>
            </a:r>
          </a:p>
        </p:txBody>
      </p:sp>
      <p:sp>
        <p:nvSpPr>
          <p:cNvPr id="424" name="TextBox 423"/>
          <p:cNvSpPr txBox="1"/>
          <p:nvPr/>
        </p:nvSpPr>
        <p:spPr>
          <a:xfrm rot="14850000">
            <a:off x="2602139" y="5096634"/>
            <a:ext cx="731520" cy="292608"/>
          </a:xfrm>
          <a:prstGeom prst="rect">
            <a:avLst/>
          </a:prstGeom>
          <a:noFill/>
        </p:spPr>
        <p:txBody>
          <a:bodyPr wrap="none" lIns="0" tIns="0" rIns="0" bIns="0" anchor="ctr">
            <a:spAutoFit/>
          </a:bodyPr>
          <a:lstStyle/>
          <a:p>
            <a:pPr algn="ctr"/>
            <a:r>
              <a:rPr sz="1600" b="1">
                <a:solidFill>
                  <a:srgbClr val="A61C1C"/>
                </a:solidFill>
                <a:latin typeface="Cambria"/>
              </a:rPr>
              <a:t>−5</a:t>
            </a:r>
          </a:p>
        </p:txBody>
      </p:sp>
      <p:cxnSp>
        <p:nvCxnSpPr>
          <p:cNvPr id="425" name="Connector 424"/>
          <p:cNvCxnSpPr/>
          <p:nvPr/>
        </p:nvCxnSpPr>
        <p:spPr>
          <a:xfrm flipH="1">
            <a:off x="3090672" y="4389120"/>
            <a:ext cx="182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6" name="TextBox 425"/>
          <p:cNvSpPr txBox="1"/>
          <p:nvPr/>
        </p:nvSpPr>
        <p:spPr>
          <a:xfrm rot="16200000">
            <a:off x="3035808" y="4242816"/>
            <a:ext cx="914400" cy="292608"/>
          </a:xfrm>
          <a:prstGeom prst="rect">
            <a:avLst/>
          </a:prstGeom>
          <a:noFill/>
        </p:spPr>
        <p:txBody>
          <a:bodyPr wrap="none" lIns="0" tIns="0" rIns="0" bIns="0" anchor="ctr">
            <a:spAutoFit/>
          </a:bodyPr>
          <a:lstStyle/>
          <a:p>
            <a:pPr algn="ctr"/>
            <a:r>
              <a:rPr sz="1250" b="0">
                <a:solidFill>
                  <a:srgbClr val="000000"/>
                </a:solidFill>
                <a:latin typeface="Cambria"/>
              </a:rPr>
              <a:t>1100</a:t>
            </a:r>
          </a:p>
        </p:txBody>
      </p:sp>
      <p:sp>
        <p:nvSpPr>
          <p:cNvPr id="427" name="TextBox 426"/>
          <p:cNvSpPr txBox="1"/>
          <p:nvPr/>
        </p:nvSpPr>
        <p:spPr>
          <a:xfrm rot="16200000">
            <a:off x="2432304" y="4242816"/>
            <a:ext cx="731520" cy="292608"/>
          </a:xfrm>
          <a:prstGeom prst="rect">
            <a:avLst/>
          </a:prstGeom>
          <a:noFill/>
        </p:spPr>
        <p:txBody>
          <a:bodyPr wrap="none" lIns="0" tIns="0" rIns="0" bIns="0" anchor="ctr">
            <a:spAutoFit/>
          </a:bodyPr>
          <a:lstStyle/>
          <a:p>
            <a:pPr algn="ctr"/>
            <a:r>
              <a:rPr sz="1600" b="1">
                <a:solidFill>
                  <a:srgbClr val="A61C1C"/>
                </a:solidFill>
                <a:latin typeface="Cambria"/>
              </a:rPr>
              <a:t>−4</a:t>
            </a:r>
          </a:p>
        </p:txBody>
      </p:sp>
      <p:cxnSp>
        <p:nvCxnSpPr>
          <p:cNvPr id="428" name="Connector 427"/>
          <p:cNvCxnSpPr/>
          <p:nvPr/>
        </p:nvCxnSpPr>
        <p:spPr>
          <a:xfrm flipH="1" flipV="1">
            <a:off x="3238233" y="3647277"/>
            <a:ext cx="168959" cy="69985"/>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9" name="TextBox 428"/>
          <p:cNvSpPr txBox="1"/>
          <p:nvPr/>
        </p:nvSpPr>
        <p:spPr>
          <a:xfrm rot="17550000">
            <a:off x="3152743" y="3654940"/>
            <a:ext cx="914400" cy="292608"/>
          </a:xfrm>
          <a:prstGeom prst="rect">
            <a:avLst/>
          </a:prstGeom>
          <a:noFill/>
        </p:spPr>
        <p:txBody>
          <a:bodyPr wrap="none" lIns="0" tIns="0" rIns="0" bIns="0" anchor="ctr">
            <a:spAutoFit/>
          </a:bodyPr>
          <a:lstStyle/>
          <a:p>
            <a:pPr algn="ctr"/>
            <a:r>
              <a:rPr sz="1250" b="0">
                <a:solidFill>
                  <a:srgbClr val="000000"/>
                </a:solidFill>
                <a:latin typeface="Cambria"/>
              </a:rPr>
              <a:t>1101</a:t>
            </a:r>
          </a:p>
        </p:txBody>
      </p:sp>
      <p:sp>
        <p:nvSpPr>
          <p:cNvPr id="430" name="TextBox 429"/>
          <p:cNvSpPr txBox="1"/>
          <p:nvPr/>
        </p:nvSpPr>
        <p:spPr>
          <a:xfrm rot="17550000">
            <a:off x="2602139" y="3388997"/>
            <a:ext cx="731520" cy="292608"/>
          </a:xfrm>
          <a:prstGeom prst="rect">
            <a:avLst/>
          </a:prstGeom>
          <a:noFill/>
        </p:spPr>
        <p:txBody>
          <a:bodyPr wrap="none" lIns="0" tIns="0" rIns="0" bIns="0" anchor="ctr">
            <a:spAutoFit/>
          </a:bodyPr>
          <a:lstStyle/>
          <a:p>
            <a:pPr algn="ctr"/>
            <a:r>
              <a:rPr sz="1600" b="1">
                <a:solidFill>
                  <a:srgbClr val="A61C1C"/>
                </a:solidFill>
                <a:latin typeface="Cambria"/>
              </a:rPr>
              <a:t>−3</a:t>
            </a:r>
          </a:p>
        </p:txBody>
      </p:sp>
      <p:cxnSp>
        <p:nvCxnSpPr>
          <p:cNvPr id="431" name="Connector 430"/>
          <p:cNvCxnSpPr/>
          <p:nvPr/>
        </p:nvCxnSpPr>
        <p:spPr>
          <a:xfrm flipH="1" flipV="1">
            <a:off x="3658453" y="3018373"/>
            <a:ext cx="129316" cy="129316"/>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2" name="TextBox 431"/>
          <p:cNvSpPr txBox="1"/>
          <p:nvPr/>
        </p:nvSpPr>
        <p:spPr>
          <a:xfrm rot="18900000">
            <a:off x="3485748" y="3156564"/>
            <a:ext cx="914400" cy="292608"/>
          </a:xfrm>
          <a:prstGeom prst="rect">
            <a:avLst/>
          </a:prstGeom>
          <a:noFill/>
        </p:spPr>
        <p:txBody>
          <a:bodyPr wrap="none" lIns="0" tIns="0" rIns="0" bIns="0" anchor="ctr">
            <a:spAutoFit/>
          </a:bodyPr>
          <a:lstStyle/>
          <a:p>
            <a:pPr algn="ctr"/>
            <a:r>
              <a:rPr sz="1250" b="0">
                <a:solidFill>
                  <a:srgbClr val="000000"/>
                </a:solidFill>
                <a:latin typeface="Cambria"/>
              </a:rPr>
              <a:t>1110</a:t>
            </a:r>
          </a:p>
        </p:txBody>
      </p:sp>
      <p:sp>
        <p:nvSpPr>
          <p:cNvPr id="433" name="TextBox 432"/>
          <p:cNvSpPr txBox="1"/>
          <p:nvPr/>
        </p:nvSpPr>
        <p:spPr>
          <a:xfrm rot="18900000">
            <a:off x="3085788" y="2665164"/>
            <a:ext cx="731520" cy="292608"/>
          </a:xfrm>
          <a:prstGeom prst="rect">
            <a:avLst/>
          </a:prstGeom>
          <a:noFill/>
        </p:spPr>
        <p:txBody>
          <a:bodyPr wrap="none" lIns="0" tIns="0" rIns="0" bIns="0" anchor="ctr">
            <a:spAutoFit/>
          </a:bodyPr>
          <a:lstStyle/>
          <a:p>
            <a:pPr algn="ctr"/>
            <a:r>
              <a:rPr sz="1600" b="1">
                <a:solidFill>
                  <a:srgbClr val="A61C1C"/>
                </a:solidFill>
                <a:latin typeface="Cambria"/>
              </a:rPr>
              <a:t>−2</a:t>
            </a:r>
          </a:p>
        </p:txBody>
      </p:sp>
      <p:cxnSp>
        <p:nvCxnSpPr>
          <p:cNvPr id="434" name="Connector 433"/>
          <p:cNvCxnSpPr/>
          <p:nvPr/>
        </p:nvCxnSpPr>
        <p:spPr>
          <a:xfrm flipH="1" flipV="1">
            <a:off x="4287357" y="2598153"/>
            <a:ext cx="69985" cy="16895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35" name="TextBox 434"/>
          <p:cNvSpPr txBox="1"/>
          <p:nvPr/>
        </p:nvSpPr>
        <p:spPr>
          <a:xfrm rot="20250000">
            <a:off x="3984124" y="2823559"/>
            <a:ext cx="914400" cy="292608"/>
          </a:xfrm>
          <a:prstGeom prst="rect">
            <a:avLst/>
          </a:prstGeom>
          <a:noFill/>
        </p:spPr>
        <p:txBody>
          <a:bodyPr wrap="none" lIns="0" tIns="0" rIns="0" bIns="0" anchor="ctr">
            <a:spAutoFit/>
          </a:bodyPr>
          <a:lstStyle/>
          <a:p>
            <a:pPr algn="ctr"/>
            <a:r>
              <a:rPr sz="1250" b="0">
                <a:solidFill>
                  <a:srgbClr val="000000"/>
                </a:solidFill>
                <a:latin typeface="Cambria"/>
              </a:rPr>
              <a:t>1111</a:t>
            </a:r>
          </a:p>
        </p:txBody>
      </p:sp>
      <p:sp>
        <p:nvSpPr>
          <p:cNvPr id="436" name="TextBox 435"/>
          <p:cNvSpPr txBox="1"/>
          <p:nvPr/>
        </p:nvSpPr>
        <p:spPr>
          <a:xfrm rot="20250000">
            <a:off x="3809621" y="2181515"/>
            <a:ext cx="731520" cy="292608"/>
          </a:xfrm>
          <a:prstGeom prst="rect">
            <a:avLst/>
          </a:prstGeom>
          <a:noFill/>
        </p:spPr>
        <p:txBody>
          <a:bodyPr wrap="none" lIns="0" tIns="0" rIns="0" bIns="0" anchor="ctr">
            <a:spAutoFit/>
          </a:bodyPr>
          <a:lstStyle/>
          <a:p>
            <a:pPr algn="ctr"/>
            <a:r>
              <a:rPr sz="1600" b="1">
                <a:solidFill>
                  <a:srgbClr val="A61C1C"/>
                </a:solidFill>
                <a:latin typeface="Cambria"/>
              </a:rPr>
              <a:t>−1</a:t>
            </a:r>
          </a:p>
        </p:txBody>
      </p:sp>
      <p:sp>
        <p:nvSpPr>
          <p:cNvPr id="437" name="TextBox 436"/>
          <p:cNvSpPr txBox="1"/>
          <p:nvPr/>
        </p:nvSpPr>
        <p:spPr>
          <a:xfrm>
            <a:off x="3977639" y="3566160"/>
            <a:ext cx="2103120" cy="1645919"/>
          </a:xfrm>
          <a:prstGeom prst="rect">
            <a:avLst/>
          </a:prstGeom>
          <a:noFill/>
        </p:spPr>
        <p:txBody>
          <a:bodyPr wrap="square" lIns="0" tIns="0" rIns="0" bIns="0" anchor="ctr">
            <a:spAutoFit/>
          </a:bodyPr>
          <a:lstStyle/>
          <a:p>
            <a:pPr algn="ctr"/>
            <a:r>
              <a:rPr sz="1600">
                <a:solidFill>
                  <a:srgbClr val="000000"/>
                </a:solidFill>
                <a:latin typeface="Cambria"/>
              </a:rPr>
              <a:t>4-bit</a:t>
            </a:r>
          </a:p>
          <a:p>
            <a:pPr algn="ctr"/>
            <a:r>
              <a:rPr sz="1600">
                <a:solidFill>
                  <a:srgbClr val="000000"/>
                </a:solidFill>
                <a:latin typeface="Cambria"/>
              </a:rPr>
              <a:t>two's complement</a:t>
            </a:r>
          </a:p>
          <a:p>
            <a:pPr algn="ctr"/>
            <a:r>
              <a:rPr sz="1600">
                <a:solidFill>
                  <a:srgbClr val="000000"/>
                </a:solidFill>
                <a:latin typeface="Cambria"/>
              </a:rPr>
              <a:t>representation</a:t>
            </a:r>
          </a:p>
        </p:txBody>
      </p:sp>
      <p:sp>
        <p:nvSpPr>
          <p:cNvPr id="438" name="TextBox 437"/>
          <p:cNvSpPr txBox="1"/>
          <p:nvPr/>
        </p:nvSpPr>
        <p:spPr>
          <a:xfrm>
            <a:off x="822960" y="6931152"/>
            <a:ext cx="8412480" cy="615553"/>
          </a:xfrm>
          <a:prstGeom prst="rect">
            <a:avLst/>
          </a:prstGeom>
          <a:noFill/>
        </p:spPr>
        <p:txBody>
          <a:bodyPr wrap="square" lIns="0" tIns="0" rIns="0" bIns="0">
            <a:spAutoFit/>
          </a:bodyPr>
          <a:lstStyle/>
          <a:p>
            <a:pPr algn="ctr"/>
            <a:r>
              <a:rPr sz="2000" b="0" i="1" dirty="0">
                <a:solidFill>
                  <a:srgbClr val="000000"/>
                </a:solidFill>
                <a:latin typeface="Cambria"/>
              </a:rPr>
              <a:t>One zero,  and the top bit is 1 for exactly the </a:t>
            </a:r>
            <a:r>
              <a:rPr sz="2000" b="1" i="1" dirty="0">
                <a:solidFill>
                  <a:srgbClr val="000000"/>
                </a:solidFill>
                <a:latin typeface="Cambria"/>
              </a:rPr>
              <a:t>red</a:t>
            </a:r>
            <a:r>
              <a:rPr sz="2000" b="0" i="1" dirty="0">
                <a:solidFill>
                  <a:srgbClr val="000000"/>
                </a:solidFill>
                <a:latin typeface="Cambria"/>
              </a:rPr>
              <a:t> </a:t>
            </a:r>
            <a:r>
              <a:rPr sz="2000" b="0" i="1" dirty="0" smtClean="0">
                <a:solidFill>
                  <a:srgbClr val="000000"/>
                </a:solidFill>
                <a:latin typeface="Cambria"/>
              </a:rPr>
              <a:t>half</a:t>
            </a:r>
            <a:endParaRPr lang="en-US" sz="2000" b="0" i="1" dirty="0" smtClean="0">
              <a:solidFill>
                <a:srgbClr val="000000"/>
              </a:solidFill>
              <a:latin typeface="Cambria"/>
            </a:endParaRPr>
          </a:p>
          <a:p>
            <a:pPr algn="ctr"/>
            <a:r>
              <a:rPr lang="en-US" sz="2000" i="1" dirty="0" smtClean="0">
                <a:solidFill>
                  <a:srgbClr val="000000"/>
                </a:solidFill>
                <a:latin typeface="Cambria"/>
              </a:rPr>
              <a:t>The ambiguity is shifted to - / + 8</a:t>
            </a:r>
            <a:endParaRPr sz="2000" b="0" i="1" dirty="0">
              <a:solidFill>
                <a:srgbClr val="000000"/>
              </a:solidFill>
              <a:latin typeface="Cambri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Why Two's Complement Wins</a:t>
            </a:r>
            <a:endParaRPr lang="en-US" sz="4000" b="0" u="none" strike="noStrike" dirty="0">
              <a:solidFill>
                <a:srgbClr val="000000"/>
              </a:solidFill>
              <a:effectLst/>
              <a:uFillTx/>
              <a:latin typeface="Arial"/>
            </a:endParaRPr>
          </a:p>
        </p:txBody>
      </p:sp>
      <p:sp>
        <p:nvSpPr>
          <p:cNvPr id="388" name="TextBox 387"/>
          <p:cNvSpPr txBox="1"/>
          <p:nvPr/>
        </p:nvSpPr>
        <p:spPr>
          <a:xfrm>
            <a:off x="707935" y="1788467"/>
            <a:ext cx="8846825" cy="5755333"/>
          </a:xfrm>
          <a:prstGeom prst="rect">
            <a:avLst/>
          </a:prstGeom>
          <a:noFill/>
        </p:spPr>
        <p:txBody>
          <a:bodyPr wrap="square">
            <a:spAutoFit/>
          </a:bodyPr>
          <a:lstStyle/>
          <a:p>
            <a:pPr>
              <a:tabLst>
                <a:tab pos="548640" algn="l"/>
                <a:tab pos="2743200" algn="l"/>
              </a:tabLst>
            </a:pPr>
            <a:r>
              <a:rPr sz="2300" b="1" dirty="0">
                <a:latin typeface="Cambria"/>
              </a:rPr>
              <a:t>One zero</a:t>
            </a:r>
            <a:r>
              <a:rPr sz="2300" b="0" dirty="0">
                <a:latin typeface="Cambria"/>
              </a:rPr>
              <a:t>	0000, and nothing else</a:t>
            </a:r>
          </a:p>
          <a:p>
            <a:pPr>
              <a:tabLst>
                <a:tab pos="548640" algn="l"/>
                <a:tab pos="2743200" algn="l"/>
              </a:tabLst>
            </a:pPr>
            <a:r>
              <a:rPr sz="2300" dirty="0">
                <a:latin typeface="Cambria"/>
              </a:rPr>
              <a:t> </a:t>
            </a:r>
          </a:p>
          <a:p>
            <a:pPr>
              <a:tabLst>
                <a:tab pos="548640" algn="l"/>
                <a:tab pos="2743200" algn="l"/>
              </a:tabLst>
            </a:pPr>
            <a:r>
              <a:rPr sz="2300" b="1" dirty="0">
                <a:latin typeface="Cambria"/>
              </a:rPr>
              <a:t>One adder</a:t>
            </a:r>
            <a:r>
              <a:rPr sz="2300" b="0" dirty="0">
                <a:latin typeface="Cambria"/>
              </a:rPr>
              <a:t>	the unsigned adder just works</a:t>
            </a:r>
          </a:p>
          <a:p>
            <a:pPr>
              <a:tabLst>
                <a:tab pos="548640" algn="l"/>
                <a:tab pos="2743200" algn="l"/>
              </a:tabLst>
            </a:pPr>
            <a:r>
              <a:rPr sz="2300" dirty="0">
                <a:latin typeface="Cambria"/>
              </a:rPr>
              <a:t> </a:t>
            </a:r>
          </a:p>
          <a:p>
            <a:pPr>
              <a:tabLst>
                <a:tab pos="548640" algn="l"/>
                <a:tab pos="2743200" algn="l"/>
              </a:tabLst>
            </a:pPr>
            <a:r>
              <a:rPr sz="2300" b="1" dirty="0">
                <a:latin typeface="Cambria"/>
              </a:rPr>
              <a:t>One sign test</a:t>
            </a:r>
            <a:r>
              <a:rPr sz="2300" b="0" dirty="0">
                <a:latin typeface="Cambria"/>
              </a:rPr>
              <a:t>	is the top bit 1?</a:t>
            </a:r>
          </a:p>
          <a:p>
            <a:pPr>
              <a:tabLst>
                <a:tab pos="548640" algn="l"/>
                <a:tab pos="2743200" algn="l"/>
              </a:tabLst>
            </a:pPr>
            <a:r>
              <a:rPr sz="2300" dirty="0">
                <a:latin typeface="Cambria"/>
              </a:rPr>
              <a:t> </a:t>
            </a:r>
          </a:p>
          <a:p>
            <a:pPr>
              <a:tabLst>
                <a:tab pos="548640" algn="l"/>
                <a:tab pos="2743200" algn="l"/>
              </a:tabLst>
            </a:pPr>
            <a:r>
              <a:rPr sz="2300" b="1" dirty="0">
                <a:latin typeface="Cambria"/>
              </a:rPr>
              <a:t>No carry fix-up</a:t>
            </a:r>
            <a:r>
              <a:rPr sz="2300" b="0" dirty="0">
                <a:latin typeface="Cambria"/>
              </a:rPr>
              <a:t>	discard the carry out</a:t>
            </a:r>
          </a:p>
          <a:p>
            <a:pPr>
              <a:tabLst>
                <a:tab pos="548640" algn="l"/>
                <a:tab pos="2743200" algn="l"/>
              </a:tabLst>
            </a:pPr>
            <a:r>
              <a:rPr sz="2300" dirty="0">
                <a:latin typeface="Cambria"/>
              </a:rPr>
              <a:t> </a:t>
            </a:r>
          </a:p>
          <a:p>
            <a:pPr>
              <a:tabLst>
                <a:tab pos="548640" algn="l"/>
                <a:tab pos="2743200" algn="l"/>
              </a:tabLst>
            </a:pPr>
            <a:r>
              <a:rPr sz="2300" b="0" dirty="0">
                <a:latin typeface="Cambria"/>
              </a:rPr>
              <a:t>Subtraction becomes  a + ( −b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Reading a Signed Number</a:t>
            </a:r>
            <a:endParaRPr lang="en-US" sz="4000" b="0" u="none" strike="noStrike" dirty="0">
              <a:solidFill>
                <a:srgbClr val="000000"/>
              </a:solidFill>
              <a:effectLst/>
              <a:uFillTx/>
              <a:latin typeface="Arial"/>
            </a:endParaRPr>
          </a:p>
        </p:txBody>
      </p:sp>
      <p:sp>
        <p:nvSpPr>
          <p:cNvPr id="388" name="TextBox 387"/>
          <p:cNvSpPr txBox="1"/>
          <p:nvPr/>
        </p:nvSpPr>
        <p:spPr>
          <a:xfrm>
            <a:off x="2651760" y="2130552"/>
            <a:ext cx="1188720" cy="310896"/>
          </a:xfrm>
          <a:prstGeom prst="rect">
            <a:avLst/>
          </a:prstGeom>
          <a:noFill/>
        </p:spPr>
        <p:txBody>
          <a:bodyPr wrap="square" lIns="0" tIns="0" rIns="0" bIns="0">
            <a:spAutoFit/>
          </a:bodyPr>
          <a:lstStyle/>
          <a:p>
            <a:pPr algn="ctr"/>
            <a:r>
              <a:rPr sz="2400" b="1" i="0">
                <a:solidFill>
                  <a:srgbClr val="A61C1C"/>
                </a:solidFill>
                <a:latin typeface="Cambria"/>
              </a:rPr>
              <a:t>− 8</a:t>
            </a:r>
          </a:p>
        </p:txBody>
      </p:sp>
      <p:sp>
        <p:nvSpPr>
          <p:cNvPr id="389" name="TextBox 388"/>
          <p:cNvSpPr txBox="1"/>
          <p:nvPr/>
        </p:nvSpPr>
        <p:spPr>
          <a:xfrm>
            <a:off x="3840480" y="2130552"/>
            <a:ext cx="1188720" cy="310896"/>
          </a:xfrm>
          <a:prstGeom prst="rect">
            <a:avLst/>
          </a:prstGeom>
          <a:noFill/>
        </p:spPr>
        <p:txBody>
          <a:bodyPr wrap="square" lIns="0" tIns="0" rIns="0" bIns="0">
            <a:spAutoFit/>
          </a:bodyPr>
          <a:lstStyle/>
          <a:p>
            <a:pPr algn="ctr"/>
            <a:r>
              <a:rPr sz="2400" b="1" i="0">
                <a:solidFill>
                  <a:srgbClr val="000000"/>
                </a:solidFill>
                <a:latin typeface="Cambria"/>
              </a:rPr>
              <a:t>+ 4</a:t>
            </a:r>
          </a:p>
        </p:txBody>
      </p:sp>
      <p:sp>
        <p:nvSpPr>
          <p:cNvPr id="390" name="TextBox 389"/>
          <p:cNvSpPr txBox="1"/>
          <p:nvPr/>
        </p:nvSpPr>
        <p:spPr>
          <a:xfrm>
            <a:off x="5029200" y="2130552"/>
            <a:ext cx="1188720" cy="310896"/>
          </a:xfrm>
          <a:prstGeom prst="rect">
            <a:avLst/>
          </a:prstGeom>
          <a:noFill/>
        </p:spPr>
        <p:txBody>
          <a:bodyPr wrap="square" lIns="0" tIns="0" rIns="0" bIns="0">
            <a:spAutoFit/>
          </a:bodyPr>
          <a:lstStyle/>
          <a:p>
            <a:pPr algn="ctr"/>
            <a:r>
              <a:rPr sz="2400" b="1" i="0">
                <a:solidFill>
                  <a:srgbClr val="000000"/>
                </a:solidFill>
                <a:latin typeface="Cambria"/>
              </a:rPr>
              <a:t>+ 2</a:t>
            </a:r>
          </a:p>
        </p:txBody>
      </p:sp>
      <p:sp>
        <p:nvSpPr>
          <p:cNvPr id="391" name="TextBox 390"/>
          <p:cNvSpPr txBox="1"/>
          <p:nvPr/>
        </p:nvSpPr>
        <p:spPr>
          <a:xfrm>
            <a:off x="6217920" y="2130552"/>
            <a:ext cx="1188720" cy="310896"/>
          </a:xfrm>
          <a:prstGeom prst="rect">
            <a:avLst/>
          </a:prstGeom>
          <a:noFill/>
        </p:spPr>
        <p:txBody>
          <a:bodyPr wrap="square" lIns="0" tIns="0" rIns="0" bIns="0">
            <a:spAutoFit/>
          </a:bodyPr>
          <a:lstStyle/>
          <a:p>
            <a:pPr algn="ctr"/>
            <a:r>
              <a:rPr sz="2400" b="1" i="0">
                <a:solidFill>
                  <a:srgbClr val="000000"/>
                </a:solidFill>
                <a:latin typeface="Cambria"/>
              </a:rPr>
              <a:t>+ 1</a:t>
            </a:r>
          </a:p>
        </p:txBody>
      </p:sp>
      <p:sp>
        <p:nvSpPr>
          <p:cNvPr id="392" name="Rectangle 391"/>
          <p:cNvSpPr/>
          <p:nvPr/>
        </p:nvSpPr>
        <p:spPr>
          <a:xfrm>
            <a:off x="2651760" y="2606040"/>
            <a:ext cx="11887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1</a:t>
            </a:r>
          </a:p>
        </p:txBody>
      </p:sp>
      <p:sp>
        <p:nvSpPr>
          <p:cNvPr id="393" name="Rectangle 392"/>
          <p:cNvSpPr/>
          <p:nvPr/>
        </p:nvSpPr>
        <p:spPr>
          <a:xfrm>
            <a:off x="3840480" y="2606040"/>
            <a:ext cx="1188720" cy="8686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0</a:t>
            </a:r>
          </a:p>
        </p:txBody>
      </p:sp>
      <p:sp>
        <p:nvSpPr>
          <p:cNvPr id="394" name="Rectangle 393"/>
          <p:cNvSpPr/>
          <p:nvPr/>
        </p:nvSpPr>
        <p:spPr>
          <a:xfrm>
            <a:off x="5029200" y="2606040"/>
            <a:ext cx="11887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1</a:t>
            </a:r>
          </a:p>
        </p:txBody>
      </p:sp>
      <p:sp>
        <p:nvSpPr>
          <p:cNvPr id="395" name="Rectangle 394"/>
          <p:cNvSpPr/>
          <p:nvPr/>
        </p:nvSpPr>
        <p:spPr>
          <a:xfrm>
            <a:off x="6217920" y="2606040"/>
            <a:ext cx="1188720" cy="8686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3200" b="0">
                <a:solidFill>
                  <a:srgbClr val="000000"/>
                </a:solidFill>
                <a:latin typeface="Cambria"/>
              </a:rPr>
              <a:t>1</a:t>
            </a:r>
          </a:p>
        </p:txBody>
      </p:sp>
      <p:sp>
        <p:nvSpPr>
          <p:cNvPr id="396" name="TextBox 395"/>
          <p:cNvSpPr txBox="1"/>
          <p:nvPr/>
        </p:nvSpPr>
        <p:spPr>
          <a:xfrm>
            <a:off x="2651760" y="3977639"/>
            <a:ext cx="1188720" cy="310896"/>
          </a:xfrm>
          <a:prstGeom prst="rect">
            <a:avLst/>
          </a:prstGeom>
          <a:noFill/>
        </p:spPr>
        <p:txBody>
          <a:bodyPr wrap="square" lIns="0" tIns="0" rIns="0" bIns="0">
            <a:spAutoFit/>
          </a:bodyPr>
          <a:lstStyle/>
          <a:p>
            <a:pPr algn="ctr"/>
            <a:r>
              <a:rPr sz="2600" b="0" i="0">
                <a:solidFill>
                  <a:srgbClr val="A61C1C"/>
                </a:solidFill>
                <a:latin typeface="Cambria"/>
              </a:rPr>
              <a:t>− 8</a:t>
            </a:r>
          </a:p>
        </p:txBody>
      </p:sp>
      <p:sp>
        <p:nvSpPr>
          <p:cNvPr id="397" name="TextBox 396"/>
          <p:cNvSpPr txBox="1"/>
          <p:nvPr/>
        </p:nvSpPr>
        <p:spPr>
          <a:xfrm>
            <a:off x="3840480" y="3977639"/>
            <a:ext cx="1188720" cy="310896"/>
          </a:xfrm>
          <a:prstGeom prst="rect">
            <a:avLst/>
          </a:prstGeom>
          <a:noFill/>
        </p:spPr>
        <p:txBody>
          <a:bodyPr wrap="square" lIns="0" tIns="0" rIns="0" bIns="0">
            <a:spAutoFit/>
          </a:bodyPr>
          <a:lstStyle/>
          <a:p>
            <a:pPr algn="ctr"/>
            <a:r>
              <a:rPr sz="2600" b="0" i="0">
                <a:solidFill>
                  <a:srgbClr val="000000"/>
                </a:solidFill>
                <a:latin typeface="Cambria"/>
              </a:rPr>
              <a:t>0</a:t>
            </a:r>
          </a:p>
        </p:txBody>
      </p:sp>
      <p:sp>
        <p:nvSpPr>
          <p:cNvPr id="398" name="TextBox 397"/>
          <p:cNvSpPr txBox="1"/>
          <p:nvPr/>
        </p:nvSpPr>
        <p:spPr>
          <a:xfrm>
            <a:off x="5029200" y="3977639"/>
            <a:ext cx="1188720" cy="310896"/>
          </a:xfrm>
          <a:prstGeom prst="rect">
            <a:avLst/>
          </a:prstGeom>
          <a:noFill/>
        </p:spPr>
        <p:txBody>
          <a:bodyPr wrap="square" lIns="0" tIns="0" rIns="0" bIns="0">
            <a:spAutoFit/>
          </a:bodyPr>
          <a:lstStyle/>
          <a:p>
            <a:pPr algn="ctr"/>
            <a:r>
              <a:rPr sz="2600" b="0" i="0">
                <a:solidFill>
                  <a:srgbClr val="000000"/>
                </a:solidFill>
                <a:latin typeface="Cambria"/>
              </a:rPr>
              <a:t>+ 2</a:t>
            </a:r>
          </a:p>
        </p:txBody>
      </p:sp>
      <p:sp>
        <p:nvSpPr>
          <p:cNvPr id="399" name="TextBox 398"/>
          <p:cNvSpPr txBox="1"/>
          <p:nvPr/>
        </p:nvSpPr>
        <p:spPr>
          <a:xfrm>
            <a:off x="6217920" y="3977639"/>
            <a:ext cx="1188720" cy="310896"/>
          </a:xfrm>
          <a:prstGeom prst="rect">
            <a:avLst/>
          </a:prstGeom>
          <a:noFill/>
        </p:spPr>
        <p:txBody>
          <a:bodyPr wrap="square" lIns="0" tIns="0" rIns="0" bIns="0">
            <a:spAutoFit/>
          </a:bodyPr>
          <a:lstStyle/>
          <a:p>
            <a:pPr algn="ctr"/>
            <a:r>
              <a:rPr sz="2600" b="0" i="0">
                <a:solidFill>
                  <a:srgbClr val="000000"/>
                </a:solidFill>
                <a:latin typeface="Cambria"/>
              </a:rPr>
              <a:t>+ 1</a:t>
            </a:r>
          </a:p>
        </p:txBody>
      </p:sp>
      <p:sp>
        <p:nvSpPr>
          <p:cNvPr id="400" name="TextBox 399"/>
          <p:cNvSpPr txBox="1"/>
          <p:nvPr/>
        </p:nvSpPr>
        <p:spPr>
          <a:xfrm>
            <a:off x="822960" y="4754879"/>
            <a:ext cx="8412480" cy="310896"/>
          </a:xfrm>
          <a:prstGeom prst="rect">
            <a:avLst/>
          </a:prstGeom>
          <a:noFill/>
        </p:spPr>
        <p:txBody>
          <a:bodyPr wrap="square" lIns="0" tIns="0" rIns="0" bIns="0">
            <a:spAutoFit/>
          </a:bodyPr>
          <a:lstStyle/>
          <a:p>
            <a:pPr algn="ctr"/>
            <a:r>
              <a:rPr sz="3000" b="0" i="0">
                <a:solidFill>
                  <a:srgbClr val="000000"/>
                </a:solidFill>
                <a:latin typeface="Cambria"/>
              </a:rPr>
              <a:t>=   </a:t>
            </a:r>
            <a:r>
              <a:rPr sz="3000" b="1" i="0">
                <a:solidFill>
                  <a:srgbClr val="000000"/>
                </a:solidFill>
                <a:latin typeface="Cambria"/>
              </a:rPr>
              <a:t>−5</a:t>
            </a:r>
          </a:p>
        </p:txBody>
      </p:sp>
      <p:sp>
        <p:nvSpPr>
          <p:cNvPr id="401" name="TextBox 400"/>
          <p:cNvSpPr txBox="1"/>
          <p:nvPr/>
        </p:nvSpPr>
        <p:spPr>
          <a:xfrm>
            <a:off x="822960" y="5486400"/>
            <a:ext cx="8412480" cy="310896"/>
          </a:xfrm>
          <a:prstGeom prst="rect">
            <a:avLst/>
          </a:prstGeom>
          <a:noFill/>
        </p:spPr>
        <p:txBody>
          <a:bodyPr wrap="square" lIns="0" tIns="0" rIns="0" bIns="0">
            <a:spAutoFit/>
          </a:bodyPr>
          <a:lstStyle/>
          <a:p>
            <a:pPr algn="ctr"/>
            <a:r>
              <a:rPr sz="2200" b="0" i="1">
                <a:solidFill>
                  <a:srgbClr val="000000"/>
                </a:solidFill>
                <a:latin typeface="Cambria"/>
              </a:rPr>
              <a:t>Same rule as unsigned  -  only the </a:t>
            </a:r>
            <a:r>
              <a:rPr sz="2200" b="1" i="1">
                <a:solidFill>
                  <a:srgbClr val="000000"/>
                </a:solidFill>
                <a:latin typeface="Cambria"/>
              </a:rPr>
              <a:t>top weight is negative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Signed and Unsigned Ranges</a:t>
            </a:r>
            <a:endParaRPr lang="en-US" sz="4000" b="0" u="none" strike="noStrike" dirty="0">
              <a:solidFill>
                <a:srgbClr val="000000"/>
              </a:solidFill>
              <a:effectLst/>
              <a:uFillTx/>
              <a:latin typeface="Arial"/>
            </a:endParaRPr>
          </a:p>
        </p:txBody>
      </p:sp>
      <p:sp>
        <p:nvSpPr>
          <p:cNvPr id="388" name="Rectangle 387"/>
          <p:cNvSpPr/>
          <p:nvPr/>
        </p:nvSpPr>
        <p:spPr>
          <a:xfrm>
            <a:off x="777240" y="2377440"/>
            <a:ext cx="1188720" cy="74980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Bits</a:t>
            </a:r>
          </a:p>
        </p:txBody>
      </p:sp>
      <p:sp>
        <p:nvSpPr>
          <p:cNvPr id="389" name="Rectangle 388"/>
          <p:cNvSpPr/>
          <p:nvPr/>
        </p:nvSpPr>
        <p:spPr>
          <a:xfrm>
            <a:off x="1965960" y="2377440"/>
            <a:ext cx="2926080" cy="74980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Unsigned</a:t>
            </a:r>
          </a:p>
        </p:txBody>
      </p:sp>
      <p:sp>
        <p:nvSpPr>
          <p:cNvPr id="390" name="Rectangle 389"/>
          <p:cNvSpPr/>
          <p:nvPr/>
        </p:nvSpPr>
        <p:spPr>
          <a:xfrm>
            <a:off x="4892040" y="2377440"/>
            <a:ext cx="4389120" cy="74980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Two's complement</a:t>
            </a:r>
          </a:p>
        </p:txBody>
      </p:sp>
      <p:sp>
        <p:nvSpPr>
          <p:cNvPr id="391" name="Rectangle 390"/>
          <p:cNvSpPr/>
          <p:nvPr/>
        </p:nvSpPr>
        <p:spPr>
          <a:xfrm>
            <a:off x="777240" y="3127248"/>
            <a:ext cx="1188720" cy="74980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8</a:t>
            </a:r>
          </a:p>
        </p:txBody>
      </p:sp>
      <p:sp>
        <p:nvSpPr>
          <p:cNvPr id="392" name="Rectangle 391"/>
          <p:cNvSpPr/>
          <p:nvPr/>
        </p:nvSpPr>
        <p:spPr>
          <a:xfrm>
            <a:off x="1965960" y="3127248"/>
            <a:ext cx="292608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0 .. 255</a:t>
            </a:r>
          </a:p>
        </p:txBody>
      </p:sp>
      <p:sp>
        <p:nvSpPr>
          <p:cNvPr id="393" name="Rectangle 392"/>
          <p:cNvSpPr/>
          <p:nvPr/>
        </p:nvSpPr>
        <p:spPr>
          <a:xfrm>
            <a:off x="4892040" y="3127248"/>
            <a:ext cx="438912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−128 .. +127</a:t>
            </a:r>
          </a:p>
        </p:txBody>
      </p:sp>
      <p:sp>
        <p:nvSpPr>
          <p:cNvPr id="394" name="Rectangle 393"/>
          <p:cNvSpPr/>
          <p:nvPr/>
        </p:nvSpPr>
        <p:spPr>
          <a:xfrm>
            <a:off x="777240" y="3877056"/>
            <a:ext cx="1188720" cy="74980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16</a:t>
            </a:r>
          </a:p>
        </p:txBody>
      </p:sp>
      <p:sp>
        <p:nvSpPr>
          <p:cNvPr id="395" name="Rectangle 394"/>
          <p:cNvSpPr/>
          <p:nvPr/>
        </p:nvSpPr>
        <p:spPr>
          <a:xfrm>
            <a:off x="1965960" y="3877056"/>
            <a:ext cx="292608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0 .. 65,535</a:t>
            </a:r>
          </a:p>
        </p:txBody>
      </p:sp>
      <p:sp>
        <p:nvSpPr>
          <p:cNvPr id="396" name="Rectangle 395"/>
          <p:cNvSpPr/>
          <p:nvPr/>
        </p:nvSpPr>
        <p:spPr>
          <a:xfrm>
            <a:off x="4892040" y="3877056"/>
            <a:ext cx="438912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−32,768 .. +32,767</a:t>
            </a:r>
          </a:p>
        </p:txBody>
      </p:sp>
      <p:sp>
        <p:nvSpPr>
          <p:cNvPr id="397" name="Rectangle 396"/>
          <p:cNvSpPr/>
          <p:nvPr/>
        </p:nvSpPr>
        <p:spPr>
          <a:xfrm>
            <a:off x="777240" y="4626864"/>
            <a:ext cx="1188720" cy="74980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32</a:t>
            </a:r>
          </a:p>
        </p:txBody>
      </p:sp>
      <p:sp>
        <p:nvSpPr>
          <p:cNvPr id="398" name="Rectangle 397"/>
          <p:cNvSpPr/>
          <p:nvPr/>
        </p:nvSpPr>
        <p:spPr>
          <a:xfrm>
            <a:off x="1965960" y="4626864"/>
            <a:ext cx="292608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 .. 4.29 × 10⁹</a:t>
            </a:r>
          </a:p>
        </p:txBody>
      </p:sp>
      <p:sp>
        <p:nvSpPr>
          <p:cNvPr id="399" name="Rectangle 398"/>
          <p:cNvSpPr/>
          <p:nvPr/>
        </p:nvSpPr>
        <p:spPr>
          <a:xfrm>
            <a:off x="4892040" y="4626864"/>
            <a:ext cx="438912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−2.15 × 10⁹ .. +2.15 × 10⁹</a:t>
            </a:r>
          </a:p>
        </p:txBody>
      </p:sp>
      <p:sp>
        <p:nvSpPr>
          <p:cNvPr id="400" name="Rectangle 399"/>
          <p:cNvSpPr/>
          <p:nvPr/>
        </p:nvSpPr>
        <p:spPr>
          <a:xfrm>
            <a:off x="777240" y="5376672"/>
            <a:ext cx="1188720" cy="74980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64</a:t>
            </a:r>
          </a:p>
        </p:txBody>
      </p:sp>
      <p:sp>
        <p:nvSpPr>
          <p:cNvPr id="401" name="Rectangle 400"/>
          <p:cNvSpPr/>
          <p:nvPr/>
        </p:nvSpPr>
        <p:spPr>
          <a:xfrm>
            <a:off x="1965960" y="5376672"/>
            <a:ext cx="292608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 .. 1.8 × 10¹⁹</a:t>
            </a:r>
          </a:p>
        </p:txBody>
      </p:sp>
      <p:sp>
        <p:nvSpPr>
          <p:cNvPr id="402" name="Rectangle 401"/>
          <p:cNvSpPr/>
          <p:nvPr/>
        </p:nvSpPr>
        <p:spPr>
          <a:xfrm>
            <a:off x="4892040" y="5376672"/>
            <a:ext cx="4389120" cy="74980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−9.2 × 10¹⁸ .. +9.2 × 10¹⁸</a:t>
            </a:r>
          </a:p>
        </p:txBody>
      </p:sp>
      <p:sp>
        <p:nvSpPr>
          <p:cNvPr id="403" name="TextBox 402"/>
          <p:cNvSpPr txBox="1"/>
          <p:nvPr/>
        </p:nvSpPr>
        <p:spPr>
          <a:xfrm>
            <a:off x="822960" y="6327648"/>
            <a:ext cx="8412480" cy="310896"/>
          </a:xfrm>
          <a:prstGeom prst="rect">
            <a:avLst/>
          </a:prstGeom>
          <a:noFill/>
        </p:spPr>
        <p:txBody>
          <a:bodyPr wrap="square" lIns="0" tIns="0" rIns="0" bIns="0">
            <a:spAutoFit/>
          </a:bodyPr>
          <a:lstStyle/>
          <a:p>
            <a:pPr algn="ctr"/>
            <a:r>
              <a:rPr sz="2100" b="0" i="1">
                <a:solidFill>
                  <a:srgbClr val="000000"/>
                </a:solidFill>
                <a:latin typeface="Cambria"/>
              </a:rPr>
              <a:t>Signed buys the low half by giving up the high half</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The Same Bits, Two Meanings</a:t>
            </a:r>
            <a:endParaRPr lang="en-US" sz="4000" b="0" u="none" strike="noStrike" dirty="0">
              <a:solidFill>
                <a:srgbClr val="000000"/>
              </a:solidFill>
              <a:effectLst/>
              <a:uFillTx/>
              <a:latin typeface="Arial"/>
            </a:endParaRPr>
          </a:p>
        </p:txBody>
      </p:sp>
      <p:sp>
        <p:nvSpPr>
          <p:cNvPr id="388" name="Rectangle 387"/>
          <p:cNvSpPr/>
          <p:nvPr/>
        </p:nvSpPr>
        <p:spPr>
          <a:xfrm>
            <a:off x="1417320" y="2148840"/>
            <a:ext cx="2103120" cy="64008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Pattern</a:t>
            </a:r>
          </a:p>
        </p:txBody>
      </p:sp>
      <p:sp>
        <p:nvSpPr>
          <p:cNvPr id="389" name="Rectangle 388"/>
          <p:cNvSpPr/>
          <p:nvPr/>
        </p:nvSpPr>
        <p:spPr>
          <a:xfrm>
            <a:off x="3520439" y="2148840"/>
            <a:ext cx="2103120" cy="64008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Unsigned</a:t>
            </a:r>
          </a:p>
        </p:txBody>
      </p:sp>
      <p:sp>
        <p:nvSpPr>
          <p:cNvPr id="390" name="Rectangle 389"/>
          <p:cNvSpPr/>
          <p:nvPr/>
        </p:nvSpPr>
        <p:spPr>
          <a:xfrm>
            <a:off x="5623559" y="2148840"/>
            <a:ext cx="2834640" cy="64008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Two's complement</a:t>
            </a:r>
          </a:p>
        </p:txBody>
      </p:sp>
      <p:sp>
        <p:nvSpPr>
          <p:cNvPr id="391" name="Rectangle 390"/>
          <p:cNvSpPr/>
          <p:nvPr/>
        </p:nvSpPr>
        <p:spPr>
          <a:xfrm>
            <a:off x="1417320" y="2788920"/>
            <a:ext cx="210312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0000</a:t>
            </a:r>
          </a:p>
        </p:txBody>
      </p:sp>
      <p:sp>
        <p:nvSpPr>
          <p:cNvPr id="392" name="Rectangle 391"/>
          <p:cNvSpPr/>
          <p:nvPr/>
        </p:nvSpPr>
        <p:spPr>
          <a:xfrm>
            <a:off x="3520439" y="2788920"/>
            <a:ext cx="210312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a:t>
            </a:r>
          </a:p>
        </p:txBody>
      </p:sp>
      <p:sp>
        <p:nvSpPr>
          <p:cNvPr id="393" name="Rectangle 392"/>
          <p:cNvSpPr/>
          <p:nvPr/>
        </p:nvSpPr>
        <p:spPr>
          <a:xfrm>
            <a:off x="5623559" y="2788920"/>
            <a:ext cx="28346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0</a:t>
            </a:r>
          </a:p>
        </p:txBody>
      </p:sp>
      <p:sp>
        <p:nvSpPr>
          <p:cNvPr id="394" name="Rectangle 393"/>
          <p:cNvSpPr/>
          <p:nvPr/>
        </p:nvSpPr>
        <p:spPr>
          <a:xfrm>
            <a:off x="1417320" y="3429000"/>
            <a:ext cx="210312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0111</a:t>
            </a:r>
          </a:p>
        </p:txBody>
      </p:sp>
      <p:sp>
        <p:nvSpPr>
          <p:cNvPr id="395" name="Rectangle 394"/>
          <p:cNvSpPr/>
          <p:nvPr/>
        </p:nvSpPr>
        <p:spPr>
          <a:xfrm>
            <a:off x="3520439" y="3429000"/>
            <a:ext cx="210312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7</a:t>
            </a:r>
          </a:p>
        </p:txBody>
      </p:sp>
      <p:sp>
        <p:nvSpPr>
          <p:cNvPr id="396" name="Rectangle 395"/>
          <p:cNvSpPr/>
          <p:nvPr/>
        </p:nvSpPr>
        <p:spPr>
          <a:xfrm>
            <a:off x="5623559" y="3429000"/>
            <a:ext cx="28346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+7</a:t>
            </a:r>
          </a:p>
        </p:txBody>
      </p:sp>
      <p:sp>
        <p:nvSpPr>
          <p:cNvPr id="397" name="Rectangle 396"/>
          <p:cNvSpPr/>
          <p:nvPr/>
        </p:nvSpPr>
        <p:spPr>
          <a:xfrm>
            <a:off x="1417320" y="4069079"/>
            <a:ext cx="210312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1000</a:t>
            </a:r>
          </a:p>
        </p:txBody>
      </p:sp>
      <p:sp>
        <p:nvSpPr>
          <p:cNvPr id="398" name="Rectangle 397"/>
          <p:cNvSpPr/>
          <p:nvPr/>
        </p:nvSpPr>
        <p:spPr>
          <a:xfrm>
            <a:off x="3520439" y="4069079"/>
            <a:ext cx="210312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8</a:t>
            </a:r>
          </a:p>
        </p:txBody>
      </p:sp>
      <p:sp>
        <p:nvSpPr>
          <p:cNvPr id="399" name="Rectangle 398"/>
          <p:cNvSpPr/>
          <p:nvPr/>
        </p:nvSpPr>
        <p:spPr>
          <a:xfrm>
            <a:off x="5623559" y="4069079"/>
            <a:ext cx="28346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−8</a:t>
            </a:r>
          </a:p>
        </p:txBody>
      </p:sp>
      <p:sp>
        <p:nvSpPr>
          <p:cNvPr id="400" name="Rectangle 399"/>
          <p:cNvSpPr/>
          <p:nvPr/>
        </p:nvSpPr>
        <p:spPr>
          <a:xfrm>
            <a:off x="1417320" y="4709160"/>
            <a:ext cx="210312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1011</a:t>
            </a:r>
          </a:p>
        </p:txBody>
      </p:sp>
      <p:sp>
        <p:nvSpPr>
          <p:cNvPr id="401" name="Rectangle 400"/>
          <p:cNvSpPr/>
          <p:nvPr/>
        </p:nvSpPr>
        <p:spPr>
          <a:xfrm>
            <a:off x="3520439" y="4709160"/>
            <a:ext cx="210312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11</a:t>
            </a:r>
          </a:p>
        </p:txBody>
      </p:sp>
      <p:sp>
        <p:nvSpPr>
          <p:cNvPr id="402" name="Rectangle 401"/>
          <p:cNvSpPr/>
          <p:nvPr/>
        </p:nvSpPr>
        <p:spPr>
          <a:xfrm>
            <a:off x="5623559" y="4709160"/>
            <a:ext cx="28346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−5</a:t>
            </a:r>
          </a:p>
        </p:txBody>
      </p:sp>
      <p:sp>
        <p:nvSpPr>
          <p:cNvPr id="403" name="Rectangle 402"/>
          <p:cNvSpPr/>
          <p:nvPr/>
        </p:nvSpPr>
        <p:spPr>
          <a:xfrm>
            <a:off x="1417320" y="5349240"/>
            <a:ext cx="210312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1">
                <a:solidFill>
                  <a:srgbClr val="000000"/>
                </a:solidFill>
                <a:latin typeface="Cambria"/>
              </a:rPr>
              <a:t>1111</a:t>
            </a:r>
          </a:p>
        </p:txBody>
      </p:sp>
      <p:sp>
        <p:nvSpPr>
          <p:cNvPr id="404" name="Rectangle 403"/>
          <p:cNvSpPr/>
          <p:nvPr/>
        </p:nvSpPr>
        <p:spPr>
          <a:xfrm>
            <a:off x="3520439" y="5349240"/>
            <a:ext cx="210312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15</a:t>
            </a:r>
          </a:p>
        </p:txBody>
      </p:sp>
      <p:sp>
        <p:nvSpPr>
          <p:cNvPr id="405" name="Rectangle 404"/>
          <p:cNvSpPr/>
          <p:nvPr/>
        </p:nvSpPr>
        <p:spPr>
          <a:xfrm>
            <a:off x="5623559" y="5349240"/>
            <a:ext cx="28346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−1</a:t>
            </a:r>
          </a:p>
        </p:txBody>
      </p:sp>
      <p:sp>
        <p:nvSpPr>
          <p:cNvPr id="406" name="TextBox 405"/>
          <p:cNvSpPr txBox="1"/>
          <p:nvPr/>
        </p:nvSpPr>
        <p:spPr>
          <a:xfrm>
            <a:off x="822960" y="6217920"/>
            <a:ext cx="8412480" cy="310896"/>
          </a:xfrm>
          <a:prstGeom prst="rect">
            <a:avLst/>
          </a:prstGeom>
          <a:noFill/>
        </p:spPr>
        <p:txBody>
          <a:bodyPr wrap="square" lIns="0" tIns="0" rIns="0" bIns="0">
            <a:spAutoFit/>
          </a:bodyPr>
          <a:lstStyle/>
          <a:p>
            <a:pPr algn="ctr"/>
            <a:r>
              <a:rPr sz="2200" b="0" i="0">
                <a:solidFill>
                  <a:srgbClr val="000000"/>
                </a:solidFill>
                <a:latin typeface="Cambria"/>
              </a:rPr>
              <a:t>The bits are identical.   Only the </a:t>
            </a:r>
            <a:r>
              <a:rPr sz="2200" b="1" i="0">
                <a:solidFill>
                  <a:srgbClr val="000000"/>
                </a:solidFill>
                <a:latin typeface="Cambria"/>
              </a:rPr>
              <a:t>declared type</a:t>
            </a:r>
            <a:r>
              <a:rPr sz="2200" b="0" i="0">
                <a:solidFill>
                  <a:srgbClr val="000000"/>
                </a:solidFill>
                <a:latin typeface="Cambria"/>
              </a:rPr>
              <a:t> differs.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Binary Is Hard to Read</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548640" algn="l"/>
                <a:tab pos="1097280" algn="l"/>
                <a:tab pos="1645920" algn="l"/>
                <a:tab pos="2194560" algn="l"/>
              </a:tabLst>
            </a:pPr>
            <a:r>
              <a:rPr sz="2300" b="0" dirty="0">
                <a:latin typeface="Cambria"/>
              </a:rPr>
              <a:t>A 28-bit address in binary:</a:t>
            </a:r>
          </a:p>
          <a:p>
            <a:pPr>
              <a:tabLst>
                <a:tab pos="548640" algn="l"/>
                <a:tab pos="1097280" algn="l"/>
                <a:tab pos="1645920" algn="l"/>
                <a:tab pos="2194560" algn="l"/>
              </a:tabLst>
            </a:pPr>
            <a:r>
              <a:rPr sz="2300" dirty="0">
                <a:latin typeface="Cambria"/>
              </a:rPr>
              <a:t> </a:t>
            </a:r>
          </a:p>
          <a:p>
            <a:pPr>
              <a:tabLst>
                <a:tab pos="548640" algn="l"/>
                <a:tab pos="1097280" algn="l"/>
                <a:tab pos="1645920" algn="l"/>
                <a:tab pos="2194560" algn="l"/>
              </a:tabLst>
            </a:pPr>
            <a:r>
              <a:rPr sz="2300" b="0" dirty="0">
                <a:latin typeface="Cambria"/>
              </a:rPr>
              <a:t>	0001111110001001100110111100</a:t>
            </a:r>
          </a:p>
          <a:p>
            <a:pPr>
              <a:tabLst>
                <a:tab pos="548640" algn="l"/>
                <a:tab pos="1097280" algn="l"/>
                <a:tab pos="1645920" algn="l"/>
                <a:tab pos="2194560" algn="l"/>
              </a:tabLst>
            </a:pPr>
            <a:r>
              <a:rPr sz="2300" dirty="0">
                <a:latin typeface="Cambria"/>
              </a:rPr>
              <a:t> </a:t>
            </a:r>
          </a:p>
          <a:p>
            <a:pPr>
              <a:tabLst>
                <a:tab pos="548640" algn="l"/>
                <a:tab pos="1097280" algn="l"/>
                <a:tab pos="1645920" algn="l"/>
                <a:tab pos="2194560" algn="l"/>
              </a:tabLst>
            </a:pPr>
            <a:r>
              <a:rPr sz="2300" b="0" dirty="0">
                <a:latin typeface="Cambria"/>
              </a:rPr>
              <a:t>Count the bits.  Now find the error.</a:t>
            </a:r>
          </a:p>
          <a:p>
            <a:pPr>
              <a:tabLst>
                <a:tab pos="548640" algn="l"/>
                <a:tab pos="1097280" algn="l"/>
                <a:tab pos="1645920" algn="l"/>
                <a:tab pos="2194560" algn="l"/>
              </a:tabLst>
            </a:pPr>
            <a:r>
              <a:rPr sz="2300" dirty="0">
                <a:latin typeface="Cambria"/>
              </a:rPr>
              <a:t> </a:t>
            </a:r>
          </a:p>
          <a:p>
            <a:pPr>
              <a:tabLst>
                <a:tab pos="548640" algn="l"/>
                <a:tab pos="1097280" algn="l"/>
                <a:tab pos="1645920" algn="l"/>
                <a:tab pos="2194560" algn="l"/>
              </a:tabLst>
            </a:pPr>
            <a:r>
              <a:rPr sz="2300" b="0" dirty="0">
                <a:latin typeface="Cambria"/>
              </a:rPr>
              <a:t>We need a shorter way to write the </a:t>
            </a:r>
            <a:r>
              <a:rPr sz="2300" b="1" dirty="0">
                <a:latin typeface="Cambria"/>
              </a:rPr>
              <a:t>same</a:t>
            </a:r>
            <a:r>
              <a:rPr sz="2300" b="0" dirty="0">
                <a:latin typeface="Cambria"/>
              </a:rPr>
              <a:t> bits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Hexadecimal</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548640" algn="l"/>
                <a:tab pos="1097280" algn="l"/>
                <a:tab pos="1645920" algn="l"/>
                <a:tab pos="2194560" algn="l"/>
              </a:tabLst>
            </a:pPr>
            <a:r>
              <a:rPr sz="2200" b="0" dirty="0">
                <a:latin typeface="Cambria"/>
              </a:rPr>
              <a:t>Base </a:t>
            </a:r>
            <a:r>
              <a:rPr sz="2200" b="1" dirty="0">
                <a:latin typeface="Cambria"/>
              </a:rPr>
              <a:t>16</a:t>
            </a:r>
            <a:r>
              <a:rPr sz="2200" b="0" dirty="0">
                <a:latin typeface="Cambria"/>
              </a:rPr>
              <a:t>  -  digits  0 1 2 3 4 5 6 7 8 9 A B C D E F</a:t>
            </a:r>
          </a:p>
          <a:p>
            <a:pPr>
              <a:tabLst>
                <a:tab pos="548640" algn="l"/>
                <a:tab pos="1097280" algn="l"/>
                <a:tab pos="1645920" algn="l"/>
                <a:tab pos="2194560" algn="l"/>
              </a:tabLst>
            </a:pPr>
            <a:r>
              <a:rPr sz="2200" dirty="0">
                <a:latin typeface="Cambria"/>
              </a:rPr>
              <a:t> </a:t>
            </a:r>
          </a:p>
          <a:p>
            <a:pPr>
              <a:tabLst>
                <a:tab pos="548640" algn="l"/>
                <a:tab pos="1097280" algn="l"/>
                <a:tab pos="1645920" algn="l"/>
                <a:tab pos="2194560" algn="l"/>
              </a:tabLst>
            </a:pPr>
            <a:r>
              <a:rPr sz="2200" b="0" dirty="0">
                <a:latin typeface="Cambria"/>
              </a:rPr>
              <a:t>One hex digit  =  </a:t>
            </a:r>
            <a:r>
              <a:rPr sz="2200" b="1" dirty="0">
                <a:latin typeface="Cambria"/>
              </a:rPr>
              <a:t>exactly 4 bits</a:t>
            </a:r>
          </a:p>
          <a:p>
            <a:pPr>
              <a:tabLst>
                <a:tab pos="548640" algn="l"/>
                <a:tab pos="1097280" algn="l"/>
                <a:tab pos="1645920" algn="l"/>
                <a:tab pos="2194560" algn="l"/>
              </a:tabLst>
            </a:pPr>
            <a:r>
              <a:rPr sz="2200" dirty="0">
                <a:latin typeface="Cambria"/>
              </a:rPr>
              <a:t> </a:t>
            </a:r>
          </a:p>
          <a:p>
            <a:pPr>
              <a:tabLst>
                <a:tab pos="548640" algn="l"/>
                <a:tab pos="1097280" algn="l"/>
                <a:tab pos="1645920" algn="l"/>
                <a:tab pos="2194560" algn="l"/>
              </a:tabLst>
            </a:pPr>
            <a:r>
              <a:rPr sz="2200" b="0" dirty="0">
                <a:latin typeface="Cambria"/>
              </a:rPr>
              <a:t>So converting is just </a:t>
            </a:r>
            <a:r>
              <a:rPr sz="2200" b="1" dirty="0">
                <a:latin typeface="Cambria"/>
              </a:rPr>
              <a:t>grouping</a:t>
            </a:r>
            <a:r>
              <a:rPr sz="2200" b="0" dirty="0">
                <a:latin typeface="Cambria"/>
              </a:rPr>
              <a:t>:</a:t>
            </a:r>
          </a:p>
          <a:p>
            <a:pPr>
              <a:tabLst>
                <a:tab pos="548640" algn="l"/>
                <a:tab pos="1097280" algn="l"/>
                <a:tab pos="1645920" algn="l"/>
                <a:tab pos="2194560" algn="l"/>
              </a:tabLst>
            </a:pPr>
            <a:r>
              <a:rPr sz="2200" b="0" dirty="0">
                <a:latin typeface="Cambria"/>
              </a:rPr>
              <a:t>	no arithmetic, no division</a:t>
            </a:r>
          </a:p>
          <a:p>
            <a:pPr>
              <a:tabLst>
                <a:tab pos="548640" algn="l"/>
                <a:tab pos="1097280" algn="l"/>
                <a:tab pos="1645920" algn="l"/>
                <a:tab pos="2194560" algn="l"/>
              </a:tabLst>
            </a:pPr>
            <a:r>
              <a:rPr sz="2200" dirty="0">
                <a:latin typeface="Cambria"/>
              </a:rPr>
              <a:t> </a:t>
            </a:r>
          </a:p>
          <a:p>
            <a:pPr>
              <a:tabLst>
                <a:tab pos="548640" algn="l"/>
                <a:tab pos="1097280" algn="l"/>
                <a:tab pos="1645920" algn="l"/>
                <a:tab pos="2194560" algn="l"/>
              </a:tabLst>
            </a:pPr>
            <a:r>
              <a:rPr sz="2200" b="0" dirty="0">
                <a:latin typeface="Cambria"/>
              </a:rPr>
              <a:t>Four bits is one </a:t>
            </a:r>
            <a:r>
              <a:rPr sz="2200" b="1" dirty="0">
                <a:latin typeface="Cambria"/>
              </a:rPr>
              <a:t>nibble</a:t>
            </a:r>
            <a:r>
              <a:rPr sz="2200" b="0" dirty="0">
                <a:latin typeface="Cambria"/>
              </a:rPr>
              <a:t>;  two nibbles are a </a:t>
            </a:r>
            <a:r>
              <a:rPr sz="2200" b="1" dirty="0">
                <a:latin typeface="Cambria"/>
              </a:rPr>
              <a:t>byte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Sixteen Digits</a:t>
            </a:r>
            <a:endParaRPr lang="en-US" sz="4400" b="0" u="none" strike="noStrike" dirty="0">
              <a:solidFill>
                <a:srgbClr val="000000"/>
              </a:solidFill>
              <a:effectLst/>
              <a:uFillTx/>
              <a:latin typeface="Arial"/>
            </a:endParaRPr>
          </a:p>
        </p:txBody>
      </p:sp>
      <p:sp>
        <p:nvSpPr>
          <p:cNvPr id="388" name="Rectangle 387"/>
          <p:cNvSpPr/>
          <p:nvPr/>
        </p:nvSpPr>
        <p:spPr>
          <a:xfrm>
            <a:off x="1005840" y="2057400"/>
            <a:ext cx="91440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Dec</a:t>
            </a:r>
          </a:p>
        </p:txBody>
      </p:sp>
      <p:sp>
        <p:nvSpPr>
          <p:cNvPr id="389" name="Rectangle 388"/>
          <p:cNvSpPr/>
          <p:nvPr/>
        </p:nvSpPr>
        <p:spPr>
          <a:xfrm>
            <a:off x="1920240" y="2057400"/>
            <a:ext cx="137160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Bits</a:t>
            </a:r>
          </a:p>
        </p:txBody>
      </p:sp>
      <p:sp>
        <p:nvSpPr>
          <p:cNvPr id="390" name="Rectangle 389"/>
          <p:cNvSpPr/>
          <p:nvPr/>
        </p:nvSpPr>
        <p:spPr>
          <a:xfrm>
            <a:off x="3291840" y="2057400"/>
            <a:ext cx="91440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Hex</a:t>
            </a:r>
          </a:p>
        </p:txBody>
      </p:sp>
      <p:sp>
        <p:nvSpPr>
          <p:cNvPr id="391" name="Rectangle 390"/>
          <p:cNvSpPr/>
          <p:nvPr/>
        </p:nvSpPr>
        <p:spPr>
          <a:xfrm>
            <a:off x="1005840" y="256946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a:t>
            </a:r>
          </a:p>
        </p:txBody>
      </p:sp>
      <p:sp>
        <p:nvSpPr>
          <p:cNvPr id="392" name="Rectangle 391"/>
          <p:cNvSpPr/>
          <p:nvPr/>
        </p:nvSpPr>
        <p:spPr>
          <a:xfrm>
            <a:off x="1920240" y="2569464"/>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0000</a:t>
            </a:r>
          </a:p>
        </p:txBody>
      </p:sp>
      <p:sp>
        <p:nvSpPr>
          <p:cNvPr id="393" name="Rectangle 392"/>
          <p:cNvSpPr/>
          <p:nvPr/>
        </p:nvSpPr>
        <p:spPr>
          <a:xfrm>
            <a:off x="3291840" y="256946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a:t>
            </a:r>
          </a:p>
        </p:txBody>
      </p:sp>
      <p:sp>
        <p:nvSpPr>
          <p:cNvPr id="394" name="Rectangle 393"/>
          <p:cNvSpPr/>
          <p:nvPr/>
        </p:nvSpPr>
        <p:spPr>
          <a:xfrm>
            <a:off x="1005840" y="308152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a:t>
            </a:r>
          </a:p>
        </p:txBody>
      </p:sp>
      <p:sp>
        <p:nvSpPr>
          <p:cNvPr id="395" name="Rectangle 394"/>
          <p:cNvSpPr/>
          <p:nvPr/>
        </p:nvSpPr>
        <p:spPr>
          <a:xfrm>
            <a:off x="1920240" y="3081528"/>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0001</a:t>
            </a:r>
          </a:p>
        </p:txBody>
      </p:sp>
      <p:sp>
        <p:nvSpPr>
          <p:cNvPr id="396" name="Rectangle 395"/>
          <p:cNvSpPr/>
          <p:nvPr/>
        </p:nvSpPr>
        <p:spPr>
          <a:xfrm>
            <a:off x="3291840" y="308152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a:t>
            </a:r>
          </a:p>
        </p:txBody>
      </p:sp>
      <p:sp>
        <p:nvSpPr>
          <p:cNvPr id="397" name="Rectangle 396"/>
          <p:cNvSpPr/>
          <p:nvPr/>
        </p:nvSpPr>
        <p:spPr>
          <a:xfrm>
            <a:off x="1005840" y="359359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2</a:t>
            </a:r>
          </a:p>
        </p:txBody>
      </p:sp>
      <p:sp>
        <p:nvSpPr>
          <p:cNvPr id="398" name="Rectangle 397"/>
          <p:cNvSpPr/>
          <p:nvPr/>
        </p:nvSpPr>
        <p:spPr>
          <a:xfrm>
            <a:off x="1920240" y="3593592"/>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0010</a:t>
            </a:r>
          </a:p>
        </p:txBody>
      </p:sp>
      <p:sp>
        <p:nvSpPr>
          <p:cNvPr id="399" name="Rectangle 398"/>
          <p:cNvSpPr/>
          <p:nvPr/>
        </p:nvSpPr>
        <p:spPr>
          <a:xfrm>
            <a:off x="3291840" y="359359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2</a:t>
            </a:r>
          </a:p>
        </p:txBody>
      </p:sp>
      <p:sp>
        <p:nvSpPr>
          <p:cNvPr id="400" name="Rectangle 399"/>
          <p:cNvSpPr/>
          <p:nvPr/>
        </p:nvSpPr>
        <p:spPr>
          <a:xfrm>
            <a:off x="1005840" y="4105656"/>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3</a:t>
            </a:r>
          </a:p>
        </p:txBody>
      </p:sp>
      <p:sp>
        <p:nvSpPr>
          <p:cNvPr id="401" name="Rectangle 400"/>
          <p:cNvSpPr/>
          <p:nvPr/>
        </p:nvSpPr>
        <p:spPr>
          <a:xfrm>
            <a:off x="1920240" y="4105656"/>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0011</a:t>
            </a:r>
          </a:p>
        </p:txBody>
      </p:sp>
      <p:sp>
        <p:nvSpPr>
          <p:cNvPr id="402" name="Rectangle 401"/>
          <p:cNvSpPr/>
          <p:nvPr/>
        </p:nvSpPr>
        <p:spPr>
          <a:xfrm>
            <a:off x="3291840" y="4105656"/>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3</a:t>
            </a:r>
          </a:p>
        </p:txBody>
      </p:sp>
      <p:sp>
        <p:nvSpPr>
          <p:cNvPr id="403" name="Rectangle 402"/>
          <p:cNvSpPr/>
          <p:nvPr/>
        </p:nvSpPr>
        <p:spPr>
          <a:xfrm>
            <a:off x="1005840" y="4617720"/>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4</a:t>
            </a:r>
          </a:p>
        </p:txBody>
      </p:sp>
      <p:sp>
        <p:nvSpPr>
          <p:cNvPr id="404" name="Rectangle 403"/>
          <p:cNvSpPr/>
          <p:nvPr/>
        </p:nvSpPr>
        <p:spPr>
          <a:xfrm>
            <a:off x="1920240" y="4617720"/>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0100</a:t>
            </a:r>
          </a:p>
        </p:txBody>
      </p:sp>
      <p:sp>
        <p:nvSpPr>
          <p:cNvPr id="405" name="Rectangle 404"/>
          <p:cNvSpPr/>
          <p:nvPr/>
        </p:nvSpPr>
        <p:spPr>
          <a:xfrm>
            <a:off x="3291840" y="4617720"/>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4</a:t>
            </a:r>
          </a:p>
        </p:txBody>
      </p:sp>
      <p:sp>
        <p:nvSpPr>
          <p:cNvPr id="406" name="Rectangle 405"/>
          <p:cNvSpPr/>
          <p:nvPr/>
        </p:nvSpPr>
        <p:spPr>
          <a:xfrm>
            <a:off x="1005840" y="512978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5</a:t>
            </a:r>
          </a:p>
        </p:txBody>
      </p:sp>
      <p:sp>
        <p:nvSpPr>
          <p:cNvPr id="407" name="Rectangle 406"/>
          <p:cNvSpPr/>
          <p:nvPr/>
        </p:nvSpPr>
        <p:spPr>
          <a:xfrm>
            <a:off x="1920240" y="5129784"/>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0101</a:t>
            </a:r>
          </a:p>
        </p:txBody>
      </p:sp>
      <p:sp>
        <p:nvSpPr>
          <p:cNvPr id="408" name="Rectangle 407"/>
          <p:cNvSpPr/>
          <p:nvPr/>
        </p:nvSpPr>
        <p:spPr>
          <a:xfrm>
            <a:off x="3291840" y="512978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5</a:t>
            </a:r>
          </a:p>
        </p:txBody>
      </p:sp>
      <p:sp>
        <p:nvSpPr>
          <p:cNvPr id="409" name="Rectangle 408"/>
          <p:cNvSpPr/>
          <p:nvPr/>
        </p:nvSpPr>
        <p:spPr>
          <a:xfrm>
            <a:off x="1005840" y="564184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6</a:t>
            </a:r>
          </a:p>
        </p:txBody>
      </p:sp>
      <p:sp>
        <p:nvSpPr>
          <p:cNvPr id="410" name="Rectangle 409"/>
          <p:cNvSpPr/>
          <p:nvPr/>
        </p:nvSpPr>
        <p:spPr>
          <a:xfrm>
            <a:off x="1920240" y="5641848"/>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0110</a:t>
            </a:r>
          </a:p>
        </p:txBody>
      </p:sp>
      <p:sp>
        <p:nvSpPr>
          <p:cNvPr id="411" name="Rectangle 410"/>
          <p:cNvSpPr/>
          <p:nvPr/>
        </p:nvSpPr>
        <p:spPr>
          <a:xfrm>
            <a:off x="3291840" y="564184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6</a:t>
            </a:r>
          </a:p>
        </p:txBody>
      </p:sp>
      <p:sp>
        <p:nvSpPr>
          <p:cNvPr id="412" name="Rectangle 411"/>
          <p:cNvSpPr/>
          <p:nvPr/>
        </p:nvSpPr>
        <p:spPr>
          <a:xfrm>
            <a:off x="1005840" y="615391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7</a:t>
            </a:r>
          </a:p>
        </p:txBody>
      </p:sp>
      <p:sp>
        <p:nvSpPr>
          <p:cNvPr id="413" name="Rectangle 412"/>
          <p:cNvSpPr/>
          <p:nvPr/>
        </p:nvSpPr>
        <p:spPr>
          <a:xfrm>
            <a:off x="1920240" y="6153912"/>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0111</a:t>
            </a:r>
          </a:p>
        </p:txBody>
      </p:sp>
      <p:sp>
        <p:nvSpPr>
          <p:cNvPr id="414" name="Rectangle 413"/>
          <p:cNvSpPr/>
          <p:nvPr/>
        </p:nvSpPr>
        <p:spPr>
          <a:xfrm>
            <a:off x="3291840" y="615391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7</a:t>
            </a:r>
          </a:p>
        </p:txBody>
      </p:sp>
      <p:sp>
        <p:nvSpPr>
          <p:cNvPr id="415" name="Rectangle 414"/>
          <p:cNvSpPr/>
          <p:nvPr/>
        </p:nvSpPr>
        <p:spPr>
          <a:xfrm>
            <a:off x="5029200" y="2057400"/>
            <a:ext cx="91440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Dec</a:t>
            </a:r>
          </a:p>
        </p:txBody>
      </p:sp>
      <p:sp>
        <p:nvSpPr>
          <p:cNvPr id="416" name="Rectangle 415"/>
          <p:cNvSpPr/>
          <p:nvPr/>
        </p:nvSpPr>
        <p:spPr>
          <a:xfrm>
            <a:off x="5943600" y="2057400"/>
            <a:ext cx="137160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Bits</a:t>
            </a:r>
          </a:p>
        </p:txBody>
      </p:sp>
      <p:sp>
        <p:nvSpPr>
          <p:cNvPr id="417" name="Rectangle 416"/>
          <p:cNvSpPr/>
          <p:nvPr/>
        </p:nvSpPr>
        <p:spPr>
          <a:xfrm>
            <a:off x="7315200" y="2057400"/>
            <a:ext cx="91440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Hex</a:t>
            </a:r>
          </a:p>
        </p:txBody>
      </p:sp>
      <p:sp>
        <p:nvSpPr>
          <p:cNvPr id="418" name="Rectangle 417"/>
          <p:cNvSpPr/>
          <p:nvPr/>
        </p:nvSpPr>
        <p:spPr>
          <a:xfrm>
            <a:off x="5029200" y="256946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8</a:t>
            </a:r>
          </a:p>
        </p:txBody>
      </p:sp>
      <p:sp>
        <p:nvSpPr>
          <p:cNvPr id="419" name="Rectangle 418"/>
          <p:cNvSpPr/>
          <p:nvPr/>
        </p:nvSpPr>
        <p:spPr>
          <a:xfrm>
            <a:off x="5943600" y="2569464"/>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1000</a:t>
            </a:r>
          </a:p>
        </p:txBody>
      </p:sp>
      <p:sp>
        <p:nvSpPr>
          <p:cNvPr id="420" name="Rectangle 419"/>
          <p:cNvSpPr/>
          <p:nvPr/>
        </p:nvSpPr>
        <p:spPr>
          <a:xfrm>
            <a:off x="7315200" y="256946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8</a:t>
            </a:r>
          </a:p>
        </p:txBody>
      </p:sp>
      <p:sp>
        <p:nvSpPr>
          <p:cNvPr id="421" name="Rectangle 420"/>
          <p:cNvSpPr/>
          <p:nvPr/>
        </p:nvSpPr>
        <p:spPr>
          <a:xfrm>
            <a:off x="5029200" y="308152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9</a:t>
            </a:r>
          </a:p>
        </p:txBody>
      </p:sp>
      <p:sp>
        <p:nvSpPr>
          <p:cNvPr id="422" name="Rectangle 421"/>
          <p:cNvSpPr/>
          <p:nvPr/>
        </p:nvSpPr>
        <p:spPr>
          <a:xfrm>
            <a:off x="5943600" y="3081528"/>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1001</a:t>
            </a:r>
          </a:p>
        </p:txBody>
      </p:sp>
      <p:sp>
        <p:nvSpPr>
          <p:cNvPr id="423" name="Rectangle 422"/>
          <p:cNvSpPr/>
          <p:nvPr/>
        </p:nvSpPr>
        <p:spPr>
          <a:xfrm>
            <a:off x="7315200" y="308152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9</a:t>
            </a:r>
          </a:p>
        </p:txBody>
      </p:sp>
      <p:sp>
        <p:nvSpPr>
          <p:cNvPr id="424" name="Rectangle 423"/>
          <p:cNvSpPr/>
          <p:nvPr/>
        </p:nvSpPr>
        <p:spPr>
          <a:xfrm>
            <a:off x="5029200" y="359359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10</a:t>
            </a:r>
          </a:p>
        </p:txBody>
      </p:sp>
      <p:sp>
        <p:nvSpPr>
          <p:cNvPr id="425" name="Rectangle 424"/>
          <p:cNvSpPr/>
          <p:nvPr/>
        </p:nvSpPr>
        <p:spPr>
          <a:xfrm>
            <a:off x="5943600" y="3593592"/>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1010</a:t>
            </a:r>
          </a:p>
        </p:txBody>
      </p:sp>
      <p:sp>
        <p:nvSpPr>
          <p:cNvPr id="426" name="Rectangle 425"/>
          <p:cNvSpPr/>
          <p:nvPr/>
        </p:nvSpPr>
        <p:spPr>
          <a:xfrm>
            <a:off x="7315200" y="359359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A</a:t>
            </a:r>
          </a:p>
        </p:txBody>
      </p:sp>
      <p:sp>
        <p:nvSpPr>
          <p:cNvPr id="427" name="Rectangle 426"/>
          <p:cNvSpPr/>
          <p:nvPr/>
        </p:nvSpPr>
        <p:spPr>
          <a:xfrm>
            <a:off x="5029200" y="4105656"/>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11</a:t>
            </a:r>
          </a:p>
        </p:txBody>
      </p:sp>
      <p:sp>
        <p:nvSpPr>
          <p:cNvPr id="428" name="Rectangle 427"/>
          <p:cNvSpPr/>
          <p:nvPr/>
        </p:nvSpPr>
        <p:spPr>
          <a:xfrm>
            <a:off x="5943600" y="4105656"/>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1011</a:t>
            </a:r>
          </a:p>
        </p:txBody>
      </p:sp>
      <p:sp>
        <p:nvSpPr>
          <p:cNvPr id="429" name="Rectangle 428"/>
          <p:cNvSpPr/>
          <p:nvPr/>
        </p:nvSpPr>
        <p:spPr>
          <a:xfrm>
            <a:off x="7315200" y="4105656"/>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B</a:t>
            </a:r>
          </a:p>
        </p:txBody>
      </p:sp>
      <p:sp>
        <p:nvSpPr>
          <p:cNvPr id="430" name="Rectangle 429"/>
          <p:cNvSpPr/>
          <p:nvPr/>
        </p:nvSpPr>
        <p:spPr>
          <a:xfrm>
            <a:off x="5029200" y="4617720"/>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12</a:t>
            </a:r>
          </a:p>
        </p:txBody>
      </p:sp>
      <p:sp>
        <p:nvSpPr>
          <p:cNvPr id="431" name="Rectangle 430"/>
          <p:cNvSpPr/>
          <p:nvPr/>
        </p:nvSpPr>
        <p:spPr>
          <a:xfrm>
            <a:off x="5943600" y="4617720"/>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1100</a:t>
            </a:r>
          </a:p>
        </p:txBody>
      </p:sp>
      <p:sp>
        <p:nvSpPr>
          <p:cNvPr id="432" name="Rectangle 431"/>
          <p:cNvSpPr/>
          <p:nvPr/>
        </p:nvSpPr>
        <p:spPr>
          <a:xfrm>
            <a:off x="7315200" y="4617720"/>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C</a:t>
            </a:r>
          </a:p>
        </p:txBody>
      </p:sp>
      <p:sp>
        <p:nvSpPr>
          <p:cNvPr id="433" name="Rectangle 432"/>
          <p:cNvSpPr/>
          <p:nvPr/>
        </p:nvSpPr>
        <p:spPr>
          <a:xfrm>
            <a:off x="5029200" y="512978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13</a:t>
            </a:r>
          </a:p>
        </p:txBody>
      </p:sp>
      <p:sp>
        <p:nvSpPr>
          <p:cNvPr id="434" name="Rectangle 433"/>
          <p:cNvSpPr/>
          <p:nvPr/>
        </p:nvSpPr>
        <p:spPr>
          <a:xfrm>
            <a:off x="5943600" y="5129784"/>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1101</a:t>
            </a:r>
          </a:p>
        </p:txBody>
      </p:sp>
      <p:sp>
        <p:nvSpPr>
          <p:cNvPr id="435" name="Rectangle 434"/>
          <p:cNvSpPr/>
          <p:nvPr/>
        </p:nvSpPr>
        <p:spPr>
          <a:xfrm>
            <a:off x="7315200" y="5129784"/>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D</a:t>
            </a:r>
          </a:p>
        </p:txBody>
      </p:sp>
      <p:sp>
        <p:nvSpPr>
          <p:cNvPr id="436" name="Rectangle 435"/>
          <p:cNvSpPr/>
          <p:nvPr/>
        </p:nvSpPr>
        <p:spPr>
          <a:xfrm>
            <a:off x="5029200" y="564184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14</a:t>
            </a:r>
          </a:p>
        </p:txBody>
      </p:sp>
      <p:sp>
        <p:nvSpPr>
          <p:cNvPr id="437" name="Rectangle 436"/>
          <p:cNvSpPr/>
          <p:nvPr/>
        </p:nvSpPr>
        <p:spPr>
          <a:xfrm>
            <a:off x="5943600" y="5641848"/>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1110</a:t>
            </a:r>
          </a:p>
        </p:txBody>
      </p:sp>
      <p:sp>
        <p:nvSpPr>
          <p:cNvPr id="438" name="Rectangle 437"/>
          <p:cNvSpPr/>
          <p:nvPr/>
        </p:nvSpPr>
        <p:spPr>
          <a:xfrm>
            <a:off x="7315200" y="5641848"/>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E</a:t>
            </a:r>
          </a:p>
        </p:txBody>
      </p:sp>
      <p:sp>
        <p:nvSpPr>
          <p:cNvPr id="439" name="Rectangle 438"/>
          <p:cNvSpPr/>
          <p:nvPr/>
        </p:nvSpPr>
        <p:spPr>
          <a:xfrm>
            <a:off x="5029200" y="615391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15</a:t>
            </a:r>
          </a:p>
        </p:txBody>
      </p:sp>
      <p:sp>
        <p:nvSpPr>
          <p:cNvPr id="440" name="Rectangle 439"/>
          <p:cNvSpPr/>
          <p:nvPr/>
        </p:nvSpPr>
        <p:spPr>
          <a:xfrm>
            <a:off x="5943600" y="6153912"/>
            <a:ext cx="13716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1111</a:t>
            </a:r>
          </a:p>
        </p:txBody>
      </p:sp>
      <p:sp>
        <p:nvSpPr>
          <p:cNvPr id="441" name="Rectangle 440"/>
          <p:cNvSpPr/>
          <p:nvPr/>
        </p:nvSpPr>
        <p:spPr>
          <a:xfrm>
            <a:off x="7315200" y="6153912"/>
            <a:ext cx="91440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F</a:t>
            </a:r>
          </a:p>
        </p:txBody>
      </p:sp>
      <p:sp>
        <p:nvSpPr>
          <p:cNvPr id="442" name="TextBox 441"/>
          <p:cNvSpPr txBox="1"/>
          <p:nvPr/>
        </p:nvSpPr>
        <p:spPr>
          <a:xfrm>
            <a:off x="822960" y="6812280"/>
            <a:ext cx="8412480" cy="310896"/>
          </a:xfrm>
          <a:prstGeom prst="rect">
            <a:avLst/>
          </a:prstGeom>
          <a:noFill/>
        </p:spPr>
        <p:txBody>
          <a:bodyPr wrap="square" lIns="0" tIns="0" rIns="0" bIns="0">
            <a:spAutoFit/>
          </a:bodyPr>
          <a:lstStyle/>
          <a:p>
            <a:pPr algn="ctr"/>
            <a:r>
              <a:rPr sz="2000" b="0" i="0">
                <a:solidFill>
                  <a:srgbClr val="000000"/>
                </a:solidFill>
                <a:latin typeface="Cambria"/>
              </a:rPr>
              <a:t>A  =  10,   B  =  11,   C  =  12,   D  =  13,   E  =  14,   F  =  15</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Reading an Address in Hex</a:t>
            </a:r>
            <a:endParaRPr lang="en-US" sz="4000" b="0" u="none" strike="noStrike" dirty="0">
              <a:solidFill>
                <a:srgbClr val="000000"/>
              </a:solidFill>
              <a:effectLst/>
              <a:uFillTx/>
              <a:latin typeface="Arial"/>
            </a:endParaRPr>
          </a:p>
        </p:txBody>
      </p:sp>
      <p:sp>
        <p:nvSpPr>
          <p:cNvPr id="388" name="Rectangle 387"/>
          <p:cNvSpPr/>
          <p:nvPr/>
        </p:nvSpPr>
        <p:spPr>
          <a:xfrm>
            <a:off x="960120"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0001</a:t>
            </a:r>
          </a:p>
        </p:txBody>
      </p:sp>
      <p:sp>
        <p:nvSpPr>
          <p:cNvPr id="389" name="Rectangle 388"/>
          <p:cNvSpPr/>
          <p:nvPr/>
        </p:nvSpPr>
        <p:spPr>
          <a:xfrm>
            <a:off x="960120"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0" name="Rectangle 389"/>
          <p:cNvSpPr/>
          <p:nvPr/>
        </p:nvSpPr>
        <p:spPr>
          <a:xfrm>
            <a:off x="2075688"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1111</a:t>
            </a:r>
          </a:p>
        </p:txBody>
      </p:sp>
      <p:sp>
        <p:nvSpPr>
          <p:cNvPr id="391" name="Rectangle 390"/>
          <p:cNvSpPr/>
          <p:nvPr/>
        </p:nvSpPr>
        <p:spPr>
          <a:xfrm>
            <a:off x="2075688"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F</a:t>
            </a:r>
          </a:p>
        </p:txBody>
      </p:sp>
      <p:sp>
        <p:nvSpPr>
          <p:cNvPr id="392" name="Rectangle 391"/>
          <p:cNvSpPr/>
          <p:nvPr/>
        </p:nvSpPr>
        <p:spPr>
          <a:xfrm>
            <a:off x="3191256"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1000</a:t>
            </a:r>
          </a:p>
        </p:txBody>
      </p:sp>
      <p:sp>
        <p:nvSpPr>
          <p:cNvPr id="393" name="Rectangle 392"/>
          <p:cNvSpPr/>
          <p:nvPr/>
        </p:nvSpPr>
        <p:spPr>
          <a:xfrm>
            <a:off x="3191256"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8</a:t>
            </a:r>
          </a:p>
        </p:txBody>
      </p:sp>
      <p:sp>
        <p:nvSpPr>
          <p:cNvPr id="394" name="Rectangle 393"/>
          <p:cNvSpPr/>
          <p:nvPr/>
        </p:nvSpPr>
        <p:spPr>
          <a:xfrm>
            <a:off x="4306824"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1001</a:t>
            </a:r>
          </a:p>
        </p:txBody>
      </p:sp>
      <p:sp>
        <p:nvSpPr>
          <p:cNvPr id="395" name="Rectangle 394"/>
          <p:cNvSpPr/>
          <p:nvPr/>
        </p:nvSpPr>
        <p:spPr>
          <a:xfrm>
            <a:off x="4306824"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9</a:t>
            </a:r>
          </a:p>
        </p:txBody>
      </p:sp>
      <p:sp>
        <p:nvSpPr>
          <p:cNvPr id="396" name="Rectangle 395"/>
          <p:cNvSpPr/>
          <p:nvPr/>
        </p:nvSpPr>
        <p:spPr>
          <a:xfrm>
            <a:off x="5422392"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1001</a:t>
            </a:r>
          </a:p>
        </p:txBody>
      </p:sp>
      <p:sp>
        <p:nvSpPr>
          <p:cNvPr id="397" name="Rectangle 396"/>
          <p:cNvSpPr/>
          <p:nvPr/>
        </p:nvSpPr>
        <p:spPr>
          <a:xfrm>
            <a:off x="5422392"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9</a:t>
            </a:r>
          </a:p>
        </p:txBody>
      </p:sp>
      <p:sp>
        <p:nvSpPr>
          <p:cNvPr id="398" name="Rectangle 397"/>
          <p:cNvSpPr/>
          <p:nvPr/>
        </p:nvSpPr>
        <p:spPr>
          <a:xfrm>
            <a:off x="6537959"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1011</a:t>
            </a:r>
          </a:p>
        </p:txBody>
      </p:sp>
      <p:sp>
        <p:nvSpPr>
          <p:cNvPr id="399" name="Rectangle 398"/>
          <p:cNvSpPr/>
          <p:nvPr/>
        </p:nvSpPr>
        <p:spPr>
          <a:xfrm>
            <a:off x="6537959"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B</a:t>
            </a:r>
          </a:p>
        </p:txBody>
      </p:sp>
      <p:sp>
        <p:nvSpPr>
          <p:cNvPr id="400" name="Rectangle 399"/>
          <p:cNvSpPr/>
          <p:nvPr/>
        </p:nvSpPr>
        <p:spPr>
          <a:xfrm>
            <a:off x="7653528" y="3154680"/>
            <a:ext cx="1115568"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1100</a:t>
            </a:r>
          </a:p>
        </p:txBody>
      </p:sp>
      <p:sp>
        <p:nvSpPr>
          <p:cNvPr id="401" name="Rectangle 400"/>
          <p:cNvSpPr/>
          <p:nvPr/>
        </p:nvSpPr>
        <p:spPr>
          <a:xfrm>
            <a:off x="7653528" y="3721608"/>
            <a:ext cx="1115568"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C</a:t>
            </a:r>
          </a:p>
        </p:txBody>
      </p:sp>
      <p:sp>
        <p:nvSpPr>
          <p:cNvPr id="402" name="TextBox 401"/>
          <p:cNvSpPr txBox="1"/>
          <p:nvPr/>
        </p:nvSpPr>
        <p:spPr>
          <a:xfrm>
            <a:off x="822960" y="2331720"/>
            <a:ext cx="8412480" cy="310896"/>
          </a:xfrm>
          <a:prstGeom prst="rect">
            <a:avLst/>
          </a:prstGeom>
          <a:noFill/>
        </p:spPr>
        <p:txBody>
          <a:bodyPr wrap="square" lIns="0" tIns="0" rIns="0" bIns="0">
            <a:spAutoFit/>
          </a:bodyPr>
          <a:lstStyle/>
          <a:p>
            <a:pPr algn="ctr"/>
            <a:r>
              <a:rPr sz="2400" b="0" i="0">
                <a:solidFill>
                  <a:srgbClr val="000000"/>
                </a:solidFill>
                <a:latin typeface="Cambria"/>
              </a:rPr>
              <a:t>0001 1111 1000 1001 1001 1011 1100</a:t>
            </a:r>
          </a:p>
        </p:txBody>
      </p:sp>
      <p:sp>
        <p:nvSpPr>
          <p:cNvPr id="403" name="TextBox 402"/>
          <p:cNvSpPr txBox="1"/>
          <p:nvPr/>
        </p:nvSpPr>
        <p:spPr>
          <a:xfrm>
            <a:off x="822960" y="4572000"/>
            <a:ext cx="8412480" cy="310896"/>
          </a:xfrm>
          <a:prstGeom prst="rect">
            <a:avLst/>
          </a:prstGeom>
          <a:noFill/>
        </p:spPr>
        <p:txBody>
          <a:bodyPr wrap="square" lIns="0" tIns="0" rIns="0" bIns="0">
            <a:spAutoFit/>
          </a:bodyPr>
          <a:lstStyle/>
          <a:p>
            <a:pPr algn="ctr"/>
            <a:r>
              <a:rPr sz="2800" b="0" i="0">
                <a:solidFill>
                  <a:srgbClr val="000000"/>
                </a:solidFill>
                <a:latin typeface="Cambria"/>
              </a:rPr>
              <a:t>=    </a:t>
            </a:r>
            <a:r>
              <a:rPr sz="2800" b="1" i="0">
                <a:solidFill>
                  <a:srgbClr val="000000"/>
                </a:solidFill>
                <a:latin typeface="Cambria"/>
              </a:rPr>
              <a:t>0x1F899BC</a:t>
            </a:r>
          </a:p>
        </p:txBody>
      </p:sp>
      <p:sp>
        <p:nvSpPr>
          <p:cNvPr id="404" name="TextBox 403"/>
          <p:cNvSpPr txBox="1"/>
          <p:nvPr/>
        </p:nvSpPr>
        <p:spPr>
          <a:xfrm>
            <a:off x="822960" y="5166360"/>
            <a:ext cx="8412480" cy="310896"/>
          </a:xfrm>
          <a:prstGeom prst="rect">
            <a:avLst/>
          </a:prstGeom>
          <a:noFill/>
        </p:spPr>
        <p:txBody>
          <a:bodyPr wrap="square" lIns="0" tIns="0" rIns="0" bIns="0">
            <a:spAutoFit/>
          </a:bodyPr>
          <a:lstStyle/>
          <a:p>
            <a:pPr algn="ctr"/>
            <a:r>
              <a:rPr sz="2000" b="0" i="1">
                <a:solidFill>
                  <a:srgbClr val="000000"/>
                </a:solidFill>
                <a:latin typeface="Cambria"/>
              </a:rPr>
              <a:t>Group the bits by four </a:t>
            </a:r>
            <a:r>
              <a:rPr sz="2000" b="1" i="1">
                <a:solidFill>
                  <a:srgbClr val="000000"/>
                </a:solidFill>
                <a:latin typeface="Cambria"/>
              </a:rPr>
              <a:t>from the right</a:t>
            </a:r>
            <a:r>
              <a:rPr sz="2000" b="0" i="1">
                <a:solidFill>
                  <a:srgbClr val="000000"/>
                </a:solidFill>
                <a:latin typeface="Cambria"/>
              </a:rPr>
              <a:t>, then name each group</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One Byte, Two Digits</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548640" algn="l"/>
                <a:tab pos="1737360" algn="l"/>
                <a:tab pos="3108960" algn="l"/>
              </a:tabLst>
            </a:pPr>
            <a:r>
              <a:rPr sz="2300" b="0">
                <a:latin typeface="Cambria"/>
              </a:rPr>
              <a:t>8 bits  =  2 hex digits</a:t>
            </a:r>
          </a:p>
          <a:p>
            <a:pPr>
              <a:tabLst>
                <a:tab pos="548640" algn="l"/>
                <a:tab pos="1737360" algn="l"/>
                <a:tab pos="3108960" algn="l"/>
              </a:tabLst>
            </a:pPr>
            <a:r>
              <a:rPr sz="2300">
                <a:latin typeface="Cambria"/>
              </a:rPr>
              <a:t> </a:t>
            </a:r>
          </a:p>
          <a:p>
            <a:pPr>
              <a:tabLst>
                <a:tab pos="548640" algn="l"/>
                <a:tab pos="1737360" algn="l"/>
                <a:tab pos="3108960" algn="l"/>
              </a:tabLst>
            </a:pPr>
            <a:r>
              <a:rPr sz="2300" b="0">
                <a:latin typeface="Cambria"/>
              </a:rPr>
              <a:t>	0x00	=  0</a:t>
            </a:r>
          </a:p>
          <a:p>
            <a:pPr>
              <a:tabLst>
                <a:tab pos="548640" algn="l"/>
                <a:tab pos="1737360" algn="l"/>
                <a:tab pos="3108960" algn="l"/>
              </a:tabLst>
            </a:pPr>
            <a:r>
              <a:rPr sz="2300" b="0">
                <a:latin typeface="Cambria"/>
              </a:rPr>
              <a:t>	0x0F	=  15</a:t>
            </a:r>
          </a:p>
          <a:p>
            <a:pPr>
              <a:tabLst>
                <a:tab pos="548640" algn="l"/>
                <a:tab pos="1737360" algn="l"/>
                <a:tab pos="3108960" algn="l"/>
              </a:tabLst>
            </a:pPr>
            <a:r>
              <a:rPr sz="2300" b="0">
                <a:latin typeface="Cambria"/>
              </a:rPr>
              <a:t>	0x80	=  128	( or −128 signed )</a:t>
            </a:r>
          </a:p>
          <a:p>
            <a:pPr>
              <a:tabLst>
                <a:tab pos="548640" algn="l"/>
                <a:tab pos="1737360" algn="l"/>
                <a:tab pos="3108960" algn="l"/>
              </a:tabLst>
            </a:pPr>
            <a:r>
              <a:rPr sz="2300" b="0">
                <a:latin typeface="Cambria"/>
              </a:rPr>
              <a:t>	0xFF	=  255	( or −1 signed )</a:t>
            </a:r>
          </a:p>
          <a:p>
            <a:pPr>
              <a:tabLst>
                <a:tab pos="548640" algn="l"/>
                <a:tab pos="1737360" algn="l"/>
                <a:tab pos="3108960" algn="l"/>
              </a:tabLst>
            </a:pPr>
            <a:r>
              <a:rPr sz="2300">
                <a:latin typeface="Cambria"/>
              </a:rPr>
              <a:t> </a:t>
            </a:r>
          </a:p>
          <a:p>
            <a:pPr>
              <a:tabLst>
                <a:tab pos="548640" algn="l"/>
                <a:tab pos="1737360" algn="l"/>
                <a:tab pos="3108960" algn="l"/>
              </a:tabLst>
            </a:pPr>
            <a:r>
              <a:rPr sz="2300" b="0">
                <a:latin typeface="Cambria"/>
              </a:rPr>
              <a:t>Memory dumps are written this way</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Writing Numbers in Code</a:t>
            </a:r>
            <a:endParaRPr lang="en-US" sz="40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1645920" algn="l"/>
                <a:tab pos="4206240" algn="l"/>
              </a:tabLst>
            </a:pPr>
            <a:r>
              <a:rPr sz="2200" b="0">
                <a:latin typeface="Cambria"/>
              </a:rPr>
              <a:t>	</a:t>
            </a:r>
            <a:r>
              <a:rPr sz="2200" b="1">
                <a:latin typeface="Cambria"/>
              </a:rPr>
              <a:t>C / C++</a:t>
            </a:r>
            <a:r>
              <a:rPr sz="2200" b="0">
                <a:latin typeface="Cambria"/>
              </a:rPr>
              <a:t>	</a:t>
            </a:r>
            <a:r>
              <a:rPr sz="2200" b="1">
                <a:latin typeface="Cambria"/>
              </a:rPr>
              <a:t>Rust</a:t>
            </a:r>
          </a:p>
          <a:p>
            <a:pPr>
              <a:tabLst>
                <a:tab pos="1645920" algn="l"/>
                <a:tab pos="4206240" algn="l"/>
              </a:tabLst>
            </a:pPr>
            <a:r>
              <a:rPr sz="2200">
                <a:latin typeface="Cambria"/>
              </a:rPr>
              <a:t> </a:t>
            </a:r>
          </a:p>
          <a:p>
            <a:pPr>
              <a:tabLst>
                <a:tab pos="1645920" algn="l"/>
                <a:tab pos="4206240" algn="l"/>
              </a:tabLst>
            </a:pPr>
            <a:r>
              <a:rPr sz="2200" b="0">
                <a:latin typeface="Cambria"/>
              </a:rPr>
              <a:t>decimal	255	255</a:t>
            </a:r>
          </a:p>
          <a:p>
            <a:pPr>
              <a:tabLst>
                <a:tab pos="1645920" algn="l"/>
                <a:tab pos="4206240" algn="l"/>
              </a:tabLst>
            </a:pPr>
            <a:r>
              <a:rPr sz="2200" b="0">
                <a:latin typeface="Cambria"/>
              </a:rPr>
              <a:t>hex	0x1F	0x1F</a:t>
            </a:r>
          </a:p>
          <a:p>
            <a:pPr>
              <a:tabLst>
                <a:tab pos="1645920" algn="l"/>
                <a:tab pos="4206240" algn="l"/>
              </a:tabLst>
            </a:pPr>
            <a:r>
              <a:rPr sz="2200" b="0">
                <a:latin typeface="Cambria"/>
              </a:rPr>
              <a:t>binary	0b1011  ( C23 )	0b1011</a:t>
            </a:r>
          </a:p>
          <a:p>
            <a:pPr>
              <a:tabLst>
                <a:tab pos="1645920" algn="l"/>
                <a:tab pos="4206240" algn="l"/>
              </a:tabLst>
            </a:pPr>
            <a:r>
              <a:rPr sz="2200" b="0">
                <a:latin typeface="Cambria"/>
              </a:rPr>
              <a:t>octal	017	0o17</a:t>
            </a:r>
          </a:p>
          <a:p>
            <a:pPr>
              <a:tabLst>
                <a:tab pos="1645920" algn="l"/>
                <a:tab pos="4206240" algn="l"/>
              </a:tabLst>
            </a:pPr>
            <a:r>
              <a:rPr sz="2200" b="0">
                <a:latin typeface="Cambria"/>
              </a:rPr>
              <a:t>readable	1'000'000	1_000_000</a:t>
            </a:r>
          </a:p>
          <a:p>
            <a:pPr>
              <a:tabLst>
                <a:tab pos="1645920" algn="l"/>
                <a:tab pos="4206240" algn="l"/>
              </a:tabLst>
            </a:pPr>
            <a:r>
              <a:rPr sz="2200">
                <a:latin typeface="Cambria"/>
              </a:rPr>
              <a:t> </a:t>
            </a:r>
          </a:p>
          <a:p>
            <a:pPr>
              <a:tabLst>
                <a:tab pos="1645920" algn="l"/>
                <a:tab pos="4206240" algn="l"/>
              </a:tabLst>
            </a:pPr>
            <a:r>
              <a:rPr sz="2200" b="0">
                <a:latin typeface="Cambria"/>
              </a:rPr>
              <a:t>All of these are the </a:t>
            </a:r>
            <a:r>
              <a:rPr sz="2200" b="1">
                <a:latin typeface="Cambria"/>
              </a:rPr>
              <a:t>same bits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Printing in Hex</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777240" algn="l"/>
                <a:tab pos="4206240" algn="l"/>
              </a:tabLst>
            </a:pPr>
            <a:r>
              <a:rPr sz="2000" b="0">
                <a:latin typeface="Cambria"/>
              </a:rPr>
              <a:t>C:	printf ( "%x  %X  %#010x\n", v, v, v ) ;</a:t>
            </a:r>
          </a:p>
          <a:p>
            <a:pPr>
              <a:tabLst>
                <a:tab pos="777240" algn="l"/>
                <a:tab pos="4206240" algn="l"/>
              </a:tabLst>
            </a:pPr>
            <a:r>
              <a:rPr sz="2000">
                <a:latin typeface="Cambria"/>
              </a:rPr>
              <a:t> </a:t>
            </a:r>
          </a:p>
          <a:p>
            <a:pPr>
              <a:tabLst>
                <a:tab pos="777240" algn="l"/>
                <a:tab pos="4206240" algn="l"/>
              </a:tabLst>
            </a:pPr>
            <a:r>
              <a:rPr sz="2000" b="0">
                <a:latin typeface="Cambria"/>
              </a:rPr>
              <a:t>C++:	std::cout &lt;&lt; std::hex &lt;&lt; v ;</a:t>
            </a:r>
          </a:p>
          <a:p>
            <a:pPr>
              <a:tabLst>
                <a:tab pos="777240" algn="l"/>
                <a:tab pos="4206240" algn="l"/>
              </a:tabLst>
            </a:pPr>
            <a:r>
              <a:rPr sz="2000">
                <a:latin typeface="Cambria"/>
              </a:rPr>
              <a:t> </a:t>
            </a:r>
          </a:p>
          <a:p>
            <a:pPr>
              <a:tabLst>
                <a:tab pos="777240" algn="l"/>
                <a:tab pos="4206240" algn="l"/>
              </a:tabLst>
            </a:pPr>
            <a:r>
              <a:rPr sz="2000" b="0">
                <a:latin typeface="Cambria"/>
              </a:rPr>
              <a:t>Rust:	println! ( "{:x}  {:#06x}  {:#b}", v, v, v ) ;</a:t>
            </a:r>
          </a:p>
          <a:p>
            <a:pPr>
              <a:tabLst>
                <a:tab pos="777240" algn="l"/>
                <a:tab pos="4206240" algn="l"/>
              </a:tabLst>
            </a:pPr>
            <a:r>
              <a:rPr sz="2000">
                <a:latin typeface="Cambria"/>
              </a:rPr>
              <a:t> </a:t>
            </a:r>
          </a:p>
          <a:p>
            <a:pPr>
              <a:tabLst>
                <a:tab pos="777240" algn="l"/>
                <a:tab pos="4206240" algn="l"/>
              </a:tabLst>
            </a:pPr>
            <a:r>
              <a:rPr sz="2000" b="0">
                <a:latin typeface="Cambria"/>
              </a:rPr>
              <a:t>The debugger will show you hex too:</a:t>
            </a:r>
          </a:p>
          <a:p>
            <a:pPr>
              <a:tabLst>
                <a:tab pos="777240" algn="l"/>
                <a:tab pos="4206240" algn="l"/>
              </a:tabLst>
            </a:pPr>
            <a:r>
              <a:rPr sz="2000" b="0">
                <a:latin typeface="Cambria"/>
              </a:rPr>
              <a:t>	(gdb) p/x v	(gdb) x/16xb &amp;v</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to Remember</a:t>
            </a:r>
            <a:endParaRPr lang="en-US" sz="4400" b="0" u="none" strike="noStrike" dirty="0">
              <a:solidFill>
                <a:srgbClr val="000000"/>
              </a:solidFill>
              <a:effectLst/>
              <a:uFillTx/>
              <a:latin typeface="Arial"/>
            </a:endParaRPr>
          </a:p>
        </p:txBody>
      </p:sp>
      <p:sp>
        <p:nvSpPr>
          <p:cNvPr id="388" name="TextBox 387"/>
          <p:cNvSpPr txBox="1"/>
          <p:nvPr/>
        </p:nvSpPr>
        <p:spPr>
          <a:xfrm>
            <a:off x="735357" y="1788467"/>
            <a:ext cx="8846825" cy="5755333"/>
          </a:xfrm>
          <a:prstGeom prst="rect">
            <a:avLst/>
          </a:prstGeom>
          <a:noFill/>
        </p:spPr>
        <p:txBody>
          <a:bodyPr wrap="square">
            <a:spAutoFit/>
          </a:bodyPr>
          <a:lstStyle/>
          <a:p>
            <a:pPr>
              <a:tabLst>
                <a:tab pos="3108960" algn="l"/>
              </a:tabLst>
            </a:pPr>
            <a:r>
              <a:rPr sz="2300" b="0">
                <a:latin typeface="Cambria"/>
              </a:rPr>
              <a:t>Bits are </a:t>
            </a:r>
            <a:r>
              <a:rPr sz="2300" b="1">
                <a:latin typeface="Cambria"/>
              </a:rPr>
              <a:t>patterns</a:t>
            </a:r>
            <a:r>
              <a:rPr sz="2300" b="0">
                <a:latin typeface="Cambria"/>
              </a:rPr>
              <a:t>;  meaning is a </a:t>
            </a:r>
            <a:r>
              <a:rPr sz="2300" b="1">
                <a:latin typeface="Cambria"/>
              </a:rPr>
              <a:t>choice</a:t>
            </a:r>
          </a:p>
          <a:p>
            <a:pPr>
              <a:tabLst>
                <a:tab pos="3108960" algn="l"/>
              </a:tabLst>
            </a:pPr>
            <a:r>
              <a:rPr sz="2300">
                <a:latin typeface="Cambria"/>
              </a:rPr>
              <a:t> </a:t>
            </a:r>
          </a:p>
          <a:p>
            <a:pPr>
              <a:tabLst>
                <a:tab pos="3108960" algn="l"/>
              </a:tabLst>
            </a:pPr>
            <a:r>
              <a:rPr sz="2300" b="1">
                <a:latin typeface="Cambria"/>
              </a:rPr>
              <a:t>Unsigned</a:t>
            </a:r>
            <a:r>
              <a:rPr sz="2300" b="0">
                <a:latin typeface="Cambria"/>
              </a:rPr>
              <a:t>	positional powers of 2</a:t>
            </a:r>
          </a:p>
          <a:p>
            <a:pPr>
              <a:tabLst>
                <a:tab pos="3108960" algn="l"/>
              </a:tabLst>
            </a:pPr>
            <a:r>
              <a:rPr sz="2300">
                <a:latin typeface="Cambria"/>
              </a:rPr>
              <a:t> </a:t>
            </a:r>
          </a:p>
          <a:p>
            <a:pPr>
              <a:tabLst>
                <a:tab pos="3108960" algn="l"/>
              </a:tabLst>
            </a:pPr>
            <a:r>
              <a:rPr sz="2300" b="1">
                <a:latin typeface="Cambria"/>
              </a:rPr>
              <a:t>Two's complement</a:t>
            </a:r>
            <a:r>
              <a:rPr sz="2300" b="0">
                <a:latin typeface="Cambria"/>
              </a:rPr>
              <a:t>	flip and add 1</a:t>
            </a:r>
          </a:p>
          <a:p>
            <a:pPr>
              <a:tabLst>
                <a:tab pos="3108960" algn="l"/>
              </a:tabLst>
            </a:pPr>
            <a:r>
              <a:rPr sz="2300">
                <a:latin typeface="Cambria"/>
              </a:rPr>
              <a:t> </a:t>
            </a:r>
          </a:p>
          <a:p>
            <a:pPr>
              <a:tabLst>
                <a:tab pos="3108960" algn="l"/>
              </a:tabLst>
            </a:pPr>
            <a:r>
              <a:rPr sz="2300" b="1">
                <a:latin typeface="Cambria"/>
              </a:rPr>
              <a:t>Hex</a:t>
            </a:r>
            <a:r>
              <a:rPr sz="2300" b="0">
                <a:latin typeface="Cambria"/>
              </a:rPr>
              <a:t>	four bits per digit</a:t>
            </a:r>
          </a:p>
          <a:p>
            <a:pPr>
              <a:tabLst>
                <a:tab pos="3108960" algn="l"/>
              </a:tabLst>
            </a:pPr>
            <a:r>
              <a:rPr sz="2300">
                <a:latin typeface="Cambria"/>
              </a:rPr>
              <a:t> </a:t>
            </a:r>
          </a:p>
          <a:p>
            <a:pPr>
              <a:tabLst>
                <a:tab pos="3108960" algn="l"/>
              </a:tabLst>
            </a:pPr>
            <a:r>
              <a:rPr sz="2300" b="0">
                <a:latin typeface="Cambria"/>
              </a:rPr>
              <a:t>Now back to memory and addresses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Location of Storage</a:t>
            </a:r>
            <a:endParaRPr lang="en-US" sz="4400" b="0" u="none" strike="noStrike" dirty="0">
              <a:solidFill>
                <a:srgbClr val="000000"/>
              </a:solidFill>
              <a:effectLst/>
              <a:uFillTx/>
              <a:latin typeface="Arial"/>
            </a:endParaRPr>
          </a:p>
        </p:txBody>
      </p:sp>
      <p:grpSp>
        <p:nvGrpSpPr>
          <p:cNvPr id="4" name="Group 3"/>
          <p:cNvGrpSpPr/>
          <p:nvPr/>
        </p:nvGrpSpPr>
        <p:grpSpPr>
          <a:xfrm>
            <a:off x="3011321" y="4939610"/>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735357" y="1788467"/>
            <a:ext cx="8846825" cy="5262979"/>
          </a:xfrm>
          <a:prstGeom prst="rect">
            <a:avLst/>
          </a:prstGeom>
          <a:noFill/>
        </p:spPr>
        <p:txBody>
          <a:bodyPr wrap="square" rtlCol="0">
            <a:spAutoFit/>
          </a:bodyPr>
          <a:lstStyle/>
          <a:p>
            <a:r>
              <a:rPr lang="en-US" sz="2800" dirty="0" smtClean="0"/>
              <a:t>Address is the location of memory or symbol (variable)</a:t>
            </a:r>
          </a:p>
          <a:p>
            <a:endParaRPr lang="en-US" sz="2800" dirty="0"/>
          </a:p>
          <a:p>
            <a:r>
              <a:rPr lang="en-US" sz="2800" dirty="0" smtClean="0"/>
              <a:t>The computer knows them as unsigned integers</a:t>
            </a:r>
          </a:p>
          <a:p>
            <a:endParaRPr lang="en-US" sz="2800" dirty="0"/>
          </a:p>
          <a:p>
            <a:r>
              <a:rPr lang="en-US" sz="2800" dirty="0" smtClean="0"/>
              <a:t>Unsigned integers start at 0 and go to 2</a:t>
            </a:r>
            <a:r>
              <a:rPr lang="en-US" sz="2800" baseline="30000" dirty="0" smtClean="0"/>
              <a:t>numbits</a:t>
            </a:r>
            <a:r>
              <a:rPr lang="en-US" sz="2800" dirty="0" smtClean="0"/>
              <a:t> – 1 in binary</a:t>
            </a:r>
            <a:endParaRPr lang="en-US" sz="2800" dirty="0"/>
          </a:p>
          <a:p>
            <a:endParaRPr lang="en-US" sz="2800" dirty="0"/>
          </a:p>
          <a:p>
            <a:r>
              <a:rPr lang="en-US" sz="2800" dirty="0" smtClean="0"/>
              <a:t>Too difficult for humans to keep track of these numbers</a:t>
            </a:r>
          </a:p>
          <a:p>
            <a:endParaRPr lang="en-US" sz="2800" dirty="0"/>
          </a:p>
          <a:p>
            <a:r>
              <a:rPr lang="en-US" sz="2800" dirty="0"/>
              <a:t>                                                              </a:t>
            </a:r>
            <a:r>
              <a:rPr lang="en-US" sz="2800" dirty="0" smtClean="0"/>
              <a:t> </a:t>
            </a:r>
          </a:p>
          <a:p>
            <a:r>
              <a:rPr lang="en-US" sz="2800" dirty="0">
                <a:latin typeface="Arial" panose="020B0604020202020204" pitchFamily="34" charset="0"/>
                <a:cs typeface="Arial" panose="020B0604020202020204" pitchFamily="34" charset="0"/>
              </a:rPr>
              <a:t> </a:t>
            </a:r>
            <a:r>
              <a:rPr lang="en-US" sz="2800" dirty="0" smtClean="0">
                <a:latin typeface="Arial" panose="020B0604020202020204" pitchFamily="34" charset="0"/>
                <a:cs typeface="Arial" panose="020B0604020202020204" pitchFamily="34" charset="0"/>
              </a:rPr>
              <a:t>                                                  </a:t>
            </a:r>
          </a:p>
          <a:p>
            <a:r>
              <a:rPr lang="en-US" sz="2800" dirty="0">
                <a:latin typeface="Arial" panose="020B0604020202020204" pitchFamily="34" charset="0"/>
                <a:cs typeface="Arial" panose="020B0604020202020204" pitchFamily="34" charset="0"/>
              </a:rPr>
              <a:t> </a:t>
            </a:r>
            <a:r>
              <a:rPr lang="en-US" sz="2800" dirty="0" smtClean="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0x1F899BC</a:t>
            </a:r>
            <a:endParaRPr lang="en-US" sz="2400" dirty="0">
              <a:latin typeface="Arial" panose="020B0604020202020204" pitchFamily="34" charset="0"/>
              <a:cs typeface="Arial" panose="020B0604020202020204" pitchFamily="34" charset="0"/>
            </a:endParaRPr>
          </a:p>
          <a:p>
            <a:endParaRPr lang="en-US" sz="2800" dirty="0"/>
          </a:p>
        </p:txBody>
      </p:sp>
      <p:sp>
        <p:nvSpPr>
          <p:cNvPr id="7" name="TextBox 6"/>
          <p:cNvSpPr txBox="1"/>
          <p:nvPr/>
        </p:nvSpPr>
        <p:spPr>
          <a:xfrm>
            <a:off x="1370447" y="5787291"/>
            <a:ext cx="8211735" cy="1107996"/>
          </a:xfrm>
          <a:prstGeom prst="rect">
            <a:avLst/>
          </a:prstGeom>
          <a:noFill/>
        </p:spPr>
        <p:txBody>
          <a:bodyPr wrap="square" rtlCol="0">
            <a:spAutoFit/>
          </a:bodyPr>
          <a:lstStyle/>
          <a:p>
            <a:r>
              <a:rPr lang="en-US" sz="6600" i="1" strike="sngStrike" dirty="0" smtClean="0">
                <a:solidFill>
                  <a:srgbClr val="FF0000"/>
                </a:solidFill>
              </a:rPr>
              <a:t>Assembly language</a:t>
            </a:r>
            <a:endParaRPr lang="en-US" sz="6600" i="1" strike="sngStrike" dirty="0">
              <a:solidFill>
                <a:srgbClr val="FF0000"/>
              </a:solidFill>
            </a:endParaRPr>
          </a:p>
        </p:txBody>
      </p:sp>
    </p:spTree>
    <p:extLst>
      <p:ext uri="{BB962C8B-B14F-4D97-AF65-F5344CB8AC3E}">
        <p14:creationId xmlns:p14="http://schemas.microsoft.com/office/powerpoint/2010/main" val="3462682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Symbol</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407681" y="1816080"/>
            <a:ext cx="9650719" cy="2246769"/>
          </a:xfrm>
          <a:prstGeom prst="rect">
            <a:avLst/>
          </a:prstGeom>
          <a:noFill/>
        </p:spPr>
        <p:txBody>
          <a:bodyPr wrap="square" rtlCol="0">
            <a:spAutoFit/>
          </a:bodyPr>
          <a:lstStyle/>
          <a:p>
            <a:r>
              <a:rPr lang="en-US" sz="2800" dirty="0" smtClean="0"/>
              <a:t>To make it easier, we associate a symbolic name with the address</a:t>
            </a:r>
          </a:p>
          <a:p>
            <a:endParaRPr lang="en-US" sz="2800" dirty="0"/>
          </a:p>
          <a:p>
            <a:r>
              <a:rPr lang="en-US" sz="2800" dirty="0" smtClean="0"/>
              <a:t>This is known as a symbol</a:t>
            </a:r>
          </a:p>
          <a:p>
            <a:endParaRPr lang="en-US" sz="2800" dirty="0"/>
          </a:p>
          <a:p>
            <a:r>
              <a:rPr lang="en-US" sz="2800" dirty="0" smtClean="0"/>
              <a:t>Loosely called a variable</a:t>
            </a:r>
            <a:endParaRPr lang="en-US" sz="2800" dirty="0"/>
          </a:p>
        </p:txBody>
      </p:sp>
      <p:sp>
        <p:nvSpPr>
          <p:cNvPr id="6" name="TextBox 5"/>
          <p:cNvSpPr txBox="1"/>
          <p:nvPr/>
        </p:nvSpPr>
        <p:spPr>
          <a:xfrm>
            <a:off x="6223663" y="4539712"/>
            <a:ext cx="1405862" cy="369332"/>
          </a:xfrm>
          <a:prstGeom prst="rect">
            <a:avLst/>
          </a:prstGeom>
          <a:noFill/>
        </p:spPr>
        <p:txBody>
          <a:bodyPr wrap="square" rtlCol="0">
            <a:spAutoFit/>
          </a:bodyPr>
          <a:lstStyle/>
          <a:p>
            <a:r>
              <a:rPr lang="en-US" dirty="0" smtClean="0"/>
              <a:t>0x1F899BC</a:t>
            </a:r>
            <a:endParaRPr lang="en-US" dirty="0"/>
          </a:p>
        </p:txBody>
      </p:sp>
    </p:spTree>
    <p:extLst>
      <p:ext uri="{BB962C8B-B14F-4D97-AF65-F5344CB8AC3E}">
        <p14:creationId xmlns:p14="http://schemas.microsoft.com/office/powerpoint/2010/main" val="2078421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But not the value</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735356" y="1788467"/>
            <a:ext cx="8951655" cy="2523768"/>
          </a:xfrm>
          <a:prstGeom prst="rect">
            <a:avLst/>
          </a:prstGeom>
          <a:noFill/>
        </p:spPr>
        <p:txBody>
          <a:bodyPr wrap="square" rtlCol="0">
            <a:spAutoFit/>
          </a:bodyPr>
          <a:lstStyle/>
          <a:p>
            <a:r>
              <a:rPr lang="en-US" sz="2800" dirty="0" smtClean="0"/>
              <a:t>The symbol is not the computed value</a:t>
            </a:r>
          </a:p>
          <a:p>
            <a:r>
              <a:rPr lang="en-US" sz="2800" dirty="0" smtClean="0"/>
              <a:t>The address is a location</a:t>
            </a:r>
          </a:p>
          <a:p>
            <a:r>
              <a:rPr lang="en-US" sz="2800" dirty="0" smtClean="0"/>
              <a:t>We need the contents of the address</a:t>
            </a:r>
          </a:p>
          <a:p>
            <a:r>
              <a:rPr lang="en-US" sz="2800" dirty="0" smtClean="0"/>
              <a:t>The contents of sum is 55</a:t>
            </a:r>
          </a:p>
          <a:p>
            <a:r>
              <a:rPr lang="en-US" sz="2800" dirty="0" smtClean="0"/>
              <a:t>The address is 0x1F899BC</a:t>
            </a:r>
          </a:p>
          <a:p>
            <a:r>
              <a:rPr lang="en-US" b="1" dirty="0" smtClean="0">
                <a:solidFill>
                  <a:srgbClr val="FF0000"/>
                </a:solidFill>
              </a:rPr>
              <a:t>N</a:t>
            </a:r>
            <a:r>
              <a:rPr lang="en-US" b="1" dirty="0" smtClean="0">
                <a:solidFill>
                  <a:srgbClr val="FF0000"/>
                </a:solidFill>
              </a:rPr>
              <a:t>otice address is now written in hex due to size and convention</a:t>
            </a:r>
            <a:endParaRPr lang="en-US" b="1" dirty="0">
              <a:solidFill>
                <a:srgbClr val="FF0000"/>
              </a:solidFill>
            </a:endParaRPr>
          </a:p>
        </p:txBody>
      </p:sp>
      <p:sp>
        <p:nvSpPr>
          <p:cNvPr id="6" name="TextBox 5"/>
          <p:cNvSpPr txBox="1"/>
          <p:nvPr/>
        </p:nvSpPr>
        <p:spPr>
          <a:xfrm>
            <a:off x="7078260" y="5149770"/>
            <a:ext cx="1405862" cy="369332"/>
          </a:xfrm>
          <a:prstGeom prst="rect">
            <a:avLst/>
          </a:prstGeom>
          <a:noFill/>
        </p:spPr>
        <p:txBody>
          <a:bodyPr wrap="square" rtlCol="0">
            <a:spAutoFit/>
          </a:bodyPr>
          <a:lstStyle/>
          <a:p>
            <a:r>
              <a:rPr lang="en-US" dirty="0" smtClean="0"/>
              <a:t>0x1F899BC</a:t>
            </a:r>
            <a:endParaRPr lang="en-US" dirty="0"/>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10" name="TextBox 9"/>
          <p:cNvSpPr txBox="1"/>
          <p:nvPr/>
        </p:nvSpPr>
        <p:spPr>
          <a:xfrm>
            <a:off x="7888956" y="4726539"/>
            <a:ext cx="1798056" cy="369332"/>
          </a:xfrm>
          <a:prstGeom prst="rect">
            <a:avLst/>
          </a:prstGeom>
          <a:noFill/>
        </p:spPr>
        <p:txBody>
          <a:bodyPr wrap="none" rtlCol="0">
            <a:spAutoFit/>
          </a:bodyPr>
          <a:lstStyle/>
          <a:p>
            <a:r>
              <a:rPr lang="en-US" dirty="0" smtClean="0"/>
              <a:t>Location in space</a:t>
            </a:r>
            <a:endParaRPr lang="en-US"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60464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Making an association</a:t>
            </a:r>
            <a:endParaRPr lang="en-US" sz="4400" b="0" u="none" strike="noStrike" dirty="0">
              <a:solidFill>
                <a:srgbClr val="000000"/>
              </a:solidFill>
              <a:effectLst/>
              <a:uFillTx/>
              <a:latin typeface="Arial"/>
            </a:endParaRPr>
          </a:p>
        </p:txBody>
      </p:sp>
      <p:sp>
        <p:nvSpPr>
          <p:cNvPr id="3" name="TextBox 2"/>
          <p:cNvSpPr txBox="1"/>
          <p:nvPr/>
        </p:nvSpPr>
        <p:spPr>
          <a:xfrm>
            <a:off x="735357" y="1788467"/>
            <a:ext cx="6778138" cy="2677656"/>
          </a:xfrm>
          <a:prstGeom prst="rect">
            <a:avLst/>
          </a:prstGeom>
          <a:noFill/>
        </p:spPr>
        <p:txBody>
          <a:bodyPr wrap="none" rtlCol="0">
            <a:spAutoFit/>
          </a:bodyPr>
          <a:lstStyle/>
          <a:p>
            <a:r>
              <a:rPr lang="en-US" sz="2800" dirty="0" smtClean="0"/>
              <a:t>Symbolically make an association.   </a:t>
            </a:r>
          </a:p>
          <a:p>
            <a:r>
              <a:rPr lang="en-US" sz="2800" dirty="0" smtClean="0"/>
              <a:t>Let</a:t>
            </a:r>
          </a:p>
          <a:p>
            <a:r>
              <a:rPr lang="en-US" sz="2800" dirty="0" smtClean="0"/>
              <a:t>   sum   be the address or location of memory</a:t>
            </a:r>
            <a:endParaRPr lang="en-US" sz="2800" dirty="0"/>
          </a:p>
          <a:p>
            <a:r>
              <a:rPr lang="en-US" sz="2800" dirty="0" smtClean="0"/>
              <a:t>  $sum  be the contents of memory </a:t>
            </a:r>
          </a:p>
          <a:p>
            <a:endParaRPr lang="en-US" sz="2800" dirty="0"/>
          </a:p>
          <a:p>
            <a:r>
              <a:rPr lang="en-US" sz="2800" dirty="0" smtClean="0"/>
              <a:t>Very clean and exact </a:t>
            </a:r>
          </a:p>
        </p:txBody>
      </p:sp>
      <p:sp>
        <p:nvSpPr>
          <p:cNvPr id="10" name="TextBox 9"/>
          <p:cNvSpPr txBox="1"/>
          <p:nvPr/>
        </p:nvSpPr>
        <p:spPr>
          <a:xfrm>
            <a:off x="7669881" y="5495634"/>
            <a:ext cx="1798056" cy="369332"/>
          </a:xfrm>
          <a:prstGeom prst="rect">
            <a:avLst/>
          </a:prstGeom>
          <a:noFill/>
        </p:spPr>
        <p:txBody>
          <a:bodyPr wrap="none" rtlCol="0">
            <a:spAutoFit/>
          </a:bodyPr>
          <a:lstStyle/>
          <a:p>
            <a:r>
              <a:rPr lang="en-US" dirty="0" smtClean="0"/>
              <a:t>Location in space</a:t>
            </a:r>
            <a:endParaRPr lang="en-US" dirty="0"/>
          </a:p>
        </p:txBody>
      </p:sp>
      <p:grpSp>
        <p:nvGrpSpPr>
          <p:cNvPr id="12" name="Group 11"/>
          <p:cNvGrpSpPr/>
          <p:nvPr/>
        </p:nvGrpSpPr>
        <p:grpSpPr>
          <a:xfrm>
            <a:off x="2394338" y="5151477"/>
            <a:ext cx="6665122" cy="2620923"/>
            <a:chOff x="2889638" y="4332327"/>
            <a:chExt cx="6665122" cy="2620923"/>
          </a:xfrm>
        </p:grpSpPr>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6" name="TextBox 5"/>
            <p:cNvSpPr txBox="1"/>
            <p:nvPr/>
          </p:nvSpPr>
          <p:spPr>
            <a:xfrm>
              <a:off x="7078260" y="5149770"/>
              <a:ext cx="1405862" cy="369332"/>
            </a:xfrm>
            <a:prstGeom prst="rect">
              <a:avLst/>
            </a:prstGeom>
            <a:noFill/>
          </p:spPr>
          <p:txBody>
            <a:bodyPr wrap="square" rtlCol="0">
              <a:spAutoFit/>
            </a:bodyPr>
            <a:lstStyle/>
            <a:p>
              <a:r>
                <a:rPr lang="en-US" dirty="0" smtClean="0"/>
                <a:t>0x1F899BC</a:t>
              </a:r>
              <a:endParaRPr lang="en-US" dirty="0"/>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1146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Associations in </a:t>
            </a:r>
          </a:p>
          <a:p>
            <a:pPr algn="ctr" defTabSz="914400">
              <a:lnSpc>
                <a:spcPct val="100000"/>
              </a:lnSpc>
            </a:pPr>
            <a:r>
              <a:rPr lang="en-US" sz="4400" b="1" dirty="0" smtClean="0">
                <a:solidFill>
                  <a:schemeClr val="lt1"/>
                </a:solidFill>
                <a:latin typeface="Arial"/>
              </a:rPr>
              <a:t>Computer Architecture</a:t>
            </a:r>
            <a:endParaRPr lang="en-US" sz="4400" b="0" u="none" strike="noStrike" dirty="0">
              <a:solidFill>
                <a:srgbClr val="000000"/>
              </a:solidFill>
              <a:effectLst/>
              <a:uFillTx/>
              <a:latin typeface="Arial"/>
            </a:endParaRPr>
          </a:p>
        </p:txBody>
      </p:sp>
      <p:grpSp>
        <p:nvGrpSpPr>
          <p:cNvPr id="385" name="Group 384"/>
          <p:cNvGrpSpPr/>
          <p:nvPr/>
        </p:nvGrpSpPr>
        <p:grpSpPr>
          <a:xfrm>
            <a:off x="1347019" y="1994721"/>
            <a:ext cx="8121487" cy="4459705"/>
            <a:chOff x="1347019" y="1994721"/>
            <a:chExt cx="8121487" cy="4459705"/>
          </a:xfrm>
        </p:grpSpPr>
        <p:sp>
          <p:nvSpPr>
            <p:cNvPr id="48" name="object 13"/>
            <p:cNvSpPr/>
            <p:nvPr/>
          </p:nvSpPr>
          <p:spPr>
            <a:xfrm>
              <a:off x="6170218" y="4607129"/>
              <a:ext cx="45167" cy="45023"/>
            </a:xfrm>
            <a:custGeom>
              <a:avLst/>
              <a:gdLst/>
              <a:ahLst/>
              <a:cxnLst/>
              <a:rect l="l" t="t" r="r" b="b"/>
              <a:pathLst>
                <a:path w="46531" h="46531">
                  <a:moveTo>
                    <a:pt x="0" y="0"/>
                  </a:moveTo>
                  <a:lnTo>
                    <a:pt x="12" y="46531"/>
                  </a:lnTo>
                  <a:lnTo>
                    <a:pt x="46531" y="23237"/>
                  </a:lnTo>
                  <a:lnTo>
                    <a:pt x="0" y="0"/>
                  </a:lnTo>
                  <a:close/>
                </a:path>
              </a:pathLst>
            </a:custGeom>
            <a:solidFill>
              <a:srgbClr val="000000"/>
            </a:solidFill>
          </p:spPr>
          <p:txBody>
            <a:bodyPr wrap="square" lIns="0" tIns="0" rIns="0" bIns="0" rtlCol="0">
              <a:noAutofit/>
            </a:bodyPr>
            <a:lstStyle/>
            <a:p>
              <a:endParaRPr/>
            </a:p>
          </p:txBody>
        </p:sp>
        <p:sp>
          <p:nvSpPr>
            <p:cNvPr id="49" name="object 14"/>
            <p:cNvSpPr/>
            <p:nvPr/>
          </p:nvSpPr>
          <p:spPr>
            <a:xfrm>
              <a:off x="6170218" y="4607129"/>
              <a:ext cx="45167" cy="45023"/>
            </a:xfrm>
            <a:custGeom>
              <a:avLst/>
              <a:gdLst/>
              <a:ahLst/>
              <a:cxnLst/>
              <a:rect l="l" t="t" r="r" b="b"/>
              <a:pathLst>
                <a:path w="46531" h="46531">
                  <a:moveTo>
                    <a:pt x="0" y="0"/>
                  </a:moveTo>
                  <a:lnTo>
                    <a:pt x="12" y="46531"/>
                  </a:lnTo>
                  <a:lnTo>
                    <a:pt x="46531" y="23237"/>
                  </a:lnTo>
                  <a:lnTo>
                    <a:pt x="0" y="0"/>
                  </a:lnTo>
                  <a:close/>
                </a:path>
              </a:pathLst>
            </a:custGeom>
            <a:ln w="15716">
              <a:solidFill>
                <a:srgbClr val="000000"/>
              </a:solidFill>
            </a:ln>
          </p:spPr>
          <p:txBody>
            <a:bodyPr wrap="square" lIns="0" tIns="0" rIns="0" bIns="0" rtlCol="0">
              <a:noAutofit/>
            </a:bodyPr>
            <a:lstStyle/>
            <a:p>
              <a:endParaRPr/>
            </a:p>
          </p:txBody>
        </p:sp>
        <p:sp>
          <p:nvSpPr>
            <p:cNvPr id="50" name="object 15"/>
            <p:cNvSpPr/>
            <p:nvPr/>
          </p:nvSpPr>
          <p:spPr>
            <a:xfrm>
              <a:off x="5970753" y="4629624"/>
              <a:ext cx="216407" cy="11"/>
            </a:xfrm>
            <a:custGeom>
              <a:avLst/>
              <a:gdLst/>
              <a:ahLst/>
              <a:cxnLst/>
              <a:rect l="l" t="t" r="r" b="b"/>
              <a:pathLst>
                <a:path w="222942" h="11">
                  <a:moveTo>
                    <a:pt x="205488" y="11"/>
                  </a:moveTo>
                  <a:lnTo>
                    <a:pt x="222942" y="0"/>
                  </a:lnTo>
                  <a:lnTo>
                    <a:pt x="0" y="0"/>
                  </a:lnTo>
                </a:path>
              </a:pathLst>
            </a:custGeom>
            <a:ln w="31432">
              <a:solidFill>
                <a:srgbClr val="000000"/>
              </a:solidFill>
            </a:ln>
          </p:spPr>
          <p:txBody>
            <a:bodyPr wrap="square" lIns="0" tIns="0" rIns="0" bIns="0" rtlCol="0">
              <a:noAutofit/>
            </a:bodyPr>
            <a:lstStyle/>
            <a:p>
              <a:endParaRPr/>
            </a:p>
          </p:txBody>
        </p:sp>
        <p:sp>
          <p:nvSpPr>
            <p:cNvPr id="51" name="object 16"/>
            <p:cNvSpPr/>
            <p:nvPr/>
          </p:nvSpPr>
          <p:spPr>
            <a:xfrm>
              <a:off x="5084656" y="2700443"/>
              <a:ext cx="2022022" cy="2590796"/>
            </a:xfrm>
            <a:custGeom>
              <a:avLst/>
              <a:gdLst/>
              <a:ahLst/>
              <a:cxnLst/>
              <a:rect l="l" t="t" r="r" b="b"/>
              <a:pathLst>
                <a:path w="2083083" h="2677579">
                  <a:moveTo>
                    <a:pt x="1905598" y="2586127"/>
                  </a:moveTo>
                  <a:lnTo>
                    <a:pt x="1882029" y="2586127"/>
                  </a:lnTo>
                  <a:lnTo>
                    <a:pt x="1882029" y="2677579"/>
                  </a:lnTo>
                  <a:lnTo>
                    <a:pt x="2083083" y="2677579"/>
                  </a:lnTo>
                  <a:lnTo>
                    <a:pt x="2083083" y="2665771"/>
                  </a:lnTo>
                  <a:lnTo>
                    <a:pt x="1905598" y="2665771"/>
                  </a:lnTo>
                  <a:lnTo>
                    <a:pt x="1893825" y="2653999"/>
                  </a:lnTo>
                  <a:lnTo>
                    <a:pt x="1905598" y="2653999"/>
                  </a:lnTo>
                  <a:lnTo>
                    <a:pt x="1905598" y="2586127"/>
                  </a:lnTo>
                  <a:close/>
                </a:path>
                <a:path w="2083083" h="2677579">
                  <a:moveTo>
                    <a:pt x="1905598" y="2653999"/>
                  </a:moveTo>
                  <a:lnTo>
                    <a:pt x="1893825" y="2653999"/>
                  </a:lnTo>
                  <a:lnTo>
                    <a:pt x="1905598" y="2665771"/>
                  </a:lnTo>
                  <a:lnTo>
                    <a:pt x="1905598" y="2653999"/>
                  </a:lnTo>
                  <a:close/>
                </a:path>
                <a:path w="2083083" h="2677579">
                  <a:moveTo>
                    <a:pt x="2059503" y="2653999"/>
                  </a:moveTo>
                  <a:lnTo>
                    <a:pt x="1905598" y="2653999"/>
                  </a:lnTo>
                  <a:lnTo>
                    <a:pt x="1905598" y="2665771"/>
                  </a:lnTo>
                  <a:lnTo>
                    <a:pt x="2059503" y="2665771"/>
                  </a:lnTo>
                  <a:lnTo>
                    <a:pt x="2059503" y="2653999"/>
                  </a:lnTo>
                  <a:close/>
                </a:path>
                <a:path w="2083083" h="2677579">
                  <a:moveTo>
                    <a:pt x="2059503" y="11783"/>
                  </a:moveTo>
                  <a:lnTo>
                    <a:pt x="2059503" y="2665771"/>
                  </a:lnTo>
                  <a:lnTo>
                    <a:pt x="2071298" y="2653999"/>
                  </a:lnTo>
                  <a:lnTo>
                    <a:pt x="2083083" y="2653999"/>
                  </a:lnTo>
                  <a:lnTo>
                    <a:pt x="2083083" y="23567"/>
                  </a:lnTo>
                  <a:lnTo>
                    <a:pt x="2071298" y="23567"/>
                  </a:lnTo>
                  <a:lnTo>
                    <a:pt x="2059503" y="11783"/>
                  </a:lnTo>
                  <a:close/>
                </a:path>
                <a:path w="2083083" h="2677579">
                  <a:moveTo>
                    <a:pt x="2083083" y="2653999"/>
                  </a:moveTo>
                  <a:lnTo>
                    <a:pt x="2071298" y="2653999"/>
                  </a:lnTo>
                  <a:lnTo>
                    <a:pt x="2059503" y="2665771"/>
                  </a:lnTo>
                  <a:lnTo>
                    <a:pt x="2083083" y="2665771"/>
                  </a:lnTo>
                  <a:lnTo>
                    <a:pt x="2083083" y="2653999"/>
                  </a:lnTo>
                  <a:close/>
                </a:path>
                <a:path w="2083083" h="2677579">
                  <a:moveTo>
                    <a:pt x="2083083" y="0"/>
                  </a:moveTo>
                  <a:lnTo>
                    <a:pt x="0" y="0"/>
                  </a:lnTo>
                  <a:lnTo>
                    <a:pt x="0" y="23567"/>
                  </a:lnTo>
                  <a:lnTo>
                    <a:pt x="2059503" y="23567"/>
                  </a:lnTo>
                  <a:lnTo>
                    <a:pt x="2059503" y="11783"/>
                  </a:lnTo>
                  <a:lnTo>
                    <a:pt x="2083083" y="11783"/>
                  </a:lnTo>
                  <a:lnTo>
                    <a:pt x="2083083" y="0"/>
                  </a:lnTo>
                  <a:close/>
                </a:path>
                <a:path w="2083083" h="2677579">
                  <a:moveTo>
                    <a:pt x="2083083" y="11783"/>
                  </a:moveTo>
                  <a:lnTo>
                    <a:pt x="2059503" y="11783"/>
                  </a:lnTo>
                  <a:lnTo>
                    <a:pt x="2071298" y="23567"/>
                  </a:lnTo>
                  <a:lnTo>
                    <a:pt x="2083083" y="23567"/>
                  </a:lnTo>
                  <a:lnTo>
                    <a:pt x="2083083" y="11783"/>
                  </a:lnTo>
                  <a:close/>
                </a:path>
              </a:pathLst>
            </a:custGeom>
            <a:solidFill>
              <a:srgbClr val="EB2D2E"/>
            </a:solidFill>
          </p:spPr>
          <p:txBody>
            <a:bodyPr wrap="square" lIns="0" tIns="0" rIns="0" bIns="0" rtlCol="0">
              <a:noAutofit/>
            </a:bodyPr>
            <a:lstStyle/>
            <a:p>
              <a:endParaRPr/>
            </a:p>
          </p:txBody>
        </p:sp>
        <p:sp>
          <p:nvSpPr>
            <p:cNvPr id="52" name="object 17"/>
            <p:cNvSpPr/>
            <p:nvPr/>
          </p:nvSpPr>
          <p:spPr>
            <a:xfrm>
              <a:off x="5084655" y="2700442"/>
              <a:ext cx="2022023" cy="2590797"/>
            </a:xfrm>
            <a:custGeom>
              <a:avLst/>
              <a:gdLst/>
              <a:ahLst/>
              <a:cxnLst/>
              <a:rect l="l" t="t" r="r" b="b"/>
              <a:pathLst>
                <a:path w="2083084" h="2677580">
                  <a:moveTo>
                    <a:pt x="1882029" y="2586128"/>
                  </a:moveTo>
                  <a:lnTo>
                    <a:pt x="1882029" y="2677580"/>
                  </a:lnTo>
                  <a:lnTo>
                    <a:pt x="2083084" y="2677580"/>
                  </a:lnTo>
                  <a:lnTo>
                    <a:pt x="2083084" y="0"/>
                  </a:lnTo>
                  <a:lnTo>
                    <a:pt x="0" y="0"/>
                  </a:lnTo>
                  <a:lnTo>
                    <a:pt x="0" y="23568"/>
                  </a:lnTo>
                  <a:lnTo>
                    <a:pt x="2071299" y="23568"/>
                  </a:lnTo>
                  <a:lnTo>
                    <a:pt x="2059504" y="2665773"/>
                  </a:lnTo>
                  <a:lnTo>
                    <a:pt x="1893826" y="2654000"/>
                  </a:lnTo>
                  <a:lnTo>
                    <a:pt x="1905599" y="2586128"/>
                  </a:lnTo>
                  <a:lnTo>
                    <a:pt x="1882029" y="2586128"/>
                  </a:lnTo>
                  <a:close/>
                </a:path>
              </a:pathLst>
            </a:custGeom>
            <a:ln w="3931">
              <a:solidFill>
                <a:srgbClr val="EB2D2E"/>
              </a:solidFill>
            </a:ln>
          </p:spPr>
          <p:txBody>
            <a:bodyPr wrap="square" lIns="0" tIns="0" rIns="0" bIns="0" rtlCol="0">
              <a:noAutofit/>
            </a:bodyPr>
            <a:lstStyle/>
            <a:p>
              <a:endParaRPr/>
            </a:p>
          </p:txBody>
        </p:sp>
        <p:sp>
          <p:nvSpPr>
            <p:cNvPr id="53" name="object 18"/>
            <p:cNvSpPr/>
            <p:nvPr/>
          </p:nvSpPr>
          <p:spPr>
            <a:xfrm>
              <a:off x="3191689" y="3056239"/>
              <a:ext cx="1496320" cy="3079839"/>
            </a:xfrm>
            <a:custGeom>
              <a:avLst/>
              <a:gdLst/>
              <a:ahLst/>
              <a:cxnLst/>
              <a:rect l="l" t="t" r="r" b="b"/>
              <a:pathLst>
                <a:path w="1541506" h="3183003">
                  <a:moveTo>
                    <a:pt x="0" y="3183003"/>
                  </a:moveTo>
                  <a:lnTo>
                    <a:pt x="0" y="0"/>
                  </a:lnTo>
                  <a:lnTo>
                    <a:pt x="1541506" y="0"/>
                  </a:lnTo>
                </a:path>
              </a:pathLst>
            </a:custGeom>
            <a:ln w="15716">
              <a:solidFill>
                <a:srgbClr val="EB2D2E"/>
              </a:solidFill>
            </a:ln>
          </p:spPr>
          <p:txBody>
            <a:bodyPr wrap="square" lIns="0" tIns="0" rIns="0" bIns="0" rtlCol="0">
              <a:noAutofit/>
            </a:bodyPr>
            <a:lstStyle/>
            <a:p>
              <a:endParaRPr/>
            </a:p>
          </p:txBody>
        </p:sp>
        <p:sp>
          <p:nvSpPr>
            <p:cNvPr id="54" name="object 19"/>
            <p:cNvSpPr/>
            <p:nvPr/>
          </p:nvSpPr>
          <p:spPr>
            <a:xfrm>
              <a:off x="5074481" y="2547555"/>
              <a:ext cx="2827595" cy="3563595"/>
            </a:xfrm>
            <a:custGeom>
              <a:avLst/>
              <a:gdLst/>
              <a:ahLst/>
              <a:cxnLst/>
              <a:rect l="l" t="t" r="r" b="b"/>
              <a:pathLst>
                <a:path w="2912982" h="3682963">
                  <a:moveTo>
                    <a:pt x="0" y="0"/>
                  </a:moveTo>
                  <a:lnTo>
                    <a:pt x="2912982" y="605"/>
                  </a:lnTo>
                  <a:lnTo>
                    <a:pt x="2912982" y="3682963"/>
                  </a:lnTo>
                  <a:lnTo>
                    <a:pt x="2222666" y="3682963"/>
                  </a:lnTo>
                  <a:lnTo>
                    <a:pt x="2222666" y="3571200"/>
                  </a:lnTo>
                </a:path>
              </a:pathLst>
            </a:custGeom>
            <a:ln w="31432">
              <a:solidFill>
                <a:srgbClr val="EB2D2E"/>
              </a:solidFill>
            </a:ln>
          </p:spPr>
          <p:txBody>
            <a:bodyPr wrap="square" lIns="0" tIns="0" rIns="0" bIns="0" rtlCol="0">
              <a:noAutofit/>
            </a:bodyPr>
            <a:lstStyle/>
            <a:p>
              <a:endParaRPr/>
            </a:p>
          </p:txBody>
        </p:sp>
        <p:sp>
          <p:nvSpPr>
            <p:cNvPr id="55" name="object 20"/>
            <p:cNvSpPr/>
            <p:nvPr/>
          </p:nvSpPr>
          <p:spPr>
            <a:xfrm>
              <a:off x="5948697" y="5454356"/>
              <a:ext cx="279415" cy="443896"/>
            </a:xfrm>
            <a:custGeom>
              <a:avLst/>
              <a:gdLst/>
              <a:ahLst/>
              <a:cxnLst/>
              <a:rect l="l" t="t" r="r" b="b"/>
              <a:pathLst>
                <a:path w="287853" h="458765">
                  <a:moveTo>
                    <a:pt x="143915" y="0"/>
                  </a:moveTo>
                  <a:lnTo>
                    <a:pt x="98430" y="11694"/>
                  </a:lnTo>
                  <a:lnTo>
                    <a:pt x="58924" y="44257"/>
                  </a:lnTo>
                  <a:lnTo>
                    <a:pt x="34646" y="80102"/>
                  </a:lnTo>
                  <a:lnTo>
                    <a:pt x="16065" y="123966"/>
                  </a:lnTo>
                  <a:lnTo>
                    <a:pt x="4183" y="174256"/>
                  </a:lnTo>
                  <a:lnTo>
                    <a:pt x="0" y="229377"/>
                  </a:lnTo>
                  <a:lnTo>
                    <a:pt x="477" y="248189"/>
                  </a:lnTo>
                  <a:lnTo>
                    <a:pt x="7337" y="301878"/>
                  </a:lnTo>
                  <a:lnTo>
                    <a:pt x="21564" y="350205"/>
                  </a:lnTo>
                  <a:lnTo>
                    <a:pt x="42155" y="391576"/>
                  </a:lnTo>
                  <a:lnTo>
                    <a:pt x="68110" y="424396"/>
                  </a:lnTo>
                  <a:lnTo>
                    <a:pt x="109333" y="452098"/>
                  </a:lnTo>
                  <a:lnTo>
                    <a:pt x="143915" y="458765"/>
                  </a:lnTo>
                  <a:lnTo>
                    <a:pt x="155720" y="458005"/>
                  </a:lnTo>
                  <a:lnTo>
                    <a:pt x="199942" y="440738"/>
                  </a:lnTo>
                  <a:lnTo>
                    <a:pt x="228922" y="414504"/>
                  </a:lnTo>
                  <a:lnTo>
                    <a:pt x="253204" y="378657"/>
                  </a:lnTo>
                  <a:lnTo>
                    <a:pt x="271786" y="334790"/>
                  </a:lnTo>
                  <a:lnTo>
                    <a:pt x="283669" y="284499"/>
                  </a:lnTo>
                  <a:lnTo>
                    <a:pt x="287853" y="229377"/>
                  </a:lnTo>
                  <a:lnTo>
                    <a:pt x="287375" y="210565"/>
                  </a:lnTo>
                  <a:lnTo>
                    <a:pt x="280515" y="156877"/>
                  </a:lnTo>
                  <a:lnTo>
                    <a:pt x="266287" y="108552"/>
                  </a:lnTo>
                  <a:lnTo>
                    <a:pt x="245694" y="67184"/>
                  </a:lnTo>
                  <a:lnTo>
                    <a:pt x="219735" y="34366"/>
                  </a:lnTo>
                  <a:lnTo>
                    <a:pt x="178504" y="6666"/>
                  </a:lnTo>
                  <a:lnTo>
                    <a:pt x="143915" y="0"/>
                  </a:lnTo>
                  <a:close/>
                </a:path>
              </a:pathLst>
            </a:custGeom>
            <a:solidFill>
              <a:srgbClr val="FFFFFF"/>
            </a:solidFill>
          </p:spPr>
          <p:txBody>
            <a:bodyPr wrap="square" lIns="0" tIns="0" rIns="0" bIns="0" rtlCol="0">
              <a:noAutofit/>
            </a:bodyPr>
            <a:lstStyle/>
            <a:p>
              <a:endParaRPr/>
            </a:p>
          </p:txBody>
        </p:sp>
        <p:sp>
          <p:nvSpPr>
            <p:cNvPr id="56" name="object 21"/>
            <p:cNvSpPr/>
            <p:nvPr/>
          </p:nvSpPr>
          <p:spPr>
            <a:xfrm>
              <a:off x="5948697" y="5454356"/>
              <a:ext cx="279413" cy="443897"/>
            </a:xfrm>
            <a:custGeom>
              <a:avLst/>
              <a:gdLst/>
              <a:ahLst/>
              <a:cxnLst/>
              <a:rect l="l" t="t" r="r" b="b"/>
              <a:pathLst>
                <a:path w="287851" h="458766">
                  <a:moveTo>
                    <a:pt x="143913" y="458766"/>
                  </a:moveTo>
                  <a:lnTo>
                    <a:pt x="189409" y="447070"/>
                  </a:lnTo>
                  <a:lnTo>
                    <a:pt x="228922" y="414504"/>
                  </a:lnTo>
                  <a:lnTo>
                    <a:pt x="253203" y="378657"/>
                  </a:lnTo>
                  <a:lnTo>
                    <a:pt x="271786" y="334790"/>
                  </a:lnTo>
                  <a:lnTo>
                    <a:pt x="283668" y="284499"/>
                  </a:lnTo>
                  <a:lnTo>
                    <a:pt x="287851" y="229377"/>
                  </a:lnTo>
                  <a:lnTo>
                    <a:pt x="287374" y="210565"/>
                  </a:lnTo>
                  <a:lnTo>
                    <a:pt x="280514" y="156877"/>
                  </a:lnTo>
                  <a:lnTo>
                    <a:pt x="266286" y="108552"/>
                  </a:lnTo>
                  <a:lnTo>
                    <a:pt x="245693" y="67184"/>
                  </a:lnTo>
                  <a:lnTo>
                    <a:pt x="219734" y="34366"/>
                  </a:lnTo>
                  <a:lnTo>
                    <a:pt x="178504" y="6666"/>
                  </a:lnTo>
                  <a:lnTo>
                    <a:pt x="143913" y="0"/>
                  </a:lnTo>
                  <a:lnTo>
                    <a:pt x="132111" y="760"/>
                  </a:lnTo>
                  <a:lnTo>
                    <a:pt x="87899" y="18026"/>
                  </a:lnTo>
                  <a:lnTo>
                    <a:pt x="58924" y="44257"/>
                  </a:lnTo>
                  <a:lnTo>
                    <a:pt x="34645" y="80102"/>
                  </a:lnTo>
                  <a:lnTo>
                    <a:pt x="16065" y="123966"/>
                  </a:lnTo>
                  <a:lnTo>
                    <a:pt x="4183" y="174256"/>
                  </a:lnTo>
                  <a:lnTo>
                    <a:pt x="0" y="229377"/>
                  </a:lnTo>
                  <a:lnTo>
                    <a:pt x="477" y="248189"/>
                  </a:lnTo>
                  <a:lnTo>
                    <a:pt x="7337" y="301878"/>
                  </a:lnTo>
                  <a:lnTo>
                    <a:pt x="21563" y="350205"/>
                  </a:lnTo>
                  <a:lnTo>
                    <a:pt x="42154" y="391576"/>
                  </a:lnTo>
                  <a:lnTo>
                    <a:pt x="68110" y="424396"/>
                  </a:lnTo>
                  <a:lnTo>
                    <a:pt x="109332" y="452098"/>
                  </a:lnTo>
                  <a:lnTo>
                    <a:pt x="143913" y="458766"/>
                  </a:lnTo>
                  <a:close/>
                </a:path>
              </a:pathLst>
            </a:custGeom>
            <a:ln w="15716">
              <a:solidFill>
                <a:srgbClr val="000000"/>
              </a:solidFill>
            </a:ln>
          </p:spPr>
          <p:txBody>
            <a:bodyPr wrap="square" lIns="0" tIns="0" rIns="0" bIns="0" rtlCol="0">
              <a:noAutofit/>
            </a:bodyPr>
            <a:lstStyle/>
            <a:p>
              <a:endParaRPr/>
            </a:p>
          </p:txBody>
        </p:sp>
        <p:sp>
          <p:nvSpPr>
            <p:cNvPr id="57" name="object 22"/>
            <p:cNvSpPr txBox="1"/>
            <p:nvPr/>
          </p:nvSpPr>
          <p:spPr>
            <a:xfrm>
              <a:off x="5968245" y="5566916"/>
              <a:ext cx="239774" cy="227335"/>
            </a:xfrm>
            <a:prstGeom prst="rect">
              <a:avLst/>
            </a:prstGeom>
          </p:spPr>
          <p:txBody>
            <a:bodyPr vert="horz" wrap="square" lIns="0" tIns="0" rIns="0" bIns="0" rtlCol="0">
              <a:noAutofit/>
            </a:bodyPr>
            <a:lstStyle/>
            <a:p>
              <a:pPr marL="12700" marR="12700" indent="13335">
                <a:lnSpc>
                  <a:spcPct val="103299"/>
                </a:lnSpc>
              </a:pPr>
              <a:r>
                <a:rPr sz="700" spc="10" dirty="0" smtClean="0">
                  <a:latin typeface="Franklin Gothic Demi"/>
                  <a:cs typeface="Franklin Gothic Demi"/>
                </a:rPr>
                <a:t>Shift left</a:t>
              </a:r>
              <a:r>
                <a:rPr sz="700" spc="40" dirty="0" smtClean="0">
                  <a:latin typeface="Franklin Gothic Demi"/>
                  <a:cs typeface="Franklin Gothic Demi"/>
                </a:rPr>
                <a:t> </a:t>
              </a:r>
              <a:r>
                <a:rPr sz="700" spc="25" dirty="0" smtClean="0">
                  <a:latin typeface="Franklin Gothic Demi"/>
                  <a:cs typeface="Franklin Gothic Demi"/>
                </a:rPr>
                <a:t>2</a:t>
              </a:r>
              <a:endParaRPr sz="700">
                <a:latin typeface="Franklin Gothic Demi"/>
                <a:cs typeface="Franklin Gothic Demi"/>
              </a:endParaRPr>
            </a:p>
          </p:txBody>
        </p:sp>
        <p:sp>
          <p:nvSpPr>
            <p:cNvPr id="58" name="object 23"/>
            <p:cNvSpPr/>
            <p:nvPr/>
          </p:nvSpPr>
          <p:spPr>
            <a:xfrm>
              <a:off x="3192954" y="5554290"/>
              <a:ext cx="1722103" cy="581787"/>
            </a:xfrm>
            <a:custGeom>
              <a:avLst/>
              <a:gdLst/>
              <a:ahLst/>
              <a:cxnLst/>
              <a:rect l="l" t="t" r="r" b="b"/>
              <a:pathLst>
                <a:path w="1774107" h="601275">
                  <a:moveTo>
                    <a:pt x="1774107" y="0"/>
                  </a:moveTo>
                  <a:lnTo>
                    <a:pt x="1774107" y="601275"/>
                  </a:lnTo>
                  <a:lnTo>
                    <a:pt x="0" y="601275"/>
                  </a:lnTo>
                </a:path>
              </a:pathLst>
            </a:custGeom>
            <a:ln w="15716">
              <a:solidFill>
                <a:srgbClr val="EB2D2E"/>
              </a:solidFill>
            </a:ln>
          </p:spPr>
          <p:txBody>
            <a:bodyPr wrap="square" lIns="0" tIns="0" rIns="0" bIns="0" rtlCol="0">
              <a:noAutofit/>
            </a:bodyPr>
            <a:lstStyle/>
            <a:p>
              <a:endParaRPr/>
            </a:p>
          </p:txBody>
        </p:sp>
        <p:sp>
          <p:nvSpPr>
            <p:cNvPr id="59" name="object 24"/>
            <p:cNvSpPr/>
            <p:nvPr/>
          </p:nvSpPr>
          <p:spPr>
            <a:xfrm>
              <a:off x="4841542" y="3190999"/>
              <a:ext cx="497375" cy="1216063"/>
            </a:xfrm>
            <a:custGeom>
              <a:avLst/>
              <a:gdLst/>
              <a:ahLst/>
              <a:cxnLst/>
              <a:rect l="l" t="t" r="r" b="b"/>
              <a:pathLst>
                <a:path w="512395" h="1256797">
                  <a:moveTo>
                    <a:pt x="0" y="1256797"/>
                  </a:moveTo>
                  <a:lnTo>
                    <a:pt x="0" y="722947"/>
                  </a:lnTo>
                  <a:lnTo>
                    <a:pt x="512395" y="722947"/>
                  </a:lnTo>
                  <a:lnTo>
                    <a:pt x="512395" y="0"/>
                  </a:lnTo>
                  <a:lnTo>
                    <a:pt x="208540" y="0"/>
                  </a:lnTo>
                </a:path>
              </a:pathLst>
            </a:custGeom>
            <a:ln w="15716">
              <a:solidFill>
                <a:srgbClr val="EB2D2E"/>
              </a:solidFill>
            </a:ln>
          </p:spPr>
          <p:txBody>
            <a:bodyPr wrap="square" lIns="0" tIns="0" rIns="0" bIns="0" rtlCol="0">
              <a:noAutofit/>
            </a:bodyPr>
            <a:lstStyle/>
            <a:p>
              <a:endParaRPr/>
            </a:p>
          </p:txBody>
        </p:sp>
        <p:sp>
          <p:nvSpPr>
            <p:cNvPr id="60" name="object 25"/>
            <p:cNvSpPr/>
            <p:nvPr/>
          </p:nvSpPr>
          <p:spPr>
            <a:xfrm>
              <a:off x="2066726" y="2615670"/>
              <a:ext cx="2606028" cy="1235582"/>
            </a:xfrm>
            <a:custGeom>
              <a:avLst/>
              <a:gdLst/>
              <a:ahLst/>
              <a:cxnLst/>
              <a:rect l="l" t="t" r="r" b="b"/>
              <a:pathLst>
                <a:path w="2684724" h="1276970">
                  <a:moveTo>
                    <a:pt x="0" y="1276970"/>
                  </a:moveTo>
                  <a:lnTo>
                    <a:pt x="0" y="0"/>
                  </a:lnTo>
                  <a:lnTo>
                    <a:pt x="2684724" y="0"/>
                  </a:lnTo>
                </a:path>
              </a:pathLst>
            </a:custGeom>
            <a:ln w="15716">
              <a:solidFill>
                <a:srgbClr val="EB2D2E"/>
              </a:solidFill>
            </a:ln>
          </p:spPr>
          <p:txBody>
            <a:bodyPr wrap="square" lIns="0" tIns="0" rIns="0" bIns="0" rtlCol="0">
              <a:noAutofit/>
            </a:bodyPr>
            <a:lstStyle/>
            <a:p>
              <a:endParaRPr/>
            </a:p>
          </p:txBody>
        </p:sp>
        <p:sp>
          <p:nvSpPr>
            <p:cNvPr id="61" name="object 26"/>
            <p:cNvSpPr/>
            <p:nvPr/>
          </p:nvSpPr>
          <p:spPr>
            <a:xfrm>
              <a:off x="3125574" y="4474824"/>
              <a:ext cx="355427" cy="0"/>
            </a:xfrm>
            <a:custGeom>
              <a:avLst/>
              <a:gdLst/>
              <a:ahLst/>
              <a:cxnLst/>
              <a:rect l="l" t="t" r="r" b="b"/>
              <a:pathLst>
                <a:path w="366160">
                  <a:moveTo>
                    <a:pt x="366160" y="0"/>
                  </a:moveTo>
                  <a:lnTo>
                    <a:pt x="0" y="0"/>
                  </a:lnTo>
                </a:path>
              </a:pathLst>
            </a:custGeom>
            <a:ln w="31432">
              <a:solidFill>
                <a:srgbClr val="000000"/>
              </a:solidFill>
            </a:ln>
          </p:spPr>
          <p:txBody>
            <a:bodyPr wrap="square" lIns="0" tIns="0" rIns="0" bIns="0" rtlCol="0">
              <a:noAutofit/>
            </a:bodyPr>
            <a:lstStyle/>
            <a:p>
              <a:endParaRPr/>
            </a:p>
          </p:txBody>
        </p:sp>
        <p:sp>
          <p:nvSpPr>
            <p:cNvPr id="62" name="object 27"/>
            <p:cNvSpPr/>
            <p:nvPr/>
          </p:nvSpPr>
          <p:spPr>
            <a:xfrm>
              <a:off x="1573223" y="3699693"/>
              <a:ext cx="169341" cy="472640"/>
            </a:xfrm>
            <a:custGeom>
              <a:avLst/>
              <a:gdLst/>
              <a:ahLst/>
              <a:cxnLst/>
              <a:rect l="l" t="t" r="r" b="b"/>
              <a:pathLst>
                <a:path w="174455" h="488472">
                  <a:moveTo>
                    <a:pt x="0" y="488472"/>
                  </a:moveTo>
                  <a:lnTo>
                    <a:pt x="174455" y="488472"/>
                  </a:lnTo>
                  <a:lnTo>
                    <a:pt x="174455" y="0"/>
                  </a:lnTo>
                  <a:lnTo>
                    <a:pt x="0" y="0"/>
                  </a:lnTo>
                  <a:lnTo>
                    <a:pt x="0" y="488472"/>
                  </a:lnTo>
                  <a:close/>
                </a:path>
              </a:pathLst>
            </a:custGeom>
            <a:ln w="15716">
              <a:solidFill>
                <a:srgbClr val="000000"/>
              </a:solidFill>
            </a:ln>
          </p:spPr>
          <p:txBody>
            <a:bodyPr wrap="square" lIns="0" tIns="0" rIns="0" bIns="0" rtlCol="0">
              <a:noAutofit/>
            </a:bodyPr>
            <a:lstStyle/>
            <a:p>
              <a:endParaRPr/>
            </a:p>
          </p:txBody>
        </p:sp>
        <p:sp>
          <p:nvSpPr>
            <p:cNvPr id="63" name="object 28"/>
            <p:cNvSpPr txBox="1"/>
            <p:nvPr/>
          </p:nvSpPr>
          <p:spPr>
            <a:xfrm>
              <a:off x="1440403" y="3566836"/>
              <a:ext cx="140536" cy="117354"/>
            </a:xfrm>
            <a:prstGeom prst="rect">
              <a:avLst/>
            </a:prstGeom>
          </p:spPr>
          <p:txBody>
            <a:bodyPr vert="horz" wrap="square" lIns="0" tIns="0" rIns="0" bIns="0" rtlCol="0">
              <a:noAutofit/>
            </a:bodyPr>
            <a:lstStyle/>
            <a:p>
              <a:pPr marL="12700">
                <a:lnSpc>
                  <a:spcPct val="100000"/>
                </a:lnSpc>
              </a:pPr>
              <a:r>
                <a:rPr sz="700" spc="30" dirty="0" smtClean="0">
                  <a:latin typeface="Franklin Gothic Demi"/>
                  <a:cs typeface="Franklin Gothic Demi"/>
                </a:rPr>
                <a:t>PC</a:t>
              </a:r>
              <a:endParaRPr sz="700" dirty="0">
                <a:latin typeface="Franklin Gothic Demi"/>
                <a:cs typeface="Franklin Gothic Demi"/>
              </a:endParaRPr>
            </a:p>
          </p:txBody>
        </p:sp>
        <p:sp>
          <p:nvSpPr>
            <p:cNvPr id="64" name="object 29"/>
            <p:cNvSpPr/>
            <p:nvPr/>
          </p:nvSpPr>
          <p:spPr>
            <a:xfrm>
              <a:off x="1742888" y="3935681"/>
              <a:ext cx="201794" cy="0"/>
            </a:xfrm>
            <a:custGeom>
              <a:avLst/>
              <a:gdLst/>
              <a:ahLst/>
              <a:cxnLst/>
              <a:rect l="l" t="t" r="r" b="b"/>
              <a:pathLst>
                <a:path w="207888">
                  <a:moveTo>
                    <a:pt x="0" y="0"/>
                  </a:moveTo>
                  <a:lnTo>
                    <a:pt x="207888" y="0"/>
                  </a:lnTo>
                </a:path>
              </a:pathLst>
            </a:custGeom>
            <a:ln w="31432">
              <a:solidFill>
                <a:srgbClr val="000000"/>
              </a:solidFill>
            </a:ln>
          </p:spPr>
          <p:txBody>
            <a:bodyPr wrap="square" lIns="0" tIns="0" rIns="0" bIns="0" rtlCol="0">
              <a:noAutofit/>
            </a:bodyPr>
            <a:lstStyle/>
            <a:p>
              <a:endParaRPr/>
            </a:p>
          </p:txBody>
        </p:sp>
        <p:sp>
          <p:nvSpPr>
            <p:cNvPr id="65" name="object 30"/>
            <p:cNvSpPr/>
            <p:nvPr/>
          </p:nvSpPr>
          <p:spPr>
            <a:xfrm>
              <a:off x="2150837" y="4137209"/>
              <a:ext cx="97358" cy="0"/>
            </a:xfrm>
            <a:custGeom>
              <a:avLst/>
              <a:gdLst/>
              <a:ahLst/>
              <a:cxnLst/>
              <a:rect l="l" t="t" r="r" b="b"/>
              <a:pathLst>
                <a:path w="100298">
                  <a:moveTo>
                    <a:pt x="100298" y="0"/>
                  </a:moveTo>
                  <a:lnTo>
                    <a:pt x="0" y="0"/>
                  </a:lnTo>
                </a:path>
              </a:pathLst>
            </a:custGeom>
            <a:ln w="31432">
              <a:solidFill>
                <a:srgbClr val="000000"/>
              </a:solidFill>
            </a:ln>
          </p:spPr>
          <p:txBody>
            <a:bodyPr wrap="square" lIns="0" tIns="0" rIns="0" bIns="0" rtlCol="0">
              <a:noAutofit/>
            </a:bodyPr>
            <a:lstStyle/>
            <a:p>
              <a:endParaRPr/>
            </a:p>
          </p:txBody>
        </p:sp>
        <p:sp>
          <p:nvSpPr>
            <p:cNvPr id="66" name="object 31"/>
            <p:cNvSpPr/>
            <p:nvPr/>
          </p:nvSpPr>
          <p:spPr>
            <a:xfrm>
              <a:off x="1981562" y="3851791"/>
              <a:ext cx="168665" cy="571254"/>
            </a:xfrm>
            <a:custGeom>
              <a:avLst/>
              <a:gdLst/>
              <a:ahLst/>
              <a:cxnLst/>
              <a:rect l="l" t="t" r="r" b="b"/>
              <a:pathLst>
                <a:path w="173758" h="590389">
                  <a:moveTo>
                    <a:pt x="76994" y="0"/>
                  </a:moveTo>
                  <a:lnTo>
                    <a:pt x="37775" y="14637"/>
                  </a:lnTo>
                  <a:lnTo>
                    <a:pt x="10333" y="45184"/>
                  </a:lnTo>
                  <a:lnTo>
                    <a:pt x="0" y="86312"/>
                  </a:lnTo>
                  <a:lnTo>
                    <a:pt x="80" y="507825"/>
                  </a:lnTo>
                  <a:lnTo>
                    <a:pt x="11184" y="546153"/>
                  </a:lnTo>
                  <a:lnTo>
                    <a:pt x="38959" y="574878"/>
                  </a:lnTo>
                  <a:lnTo>
                    <a:pt x="80423" y="589457"/>
                  </a:lnTo>
                  <a:lnTo>
                    <a:pt x="96772" y="590389"/>
                  </a:lnTo>
                  <a:lnTo>
                    <a:pt x="110823" y="587605"/>
                  </a:lnTo>
                  <a:lnTo>
                    <a:pt x="146705" y="567066"/>
                  </a:lnTo>
                  <a:lnTo>
                    <a:pt x="169035" y="532397"/>
                  </a:lnTo>
                  <a:lnTo>
                    <a:pt x="173758" y="504067"/>
                  </a:lnTo>
                  <a:lnTo>
                    <a:pt x="173679" y="82569"/>
                  </a:lnTo>
                  <a:lnTo>
                    <a:pt x="162579" y="44237"/>
                  </a:lnTo>
                  <a:lnTo>
                    <a:pt x="134806" y="15511"/>
                  </a:lnTo>
                  <a:lnTo>
                    <a:pt x="93343" y="931"/>
                  </a:lnTo>
                  <a:lnTo>
                    <a:pt x="76994" y="0"/>
                  </a:lnTo>
                  <a:close/>
                </a:path>
              </a:pathLst>
            </a:custGeom>
            <a:solidFill>
              <a:srgbClr val="FFFFFF"/>
            </a:solidFill>
          </p:spPr>
          <p:txBody>
            <a:bodyPr wrap="square" lIns="0" tIns="0" rIns="0" bIns="0" rtlCol="0">
              <a:noAutofit/>
            </a:bodyPr>
            <a:lstStyle/>
            <a:p>
              <a:endParaRPr/>
            </a:p>
          </p:txBody>
        </p:sp>
        <p:sp>
          <p:nvSpPr>
            <p:cNvPr id="67" name="object 32"/>
            <p:cNvSpPr/>
            <p:nvPr/>
          </p:nvSpPr>
          <p:spPr>
            <a:xfrm>
              <a:off x="1981562" y="3851791"/>
              <a:ext cx="168665" cy="571254"/>
            </a:xfrm>
            <a:custGeom>
              <a:avLst/>
              <a:gdLst/>
              <a:ahLst/>
              <a:cxnLst/>
              <a:rect l="l" t="t" r="r" b="b"/>
              <a:pathLst>
                <a:path w="173758" h="590389">
                  <a:moveTo>
                    <a:pt x="0" y="86312"/>
                  </a:moveTo>
                  <a:lnTo>
                    <a:pt x="10333" y="45184"/>
                  </a:lnTo>
                  <a:lnTo>
                    <a:pt x="37775" y="14637"/>
                  </a:lnTo>
                  <a:lnTo>
                    <a:pt x="76994" y="0"/>
                  </a:lnTo>
                  <a:lnTo>
                    <a:pt x="93343" y="931"/>
                  </a:lnTo>
                  <a:lnTo>
                    <a:pt x="134806" y="15511"/>
                  </a:lnTo>
                  <a:lnTo>
                    <a:pt x="162579" y="44237"/>
                  </a:lnTo>
                  <a:lnTo>
                    <a:pt x="173679" y="82569"/>
                  </a:lnTo>
                  <a:lnTo>
                    <a:pt x="173758" y="504067"/>
                  </a:lnTo>
                  <a:lnTo>
                    <a:pt x="172545" y="518622"/>
                  </a:lnTo>
                  <a:lnTo>
                    <a:pt x="155918" y="556817"/>
                  </a:lnTo>
                  <a:lnTo>
                    <a:pt x="123960" y="582658"/>
                  </a:lnTo>
                  <a:lnTo>
                    <a:pt x="96772" y="590389"/>
                  </a:lnTo>
                  <a:lnTo>
                    <a:pt x="80423" y="589457"/>
                  </a:lnTo>
                  <a:lnTo>
                    <a:pt x="38959" y="574878"/>
                  </a:lnTo>
                  <a:lnTo>
                    <a:pt x="11184" y="546153"/>
                  </a:lnTo>
                  <a:lnTo>
                    <a:pt x="80" y="507825"/>
                  </a:lnTo>
                  <a:lnTo>
                    <a:pt x="0" y="86312"/>
                  </a:lnTo>
                  <a:close/>
                </a:path>
              </a:pathLst>
            </a:custGeom>
            <a:ln w="15716">
              <a:solidFill>
                <a:srgbClr val="000000"/>
              </a:solidFill>
            </a:ln>
          </p:spPr>
          <p:txBody>
            <a:bodyPr wrap="square" lIns="0" tIns="0" rIns="0" bIns="0" rtlCol="0">
              <a:noAutofit/>
            </a:bodyPr>
            <a:lstStyle/>
            <a:p>
              <a:endParaRPr/>
            </a:p>
          </p:txBody>
        </p:sp>
        <p:sp>
          <p:nvSpPr>
            <p:cNvPr id="68" name="object 33"/>
            <p:cNvSpPr txBox="1"/>
            <p:nvPr/>
          </p:nvSpPr>
          <p:spPr>
            <a:xfrm>
              <a:off x="2003054" y="3992318"/>
              <a:ext cx="115264" cy="410432"/>
            </a:xfrm>
            <a:prstGeom prst="rect">
              <a:avLst/>
            </a:prstGeom>
          </p:spPr>
          <p:txBody>
            <a:bodyPr vert="horz" wrap="square" lIns="0" tIns="0" rIns="0" bIns="0" rtlCol="0">
              <a:noAutofit/>
            </a:bodyPr>
            <a:lstStyle/>
            <a:p>
              <a:pPr marL="23495">
                <a:lnSpc>
                  <a:spcPct val="100000"/>
                </a:lnSpc>
              </a:pPr>
              <a:r>
                <a:rPr sz="700" spc="40" dirty="0" smtClean="0">
                  <a:latin typeface="Franklin Gothic Demi"/>
                  <a:cs typeface="Franklin Gothic Demi"/>
                </a:rPr>
                <a:t>M</a:t>
              </a:r>
              <a:endParaRPr sz="700">
                <a:latin typeface="Franklin Gothic Demi"/>
                <a:cs typeface="Franklin Gothic Demi"/>
              </a:endParaRPr>
            </a:p>
            <a:p>
              <a:pPr marL="39370" marR="27940">
                <a:lnSpc>
                  <a:spcPts val="730"/>
                </a:lnSpc>
                <a:spcBef>
                  <a:spcPts val="5"/>
                </a:spcBef>
              </a:pPr>
              <a:r>
                <a:rPr sz="700" spc="15" dirty="0" smtClean="0">
                  <a:latin typeface="Franklin Gothic Demi"/>
                  <a:cs typeface="Franklin Gothic Demi"/>
                </a:rPr>
                <a:t>u</a:t>
              </a:r>
              <a:r>
                <a:rPr sz="700" spc="5" dirty="0" smtClean="0">
                  <a:latin typeface="Franklin Gothic Demi"/>
                  <a:cs typeface="Franklin Gothic Demi"/>
                </a:rPr>
                <a:t> </a:t>
              </a:r>
              <a:r>
                <a:rPr sz="700" spc="45" dirty="0" smtClean="0">
                  <a:latin typeface="Franklin Gothic Demi"/>
                  <a:cs typeface="Franklin Gothic Demi"/>
                </a:rPr>
                <a:t>x</a:t>
              </a:r>
              <a:endParaRPr sz="700">
                <a:latin typeface="Franklin Gothic Demi"/>
                <a:cs typeface="Franklin Gothic Demi"/>
              </a:endParaRPr>
            </a:p>
            <a:p>
              <a:pPr marL="12700">
                <a:lnSpc>
                  <a:spcPct val="100000"/>
                </a:lnSpc>
                <a:spcBef>
                  <a:spcPts val="70"/>
                </a:spcBef>
              </a:pPr>
              <a:r>
                <a:rPr sz="700" spc="25" dirty="0" smtClean="0">
                  <a:latin typeface="Franklin Gothic Book"/>
                  <a:cs typeface="Franklin Gothic Book"/>
                </a:rPr>
                <a:t>1</a:t>
              </a:r>
              <a:endParaRPr sz="700">
                <a:latin typeface="Franklin Gothic Book"/>
                <a:cs typeface="Franklin Gothic Book"/>
              </a:endParaRPr>
            </a:p>
          </p:txBody>
        </p:sp>
        <p:sp>
          <p:nvSpPr>
            <p:cNvPr id="69" name="object 34"/>
            <p:cNvSpPr txBox="1"/>
            <p:nvPr/>
          </p:nvSpPr>
          <p:spPr>
            <a:xfrm>
              <a:off x="2003054" y="3879879"/>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0</a:t>
              </a:r>
              <a:endParaRPr sz="700">
                <a:latin typeface="Franklin Gothic Book"/>
                <a:cs typeface="Franklin Gothic Book"/>
              </a:endParaRPr>
            </a:p>
          </p:txBody>
        </p:sp>
        <p:sp>
          <p:nvSpPr>
            <p:cNvPr id="70" name="object 35"/>
            <p:cNvSpPr/>
            <p:nvPr/>
          </p:nvSpPr>
          <p:spPr>
            <a:xfrm>
              <a:off x="4999256" y="4880465"/>
              <a:ext cx="139840" cy="184760"/>
            </a:xfrm>
            <a:custGeom>
              <a:avLst/>
              <a:gdLst/>
              <a:ahLst/>
              <a:cxnLst/>
              <a:rect l="l" t="t" r="r" b="b"/>
              <a:pathLst>
                <a:path w="144063" h="190949">
                  <a:moveTo>
                    <a:pt x="144063" y="0"/>
                  </a:moveTo>
                  <a:lnTo>
                    <a:pt x="69460" y="0"/>
                  </a:lnTo>
                  <a:lnTo>
                    <a:pt x="69460" y="190949"/>
                  </a:lnTo>
                  <a:lnTo>
                    <a:pt x="0" y="190949"/>
                  </a:lnTo>
                </a:path>
              </a:pathLst>
            </a:custGeom>
            <a:ln w="31432">
              <a:solidFill>
                <a:srgbClr val="000000"/>
              </a:solidFill>
            </a:ln>
          </p:spPr>
          <p:txBody>
            <a:bodyPr wrap="square" lIns="0" tIns="0" rIns="0" bIns="0" rtlCol="0">
              <a:noAutofit/>
            </a:bodyPr>
            <a:lstStyle/>
            <a:p>
              <a:endParaRPr/>
            </a:p>
          </p:txBody>
        </p:sp>
        <p:sp>
          <p:nvSpPr>
            <p:cNvPr id="71" name="object 36"/>
            <p:cNvSpPr/>
            <p:nvPr/>
          </p:nvSpPr>
          <p:spPr>
            <a:xfrm>
              <a:off x="4542433" y="4340108"/>
              <a:ext cx="177352" cy="135236"/>
            </a:xfrm>
            <a:custGeom>
              <a:avLst/>
              <a:gdLst/>
              <a:ahLst/>
              <a:cxnLst/>
              <a:rect l="l" t="t" r="r" b="b"/>
              <a:pathLst>
                <a:path w="182708" h="139766">
                  <a:moveTo>
                    <a:pt x="182708" y="139766"/>
                  </a:moveTo>
                  <a:lnTo>
                    <a:pt x="0" y="139766"/>
                  </a:lnTo>
                  <a:lnTo>
                    <a:pt x="0" y="0"/>
                  </a:lnTo>
                </a:path>
              </a:pathLst>
            </a:custGeom>
            <a:ln w="31432">
              <a:solidFill>
                <a:srgbClr val="000000"/>
              </a:solidFill>
            </a:ln>
          </p:spPr>
          <p:txBody>
            <a:bodyPr wrap="square" lIns="0" tIns="0" rIns="0" bIns="0" rtlCol="0">
              <a:noAutofit/>
            </a:bodyPr>
            <a:lstStyle/>
            <a:p>
              <a:endParaRPr/>
            </a:p>
          </p:txBody>
        </p:sp>
        <p:sp>
          <p:nvSpPr>
            <p:cNvPr id="72" name="object 37"/>
            <p:cNvSpPr/>
            <p:nvPr/>
          </p:nvSpPr>
          <p:spPr>
            <a:xfrm>
              <a:off x="4933364" y="4610380"/>
              <a:ext cx="205733" cy="0"/>
            </a:xfrm>
            <a:custGeom>
              <a:avLst/>
              <a:gdLst/>
              <a:ahLst/>
              <a:cxnLst/>
              <a:rect l="l" t="t" r="r" b="b"/>
              <a:pathLst>
                <a:path w="211946">
                  <a:moveTo>
                    <a:pt x="211946" y="0"/>
                  </a:moveTo>
                  <a:lnTo>
                    <a:pt x="0" y="0"/>
                  </a:lnTo>
                </a:path>
              </a:pathLst>
            </a:custGeom>
            <a:ln w="31432">
              <a:solidFill>
                <a:srgbClr val="000000"/>
              </a:solidFill>
            </a:ln>
          </p:spPr>
          <p:txBody>
            <a:bodyPr wrap="square" lIns="0" tIns="0" rIns="0" bIns="0" rtlCol="0">
              <a:noAutofit/>
            </a:bodyPr>
            <a:lstStyle/>
            <a:p>
              <a:endParaRPr/>
            </a:p>
          </p:txBody>
        </p:sp>
        <p:sp>
          <p:nvSpPr>
            <p:cNvPr id="73" name="object 38"/>
            <p:cNvSpPr/>
            <p:nvPr/>
          </p:nvSpPr>
          <p:spPr>
            <a:xfrm>
              <a:off x="5204014" y="3946564"/>
              <a:ext cx="774816" cy="1057800"/>
            </a:xfrm>
            <a:custGeom>
              <a:avLst/>
              <a:gdLst/>
              <a:ahLst/>
              <a:cxnLst/>
              <a:rect l="l" t="t" r="r" b="b"/>
              <a:pathLst>
                <a:path w="798214" h="1093233">
                  <a:moveTo>
                    <a:pt x="0" y="1093233"/>
                  </a:moveTo>
                  <a:lnTo>
                    <a:pt x="798214" y="1093233"/>
                  </a:lnTo>
                  <a:lnTo>
                    <a:pt x="798214" y="0"/>
                  </a:lnTo>
                  <a:lnTo>
                    <a:pt x="0" y="0"/>
                  </a:lnTo>
                  <a:lnTo>
                    <a:pt x="0" y="1093233"/>
                  </a:lnTo>
                  <a:close/>
                </a:path>
              </a:pathLst>
            </a:custGeom>
            <a:solidFill>
              <a:srgbClr val="FFFFFF"/>
            </a:solidFill>
          </p:spPr>
          <p:txBody>
            <a:bodyPr wrap="square" lIns="0" tIns="0" rIns="0" bIns="0" rtlCol="0">
              <a:noAutofit/>
            </a:bodyPr>
            <a:lstStyle/>
            <a:p>
              <a:endParaRPr/>
            </a:p>
          </p:txBody>
        </p:sp>
        <p:sp>
          <p:nvSpPr>
            <p:cNvPr id="74" name="object 39"/>
            <p:cNvSpPr/>
            <p:nvPr/>
          </p:nvSpPr>
          <p:spPr>
            <a:xfrm>
              <a:off x="5204014" y="3946565"/>
              <a:ext cx="774816" cy="1057800"/>
            </a:xfrm>
            <a:custGeom>
              <a:avLst/>
              <a:gdLst/>
              <a:ahLst/>
              <a:cxnLst/>
              <a:rect l="l" t="t" r="r" b="b"/>
              <a:pathLst>
                <a:path w="798214" h="1093233">
                  <a:moveTo>
                    <a:pt x="0" y="1093233"/>
                  </a:moveTo>
                  <a:lnTo>
                    <a:pt x="798214" y="1093233"/>
                  </a:lnTo>
                  <a:lnTo>
                    <a:pt x="798214" y="0"/>
                  </a:lnTo>
                  <a:lnTo>
                    <a:pt x="0" y="0"/>
                  </a:lnTo>
                  <a:lnTo>
                    <a:pt x="0" y="1093233"/>
                  </a:lnTo>
                  <a:close/>
                </a:path>
              </a:pathLst>
            </a:custGeom>
            <a:ln w="15716">
              <a:solidFill>
                <a:srgbClr val="000000"/>
              </a:solidFill>
            </a:ln>
          </p:spPr>
          <p:txBody>
            <a:bodyPr wrap="square" lIns="0" tIns="0" rIns="0" bIns="0" rtlCol="0">
              <a:noAutofit/>
            </a:bodyPr>
            <a:lstStyle/>
            <a:p>
              <a:endParaRPr/>
            </a:p>
          </p:txBody>
        </p:sp>
        <p:sp>
          <p:nvSpPr>
            <p:cNvPr id="75" name="object 40"/>
            <p:cNvSpPr txBox="1"/>
            <p:nvPr/>
          </p:nvSpPr>
          <p:spPr>
            <a:xfrm>
              <a:off x="5231530" y="4437487"/>
              <a:ext cx="586800" cy="190470"/>
            </a:xfrm>
            <a:prstGeom prst="rect">
              <a:avLst/>
            </a:prstGeom>
          </p:spPr>
          <p:txBody>
            <a:bodyPr vert="horz" wrap="square" lIns="0" tIns="0" rIns="0" bIns="0" rtlCol="0">
              <a:noAutofit/>
            </a:bodyPr>
            <a:lstStyle/>
            <a:p>
              <a:pPr marL="193040">
                <a:lnSpc>
                  <a:spcPts val="780"/>
                </a:lnSpc>
              </a:pPr>
              <a:r>
                <a:rPr sz="700" spc="15" dirty="0" smtClean="0">
                  <a:latin typeface="Franklin Gothic Demi"/>
                  <a:cs typeface="Franklin Gothic Demi"/>
                </a:rPr>
                <a:t>Registers</a:t>
              </a:r>
              <a:endParaRPr sz="700">
                <a:latin typeface="Franklin Gothic Demi"/>
                <a:cs typeface="Franklin Gothic Demi"/>
              </a:endParaRPr>
            </a:p>
            <a:p>
              <a:pPr marL="12700">
                <a:lnSpc>
                  <a:spcPts val="655"/>
                </a:lnSpc>
              </a:pPr>
              <a:r>
                <a:rPr sz="700" spc="15" dirty="0" smtClean="0">
                  <a:latin typeface="Franklin Gothic Book"/>
                  <a:cs typeface="Franklin Gothic Book"/>
                </a:rPr>
                <a:t>Write</a:t>
              </a:r>
              <a:endParaRPr sz="700">
                <a:latin typeface="Franklin Gothic Book"/>
                <a:cs typeface="Franklin Gothic Book"/>
              </a:endParaRPr>
            </a:p>
          </p:txBody>
        </p:sp>
        <p:sp>
          <p:nvSpPr>
            <p:cNvPr id="76" name="object 41"/>
            <p:cNvSpPr txBox="1"/>
            <p:nvPr/>
          </p:nvSpPr>
          <p:spPr>
            <a:xfrm>
              <a:off x="5231530" y="4523308"/>
              <a:ext cx="322987" cy="465115"/>
            </a:xfrm>
            <a:prstGeom prst="rect">
              <a:avLst/>
            </a:prstGeom>
          </p:spPr>
          <p:txBody>
            <a:bodyPr vert="horz" wrap="square" lIns="0" tIns="0" rIns="0" bIns="0" rtlCol="0">
              <a:noAutofit/>
            </a:bodyPr>
            <a:lstStyle/>
            <a:p>
              <a:pPr marL="12700" marR="12700">
                <a:lnSpc>
                  <a:spcPct val="174400"/>
                </a:lnSpc>
              </a:pPr>
              <a:r>
                <a:rPr sz="700" spc="20" dirty="0" smtClean="0">
                  <a:latin typeface="Franklin Gothic Book"/>
                  <a:cs typeface="Franklin Gothic Book"/>
                </a:rPr>
                <a:t>register</a:t>
              </a:r>
              <a:r>
                <a:rPr sz="700" spc="10" dirty="0" smtClean="0">
                  <a:latin typeface="Franklin Gothic Book"/>
                  <a:cs typeface="Franklin Gothic Book"/>
                </a:rPr>
                <a:t> </a:t>
              </a:r>
              <a:r>
                <a:rPr sz="700" spc="15" dirty="0" smtClean="0">
                  <a:latin typeface="Franklin Gothic Book"/>
                  <a:cs typeface="Franklin Gothic Book"/>
                </a:rPr>
                <a:t>Write</a:t>
              </a:r>
              <a:endParaRPr sz="700">
                <a:latin typeface="Franklin Gothic Book"/>
                <a:cs typeface="Franklin Gothic Book"/>
              </a:endParaRPr>
            </a:p>
            <a:p>
              <a:pPr marL="12700">
                <a:lnSpc>
                  <a:spcPts val="735"/>
                </a:lnSpc>
              </a:pPr>
              <a:r>
                <a:rPr sz="700" spc="20" dirty="0" smtClean="0">
                  <a:latin typeface="Franklin Gothic Book"/>
                  <a:cs typeface="Franklin Gothic Book"/>
                </a:rPr>
                <a:t>data</a:t>
              </a:r>
              <a:endParaRPr sz="700">
                <a:latin typeface="Franklin Gothic Book"/>
                <a:cs typeface="Franklin Gothic Book"/>
              </a:endParaRPr>
            </a:p>
          </p:txBody>
        </p:sp>
        <p:sp>
          <p:nvSpPr>
            <p:cNvPr id="77" name="object 42"/>
            <p:cNvSpPr txBox="1"/>
            <p:nvPr/>
          </p:nvSpPr>
          <p:spPr>
            <a:xfrm>
              <a:off x="5714519" y="4206243"/>
              <a:ext cx="227447"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Read</a:t>
              </a:r>
              <a:endParaRPr sz="700">
                <a:latin typeface="Franklin Gothic Book"/>
                <a:cs typeface="Franklin Gothic Book"/>
              </a:endParaRPr>
            </a:p>
          </p:txBody>
        </p:sp>
        <p:sp>
          <p:nvSpPr>
            <p:cNvPr id="78" name="object 43"/>
            <p:cNvSpPr txBox="1"/>
            <p:nvPr/>
          </p:nvSpPr>
          <p:spPr>
            <a:xfrm>
              <a:off x="5231523" y="4330035"/>
              <a:ext cx="710077"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register</a:t>
              </a:r>
              <a:r>
                <a:rPr sz="700" spc="40" dirty="0" smtClean="0">
                  <a:latin typeface="Franklin Gothic Book"/>
                  <a:cs typeface="Franklin Gothic Book"/>
                </a:rPr>
                <a:t> </a:t>
              </a:r>
              <a:r>
                <a:rPr sz="700" spc="25" dirty="0" smtClean="0">
                  <a:latin typeface="Franklin Gothic Book"/>
                  <a:cs typeface="Franklin Gothic Book"/>
                </a:rPr>
                <a:t>2 </a:t>
              </a:r>
              <a:r>
                <a:rPr sz="700" spc="50" dirty="0" smtClean="0">
                  <a:latin typeface="Franklin Gothic Book"/>
                  <a:cs typeface="Franklin Gothic Book"/>
                </a:rPr>
                <a:t> </a:t>
              </a:r>
              <a:r>
                <a:rPr sz="1050" spc="22" baseline="19841" dirty="0" smtClean="0">
                  <a:latin typeface="Franklin Gothic Book"/>
                  <a:cs typeface="Franklin Gothic Book"/>
                </a:rPr>
                <a:t>d</a:t>
              </a:r>
              <a:r>
                <a:rPr sz="1050" spc="30" baseline="19841" dirty="0" smtClean="0">
                  <a:latin typeface="Franklin Gothic Book"/>
                  <a:cs typeface="Franklin Gothic Book"/>
                </a:rPr>
                <a:t>a</a:t>
              </a:r>
              <a:r>
                <a:rPr sz="1050" spc="22" baseline="19841" dirty="0" smtClean="0">
                  <a:latin typeface="Franklin Gothic Book"/>
                  <a:cs typeface="Franklin Gothic Book"/>
                </a:rPr>
                <a:t>t</a:t>
              </a:r>
              <a:r>
                <a:rPr sz="1050" spc="30" baseline="19841" dirty="0" smtClean="0">
                  <a:latin typeface="Franklin Gothic Book"/>
                  <a:cs typeface="Franklin Gothic Book"/>
                </a:rPr>
                <a:t>a</a:t>
              </a:r>
              <a:r>
                <a:rPr sz="1050" spc="60" baseline="19841" dirty="0" smtClean="0">
                  <a:latin typeface="Franklin Gothic Book"/>
                  <a:cs typeface="Franklin Gothic Book"/>
                </a:rPr>
                <a:t> </a:t>
              </a:r>
              <a:r>
                <a:rPr sz="1050" spc="37" baseline="19841" dirty="0" smtClean="0">
                  <a:latin typeface="Franklin Gothic Book"/>
                  <a:cs typeface="Franklin Gothic Book"/>
                </a:rPr>
                <a:t>1</a:t>
              </a:r>
              <a:endParaRPr sz="1050" baseline="19841">
                <a:latin typeface="Franklin Gothic Book"/>
                <a:cs typeface="Franklin Gothic Book"/>
              </a:endParaRPr>
            </a:p>
          </p:txBody>
        </p:sp>
        <p:sp>
          <p:nvSpPr>
            <p:cNvPr id="79" name="object 44"/>
            <p:cNvSpPr txBox="1"/>
            <p:nvPr/>
          </p:nvSpPr>
          <p:spPr>
            <a:xfrm>
              <a:off x="5714519" y="4544543"/>
              <a:ext cx="227447"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Read</a:t>
              </a:r>
              <a:endParaRPr sz="700">
                <a:latin typeface="Franklin Gothic Book"/>
                <a:cs typeface="Franklin Gothic Book"/>
              </a:endParaRPr>
            </a:p>
          </p:txBody>
        </p:sp>
        <p:sp>
          <p:nvSpPr>
            <p:cNvPr id="80" name="object 45"/>
            <p:cNvSpPr txBox="1"/>
            <p:nvPr/>
          </p:nvSpPr>
          <p:spPr>
            <a:xfrm>
              <a:off x="5660331" y="4634567"/>
              <a:ext cx="281689" cy="117968"/>
            </a:xfrm>
            <a:prstGeom prst="rect">
              <a:avLst/>
            </a:prstGeom>
          </p:spPr>
          <p:txBody>
            <a:bodyPr vert="horz" wrap="square" lIns="0" tIns="0" rIns="0" bIns="0" rtlCol="0">
              <a:noAutofit/>
            </a:bodyPr>
            <a:lstStyle/>
            <a:p>
              <a:pPr marL="12700">
                <a:lnSpc>
                  <a:spcPct val="100000"/>
                </a:lnSpc>
              </a:pPr>
              <a:r>
                <a:rPr sz="700" spc="15" dirty="0" smtClean="0">
                  <a:latin typeface="Franklin Gothic Book"/>
                  <a:cs typeface="Franklin Gothic Book"/>
                </a:rPr>
                <a:t>d</a:t>
              </a:r>
              <a:r>
                <a:rPr sz="700" spc="20" dirty="0" smtClean="0">
                  <a:latin typeface="Franklin Gothic Book"/>
                  <a:cs typeface="Franklin Gothic Book"/>
                </a:rPr>
                <a:t>a</a:t>
              </a:r>
              <a:r>
                <a:rPr sz="700" spc="15" dirty="0" smtClean="0">
                  <a:latin typeface="Franklin Gothic Book"/>
                  <a:cs typeface="Franklin Gothic Book"/>
                </a:rPr>
                <a:t>t</a:t>
              </a:r>
              <a:r>
                <a:rPr sz="700" spc="20" dirty="0" smtClean="0">
                  <a:latin typeface="Franklin Gothic Book"/>
                  <a:cs typeface="Franklin Gothic Book"/>
                </a:rPr>
                <a:t>a</a:t>
              </a:r>
              <a:r>
                <a:rPr sz="700" spc="40" dirty="0" smtClean="0">
                  <a:latin typeface="Franklin Gothic Book"/>
                  <a:cs typeface="Franklin Gothic Book"/>
                </a:rPr>
                <a:t> </a:t>
              </a:r>
              <a:r>
                <a:rPr sz="700" spc="25" dirty="0" smtClean="0">
                  <a:latin typeface="Franklin Gothic Book"/>
                  <a:cs typeface="Franklin Gothic Book"/>
                </a:rPr>
                <a:t>2</a:t>
              </a:r>
              <a:endParaRPr sz="700">
                <a:latin typeface="Franklin Gothic Book"/>
                <a:cs typeface="Franklin Gothic Book"/>
              </a:endParaRPr>
            </a:p>
          </p:txBody>
        </p:sp>
        <p:sp>
          <p:nvSpPr>
            <p:cNvPr id="81" name="object 46"/>
            <p:cNvSpPr txBox="1"/>
            <p:nvPr/>
          </p:nvSpPr>
          <p:spPr>
            <a:xfrm>
              <a:off x="5231523" y="3984186"/>
              <a:ext cx="404349" cy="193542"/>
            </a:xfrm>
            <a:prstGeom prst="rect">
              <a:avLst/>
            </a:prstGeom>
          </p:spPr>
          <p:txBody>
            <a:bodyPr vert="horz" wrap="square" lIns="0" tIns="0" rIns="0" bIns="0" rtlCol="0">
              <a:noAutofit/>
            </a:bodyPr>
            <a:lstStyle/>
            <a:p>
              <a:pPr marL="12700" marR="12700">
                <a:lnSpc>
                  <a:spcPts val="730"/>
                </a:lnSpc>
              </a:pPr>
              <a:r>
                <a:rPr sz="700" spc="20" dirty="0" smtClean="0">
                  <a:latin typeface="Franklin Gothic Book"/>
                  <a:cs typeface="Franklin Gothic Book"/>
                </a:rPr>
                <a:t>Read</a:t>
              </a:r>
              <a:r>
                <a:rPr sz="700" spc="10" dirty="0" smtClean="0">
                  <a:latin typeface="Franklin Gothic Book"/>
                  <a:cs typeface="Franklin Gothic Book"/>
                </a:rPr>
                <a:t> </a:t>
              </a:r>
              <a:r>
                <a:rPr sz="700" spc="20" dirty="0" smtClean="0">
                  <a:latin typeface="Franklin Gothic Book"/>
                  <a:cs typeface="Franklin Gothic Book"/>
                </a:rPr>
                <a:t>register</a:t>
              </a:r>
              <a:r>
                <a:rPr sz="700" spc="40" dirty="0" smtClean="0">
                  <a:latin typeface="Franklin Gothic Book"/>
                  <a:cs typeface="Franklin Gothic Book"/>
                </a:rPr>
                <a:t> </a:t>
              </a:r>
              <a:r>
                <a:rPr sz="700" spc="25" dirty="0" smtClean="0">
                  <a:latin typeface="Franklin Gothic Book"/>
                  <a:cs typeface="Franklin Gothic Book"/>
                </a:rPr>
                <a:t>1</a:t>
              </a:r>
              <a:endParaRPr sz="700">
                <a:latin typeface="Franklin Gothic Book"/>
                <a:cs typeface="Franklin Gothic Book"/>
              </a:endParaRPr>
            </a:p>
          </p:txBody>
        </p:sp>
        <p:sp>
          <p:nvSpPr>
            <p:cNvPr id="82" name="object 47"/>
            <p:cNvSpPr txBox="1"/>
            <p:nvPr/>
          </p:nvSpPr>
          <p:spPr>
            <a:xfrm>
              <a:off x="5231523" y="4240010"/>
              <a:ext cx="227447"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Read</a:t>
              </a:r>
              <a:endParaRPr sz="700">
                <a:latin typeface="Franklin Gothic Book"/>
                <a:cs typeface="Franklin Gothic Book"/>
              </a:endParaRPr>
            </a:p>
          </p:txBody>
        </p:sp>
        <p:sp>
          <p:nvSpPr>
            <p:cNvPr id="83" name="object 48"/>
            <p:cNvSpPr/>
            <p:nvPr/>
          </p:nvSpPr>
          <p:spPr>
            <a:xfrm>
              <a:off x="4159169" y="4340306"/>
              <a:ext cx="972295" cy="0"/>
            </a:xfrm>
            <a:custGeom>
              <a:avLst/>
              <a:gdLst/>
              <a:ahLst/>
              <a:cxnLst/>
              <a:rect l="l" t="t" r="r" b="b"/>
              <a:pathLst>
                <a:path w="1001656">
                  <a:moveTo>
                    <a:pt x="0" y="0"/>
                  </a:moveTo>
                  <a:lnTo>
                    <a:pt x="1001656" y="0"/>
                  </a:lnTo>
                </a:path>
              </a:pathLst>
            </a:custGeom>
            <a:ln w="31432">
              <a:solidFill>
                <a:srgbClr val="000000"/>
              </a:solidFill>
            </a:ln>
          </p:spPr>
          <p:txBody>
            <a:bodyPr wrap="square" lIns="0" tIns="0" rIns="0" bIns="0" rtlCol="0">
              <a:noAutofit/>
            </a:bodyPr>
            <a:lstStyle/>
            <a:p>
              <a:endParaRPr/>
            </a:p>
          </p:txBody>
        </p:sp>
        <p:sp>
          <p:nvSpPr>
            <p:cNvPr id="84" name="object 49"/>
            <p:cNvSpPr/>
            <p:nvPr/>
          </p:nvSpPr>
          <p:spPr>
            <a:xfrm>
              <a:off x="4159169" y="4070232"/>
              <a:ext cx="976111" cy="0"/>
            </a:xfrm>
            <a:custGeom>
              <a:avLst/>
              <a:gdLst/>
              <a:ahLst/>
              <a:cxnLst/>
              <a:rect l="l" t="t" r="r" b="b"/>
              <a:pathLst>
                <a:path w="1005587">
                  <a:moveTo>
                    <a:pt x="0" y="0"/>
                  </a:moveTo>
                  <a:lnTo>
                    <a:pt x="1005587" y="0"/>
                  </a:lnTo>
                </a:path>
              </a:pathLst>
            </a:custGeom>
            <a:ln w="31432">
              <a:solidFill>
                <a:srgbClr val="000000"/>
              </a:solidFill>
            </a:ln>
          </p:spPr>
          <p:txBody>
            <a:bodyPr wrap="square" lIns="0" tIns="0" rIns="0" bIns="0" rtlCol="0">
              <a:noAutofit/>
            </a:bodyPr>
            <a:lstStyle/>
            <a:p>
              <a:endParaRPr/>
            </a:p>
          </p:txBody>
        </p:sp>
        <p:sp>
          <p:nvSpPr>
            <p:cNvPr id="85" name="object 50"/>
            <p:cNvSpPr/>
            <p:nvPr/>
          </p:nvSpPr>
          <p:spPr>
            <a:xfrm>
              <a:off x="4764710" y="4392393"/>
              <a:ext cx="168654" cy="571256"/>
            </a:xfrm>
            <a:custGeom>
              <a:avLst/>
              <a:gdLst/>
              <a:ahLst/>
              <a:cxnLst/>
              <a:rect l="l" t="t" r="r" b="b"/>
              <a:pathLst>
                <a:path w="173747" h="590391">
                  <a:moveTo>
                    <a:pt x="76985" y="0"/>
                  </a:moveTo>
                  <a:lnTo>
                    <a:pt x="37773" y="14643"/>
                  </a:lnTo>
                  <a:lnTo>
                    <a:pt x="10332" y="45198"/>
                  </a:lnTo>
                  <a:lnTo>
                    <a:pt x="0" y="86323"/>
                  </a:lnTo>
                  <a:lnTo>
                    <a:pt x="78" y="507808"/>
                  </a:lnTo>
                  <a:lnTo>
                    <a:pt x="11171" y="546143"/>
                  </a:lnTo>
                  <a:lnTo>
                    <a:pt x="38940" y="574874"/>
                  </a:lnTo>
                  <a:lnTo>
                    <a:pt x="80399" y="589458"/>
                  </a:lnTo>
                  <a:lnTo>
                    <a:pt x="96746" y="590391"/>
                  </a:lnTo>
                  <a:lnTo>
                    <a:pt x="110801" y="587610"/>
                  </a:lnTo>
                  <a:lnTo>
                    <a:pt x="146692" y="567079"/>
                  </a:lnTo>
                  <a:lnTo>
                    <a:pt x="169023" y="532416"/>
                  </a:lnTo>
                  <a:lnTo>
                    <a:pt x="173747" y="504089"/>
                  </a:lnTo>
                  <a:lnTo>
                    <a:pt x="173667" y="82574"/>
                  </a:lnTo>
                  <a:lnTo>
                    <a:pt x="162568" y="44247"/>
                  </a:lnTo>
                  <a:lnTo>
                    <a:pt x="134798" y="15517"/>
                  </a:lnTo>
                  <a:lnTo>
                    <a:pt x="93335" y="932"/>
                  </a:lnTo>
                  <a:lnTo>
                    <a:pt x="76985" y="0"/>
                  </a:lnTo>
                  <a:close/>
                </a:path>
              </a:pathLst>
            </a:custGeom>
            <a:solidFill>
              <a:srgbClr val="FFFFFF"/>
            </a:solidFill>
          </p:spPr>
          <p:txBody>
            <a:bodyPr wrap="square" lIns="0" tIns="0" rIns="0" bIns="0" rtlCol="0">
              <a:noAutofit/>
            </a:bodyPr>
            <a:lstStyle/>
            <a:p>
              <a:endParaRPr/>
            </a:p>
          </p:txBody>
        </p:sp>
        <p:sp>
          <p:nvSpPr>
            <p:cNvPr id="86" name="object 51"/>
            <p:cNvSpPr/>
            <p:nvPr/>
          </p:nvSpPr>
          <p:spPr>
            <a:xfrm>
              <a:off x="4764709" y="4392393"/>
              <a:ext cx="168654" cy="571256"/>
            </a:xfrm>
            <a:custGeom>
              <a:avLst/>
              <a:gdLst/>
              <a:ahLst/>
              <a:cxnLst/>
              <a:rect l="l" t="t" r="r" b="b"/>
              <a:pathLst>
                <a:path w="173747" h="590391">
                  <a:moveTo>
                    <a:pt x="0" y="86323"/>
                  </a:moveTo>
                  <a:lnTo>
                    <a:pt x="10332" y="45198"/>
                  </a:lnTo>
                  <a:lnTo>
                    <a:pt x="37773" y="14643"/>
                  </a:lnTo>
                  <a:lnTo>
                    <a:pt x="76985" y="0"/>
                  </a:lnTo>
                  <a:lnTo>
                    <a:pt x="93335" y="932"/>
                  </a:lnTo>
                  <a:lnTo>
                    <a:pt x="134798" y="15517"/>
                  </a:lnTo>
                  <a:lnTo>
                    <a:pt x="162568" y="44247"/>
                  </a:lnTo>
                  <a:lnTo>
                    <a:pt x="173667" y="82574"/>
                  </a:lnTo>
                  <a:lnTo>
                    <a:pt x="173747" y="504089"/>
                  </a:lnTo>
                  <a:lnTo>
                    <a:pt x="172533" y="518643"/>
                  </a:lnTo>
                  <a:lnTo>
                    <a:pt x="155905" y="556832"/>
                  </a:lnTo>
                  <a:lnTo>
                    <a:pt x="123942" y="582666"/>
                  </a:lnTo>
                  <a:lnTo>
                    <a:pt x="96746" y="590391"/>
                  </a:lnTo>
                  <a:lnTo>
                    <a:pt x="80399" y="589458"/>
                  </a:lnTo>
                  <a:lnTo>
                    <a:pt x="38940" y="574874"/>
                  </a:lnTo>
                  <a:lnTo>
                    <a:pt x="11171" y="546143"/>
                  </a:lnTo>
                  <a:lnTo>
                    <a:pt x="78" y="507808"/>
                  </a:lnTo>
                  <a:lnTo>
                    <a:pt x="0" y="86323"/>
                  </a:lnTo>
                  <a:close/>
                </a:path>
              </a:pathLst>
            </a:custGeom>
            <a:ln w="15716">
              <a:solidFill>
                <a:srgbClr val="000000"/>
              </a:solidFill>
            </a:ln>
          </p:spPr>
          <p:txBody>
            <a:bodyPr wrap="square" lIns="0" tIns="0" rIns="0" bIns="0" rtlCol="0">
              <a:noAutofit/>
            </a:bodyPr>
            <a:lstStyle/>
            <a:p>
              <a:endParaRPr/>
            </a:p>
          </p:txBody>
        </p:sp>
        <p:sp>
          <p:nvSpPr>
            <p:cNvPr id="87" name="object 52"/>
            <p:cNvSpPr txBox="1"/>
            <p:nvPr/>
          </p:nvSpPr>
          <p:spPr>
            <a:xfrm>
              <a:off x="4318447" y="4635176"/>
              <a:ext cx="567692"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Instruction   </a:t>
              </a:r>
              <a:r>
                <a:rPr sz="700" spc="-80" dirty="0" smtClean="0">
                  <a:latin typeface="Franklin Gothic Book"/>
                  <a:cs typeface="Franklin Gothic Book"/>
                </a:rPr>
                <a:t> </a:t>
              </a:r>
              <a:r>
                <a:rPr sz="1050" spc="22" baseline="7936" dirty="0" smtClean="0">
                  <a:latin typeface="Franklin Gothic Demi"/>
                  <a:cs typeface="Franklin Gothic Demi"/>
                </a:rPr>
                <a:t>u</a:t>
              </a:r>
              <a:endParaRPr sz="1050" baseline="7936">
                <a:latin typeface="Franklin Gothic Demi"/>
                <a:cs typeface="Franklin Gothic Demi"/>
              </a:endParaRPr>
            </a:p>
          </p:txBody>
        </p:sp>
        <p:sp>
          <p:nvSpPr>
            <p:cNvPr id="88" name="object 53"/>
            <p:cNvSpPr txBox="1"/>
            <p:nvPr/>
          </p:nvSpPr>
          <p:spPr>
            <a:xfrm>
              <a:off x="4318447" y="4725199"/>
              <a:ext cx="340862" cy="117968"/>
            </a:xfrm>
            <a:prstGeom prst="rect">
              <a:avLst/>
            </a:prstGeom>
          </p:spPr>
          <p:txBody>
            <a:bodyPr vert="horz" wrap="square" lIns="0" tIns="0" rIns="0" bIns="0" rtlCol="0">
              <a:noAutofit/>
            </a:bodyPr>
            <a:lstStyle/>
            <a:p>
              <a:pPr marL="12700">
                <a:lnSpc>
                  <a:spcPct val="100000"/>
                </a:lnSpc>
              </a:pPr>
              <a:r>
                <a:rPr sz="700" spc="10" dirty="0" smtClean="0">
                  <a:latin typeface="Franklin Gothic Book"/>
                  <a:cs typeface="Franklin Gothic Book"/>
                </a:rPr>
                <a:t>[15–11]</a:t>
              </a:r>
              <a:endParaRPr sz="700">
                <a:latin typeface="Franklin Gothic Book"/>
                <a:cs typeface="Franklin Gothic Book"/>
              </a:endParaRPr>
            </a:p>
          </p:txBody>
        </p:sp>
        <p:sp>
          <p:nvSpPr>
            <p:cNvPr id="89" name="object 54"/>
            <p:cNvSpPr txBox="1"/>
            <p:nvPr/>
          </p:nvSpPr>
          <p:spPr>
            <a:xfrm>
              <a:off x="4796973" y="4532930"/>
              <a:ext cx="104168" cy="117354"/>
            </a:xfrm>
            <a:prstGeom prst="rect">
              <a:avLst/>
            </a:prstGeom>
          </p:spPr>
          <p:txBody>
            <a:bodyPr vert="horz" wrap="square" lIns="0" tIns="0" rIns="0" bIns="0" rtlCol="0">
              <a:noAutofit/>
            </a:bodyPr>
            <a:lstStyle/>
            <a:p>
              <a:pPr marL="12700">
                <a:lnSpc>
                  <a:spcPct val="100000"/>
                </a:lnSpc>
              </a:pPr>
              <a:r>
                <a:rPr sz="700" spc="40" dirty="0" smtClean="0">
                  <a:latin typeface="Franklin Gothic Demi"/>
                  <a:cs typeface="Franklin Gothic Demi"/>
                </a:rPr>
                <a:t>M</a:t>
              </a:r>
              <a:endParaRPr sz="700">
                <a:latin typeface="Franklin Gothic Demi"/>
                <a:cs typeface="Franklin Gothic Demi"/>
              </a:endParaRPr>
            </a:p>
          </p:txBody>
        </p:sp>
        <p:sp>
          <p:nvSpPr>
            <p:cNvPr id="90" name="object 55"/>
            <p:cNvSpPr txBox="1"/>
            <p:nvPr/>
          </p:nvSpPr>
          <p:spPr>
            <a:xfrm>
              <a:off x="4786198" y="4712977"/>
              <a:ext cx="99855" cy="230407"/>
            </a:xfrm>
            <a:prstGeom prst="rect">
              <a:avLst/>
            </a:prstGeom>
          </p:spPr>
          <p:txBody>
            <a:bodyPr vert="horz" wrap="square" lIns="0" tIns="0" rIns="0" bIns="0" rtlCol="0">
              <a:noAutofit/>
            </a:bodyPr>
            <a:lstStyle/>
            <a:p>
              <a:pPr marL="39370">
                <a:lnSpc>
                  <a:spcPct val="100000"/>
                </a:lnSpc>
              </a:pPr>
              <a:r>
                <a:rPr sz="700" spc="45" dirty="0" smtClean="0">
                  <a:latin typeface="Franklin Gothic Demi"/>
                  <a:cs typeface="Franklin Gothic Demi"/>
                </a:rPr>
                <a:t>x</a:t>
              </a:r>
              <a:endParaRPr sz="700">
                <a:latin typeface="Franklin Gothic Demi"/>
                <a:cs typeface="Franklin Gothic Demi"/>
              </a:endParaRPr>
            </a:p>
            <a:p>
              <a:pPr marL="12700">
                <a:lnSpc>
                  <a:spcPct val="100000"/>
                </a:lnSpc>
                <a:spcBef>
                  <a:spcPts val="75"/>
                </a:spcBef>
              </a:pPr>
              <a:r>
                <a:rPr sz="700" spc="25" dirty="0" smtClean="0">
                  <a:latin typeface="Franklin Gothic Book"/>
                  <a:cs typeface="Franklin Gothic Book"/>
                </a:rPr>
                <a:t>1</a:t>
              </a:r>
              <a:endParaRPr sz="700">
                <a:latin typeface="Franklin Gothic Book"/>
                <a:cs typeface="Franklin Gothic Book"/>
              </a:endParaRPr>
            </a:p>
          </p:txBody>
        </p:sp>
        <p:sp>
          <p:nvSpPr>
            <p:cNvPr id="91" name="object 56"/>
            <p:cNvSpPr txBox="1"/>
            <p:nvPr/>
          </p:nvSpPr>
          <p:spPr>
            <a:xfrm>
              <a:off x="4786198" y="4420491"/>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0</a:t>
              </a:r>
              <a:endParaRPr sz="700">
                <a:latin typeface="Franklin Gothic Book"/>
                <a:cs typeface="Franklin Gothic Book"/>
              </a:endParaRPr>
            </a:p>
          </p:txBody>
        </p:sp>
        <p:sp>
          <p:nvSpPr>
            <p:cNvPr id="92" name="object 57"/>
            <p:cNvSpPr/>
            <p:nvPr/>
          </p:nvSpPr>
          <p:spPr>
            <a:xfrm>
              <a:off x="4830592" y="4982487"/>
              <a:ext cx="168665" cy="571263"/>
            </a:xfrm>
            <a:custGeom>
              <a:avLst/>
              <a:gdLst/>
              <a:ahLst/>
              <a:cxnLst/>
              <a:rect l="l" t="t" r="r" b="b"/>
              <a:pathLst>
                <a:path w="173758" h="590398">
                  <a:moveTo>
                    <a:pt x="76986" y="0"/>
                  </a:moveTo>
                  <a:lnTo>
                    <a:pt x="37771" y="14642"/>
                  </a:lnTo>
                  <a:lnTo>
                    <a:pt x="10331" y="45194"/>
                  </a:lnTo>
                  <a:lnTo>
                    <a:pt x="0" y="86322"/>
                  </a:lnTo>
                  <a:lnTo>
                    <a:pt x="80" y="507840"/>
                  </a:lnTo>
                  <a:lnTo>
                    <a:pt x="11190" y="546169"/>
                  </a:lnTo>
                  <a:lnTo>
                    <a:pt x="38966" y="574890"/>
                  </a:lnTo>
                  <a:lnTo>
                    <a:pt x="80431" y="589467"/>
                  </a:lnTo>
                  <a:lnTo>
                    <a:pt x="96781" y="590398"/>
                  </a:lnTo>
                  <a:lnTo>
                    <a:pt x="110830" y="587613"/>
                  </a:lnTo>
                  <a:lnTo>
                    <a:pt x="146708" y="567072"/>
                  </a:lnTo>
                  <a:lnTo>
                    <a:pt x="169035" y="532400"/>
                  </a:lnTo>
                  <a:lnTo>
                    <a:pt x="173758" y="504065"/>
                  </a:lnTo>
                  <a:lnTo>
                    <a:pt x="173678" y="82563"/>
                  </a:lnTo>
                  <a:lnTo>
                    <a:pt x="162573" y="44236"/>
                  </a:lnTo>
                  <a:lnTo>
                    <a:pt x="134799" y="15511"/>
                  </a:lnTo>
                  <a:lnTo>
                    <a:pt x="93335" y="931"/>
                  </a:lnTo>
                  <a:lnTo>
                    <a:pt x="76986" y="0"/>
                  </a:lnTo>
                  <a:close/>
                </a:path>
              </a:pathLst>
            </a:custGeom>
            <a:solidFill>
              <a:srgbClr val="FFFFFF"/>
            </a:solidFill>
          </p:spPr>
          <p:txBody>
            <a:bodyPr wrap="square" lIns="0" tIns="0" rIns="0" bIns="0" rtlCol="0">
              <a:noAutofit/>
            </a:bodyPr>
            <a:lstStyle/>
            <a:p>
              <a:endParaRPr/>
            </a:p>
          </p:txBody>
        </p:sp>
        <p:sp>
          <p:nvSpPr>
            <p:cNvPr id="93" name="object 58"/>
            <p:cNvSpPr/>
            <p:nvPr/>
          </p:nvSpPr>
          <p:spPr>
            <a:xfrm>
              <a:off x="4830593" y="4982487"/>
              <a:ext cx="168664" cy="571263"/>
            </a:xfrm>
            <a:custGeom>
              <a:avLst/>
              <a:gdLst/>
              <a:ahLst/>
              <a:cxnLst/>
              <a:rect l="l" t="t" r="r" b="b"/>
              <a:pathLst>
                <a:path w="173757" h="590398">
                  <a:moveTo>
                    <a:pt x="0" y="86322"/>
                  </a:moveTo>
                  <a:lnTo>
                    <a:pt x="10331" y="45194"/>
                  </a:lnTo>
                  <a:lnTo>
                    <a:pt x="37771" y="14642"/>
                  </a:lnTo>
                  <a:lnTo>
                    <a:pt x="76985" y="0"/>
                  </a:lnTo>
                  <a:lnTo>
                    <a:pt x="93334" y="931"/>
                  </a:lnTo>
                  <a:lnTo>
                    <a:pt x="134799" y="15511"/>
                  </a:lnTo>
                  <a:lnTo>
                    <a:pt x="162573" y="44236"/>
                  </a:lnTo>
                  <a:lnTo>
                    <a:pt x="173677" y="82564"/>
                  </a:lnTo>
                  <a:lnTo>
                    <a:pt x="173757" y="504065"/>
                  </a:lnTo>
                  <a:lnTo>
                    <a:pt x="172544" y="518623"/>
                  </a:lnTo>
                  <a:lnTo>
                    <a:pt x="155919" y="556822"/>
                  </a:lnTo>
                  <a:lnTo>
                    <a:pt x="123965" y="582665"/>
                  </a:lnTo>
                  <a:lnTo>
                    <a:pt x="96780" y="590398"/>
                  </a:lnTo>
                  <a:lnTo>
                    <a:pt x="80430" y="589467"/>
                  </a:lnTo>
                  <a:lnTo>
                    <a:pt x="38965" y="574890"/>
                  </a:lnTo>
                  <a:lnTo>
                    <a:pt x="11189" y="546168"/>
                  </a:lnTo>
                  <a:lnTo>
                    <a:pt x="80" y="507840"/>
                  </a:lnTo>
                  <a:lnTo>
                    <a:pt x="0" y="86322"/>
                  </a:lnTo>
                  <a:close/>
                </a:path>
              </a:pathLst>
            </a:custGeom>
            <a:ln w="15716">
              <a:solidFill>
                <a:srgbClr val="000000"/>
              </a:solidFill>
            </a:ln>
          </p:spPr>
          <p:txBody>
            <a:bodyPr wrap="square" lIns="0" tIns="0" rIns="0" bIns="0" rtlCol="0">
              <a:noAutofit/>
            </a:bodyPr>
            <a:lstStyle/>
            <a:p>
              <a:endParaRPr/>
            </a:p>
          </p:txBody>
        </p:sp>
        <p:sp>
          <p:nvSpPr>
            <p:cNvPr id="94" name="object 59"/>
            <p:cNvSpPr txBox="1"/>
            <p:nvPr/>
          </p:nvSpPr>
          <p:spPr>
            <a:xfrm>
              <a:off x="4852090" y="5123016"/>
              <a:ext cx="115264" cy="410432"/>
            </a:xfrm>
            <a:prstGeom prst="rect">
              <a:avLst/>
            </a:prstGeom>
          </p:spPr>
          <p:txBody>
            <a:bodyPr vert="horz" wrap="square" lIns="0" tIns="0" rIns="0" bIns="0" rtlCol="0">
              <a:noAutofit/>
            </a:bodyPr>
            <a:lstStyle/>
            <a:p>
              <a:pPr marL="23495">
                <a:lnSpc>
                  <a:spcPct val="100000"/>
                </a:lnSpc>
              </a:pPr>
              <a:r>
                <a:rPr sz="700" spc="40" dirty="0" smtClean="0">
                  <a:latin typeface="Franklin Gothic Demi"/>
                  <a:cs typeface="Franklin Gothic Demi"/>
                </a:rPr>
                <a:t>M</a:t>
              </a:r>
              <a:endParaRPr sz="700">
                <a:latin typeface="Franklin Gothic Demi"/>
                <a:cs typeface="Franklin Gothic Demi"/>
              </a:endParaRPr>
            </a:p>
            <a:p>
              <a:pPr marL="39370" marR="27940">
                <a:lnSpc>
                  <a:spcPts val="730"/>
                </a:lnSpc>
                <a:spcBef>
                  <a:spcPts val="5"/>
                </a:spcBef>
              </a:pPr>
              <a:r>
                <a:rPr sz="700" spc="15" dirty="0" smtClean="0">
                  <a:latin typeface="Franklin Gothic Demi"/>
                  <a:cs typeface="Franklin Gothic Demi"/>
                </a:rPr>
                <a:t>u</a:t>
              </a:r>
              <a:r>
                <a:rPr sz="700" spc="5" dirty="0" smtClean="0">
                  <a:latin typeface="Franklin Gothic Demi"/>
                  <a:cs typeface="Franklin Gothic Demi"/>
                </a:rPr>
                <a:t> </a:t>
              </a:r>
              <a:r>
                <a:rPr sz="700" spc="45" dirty="0" smtClean="0">
                  <a:latin typeface="Franklin Gothic Demi"/>
                  <a:cs typeface="Franklin Gothic Demi"/>
                </a:rPr>
                <a:t>x</a:t>
              </a:r>
              <a:endParaRPr sz="700">
                <a:latin typeface="Franklin Gothic Demi"/>
                <a:cs typeface="Franklin Gothic Demi"/>
              </a:endParaRPr>
            </a:p>
            <a:p>
              <a:pPr marL="12700">
                <a:lnSpc>
                  <a:spcPct val="100000"/>
                </a:lnSpc>
                <a:spcBef>
                  <a:spcPts val="70"/>
                </a:spcBef>
              </a:pPr>
              <a:r>
                <a:rPr sz="700" spc="25" dirty="0" smtClean="0">
                  <a:latin typeface="Franklin Gothic Book"/>
                  <a:cs typeface="Franklin Gothic Book"/>
                </a:rPr>
                <a:t>1</a:t>
              </a:r>
              <a:endParaRPr sz="700">
                <a:latin typeface="Franklin Gothic Book"/>
                <a:cs typeface="Franklin Gothic Book"/>
              </a:endParaRPr>
            </a:p>
          </p:txBody>
        </p:sp>
        <p:sp>
          <p:nvSpPr>
            <p:cNvPr id="95" name="object 60"/>
            <p:cNvSpPr txBox="1"/>
            <p:nvPr/>
          </p:nvSpPr>
          <p:spPr>
            <a:xfrm>
              <a:off x="4852090" y="5010576"/>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0</a:t>
              </a:r>
              <a:endParaRPr sz="700">
                <a:latin typeface="Franklin Gothic Book"/>
                <a:cs typeface="Franklin Gothic Book"/>
              </a:endParaRPr>
            </a:p>
          </p:txBody>
        </p:sp>
        <p:sp>
          <p:nvSpPr>
            <p:cNvPr id="96" name="object 61"/>
            <p:cNvSpPr/>
            <p:nvPr/>
          </p:nvSpPr>
          <p:spPr>
            <a:xfrm>
              <a:off x="4724003" y="5061754"/>
              <a:ext cx="61865" cy="1358399"/>
            </a:xfrm>
            <a:custGeom>
              <a:avLst/>
              <a:gdLst/>
              <a:ahLst/>
              <a:cxnLst/>
              <a:rect l="l" t="t" r="r" b="b"/>
              <a:pathLst>
                <a:path w="63733" h="1403901">
                  <a:moveTo>
                    <a:pt x="63733" y="0"/>
                  </a:moveTo>
                  <a:lnTo>
                    <a:pt x="0" y="0"/>
                  </a:lnTo>
                  <a:lnTo>
                    <a:pt x="0" y="1403901"/>
                  </a:lnTo>
                </a:path>
              </a:pathLst>
            </a:custGeom>
            <a:ln w="31432">
              <a:solidFill>
                <a:srgbClr val="000000"/>
              </a:solidFill>
            </a:ln>
          </p:spPr>
          <p:txBody>
            <a:bodyPr wrap="square" lIns="0" tIns="0" rIns="0" bIns="0" rtlCol="0">
              <a:noAutofit/>
            </a:bodyPr>
            <a:lstStyle/>
            <a:p>
              <a:endParaRPr/>
            </a:p>
          </p:txBody>
        </p:sp>
        <p:sp>
          <p:nvSpPr>
            <p:cNvPr id="97" name="object 62"/>
            <p:cNvSpPr/>
            <p:nvPr/>
          </p:nvSpPr>
          <p:spPr>
            <a:xfrm>
              <a:off x="6669403" y="4811886"/>
              <a:ext cx="84565" cy="0"/>
            </a:xfrm>
            <a:custGeom>
              <a:avLst/>
              <a:gdLst/>
              <a:ahLst/>
              <a:cxnLst/>
              <a:rect l="l" t="t" r="r" b="b"/>
              <a:pathLst>
                <a:path w="87119">
                  <a:moveTo>
                    <a:pt x="87119" y="0"/>
                  </a:moveTo>
                  <a:lnTo>
                    <a:pt x="0" y="0"/>
                  </a:lnTo>
                </a:path>
              </a:pathLst>
            </a:custGeom>
            <a:ln w="31432">
              <a:solidFill>
                <a:srgbClr val="000000"/>
              </a:solidFill>
            </a:ln>
          </p:spPr>
          <p:txBody>
            <a:bodyPr wrap="square" lIns="0" tIns="0" rIns="0" bIns="0" rtlCol="0">
              <a:noAutofit/>
            </a:bodyPr>
            <a:lstStyle/>
            <a:p>
              <a:endParaRPr/>
            </a:p>
          </p:txBody>
        </p:sp>
        <p:sp>
          <p:nvSpPr>
            <p:cNvPr id="98" name="object 63"/>
            <p:cNvSpPr/>
            <p:nvPr/>
          </p:nvSpPr>
          <p:spPr>
            <a:xfrm>
              <a:off x="6417304" y="4676892"/>
              <a:ext cx="336664" cy="21"/>
            </a:xfrm>
            <a:custGeom>
              <a:avLst/>
              <a:gdLst/>
              <a:ahLst/>
              <a:cxnLst/>
              <a:rect l="l" t="t" r="r" b="b"/>
              <a:pathLst>
                <a:path w="346831" h="22">
                  <a:moveTo>
                    <a:pt x="346831" y="22"/>
                  </a:moveTo>
                  <a:lnTo>
                    <a:pt x="346831" y="0"/>
                  </a:lnTo>
                  <a:lnTo>
                    <a:pt x="0" y="0"/>
                  </a:lnTo>
                </a:path>
              </a:pathLst>
            </a:custGeom>
            <a:ln w="31432">
              <a:solidFill>
                <a:srgbClr val="000000"/>
              </a:solidFill>
            </a:ln>
          </p:spPr>
          <p:txBody>
            <a:bodyPr wrap="square" lIns="0" tIns="0" rIns="0" bIns="0" rtlCol="0">
              <a:noAutofit/>
            </a:bodyPr>
            <a:lstStyle/>
            <a:p>
              <a:endParaRPr/>
            </a:p>
          </p:txBody>
        </p:sp>
        <p:sp>
          <p:nvSpPr>
            <p:cNvPr id="99" name="object 64"/>
            <p:cNvSpPr txBox="1"/>
            <p:nvPr/>
          </p:nvSpPr>
          <p:spPr>
            <a:xfrm>
              <a:off x="6568311" y="4756809"/>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4</a:t>
              </a:r>
              <a:endParaRPr sz="700">
                <a:latin typeface="Franklin Gothic Book"/>
                <a:cs typeface="Franklin Gothic Book"/>
              </a:endParaRPr>
            </a:p>
          </p:txBody>
        </p:sp>
        <p:sp>
          <p:nvSpPr>
            <p:cNvPr id="100" name="object 65"/>
            <p:cNvSpPr/>
            <p:nvPr/>
          </p:nvSpPr>
          <p:spPr>
            <a:xfrm>
              <a:off x="5309761" y="5330323"/>
              <a:ext cx="338673" cy="717388"/>
            </a:xfrm>
            <a:custGeom>
              <a:avLst/>
              <a:gdLst/>
              <a:ahLst/>
              <a:cxnLst/>
              <a:rect l="l" t="t" r="r" b="b"/>
              <a:pathLst>
                <a:path w="348900" h="741418">
                  <a:moveTo>
                    <a:pt x="174456" y="0"/>
                  </a:moveTo>
                  <a:lnTo>
                    <a:pt x="132530" y="10773"/>
                  </a:lnTo>
                  <a:lnTo>
                    <a:pt x="94281" y="41378"/>
                  </a:lnTo>
                  <a:lnTo>
                    <a:pt x="60919" y="89238"/>
                  </a:lnTo>
                  <a:lnTo>
                    <a:pt x="41992" y="129458"/>
                  </a:lnTo>
                  <a:lnTo>
                    <a:pt x="26136" y="175439"/>
                  </a:lnTo>
                  <a:lnTo>
                    <a:pt x="13708" y="226418"/>
                  </a:lnTo>
                  <a:lnTo>
                    <a:pt x="5069" y="281631"/>
                  </a:lnTo>
                  <a:lnTo>
                    <a:pt x="578" y="340315"/>
                  </a:lnTo>
                  <a:lnTo>
                    <a:pt x="0" y="370720"/>
                  </a:lnTo>
                  <a:lnTo>
                    <a:pt x="578" y="401124"/>
                  </a:lnTo>
                  <a:lnTo>
                    <a:pt x="5069" y="459804"/>
                  </a:lnTo>
                  <a:lnTo>
                    <a:pt x="13708" y="515014"/>
                  </a:lnTo>
                  <a:lnTo>
                    <a:pt x="26136" y="565989"/>
                  </a:lnTo>
                  <a:lnTo>
                    <a:pt x="41992" y="611968"/>
                  </a:lnTo>
                  <a:lnTo>
                    <a:pt x="60919" y="652186"/>
                  </a:lnTo>
                  <a:lnTo>
                    <a:pt x="82557" y="685880"/>
                  </a:lnTo>
                  <a:lnTo>
                    <a:pt x="119312" y="722520"/>
                  </a:lnTo>
                  <a:lnTo>
                    <a:pt x="160147" y="740189"/>
                  </a:lnTo>
                  <a:lnTo>
                    <a:pt x="174456" y="741418"/>
                  </a:lnTo>
                  <a:lnTo>
                    <a:pt x="188763" y="740189"/>
                  </a:lnTo>
                  <a:lnTo>
                    <a:pt x="229594" y="722520"/>
                  </a:lnTo>
                  <a:lnTo>
                    <a:pt x="266346" y="685880"/>
                  </a:lnTo>
                  <a:lnTo>
                    <a:pt x="287982" y="652186"/>
                  </a:lnTo>
                  <a:lnTo>
                    <a:pt x="306908" y="611968"/>
                  </a:lnTo>
                  <a:lnTo>
                    <a:pt x="322765" y="565989"/>
                  </a:lnTo>
                  <a:lnTo>
                    <a:pt x="335192" y="515014"/>
                  </a:lnTo>
                  <a:lnTo>
                    <a:pt x="343830" y="459804"/>
                  </a:lnTo>
                  <a:lnTo>
                    <a:pt x="348322" y="401124"/>
                  </a:lnTo>
                  <a:lnTo>
                    <a:pt x="348900" y="370720"/>
                  </a:lnTo>
                  <a:lnTo>
                    <a:pt x="348322" y="340315"/>
                  </a:lnTo>
                  <a:lnTo>
                    <a:pt x="343830" y="281631"/>
                  </a:lnTo>
                  <a:lnTo>
                    <a:pt x="335192" y="226418"/>
                  </a:lnTo>
                  <a:lnTo>
                    <a:pt x="322765" y="175439"/>
                  </a:lnTo>
                  <a:lnTo>
                    <a:pt x="306908" y="129458"/>
                  </a:lnTo>
                  <a:lnTo>
                    <a:pt x="287982" y="89238"/>
                  </a:lnTo>
                  <a:lnTo>
                    <a:pt x="266346" y="55541"/>
                  </a:lnTo>
                  <a:lnTo>
                    <a:pt x="229594" y="18899"/>
                  </a:lnTo>
                  <a:lnTo>
                    <a:pt x="188763" y="1228"/>
                  </a:lnTo>
                  <a:lnTo>
                    <a:pt x="174456" y="0"/>
                  </a:lnTo>
                  <a:close/>
                </a:path>
              </a:pathLst>
            </a:custGeom>
            <a:solidFill>
              <a:srgbClr val="FFFFFF"/>
            </a:solidFill>
          </p:spPr>
          <p:txBody>
            <a:bodyPr wrap="square" lIns="0" tIns="0" rIns="0" bIns="0" rtlCol="0">
              <a:noAutofit/>
            </a:bodyPr>
            <a:lstStyle/>
            <a:p>
              <a:endParaRPr/>
            </a:p>
          </p:txBody>
        </p:sp>
        <p:sp>
          <p:nvSpPr>
            <p:cNvPr id="101" name="object 66"/>
            <p:cNvSpPr/>
            <p:nvPr/>
          </p:nvSpPr>
          <p:spPr>
            <a:xfrm>
              <a:off x="5309760" y="5330324"/>
              <a:ext cx="338673" cy="717388"/>
            </a:xfrm>
            <a:custGeom>
              <a:avLst/>
              <a:gdLst/>
              <a:ahLst/>
              <a:cxnLst/>
              <a:rect l="l" t="t" r="r" b="b"/>
              <a:pathLst>
                <a:path w="348900" h="741418">
                  <a:moveTo>
                    <a:pt x="174456" y="741418"/>
                  </a:moveTo>
                  <a:lnTo>
                    <a:pt x="216377" y="730645"/>
                  </a:lnTo>
                  <a:lnTo>
                    <a:pt x="254623" y="700042"/>
                  </a:lnTo>
                  <a:lnTo>
                    <a:pt x="287982" y="652185"/>
                  </a:lnTo>
                  <a:lnTo>
                    <a:pt x="306908" y="611968"/>
                  </a:lnTo>
                  <a:lnTo>
                    <a:pt x="322765" y="565989"/>
                  </a:lnTo>
                  <a:lnTo>
                    <a:pt x="335192" y="515014"/>
                  </a:lnTo>
                  <a:lnTo>
                    <a:pt x="343830" y="459804"/>
                  </a:lnTo>
                  <a:lnTo>
                    <a:pt x="348322" y="401124"/>
                  </a:lnTo>
                  <a:lnTo>
                    <a:pt x="348900" y="370720"/>
                  </a:lnTo>
                  <a:lnTo>
                    <a:pt x="348322" y="340315"/>
                  </a:lnTo>
                  <a:lnTo>
                    <a:pt x="343830" y="281631"/>
                  </a:lnTo>
                  <a:lnTo>
                    <a:pt x="335192" y="226418"/>
                  </a:lnTo>
                  <a:lnTo>
                    <a:pt x="322765" y="175439"/>
                  </a:lnTo>
                  <a:lnTo>
                    <a:pt x="306908" y="129458"/>
                  </a:lnTo>
                  <a:lnTo>
                    <a:pt x="287982" y="89238"/>
                  </a:lnTo>
                  <a:lnTo>
                    <a:pt x="266346" y="55541"/>
                  </a:lnTo>
                  <a:lnTo>
                    <a:pt x="229594" y="18899"/>
                  </a:lnTo>
                  <a:lnTo>
                    <a:pt x="188763" y="1228"/>
                  </a:lnTo>
                  <a:lnTo>
                    <a:pt x="174456" y="0"/>
                  </a:lnTo>
                  <a:lnTo>
                    <a:pt x="160147" y="1228"/>
                  </a:lnTo>
                  <a:lnTo>
                    <a:pt x="119312" y="18899"/>
                  </a:lnTo>
                  <a:lnTo>
                    <a:pt x="82558" y="55541"/>
                  </a:lnTo>
                  <a:lnTo>
                    <a:pt x="60920" y="89238"/>
                  </a:lnTo>
                  <a:lnTo>
                    <a:pt x="41993" y="129458"/>
                  </a:lnTo>
                  <a:lnTo>
                    <a:pt x="26136" y="175439"/>
                  </a:lnTo>
                  <a:lnTo>
                    <a:pt x="13709" y="226418"/>
                  </a:lnTo>
                  <a:lnTo>
                    <a:pt x="5069" y="281631"/>
                  </a:lnTo>
                  <a:lnTo>
                    <a:pt x="578" y="340315"/>
                  </a:lnTo>
                  <a:lnTo>
                    <a:pt x="0" y="370720"/>
                  </a:lnTo>
                  <a:lnTo>
                    <a:pt x="578" y="401124"/>
                  </a:lnTo>
                  <a:lnTo>
                    <a:pt x="5069" y="459804"/>
                  </a:lnTo>
                  <a:lnTo>
                    <a:pt x="13709" y="515014"/>
                  </a:lnTo>
                  <a:lnTo>
                    <a:pt x="26136" y="565989"/>
                  </a:lnTo>
                  <a:lnTo>
                    <a:pt x="41993" y="611968"/>
                  </a:lnTo>
                  <a:lnTo>
                    <a:pt x="60920" y="652185"/>
                  </a:lnTo>
                  <a:lnTo>
                    <a:pt x="82558" y="685880"/>
                  </a:lnTo>
                  <a:lnTo>
                    <a:pt x="119312" y="722520"/>
                  </a:lnTo>
                  <a:lnTo>
                    <a:pt x="160147" y="740189"/>
                  </a:lnTo>
                  <a:lnTo>
                    <a:pt x="174456" y="741418"/>
                  </a:lnTo>
                  <a:close/>
                </a:path>
              </a:pathLst>
            </a:custGeom>
            <a:ln w="15716">
              <a:solidFill>
                <a:srgbClr val="000000"/>
              </a:solidFill>
            </a:ln>
          </p:spPr>
          <p:txBody>
            <a:bodyPr wrap="square" lIns="0" tIns="0" rIns="0" bIns="0" rtlCol="0">
              <a:noAutofit/>
            </a:bodyPr>
            <a:lstStyle/>
            <a:p>
              <a:endParaRPr/>
            </a:p>
          </p:txBody>
        </p:sp>
        <p:sp>
          <p:nvSpPr>
            <p:cNvPr id="102" name="object 67"/>
            <p:cNvSpPr/>
            <p:nvPr/>
          </p:nvSpPr>
          <p:spPr>
            <a:xfrm>
              <a:off x="5714616" y="5630170"/>
              <a:ext cx="67734" cy="116954"/>
            </a:xfrm>
            <a:custGeom>
              <a:avLst/>
              <a:gdLst/>
              <a:ahLst/>
              <a:cxnLst/>
              <a:rect l="l" t="t" r="r" b="b"/>
              <a:pathLst>
                <a:path w="69779" h="120872">
                  <a:moveTo>
                    <a:pt x="69779" y="120872"/>
                  </a:moveTo>
                  <a:lnTo>
                    <a:pt x="0" y="0"/>
                  </a:lnTo>
                </a:path>
              </a:pathLst>
            </a:custGeom>
            <a:ln w="15716">
              <a:solidFill>
                <a:srgbClr val="000000"/>
              </a:solidFill>
            </a:ln>
          </p:spPr>
          <p:txBody>
            <a:bodyPr wrap="square" lIns="0" tIns="0" rIns="0" bIns="0" rtlCol="0">
              <a:noAutofit/>
            </a:bodyPr>
            <a:lstStyle/>
            <a:p>
              <a:endParaRPr/>
            </a:p>
          </p:txBody>
        </p:sp>
        <p:sp>
          <p:nvSpPr>
            <p:cNvPr id="103" name="object 68"/>
            <p:cNvSpPr txBox="1"/>
            <p:nvPr/>
          </p:nvSpPr>
          <p:spPr>
            <a:xfrm>
              <a:off x="3749926" y="5021061"/>
              <a:ext cx="441949" cy="207673"/>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Instruction</a:t>
              </a:r>
              <a:endParaRPr sz="700">
                <a:latin typeface="Franklin Gothic Book"/>
                <a:cs typeface="Franklin Gothic Book"/>
              </a:endParaRPr>
            </a:p>
            <a:p>
              <a:pPr marL="172720">
                <a:lnSpc>
                  <a:spcPts val="735"/>
                </a:lnSpc>
              </a:pPr>
              <a:r>
                <a:rPr sz="700" spc="10" dirty="0" smtClean="0">
                  <a:latin typeface="Franklin Gothic Book"/>
                  <a:cs typeface="Franklin Gothic Book"/>
                </a:rPr>
                <a:t>[15–0]</a:t>
              </a:r>
              <a:endParaRPr sz="700">
                <a:latin typeface="Franklin Gothic Book"/>
                <a:cs typeface="Franklin Gothic Book"/>
              </a:endParaRPr>
            </a:p>
          </p:txBody>
        </p:sp>
        <p:sp>
          <p:nvSpPr>
            <p:cNvPr id="104" name="object 69"/>
            <p:cNvSpPr txBox="1"/>
            <p:nvPr/>
          </p:nvSpPr>
          <p:spPr>
            <a:xfrm>
              <a:off x="5327330" y="5579636"/>
              <a:ext cx="303262" cy="227335"/>
            </a:xfrm>
            <a:prstGeom prst="rect">
              <a:avLst/>
            </a:prstGeom>
          </p:spPr>
          <p:txBody>
            <a:bodyPr vert="horz" wrap="square" lIns="0" tIns="0" rIns="0" bIns="0" rtlCol="0">
              <a:noAutofit/>
            </a:bodyPr>
            <a:lstStyle/>
            <a:p>
              <a:pPr marL="12700" marR="12700" indent="52069">
                <a:lnSpc>
                  <a:spcPct val="103299"/>
                </a:lnSpc>
              </a:pPr>
              <a:r>
                <a:rPr sz="700" spc="15" dirty="0" smtClean="0">
                  <a:latin typeface="Franklin Gothic Demi"/>
                  <a:cs typeface="Franklin Gothic Demi"/>
                </a:rPr>
                <a:t>Sign</a:t>
              </a:r>
              <a:r>
                <a:rPr sz="700" spc="5" dirty="0" smtClean="0">
                  <a:latin typeface="Franklin Gothic Demi"/>
                  <a:cs typeface="Franklin Gothic Demi"/>
                </a:rPr>
                <a:t> </a:t>
              </a:r>
              <a:r>
                <a:rPr sz="700" spc="20" dirty="0" smtClean="0">
                  <a:latin typeface="Franklin Gothic Demi"/>
                  <a:cs typeface="Franklin Gothic Demi"/>
                </a:rPr>
                <a:t>extend</a:t>
              </a:r>
              <a:endParaRPr sz="700">
                <a:latin typeface="Franklin Gothic Demi"/>
                <a:cs typeface="Franklin Gothic Demi"/>
              </a:endParaRPr>
            </a:p>
          </p:txBody>
        </p:sp>
        <p:sp>
          <p:nvSpPr>
            <p:cNvPr id="105" name="object 70"/>
            <p:cNvSpPr txBox="1"/>
            <p:nvPr/>
          </p:nvSpPr>
          <p:spPr>
            <a:xfrm>
              <a:off x="5682145" y="5510500"/>
              <a:ext cx="133139"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32</a:t>
              </a:r>
              <a:endParaRPr sz="700">
                <a:latin typeface="Franklin Gothic Book"/>
                <a:cs typeface="Franklin Gothic Book"/>
              </a:endParaRPr>
            </a:p>
          </p:txBody>
        </p:sp>
        <p:sp>
          <p:nvSpPr>
            <p:cNvPr id="106" name="object 71"/>
            <p:cNvSpPr/>
            <p:nvPr/>
          </p:nvSpPr>
          <p:spPr>
            <a:xfrm>
              <a:off x="6219924" y="4946922"/>
              <a:ext cx="524835" cy="0"/>
            </a:xfrm>
            <a:custGeom>
              <a:avLst/>
              <a:gdLst/>
              <a:ahLst/>
              <a:cxnLst/>
              <a:rect l="l" t="t" r="r" b="b"/>
              <a:pathLst>
                <a:path w="540684">
                  <a:moveTo>
                    <a:pt x="540684" y="0"/>
                  </a:moveTo>
                  <a:lnTo>
                    <a:pt x="0" y="0"/>
                  </a:lnTo>
                </a:path>
              </a:pathLst>
            </a:custGeom>
            <a:ln w="31432">
              <a:solidFill>
                <a:srgbClr val="000000"/>
              </a:solidFill>
            </a:ln>
          </p:spPr>
          <p:txBody>
            <a:bodyPr wrap="square" lIns="0" tIns="0" rIns="0" bIns="0" rtlCol="0">
              <a:noAutofit/>
            </a:bodyPr>
            <a:lstStyle/>
            <a:p>
              <a:endParaRPr/>
            </a:p>
          </p:txBody>
        </p:sp>
        <p:sp>
          <p:nvSpPr>
            <p:cNvPr id="107" name="object 72"/>
            <p:cNvSpPr/>
            <p:nvPr/>
          </p:nvSpPr>
          <p:spPr>
            <a:xfrm>
              <a:off x="5827852" y="4946922"/>
              <a:ext cx="404788" cy="724610"/>
            </a:xfrm>
            <a:custGeom>
              <a:avLst/>
              <a:gdLst/>
              <a:ahLst/>
              <a:cxnLst/>
              <a:rect l="l" t="t" r="r" b="b"/>
              <a:pathLst>
                <a:path w="417012" h="748882">
                  <a:moveTo>
                    <a:pt x="0" y="748882"/>
                  </a:moveTo>
                  <a:lnTo>
                    <a:pt x="0" y="301077"/>
                  </a:lnTo>
                  <a:lnTo>
                    <a:pt x="417012" y="301077"/>
                  </a:lnTo>
                  <a:lnTo>
                    <a:pt x="417012" y="0"/>
                  </a:lnTo>
                </a:path>
              </a:pathLst>
            </a:custGeom>
            <a:ln w="31432">
              <a:solidFill>
                <a:srgbClr val="000000"/>
              </a:solidFill>
            </a:ln>
          </p:spPr>
          <p:txBody>
            <a:bodyPr wrap="square" lIns="0" tIns="0" rIns="0" bIns="0" rtlCol="0">
              <a:noAutofit/>
            </a:bodyPr>
            <a:lstStyle/>
            <a:p>
              <a:endParaRPr/>
            </a:p>
          </p:txBody>
        </p:sp>
        <p:sp>
          <p:nvSpPr>
            <p:cNvPr id="108" name="object 73"/>
            <p:cNvSpPr/>
            <p:nvPr/>
          </p:nvSpPr>
          <p:spPr>
            <a:xfrm>
              <a:off x="6230098" y="5085764"/>
              <a:ext cx="510835" cy="592061"/>
            </a:xfrm>
            <a:custGeom>
              <a:avLst/>
              <a:gdLst/>
              <a:ahLst/>
              <a:cxnLst/>
              <a:rect l="l" t="t" r="r" b="b"/>
              <a:pathLst>
                <a:path w="526261" h="611893">
                  <a:moveTo>
                    <a:pt x="526261" y="0"/>
                  </a:moveTo>
                  <a:lnTo>
                    <a:pt x="413652" y="0"/>
                  </a:lnTo>
                  <a:lnTo>
                    <a:pt x="413652" y="611893"/>
                  </a:lnTo>
                  <a:lnTo>
                    <a:pt x="0" y="611893"/>
                  </a:lnTo>
                </a:path>
              </a:pathLst>
            </a:custGeom>
            <a:ln w="31432">
              <a:solidFill>
                <a:srgbClr val="000000"/>
              </a:solidFill>
            </a:ln>
          </p:spPr>
          <p:txBody>
            <a:bodyPr wrap="square" lIns="0" tIns="0" rIns="0" bIns="0" rtlCol="0">
              <a:noAutofit/>
            </a:bodyPr>
            <a:lstStyle/>
            <a:p>
              <a:endParaRPr/>
            </a:p>
          </p:txBody>
        </p:sp>
        <p:sp>
          <p:nvSpPr>
            <p:cNvPr id="109" name="object 74"/>
            <p:cNvSpPr/>
            <p:nvPr/>
          </p:nvSpPr>
          <p:spPr>
            <a:xfrm>
              <a:off x="5648611" y="5677825"/>
              <a:ext cx="250945" cy="0"/>
            </a:xfrm>
            <a:custGeom>
              <a:avLst/>
              <a:gdLst/>
              <a:ahLst/>
              <a:cxnLst/>
              <a:rect l="l" t="t" r="r" b="b"/>
              <a:pathLst>
                <a:path w="258523">
                  <a:moveTo>
                    <a:pt x="258523" y="0"/>
                  </a:moveTo>
                  <a:lnTo>
                    <a:pt x="0" y="0"/>
                  </a:lnTo>
                </a:path>
              </a:pathLst>
            </a:custGeom>
            <a:ln w="31432">
              <a:solidFill>
                <a:srgbClr val="000000"/>
              </a:solidFill>
            </a:ln>
          </p:spPr>
          <p:txBody>
            <a:bodyPr wrap="square" lIns="0" tIns="0" rIns="0" bIns="0" rtlCol="0">
              <a:noAutofit/>
            </a:bodyPr>
            <a:lstStyle/>
            <a:p>
              <a:endParaRPr/>
            </a:p>
          </p:txBody>
        </p:sp>
        <p:sp>
          <p:nvSpPr>
            <p:cNvPr id="110" name="object 75"/>
            <p:cNvSpPr/>
            <p:nvPr/>
          </p:nvSpPr>
          <p:spPr>
            <a:xfrm>
              <a:off x="2150715" y="4670511"/>
              <a:ext cx="4379290" cy="1648336"/>
            </a:xfrm>
            <a:custGeom>
              <a:avLst/>
              <a:gdLst/>
              <a:ahLst/>
              <a:cxnLst/>
              <a:rect l="l" t="t" r="r" b="b"/>
              <a:pathLst>
                <a:path w="4511535" h="1703550">
                  <a:moveTo>
                    <a:pt x="4511535" y="0"/>
                  </a:moveTo>
                  <a:lnTo>
                    <a:pt x="4511535" y="1703550"/>
                  </a:lnTo>
                  <a:lnTo>
                    <a:pt x="0" y="1703550"/>
                  </a:lnTo>
                  <a:lnTo>
                    <a:pt x="0" y="146646"/>
                  </a:lnTo>
                  <a:lnTo>
                    <a:pt x="100424" y="146646"/>
                  </a:lnTo>
                </a:path>
              </a:pathLst>
            </a:custGeom>
            <a:ln w="31432">
              <a:solidFill>
                <a:srgbClr val="000000"/>
              </a:solidFill>
            </a:ln>
          </p:spPr>
          <p:txBody>
            <a:bodyPr wrap="square" lIns="0" tIns="0" rIns="0" bIns="0" rtlCol="0">
              <a:noAutofit/>
            </a:bodyPr>
            <a:lstStyle/>
            <a:p>
              <a:endParaRPr/>
            </a:p>
          </p:txBody>
        </p:sp>
        <p:sp>
          <p:nvSpPr>
            <p:cNvPr id="111" name="object 76"/>
            <p:cNvSpPr/>
            <p:nvPr/>
          </p:nvSpPr>
          <p:spPr>
            <a:xfrm>
              <a:off x="5121923" y="5630170"/>
              <a:ext cx="67735" cy="116954"/>
            </a:xfrm>
            <a:custGeom>
              <a:avLst/>
              <a:gdLst/>
              <a:ahLst/>
              <a:cxnLst/>
              <a:rect l="l" t="t" r="r" b="b"/>
              <a:pathLst>
                <a:path w="69780" h="120872">
                  <a:moveTo>
                    <a:pt x="69780" y="120872"/>
                  </a:moveTo>
                  <a:lnTo>
                    <a:pt x="0" y="0"/>
                  </a:lnTo>
                </a:path>
              </a:pathLst>
            </a:custGeom>
            <a:ln w="15716">
              <a:solidFill>
                <a:srgbClr val="000000"/>
              </a:solidFill>
            </a:ln>
          </p:spPr>
          <p:txBody>
            <a:bodyPr wrap="square" lIns="0" tIns="0" rIns="0" bIns="0" rtlCol="0">
              <a:noAutofit/>
            </a:bodyPr>
            <a:lstStyle/>
            <a:p>
              <a:endParaRPr/>
            </a:p>
          </p:txBody>
        </p:sp>
        <p:sp>
          <p:nvSpPr>
            <p:cNvPr id="112" name="object 77"/>
            <p:cNvSpPr txBox="1"/>
            <p:nvPr/>
          </p:nvSpPr>
          <p:spPr>
            <a:xfrm>
              <a:off x="5089458" y="5510500"/>
              <a:ext cx="133139"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16</a:t>
              </a:r>
              <a:endParaRPr sz="700">
                <a:latin typeface="Franklin Gothic Book"/>
                <a:cs typeface="Franklin Gothic Book"/>
              </a:endParaRPr>
            </a:p>
          </p:txBody>
        </p:sp>
        <p:sp>
          <p:nvSpPr>
            <p:cNvPr id="113" name="object 78"/>
            <p:cNvSpPr/>
            <p:nvPr/>
          </p:nvSpPr>
          <p:spPr>
            <a:xfrm>
              <a:off x="4239851" y="5677825"/>
              <a:ext cx="1011117" cy="0"/>
            </a:xfrm>
            <a:custGeom>
              <a:avLst/>
              <a:gdLst/>
              <a:ahLst/>
              <a:cxnLst/>
              <a:rect l="l" t="t" r="r" b="b"/>
              <a:pathLst>
                <a:path w="1041650">
                  <a:moveTo>
                    <a:pt x="0" y="0"/>
                  </a:moveTo>
                  <a:lnTo>
                    <a:pt x="1041650" y="0"/>
                  </a:lnTo>
                </a:path>
              </a:pathLst>
            </a:custGeom>
            <a:ln w="31432">
              <a:solidFill>
                <a:srgbClr val="000000"/>
              </a:solidFill>
            </a:ln>
          </p:spPr>
          <p:txBody>
            <a:bodyPr wrap="square" lIns="0" tIns="0" rIns="0" bIns="0" rtlCol="0">
              <a:noAutofit/>
            </a:bodyPr>
            <a:lstStyle/>
            <a:p>
              <a:endParaRPr/>
            </a:p>
          </p:txBody>
        </p:sp>
        <p:sp>
          <p:nvSpPr>
            <p:cNvPr id="114" name="object 79"/>
            <p:cNvSpPr/>
            <p:nvPr/>
          </p:nvSpPr>
          <p:spPr>
            <a:xfrm>
              <a:off x="3537242" y="3707048"/>
              <a:ext cx="621927" cy="1297317"/>
            </a:xfrm>
            <a:custGeom>
              <a:avLst/>
              <a:gdLst/>
              <a:ahLst/>
              <a:cxnLst/>
              <a:rect l="l" t="t" r="r" b="b"/>
              <a:pathLst>
                <a:path w="640708" h="1340773">
                  <a:moveTo>
                    <a:pt x="0" y="1340773"/>
                  </a:moveTo>
                  <a:lnTo>
                    <a:pt x="640708" y="1340773"/>
                  </a:lnTo>
                  <a:lnTo>
                    <a:pt x="640708" y="0"/>
                  </a:lnTo>
                  <a:lnTo>
                    <a:pt x="0" y="0"/>
                  </a:lnTo>
                  <a:lnTo>
                    <a:pt x="0" y="1340773"/>
                  </a:lnTo>
                  <a:close/>
                </a:path>
              </a:pathLst>
            </a:custGeom>
            <a:solidFill>
              <a:srgbClr val="FFFFFF"/>
            </a:solidFill>
          </p:spPr>
          <p:txBody>
            <a:bodyPr wrap="square" lIns="0" tIns="0" rIns="0" bIns="0" rtlCol="0">
              <a:noAutofit/>
            </a:bodyPr>
            <a:lstStyle/>
            <a:p>
              <a:endParaRPr/>
            </a:p>
          </p:txBody>
        </p:sp>
        <p:sp>
          <p:nvSpPr>
            <p:cNvPr id="115" name="object 80"/>
            <p:cNvSpPr/>
            <p:nvPr/>
          </p:nvSpPr>
          <p:spPr>
            <a:xfrm>
              <a:off x="3537241" y="3707048"/>
              <a:ext cx="621927" cy="1297317"/>
            </a:xfrm>
            <a:custGeom>
              <a:avLst/>
              <a:gdLst/>
              <a:ahLst/>
              <a:cxnLst/>
              <a:rect l="l" t="t" r="r" b="b"/>
              <a:pathLst>
                <a:path w="640708" h="1340773">
                  <a:moveTo>
                    <a:pt x="0" y="1340773"/>
                  </a:moveTo>
                  <a:lnTo>
                    <a:pt x="640708" y="1340773"/>
                  </a:lnTo>
                  <a:lnTo>
                    <a:pt x="640708" y="0"/>
                  </a:lnTo>
                  <a:lnTo>
                    <a:pt x="0" y="0"/>
                  </a:lnTo>
                  <a:lnTo>
                    <a:pt x="0" y="1340773"/>
                  </a:lnTo>
                  <a:close/>
                </a:path>
              </a:pathLst>
            </a:custGeom>
            <a:ln w="15716">
              <a:solidFill>
                <a:srgbClr val="000000"/>
              </a:solidFill>
            </a:ln>
          </p:spPr>
          <p:txBody>
            <a:bodyPr wrap="square" lIns="0" tIns="0" rIns="0" bIns="0" rtlCol="0">
              <a:noAutofit/>
            </a:bodyPr>
            <a:lstStyle/>
            <a:p>
              <a:endParaRPr/>
            </a:p>
          </p:txBody>
        </p:sp>
        <p:sp>
          <p:nvSpPr>
            <p:cNvPr id="116" name="object 81"/>
            <p:cNvSpPr txBox="1"/>
            <p:nvPr/>
          </p:nvSpPr>
          <p:spPr>
            <a:xfrm>
              <a:off x="3593019" y="3984190"/>
              <a:ext cx="549200" cy="986757"/>
            </a:xfrm>
            <a:prstGeom prst="rect">
              <a:avLst/>
            </a:prstGeom>
          </p:spPr>
          <p:txBody>
            <a:bodyPr vert="horz" wrap="square" lIns="0" tIns="0" rIns="0" bIns="0" rtlCol="0">
              <a:noAutofit/>
            </a:bodyPr>
            <a:lstStyle/>
            <a:p>
              <a:pPr marL="227329" marR="12700" indent="-104775">
                <a:lnSpc>
                  <a:spcPts val="730"/>
                </a:lnSpc>
              </a:pPr>
              <a:r>
                <a:rPr sz="700" spc="20" dirty="0" smtClean="0">
                  <a:latin typeface="Franklin Gothic Book"/>
                  <a:cs typeface="Franklin Gothic Book"/>
                </a:rPr>
                <a:t>Instruction</a:t>
              </a:r>
              <a:r>
                <a:rPr sz="700" spc="10" dirty="0" smtClean="0">
                  <a:latin typeface="Franklin Gothic Book"/>
                  <a:cs typeface="Franklin Gothic Book"/>
                </a:rPr>
                <a:t> [25–21]</a:t>
              </a:r>
              <a:endParaRPr sz="700" dirty="0">
                <a:latin typeface="Franklin Gothic Book"/>
                <a:cs typeface="Franklin Gothic Book"/>
              </a:endParaRPr>
            </a:p>
            <a:p>
              <a:pPr>
                <a:lnSpc>
                  <a:spcPts val="700"/>
                </a:lnSpc>
                <a:spcBef>
                  <a:spcPts val="35"/>
                </a:spcBef>
              </a:pPr>
              <a:endParaRPr sz="700" dirty="0"/>
            </a:p>
            <a:p>
              <a:pPr marL="227329" marR="12700" indent="-104775">
                <a:lnSpc>
                  <a:spcPts val="730"/>
                </a:lnSpc>
              </a:pPr>
              <a:r>
                <a:rPr sz="700" spc="20" dirty="0" smtClean="0">
                  <a:latin typeface="Franklin Gothic Book"/>
                  <a:cs typeface="Franklin Gothic Book"/>
                </a:rPr>
                <a:t>Instruction</a:t>
              </a:r>
              <a:r>
                <a:rPr sz="700" spc="10" dirty="0" smtClean="0">
                  <a:latin typeface="Franklin Gothic Book"/>
                  <a:cs typeface="Franklin Gothic Book"/>
                </a:rPr>
                <a:t> [20–16]</a:t>
              </a:r>
              <a:endParaRPr sz="700" dirty="0">
                <a:latin typeface="Franklin Gothic Book"/>
                <a:cs typeface="Franklin Gothic Book"/>
              </a:endParaRPr>
            </a:p>
            <a:p>
              <a:pPr>
                <a:lnSpc>
                  <a:spcPts val="600"/>
                </a:lnSpc>
                <a:spcBef>
                  <a:spcPts val="19"/>
                </a:spcBef>
              </a:pPr>
              <a:endParaRPr sz="600" dirty="0"/>
            </a:p>
            <a:p>
              <a:pPr marL="123189">
                <a:lnSpc>
                  <a:spcPct val="100000"/>
                </a:lnSpc>
              </a:pPr>
              <a:r>
                <a:rPr sz="700" spc="20" dirty="0" smtClean="0">
                  <a:latin typeface="Franklin Gothic Book"/>
                  <a:cs typeface="Franklin Gothic Book"/>
                </a:rPr>
                <a:t>Instruction</a:t>
              </a:r>
              <a:endParaRPr sz="700" dirty="0">
                <a:latin typeface="Franklin Gothic Book"/>
                <a:cs typeface="Franklin Gothic Book"/>
              </a:endParaRPr>
            </a:p>
            <a:p>
              <a:pPr marL="283210">
                <a:lnSpc>
                  <a:spcPts val="735"/>
                </a:lnSpc>
              </a:pPr>
              <a:r>
                <a:rPr sz="700" spc="10" dirty="0" smtClean="0">
                  <a:latin typeface="Franklin Gothic Book"/>
                  <a:cs typeface="Franklin Gothic Book"/>
                </a:rPr>
                <a:t>[15–0]</a:t>
              </a:r>
              <a:endParaRPr sz="700" dirty="0">
                <a:latin typeface="Franklin Gothic Book"/>
                <a:cs typeface="Franklin Gothic Book"/>
              </a:endParaRPr>
            </a:p>
            <a:p>
              <a:pPr marL="77470" marR="100965" indent="-65405">
                <a:lnSpc>
                  <a:spcPct val="103299"/>
                </a:lnSpc>
                <a:spcBef>
                  <a:spcPts val="325"/>
                </a:spcBef>
              </a:pPr>
              <a:r>
                <a:rPr sz="700" spc="15" dirty="0" smtClean="0">
                  <a:latin typeface="Franklin Gothic Demi"/>
                  <a:cs typeface="Franklin Gothic Demi"/>
                </a:rPr>
                <a:t>Instruction register</a:t>
              </a:r>
              <a:endParaRPr sz="700" dirty="0">
                <a:latin typeface="Franklin Gothic Demi"/>
                <a:cs typeface="Franklin Gothic Demi"/>
              </a:endParaRPr>
            </a:p>
          </p:txBody>
        </p:sp>
        <p:sp>
          <p:nvSpPr>
            <p:cNvPr id="117" name="object 82"/>
            <p:cNvSpPr/>
            <p:nvPr/>
          </p:nvSpPr>
          <p:spPr>
            <a:xfrm>
              <a:off x="7401049" y="4752861"/>
              <a:ext cx="136446" cy="871071"/>
            </a:xfrm>
            <a:custGeom>
              <a:avLst/>
              <a:gdLst/>
              <a:ahLst/>
              <a:cxnLst/>
              <a:rect l="l" t="t" r="r" b="b"/>
              <a:pathLst>
                <a:path w="140566" h="900249">
                  <a:moveTo>
                    <a:pt x="140566" y="0"/>
                  </a:moveTo>
                  <a:lnTo>
                    <a:pt x="140566" y="900249"/>
                  </a:lnTo>
                  <a:lnTo>
                    <a:pt x="0" y="900249"/>
                  </a:lnTo>
                </a:path>
              </a:pathLst>
            </a:custGeom>
            <a:ln w="31432">
              <a:solidFill>
                <a:srgbClr val="EB2D2E"/>
              </a:solidFill>
            </a:ln>
          </p:spPr>
          <p:txBody>
            <a:bodyPr wrap="square" lIns="0" tIns="0" rIns="0" bIns="0" rtlCol="0">
              <a:noAutofit/>
            </a:bodyPr>
            <a:lstStyle/>
            <a:p>
              <a:endParaRPr/>
            </a:p>
          </p:txBody>
        </p:sp>
        <p:sp>
          <p:nvSpPr>
            <p:cNvPr id="118" name="object 83"/>
            <p:cNvSpPr/>
            <p:nvPr/>
          </p:nvSpPr>
          <p:spPr>
            <a:xfrm>
              <a:off x="7061787" y="5285621"/>
              <a:ext cx="338674" cy="717388"/>
            </a:xfrm>
            <a:custGeom>
              <a:avLst/>
              <a:gdLst/>
              <a:ahLst/>
              <a:cxnLst/>
              <a:rect l="l" t="t" r="r" b="b"/>
              <a:pathLst>
                <a:path w="348901" h="741418">
                  <a:moveTo>
                    <a:pt x="174457" y="0"/>
                  </a:moveTo>
                  <a:lnTo>
                    <a:pt x="132535" y="10773"/>
                  </a:lnTo>
                  <a:lnTo>
                    <a:pt x="94286" y="41376"/>
                  </a:lnTo>
                  <a:lnTo>
                    <a:pt x="60925" y="89234"/>
                  </a:lnTo>
                  <a:lnTo>
                    <a:pt x="41997" y="129454"/>
                  </a:lnTo>
                  <a:lnTo>
                    <a:pt x="26139" y="175434"/>
                  </a:lnTo>
                  <a:lnTo>
                    <a:pt x="13710" y="226413"/>
                  </a:lnTo>
                  <a:lnTo>
                    <a:pt x="5070" y="281627"/>
                  </a:lnTo>
                  <a:lnTo>
                    <a:pt x="578" y="340313"/>
                  </a:lnTo>
                  <a:lnTo>
                    <a:pt x="0" y="370720"/>
                  </a:lnTo>
                  <a:lnTo>
                    <a:pt x="578" y="401124"/>
                  </a:lnTo>
                  <a:lnTo>
                    <a:pt x="5070" y="459804"/>
                  </a:lnTo>
                  <a:lnTo>
                    <a:pt x="13710" y="515014"/>
                  </a:lnTo>
                  <a:lnTo>
                    <a:pt x="26139" y="565989"/>
                  </a:lnTo>
                  <a:lnTo>
                    <a:pt x="41997" y="611968"/>
                  </a:lnTo>
                  <a:lnTo>
                    <a:pt x="60925" y="652185"/>
                  </a:lnTo>
                  <a:lnTo>
                    <a:pt x="82563" y="685880"/>
                  </a:lnTo>
                  <a:lnTo>
                    <a:pt x="119317" y="722520"/>
                  </a:lnTo>
                  <a:lnTo>
                    <a:pt x="160149" y="740189"/>
                  </a:lnTo>
                  <a:lnTo>
                    <a:pt x="174457" y="741418"/>
                  </a:lnTo>
                  <a:lnTo>
                    <a:pt x="188764" y="740189"/>
                  </a:lnTo>
                  <a:lnTo>
                    <a:pt x="229594" y="722520"/>
                  </a:lnTo>
                  <a:lnTo>
                    <a:pt x="266346" y="685880"/>
                  </a:lnTo>
                  <a:lnTo>
                    <a:pt x="287983" y="652185"/>
                  </a:lnTo>
                  <a:lnTo>
                    <a:pt x="306909" y="611968"/>
                  </a:lnTo>
                  <a:lnTo>
                    <a:pt x="322765" y="565989"/>
                  </a:lnTo>
                  <a:lnTo>
                    <a:pt x="335193" y="515014"/>
                  </a:lnTo>
                  <a:lnTo>
                    <a:pt x="343832" y="459804"/>
                  </a:lnTo>
                  <a:lnTo>
                    <a:pt x="348323" y="401124"/>
                  </a:lnTo>
                  <a:lnTo>
                    <a:pt x="348901" y="370720"/>
                  </a:lnTo>
                  <a:lnTo>
                    <a:pt x="348323" y="340313"/>
                  </a:lnTo>
                  <a:lnTo>
                    <a:pt x="343832" y="281627"/>
                  </a:lnTo>
                  <a:lnTo>
                    <a:pt x="335193" y="226413"/>
                  </a:lnTo>
                  <a:lnTo>
                    <a:pt x="322765" y="175434"/>
                  </a:lnTo>
                  <a:lnTo>
                    <a:pt x="306909" y="129454"/>
                  </a:lnTo>
                  <a:lnTo>
                    <a:pt x="287983" y="89234"/>
                  </a:lnTo>
                  <a:lnTo>
                    <a:pt x="266346" y="55539"/>
                  </a:lnTo>
                  <a:lnTo>
                    <a:pt x="229594" y="18898"/>
                  </a:lnTo>
                  <a:lnTo>
                    <a:pt x="188764" y="1228"/>
                  </a:lnTo>
                  <a:lnTo>
                    <a:pt x="174457" y="0"/>
                  </a:lnTo>
                  <a:close/>
                </a:path>
              </a:pathLst>
            </a:custGeom>
            <a:solidFill>
              <a:srgbClr val="FFFFFF"/>
            </a:solidFill>
          </p:spPr>
          <p:txBody>
            <a:bodyPr wrap="square" lIns="0" tIns="0" rIns="0" bIns="0" rtlCol="0">
              <a:noAutofit/>
            </a:bodyPr>
            <a:lstStyle/>
            <a:p>
              <a:endParaRPr/>
            </a:p>
          </p:txBody>
        </p:sp>
        <p:sp>
          <p:nvSpPr>
            <p:cNvPr id="119" name="object 84"/>
            <p:cNvSpPr/>
            <p:nvPr/>
          </p:nvSpPr>
          <p:spPr>
            <a:xfrm>
              <a:off x="7061787" y="5285621"/>
              <a:ext cx="338674" cy="717388"/>
            </a:xfrm>
            <a:custGeom>
              <a:avLst/>
              <a:gdLst/>
              <a:ahLst/>
              <a:cxnLst/>
              <a:rect l="l" t="t" r="r" b="b"/>
              <a:pathLst>
                <a:path w="348901" h="741418">
                  <a:moveTo>
                    <a:pt x="174457" y="741418"/>
                  </a:moveTo>
                  <a:lnTo>
                    <a:pt x="216378" y="730645"/>
                  </a:lnTo>
                  <a:lnTo>
                    <a:pt x="254624" y="700042"/>
                  </a:lnTo>
                  <a:lnTo>
                    <a:pt x="287983" y="652185"/>
                  </a:lnTo>
                  <a:lnTo>
                    <a:pt x="306909" y="611968"/>
                  </a:lnTo>
                  <a:lnTo>
                    <a:pt x="322765" y="565989"/>
                  </a:lnTo>
                  <a:lnTo>
                    <a:pt x="335193" y="515014"/>
                  </a:lnTo>
                  <a:lnTo>
                    <a:pt x="343832" y="459804"/>
                  </a:lnTo>
                  <a:lnTo>
                    <a:pt x="348323" y="401124"/>
                  </a:lnTo>
                  <a:lnTo>
                    <a:pt x="348901" y="370720"/>
                  </a:lnTo>
                  <a:lnTo>
                    <a:pt x="348323" y="340313"/>
                  </a:lnTo>
                  <a:lnTo>
                    <a:pt x="343832" y="281627"/>
                  </a:lnTo>
                  <a:lnTo>
                    <a:pt x="335193" y="226413"/>
                  </a:lnTo>
                  <a:lnTo>
                    <a:pt x="322765" y="175434"/>
                  </a:lnTo>
                  <a:lnTo>
                    <a:pt x="306909" y="129454"/>
                  </a:lnTo>
                  <a:lnTo>
                    <a:pt x="287983" y="89234"/>
                  </a:lnTo>
                  <a:lnTo>
                    <a:pt x="266346" y="55539"/>
                  </a:lnTo>
                  <a:lnTo>
                    <a:pt x="229594" y="18898"/>
                  </a:lnTo>
                  <a:lnTo>
                    <a:pt x="188764" y="1228"/>
                  </a:lnTo>
                  <a:lnTo>
                    <a:pt x="174457" y="0"/>
                  </a:lnTo>
                  <a:lnTo>
                    <a:pt x="160149" y="1228"/>
                  </a:lnTo>
                  <a:lnTo>
                    <a:pt x="119317" y="18898"/>
                  </a:lnTo>
                  <a:lnTo>
                    <a:pt x="82563" y="55539"/>
                  </a:lnTo>
                  <a:lnTo>
                    <a:pt x="60925" y="89234"/>
                  </a:lnTo>
                  <a:lnTo>
                    <a:pt x="41997" y="129454"/>
                  </a:lnTo>
                  <a:lnTo>
                    <a:pt x="26139" y="175434"/>
                  </a:lnTo>
                  <a:lnTo>
                    <a:pt x="13710" y="226413"/>
                  </a:lnTo>
                  <a:lnTo>
                    <a:pt x="5070" y="281627"/>
                  </a:lnTo>
                  <a:lnTo>
                    <a:pt x="578" y="340313"/>
                  </a:lnTo>
                  <a:lnTo>
                    <a:pt x="0" y="370720"/>
                  </a:lnTo>
                  <a:lnTo>
                    <a:pt x="578" y="401124"/>
                  </a:lnTo>
                  <a:lnTo>
                    <a:pt x="5070" y="459804"/>
                  </a:lnTo>
                  <a:lnTo>
                    <a:pt x="13710" y="515014"/>
                  </a:lnTo>
                  <a:lnTo>
                    <a:pt x="26139" y="565989"/>
                  </a:lnTo>
                  <a:lnTo>
                    <a:pt x="41997" y="611968"/>
                  </a:lnTo>
                  <a:lnTo>
                    <a:pt x="60925" y="652185"/>
                  </a:lnTo>
                  <a:lnTo>
                    <a:pt x="82563" y="685880"/>
                  </a:lnTo>
                  <a:lnTo>
                    <a:pt x="119317" y="722520"/>
                  </a:lnTo>
                  <a:lnTo>
                    <a:pt x="160149" y="740189"/>
                  </a:lnTo>
                  <a:lnTo>
                    <a:pt x="174457" y="741418"/>
                  </a:lnTo>
                  <a:close/>
                </a:path>
              </a:pathLst>
            </a:custGeom>
            <a:ln w="15716">
              <a:solidFill>
                <a:srgbClr val="EB2D2E"/>
              </a:solidFill>
            </a:ln>
          </p:spPr>
          <p:txBody>
            <a:bodyPr wrap="square" lIns="0" tIns="0" rIns="0" bIns="0" rtlCol="0">
              <a:noAutofit/>
            </a:bodyPr>
            <a:lstStyle/>
            <a:p>
              <a:endParaRPr/>
            </a:p>
          </p:txBody>
        </p:sp>
        <p:sp>
          <p:nvSpPr>
            <p:cNvPr id="120" name="object 85"/>
            <p:cNvSpPr txBox="1"/>
            <p:nvPr/>
          </p:nvSpPr>
          <p:spPr>
            <a:xfrm>
              <a:off x="7137150" y="5538343"/>
              <a:ext cx="187381" cy="117354"/>
            </a:xfrm>
            <a:prstGeom prst="rect">
              <a:avLst/>
            </a:prstGeom>
          </p:spPr>
          <p:txBody>
            <a:bodyPr vert="horz" wrap="square" lIns="0" tIns="0" rIns="0" bIns="0" rtlCol="0">
              <a:noAutofit/>
            </a:bodyPr>
            <a:lstStyle/>
            <a:p>
              <a:pPr marL="12700">
                <a:lnSpc>
                  <a:spcPct val="100000"/>
                </a:lnSpc>
              </a:pPr>
              <a:r>
                <a:rPr sz="700" spc="25" dirty="0" smtClean="0">
                  <a:solidFill>
                    <a:srgbClr val="EB2D2E"/>
                  </a:solidFill>
                  <a:latin typeface="Franklin Gothic Demi"/>
                  <a:cs typeface="Franklin Gothic Demi"/>
                </a:rPr>
                <a:t>ALU</a:t>
              </a:r>
              <a:endParaRPr sz="700">
                <a:latin typeface="Franklin Gothic Demi"/>
                <a:cs typeface="Franklin Gothic Demi"/>
              </a:endParaRPr>
            </a:p>
          </p:txBody>
        </p:sp>
        <p:sp>
          <p:nvSpPr>
            <p:cNvPr id="121" name="object 86"/>
            <p:cNvSpPr txBox="1"/>
            <p:nvPr/>
          </p:nvSpPr>
          <p:spPr>
            <a:xfrm>
              <a:off x="7076641" y="5644957"/>
              <a:ext cx="308193" cy="117354"/>
            </a:xfrm>
            <a:prstGeom prst="rect">
              <a:avLst/>
            </a:prstGeom>
          </p:spPr>
          <p:txBody>
            <a:bodyPr vert="horz" wrap="square" lIns="0" tIns="0" rIns="0" bIns="0" rtlCol="0">
              <a:noAutofit/>
            </a:bodyPr>
            <a:lstStyle/>
            <a:p>
              <a:pPr marL="12700">
                <a:lnSpc>
                  <a:spcPct val="100000"/>
                </a:lnSpc>
              </a:pPr>
              <a:r>
                <a:rPr sz="700" spc="15" dirty="0" smtClean="0">
                  <a:solidFill>
                    <a:srgbClr val="EB2D2E"/>
                  </a:solidFill>
                  <a:latin typeface="Franklin Gothic Demi"/>
                  <a:cs typeface="Franklin Gothic Demi"/>
                </a:rPr>
                <a:t>control</a:t>
              </a:r>
              <a:endParaRPr sz="700">
                <a:latin typeface="Franklin Gothic Demi"/>
                <a:cs typeface="Franklin Gothic Demi"/>
              </a:endParaRPr>
            </a:p>
          </p:txBody>
        </p:sp>
        <p:sp>
          <p:nvSpPr>
            <p:cNvPr id="122" name="object 87"/>
            <p:cNvSpPr/>
            <p:nvPr/>
          </p:nvSpPr>
          <p:spPr>
            <a:xfrm>
              <a:off x="7039055" y="4708689"/>
              <a:ext cx="180768" cy="0"/>
            </a:xfrm>
            <a:custGeom>
              <a:avLst/>
              <a:gdLst/>
              <a:ahLst/>
              <a:cxnLst/>
              <a:rect l="l" t="t" r="r" b="b"/>
              <a:pathLst>
                <a:path w="186227">
                  <a:moveTo>
                    <a:pt x="186227" y="0"/>
                  </a:moveTo>
                  <a:lnTo>
                    <a:pt x="0" y="0"/>
                  </a:lnTo>
                </a:path>
              </a:pathLst>
            </a:custGeom>
            <a:ln w="31432">
              <a:solidFill>
                <a:srgbClr val="000000"/>
              </a:solidFill>
            </a:ln>
          </p:spPr>
          <p:txBody>
            <a:bodyPr wrap="square" lIns="0" tIns="0" rIns="0" bIns="0" rtlCol="0">
              <a:noAutofit/>
            </a:bodyPr>
            <a:lstStyle/>
            <a:p>
              <a:endParaRPr/>
            </a:p>
          </p:txBody>
        </p:sp>
        <p:sp>
          <p:nvSpPr>
            <p:cNvPr id="123" name="object 88"/>
            <p:cNvSpPr/>
            <p:nvPr/>
          </p:nvSpPr>
          <p:spPr>
            <a:xfrm>
              <a:off x="7255406" y="3985881"/>
              <a:ext cx="563767" cy="906064"/>
            </a:xfrm>
            <a:custGeom>
              <a:avLst/>
              <a:gdLst/>
              <a:ahLst/>
              <a:cxnLst/>
              <a:rect l="l" t="t" r="r" b="b"/>
              <a:pathLst>
                <a:path w="580792" h="936414">
                  <a:moveTo>
                    <a:pt x="0" y="0"/>
                  </a:moveTo>
                  <a:lnTo>
                    <a:pt x="0" y="378172"/>
                  </a:lnTo>
                  <a:lnTo>
                    <a:pt x="96046" y="468207"/>
                  </a:lnTo>
                  <a:lnTo>
                    <a:pt x="0" y="558252"/>
                  </a:lnTo>
                  <a:lnTo>
                    <a:pt x="0" y="936414"/>
                  </a:lnTo>
                  <a:lnTo>
                    <a:pt x="580792" y="649795"/>
                  </a:lnTo>
                  <a:lnTo>
                    <a:pt x="580792" y="286630"/>
                  </a:lnTo>
                  <a:lnTo>
                    <a:pt x="0" y="0"/>
                  </a:lnTo>
                  <a:close/>
                </a:path>
              </a:pathLst>
            </a:custGeom>
            <a:solidFill>
              <a:srgbClr val="FFFFFF"/>
            </a:solidFill>
          </p:spPr>
          <p:txBody>
            <a:bodyPr wrap="square" lIns="0" tIns="0" rIns="0" bIns="0" rtlCol="0">
              <a:noAutofit/>
            </a:bodyPr>
            <a:lstStyle/>
            <a:p>
              <a:endParaRPr/>
            </a:p>
          </p:txBody>
        </p:sp>
        <p:sp>
          <p:nvSpPr>
            <p:cNvPr id="124" name="object 89"/>
            <p:cNvSpPr/>
            <p:nvPr/>
          </p:nvSpPr>
          <p:spPr>
            <a:xfrm>
              <a:off x="7255405" y="3985881"/>
              <a:ext cx="563768" cy="906064"/>
            </a:xfrm>
            <a:custGeom>
              <a:avLst/>
              <a:gdLst/>
              <a:ahLst/>
              <a:cxnLst/>
              <a:rect l="l" t="t" r="r" b="b"/>
              <a:pathLst>
                <a:path w="580793" h="936414">
                  <a:moveTo>
                    <a:pt x="0" y="0"/>
                  </a:moveTo>
                  <a:lnTo>
                    <a:pt x="0" y="378172"/>
                  </a:lnTo>
                  <a:lnTo>
                    <a:pt x="96046" y="468207"/>
                  </a:lnTo>
                  <a:lnTo>
                    <a:pt x="0" y="558252"/>
                  </a:lnTo>
                  <a:lnTo>
                    <a:pt x="0" y="936414"/>
                  </a:lnTo>
                  <a:lnTo>
                    <a:pt x="580793" y="649795"/>
                  </a:lnTo>
                  <a:lnTo>
                    <a:pt x="580793" y="286630"/>
                  </a:lnTo>
                  <a:lnTo>
                    <a:pt x="0" y="0"/>
                  </a:lnTo>
                  <a:close/>
                </a:path>
              </a:pathLst>
            </a:custGeom>
            <a:ln w="15716">
              <a:solidFill>
                <a:srgbClr val="000000"/>
              </a:solidFill>
            </a:ln>
          </p:spPr>
          <p:txBody>
            <a:bodyPr wrap="square" lIns="0" tIns="0" rIns="0" bIns="0" rtlCol="0">
              <a:noAutofit/>
            </a:bodyPr>
            <a:lstStyle/>
            <a:p>
              <a:endParaRPr/>
            </a:p>
          </p:txBody>
        </p:sp>
        <p:sp>
          <p:nvSpPr>
            <p:cNvPr id="125" name="object 90"/>
            <p:cNvSpPr/>
            <p:nvPr/>
          </p:nvSpPr>
          <p:spPr>
            <a:xfrm>
              <a:off x="7017773" y="4168286"/>
              <a:ext cx="197967" cy="0"/>
            </a:xfrm>
            <a:custGeom>
              <a:avLst/>
              <a:gdLst/>
              <a:ahLst/>
              <a:cxnLst/>
              <a:rect l="l" t="t" r="r" b="b"/>
              <a:pathLst>
                <a:path w="203945">
                  <a:moveTo>
                    <a:pt x="203945" y="0"/>
                  </a:moveTo>
                  <a:lnTo>
                    <a:pt x="0" y="0"/>
                  </a:lnTo>
                </a:path>
              </a:pathLst>
            </a:custGeom>
            <a:ln w="31432">
              <a:solidFill>
                <a:srgbClr val="000000"/>
              </a:solidFill>
            </a:ln>
          </p:spPr>
          <p:txBody>
            <a:bodyPr wrap="square" lIns="0" tIns="0" rIns="0" bIns="0" rtlCol="0">
              <a:noAutofit/>
            </a:bodyPr>
            <a:lstStyle/>
            <a:p>
              <a:endParaRPr/>
            </a:p>
          </p:txBody>
        </p:sp>
        <p:sp>
          <p:nvSpPr>
            <p:cNvPr id="126" name="object 91"/>
            <p:cNvSpPr txBox="1"/>
            <p:nvPr/>
          </p:nvSpPr>
          <p:spPr>
            <a:xfrm>
              <a:off x="7549034" y="4229880"/>
              <a:ext cx="249020" cy="387698"/>
            </a:xfrm>
            <a:prstGeom prst="rect">
              <a:avLst/>
            </a:prstGeom>
          </p:spPr>
          <p:txBody>
            <a:bodyPr vert="horz" wrap="square" lIns="0" tIns="0" rIns="0" bIns="0" rtlCol="0">
              <a:noAutofit/>
            </a:bodyPr>
            <a:lstStyle/>
            <a:p>
              <a:pPr marL="85090" marR="12700" indent="-22860">
                <a:lnSpc>
                  <a:spcPct val="137000"/>
                </a:lnSpc>
              </a:pPr>
              <a:r>
                <a:rPr sz="700" spc="20" dirty="0" smtClean="0">
                  <a:latin typeface="Franklin Gothic Book"/>
                  <a:cs typeface="Franklin Gothic Book"/>
                </a:rPr>
                <a:t>Zero</a:t>
              </a:r>
              <a:r>
                <a:rPr sz="700" spc="10" dirty="0" smtClean="0">
                  <a:latin typeface="Franklin Gothic Book"/>
                  <a:cs typeface="Franklin Gothic Book"/>
                </a:rPr>
                <a:t> </a:t>
              </a:r>
              <a:r>
                <a:rPr sz="700" spc="30" dirty="0" smtClean="0">
                  <a:latin typeface="Franklin Gothic Book"/>
                  <a:cs typeface="Franklin Gothic Book"/>
                </a:rPr>
                <a:t>ALU</a:t>
              </a:r>
              <a:endParaRPr sz="700">
                <a:latin typeface="Franklin Gothic Book"/>
                <a:cs typeface="Franklin Gothic Book"/>
              </a:endParaRPr>
            </a:p>
            <a:p>
              <a:pPr marL="12700">
                <a:lnSpc>
                  <a:spcPts val="735"/>
                </a:lnSpc>
              </a:pPr>
              <a:r>
                <a:rPr sz="700" spc="20" dirty="0" smtClean="0">
                  <a:latin typeface="Franklin Gothic Book"/>
                  <a:cs typeface="Franklin Gothic Book"/>
                </a:rPr>
                <a:t>result</a:t>
              </a:r>
              <a:endParaRPr sz="700">
                <a:latin typeface="Franklin Gothic Book"/>
                <a:cs typeface="Franklin Gothic Book"/>
              </a:endParaRPr>
            </a:p>
          </p:txBody>
        </p:sp>
        <p:sp>
          <p:nvSpPr>
            <p:cNvPr id="127" name="object 92"/>
            <p:cNvSpPr txBox="1"/>
            <p:nvPr/>
          </p:nvSpPr>
          <p:spPr>
            <a:xfrm>
              <a:off x="7358695" y="4384113"/>
              <a:ext cx="187381" cy="117354"/>
            </a:xfrm>
            <a:prstGeom prst="rect">
              <a:avLst/>
            </a:prstGeom>
          </p:spPr>
          <p:txBody>
            <a:bodyPr vert="horz" wrap="square" lIns="0" tIns="0" rIns="0" bIns="0" rtlCol="0">
              <a:noAutofit/>
            </a:bodyPr>
            <a:lstStyle/>
            <a:p>
              <a:pPr marL="12700">
                <a:lnSpc>
                  <a:spcPct val="100000"/>
                </a:lnSpc>
              </a:pPr>
              <a:r>
                <a:rPr sz="700" spc="25" dirty="0" smtClean="0">
                  <a:latin typeface="Franklin Gothic Demi"/>
                  <a:cs typeface="Franklin Gothic Demi"/>
                </a:rPr>
                <a:t>ALU</a:t>
              </a:r>
              <a:endParaRPr sz="700">
                <a:latin typeface="Franklin Gothic Demi"/>
                <a:cs typeface="Franklin Gothic Demi"/>
              </a:endParaRPr>
            </a:p>
          </p:txBody>
        </p:sp>
        <p:sp>
          <p:nvSpPr>
            <p:cNvPr id="128" name="object 93"/>
            <p:cNvSpPr/>
            <p:nvPr/>
          </p:nvSpPr>
          <p:spPr>
            <a:xfrm>
              <a:off x="3613763" y="5291460"/>
              <a:ext cx="488177" cy="585470"/>
            </a:xfrm>
            <a:custGeom>
              <a:avLst/>
              <a:gdLst/>
              <a:ahLst/>
              <a:cxnLst/>
              <a:rect l="l" t="t" r="r" b="b"/>
              <a:pathLst>
                <a:path w="502919" h="605081">
                  <a:moveTo>
                    <a:pt x="0" y="605081"/>
                  </a:moveTo>
                  <a:lnTo>
                    <a:pt x="502919" y="605081"/>
                  </a:lnTo>
                  <a:lnTo>
                    <a:pt x="502919" y="0"/>
                  </a:lnTo>
                  <a:lnTo>
                    <a:pt x="0" y="0"/>
                  </a:lnTo>
                  <a:lnTo>
                    <a:pt x="0" y="605081"/>
                  </a:lnTo>
                  <a:close/>
                </a:path>
              </a:pathLst>
            </a:custGeom>
            <a:ln w="15716">
              <a:solidFill>
                <a:srgbClr val="000000"/>
              </a:solidFill>
            </a:ln>
          </p:spPr>
          <p:txBody>
            <a:bodyPr wrap="square" lIns="0" tIns="0" rIns="0" bIns="0" rtlCol="0">
              <a:noAutofit/>
            </a:bodyPr>
            <a:lstStyle/>
            <a:p>
              <a:endParaRPr/>
            </a:p>
          </p:txBody>
        </p:sp>
        <p:sp>
          <p:nvSpPr>
            <p:cNvPr id="129" name="object 94"/>
            <p:cNvSpPr/>
            <p:nvPr/>
          </p:nvSpPr>
          <p:spPr>
            <a:xfrm>
              <a:off x="4094308" y="5473777"/>
              <a:ext cx="683671" cy="0"/>
            </a:xfrm>
            <a:custGeom>
              <a:avLst/>
              <a:gdLst/>
              <a:ahLst/>
              <a:cxnLst/>
              <a:rect l="l" t="t" r="r" b="b"/>
              <a:pathLst>
                <a:path w="704316">
                  <a:moveTo>
                    <a:pt x="704316" y="0"/>
                  </a:moveTo>
                  <a:lnTo>
                    <a:pt x="0" y="0"/>
                  </a:lnTo>
                </a:path>
              </a:pathLst>
            </a:custGeom>
            <a:ln w="31432">
              <a:solidFill>
                <a:srgbClr val="000000"/>
              </a:solidFill>
            </a:ln>
          </p:spPr>
          <p:txBody>
            <a:bodyPr wrap="square" lIns="0" tIns="0" rIns="0" bIns="0" rtlCol="0">
              <a:noAutofit/>
            </a:bodyPr>
            <a:lstStyle/>
            <a:p>
              <a:endParaRPr/>
            </a:p>
          </p:txBody>
        </p:sp>
        <p:sp>
          <p:nvSpPr>
            <p:cNvPr id="130" name="object 95"/>
            <p:cNvSpPr txBox="1"/>
            <p:nvPr/>
          </p:nvSpPr>
          <p:spPr>
            <a:xfrm>
              <a:off x="3682960" y="5407331"/>
              <a:ext cx="350108" cy="334244"/>
            </a:xfrm>
            <a:prstGeom prst="rect">
              <a:avLst/>
            </a:prstGeom>
          </p:spPr>
          <p:txBody>
            <a:bodyPr vert="horz" wrap="square" lIns="0" tIns="0" rIns="0" bIns="0" rtlCol="0">
              <a:noAutofit/>
            </a:bodyPr>
            <a:lstStyle/>
            <a:p>
              <a:pPr marL="12700" marR="12700" algn="ctr">
                <a:lnSpc>
                  <a:spcPct val="103299"/>
                </a:lnSpc>
              </a:pPr>
              <a:r>
                <a:rPr sz="700" spc="20" dirty="0" smtClean="0">
                  <a:latin typeface="Franklin Gothic Demi"/>
                  <a:cs typeface="Franklin Gothic Demi"/>
                </a:rPr>
                <a:t>Memory</a:t>
              </a:r>
              <a:r>
                <a:rPr sz="700" spc="10" dirty="0" smtClean="0">
                  <a:latin typeface="Franklin Gothic Demi"/>
                  <a:cs typeface="Franklin Gothic Demi"/>
                </a:rPr>
                <a:t> </a:t>
              </a:r>
              <a:r>
                <a:rPr sz="700" spc="15" dirty="0" smtClean="0">
                  <a:latin typeface="Franklin Gothic Demi"/>
                  <a:cs typeface="Franklin Gothic Demi"/>
                </a:rPr>
                <a:t>data</a:t>
              </a:r>
              <a:r>
                <a:rPr sz="700" spc="5" dirty="0" smtClean="0">
                  <a:latin typeface="Franklin Gothic Demi"/>
                  <a:cs typeface="Franklin Gothic Demi"/>
                </a:rPr>
                <a:t> </a:t>
              </a:r>
              <a:r>
                <a:rPr sz="700" spc="15" dirty="0" smtClean="0">
                  <a:latin typeface="Franklin Gothic Demi"/>
                  <a:cs typeface="Franklin Gothic Demi"/>
                </a:rPr>
                <a:t>register</a:t>
              </a:r>
              <a:endParaRPr sz="700">
                <a:latin typeface="Franklin Gothic Demi"/>
                <a:cs typeface="Franklin Gothic Demi"/>
              </a:endParaRPr>
            </a:p>
          </p:txBody>
        </p:sp>
        <p:sp>
          <p:nvSpPr>
            <p:cNvPr id="131" name="object 96"/>
            <p:cNvSpPr/>
            <p:nvPr/>
          </p:nvSpPr>
          <p:spPr>
            <a:xfrm>
              <a:off x="3308640" y="4477887"/>
              <a:ext cx="246407" cy="973250"/>
            </a:xfrm>
            <a:custGeom>
              <a:avLst/>
              <a:gdLst/>
              <a:ahLst/>
              <a:cxnLst/>
              <a:rect l="l" t="t" r="r" b="b"/>
              <a:pathLst>
                <a:path w="253848" h="1005851">
                  <a:moveTo>
                    <a:pt x="0" y="0"/>
                  </a:moveTo>
                  <a:lnTo>
                    <a:pt x="0" y="1005851"/>
                  </a:lnTo>
                  <a:lnTo>
                    <a:pt x="253848" y="1005851"/>
                  </a:lnTo>
                </a:path>
              </a:pathLst>
            </a:custGeom>
            <a:ln w="31432">
              <a:solidFill>
                <a:srgbClr val="000000"/>
              </a:solidFill>
            </a:ln>
          </p:spPr>
          <p:txBody>
            <a:bodyPr wrap="square" lIns="0" tIns="0" rIns="0" bIns="0" rtlCol="0">
              <a:noAutofit/>
            </a:bodyPr>
            <a:lstStyle/>
            <a:p>
              <a:endParaRPr/>
            </a:p>
          </p:txBody>
        </p:sp>
        <p:sp>
          <p:nvSpPr>
            <p:cNvPr id="132" name="object 97"/>
            <p:cNvSpPr/>
            <p:nvPr/>
          </p:nvSpPr>
          <p:spPr>
            <a:xfrm>
              <a:off x="4240506" y="4858070"/>
              <a:ext cx="0" cy="828768"/>
            </a:xfrm>
            <a:custGeom>
              <a:avLst/>
              <a:gdLst/>
              <a:ahLst/>
              <a:cxnLst/>
              <a:rect l="l" t="t" r="r" b="b"/>
              <a:pathLst>
                <a:path h="856529">
                  <a:moveTo>
                    <a:pt x="0" y="0"/>
                  </a:moveTo>
                  <a:lnTo>
                    <a:pt x="0" y="856529"/>
                  </a:lnTo>
                </a:path>
              </a:pathLst>
            </a:custGeom>
            <a:ln w="31432">
              <a:solidFill>
                <a:srgbClr val="000000"/>
              </a:solidFill>
            </a:ln>
          </p:spPr>
          <p:txBody>
            <a:bodyPr wrap="square" lIns="0" tIns="0" rIns="0" bIns="0" rtlCol="0">
              <a:noAutofit/>
            </a:bodyPr>
            <a:lstStyle/>
            <a:p>
              <a:endParaRPr/>
            </a:p>
          </p:txBody>
        </p:sp>
        <p:sp>
          <p:nvSpPr>
            <p:cNvPr id="133" name="object 98"/>
            <p:cNvSpPr/>
            <p:nvPr/>
          </p:nvSpPr>
          <p:spPr>
            <a:xfrm>
              <a:off x="6237732" y="4128129"/>
              <a:ext cx="175443" cy="292734"/>
            </a:xfrm>
            <a:custGeom>
              <a:avLst/>
              <a:gdLst/>
              <a:ahLst/>
              <a:cxnLst/>
              <a:rect l="l" t="t" r="r" b="b"/>
              <a:pathLst>
                <a:path w="180741" h="302540">
                  <a:moveTo>
                    <a:pt x="0" y="302540"/>
                  </a:moveTo>
                  <a:lnTo>
                    <a:pt x="180741" y="302540"/>
                  </a:lnTo>
                  <a:lnTo>
                    <a:pt x="180741" y="0"/>
                  </a:lnTo>
                  <a:lnTo>
                    <a:pt x="0" y="0"/>
                  </a:lnTo>
                  <a:lnTo>
                    <a:pt x="0" y="302540"/>
                  </a:lnTo>
                  <a:close/>
                </a:path>
              </a:pathLst>
            </a:custGeom>
            <a:ln w="15716">
              <a:solidFill>
                <a:srgbClr val="000000"/>
              </a:solidFill>
            </a:ln>
          </p:spPr>
          <p:txBody>
            <a:bodyPr wrap="square" lIns="0" tIns="0" rIns="0" bIns="0" rtlCol="0">
              <a:noAutofit/>
            </a:bodyPr>
            <a:lstStyle/>
            <a:p>
              <a:endParaRPr/>
            </a:p>
          </p:txBody>
        </p:sp>
        <p:sp>
          <p:nvSpPr>
            <p:cNvPr id="134" name="object 99"/>
            <p:cNvSpPr/>
            <p:nvPr/>
          </p:nvSpPr>
          <p:spPr>
            <a:xfrm>
              <a:off x="6237732" y="4487387"/>
              <a:ext cx="175443" cy="292746"/>
            </a:xfrm>
            <a:custGeom>
              <a:avLst/>
              <a:gdLst/>
              <a:ahLst/>
              <a:cxnLst/>
              <a:rect l="l" t="t" r="r" b="b"/>
              <a:pathLst>
                <a:path w="180741" h="302552">
                  <a:moveTo>
                    <a:pt x="0" y="302552"/>
                  </a:moveTo>
                  <a:lnTo>
                    <a:pt x="180741" y="302552"/>
                  </a:lnTo>
                  <a:lnTo>
                    <a:pt x="180741" y="0"/>
                  </a:lnTo>
                  <a:lnTo>
                    <a:pt x="0" y="0"/>
                  </a:lnTo>
                  <a:lnTo>
                    <a:pt x="0" y="302552"/>
                  </a:lnTo>
                  <a:close/>
                </a:path>
              </a:pathLst>
            </a:custGeom>
            <a:ln w="15716">
              <a:solidFill>
                <a:srgbClr val="000000"/>
              </a:solidFill>
            </a:ln>
          </p:spPr>
          <p:txBody>
            <a:bodyPr wrap="square" lIns="0" tIns="0" rIns="0" bIns="0" rtlCol="0">
              <a:noAutofit/>
            </a:bodyPr>
            <a:lstStyle/>
            <a:p>
              <a:endParaRPr/>
            </a:p>
          </p:txBody>
        </p:sp>
        <p:sp>
          <p:nvSpPr>
            <p:cNvPr id="135" name="object 100"/>
            <p:cNvSpPr txBox="1"/>
            <p:nvPr/>
          </p:nvSpPr>
          <p:spPr>
            <a:xfrm>
              <a:off x="6288031" y="4224590"/>
              <a:ext cx="82596" cy="117354"/>
            </a:xfrm>
            <a:prstGeom prst="rect">
              <a:avLst/>
            </a:prstGeom>
          </p:spPr>
          <p:txBody>
            <a:bodyPr vert="horz" wrap="square" lIns="0" tIns="0" rIns="0" bIns="0" rtlCol="0">
              <a:noAutofit/>
            </a:bodyPr>
            <a:lstStyle/>
            <a:p>
              <a:pPr marL="12700">
                <a:lnSpc>
                  <a:spcPct val="100000"/>
                </a:lnSpc>
              </a:pPr>
              <a:r>
                <a:rPr sz="700" spc="40" dirty="0" smtClean="0">
                  <a:latin typeface="Franklin Gothic Demi"/>
                  <a:cs typeface="Franklin Gothic Demi"/>
                </a:rPr>
                <a:t>A</a:t>
              </a:r>
              <a:endParaRPr sz="700">
                <a:latin typeface="Franklin Gothic Demi"/>
                <a:cs typeface="Franklin Gothic Demi"/>
              </a:endParaRPr>
            </a:p>
          </p:txBody>
        </p:sp>
        <p:sp>
          <p:nvSpPr>
            <p:cNvPr id="136" name="object 101"/>
            <p:cNvSpPr txBox="1"/>
            <p:nvPr/>
          </p:nvSpPr>
          <p:spPr>
            <a:xfrm>
              <a:off x="6287129" y="4566743"/>
              <a:ext cx="84445" cy="117354"/>
            </a:xfrm>
            <a:prstGeom prst="rect">
              <a:avLst/>
            </a:prstGeom>
          </p:spPr>
          <p:txBody>
            <a:bodyPr vert="horz" wrap="square" lIns="0" tIns="0" rIns="0" bIns="0" rtlCol="0">
              <a:noAutofit/>
            </a:bodyPr>
            <a:lstStyle/>
            <a:p>
              <a:pPr marL="12700">
                <a:lnSpc>
                  <a:spcPct val="100000"/>
                </a:lnSpc>
              </a:pPr>
              <a:r>
                <a:rPr sz="700" spc="25" dirty="0" smtClean="0">
                  <a:latin typeface="Franklin Gothic Demi"/>
                  <a:cs typeface="Franklin Gothic Demi"/>
                </a:rPr>
                <a:t>B</a:t>
              </a:r>
              <a:endParaRPr sz="700">
                <a:latin typeface="Franklin Gothic Demi"/>
                <a:cs typeface="Franklin Gothic Demi"/>
              </a:endParaRPr>
            </a:p>
          </p:txBody>
        </p:sp>
        <p:sp>
          <p:nvSpPr>
            <p:cNvPr id="137" name="object 102"/>
            <p:cNvSpPr/>
            <p:nvPr/>
          </p:nvSpPr>
          <p:spPr>
            <a:xfrm>
              <a:off x="6418246" y="4275133"/>
              <a:ext cx="378249" cy="101382"/>
            </a:xfrm>
            <a:custGeom>
              <a:avLst/>
              <a:gdLst/>
              <a:ahLst/>
              <a:cxnLst/>
              <a:rect l="l" t="t" r="r" b="b"/>
              <a:pathLst>
                <a:path w="389671" h="104778">
                  <a:moveTo>
                    <a:pt x="0" y="0"/>
                  </a:moveTo>
                  <a:lnTo>
                    <a:pt x="230508" y="0"/>
                  </a:lnTo>
                  <a:lnTo>
                    <a:pt x="230508" y="104778"/>
                  </a:lnTo>
                  <a:lnTo>
                    <a:pt x="389671" y="104778"/>
                  </a:lnTo>
                </a:path>
              </a:pathLst>
            </a:custGeom>
            <a:ln w="31432">
              <a:solidFill>
                <a:srgbClr val="000000"/>
              </a:solidFill>
            </a:ln>
          </p:spPr>
          <p:txBody>
            <a:bodyPr wrap="square" lIns="0" tIns="0" rIns="0" bIns="0" rtlCol="0">
              <a:noAutofit/>
            </a:bodyPr>
            <a:lstStyle/>
            <a:p>
              <a:endParaRPr/>
            </a:p>
          </p:txBody>
        </p:sp>
        <p:sp>
          <p:nvSpPr>
            <p:cNvPr id="138" name="object 103"/>
            <p:cNvSpPr/>
            <p:nvPr/>
          </p:nvSpPr>
          <p:spPr>
            <a:xfrm>
              <a:off x="6173746" y="4258952"/>
              <a:ext cx="45178" cy="45023"/>
            </a:xfrm>
            <a:custGeom>
              <a:avLst/>
              <a:gdLst/>
              <a:ahLst/>
              <a:cxnLst/>
              <a:rect l="l" t="t" r="r" b="b"/>
              <a:pathLst>
                <a:path w="46542" h="46531">
                  <a:moveTo>
                    <a:pt x="0" y="0"/>
                  </a:moveTo>
                  <a:lnTo>
                    <a:pt x="45" y="46531"/>
                  </a:lnTo>
                  <a:lnTo>
                    <a:pt x="46542" y="23225"/>
                  </a:lnTo>
                  <a:lnTo>
                    <a:pt x="0" y="0"/>
                  </a:lnTo>
                  <a:close/>
                </a:path>
              </a:pathLst>
            </a:custGeom>
            <a:solidFill>
              <a:srgbClr val="000000"/>
            </a:solidFill>
          </p:spPr>
          <p:txBody>
            <a:bodyPr wrap="square" lIns="0" tIns="0" rIns="0" bIns="0" rtlCol="0">
              <a:noAutofit/>
            </a:bodyPr>
            <a:lstStyle/>
            <a:p>
              <a:endParaRPr/>
            </a:p>
          </p:txBody>
        </p:sp>
        <p:sp>
          <p:nvSpPr>
            <p:cNvPr id="139" name="object 104"/>
            <p:cNvSpPr/>
            <p:nvPr/>
          </p:nvSpPr>
          <p:spPr>
            <a:xfrm>
              <a:off x="6173746" y="4258952"/>
              <a:ext cx="45178" cy="45023"/>
            </a:xfrm>
            <a:custGeom>
              <a:avLst/>
              <a:gdLst/>
              <a:ahLst/>
              <a:cxnLst/>
              <a:rect l="l" t="t" r="r" b="b"/>
              <a:pathLst>
                <a:path w="46542" h="46531">
                  <a:moveTo>
                    <a:pt x="0" y="0"/>
                  </a:moveTo>
                  <a:lnTo>
                    <a:pt x="45" y="46531"/>
                  </a:lnTo>
                  <a:lnTo>
                    <a:pt x="46542" y="23225"/>
                  </a:lnTo>
                  <a:lnTo>
                    <a:pt x="0" y="0"/>
                  </a:lnTo>
                  <a:close/>
                </a:path>
              </a:pathLst>
            </a:custGeom>
            <a:ln w="15716">
              <a:solidFill>
                <a:srgbClr val="000000"/>
              </a:solidFill>
            </a:ln>
          </p:spPr>
          <p:txBody>
            <a:bodyPr wrap="square" lIns="0" tIns="0" rIns="0" bIns="0" rtlCol="0">
              <a:noAutofit/>
            </a:bodyPr>
            <a:lstStyle/>
            <a:p>
              <a:endParaRPr/>
            </a:p>
          </p:txBody>
        </p:sp>
        <p:sp>
          <p:nvSpPr>
            <p:cNvPr id="140" name="object 105"/>
            <p:cNvSpPr/>
            <p:nvPr/>
          </p:nvSpPr>
          <p:spPr>
            <a:xfrm>
              <a:off x="6783625" y="4356408"/>
              <a:ext cx="45168" cy="45023"/>
            </a:xfrm>
            <a:custGeom>
              <a:avLst/>
              <a:gdLst/>
              <a:ahLst/>
              <a:cxnLst/>
              <a:rect l="l" t="t" r="r" b="b"/>
              <a:pathLst>
                <a:path w="46532" h="46531">
                  <a:moveTo>
                    <a:pt x="0" y="0"/>
                  </a:moveTo>
                  <a:lnTo>
                    <a:pt x="34" y="46531"/>
                  </a:lnTo>
                  <a:lnTo>
                    <a:pt x="46532" y="23237"/>
                  </a:lnTo>
                  <a:lnTo>
                    <a:pt x="0" y="0"/>
                  </a:lnTo>
                  <a:close/>
                </a:path>
              </a:pathLst>
            </a:custGeom>
            <a:solidFill>
              <a:srgbClr val="000000"/>
            </a:solidFill>
          </p:spPr>
          <p:txBody>
            <a:bodyPr wrap="square" lIns="0" tIns="0" rIns="0" bIns="0" rtlCol="0">
              <a:noAutofit/>
            </a:bodyPr>
            <a:lstStyle/>
            <a:p>
              <a:endParaRPr/>
            </a:p>
          </p:txBody>
        </p:sp>
        <p:sp>
          <p:nvSpPr>
            <p:cNvPr id="141" name="object 106"/>
            <p:cNvSpPr/>
            <p:nvPr/>
          </p:nvSpPr>
          <p:spPr>
            <a:xfrm>
              <a:off x="6783625" y="4356408"/>
              <a:ext cx="45168" cy="45023"/>
            </a:xfrm>
            <a:custGeom>
              <a:avLst/>
              <a:gdLst/>
              <a:ahLst/>
              <a:cxnLst/>
              <a:rect l="l" t="t" r="r" b="b"/>
              <a:pathLst>
                <a:path w="46532" h="46531">
                  <a:moveTo>
                    <a:pt x="0" y="0"/>
                  </a:moveTo>
                  <a:lnTo>
                    <a:pt x="34" y="46531"/>
                  </a:lnTo>
                  <a:lnTo>
                    <a:pt x="46532" y="23237"/>
                  </a:lnTo>
                  <a:lnTo>
                    <a:pt x="0" y="0"/>
                  </a:lnTo>
                  <a:close/>
                </a:path>
              </a:pathLst>
            </a:custGeom>
            <a:ln w="15716">
              <a:solidFill>
                <a:srgbClr val="000000"/>
              </a:solidFill>
            </a:ln>
          </p:spPr>
          <p:txBody>
            <a:bodyPr wrap="square" lIns="0" tIns="0" rIns="0" bIns="0" rtlCol="0">
              <a:noAutofit/>
            </a:bodyPr>
            <a:lstStyle/>
            <a:p>
              <a:endParaRPr/>
            </a:p>
          </p:txBody>
        </p:sp>
        <p:sp>
          <p:nvSpPr>
            <p:cNvPr id="142" name="object 107"/>
            <p:cNvSpPr/>
            <p:nvPr/>
          </p:nvSpPr>
          <p:spPr>
            <a:xfrm>
              <a:off x="7185231" y="4146366"/>
              <a:ext cx="45167" cy="45012"/>
            </a:xfrm>
            <a:custGeom>
              <a:avLst/>
              <a:gdLst/>
              <a:ahLst/>
              <a:cxnLst/>
              <a:rect l="l" t="t" r="r" b="b"/>
              <a:pathLst>
                <a:path w="46531" h="46520">
                  <a:moveTo>
                    <a:pt x="0" y="0"/>
                  </a:moveTo>
                  <a:lnTo>
                    <a:pt x="33" y="46520"/>
                  </a:lnTo>
                  <a:lnTo>
                    <a:pt x="46531" y="23225"/>
                  </a:lnTo>
                  <a:lnTo>
                    <a:pt x="0" y="0"/>
                  </a:lnTo>
                  <a:close/>
                </a:path>
              </a:pathLst>
            </a:custGeom>
            <a:solidFill>
              <a:srgbClr val="000000"/>
            </a:solidFill>
          </p:spPr>
          <p:txBody>
            <a:bodyPr wrap="square" lIns="0" tIns="0" rIns="0" bIns="0" rtlCol="0">
              <a:noAutofit/>
            </a:bodyPr>
            <a:lstStyle/>
            <a:p>
              <a:endParaRPr/>
            </a:p>
          </p:txBody>
        </p:sp>
        <p:sp>
          <p:nvSpPr>
            <p:cNvPr id="143" name="object 108"/>
            <p:cNvSpPr/>
            <p:nvPr/>
          </p:nvSpPr>
          <p:spPr>
            <a:xfrm>
              <a:off x="7185231" y="4146366"/>
              <a:ext cx="45167" cy="45012"/>
            </a:xfrm>
            <a:custGeom>
              <a:avLst/>
              <a:gdLst/>
              <a:ahLst/>
              <a:cxnLst/>
              <a:rect l="l" t="t" r="r" b="b"/>
              <a:pathLst>
                <a:path w="46531" h="46520">
                  <a:moveTo>
                    <a:pt x="0" y="0"/>
                  </a:moveTo>
                  <a:lnTo>
                    <a:pt x="33" y="46520"/>
                  </a:lnTo>
                  <a:lnTo>
                    <a:pt x="46531" y="23225"/>
                  </a:lnTo>
                  <a:lnTo>
                    <a:pt x="0" y="0"/>
                  </a:lnTo>
                  <a:close/>
                </a:path>
              </a:pathLst>
            </a:custGeom>
            <a:ln w="15716">
              <a:solidFill>
                <a:srgbClr val="000000"/>
              </a:solidFill>
            </a:ln>
          </p:spPr>
          <p:txBody>
            <a:bodyPr wrap="square" lIns="0" tIns="0" rIns="0" bIns="0" rtlCol="0">
              <a:noAutofit/>
            </a:bodyPr>
            <a:lstStyle/>
            <a:p>
              <a:endParaRPr/>
            </a:p>
          </p:txBody>
        </p:sp>
        <p:sp>
          <p:nvSpPr>
            <p:cNvPr id="144" name="object 109"/>
            <p:cNvSpPr/>
            <p:nvPr/>
          </p:nvSpPr>
          <p:spPr>
            <a:xfrm>
              <a:off x="7188092" y="4689058"/>
              <a:ext cx="45167" cy="45023"/>
            </a:xfrm>
            <a:custGeom>
              <a:avLst/>
              <a:gdLst/>
              <a:ahLst/>
              <a:cxnLst/>
              <a:rect l="l" t="t" r="r" b="b"/>
              <a:pathLst>
                <a:path w="46531" h="46531">
                  <a:moveTo>
                    <a:pt x="0" y="0"/>
                  </a:moveTo>
                  <a:lnTo>
                    <a:pt x="35" y="46531"/>
                  </a:lnTo>
                  <a:lnTo>
                    <a:pt x="46531" y="23237"/>
                  </a:lnTo>
                  <a:lnTo>
                    <a:pt x="0" y="0"/>
                  </a:lnTo>
                  <a:close/>
                </a:path>
              </a:pathLst>
            </a:custGeom>
            <a:solidFill>
              <a:srgbClr val="000000"/>
            </a:solidFill>
          </p:spPr>
          <p:txBody>
            <a:bodyPr wrap="square" lIns="0" tIns="0" rIns="0" bIns="0" rtlCol="0">
              <a:noAutofit/>
            </a:bodyPr>
            <a:lstStyle/>
            <a:p>
              <a:endParaRPr/>
            </a:p>
          </p:txBody>
        </p:sp>
        <p:sp>
          <p:nvSpPr>
            <p:cNvPr id="145" name="object 110"/>
            <p:cNvSpPr/>
            <p:nvPr/>
          </p:nvSpPr>
          <p:spPr>
            <a:xfrm>
              <a:off x="7188092" y="4689058"/>
              <a:ext cx="45167" cy="45023"/>
            </a:xfrm>
            <a:custGeom>
              <a:avLst/>
              <a:gdLst/>
              <a:ahLst/>
              <a:cxnLst/>
              <a:rect l="l" t="t" r="r" b="b"/>
              <a:pathLst>
                <a:path w="46531" h="46531">
                  <a:moveTo>
                    <a:pt x="0" y="0"/>
                  </a:moveTo>
                  <a:lnTo>
                    <a:pt x="35" y="46531"/>
                  </a:lnTo>
                  <a:lnTo>
                    <a:pt x="46531" y="23237"/>
                  </a:lnTo>
                  <a:lnTo>
                    <a:pt x="0" y="0"/>
                  </a:lnTo>
                  <a:close/>
                </a:path>
              </a:pathLst>
            </a:custGeom>
            <a:ln w="15716">
              <a:solidFill>
                <a:srgbClr val="000000"/>
              </a:solidFill>
            </a:ln>
          </p:spPr>
          <p:txBody>
            <a:bodyPr wrap="square" lIns="0" tIns="0" rIns="0" bIns="0" rtlCol="0">
              <a:noAutofit/>
            </a:bodyPr>
            <a:lstStyle/>
            <a:p>
              <a:endParaRPr/>
            </a:p>
          </p:txBody>
        </p:sp>
        <p:sp>
          <p:nvSpPr>
            <p:cNvPr id="146" name="object 111"/>
            <p:cNvSpPr/>
            <p:nvPr/>
          </p:nvSpPr>
          <p:spPr>
            <a:xfrm>
              <a:off x="7259599" y="3593787"/>
              <a:ext cx="45168" cy="45012"/>
            </a:xfrm>
            <a:custGeom>
              <a:avLst/>
              <a:gdLst/>
              <a:ahLst/>
              <a:cxnLst/>
              <a:rect l="l" t="t" r="r" b="b"/>
              <a:pathLst>
                <a:path w="46532" h="46520">
                  <a:moveTo>
                    <a:pt x="0" y="0"/>
                  </a:moveTo>
                  <a:lnTo>
                    <a:pt x="35" y="46520"/>
                  </a:lnTo>
                  <a:lnTo>
                    <a:pt x="46532" y="23225"/>
                  </a:lnTo>
                  <a:lnTo>
                    <a:pt x="0" y="0"/>
                  </a:lnTo>
                  <a:close/>
                </a:path>
              </a:pathLst>
            </a:custGeom>
            <a:solidFill>
              <a:srgbClr val="000000"/>
            </a:solidFill>
          </p:spPr>
          <p:txBody>
            <a:bodyPr wrap="square" lIns="0" tIns="0" rIns="0" bIns="0" rtlCol="0">
              <a:noAutofit/>
            </a:bodyPr>
            <a:lstStyle/>
            <a:p>
              <a:endParaRPr/>
            </a:p>
          </p:txBody>
        </p:sp>
        <p:sp>
          <p:nvSpPr>
            <p:cNvPr id="147" name="object 112"/>
            <p:cNvSpPr/>
            <p:nvPr/>
          </p:nvSpPr>
          <p:spPr>
            <a:xfrm>
              <a:off x="7259599" y="3593787"/>
              <a:ext cx="45168" cy="45012"/>
            </a:xfrm>
            <a:custGeom>
              <a:avLst/>
              <a:gdLst/>
              <a:ahLst/>
              <a:cxnLst/>
              <a:rect l="l" t="t" r="r" b="b"/>
              <a:pathLst>
                <a:path w="46532" h="46520">
                  <a:moveTo>
                    <a:pt x="0" y="0"/>
                  </a:moveTo>
                  <a:lnTo>
                    <a:pt x="35" y="46520"/>
                  </a:lnTo>
                  <a:lnTo>
                    <a:pt x="46532" y="23225"/>
                  </a:lnTo>
                  <a:lnTo>
                    <a:pt x="0" y="0"/>
                  </a:lnTo>
                  <a:close/>
                </a:path>
              </a:pathLst>
            </a:custGeom>
            <a:ln w="15716">
              <a:solidFill>
                <a:srgbClr val="000000"/>
              </a:solidFill>
            </a:ln>
          </p:spPr>
          <p:txBody>
            <a:bodyPr wrap="square" lIns="0" tIns="0" rIns="0" bIns="0" rtlCol="0">
              <a:noAutofit/>
            </a:bodyPr>
            <a:lstStyle/>
            <a:p>
              <a:endParaRPr/>
            </a:p>
          </p:txBody>
        </p:sp>
        <p:sp>
          <p:nvSpPr>
            <p:cNvPr id="148" name="object 113"/>
            <p:cNvSpPr/>
            <p:nvPr/>
          </p:nvSpPr>
          <p:spPr>
            <a:xfrm>
              <a:off x="8144422" y="4456785"/>
              <a:ext cx="45168" cy="45012"/>
            </a:xfrm>
            <a:custGeom>
              <a:avLst/>
              <a:gdLst/>
              <a:ahLst/>
              <a:cxnLst/>
              <a:rect l="l" t="t" r="r" b="b"/>
              <a:pathLst>
                <a:path w="46532" h="46520">
                  <a:moveTo>
                    <a:pt x="0" y="0"/>
                  </a:moveTo>
                  <a:lnTo>
                    <a:pt x="34" y="46520"/>
                  </a:lnTo>
                  <a:lnTo>
                    <a:pt x="46532" y="23214"/>
                  </a:lnTo>
                  <a:lnTo>
                    <a:pt x="0" y="0"/>
                  </a:lnTo>
                  <a:close/>
                </a:path>
              </a:pathLst>
            </a:custGeom>
            <a:solidFill>
              <a:srgbClr val="000000"/>
            </a:solidFill>
          </p:spPr>
          <p:txBody>
            <a:bodyPr wrap="square" lIns="0" tIns="0" rIns="0" bIns="0" rtlCol="0">
              <a:noAutofit/>
            </a:bodyPr>
            <a:lstStyle/>
            <a:p>
              <a:endParaRPr/>
            </a:p>
          </p:txBody>
        </p:sp>
        <p:sp>
          <p:nvSpPr>
            <p:cNvPr id="149" name="object 114"/>
            <p:cNvSpPr/>
            <p:nvPr/>
          </p:nvSpPr>
          <p:spPr>
            <a:xfrm>
              <a:off x="8144422" y="4456785"/>
              <a:ext cx="45168" cy="45012"/>
            </a:xfrm>
            <a:custGeom>
              <a:avLst/>
              <a:gdLst/>
              <a:ahLst/>
              <a:cxnLst/>
              <a:rect l="l" t="t" r="r" b="b"/>
              <a:pathLst>
                <a:path w="46532" h="46520">
                  <a:moveTo>
                    <a:pt x="0" y="0"/>
                  </a:moveTo>
                  <a:lnTo>
                    <a:pt x="34" y="46520"/>
                  </a:lnTo>
                  <a:lnTo>
                    <a:pt x="46532" y="23214"/>
                  </a:lnTo>
                  <a:lnTo>
                    <a:pt x="0" y="0"/>
                  </a:lnTo>
                  <a:close/>
                </a:path>
              </a:pathLst>
            </a:custGeom>
            <a:ln w="15716">
              <a:solidFill>
                <a:srgbClr val="000000"/>
              </a:solidFill>
            </a:ln>
          </p:spPr>
          <p:txBody>
            <a:bodyPr wrap="square" lIns="0" tIns="0" rIns="0" bIns="0" rtlCol="0">
              <a:noAutofit/>
            </a:bodyPr>
            <a:lstStyle/>
            <a:p>
              <a:endParaRPr/>
            </a:p>
          </p:txBody>
        </p:sp>
        <p:sp>
          <p:nvSpPr>
            <p:cNvPr id="150" name="object 115"/>
            <p:cNvSpPr/>
            <p:nvPr/>
          </p:nvSpPr>
          <p:spPr>
            <a:xfrm>
              <a:off x="9084876" y="3601452"/>
              <a:ext cx="45167" cy="45012"/>
            </a:xfrm>
            <a:custGeom>
              <a:avLst/>
              <a:gdLst/>
              <a:ahLst/>
              <a:cxnLst/>
              <a:rect l="l" t="t" r="r" b="b"/>
              <a:pathLst>
                <a:path w="46531" h="46520">
                  <a:moveTo>
                    <a:pt x="0" y="0"/>
                  </a:moveTo>
                  <a:lnTo>
                    <a:pt x="34" y="46520"/>
                  </a:lnTo>
                  <a:lnTo>
                    <a:pt x="46531" y="23225"/>
                  </a:lnTo>
                  <a:lnTo>
                    <a:pt x="0" y="0"/>
                  </a:lnTo>
                  <a:close/>
                </a:path>
              </a:pathLst>
            </a:custGeom>
            <a:solidFill>
              <a:srgbClr val="000000"/>
            </a:solidFill>
          </p:spPr>
          <p:txBody>
            <a:bodyPr wrap="square" lIns="0" tIns="0" rIns="0" bIns="0" rtlCol="0">
              <a:noAutofit/>
            </a:bodyPr>
            <a:lstStyle/>
            <a:p>
              <a:endParaRPr/>
            </a:p>
          </p:txBody>
        </p:sp>
        <p:sp>
          <p:nvSpPr>
            <p:cNvPr id="151" name="object 116"/>
            <p:cNvSpPr/>
            <p:nvPr/>
          </p:nvSpPr>
          <p:spPr>
            <a:xfrm>
              <a:off x="9084876" y="3601452"/>
              <a:ext cx="45167" cy="45012"/>
            </a:xfrm>
            <a:custGeom>
              <a:avLst/>
              <a:gdLst/>
              <a:ahLst/>
              <a:cxnLst/>
              <a:rect l="l" t="t" r="r" b="b"/>
              <a:pathLst>
                <a:path w="46531" h="46520">
                  <a:moveTo>
                    <a:pt x="0" y="0"/>
                  </a:moveTo>
                  <a:lnTo>
                    <a:pt x="34" y="46520"/>
                  </a:lnTo>
                  <a:lnTo>
                    <a:pt x="46531" y="23225"/>
                  </a:lnTo>
                  <a:lnTo>
                    <a:pt x="0" y="0"/>
                  </a:lnTo>
                  <a:close/>
                </a:path>
              </a:pathLst>
            </a:custGeom>
            <a:ln w="15716">
              <a:solidFill>
                <a:srgbClr val="000000"/>
              </a:solidFill>
            </a:ln>
          </p:spPr>
          <p:txBody>
            <a:bodyPr wrap="square" lIns="0" tIns="0" rIns="0" bIns="0" rtlCol="0">
              <a:noAutofit/>
            </a:bodyPr>
            <a:lstStyle/>
            <a:p>
              <a:endParaRPr/>
            </a:p>
          </p:txBody>
        </p:sp>
        <p:sp>
          <p:nvSpPr>
            <p:cNvPr id="152" name="object 117"/>
            <p:cNvSpPr/>
            <p:nvPr/>
          </p:nvSpPr>
          <p:spPr>
            <a:xfrm>
              <a:off x="9087761" y="3413041"/>
              <a:ext cx="45177" cy="45012"/>
            </a:xfrm>
            <a:custGeom>
              <a:avLst/>
              <a:gdLst/>
              <a:ahLst/>
              <a:cxnLst/>
              <a:rect l="l" t="t" r="r" b="b"/>
              <a:pathLst>
                <a:path w="46541" h="46520">
                  <a:moveTo>
                    <a:pt x="0" y="0"/>
                  </a:moveTo>
                  <a:lnTo>
                    <a:pt x="34" y="46520"/>
                  </a:lnTo>
                  <a:lnTo>
                    <a:pt x="46541" y="23225"/>
                  </a:lnTo>
                  <a:lnTo>
                    <a:pt x="0" y="0"/>
                  </a:lnTo>
                  <a:close/>
                </a:path>
              </a:pathLst>
            </a:custGeom>
            <a:solidFill>
              <a:srgbClr val="000000"/>
            </a:solidFill>
          </p:spPr>
          <p:txBody>
            <a:bodyPr wrap="square" lIns="0" tIns="0" rIns="0" bIns="0" rtlCol="0">
              <a:noAutofit/>
            </a:bodyPr>
            <a:lstStyle/>
            <a:p>
              <a:endParaRPr/>
            </a:p>
          </p:txBody>
        </p:sp>
        <p:sp>
          <p:nvSpPr>
            <p:cNvPr id="153" name="object 118"/>
            <p:cNvSpPr/>
            <p:nvPr/>
          </p:nvSpPr>
          <p:spPr>
            <a:xfrm>
              <a:off x="9087761" y="3413041"/>
              <a:ext cx="45177" cy="45012"/>
            </a:xfrm>
            <a:custGeom>
              <a:avLst/>
              <a:gdLst/>
              <a:ahLst/>
              <a:cxnLst/>
              <a:rect l="l" t="t" r="r" b="b"/>
              <a:pathLst>
                <a:path w="46541" h="46520">
                  <a:moveTo>
                    <a:pt x="0" y="0"/>
                  </a:moveTo>
                  <a:lnTo>
                    <a:pt x="34" y="46520"/>
                  </a:lnTo>
                  <a:lnTo>
                    <a:pt x="46541" y="23225"/>
                  </a:lnTo>
                  <a:lnTo>
                    <a:pt x="0" y="0"/>
                  </a:lnTo>
                  <a:close/>
                </a:path>
              </a:pathLst>
            </a:custGeom>
            <a:ln w="15716">
              <a:solidFill>
                <a:srgbClr val="000000"/>
              </a:solidFill>
            </a:ln>
          </p:spPr>
          <p:txBody>
            <a:bodyPr wrap="square" lIns="0" tIns="0" rIns="0" bIns="0" rtlCol="0">
              <a:noAutofit/>
            </a:bodyPr>
            <a:lstStyle/>
            <a:p>
              <a:endParaRPr/>
            </a:p>
          </p:txBody>
        </p:sp>
        <p:sp>
          <p:nvSpPr>
            <p:cNvPr id="154" name="object 119"/>
            <p:cNvSpPr/>
            <p:nvPr/>
          </p:nvSpPr>
          <p:spPr>
            <a:xfrm>
              <a:off x="9088702" y="3259446"/>
              <a:ext cx="45189" cy="45023"/>
            </a:xfrm>
            <a:custGeom>
              <a:avLst/>
              <a:gdLst/>
              <a:ahLst/>
              <a:cxnLst/>
              <a:rect l="l" t="t" r="r" b="b"/>
              <a:pathLst>
                <a:path w="46554" h="46531">
                  <a:moveTo>
                    <a:pt x="0" y="0"/>
                  </a:moveTo>
                  <a:lnTo>
                    <a:pt x="45" y="46531"/>
                  </a:lnTo>
                  <a:lnTo>
                    <a:pt x="46554" y="23237"/>
                  </a:lnTo>
                  <a:lnTo>
                    <a:pt x="0" y="0"/>
                  </a:lnTo>
                  <a:close/>
                </a:path>
              </a:pathLst>
            </a:custGeom>
            <a:solidFill>
              <a:srgbClr val="000000"/>
            </a:solidFill>
          </p:spPr>
          <p:txBody>
            <a:bodyPr wrap="square" lIns="0" tIns="0" rIns="0" bIns="0" rtlCol="0">
              <a:noAutofit/>
            </a:bodyPr>
            <a:lstStyle/>
            <a:p>
              <a:endParaRPr/>
            </a:p>
          </p:txBody>
        </p:sp>
        <p:sp>
          <p:nvSpPr>
            <p:cNvPr id="155" name="object 120"/>
            <p:cNvSpPr/>
            <p:nvPr/>
          </p:nvSpPr>
          <p:spPr>
            <a:xfrm>
              <a:off x="9088702" y="3259446"/>
              <a:ext cx="45189" cy="45023"/>
            </a:xfrm>
            <a:custGeom>
              <a:avLst/>
              <a:gdLst/>
              <a:ahLst/>
              <a:cxnLst/>
              <a:rect l="l" t="t" r="r" b="b"/>
              <a:pathLst>
                <a:path w="46554" h="46531">
                  <a:moveTo>
                    <a:pt x="0" y="0"/>
                  </a:moveTo>
                  <a:lnTo>
                    <a:pt x="45" y="46531"/>
                  </a:lnTo>
                  <a:lnTo>
                    <a:pt x="46554" y="23237"/>
                  </a:lnTo>
                  <a:lnTo>
                    <a:pt x="0" y="0"/>
                  </a:lnTo>
                  <a:close/>
                </a:path>
              </a:pathLst>
            </a:custGeom>
            <a:ln w="15716">
              <a:solidFill>
                <a:srgbClr val="000000"/>
              </a:solidFill>
            </a:ln>
          </p:spPr>
          <p:txBody>
            <a:bodyPr wrap="square" lIns="0" tIns="0" rIns="0" bIns="0" rtlCol="0">
              <a:noAutofit/>
            </a:bodyPr>
            <a:lstStyle/>
            <a:p>
              <a:endParaRPr/>
            </a:p>
          </p:txBody>
        </p:sp>
        <p:sp>
          <p:nvSpPr>
            <p:cNvPr id="156" name="object 121"/>
            <p:cNvSpPr/>
            <p:nvPr/>
          </p:nvSpPr>
          <p:spPr>
            <a:xfrm>
              <a:off x="6782849" y="3945824"/>
              <a:ext cx="45180" cy="45012"/>
            </a:xfrm>
            <a:custGeom>
              <a:avLst/>
              <a:gdLst/>
              <a:ahLst/>
              <a:cxnLst/>
              <a:rect l="l" t="t" r="r" b="b"/>
              <a:pathLst>
                <a:path w="46544" h="46520">
                  <a:moveTo>
                    <a:pt x="0" y="0"/>
                  </a:moveTo>
                  <a:lnTo>
                    <a:pt x="46" y="46520"/>
                  </a:lnTo>
                  <a:lnTo>
                    <a:pt x="46544" y="23225"/>
                  </a:lnTo>
                  <a:lnTo>
                    <a:pt x="0" y="0"/>
                  </a:lnTo>
                  <a:close/>
                </a:path>
              </a:pathLst>
            </a:custGeom>
            <a:solidFill>
              <a:srgbClr val="000000"/>
            </a:solidFill>
          </p:spPr>
          <p:txBody>
            <a:bodyPr wrap="square" lIns="0" tIns="0" rIns="0" bIns="0" rtlCol="0">
              <a:noAutofit/>
            </a:bodyPr>
            <a:lstStyle/>
            <a:p>
              <a:endParaRPr/>
            </a:p>
          </p:txBody>
        </p:sp>
        <p:sp>
          <p:nvSpPr>
            <p:cNvPr id="157" name="object 122"/>
            <p:cNvSpPr/>
            <p:nvPr/>
          </p:nvSpPr>
          <p:spPr>
            <a:xfrm>
              <a:off x="6782849" y="3945824"/>
              <a:ext cx="45180" cy="45012"/>
            </a:xfrm>
            <a:custGeom>
              <a:avLst/>
              <a:gdLst/>
              <a:ahLst/>
              <a:cxnLst/>
              <a:rect l="l" t="t" r="r" b="b"/>
              <a:pathLst>
                <a:path w="46544" h="46520">
                  <a:moveTo>
                    <a:pt x="0" y="0"/>
                  </a:moveTo>
                  <a:lnTo>
                    <a:pt x="46" y="46520"/>
                  </a:lnTo>
                  <a:lnTo>
                    <a:pt x="46544" y="23225"/>
                  </a:lnTo>
                  <a:lnTo>
                    <a:pt x="0" y="0"/>
                  </a:lnTo>
                  <a:close/>
                </a:path>
              </a:pathLst>
            </a:custGeom>
            <a:ln w="15716">
              <a:solidFill>
                <a:srgbClr val="000000"/>
              </a:solidFill>
            </a:ln>
          </p:spPr>
          <p:txBody>
            <a:bodyPr wrap="square" lIns="0" tIns="0" rIns="0" bIns="0" rtlCol="0">
              <a:noAutofit/>
            </a:bodyPr>
            <a:lstStyle/>
            <a:p>
              <a:endParaRPr/>
            </a:p>
          </p:txBody>
        </p:sp>
        <p:sp>
          <p:nvSpPr>
            <p:cNvPr id="158" name="object 123"/>
            <p:cNvSpPr/>
            <p:nvPr/>
          </p:nvSpPr>
          <p:spPr>
            <a:xfrm>
              <a:off x="6738236" y="4651997"/>
              <a:ext cx="45167" cy="45012"/>
            </a:xfrm>
            <a:custGeom>
              <a:avLst/>
              <a:gdLst/>
              <a:ahLst/>
              <a:cxnLst/>
              <a:rect l="l" t="t" r="r" b="b"/>
              <a:pathLst>
                <a:path w="46531" h="46520">
                  <a:moveTo>
                    <a:pt x="0" y="0"/>
                  </a:moveTo>
                  <a:lnTo>
                    <a:pt x="34" y="46520"/>
                  </a:lnTo>
                  <a:lnTo>
                    <a:pt x="46531" y="23225"/>
                  </a:lnTo>
                  <a:lnTo>
                    <a:pt x="0" y="0"/>
                  </a:lnTo>
                  <a:close/>
                </a:path>
              </a:pathLst>
            </a:custGeom>
            <a:solidFill>
              <a:srgbClr val="000000"/>
            </a:solidFill>
          </p:spPr>
          <p:txBody>
            <a:bodyPr wrap="square" lIns="0" tIns="0" rIns="0" bIns="0" rtlCol="0">
              <a:noAutofit/>
            </a:bodyPr>
            <a:lstStyle/>
            <a:p>
              <a:endParaRPr/>
            </a:p>
          </p:txBody>
        </p:sp>
        <p:sp>
          <p:nvSpPr>
            <p:cNvPr id="159" name="object 124"/>
            <p:cNvSpPr/>
            <p:nvPr/>
          </p:nvSpPr>
          <p:spPr>
            <a:xfrm>
              <a:off x="6738236" y="4651997"/>
              <a:ext cx="45167" cy="45012"/>
            </a:xfrm>
            <a:custGeom>
              <a:avLst/>
              <a:gdLst/>
              <a:ahLst/>
              <a:cxnLst/>
              <a:rect l="l" t="t" r="r" b="b"/>
              <a:pathLst>
                <a:path w="46531" h="46520">
                  <a:moveTo>
                    <a:pt x="0" y="0"/>
                  </a:moveTo>
                  <a:lnTo>
                    <a:pt x="34" y="46520"/>
                  </a:lnTo>
                  <a:lnTo>
                    <a:pt x="46531" y="23225"/>
                  </a:lnTo>
                  <a:lnTo>
                    <a:pt x="0" y="0"/>
                  </a:lnTo>
                  <a:close/>
                </a:path>
              </a:pathLst>
            </a:custGeom>
            <a:ln w="15716">
              <a:solidFill>
                <a:srgbClr val="000000"/>
              </a:solidFill>
            </a:ln>
          </p:spPr>
          <p:txBody>
            <a:bodyPr wrap="square" lIns="0" tIns="0" rIns="0" bIns="0" rtlCol="0">
              <a:noAutofit/>
            </a:bodyPr>
            <a:lstStyle/>
            <a:p>
              <a:endParaRPr/>
            </a:p>
          </p:txBody>
        </p:sp>
        <p:sp>
          <p:nvSpPr>
            <p:cNvPr id="160" name="object 125"/>
            <p:cNvSpPr/>
            <p:nvPr/>
          </p:nvSpPr>
          <p:spPr>
            <a:xfrm>
              <a:off x="6737082" y="4789048"/>
              <a:ext cx="45180" cy="45012"/>
            </a:xfrm>
            <a:custGeom>
              <a:avLst/>
              <a:gdLst/>
              <a:ahLst/>
              <a:cxnLst/>
              <a:rect l="l" t="t" r="r" b="b"/>
              <a:pathLst>
                <a:path w="46544" h="46520">
                  <a:moveTo>
                    <a:pt x="0" y="0"/>
                  </a:moveTo>
                  <a:lnTo>
                    <a:pt x="46" y="46520"/>
                  </a:lnTo>
                  <a:lnTo>
                    <a:pt x="46544" y="23237"/>
                  </a:lnTo>
                  <a:lnTo>
                    <a:pt x="0" y="0"/>
                  </a:lnTo>
                  <a:close/>
                </a:path>
              </a:pathLst>
            </a:custGeom>
            <a:solidFill>
              <a:srgbClr val="000000"/>
            </a:solidFill>
          </p:spPr>
          <p:txBody>
            <a:bodyPr wrap="square" lIns="0" tIns="0" rIns="0" bIns="0" rtlCol="0">
              <a:noAutofit/>
            </a:bodyPr>
            <a:lstStyle/>
            <a:p>
              <a:endParaRPr/>
            </a:p>
          </p:txBody>
        </p:sp>
        <p:sp>
          <p:nvSpPr>
            <p:cNvPr id="161" name="object 126"/>
            <p:cNvSpPr/>
            <p:nvPr/>
          </p:nvSpPr>
          <p:spPr>
            <a:xfrm>
              <a:off x="6737082" y="4789048"/>
              <a:ext cx="45180" cy="45012"/>
            </a:xfrm>
            <a:custGeom>
              <a:avLst/>
              <a:gdLst/>
              <a:ahLst/>
              <a:cxnLst/>
              <a:rect l="l" t="t" r="r" b="b"/>
              <a:pathLst>
                <a:path w="46544" h="46520">
                  <a:moveTo>
                    <a:pt x="0" y="0"/>
                  </a:moveTo>
                  <a:lnTo>
                    <a:pt x="46" y="46520"/>
                  </a:lnTo>
                  <a:lnTo>
                    <a:pt x="46544" y="23237"/>
                  </a:lnTo>
                  <a:lnTo>
                    <a:pt x="0" y="0"/>
                  </a:lnTo>
                  <a:close/>
                </a:path>
              </a:pathLst>
            </a:custGeom>
            <a:ln w="15716">
              <a:solidFill>
                <a:srgbClr val="000000"/>
              </a:solidFill>
            </a:ln>
          </p:spPr>
          <p:txBody>
            <a:bodyPr wrap="square" lIns="0" tIns="0" rIns="0" bIns="0" rtlCol="0">
              <a:noAutofit/>
            </a:bodyPr>
            <a:lstStyle/>
            <a:p>
              <a:endParaRPr/>
            </a:p>
          </p:txBody>
        </p:sp>
        <p:sp>
          <p:nvSpPr>
            <p:cNvPr id="162" name="object 127"/>
            <p:cNvSpPr/>
            <p:nvPr/>
          </p:nvSpPr>
          <p:spPr>
            <a:xfrm>
              <a:off x="6737082" y="4925909"/>
              <a:ext cx="45180" cy="45012"/>
            </a:xfrm>
            <a:custGeom>
              <a:avLst/>
              <a:gdLst/>
              <a:ahLst/>
              <a:cxnLst/>
              <a:rect l="l" t="t" r="r" b="b"/>
              <a:pathLst>
                <a:path w="46544" h="46520">
                  <a:moveTo>
                    <a:pt x="0" y="0"/>
                  </a:moveTo>
                  <a:lnTo>
                    <a:pt x="46" y="46520"/>
                  </a:lnTo>
                  <a:lnTo>
                    <a:pt x="46544" y="23237"/>
                  </a:lnTo>
                  <a:lnTo>
                    <a:pt x="0" y="0"/>
                  </a:lnTo>
                  <a:close/>
                </a:path>
              </a:pathLst>
            </a:custGeom>
            <a:solidFill>
              <a:srgbClr val="000000"/>
            </a:solidFill>
          </p:spPr>
          <p:txBody>
            <a:bodyPr wrap="square" lIns="0" tIns="0" rIns="0" bIns="0" rtlCol="0">
              <a:noAutofit/>
            </a:bodyPr>
            <a:lstStyle/>
            <a:p>
              <a:endParaRPr/>
            </a:p>
          </p:txBody>
        </p:sp>
        <p:sp>
          <p:nvSpPr>
            <p:cNvPr id="163" name="object 128"/>
            <p:cNvSpPr/>
            <p:nvPr/>
          </p:nvSpPr>
          <p:spPr>
            <a:xfrm>
              <a:off x="6737082" y="4925909"/>
              <a:ext cx="45180" cy="45012"/>
            </a:xfrm>
            <a:custGeom>
              <a:avLst/>
              <a:gdLst/>
              <a:ahLst/>
              <a:cxnLst/>
              <a:rect l="l" t="t" r="r" b="b"/>
              <a:pathLst>
                <a:path w="46544" h="46520">
                  <a:moveTo>
                    <a:pt x="0" y="0"/>
                  </a:moveTo>
                  <a:lnTo>
                    <a:pt x="46" y="46520"/>
                  </a:lnTo>
                  <a:lnTo>
                    <a:pt x="46544" y="23237"/>
                  </a:lnTo>
                  <a:lnTo>
                    <a:pt x="0" y="0"/>
                  </a:lnTo>
                  <a:close/>
                </a:path>
              </a:pathLst>
            </a:custGeom>
            <a:ln w="15716">
              <a:solidFill>
                <a:srgbClr val="000000"/>
              </a:solidFill>
            </a:ln>
          </p:spPr>
          <p:txBody>
            <a:bodyPr wrap="square" lIns="0" tIns="0" rIns="0" bIns="0" rtlCol="0">
              <a:noAutofit/>
            </a:bodyPr>
            <a:lstStyle/>
            <a:p>
              <a:endParaRPr/>
            </a:p>
          </p:txBody>
        </p:sp>
        <p:sp>
          <p:nvSpPr>
            <p:cNvPr id="164" name="object 129"/>
            <p:cNvSpPr/>
            <p:nvPr/>
          </p:nvSpPr>
          <p:spPr>
            <a:xfrm>
              <a:off x="6737082" y="5065060"/>
              <a:ext cx="45180" cy="45012"/>
            </a:xfrm>
            <a:custGeom>
              <a:avLst/>
              <a:gdLst/>
              <a:ahLst/>
              <a:cxnLst/>
              <a:rect l="l" t="t" r="r" b="b"/>
              <a:pathLst>
                <a:path w="46544" h="46520">
                  <a:moveTo>
                    <a:pt x="0" y="0"/>
                  </a:moveTo>
                  <a:lnTo>
                    <a:pt x="46" y="46520"/>
                  </a:lnTo>
                  <a:lnTo>
                    <a:pt x="46544" y="23225"/>
                  </a:lnTo>
                  <a:lnTo>
                    <a:pt x="0" y="0"/>
                  </a:lnTo>
                  <a:close/>
                </a:path>
              </a:pathLst>
            </a:custGeom>
            <a:solidFill>
              <a:srgbClr val="000000"/>
            </a:solidFill>
          </p:spPr>
          <p:txBody>
            <a:bodyPr wrap="square" lIns="0" tIns="0" rIns="0" bIns="0" rtlCol="0">
              <a:noAutofit/>
            </a:bodyPr>
            <a:lstStyle/>
            <a:p>
              <a:endParaRPr/>
            </a:p>
          </p:txBody>
        </p:sp>
        <p:sp>
          <p:nvSpPr>
            <p:cNvPr id="165" name="object 130"/>
            <p:cNvSpPr/>
            <p:nvPr/>
          </p:nvSpPr>
          <p:spPr>
            <a:xfrm>
              <a:off x="6737082" y="5065060"/>
              <a:ext cx="45180" cy="45012"/>
            </a:xfrm>
            <a:custGeom>
              <a:avLst/>
              <a:gdLst/>
              <a:ahLst/>
              <a:cxnLst/>
              <a:rect l="l" t="t" r="r" b="b"/>
              <a:pathLst>
                <a:path w="46544" h="46520">
                  <a:moveTo>
                    <a:pt x="0" y="0"/>
                  </a:moveTo>
                  <a:lnTo>
                    <a:pt x="46" y="46520"/>
                  </a:lnTo>
                  <a:lnTo>
                    <a:pt x="46544" y="23225"/>
                  </a:lnTo>
                  <a:lnTo>
                    <a:pt x="0" y="0"/>
                  </a:lnTo>
                  <a:close/>
                </a:path>
              </a:pathLst>
            </a:custGeom>
            <a:ln w="15716">
              <a:solidFill>
                <a:srgbClr val="000000"/>
              </a:solidFill>
            </a:ln>
          </p:spPr>
          <p:txBody>
            <a:bodyPr wrap="square" lIns="0" tIns="0" rIns="0" bIns="0" rtlCol="0">
              <a:noAutofit/>
            </a:bodyPr>
            <a:lstStyle/>
            <a:p>
              <a:endParaRPr/>
            </a:p>
          </p:txBody>
        </p:sp>
        <p:sp>
          <p:nvSpPr>
            <p:cNvPr id="166" name="object 131"/>
            <p:cNvSpPr/>
            <p:nvPr/>
          </p:nvSpPr>
          <p:spPr>
            <a:xfrm>
              <a:off x="6995029" y="5670272"/>
              <a:ext cx="45178" cy="45012"/>
            </a:xfrm>
            <a:custGeom>
              <a:avLst/>
              <a:gdLst/>
              <a:ahLst/>
              <a:cxnLst/>
              <a:rect l="l" t="t" r="r" b="b"/>
              <a:pathLst>
                <a:path w="46542" h="46520">
                  <a:moveTo>
                    <a:pt x="0" y="0"/>
                  </a:moveTo>
                  <a:lnTo>
                    <a:pt x="22" y="46520"/>
                  </a:lnTo>
                  <a:lnTo>
                    <a:pt x="46542" y="23225"/>
                  </a:lnTo>
                  <a:lnTo>
                    <a:pt x="0" y="0"/>
                  </a:lnTo>
                  <a:close/>
                </a:path>
              </a:pathLst>
            </a:custGeom>
            <a:solidFill>
              <a:srgbClr val="000000"/>
            </a:solidFill>
          </p:spPr>
          <p:txBody>
            <a:bodyPr wrap="square" lIns="0" tIns="0" rIns="0" bIns="0" rtlCol="0">
              <a:noAutofit/>
            </a:bodyPr>
            <a:lstStyle/>
            <a:p>
              <a:endParaRPr/>
            </a:p>
          </p:txBody>
        </p:sp>
        <p:sp>
          <p:nvSpPr>
            <p:cNvPr id="167" name="object 132"/>
            <p:cNvSpPr/>
            <p:nvPr/>
          </p:nvSpPr>
          <p:spPr>
            <a:xfrm>
              <a:off x="6995029" y="5670272"/>
              <a:ext cx="45178" cy="45012"/>
            </a:xfrm>
            <a:custGeom>
              <a:avLst/>
              <a:gdLst/>
              <a:ahLst/>
              <a:cxnLst/>
              <a:rect l="l" t="t" r="r" b="b"/>
              <a:pathLst>
                <a:path w="46542" h="46520">
                  <a:moveTo>
                    <a:pt x="0" y="0"/>
                  </a:moveTo>
                  <a:lnTo>
                    <a:pt x="22" y="46520"/>
                  </a:lnTo>
                  <a:lnTo>
                    <a:pt x="46542" y="23225"/>
                  </a:lnTo>
                  <a:lnTo>
                    <a:pt x="0" y="0"/>
                  </a:lnTo>
                  <a:close/>
                </a:path>
              </a:pathLst>
            </a:custGeom>
            <a:ln w="15716">
              <a:solidFill>
                <a:srgbClr val="000000"/>
              </a:solidFill>
            </a:ln>
          </p:spPr>
          <p:txBody>
            <a:bodyPr wrap="square" lIns="0" tIns="0" rIns="0" bIns="0" rtlCol="0">
              <a:noAutofit/>
            </a:bodyPr>
            <a:lstStyle/>
            <a:p>
              <a:endParaRPr/>
            </a:p>
          </p:txBody>
        </p:sp>
        <p:sp>
          <p:nvSpPr>
            <p:cNvPr id="168" name="object 133"/>
            <p:cNvSpPr/>
            <p:nvPr/>
          </p:nvSpPr>
          <p:spPr>
            <a:xfrm>
              <a:off x="5974304" y="4281459"/>
              <a:ext cx="216395" cy="0"/>
            </a:xfrm>
            <a:custGeom>
              <a:avLst/>
              <a:gdLst/>
              <a:ahLst/>
              <a:cxnLst/>
              <a:rect l="l" t="t" r="r" b="b"/>
              <a:pathLst>
                <a:path w="222930">
                  <a:moveTo>
                    <a:pt x="205499" y="0"/>
                  </a:moveTo>
                  <a:lnTo>
                    <a:pt x="222930" y="0"/>
                  </a:lnTo>
                  <a:lnTo>
                    <a:pt x="0" y="0"/>
                  </a:lnTo>
                </a:path>
              </a:pathLst>
            </a:custGeom>
            <a:ln w="31432">
              <a:solidFill>
                <a:srgbClr val="000000"/>
              </a:solidFill>
            </a:ln>
          </p:spPr>
          <p:txBody>
            <a:bodyPr wrap="square" lIns="0" tIns="0" rIns="0" bIns="0" rtlCol="0">
              <a:noAutofit/>
            </a:bodyPr>
            <a:lstStyle/>
            <a:p>
              <a:endParaRPr/>
            </a:p>
          </p:txBody>
        </p:sp>
        <p:sp>
          <p:nvSpPr>
            <p:cNvPr id="169" name="object 134"/>
            <p:cNvSpPr/>
            <p:nvPr/>
          </p:nvSpPr>
          <p:spPr>
            <a:xfrm>
              <a:off x="7821770" y="4477721"/>
              <a:ext cx="315119" cy="0"/>
            </a:xfrm>
            <a:custGeom>
              <a:avLst/>
              <a:gdLst/>
              <a:ahLst/>
              <a:cxnLst/>
              <a:rect l="l" t="t" r="r" b="b"/>
              <a:pathLst>
                <a:path w="324635">
                  <a:moveTo>
                    <a:pt x="0" y="0"/>
                  </a:moveTo>
                  <a:lnTo>
                    <a:pt x="324635" y="0"/>
                  </a:lnTo>
                </a:path>
              </a:pathLst>
            </a:custGeom>
            <a:ln w="3175">
              <a:solidFill>
                <a:srgbClr val="000000"/>
              </a:solidFill>
            </a:ln>
          </p:spPr>
          <p:txBody>
            <a:bodyPr wrap="square" lIns="0" tIns="0" rIns="0" bIns="0" rtlCol="0">
              <a:noAutofit/>
            </a:bodyPr>
            <a:lstStyle/>
            <a:p>
              <a:endParaRPr/>
            </a:p>
          </p:txBody>
        </p:sp>
        <p:sp>
          <p:nvSpPr>
            <p:cNvPr id="170" name="object 135"/>
            <p:cNvSpPr/>
            <p:nvPr/>
          </p:nvSpPr>
          <p:spPr>
            <a:xfrm>
              <a:off x="5064318" y="3038764"/>
              <a:ext cx="498785" cy="902447"/>
            </a:xfrm>
            <a:custGeom>
              <a:avLst/>
              <a:gdLst/>
              <a:ahLst/>
              <a:cxnLst/>
              <a:rect l="l" t="t" r="r" b="b"/>
              <a:pathLst>
                <a:path w="513847" h="932676">
                  <a:moveTo>
                    <a:pt x="513847" y="932676"/>
                  </a:moveTo>
                  <a:lnTo>
                    <a:pt x="513847" y="0"/>
                  </a:lnTo>
                  <a:lnTo>
                    <a:pt x="0" y="0"/>
                  </a:lnTo>
                </a:path>
              </a:pathLst>
            </a:custGeom>
            <a:ln w="15716">
              <a:solidFill>
                <a:srgbClr val="EB2D2E"/>
              </a:solidFill>
            </a:ln>
          </p:spPr>
          <p:txBody>
            <a:bodyPr wrap="square" lIns="0" tIns="0" rIns="0" bIns="0" rtlCol="0">
              <a:noAutofit/>
            </a:bodyPr>
            <a:lstStyle/>
            <a:p>
              <a:endParaRPr/>
            </a:p>
          </p:txBody>
        </p:sp>
        <p:sp>
          <p:nvSpPr>
            <p:cNvPr id="171" name="object 136"/>
            <p:cNvSpPr/>
            <p:nvPr/>
          </p:nvSpPr>
          <p:spPr>
            <a:xfrm>
              <a:off x="5125972" y="2858725"/>
              <a:ext cx="1789505" cy="1023716"/>
            </a:xfrm>
            <a:custGeom>
              <a:avLst/>
              <a:gdLst/>
              <a:ahLst/>
              <a:cxnLst/>
              <a:rect l="l" t="t" r="r" b="b"/>
              <a:pathLst>
                <a:path w="1843544" h="1058007">
                  <a:moveTo>
                    <a:pt x="1843544" y="1058007"/>
                  </a:moveTo>
                  <a:lnTo>
                    <a:pt x="1843544" y="0"/>
                  </a:lnTo>
                  <a:lnTo>
                    <a:pt x="0" y="0"/>
                  </a:lnTo>
                </a:path>
              </a:pathLst>
            </a:custGeom>
            <a:ln w="15716">
              <a:solidFill>
                <a:srgbClr val="EB2D2E"/>
              </a:solidFill>
            </a:ln>
          </p:spPr>
          <p:txBody>
            <a:bodyPr wrap="square" lIns="0" tIns="0" rIns="0" bIns="0" rtlCol="0">
              <a:noAutofit/>
            </a:bodyPr>
            <a:lstStyle/>
            <a:p>
              <a:endParaRPr/>
            </a:p>
          </p:txBody>
        </p:sp>
        <p:sp>
          <p:nvSpPr>
            <p:cNvPr id="172" name="object 137"/>
            <p:cNvSpPr/>
            <p:nvPr/>
          </p:nvSpPr>
          <p:spPr>
            <a:xfrm>
              <a:off x="5022502" y="2387457"/>
              <a:ext cx="4230983" cy="793400"/>
            </a:xfrm>
            <a:custGeom>
              <a:avLst/>
              <a:gdLst/>
              <a:ahLst/>
              <a:cxnLst/>
              <a:rect l="l" t="t" r="r" b="b"/>
              <a:pathLst>
                <a:path w="4358749" h="819976">
                  <a:moveTo>
                    <a:pt x="0" y="0"/>
                  </a:moveTo>
                  <a:lnTo>
                    <a:pt x="4358749" y="0"/>
                  </a:lnTo>
                  <a:lnTo>
                    <a:pt x="4358749" y="819976"/>
                  </a:lnTo>
                </a:path>
              </a:pathLst>
            </a:custGeom>
            <a:ln w="31432">
              <a:solidFill>
                <a:srgbClr val="EB2D2E"/>
              </a:solidFill>
            </a:ln>
          </p:spPr>
          <p:txBody>
            <a:bodyPr wrap="square" lIns="0" tIns="0" rIns="0" bIns="0" rtlCol="0">
              <a:noAutofit/>
            </a:bodyPr>
            <a:lstStyle/>
            <a:p>
              <a:endParaRPr/>
            </a:p>
          </p:txBody>
        </p:sp>
        <p:sp>
          <p:nvSpPr>
            <p:cNvPr id="173" name="object 138"/>
            <p:cNvSpPr/>
            <p:nvPr/>
          </p:nvSpPr>
          <p:spPr>
            <a:xfrm>
              <a:off x="2544875" y="2764775"/>
              <a:ext cx="2113778" cy="1179168"/>
            </a:xfrm>
            <a:custGeom>
              <a:avLst/>
              <a:gdLst/>
              <a:ahLst/>
              <a:cxnLst/>
              <a:rect l="l" t="t" r="r" b="b"/>
              <a:pathLst>
                <a:path w="2177609" h="1218666">
                  <a:moveTo>
                    <a:pt x="0" y="1218666"/>
                  </a:moveTo>
                  <a:lnTo>
                    <a:pt x="0" y="0"/>
                  </a:lnTo>
                  <a:lnTo>
                    <a:pt x="2177609" y="0"/>
                  </a:lnTo>
                </a:path>
              </a:pathLst>
            </a:custGeom>
            <a:ln w="15716">
              <a:solidFill>
                <a:srgbClr val="EB2D2E"/>
              </a:solidFill>
            </a:ln>
          </p:spPr>
          <p:txBody>
            <a:bodyPr wrap="square" lIns="0" tIns="0" rIns="0" bIns="0" rtlCol="0">
              <a:noAutofit/>
            </a:bodyPr>
            <a:lstStyle/>
            <a:p>
              <a:endParaRPr/>
            </a:p>
          </p:txBody>
        </p:sp>
        <p:sp>
          <p:nvSpPr>
            <p:cNvPr id="174" name="object 139"/>
            <p:cNvSpPr/>
            <p:nvPr/>
          </p:nvSpPr>
          <p:spPr>
            <a:xfrm>
              <a:off x="2933941" y="2917020"/>
              <a:ext cx="1725587" cy="1029255"/>
            </a:xfrm>
            <a:custGeom>
              <a:avLst/>
              <a:gdLst/>
              <a:ahLst/>
              <a:cxnLst/>
              <a:rect l="l" t="t" r="r" b="b"/>
              <a:pathLst>
                <a:path w="1777696" h="1063732">
                  <a:moveTo>
                    <a:pt x="0" y="1063732"/>
                  </a:moveTo>
                  <a:lnTo>
                    <a:pt x="0" y="0"/>
                  </a:lnTo>
                  <a:lnTo>
                    <a:pt x="1777696" y="0"/>
                  </a:lnTo>
                </a:path>
              </a:pathLst>
            </a:custGeom>
            <a:ln w="15716">
              <a:solidFill>
                <a:srgbClr val="EB2D2E"/>
              </a:solidFill>
            </a:ln>
          </p:spPr>
          <p:txBody>
            <a:bodyPr wrap="square" lIns="0" tIns="0" rIns="0" bIns="0" rtlCol="0">
              <a:noAutofit/>
            </a:bodyPr>
            <a:lstStyle/>
            <a:p>
              <a:endParaRPr/>
            </a:p>
          </p:txBody>
        </p:sp>
        <p:sp>
          <p:nvSpPr>
            <p:cNvPr id="175" name="object 140"/>
            <p:cNvSpPr/>
            <p:nvPr/>
          </p:nvSpPr>
          <p:spPr>
            <a:xfrm>
              <a:off x="3528576" y="2380257"/>
              <a:ext cx="1241436" cy="0"/>
            </a:xfrm>
            <a:custGeom>
              <a:avLst/>
              <a:gdLst/>
              <a:ahLst/>
              <a:cxnLst/>
              <a:rect l="l" t="t" r="r" b="b"/>
              <a:pathLst>
                <a:path w="1278925">
                  <a:moveTo>
                    <a:pt x="0" y="0"/>
                  </a:moveTo>
                  <a:lnTo>
                    <a:pt x="1278925" y="0"/>
                  </a:lnTo>
                </a:path>
              </a:pathLst>
            </a:custGeom>
            <a:ln w="15716">
              <a:solidFill>
                <a:srgbClr val="EB2D2E"/>
              </a:solidFill>
            </a:ln>
          </p:spPr>
          <p:txBody>
            <a:bodyPr wrap="square" lIns="0" tIns="0" rIns="0" bIns="0" rtlCol="0">
              <a:noAutofit/>
            </a:bodyPr>
            <a:lstStyle/>
            <a:p>
              <a:endParaRPr/>
            </a:p>
          </p:txBody>
        </p:sp>
        <p:sp>
          <p:nvSpPr>
            <p:cNvPr id="176" name="object 141"/>
            <p:cNvSpPr/>
            <p:nvPr/>
          </p:nvSpPr>
          <p:spPr>
            <a:xfrm>
              <a:off x="2979375" y="2501613"/>
              <a:ext cx="1734019" cy="441"/>
            </a:xfrm>
            <a:custGeom>
              <a:avLst/>
              <a:gdLst/>
              <a:ahLst/>
              <a:cxnLst/>
              <a:rect l="l" t="t" r="r" b="b"/>
              <a:pathLst>
                <a:path w="1786383" h="456">
                  <a:moveTo>
                    <a:pt x="1786383" y="456"/>
                  </a:moveTo>
                  <a:lnTo>
                    <a:pt x="0" y="0"/>
                  </a:lnTo>
                </a:path>
              </a:pathLst>
            </a:custGeom>
            <a:ln w="15716">
              <a:solidFill>
                <a:srgbClr val="EB2D2E"/>
              </a:solidFill>
            </a:ln>
          </p:spPr>
          <p:txBody>
            <a:bodyPr wrap="square" lIns="0" tIns="0" rIns="0" bIns="0" rtlCol="0">
              <a:noAutofit/>
            </a:bodyPr>
            <a:lstStyle/>
            <a:p>
              <a:endParaRPr/>
            </a:p>
          </p:txBody>
        </p:sp>
        <p:sp>
          <p:nvSpPr>
            <p:cNvPr id="177" name="object 142"/>
            <p:cNvSpPr txBox="1"/>
            <p:nvPr/>
          </p:nvSpPr>
          <p:spPr>
            <a:xfrm>
              <a:off x="4463849" y="2507400"/>
              <a:ext cx="169506" cy="109980"/>
            </a:xfrm>
            <a:prstGeom prst="rect">
              <a:avLst/>
            </a:prstGeom>
          </p:spPr>
          <p:txBody>
            <a:bodyPr vert="horz" wrap="square" lIns="0" tIns="0" rIns="0" bIns="0" rtlCol="0">
              <a:noAutofit/>
            </a:bodyPr>
            <a:lstStyle/>
            <a:p>
              <a:pPr marL="12700">
                <a:lnSpc>
                  <a:spcPct val="100000"/>
                </a:lnSpc>
              </a:pPr>
              <a:r>
                <a:rPr sz="650" spc="5" dirty="0" smtClean="0">
                  <a:solidFill>
                    <a:srgbClr val="EB2D2E"/>
                  </a:solidFill>
                  <a:latin typeface="Franklin Gothic Book"/>
                  <a:cs typeface="Franklin Gothic Book"/>
                </a:rPr>
                <a:t>IorD</a:t>
              </a:r>
              <a:endParaRPr sz="650">
                <a:latin typeface="Franklin Gothic Book"/>
                <a:cs typeface="Franklin Gothic Book"/>
              </a:endParaRPr>
            </a:p>
          </p:txBody>
        </p:sp>
        <p:sp>
          <p:nvSpPr>
            <p:cNvPr id="178" name="object 143"/>
            <p:cNvSpPr txBox="1"/>
            <p:nvPr/>
          </p:nvSpPr>
          <p:spPr>
            <a:xfrm>
              <a:off x="4249300" y="2651726"/>
              <a:ext cx="384009" cy="109980"/>
            </a:xfrm>
            <a:prstGeom prst="rect">
              <a:avLst/>
            </a:prstGeom>
          </p:spPr>
          <p:txBody>
            <a:bodyPr vert="horz" wrap="square" lIns="0" tIns="0" rIns="0" bIns="0" rtlCol="0">
              <a:noAutofit/>
            </a:bodyPr>
            <a:lstStyle/>
            <a:p>
              <a:pPr marL="12700">
                <a:lnSpc>
                  <a:spcPct val="100000"/>
                </a:lnSpc>
              </a:pPr>
              <a:r>
                <a:rPr sz="650" spc="10" dirty="0" smtClean="0">
                  <a:solidFill>
                    <a:srgbClr val="EB2D2E"/>
                  </a:solidFill>
                  <a:latin typeface="Franklin Gothic Book"/>
                  <a:cs typeface="Franklin Gothic Book"/>
                </a:rPr>
                <a:t>MemRead</a:t>
              </a:r>
              <a:endParaRPr sz="650">
                <a:latin typeface="Franklin Gothic Book"/>
                <a:cs typeface="Franklin Gothic Book"/>
              </a:endParaRPr>
            </a:p>
          </p:txBody>
        </p:sp>
        <p:sp>
          <p:nvSpPr>
            <p:cNvPr id="179" name="object 144"/>
            <p:cNvSpPr txBox="1"/>
            <p:nvPr/>
          </p:nvSpPr>
          <p:spPr>
            <a:xfrm>
              <a:off x="4249300" y="2803974"/>
              <a:ext cx="384009" cy="109980"/>
            </a:xfrm>
            <a:prstGeom prst="rect">
              <a:avLst/>
            </a:prstGeom>
          </p:spPr>
          <p:txBody>
            <a:bodyPr vert="horz" wrap="square" lIns="0" tIns="0" rIns="0" bIns="0" rtlCol="0">
              <a:noAutofit/>
            </a:bodyPr>
            <a:lstStyle/>
            <a:p>
              <a:pPr marL="12700">
                <a:lnSpc>
                  <a:spcPct val="100000"/>
                </a:lnSpc>
              </a:pPr>
              <a:r>
                <a:rPr sz="650" spc="10" dirty="0" smtClean="0">
                  <a:solidFill>
                    <a:srgbClr val="EB2D2E"/>
                  </a:solidFill>
                  <a:latin typeface="Franklin Gothic Book"/>
                  <a:cs typeface="Franklin Gothic Book"/>
                </a:rPr>
                <a:t>MemWrite</a:t>
              </a:r>
              <a:endParaRPr sz="650">
                <a:latin typeface="Franklin Gothic Book"/>
                <a:cs typeface="Franklin Gothic Book"/>
              </a:endParaRPr>
            </a:p>
          </p:txBody>
        </p:sp>
        <p:sp>
          <p:nvSpPr>
            <p:cNvPr id="180" name="object 145"/>
            <p:cNvSpPr txBox="1"/>
            <p:nvPr/>
          </p:nvSpPr>
          <p:spPr>
            <a:xfrm>
              <a:off x="4222531" y="2951451"/>
              <a:ext cx="406815" cy="109980"/>
            </a:xfrm>
            <a:prstGeom prst="rect">
              <a:avLst/>
            </a:prstGeom>
          </p:spPr>
          <p:txBody>
            <a:bodyPr vert="horz" wrap="square" lIns="0" tIns="0" rIns="0" bIns="0" rtlCol="0">
              <a:noAutofit/>
            </a:bodyPr>
            <a:lstStyle/>
            <a:p>
              <a:pPr marL="12700">
                <a:lnSpc>
                  <a:spcPct val="100000"/>
                </a:lnSpc>
              </a:pPr>
              <a:r>
                <a:rPr sz="650" spc="10" dirty="0" smtClean="0">
                  <a:solidFill>
                    <a:srgbClr val="EB2D2E"/>
                  </a:solidFill>
                  <a:latin typeface="Franklin Gothic Book"/>
                  <a:cs typeface="Franklin Gothic Book"/>
                </a:rPr>
                <a:t>MemtoReg</a:t>
              </a:r>
              <a:endParaRPr sz="650">
                <a:latin typeface="Franklin Gothic Book"/>
                <a:cs typeface="Franklin Gothic Book"/>
              </a:endParaRPr>
            </a:p>
          </p:txBody>
        </p:sp>
        <p:sp>
          <p:nvSpPr>
            <p:cNvPr id="181" name="object 146"/>
            <p:cNvSpPr txBox="1"/>
            <p:nvPr/>
          </p:nvSpPr>
          <p:spPr>
            <a:xfrm>
              <a:off x="4246221" y="2249395"/>
              <a:ext cx="485096" cy="109980"/>
            </a:xfrm>
            <a:prstGeom prst="rect">
              <a:avLst/>
            </a:prstGeom>
          </p:spPr>
          <p:txBody>
            <a:bodyPr vert="horz" wrap="square" lIns="0" tIns="0" rIns="0" bIns="0" rtlCol="0">
              <a:noAutofit/>
            </a:bodyPr>
            <a:lstStyle/>
            <a:p>
              <a:pPr marL="12700">
                <a:lnSpc>
                  <a:spcPct val="100000"/>
                </a:lnSpc>
              </a:pPr>
              <a:r>
                <a:rPr sz="650" spc="5" dirty="0" smtClean="0">
                  <a:solidFill>
                    <a:srgbClr val="EB2D2E"/>
                  </a:solidFill>
                  <a:latin typeface="Franklin Gothic Book"/>
                  <a:cs typeface="Franklin Gothic Book"/>
                </a:rPr>
                <a:t>PCWriteCond</a:t>
              </a:r>
              <a:endParaRPr sz="650">
                <a:latin typeface="Franklin Gothic Book"/>
                <a:cs typeface="Franklin Gothic Book"/>
              </a:endParaRPr>
            </a:p>
          </p:txBody>
        </p:sp>
        <p:sp>
          <p:nvSpPr>
            <p:cNvPr id="182" name="object 147"/>
            <p:cNvSpPr txBox="1"/>
            <p:nvPr/>
          </p:nvSpPr>
          <p:spPr>
            <a:xfrm>
              <a:off x="4367237" y="2391330"/>
              <a:ext cx="302646" cy="109980"/>
            </a:xfrm>
            <a:prstGeom prst="rect">
              <a:avLst/>
            </a:prstGeom>
          </p:spPr>
          <p:txBody>
            <a:bodyPr vert="horz" wrap="square" lIns="0" tIns="0" rIns="0" bIns="0" rtlCol="0">
              <a:noAutofit/>
            </a:bodyPr>
            <a:lstStyle/>
            <a:p>
              <a:pPr marL="12700">
                <a:lnSpc>
                  <a:spcPct val="100000"/>
                </a:lnSpc>
              </a:pPr>
              <a:r>
                <a:rPr sz="650" spc="5" dirty="0" smtClean="0">
                  <a:solidFill>
                    <a:srgbClr val="EB2D2E"/>
                  </a:solidFill>
                  <a:latin typeface="Franklin Gothic Book"/>
                  <a:cs typeface="Franklin Gothic Book"/>
                </a:rPr>
                <a:t>PCWrite</a:t>
              </a:r>
              <a:endParaRPr sz="650">
                <a:latin typeface="Franklin Gothic Book"/>
                <a:cs typeface="Franklin Gothic Book"/>
              </a:endParaRPr>
            </a:p>
          </p:txBody>
        </p:sp>
        <p:sp>
          <p:nvSpPr>
            <p:cNvPr id="183" name="object 148"/>
            <p:cNvSpPr txBox="1"/>
            <p:nvPr/>
          </p:nvSpPr>
          <p:spPr>
            <a:xfrm>
              <a:off x="4345855" y="3121263"/>
              <a:ext cx="278607" cy="109980"/>
            </a:xfrm>
            <a:prstGeom prst="rect">
              <a:avLst/>
            </a:prstGeom>
          </p:spPr>
          <p:txBody>
            <a:bodyPr vert="horz" wrap="square" lIns="0" tIns="0" rIns="0" bIns="0" rtlCol="0">
              <a:noAutofit/>
            </a:bodyPr>
            <a:lstStyle/>
            <a:p>
              <a:pPr marL="12700">
                <a:lnSpc>
                  <a:spcPct val="100000"/>
                </a:lnSpc>
              </a:pPr>
              <a:r>
                <a:rPr sz="650" spc="5" dirty="0" smtClean="0">
                  <a:solidFill>
                    <a:srgbClr val="EB2D2E"/>
                  </a:solidFill>
                  <a:latin typeface="Franklin Gothic Book"/>
                  <a:cs typeface="Franklin Gothic Book"/>
                </a:rPr>
                <a:t>IRWrite</a:t>
              </a:r>
              <a:endParaRPr sz="650">
                <a:latin typeface="Franklin Gothic Book"/>
                <a:cs typeface="Franklin Gothic Book"/>
              </a:endParaRPr>
            </a:p>
          </p:txBody>
        </p:sp>
        <p:sp>
          <p:nvSpPr>
            <p:cNvPr id="184" name="object 149"/>
            <p:cNvSpPr txBox="1"/>
            <p:nvPr/>
          </p:nvSpPr>
          <p:spPr>
            <a:xfrm>
              <a:off x="5102846" y="2429348"/>
              <a:ext cx="260731" cy="109980"/>
            </a:xfrm>
            <a:prstGeom prst="rect">
              <a:avLst/>
            </a:prstGeom>
          </p:spPr>
          <p:txBody>
            <a:bodyPr vert="horz" wrap="square" lIns="0" tIns="0" rIns="0" bIns="0" rtlCol="0">
              <a:noAutofit/>
            </a:bodyPr>
            <a:lstStyle/>
            <a:p>
              <a:pPr marL="12700">
                <a:lnSpc>
                  <a:spcPct val="100000"/>
                </a:lnSpc>
              </a:pPr>
              <a:r>
                <a:rPr sz="650" spc="15" dirty="0" smtClean="0">
                  <a:solidFill>
                    <a:srgbClr val="EB2D2E"/>
                  </a:solidFill>
                  <a:latin typeface="Franklin Gothic Book"/>
                  <a:cs typeface="Franklin Gothic Book"/>
                </a:rPr>
                <a:t>ALUOp</a:t>
              </a:r>
              <a:endParaRPr sz="650">
                <a:latin typeface="Franklin Gothic Book"/>
                <a:cs typeface="Franklin Gothic Book"/>
              </a:endParaRPr>
            </a:p>
          </p:txBody>
        </p:sp>
        <p:sp>
          <p:nvSpPr>
            <p:cNvPr id="185" name="object 150"/>
            <p:cNvSpPr txBox="1"/>
            <p:nvPr/>
          </p:nvSpPr>
          <p:spPr>
            <a:xfrm>
              <a:off x="5133354" y="2592825"/>
              <a:ext cx="329150" cy="109980"/>
            </a:xfrm>
            <a:prstGeom prst="rect">
              <a:avLst/>
            </a:prstGeom>
          </p:spPr>
          <p:txBody>
            <a:bodyPr vert="horz" wrap="square" lIns="0" tIns="0" rIns="0" bIns="0" rtlCol="0">
              <a:noAutofit/>
            </a:bodyPr>
            <a:lstStyle/>
            <a:p>
              <a:pPr marL="12700">
                <a:lnSpc>
                  <a:spcPct val="100000"/>
                </a:lnSpc>
              </a:pPr>
              <a:r>
                <a:rPr sz="650" spc="15" dirty="0" smtClean="0">
                  <a:solidFill>
                    <a:srgbClr val="EB2D2E"/>
                  </a:solidFill>
                  <a:latin typeface="Franklin Gothic Book"/>
                  <a:cs typeface="Franklin Gothic Book"/>
                </a:rPr>
                <a:t>ALUSrcB</a:t>
              </a:r>
              <a:endParaRPr sz="650">
                <a:latin typeface="Franklin Gothic Book"/>
                <a:cs typeface="Franklin Gothic Book"/>
              </a:endParaRPr>
            </a:p>
          </p:txBody>
        </p:sp>
        <p:sp>
          <p:nvSpPr>
            <p:cNvPr id="186" name="object 151"/>
            <p:cNvSpPr txBox="1"/>
            <p:nvPr/>
          </p:nvSpPr>
          <p:spPr>
            <a:xfrm>
              <a:off x="5143520" y="2745931"/>
              <a:ext cx="342095" cy="272188"/>
            </a:xfrm>
            <a:prstGeom prst="rect">
              <a:avLst/>
            </a:prstGeom>
          </p:spPr>
          <p:txBody>
            <a:bodyPr vert="horz" wrap="square" lIns="0" tIns="0" rIns="0" bIns="0" rtlCol="0">
              <a:noAutofit/>
            </a:bodyPr>
            <a:lstStyle/>
            <a:p>
              <a:pPr marL="29209">
                <a:lnSpc>
                  <a:spcPct val="100000"/>
                </a:lnSpc>
              </a:pPr>
              <a:r>
                <a:rPr sz="650" spc="15" dirty="0" smtClean="0">
                  <a:solidFill>
                    <a:srgbClr val="EB2D2E"/>
                  </a:solidFill>
                  <a:latin typeface="Franklin Gothic Book"/>
                  <a:cs typeface="Franklin Gothic Book"/>
                </a:rPr>
                <a:t>ALUSrcA</a:t>
              </a:r>
              <a:endParaRPr sz="650">
                <a:latin typeface="Franklin Gothic Book"/>
                <a:cs typeface="Franklin Gothic Book"/>
              </a:endParaRPr>
            </a:p>
            <a:p>
              <a:pPr>
                <a:lnSpc>
                  <a:spcPts val="500"/>
                </a:lnSpc>
                <a:spcBef>
                  <a:spcPts val="39"/>
                </a:spcBef>
              </a:pPr>
              <a:endParaRPr sz="500"/>
            </a:p>
            <a:p>
              <a:pPr marL="12700">
                <a:lnSpc>
                  <a:spcPct val="100000"/>
                </a:lnSpc>
              </a:pPr>
              <a:r>
                <a:rPr sz="650" spc="5" dirty="0" smtClean="0">
                  <a:solidFill>
                    <a:srgbClr val="EB2D2E"/>
                  </a:solidFill>
                  <a:latin typeface="Franklin Gothic Book"/>
                  <a:cs typeface="Franklin Gothic Book"/>
                </a:rPr>
                <a:t>RegWrite</a:t>
              </a:r>
              <a:endParaRPr sz="650">
                <a:latin typeface="Franklin Gothic Book"/>
                <a:cs typeface="Franklin Gothic Book"/>
              </a:endParaRPr>
            </a:p>
          </p:txBody>
        </p:sp>
        <p:sp>
          <p:nvSpPr>
            <p:cNvPr id="187" name="object 152"/>
            <p:cNvSpPr txBox="1"/>
            <p:nvPr/>
          </p:nvSpPr>
          <p:spPr>
            <a:xfrm>
              <a:off x="5133354" y="3080709"/>
              <a:ext cx="281689" cy="109980"/>
            </a:xfrm>
            <a:prstGeom prst="rect">
              <a:avLst/>
            </a:prstGeom>
          </p:spPr>
          <p:txBody>
            <a:bodyPr vert="horz" wrap="square" lIns="0" tIns="0" rIns="0" bIns="0" rtlCol="0">
              <a:noAutofit/>
            </a:bodyPr>
            <a:lstStyle/>
            <a:p>
              <a:pPr marL="12700">
                <a:lnSpc>
                  <a:spcPct val="100000"/>
                </a:lnSpc>
              </a:pPr>
              <a:r>
                <a:rPr sz="650" spc="15" dirty="0" smtClean="0">
                  <a:solidFill>
                    <a:srgbClr val="EB2D2E"/>
                  </a:solidFill>
                  <a:latin typeface="Franklin Gothic Book"/>
                  <a:cs typeface="Franklin Gothic Book"/>
                </a:rPr>
                <a:t>RegDst</a:t>
              </a:r>
              <a:endParaRPr sz="650">
                <a:latin typeface="Franklin Gothic Book"/>
                <a:cs typeface="Franklin Gothic Book"/>
              </a:endParaRPr>
            </a:p>
          </p:txBody>
        </p:sp>
        <p:sp>
          <p:nvSpPr>
            <p:cNvPr id="188" name="object 153"/>
            <p:cNvSpPr txBox="1"/>
            <p:nvPr/>
          </p:nvSpPr>
          <p:spPr>
            <a:xfrm>
              <a:off x="5079829" y="2267777"/>
              <a:ext cx="367983" cy="109980"/>
            </a:xfrm>
            <a:prstGeom prst="rect">
              <a:avLst/>
            </a:prstGeom>
          </p:spPr>
          <p:txBody>
            <a:bodyPr vert="horz" wrap="square" lIns="0" tIns="0" rIns="0" bIns="0" rtlCol="0">
              <a:noAutofit/>
            </a:bodyPr>
            <a:lstStyle/>
            <a:p>
              <a:pPr marL="12700">
                <a:lnSpc>
                  <a:spcPct val="100000"/>
                </a:lnSpc>
              </a:pPr>
              <a:r>
                <a:rPr sz="650" spc="10" dirty="0" smtClean="0">
                  <a:solidFill>
                    <a:srgbClr val="EB2D2E"/>
                  </a:solidFill>
                  <a:latin typeface="Franklin Gothic Book"/>
                  <a:cs typeface="Franklin Gothic Book"/>
                </a:rPr>
                <a:t>PCSource</a:t>
              </a:r>
              <a:endParaRPr sz="650">
                <a:latin typeface="Franklin Gothic Book"/>
                <a:cs typeface="Franklin Gothic Book"/>
              </a:endParaRPr>
            </a:p>
          </p:txBody>
        </p:sp>
        <p:sp>
          <p:nvSpPr>
            <p:cNvPr id="189" name="object 154"/>
            <p:cNvSpPr/>
            <p:nvPr/>
          </p:nvSpPr>
          <p:spPr>
            <a:xfrm>
              <a:off x="3513320" y="2177203"/>
              <a:ext cx="4480087" cy="2145429"/>
            </a:xfrm>
            <a:custGeom>
              <a:avLst/>
              <a:gdLst/>
              <a:ahLst/>
              <a:cxnLst/>
              <a:rect l="l" t="t" r="r" b="b"/>
              <a:pathLst>
                <a:path w="4615376" h="2217294">
                  <a:moveTo>
                    <a:pt x="4436142" y="2217294"/>
                  </a:moveTo>
                  <a:lnTo>
                    <a:pt x="4615376" y="2217294"/>
                  </a:lnTo>
                  <a:lnTo>
                    <a:pt x="4615376" y="0"/>
                  </a:lnTo>
                  <a:lnTo>
                    <a:pt x="120495" y="0"/>
                  </a:lnTo>
                  <a:lnTo>
                    <a:pt x="120495" y="104767"/>
                  </a:lnTo>
                  <a:lnTo>
                    <a:pt x="0" y="104767"/>
                  </a:lnTo>
                </a:path>
              </a:pathLst>
            </a:custGeom>
            <a:ln w="15716">
              <a:solidFill>
                <a:srgbClr val="000000"/>
              </a:solidFill>
            </a:ln>
          </p:spPr>
          <p:txBody>
            <a:bodyPr wrap="square" lIns="0" tIns="0" rIns="0" bIns="0" rtlCol="0">
              <a:noAutofit/>
            </a:bodyPr>
            <a:lstStyle/>
            <a:p>
              <a:endParaRPr/>
            </a:p>
          </p:txBody>
        </p:sp>
        <p:sp>
          <p:nvSpPr>
            <p:cNvPr id="190" name="object 155"/>
            <p:cNvSpPr/>
            <p:nvPr/>
          </p:nvSpPr>
          <p:spPr>
            <a:xfrm>
              <a:off x="3262376" y="2228647"/>
              <a:ext cx="256314" cy="212127"/>
            </a:xfrm>
            <a:custGeom>
              <a:avLst/>
              <a:gdLst/>
              <a:ahLst/>
              <a:cxnLst/>
              <a:rect l="l" t="t" r="r" b="b"/>
              <a:pathLst>
                <a:path w="264054" h="219233">
                  <a:moveTo>
                    <a:pt x="105516" y="0"/>
                  </a:moveTo>
                  <a:lnTo>
                    <a:pt x="64402" y="8931"/>
                  </a:lnTo>
                  <a:lnTo>
                    <a:pt x="30867" y="32551"/>
                  </a:lnTo>
                  <a:lnTo>
                    <a:pt x="8277" y="67450"/>
                  </a:lnTo>
                  <a:lnTo>
                    <a:pt x="0" y="110220"/>
                  </a:lnTo>
                  <a:lnTo>
                    <a:pt x="1043" y="125023"/>
                  </a:lnTo>
                  <a:lnTo>
                    <a:pt x="14738" y="165263"/>
                  </a:lnTo>
                  <a:lnTo>
                    <a:pt x="41641" y="196534"/>
                  </a:lnTo>
                  <a:lnTo>
                    <a:pt x="78355" y="215342"/>
                  </a:lnTo>
                  <a:lnTo>
                    <a:pt x="106606" y="219233"/>
                  </a:lnTo>
                  <a:lnTo>
                    <a:pt x="264054" y="219233"/>
                  </a:lnTo>
                  <a:lnTo>
                    <a:pt x="264054" y="17"/>
                  </a:lnTo>
                  <a:lnTo>
                    <a:pt x="105516" y="0"/>
                  </a:lnTo>
                  <a:close/>
                </a:path>
              </a:pathLst>
            </a:custGeom>
            <a:solidFill>
              <a:srgbClr val="FFFFFF"/>
            </a:solidFill>
          </p:spPr>
          <p:txBody>
            <a:bodyPr wrap="square" lIns="0" tIns="0" rIns="0" bIns="0" rtlCol="0">
              <a:noAutofit/>
            </a:bodyPr>
            <a:lstStyle/>
            <a:p>
              <a:endParaRPr/>
            </a:p>
          </p:txBody>
        </p:sp>
        <p:sp>
          <p:nvSpPr>
            <p:cNvPr id="191" name="object 156"/>
            <p:cNvSpPr/>
            <p:nvPr/>
          </p:nvSpPr>
          <p:spPr>
            <a:xfrm>
              <a:off x="3262376" y="2228647"/>
              <a:ext cx="256314" cy="212127"/>
            </a:xfrm>
            <a:custGeom>
              <a:avLst/>
              <a:gdLst/>
              <a:ahLst/>
              <a:cxnLst/>
              <a:rect l="l" t="t" r="r" b="b"/>
              <a:pathLst>
                <a:path w="264054" h="219233">
                  <a:moveTo>
                    <a:pt x="106606" y="219233"/>
                  </a:moveTo>
                  <a:lnTo>
                    <a:pt x="65237" y="210673"/>
                  </a:lnTo>
                  <a:lnTo>
                    <a:pt x="31415" y="187323"/>
                  </a:lnTo>
                  <a:lnTo>
                    <a:pt x="8537" y="152674"/>
                  </a:lnTo>
                  <a:lnTo>
                    <a:pt x="0" y="110220"/>
                  </a:lnTo>
                  <a:lnTo>
                    <a:pt x="961" y="95299"/>
                  </a:lnTo>
                  <a:lnTo>
                    <a:pt x="14383" y="54774"/>
                  </a:lnTo>
                  <a:lnTo>
                    <a:pt x="40995" y="23256"/>
                  </a:lnTo>
                  <a:lnTo>
                    <a:pt x="77431" y="4153"/>
                  </a:lnTo>
                  <a:lnTo>
                    <a:pt x="105516" y="0"/>
                  </a:lnTo>
                  <a:lnTo>
                    <a:pt x="264054" y="17"/>
                  </a:lnTo>
                  <a:lnTo>
                    <a:pt x="264054" y="219233"/>
                  </a:lnTo>
                  <a:lnTo>
                    <a:pt x="106606" y="219233"/>
                  </a:lnTo>
                  <a:close/>
                </a:path>
              </a:pathLst>
            </a:custGeom>
            <a:ln w="15716">
              <a:solidFill>
                <a:srgbClr val="EB2D2E"/>
              </a:solidFill>
            </a:ln>
          </p:spPr>
          <p:txBody>
            <a:bodyPr wrap="square" lIns="0" tIns="0" rIns="0" bIns="0" rtlCol="0">
              <a:noAutofit/>
            </a:bodyPr>
            <a:lstStyle/>
            <a:p>
              <a:endParaRPr/>
            </a:p>
          </p:txBody>
        </p:sp>
        <p:sp>
          <p:nvSpPr>
            <p:cNvPr id="192" name="object 157"/>
            <p:cNvSpPr/>
            <p:nvPr/>
          </p:nvSpPr>
          <p:spPr>
            <a:xfrm>
              <a:off x="4657965" y="2217748"/>
              <a:ext cx="476195" cy="1112114"/>
            </a:xfrm>
            <a:custGeom>
              <a:avLst/>
              <a:gdLst/>
              <a:ahLst/>
              <a:cxnLst/>
              <a:rect l="l" t="t" r="r" b="b"/>
              <a:pathLst>
                <a:path w="490575" h="1149366">
                  <a:moveTo>
                    <a:pt x="245287" y="0"/>
                  </a:moveTo>
                  <a:lnTo>
                    <a:pt x="205500" y="9814"/>
                  </a:lnTo>
                  <a:lnTo>
                    <a:pt x="167758" y="37688"/>
                  </a:lnTo>
                  <a:lnTo>
                    <a:pt x="132564" y="81266"/>
                  </a:lnTo>
                  <a:lnTo>
                    <a:pt x="100424" y="138191"/>
                  </a:lnTo>
                  <a:lnTo>
                    <a:pt x="71843" y="206108"/>
                  </a:lnTo>
                  <a:lnTo>
                    <a:pt x="59045" y="243453"/>
                  </a:lnTo>
                  <a:lnTo>
                    <a:pt x="47326" y="282662"/>
                  </a:lnTo>
                  <a:lnTo>
                    <a:pt x="36749" y="323441"/>
                  </a:lnTo>
                  <a:lnTo>
                    <a:pt x="27378" y="365496"/>
                  </a:lnTo>
                  <a:lnTo>
                    <a:pt x="19275" y="408532"/>
                  </a:lnTo>
                  <a:lnTo>
                    <a:pt x="12504" y="452254"/>
                  </a:lnTo>
                  <a:lnTo>
                    <a:pt x="7128" y="496369"/>
                  </a:lnTo>
                  <a:lnTo>
                    <a:pt x="3210" y="540582"/>
                  </a:lnTo>
                  <a:lnTo>
                    <a:pt x="813" y="584599"/>
                  </a:lnTo>
                  <a:lnTo>
                    <a:pt x="0" y="628124"/>
                  </a:lnTo>
                  <a:lnTo>
                    <a:pt x="813" y="670872"/>
                  </a:lnTo>
                  <a:lnTo>
                    <a:pt x="3210" y="712669"/>
                  </a:lnTo>
                  <a:lnTo>
                    <a:pt x="7128" y="753381"/>
                  </a:lnTo>
                  <a:lnTo>
                    <a:pt x="12504" y="792872"/>
                  </a:lnTo>
                  <a:lnTo>
                    <a:pt x="19275" y="831010"/>
                  </a:lnTo>
                  <a:lnTo>
                    <a:pt x="36749" y="902687"/>
                  </a:lnTo>
                  <a:lnTo>
                    <a:pt x="59045" y="967338"/>
                  </a:lnTo>
                  <a:lnTo>
                    <a:pt x="85657" y="1023890"/>
                  </a:lnTo>
                  <a:lnTo>
                    <a:pt x="116080" y="1071269"/>
                  </a:lnTo>
                  <a:lnTo>
                    <a:pt x="149810" y="1108403"/>
                  </a:lnTo>
                  <a:lnTo>
                    <a:pt x="186342" y="1134217"/>
                  </a:lnTo>
                  <a:lnTo>
                    <a:pt x="225170" y="1147638"/>
                  </a:lnTo>
                  <a:lnTo>
                    <a:pt x="245287" y="1149366"/>
                  </a:lnTo>
                  <a:lnTo>
                    <a:pt x="265405" y="1147638"/>
                  </a:lnTo>
                  <a:lnTo>
                    <a:pt x="304233" y="1134217"/>
                  </a:lnTo>
                  <a:lnTo>
                    <a:pt x="340764" y="1108403"/>
                  </a:lnTo>
                  <a:lnTo>
                    <a:pt x="374494" y="1071269"/>
                  </a:lnTo>
                  <a:lnTo>
                    <a:pt x="404918" y="1023890"/>
                  </a:lnTo>
                  <a:lnTo>
                    <a:pt x="431530" y="967338"/>
                  </a:lnTo>
                  <a:lnTo>
                    <a:pt x="453825" y="902687"/>
                  </a:lnTo>
                  <a:lnTo>
                    <a:pt x="471299" y="831010"/>
                  </a:lnTo>
                  <a:lnTo>
                    <a:pt x="478070" y="792872"/>
                  </a:lnTo>
                  <a:lnTo>
                    <a:pt x="483446" y="753381"/>
                  </a:lnTo>
                  <a:lnTo>
                    <a:pt x="487365" y="712669"/>
                  </a:lnTo>
                  <a:lnTo>
                    <a:pt x="489762" y="670872"/>
                  </a:lnTo>
                  <a:lnTo>
                    <a:pt x="490575" y="628124"/>
                  </a:lnTo>
                  <a:lnTo>
                    <a:pt x="489762" y="584599"/>
                  </a:lnTo>
                  <a:lnTo>
                    <a:pt x="487365" y="540582"/>
                  </a:lnTo>
                  <a:lnTo>
                    <a:pt x="483446" y="496369"/>
                  </a:lnTo>
                  <a:lnTo>
                    <a:pt x="478070" y="452254"/>
                  </a:lnTo>
                  <a:lnTo>
                    <a:pt x="471299" y="408532"/>
                  </a:lnTo>
                  <a:lnTo>
                    <a:pt x="463196" y="365496"/>
                  </a:lnTo>
                  <a:lnTo>
                    <a:pt x="453825" y="323441"/>
                  </a:lnTo>
                  <a:lnTo>
                    <a:pt x="443249" y="282662"/>
                  </a:lnTo>
                  <a:lnTo>
                    <a:pt x="431530" y="243453"/>
                  </a:lnTo>
                  <a:lnTo>
                    <a:pt x="418732" y="206108"/>
                  </a:lnTo>
                  <a:lnTo>
                    <a:pt x="390151" y="138191"/>
                  </a:lnTo>
                  <a:lnTo>
                    <a:pt x="358011" y="81266"/>
                  </a:lnTo>
                  <a:lnTo>
                    <a:pt x="322817" y="37688"/>
                  </a:lnTo>
                  <a:lnTo>
                    <a:pt x="285074" y="9814"/>
                  </a:lnTo>
                  <a:lnTo>
                    <a:pt x="245287" y="0"/>
                  </a:lnTo>
                  <a:close/>
                </a:path>
              </a:pathLst>
            </a:custGeom>
            <a:solidFill>
              <a:srgbClr val="FFFFFF"/>
            </a:solidFill>
          </p:spPr>
          <p:txBody>
            <a:bodyPr wrap="square" lIns="0" tIns="0" rIns="0" bIns="0" rtlCol="0">
              <a:noAutofit/>
            </a:bodyPr>
            <a:lstStyle/>
            <a:p>
              <a:endParaRPr/>
            </a:p>
          </p:txBody>
        </p:sp>
        <p:sp>
          <p:nvSpPr>
            <p:cNvPr id="193" name="object 158"/>
            <p:cNvSpPr/>
            <p:nvPr/>
          </p:nvSpPr>
          <p:spPr>
            <a:xfrm>
              <a:off x="4657965" y="2217748"/>
              <a:ext cx="476195" cy="1112114"/>
            </a:xfrm>
            <a:custGeom>
              <a:avLst/>
              <a:gdLst/>
              <a:ahLst/>
              <a:cxnLst/>
              <a:rect l="l" t="t" r="r" b="b"/>
              <a:pathLst>
                <a:path w="490575" h="1149366">
                  <a:moveTo>
                    <a:pt x="245287" y="1149366"/>
                  </a:moveTo>
                  <a:lnTo>
                    <a:pt x="285074" y="1142544"/>
                  </a:lnTo>
                  <a:lnTo>
                    <a:pt x="322817" y="1122792"/>
                  </a:lnTo>
                  <a:lnTo>
                    <a:pt x="358011" y="1091184"/>
                  </a:lnTo>
                  <a:lnTo>
                    <a:pt x="390151" y="1048793"/>
                  </a:lnTo>
                  <a:lnTo>
                    <a:pt x="418732" y="996694"/>
                  </a:lnTo>
                  <a:lnTo>
                    <a:pt x="443249" y="935958"/>
                  </a:lnTo>
                  <a:lnTo>
                    <a:pt x="463196" y="867660"/>
                  </a:lnTo>
                  <a:lnTo>
                    <a:pt x="478070" y="792872"/>
                  </a:lnTo>
                  <a:lnTo>
                    <a:pt x="483446" y="753381"/>
                  </a:lnTo>
                  <a:lnTo>
                    <a:pt x="487365" y="712669"/>
                  </a:lnTo>
                  <a:lnTo>
                    <a:pt x="489762" y="670872"/>
                  </a:lnTo>
                  <a:lnTo>
                    <a:pt x="490575" y="628124"/>
                  </a:lnTo>
                  <a:lnTo>
                    <a:pt x="489762" y="584599"/>
                  </a:lnTo>
                  <a:lnTo>
                    <a:pt x="487365" y="540582"/>
                  </a:lnTo>
                  <a:lnTo>
                    <a:pt x="483446" y="496369"/>
                  </a:lnTo>
                  <a:lnTo>
                    <a:pt x="478070" y="452254"/>
                  </a:lnTo>
                  <a:lnTo>
                    <a:pt x="471299" y="408532"/>
                  </a:lnTo>
                  <a:lnTo>
                    <a:pt x="463196" y="365496"/>
                  </a:lnTo>
                  <a:lnTo>
                    <a:pt x="453825" y="323441"/>
                  </a:lnTo>
                  <a:lnTo>
                    <a:pt x="443249" y="282662"/>
                  </a:lnTo>
                  <a:lnTo>
                    <a:pt x="431530" y="243453"/>
                  </a:lnTo>
                  <a:lnTo>
                    <a:pt x="418732" y="206108"/>
                  </a:lnTo>
                  <a:lnTo>
                    <a:pt x="390151" y="138191"/>
                  </a:lnTo>
                  <a:lnTo>
                    <a:pt x="358011" y="81266"/>
                  </a:lnTo>
                  <a:lnTo>
                    <a:pt x="322817" y="37688"/>
                  </a:lnTo>
                  <a:lnTo>
                    <a:pt x="285074" y="9814"/>
                  </a:lnTo>
                  <a:lnTo>
                    <a:pt x="245287" y="0"/>
                  </a:lnTo>
                  <a:lnTo>
                    <a:pt x="225170" y="2502"/>
                  </a:lnTo>
                  <a:lnTo>
                    <a:pt x="186342" y="21641"/>
                  </a:lnTo>
                  <a:lnTo>
                    <a:pt x="149810" y="57661"/>
                  </a:lnTo>
                  <a:lnTo>
                    <a:pt x="116080" y="108207"/>
                  </a:lnTo>
                  <a:lnTo>
                    <a:pt x="85657" y="170923"/>
                  </a:lnTo>
                  <a:lnTo>
                    <a:pt x="59045" y="243453"/>
                  </a:lnTo>
                  <a:lnTo>
                    <a:pt x="47326" y="282662"/>
                  </a:lnTo>
                  <a:lnTo>
                    <a:pt x="36749" y="323441"/>
                  </a:lnTo>
                  <a:lnTo>
                    <a:pt x="27378" y="365496"/>
                  </a:lnTo>
                  <a:lnTo>
                    <a:pt x="19275" y="408532"/>
                  </a:lnTo>
                  <a:lnTo>
                    <a:pt x="12504" y="452254"/>
                  </a:lnTo>
                  <a:lnTo>
                    <a:pt x="7128" y="496369"/>
                  </a:lnTo>
                  <a:lnTo>
                    <a:pt x="3210" y="540582"/>
                  </a:lnTo>
                  <a:lnTo>
                    <a:pt x="813" y="584599"/>
                  </a:lnTo>
                  <a:lnTo>
                    <a:pt x="0" y="628124"/>
                  </a:lnTo>
                  <a:lnTo>
                    <a:pt x="813" y="670872"/>
                  </a:lnTo>
                  <a:lnTo>
                    <a:pt x="3210" y="712669"/>
                  </a:lnTo>
                  <a:lnTo>
                    <a:pt x="7128" y="753381"/>
                  </a:lnTo>
                  <a:lnTo>
                    <a:pt x="12504" y="792872"/>
                  </a:lnTo>
                  <a:lnTo>
                    <a:pt x="19275" y="831010"/>
                  </a:lnTo>
                  <a:lnTo>
                    <a:pt x="36749" y="902687"/>
                  </a:lnTo>
                  <a:lnTo>
                    <a:pt x="59045" y="967338"/>
                  </a:lnTo>
                  <a:lnTo>
                    <a:pt x="85657" y="1023890"/>
                  </a:lnTo>
                  <a:lnTo>
                    <a:pt x="116080" y="1071269"/>
                  </a:lnTo>
                  <a:lnTo>
                    <a:pt x="149810" y="1108403"/>
                  </a:lnTo>
                  <a:lnTo>
                    <a:pt x="186342" y="1134217"/>
                  </a:lnTo>
                  <a:lnTo>
                    <a:pt x="225170" y="1147638"/>
                  </a:lnTo>
                  <a:lnTo>
                    <a:pt x="245287" y="1149366"/>
                  </a:lnTo>
                  <a:close/>
                </a:path>
              </a:pathLst>
            </a:custGeom>
            <a:ln w="15716">
              <a:solidFill>
                <a:srgbClr val="EB2D2E"/>
              </a:solidFill>
            </a:ln>
          </p:spPr>
          <p:txBody>
            <a:bodyPr wrap="square" lIns="0" tIns="0" rIns="0" bIns="0" rtlCol="0">
              <a:noAutofit/>
            </a:bodyPr>
            <a:lstStyle/>
            <a:p>
              <a:endParaRPr/>
            </a:p>
          </p:txBody>
        </p:sp>
        <p:sp>
          <p:nvSpPr>
            <p:cNvPr id="194" name="object 159"/>
            <p:cNvSpPr txBox="1"/>
            <p:nvPr/>
          </p:nvSpPr>
          <p:spPr>
            <a:xfrm>
              <a:off x="4751576" y="2775777"/>
              <a:ext cx="289702" cy="109367"/>
            </a:xfrm>
            <a:prstGeom prst="rect">
              <a:avLst/>
            </a:prstGeom>
          </p:spPr>
          <p:txBody>
            <a:bodyPr vert="horz" wrap="square" lIns="0" tIns="0" rIns="0" bIns="0" rtlCol="0">
              <a:noAutofit/>
            </a:bodyPr>
            <a:lstStyle/>
            <a:p>
              <a:pPr marL="12700">
                <a:lnSpc>
                  <a:spcPct val="100000"/>
                </a:lnSpc>
              </a:pPr>
              <a:r>
                <a:rPr sz="650" spc="5" dirty="0" smtClean="0">
                  <a:solidFill>
                    <a:srgbClr val="EB2D2E"/>
                  </a:solidFill>
                  <a:latin typeface="Franklin Gothic Demi"/>
                  <a:cs typeface="Franklin Gothic Demi"/>
                </a:rPr>
                <a:t>Control</a:t>
              </a:r>
              <a:endParaRPr sz="650">
                <a:latin typeface="Franklin Gothic Demi"/>
                <a:cs typeface="Franklin Gothic Demi"/>
              </a:endParaRPr>
            </a:p>
          </p:txBody>
        </p:sp>
        <p:sp>
          <p:nvSpPr>
            <p:cNvPr id="195" name="object 160"/>
            <p:cNvSpPr txBox="1"/>
            <p:nvPr/>
          </p:nvSpPr>
          <p:spPr>
            <a:xfrm>
              <a:off x="4744263" y="2471978"/>
              <a:ext cx="304495" cy="109980"/>
            </a:xfrm>
            <a:prstGeom prst="rect">
              <a:avLst/>
            </a:prstGeom>
          </p:spPr>
          <p:txBody>
            <a:bodyPr vert="horz" wrap="square" lIns="0" tIns="0" rIns="0" bIns="0" rtlCol="0">
              <a:noAutofit/>
            </a:bodyPr>
            <a:lstStyle/>
            <a:p>
              <a:pPr marL="12700">
                <a:lnSpc>
                  <a:spcPct val="100000"/>
                </a:lnSpc>
              </a:pPr>
              <a:r>
                <a:rPr sz="650" spc="10" dirty="0" smtClean="0">
                  <a:solidFill>
                    <a:srgbClr val="EB2D2E"/>
                  </a:solidFill>
                  <a:latin typeface="Franklin Gothic Book"/>
                  <a:cs typeface="Franklin Gothic Book"/>
                </a:rPr>
                <a:t>Outputs</a:t>
              </a:r>
              <a:endParaRPr sz="650">
                <a:latin typeface="Franklin Gothic Book"/>
                <a:cs typeface="Franklin Gothic Book"/>
              </a:endParaRPr>
            </a:p>
          </p:txBody>
        </p:sp>
        <p:sp>
          <p:nvSpPr>
            <p:cNvPr id="196" name="object 161"/>
            <p:cNvSpPr/>
            <p:nvPr/>
          </p:nvSpPr>
          <p:spPr>
            <a:xfrm>
              <a:off x="2728808" y="2326705"/>
              <a:ext cx="294972" cy="210394"/>
            </a:xfrm>
            <a:custGeom>
              <a:avLst/>
              <a:gdLst/>
              <a:ahLst/>
              <a:cxnLst/>
              <a:rect l="l" t="t" r="r" b="b"/>
              <a:pathLst>
                <a:path w="303879" h="217441">
                  <a:moveTo>
                    <a:pt x="246632" y="0"/>
                  </a:moveTo>
                  <a:lnTo>
                    <a:pt x="196146" y="924"/>
                  </a:lnTo>
                  <a:lnTo>
                    <a:pt x="147196" y="3667"/>
                  </a:lnTo>
                  <a:lnTo>
                    <a:pt x="95660" y="15152"/>
                  </a:lnTo>
                  <a:lnTo>
                    <a:pt x="54735" y="39148"/>
                  </a:lnTo>
                  <a:lnTo>
                    <a:pt x="25118" y="67456"/>
                  </a:lnTo>
                  <a:lnTo>
                    <a:pt x="2655" y="102471"/>
                  </a:lnTo>
                  <a:lnTo>
                    <a:pt x="0" y="109389"/>
                  </a:lnTo>
                  <a:lnTo>
                    <a:pt x="2606" y="116034"/>
                  </a:lnTo>
                  <a:lnTo>
                    <a:pt x="24388" y="149661"/>
                  </a:lnTo>
                  <a:lnTo>
                    <a:pt x="53452" y="177281"/>
                  </a:lnTo>
                  <a:lnTo>
                    <a:pt x="94284" y="201601"/>
                  </a:lnTo>
                  <a:lnTo>
                    <a:pt x="138646" y="214952"/>
                  </a:lnTo>
                  <a:lnTo>
                    <a:pt x="181190" y="217237"/>
                  </a:lnTo>
                  <a:lnTo>
                    <a:pt x="197647" y="217441"/>
                  </a:lnTo>
                  <a:lnTo>
                    <a:pt x="214402" y="217385"/>
                  </a:lnTo>
                  <a:lnTo>
                    <a:pt x="261393" y="215749"/>
                  </a:lnTo>
                  <a:lnTo>
                    <a:pt x="298499" y="208754"/>
                  </a:lnTo>
                  <a:lnTo>
                    <a:pt x="291583" y="196179"/>
                  </a:lnTo>
                  <a:lnTo>
                    <a:pt x="286272" y="185096"/>
                  </a:lnTo>
                  <a:lnTo>
                    <a:pt x="276191" y="142214"/>
                  </a:lnTo>
                  <a:lnTo>
                    <a:pt x="274422" y="112221"/>
                  </a:lnTo>
                  <a:lnTo>
                    <a:pt x="275302" y="94616"/>
                  </a:lnTo>
                  <a:lnTo>
                    <a:pt x="281825" y="47468"/>
                  </a:lnTo>
                  <a:lnTo>
                    <a:pt x="303879" y="298"/>
                  </a:lnTo>
                  <a:lnTo>
                    <a:pt x="295452" y="166"/>
                  </a:lnTo>
                  <a:lnTo>
                    <a:pt x="246632" y="0"/>
                  </a:lnTo>
                  <a:close/>
                </a:path>
              </a:pathLst>
            </a:custGeom>
            <a:solidFill>
              <a:srgbClr val="FFFFFF"/>
            </a:solidFill>
          </p:spPr>
          <p:txBody>
            <a:bodyPr wrap="square" lIns="0" tIns="0" rIns="0" bIns="0" rtlCol="0">
              <a:noAutofit/>
            </a:bodyPr>
            <a:lstStyle/>
            <a:p>
              <a:endParaRPr/>
            </a:p>
          </p:txBody>
        </p:sp>
        <p:sp>
          <p:nvSpPr>
            <p:cNvPr id="197" name="object 162"/>
            <p:cNvSpPr/>
            <p:nvPr/>
          </p:nvSpPr>
          <p:spPr>
            <a:xfrm>
              <a:off x="2728808" y="2326659"/>
              <a:ext cx="294972" cy="210440"/>
            </a:xfrm>
            <a:custGeom>
              <a:avLst/>
              <a:gdLst/>
              <a:ahLst/>
              <a:cxnLst/>
              <a:rect l="l" t="t" r="r" b="b"/>
              <a:pathLst>
                <a:path w="303879" h="217489">
                  <a:moveTo>
                    <a:pt x="274422" y="112269"/>
                  </a:moveTo>
                  <a:lnTo>
                    <a:pt x="277526" y="154110"/>
                  </a:lnTo>
                  <a:lnTo>
                    <a:pt x="291583" y="196226"/>
                  </a:lnTo>
                  <a:lnTo>
                    <a:pt x="298499" y="208801"/>
                  </a:lnTo>
                  <a:lnTo>
                    <a:pt x="297556" y="210579"/>
                  </a:lnTo>
                  <a:lnTo>
                    <a:pt x="246780" y="216575"/>
                  </a:lnTo>
                  <a:lnTo>
                    <a:pt x="197647" y="217489"/>
                  </a:lnTo>
                  <a:lnTo>
                    <a:pt x="181190" y="217284"/>
                  </a:lnTo>
                  <a:lnTo>
                    <a:pt x="138646" y="214999"/>
                  </a:lnTo>
                  <a:lnTo>
                    <a:pt x="94284" y="201648"/>
                  </a:lnTo>
                  <a:lnTo>
                    <a:pt x="53452" y="177328"/>
                  </a:lnTo>
                  <a:lnTo>
                    <a:pt x="24388" y="149708"/>
                  </a:lnTo>
                  <a:lnTo>
                    <a:pt x="2606" y="116081"/>
                  </a:lnTo>
                  <a:lnTo>
                    <a:pt x="0" y="109436"/>
                  </a:lnTo>
                  <a:lnTo>
                    <a:pt x="2655" y="102518"/>
                  </a:lnTo>
                  <a:lnTo>
                    <a:pt x="25118" y="67503"/>
                  </a:lnTo>
                  <a:lnTo>
                    <a:pt x="54735" y="39195"/>
                  </a:lnTo>
                  <a:lnTo>
                    <a:pt x="95660" y="15199"/>
                  </a:lnTo>
                  <a:lnTo>
                    <a:pt x="133311" y="5176"/>
                  </a:lnTo>
                  <a:lnTo>
                    <a:pt x="179062" y="1643"/>
                  </a:lnTo>
                  <a:lnTo>
                    <a:pt x="230379" y="204"/>
                  </a:lnTo>
                  <a:lnTo>
                    <a:pt x="261714" y="0"/>
                  </a:lnTo>
                  <a:lnTo>
                    <a:pt x="275177" y="32"/>
                  </a:lnTo>
                  <a:lnTo>
                    <a:pt x="286572" y="113"/>
                  </a:lnTo>
                  <a:lnTo>
                    <a:pt x="295452" y="213"/>
                  </a:lnTo>
                  <a:lnTo>
                    <a:pt x="301371" y="300"/>
                  </a:lnTo>
                  <a:lnTo>
                    <a:pt x="303879" y="345"/>
                  </a:lnTo>
                  <a:lnTo>
                    <a:pt x="296181" y="13787"/>
                  </a:lnTo>
                  <a:lnTo>
                    <a:pt x="290079" y="25811"/>
                  </a:lnTo>
                  <a:lnTo>
                    <a:pt x="277450" y="69276"/>
                  </a:lnTo>
                  <a:lnTo>
                    <a:pt x="274510" y="110379"/>
                  </a:lnTo>
                  <a:lnTo>
                    <a:pt x="274422" y="112269"/>
                  </a:lnTo>
                  <a:close/>
                </a:path>
              </a:pathLst>
            </a:custGeom>
            <a:ln w="15716">
              <a:solidFill>
                <a:srgbClr val="EB2D2E"/>
              </a:solidFill>
            </a:ln>
          </p:spPr>
          <p:txBody>
            <a:bodyPr wrap="square" lIns="0" tIns="0" rIns="0" bIns="0" rtlCol="0">
              <a:noAutofit/>
            </a:bodyPr>
            <a:lstStyle/>
            <a:p>
              <a:endParaRPr/>
            </a:p>
          </p:txBody>
        </p:sp>
        <p:sp>
          <p:nvSpPr>
            <p:cNvPr id="198" name="object 163"/>
            <p:cNvSpPr/>
            <p:nvPr/>
          </p:nvSpPr>
          <p:spPr>
            <a:xfrm>
              <a:off x="4159147" y="3393963"/>
              <a:ext cx="738480" cy="435093"/>
            </a:xfrm>
            <a:custGeom>
              <a:avLst/>
              <a:gdLst/>
              <a:ahLst/>
              <a:cxnLst/>
              <a:rect l="l" t="t" r="r" b="b"/>
              <a:pathLst>
                <a:path w="760780" h="449667">
                  <a:moveTo>
                    <a:pt x="0" y="449667"/>
                  </a:moveTo>
                  <a:lnTo>
                    <a:pt x="760140" y="449667"/>
                  </a:lnTo>
                  <a:lnTo>
                    <a:pt x="760780" y="0"/>
                  </a:lnTo>
                </a:path>
              </a:pathLst>
            </a:custGeom>
            <a:ln w="31432">
              <a:solidFill>
                <a:srgbClr val="000000"/>
              </a:solidFill>
            </a:ln>
          </p:spPr>
          <p:txBody>
            <a:bodyPr wrap="square" lIns="0" tIns="0" rIns="0" bIns="0" rtlCol="0">
              <a:noAutofit/>
            </a:bodyPr>
            <a:lstStyle/>
            <a:p>
              <a:endParaRPr/>
            </a:p>
          </p:txBody>
        </p:sp>
        <p:sp>
          <p:nvSpPr>
            <p:cNvPr id="199" name="object 164"/>
            <p:cNvSpPr txBox="1"/>
            <p:nvPr/>
          </p:nvSpPr>
          <p:spPr>
            <a:xfrm>
              <a:off x="4790584" y="3089497"/>
              <a:ext cx="212037" cy="175724"/>
            </a:xfrm>
            <a:prstGeom prst="rect">
              <a:avLst/>
            </a:prstGeom>
          </p:spPr>
          <p:txBody>
            <a:bodyPr vert="horz" wrap="square" lIns="0" tIns="0" rIns="0" bIns="0" rtlCol="0">
              <a:noAutofit/>
            </a:bodyPr>
            <a:lstStyle/>
            <a:p>
              <a:pPr marL="12700" marR="12700" indent="45720">
                <a:lnSpc>
                  <a:spcPts val="660"/>
                </a:lnSpc>
              </a:pPr>
              <a:r>
                <a:rPr sz="650" spc="15" dirty="0" smtClean="0">
                  <a:latin typeface="Franklin Gothic Book"/>
                  <a:cs typeface="Franklin Gothic Book"/>
                </a:rPr>
                <a:t>Op</a:t>
              </a:r>
              <a:r>
                <a:rPr sz="650" spc="5" dirty="0" smtClean="0">
                  <a:latin typeface="Franklin Gothic Book"/>
                  <a:cs typeface="Franklin Gothic Book"/>
                </a:rPr>
                <a:t> </a:t>
              </a:r>
              <a:r>
                <a:rPr sz="650" spc="-5" dirty="0" smtClean="0">
                  <a:latin typeface="Franklin Gothic Book"/>
                  <a:cs typeface="Franklin Gothic Book"/>
                </a:rPr>
                <a:t>[5–0]</a:t>
              </a:r>
              <a:endParaRPr sz="650">
                <a:latin typeface="Franklin Gothic Book"/>
                <a:cs typeface="Franklin Gothic Book"/>
              </a:endParaRPr>
            </a:p>
          </p:txBody>
        </p:sp>
        <p:sp>
          <p:nvSpPr>
            <p:cNvPr id="200" name="object 165"/>
            <p:cNvSpPr/>
            <p:nvPr/>
          </p:nvSpPr>
          <p:spPr>
            <a:xfrm>
              <a:off x="1347019" y="1994721"/>
              <a:ext cx="8121487" cy="1460169"/>
            </a:xfrm>
            <a:custGeom>
              <a:avLst/>
              <a:gdLst/>
              <a:ahLst/>
              <a:cxnLst/>
              <a:rect l="l" t="t" r="r" b="b"/>
              <a:pathLst>
                <a:path w="8366738" h="1509080">
                  <a:moveTo>
                    <a:pt x="8177743" y="1509080"/>
                  </a:moveTo>
                  <a:lnTo>
                    <a:pt x="8366738" y="1509080"/>
                  </a:lnTo>
                  <a:lnTo>
                    <a:pt x="8366738" y="0"/>
                  </a:lnTo>
                  <a:lnTo>
                    <a:pt x="0" y="0"/>
                  </a:lnTo>
                </a:path>
              </a:pathLst>
            </a:custGeom>
            <a:ln w="31432">
              <a:solidFill>
                <a:srgbClr val="000000"/>
              </a:solidFill>
            </a:ln>
          </p:spPr>
          <p:txBody>
            <a:bodyPr wrap="square" lIns="0" tIns="0" rIns="0" bIns="0" rtlCol="0">
              <a:noAutofit/>
            </a:bodyPr>
            <a:lstStyle/>
            <a:p>
              <a:endParaRPr/>
            </a:p>
          </p:txBody>
        </p:sp>
        <p:sp>
          <p:nvSpPr>
            <p:cNvPr id="201" name="object 166"/>
            <p:cNvSpPr/>
            <p:nvPr/>
          </p:nvSpPr>
          <p:spPr>
            <a:xfrm>
              <a:off x="1360433" y="1994721"/>
              <a:ext cx="169364" cy="1940960"/>
            </a:xfrm>
            <a:custGeom>
              <a:avLst/>
              <a:gdLst/>
              <a:ahLst/>
              <a:cxnLst/>
              <a:rect l="l" t="t" r="r" b="b"/>
              <a:pathLst>
                <a:path w="174478" h="2005976">
                  <a:moveTo>
                    <a:pt x="0" y="0"/>
                  </a:moveTo>
                  <a:lnTo>
                    <a:pt x="0" y="2005976"/>
                  </a:lnTo>
                  <a:lnTo>
                    <a:pt x="174478" y="2005976"/>
                  </a:lnTo>
                </a:path>
              </a:pathLst>
            </a:custGeom>
            <a:ln w="31432">
              <a:solidFill>
                <a:srgbClr val="000000"/>
              </a:solidFill>
            </a:ln>
          </p:spPr>
          <p:txBody>
            <a:bodyPr wrap="square" lIns="0" tIns="0" rIns="0" bIns="0" rtlCol="0">
              <a:noAutofit/>
            </a:bodyPr>
            <a:lstStyle/>
            <a:p>
              <a:endParaRPr/>
            </a:p>
          </p:txBody>
        </p:sp>
        <p:sp>
          <p:nvSpPr>
            <p:cNvPr id="202" name="object 167"/>
            <p:cNvSpPr txBox="1"/>
            <p:nvPr/>
          </p:nvSpPr>
          <p:spPr>
            <a:xfrm>
              <a:off x="3680003" y="3711358"/>
              <a:ext cx="441949" cy="207673"/>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Instruction</a:t>
              </a:r>
              <a:endParaRPr sz="700">
                <a:latin typeface="Franklin Gothic Book"/>
                <a:cs typeface="Franklin Gothic Book"/>
              </a:endParaRPr>
            </a:p>
            <a:p>
              <a:pPr marL="142875">
                <a:lnSpc>
                  <a:spcPts val="735"/>
                </a:lnSpc>
              </a:pPr>
              <a:r>
                <a:rPr sz="700" spc="15" dirty="0" smtClean="0">
                  <a:latin typeface="Franklin Gothic Book"/>
                  <a:cs typeface="Franklin Gothic Book"/>
                </a:rPr>
                <a:t>[31-26]</a:t>
              </a:r>
              <a:endParaRPr sz="700">
                <a:latin typeface="Franklin Gothic Book"/>
                <a:cs typeface="Franklin Gothic Book"/>
              </a:endParaRPr>
            </a:p>
          </p:txBody>
        </p:sp>
        <p:sp>
          <p:nvSpPr>
            <p:cNvPr id="203" name="object 168"/>
            <p:cNvSpPr/>
            <p:nvPr/>
          </p:nvSpPr>
          <p:spPr>
            <a:xfrm>
              <a:off x="1657389" y="2444767"/>
              <a:ext cx="1077897" cy="1242993"/>
            </a:xfrm>
            <a:custGeom>
              <a:avLst/>
              <a:gdLst/>
              <a:ahLst/>
              <a:cxnLst/>
              <a:rect l="l" t="t" r="r" b="b"/>
              <a:pathLst>
                <a:path w="1110447" h="1284629">
                  <a:moveTo>
                    <a:pt x="0" y="1284629"/>
                  </a:moveTo>
                  <a:lnTo>
                    <a:pt x="0" y="0"/>
                  </a:lnTo>
                  <a:lnTo>
                    <a:pt x="1110447" y="0"/>
                  </a:lnTo>
                </a:path>
              </a:pathLst>
            </a:custGeom>
            <a:ln w="15716">
              <a:solidFill>
                <a:srgbClr val="EB2D2E"/>
              </a:solidFill>
            </a:ln>
          </p:spPr>
          <p:txBody>
            <a:bodyPr wrap="square" lIns="0" tIns="0" rIns="0" bIns="0" rtlCol="0">
              <a:noAutofit/>
            </a:bodyPr>
            <a:lstStyle/>
            <a:p>
              <a:endParaRPr/>
            </a:p>
          </p:txBody>
        </p:sp>
        <p:sp>
          <p:nvSpPr>
            <p:cNvPr id="204" name="object 169"/>
            <p:cNvSpPr/>
            <p:nvPr/>
          </p:nvSpPr>
          <p:spPr>
            <a:xfrm>
              <a:off x="3005061" y="2334713"/>
              <a:ext cx="257314" cy="52853"/>
            </a:xfrm>
            <a:custGeom>
              <a:avLst/>
              <a:gdLst/>
              <a:ahLst/>
              <a:cxnLst/>
              <a:rect l="l" t="t" r="r" b="b"/>
              <a:pathLst>
                <a:path w="265084" h="54623">
                  <a:moveTo>
                    <a:pt x="265084" y="0"/>
                  </a:moveTo>
                  <a:lnTo>
                    <a:pt x="146418" y="0"/>
                  </a:lnTo>
                  <a:lnTo>
                    <a:pt x="146418" y="54623"/>
                  </a:lnTo>
                  <a:lnTo>
                    <a:pt x="0" y="54623"/>
                  </a:lnTo>
                </a:path>
              </a:pathLst>
            </a:custGeom>
            <a:ln w="15716">
              <a:solidFill>
                <a:srgbClr val="EB2D2E"/>
              </a:solidFill>
            </a:ln>
          </p:spPr>
          <p:txBody>
            <a:bodyPr wrap="square" lIns="0" tIns="0" rIns="0" bIns="0" rtlCol="0">
              <a:noAutofit/>
            </a:bodyPr>
            <a:lstStyle/>
            <a:p>
              <a:endParaRPr/>
            </a:p>
          </p:txBody>
        </p:sp>
        <p:sp>
          <p:nvSpPr>
            <p:cNvPr id="205" name="object 170"/>
            <p:cNvSpPr txBox="1"/>
            <p:nvPr/>
          </p:nvSpPr>
          <p:spPr>
            <a:xfrm>
              <a:off x="5072331" y="6065269"/>
              <a:ext cx="676792" cy="117968"/>
            </a:xfrm>
            <a:prstGeom prst="rect">
              <a:avLst/>
            </a:prstGeom>
          </p:spPr>
          <p:txBody>
            <a:bodyPr vert="horz" wrap="square" lIns="0" tIns="0" rIns="0" bIns="0" rtlCol="0">
              <a:noAutofit/>
            </a:bodyPr>
            <a:lstStyle/>
            <a:p>
              <a:pPr marL="12700">
                <a:lnSpc>
                  <a:spcPct val="100000"/>
                </a:lnSpc>
              </a:pPr>
              <a:r>
                <a:rPr sz="700" spc="10" dirty="0" smtClean="0">
                  <a:latin typeface="Franklin Gothic Book"/>
                  <a:cs typeface="Franklin Gothic Book"/>
                </a:rPr>
                <a:t>I</a:t>
              </a:r>
              <a:r>
                <a:rPr sz="700" spc="15" dirty="0" smtClean="0">
                  <a:latin typeface="Franklin Gothic Book"/>
                  <a:cs typeface="Franklin Gothic Book"/>
                </a:rPr>
                <a:t>n</a:t>
              </a:r>
              <a:r>
                <a:rPr sz="700" spc="55" dirty="0" smtClean="0">
                  <a:latin typeface="Franklin Gothic Book"/>
                  <a:cs typeface="Franklin Gothic Book"/>
                </a:rPr>
                <a:t>s</a:t>
              </a:r>
              <a:r>
                <a:rPr sz="700" spc="15" dirty="0" smtClean="0">
                  <a:latin typeface="Franklin Gothic Book"/>
                  <a:cs typeface="Franklin Gothic Book"/>
                </a:rPr>
                <a:t>t</a:t>
              </a:r>
              <a:r>
                <a:rPr sz="700" spc="0" dirty="0" smtClean="0">
                  <a:latin typeface="Franklin Gothic Book"/>
                  <a:cs typeface="Franklin Gothic Book"/>
                </a:rPr>
                <a:t>r</a:t>
              </a:r>
              <a:r>
                <a:rPr sz="700" spc="15" dirty="0" smtClean="0">
                  <a:latin typeface="Franklin Gothic Book"/>
                  <a:cs typeface="Franklin Gothic Book"/>
                </a:rPr>
                <a:t>u</a:t>
              </a:r>
              <a:r>
                <a:rPr sz="700" spc="20" dirty="0" smtClean="0">
                  <a:latin typeface="Franklin Gothic Book"/>
                  <a:cs typeface="Franklin Gothic Book"/>
                </a:rPr>
                <a:t>c</a:t>
              </a:r>
              <a:r>
                <a:rPr sz="700" spc="15" dirty="0" smtClean="0">
                  <a:latin typeface="Franklin Gothic Book"/>
                  <a:cs typeface="Franklin Gothic Book"/>
                </a:rPr>
                <a:t>t</a:t>
              </a:r>
              <a:r>
                <a:rPr sz="700" spc="10" dirty="0" smtClean="0">
                  <a:latin typeface="Franklin Gothic Book"/>
                  <a:cs typeface="Franklin Gothic Book"/>
                </a:rPr>
                <a:t>i</a:t>
              </a:r>
              <a:r>
                <a:rPr sz="700" spc="25" dirty="0" smtClean="0">
                  <a:latin typeface="Franklin Gothic Book"/>
                  <a:cs typeface="Franklin Gothic Book"/>
                </a:rPr>
                <a:t>o</a:t>
              </a:r>
              <a:r>
                <a:rPr sz="700" spc="15" dirty="0" smtClean="0">
                  <a:latin typeface="Franklin Gothic Book"/>
                  <a:cs typeface="Franklin Gothic Book"/>
                </a:rPr>
                <a:t>n</a:t>
              </a:r>
              <a:r>
                <a:rPr sz="700" spc="40" dirty="0" smtClean="0">
                  <a:latin typeface="Franklin Gothic Book"/>
                  <a:cs typeface="Franklin Gothic Book"/>
                </a:rPr>
                <a:t> </a:t>
              </a:r>
              <a:r>
                <a:rPr sz="700" spc="20" dirty="0" smtClean="0">
                  <a:latin typeface="Franklin Gothic Book"/>
                  <a:cs typeface="Franklin Gothic Book"/>
                </a:rPr>
                <a:t>[5</a:t>
              </a:r>
              <a:r>
                <a:rPr sz="700" spc="-50" dirty="0" smtClean="0">
                  <a:latin typeface="Franklin Gothic Book"/>
                  <a:cs typeface="Franklin Gothic Book"/>
                </a:rPr>
                <a:t>–</a:t>
              </a:r>
              <a:r>
                <a:rPr sz="700" spc="20" dirty="0" smtClean="0">
                  <a:latin typeface="Franklin Gothic Book"/>
                  <a:cs typeface="Franklin Gothic Book"/>
                </a:rPr>
                <a:t>0]</a:t>
              </a:r>
              <a:endParaRPr sz="700">
                <a:latin typeface="Franklin Gothic Book"/>
                <a:cs typeface="Franklin Gothic Book"/>
              </a:endParaRPr>
            </a:p>
          </p:txBody>
        </p:sp>
        <p:sp>
          <p:nvSpPr>
            <p:cNvPr id="206" name="object 171"/>
            <p:cNvSpPr/>
            <p:nvPr/>
          </p:nvSpPr>
          <p:spPr>
            <a:xfrm>
              <a:off x="9152655" y="3160947"/>
              <a:ext cx="213332" cy="577102"/>
            </a:xfrm>
            <a:custGeom>
              <a:avLst/>
              <a:gdLst/>
              <a:ahLst/>
              <a:cxnLst/>
              <a:rect l="l" t="t" r="r" b="b"/>
              <a:pathLst>
                <a:path w="219774" h="596433">
                  <a:moveTo>
                    <a:pt x="113394" y="0"/>
                  </a:moveTo>
                  <a:lnTo>
                    <a:pt x="70038" y="8027"/>
                  </a:lnTo>
                  <a:lnTo>
                    <a:pt x="34795" y="30071"/>
                  </a:lnTo>
                  <a:lnTo>
                    <a:pt x="10548" y="62951"/>
                  </a:lnTo>
                  <a:lnTo>
                    <a:pt x="180" y="103487"/>
                  </a:lnTo>
                  <a:lnTo>
                    <a:pt x="0" y="486588"/>
                  </a:lnTo>
                  <a:lnTo>
                    <a:pt x="965" y="501217"/>
                  </a:lnTo>
                  <a:lnTo>
                    <a:pt x="14454" y="541106"/>
                  </a:lnTo>
                  <a:lnTo>
                    <a:pt x="41240" y="572406"/>
                  </a:lnTo>
                  <a:lnTo>
                    <a:pt x="77987" y="591784"/>
                  </a:lnTo>
                  <a:lnTo>
                    <a:pt x="106371" y="596433"/>
                  </a:lnTo>
                  <a:lnTo>
                    <a:pt x="121550" y="595510"/>
                  </a:lnTo>
                  <a:lnTo>
                    <a:pt x="162525" y="582457"/>
                  </a:lnTo>
                  <a:lnTo>
                    <a:pt x="194422" y="556448"/>
                  </a:lnTo>
                  <a:lnTo>
                    <a:pt x="214363" y="520665"/>
                  </a:lnTo>
                  <a:lnTo>
                    <a:pt x="219774" y="109833"/>
                  </a:lnTo>
                  <a:lnTo>
                    <a:pt x="218809" y="95204"/>
                  </a:lnTo>
                  <a:lnTo>
                    <a:pt x="205321" y="55315"/>
                  </a:lnTo>
                  <a:lnTo>
                    <a:pt x="178535" y="24018"/>
                  </a:lnTo>
                  <a:lnTo>
                    <a:pt x="141784" y="4645"/>
                  </a:lnTo>
                  <a:lnTo>
                    <a:pt x="113394" y="0"/>
                  </a:lnTo>
                  <a:close/>
                </a:path>
              </a:pathLst>
            </a:custGeom>
            <a:solidFill>
              <a:srgbClr val="FFFFFF"/>
            </a:solidFill>
          </p:spPr>
          <p:txBody>
            <a:bodyPr wrap="square" lIns="0" tIns="0" rIns="0" bIns="0" rtlCol="0">
              <a:noAutofit/>
            </a:bodyPr>
            <a:lstStyle/>
            <a:p>
              <a:endParaRPr/>
            </a:p>
          </p:txBody>
        </p:sp>
        <p:sp>
          <p:nvSpPr>
            <p:cNvPr id="207" name="object 172"/>
            <p:cNvSpPr/>
            <p:nvPr/>
          </p:nvSpPr>
          <p:spPr>
            <a:xfrm>
              <a:off x="9152655" y="3160947"/>
              <a:ext cx="213332" cy="577102"/>
            </a:xfrm>
            <a:custGeom>
              <a:avLst/>
              <a:gdLst/>
              <a:ahLst/>
              <a:cxnLst/>
              <a:rect l="l" t="t" r="r" b="b"/>
              <a:pathLst>
                <a:path w="219774" h="596433">
                  <a:moveTo>
                    <a:pt x="219774" y="109833"/>
                  </a:moveTo>
                  <a:lnTo>
                    <a:pt x="211459" y="67821"/>
                  </a:lnTo>
                  <a:lnTo>
                    <a:pt x="188735" y="33290"/>
                  </a:lnTo>
                  <a:lnTo>
                    <a:pt x="154936" y="9572"/>
                  </a:lnTo>
                  <a:lnTo>
                    <a:pt x="113394" y="0"/>
                  </a:lnTo>
                  <a:lnTo>
                    <a:pt x="98218" y="922"/>
                  </a:lnTo>
                  <a:lnTo>
                    <a:pt x="57246" y="13975"/>
                  </a:lnTo>
                  <a:lnTo>
                    <a:pt x="25349" y="39984"/>
                  </a:lnTo>
                  <a:lnTo>
                    <a:pt x="5408" y="75769"/>
                  </a:lnTo>
                  <a:lnTo>
                    <a:pt x="0" y="486588"/>
                  </a:lnTo>
                  <a:lnTo>
                    <a:pt x="965" y="501217"/>
                  </a:lnTo>
                  <a:lnTo>
                    <a:pt x="14454" y="541106"/>
                  </a:lnTo>
                  <a:lnTo>
                    <a:pt x="41239" y="572406"/>
                  </a:lnTo>
                  <a:lnTo>
                    <a:pt x="77986" y="591784"/>
                  </a:lnTo>
                  <a:lnTo>
                    <a:pt x="106371" y="596433"/>
                  </a:lnTo>
                  <a:lnTo>
                    <a:pt x="121549" y="595510"/>
                  </a:lnTo>
                  <a:lnTo>
                    <a:pt x="162525" y="582457"/>
                  </a:lnTo>
                  <a:lnTo>
                    <a:pt x="194422" y="556448"/>
                  </a:lnTo>
                  <a:lnTo>
                    <a:pt x="214363" y="520665"/>
                  </a:lnTo>
                  <a:lnTo>
                    <a:pt x="219774" y="109833"/>
                  </a:lnTo>
                  <a:close/>
                </a:path>
              </a:pathLst>
            </a:custGeom>
            <a:ln w="15716">
              <a:solidFill>
                <a:srgbClr val="000000"/>
              </a:solidFill>
            </a:ln>
          </p:spPr>
          <p:txBody>
            <a:bodyPr wrap="square" lIns="0" tIns="0" rIns="0" bIns="0" rtlCol="0">
              <a:noAutofit/>
            </a:bodyPr>
            <a:lstStyle/>
            <a:p>
              <a:endParaRPr/>
            </a:p>
          </p:txBody>
        </p:sp>
        <p:sp>
          <p:nvSpPr>
            <p:cNvPr id="208" name="object 173"/>
            <p:cNvSpPr txBox="1"/>
            <p:nvPr/>
          </p:nvSpPr>
          <p:spPr>
            <a:xfrm>
              <a:off x="9256323" y="3316459"/>
              <a:ext cx="96773" cy="109367"/>
            </a:xfrm>
            <a:prstGeom prst="rect">
              <a:avLst/>
            </a:prstGeom>
          </p:spPr>
          <p:txBody>
            <a:bodyPr vert="horz" wrap="square" lIns="0" tIns="0" rIns="0" bIns="0" rtlCol="0">
              <a:noAutofit/>
            </a:bodyPr>
            <a:lstStyle/>
            <a:p>
              <a:pPr marL="12700">
                <a:lnSpc>
                  <a:spcPct val="100000"/>
                </a:lnSpc>
              </a:pPr>
              <a:r>
                <a:rPr sz="650" spc="15" dirty="0" smtClean="0">
                  <a:latin typeface="Franklin Gothic Demi"/>
                  <a:cs typeface="Franklin Gothic Demi"/>
                </a:rPr>
                <a:t>M</a:t>
              </a:r>
              <a:endParaRPr sz="650">
                <a:latin typeface="Franklin Gothic Demi"/>
                <a:cs typeface="Franklin Gothic Demi"/>
              </a:endParaRPr>
            </a:p>
          </p:txBody>
        </p:sp>
        <p:sp>
          <p:nvSpPr>
            <p:cNvPr id="209" name="object 174"/>
            <p:cNvSpPr/>
            <p:nvPr/>
          </p:nvSpPr>
          <p:spPr>
            <a:xfrm>
              <a:off x="8082068" y="3282881"/>
              <a:ext cx="1008232" cy="1195635"/>
            </a:xfrm>
            <a:custGeom>
              <a:avLst/>
              <a:gdLst/>
              <a:ahLst/>
              <a:cxnLst/>
              <a:rect l="l" t="t" r="r" b="b"/>
              <a:pathLst>
                <a:path w="1038678" h="1235685">
                  <a:moveTo>
                    <a:pt x="0" y="1235685"/>
                  </a:moveTo>
                  <a:lnTo>
                    <a:pt x="0" y="0"/>
                  </a:lnTo>
                  <a:lnTo>
                    <a:pt x="1038678" y="0"/>
                  </a:lnTo>
                </a:path>
              </a:pathLst>
            </a:custGeom>
            <a:ln w="31432">
              <a:solidFill>
                <a:srgbClr val="000000"/>
              </a:solidFill>
            </a:ln>
          </p:spPr>
          <p:txBody>
            <a:bodyPr wrap="square" lIns="0" tIns="0" rIns="0" bIns="0" rtlCol="0">
              <a:noAutofit/>
            </a:bodyPr>
            <a:lstStyle/>
            <a:p>
              <a:endParaRPr/>
            </a:p>
          </p:txBody>
        </p:sp>
        <p:sp>
          <p:nvSpPr>
            <p:cNvPr id="210" name="object 175"/>
            <p:cNvSpPr/>
            <p:nvPr/>
          </p:nvSpPr>
          <p:spPr>
            <a:xfrm>
              <a:off x="8670767" y="3434143"/>
              <a:ext cx="416994" cy="1056219"/>
            </a:xfrm>
            <a:custGeom>
              <a:avLst/>
              <a:gdLst/>
              <a:ahLst/>
              <a:cxnLst/>
              <a:rect l="l" t="t" r="r" b="b"/>
              <a:pathLst>
                <a:path w="429586" h="1091599">
                  <a:moveTo>
                    <a:pt x="0" y="1091599"/>
                  </a:moveTo>
                  <a:lnTo>
                    <a:pt x="276595" y="1091599"/>
                  </a:lnTo>
                  <a:lnTo>
                    <a:pt x="276743" y="204379"/>
                  </a:lnTo>
                  <a:lnTo>
                    <a:pt x="276743" y="0"/>
                  </a:lnTo>
                  <a:lnTo>
                    <a:pt x="429586" y="0"/>
                  </a:lnTo>
                </a:path>
              </a:pathLst>
            </a:custGeom>
            <a:ln w="31432">
              <a:solidFill>
                <a:srgbClr val="000000"/>
              </a:solidFill>
            </a:ln>
          </p:spPr>
          <p:txBody>
            <a:bodyPr wrap="square" lIns="0" tIns="0" rIns="0" bIns="0" rtlCol="0">
              <a:noAutofit/>
            </a:bodyPr>
            <a:lstStyle/>
            <a:p>
              <a:endParaRPr/>
            </a:p>
          </p:txBody>
        </p:sp>
        <p:sp>
          <p:nvSpPr>
            <p:cNvPr id="211" name="object 176"/>
            <p:cNvSpPr/>
            <p:nvPr/>
          </p:nvSpPr>
          <p:spPr>
            <a:xfrm>
              <a:off x="7325493" y="3422395"/>
              <a:ext cx="251350" cy="399328"/>
            </a:xfrm>
            <a:custGeom>
              <a:avLst/>
              <a:gdLst/>
              <a:ahLst/>
              <a:cxnLst/>
              <a:rect l="l" t="t" r="r" b="b"/>
              <a:pathLst>
                <a:path w="258940" h="412704">
                  <a:moveTo>
                    <a:pt x="133970" y="0"/>
                  </a:moveTo>
                  <a:lnTo>
                    <a:pt x="89549" y="11118"/>
                  </a:lnTo>
                  <a:lnTo>
                    <a:pt x="51851" y="42133"/>
                  </a:lnTo>
                  <a:lnTo>
                    <a:pt x="29253" y="76202"/>
                  </a:lnTo>
                  <a:lnTo>
                    <a:pt x="12505" y="117780"/>
                  </a:lnTo>
                  <a:lnTo>
                    <a:pt x="2493" y="165291"/>
                  </a:lnTo>
                  <a:lnTo>
                    <a:pt x="0" y="199482"/>
                  </a:lnTo>
                  <a:lnTo>
                    <a:pt x="434" y="217699"/>
                  </a:lnTo>
                  <a:lnTo>
                    <a:pt x="6800" y="269196"/>
                  </a:lnTo>
                  <a:lnTo>
                    <a:pt x="20019" y="314900"/>
                  </a:lnTo>
                  <a:lnTo>
                    <a:pt x="39141" y="353441"/>
                  </a:lnTo>
                  <a:lnTo>
                    <a:pt x="63217" y="383451"/>
                  </a:lnTo>
                  <a:lnTo>
                    <a:pt x="101380" y="407830"/>
                  </a:lnTo>
                  <a:lnTo>
                    <a:pt x="129444" y="412704"/>
                  </a:lnTo>
                  <a:lnTo>
                    <a:pt x="140511" y="411961"/>
                  </a:lnTo>
                  <a:lnTo>
                    <a:pt x="181816" y="395130"/>
                  </a:lnTo>
                  <a:lnTo>
                    <a:pt x="216571" y="359014"/>
                  </a:lnTo>
                  <a:lnTo>
                    <a:pt x="236884" y="321587"/>
                  </a:lnTo>
                  <a:lnTo>
                    <a:pt x="251134" y="277105"/>
                  </a:lnTo>
                  <a:lnTo>
                    <a:pt x="258301" y="227190"/>
                  </a:lnTo>
                  <a:lnTo>
                    <a:pt x="258940" y="209626"/>
                  </a:lnTo>
                  <a:lnTo>
                    <a:pt x="258487" y="191700"/>
                  </a:lnTo>
                  <a:lnTo>
                    <a:pt x="251951" y="140857"/>
                  </a:lnTo>
                  <a:lnTo>
                    <a:pt x="238415" y="95578"/>
                  </a:lnTo>
                  <a:lnTo>
                    <a:pt x="218864" y="57356"/>
                  </a:lnTo>
                  <a:lnTo>
                    <a:pt x="194284" y="27689"/>
                  </a:lnTo>
                  <a:lnTo>
                    <a:pt x="155387" y="4024"/>
                  </a:lnTo>
                  <a:lnTo>
                    <a:pt x="133970" y="0"/>
                  </a:lnTo>
                  <a:close/>
                </a:path>
              </a:pathLst>
            </a:custGeom>
            <a:solidFill>
              <a:srgbClr val="FFFFFF"/>
            </a:solidFill>
          </p:spPr>
          <p:txBody>
            <a:bodyPr wrap="square" lIns="0" tIns="0" rIns="0" bIns="0" rtlCol="0">
              <a:noAutofit/>
            </a:bodyPr>
            <a:lstStyle/>
            <a:p>
              <a:endParaRPr/>
            </a:p>
          </p:txBody>
        </p:sp>
        <p:sp>
          <p:nvSpPr>
            <p:cNvPr id="212" name="object 177"/>
            <p:cNvSpPr/>
            <p:nvPr/>
          </p:nvSpPr>
          <p:spPr>
            <a:xfrm>
              <a:off x="7325492" y="3422396"/>
              <a:ext cx="251350" cy="399328"/>
            </a:xfrm>
            <a:custGeom>
              <a:avLst/>
              <a:gdLst/>
              <a:ahLst/>
              <a:cxnLst/>
              <a:rect l="l" t="t" r="r" b="b"/>
              <a:pathLst>
                <a:path w="258940" h="412704">
                  <a:moveTo>
                    <a:pt x="129444" y="412704"/>
                  </a:moveTo>
                  <a:lnTo>
                    <a:pt x="172010" y="401296"/>
                  </a:lnTo>
                  <a:lnTo>
                    <a:pt x="208628" y="369640"/>
                  </a:lnTo>
                  <a:lnTo>
                    <a:pt x="230736" y="334927"/>
                  </a:lnTo>
                  <a:lnTo>
                    <a:pt x="247120" y="292616"/>
                  </a:lnTo>
                  <a:lnTo>
                    <a:pt x="256762" y="244331"/>
                  </a:lnTo>
                  <a:lnTo>
                    <a:pt x="258940" y="209626"/>
                  </a:lnTo>
                  <a:lnTo>
                    <a:pt x="258487" y="191700"/>
                  </a:lnTo>
                  <a:lnTo>
                    <a:pt x="251951" y="140857"/>
                  </a:lnTo>
                  <a:lnTo>
                    <a:pt x="238415" y="95578"/>
                  </a:lnTo>
                  <a:lnTo>
                    <a:pt x="218864" y="57356"/>
                  </a:lnTo>
                  <a:lnTo>
                    <a:pt x="194284" y="27689"/>
                  </a:lnTo>
                  <a:lnTo>
                    <a:pt x="155387" y="4024"/>
                  </a:lnTo>
                  <a:lnTo>
                    <a:pt x="133970" y="0"/>
                  </a:lnTo>
                  <a:lnTo>
                    <a:pt x="122350" y="709"/>
                  </a:lnTo>
                  <a:lnTo>
                    <a:pt x="79412" y="17153"/>
                  </a:lnTo>
                  <a:lnTo>
                    <a:pt x="43723" y="52557"/>
                  </a:lnTo>
                  <a:lnTo>
                    <a:pt x="22976" y="89305"/>
                  </a:lnTo>
                  <a:lnTo>
                    <a:pt x="8375" y="133036"/>
                  </a:lnTo>
                  <a:lnTo>
                    <a:pt x="806" y="182174"/>
                  </a:lnTo>
                  <a:lnTo>
                    <a:pt x="0" y="199482"/>
                  </a:lnTo>
                  <a:lnTo>
                    <a:pt x="434" y="217699"/>
                  </a:lnTo>
                  <a:lnTo>
                    <a:pt x="6800" y="269196"/>
                  </a:lnTo>
                  <a:lnTo>
                    <a:pt x="20019" y="314900"/>
                  </a:lnTo>
                  <a:lnTo>
                    <a:pt x="39141" y="353441"/>
                  </a:lnTo>
                  <a:lnTo>
                    <a:pt x="63217" y="383451"/>
                  </a:lnTo>
                  <a:lnTo>
                    <a:pt x="101380" y="407830"/>
                  </a:lnTo>
                  <a:lnTo>
                    <a:pt x="129444" y="412704"/>
                  </a:lnTo>
                  <a:close/>
                </a:path>
              </a:pathLst>
            </a:custGeom>
            <a:ln w="15716">
              <a:solidFill>
                <a:srgbClr val="000000"/>
              </a:solidFill>
            </a:ln>
          </p:spPr>
          <p:txBody>
            <a:bodyPr wrap="square" lIns="0" tIns="0" rIns="0" bIns="0" rtlCol="0">
              <a:noAutofit/>
            </a:bodyPr>
            <a:lstStyle/>
            <a:p>
              <a:endParaRPr/>
            </a:p>
          </p:txBody>
        </p:sp>
        <p:sp>
          <p:nvSpPr>
            <p:cNvPr id="213" name="object 178"/>
            <p:cNvSpPr/>
            <p:nvPr/>
          </p:nvSpPr>
          <p:spPr>
            <a:xfrm>
              <a:off x="7576948" y="3621569"/>
              <a:ext cx="1535198" cy="0"/>
            </a:xfrm>
            <a:custGeom>
              <a:avLst/>
              <a:gdLst/>
              <a:ahLst/>
              <a:cxnLst/>
              <a:rect l="l" t="t" r="r" b="b"/>
              <a:pathLst>
                <a:path w="1581558">
                  <a:moveTo>
                    <a:pt x="0" y="0"/>
                  </a:moveTo>
                  <a:lnTo>
                    <a:pt x="1581558" y="0"/>
                  </a:lnTo>
                </a:path>
              </a:pathLst>
            </a:custGeom>
            <a:ln w="31432">
              <a:solidFill>
                <a:srgbClr val="000000"/>
              </a:solidFill>
            </a:ln>
          </p:spPr>
          <p:txBody>
            <a:bodyPr wrap="square" lIns="0" tIns="0" rIns="0" bIns="0" rtlCol="0">
              <a:noAutofit/>
            </a:bodyPr>
            <a:lstStyle/>
            <a:p>
              <a:endParaRPr/>
            </a:p>
          </p:txBody>
        </p:sp>
        <p:sp>
          <p:nvSpPr>
            <p:cNvPr id="214" name="object 179"/>
            <p:cNvSpPr/>
            <p:nvPr/>
          </p:nvSpPr>
          <p:spPr>
            <a:xfrm>
              <a:off x="7166546" y="3569046"/>
              <a:ext cx="60955" cy="105242"/>
            </a:xfrm>
            <a:custGeom>
              <a:avLst/>
              <a:gdLst/>
              <a:ahLst/>
              <a:cxnLst/>
              <a:rect l="l" t="t" r="r" b="b"/>
              <a:pathLst>
                <a:path w="62796" h="108767">
                  <a:moveTo>
                    <a:pt x="62796" y="108767"/>
                  </a:moveTo>
                  <a:lnTo>
                    <a:pt x="0" y="0"/>
                  </a:lnTo>
                </a:path>
              </a:pathLst>
            </a:custGeom>
            <a:ln w="15716">
              <a:solidFill>
                <a:srgbClr val="000000"/>
              </a:solidFill>
            </a:ln>
          </p:spPr>
          <p:txBody>
            <a:bodyPr wrap="square" lIns="0" tIns="0" rIns="0" bIns="0" rtlCol="0">
              <a:noAutofit/>
            </a:bodyPr>
            <a:lstStyle/>
            <a:p>
              <a:endParaRPr/>
            </a:p>
          </p:txBody>
        </p:sp>
        <p:sp>
          <p:nvSpPr>
            <p:cNvPr id="215" name="object 180"/>
            <p:cNvSpPr/>
            <p:nvPr/>
          </p:nvSpPr>
          <p:spPr>
            <a:xfrm>
              <a:off x="7626409" y="3569046"/>
              <a:ext cx="60955" cy="105242"/>
            </a:xfrm>
            <a:custGeom>
              <a:avLst/>
              <a:gdLst/>
              <a:ahLst/>
              <a:cxnLst/>
              <a:rect l="l" t="t" r="r" b="b"/>
              <a:pathLst>
                <a:path w="62796" h="108767">
                  <a:moveTo>
                    <a:pt x="62796" y="108767"/>
                  </a:moveTo>
                  <a:lnTo>
                    <a:pt x="0" y="0"/>
                  </a:lnTo>
                </a:path>
              </a:pathLst>
            </a:custGeom>
            <a:ln w="15716">
              <a:solidFill>
                <a:srgbClr val="000000"/>
              </a:solidFill>
            </a:ln>
          </p:spPr>
          <p:txBody>
            <a:bodyPr wrap="square" lIns="0" tIns="0" rIns="0" bIns="0" rtlCol="0">
              <a:noAutofit/>
            </a:bodyPr>
            <a:lstStyle/>
            <a:p>
              <a:endParaRPr/>
            </a:p>
          </p:txBody>
        </p:sp>
        <p:sp>
          <p:nvSpPr>
            <p:cNvPr id="216" name="object 181"/>
            <p:cNvSpPr/>
            <p:nvPr/>
          </p:nvSpPr>
          <p:spPr>
            <a:xfrm>
              <a:off x="6589885" y="3621856"/>
              <a:ext cx="1210283" cy="228424"/>
            </a:xfrm>
            <a:custGeom>
              <a:avLst/>
              <a:gdLst/>
              <a:ahLst/>
              <a:cxnLst/>
              <a:rect l="l" t="t" r="r" b="b"/>
              <a:pathLst>
                <a:path w="1246831" h="236075">
                  <a:moveTo>
                    <a:pt x="0" y="236075"/>
                  </a:moveTo>
                  <a:lnTo>
                    <a:pt x="1246831" y="236075"/>
                  </a:lnTo>
                  <a:lnTo>
                    <a:pt x="1246831" y="0"/>
                  </a:lnTo>
                </a:path>
              </a:pathLst>
            </a:custGeom>
            <a:ln w="31432">
              <a:solidFill>
                <a:srgbClr val="000000"/>
              </a:solidFill>
            </a:ln>
          </p:spPr>
          <p:txBody>
            <a:bodyPr wrap="square" lIns="0" tIns="0" rIns="0" bIns="0" rtlCol="0">
              <a:noAutofit/>
            </a:bodyPr>
            <a:lstStyle/>
            <a:p>
              <a:endParaRPr/>
            </a:p>
          </p:txBody>
        </p:sp>
        <p:sp>
          <p:nvSpPr>
            <p:cNvPr id="217" name="object 182"/>
            <p:cNvSpPr txBox="1"/>
            <p:nvPr/>
          </p:nvSpPr>
          <p:spPr>
            <a:xfrm>
              <a:off x="9168467" y="3373637"/>
              <a:ext cx="170739" cy="133329"/>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1 </a:t>
              </a:r>
              <a:r>
                <a:rPr sz="700" spc="35" dirty="0" smtClean="0">
                  <a:latin typeface="Franklin Gothic Book"/>
                  <a:cs typeface="Franklin Gothic Book"/>
                </a:rPr>
                <a:t> </a:t>
              </a:r>
              <a:r>
                <a:rPr sz="975" spc="0" baseline="-12820" dirty="0" smtClean="0">
                  <a:latin typeface="Franklin Gothic Demi"/>
                  <a:cs typeface="Franklin Gothic Demi"/>
                </a:rPr>
                <a:t>u</a:t>
              </a:r>
              <a:endParaRPr sz="975" baseline="-12820">
                <a:latin typeface="Franklin Gothic Demi"/>
                <a:cs typeface="Franklin Gothic Demi"/>
              </a:endParaRPr>
            </a:p>
          </p:txBody>
        </p:sp>
        <p:sp>
          <p:nvSpPr>
            <p:cNvPr id="218" name="object 183"/>
            <p:cNvSpPr txBox="1"/>
            <p:nvPr/>
          </p:nvSpPr>
          <p:spPr>
            <a:xfrm>
              <a:off x="9270140" y="3478476"/>
              <a:ext cx="69035" cy="109367"/>
            </a:xfrm>
            <a:prstGeom prst="rect">
              <a:avLst/>
            </a:prstGeom>
          </p:spPr>
          <p:txBody>
            <a:bodyPr vert="horz" wrap="square" lIns="0" tIns="0" rIns="0" bIns="0" rtlCol="0">
              <a:noAutofit/>
            </a:bodyPr>
            <a:lstStyle/>
            <a:p>
              <a:pPr marL="12700">
                <a:lnSpc>
                  <a:spcPct val="100000"/>
                </a:lnSpc>
              </a:pPr>
              <a:r>
                <a:rPr sz="650" spc="30" dirty="0" smtClean="0">
                  <a:latin typeface="Franklin Gothic Demi"/>
                  <a:cs typeface="Franklin Gothic Demi"/>
                </a:rPr>
                <a:t>x</a:t>
              </a:r>
              <a:endParaRPr sz="650">
                <a:latin typeface="Franklin Gothic Demi"/>
                <a:cs typeface="Franklin Gothic Demi"/>
              </a:endParaRPr>
            </a:p>
          </p:txBody>
        </p:sp>
        <p:sp>
          <p:nvSpPr>
            <p:cNvPr id="219" name="object 184"/>
            <p:cNvSpPr txBox="1"/>
            <p:nvPr/>
          </p:nvSpPr>
          <p:spPr>
            <a:xfrm>
              <a:off x="9171017" y="3232777"/>
              <a:ext cx="73966" cy="109980"/>
            </a:xfrm>
            <a:prstGeom prst="rect">
              <a:avLst/>
            </a:prstGeom>
          </p:spPr>
          <p:txBody>
            <a:bodyPr vert="horz" wrap="square" lIns="0" tIns="0" rIns="0" bIns="0" rtlCol="0">
              <a:noAutofit/>
            </a:bodyPr>
            <a:lstStyle/>
            <a:p>
              <a:pPr marL="12700">
                <a:lnSpc>
                  <a:spcPct val="100000"/>
                </a:lnSpc>
              </a:pPr>
              <a:r>
                <a:rPr sz="650" spc="10" dirty="0" smtClean="0">
                  <a:latin typeface="Franklin Gothic Book"/>
                  <a:cs typeface="Franklin Gothic Book"/>
                </a:rPr>
                <a:t>0</a:t>
              </a:r>
              <a:endParaRPr sz="650">
                <a:latin typeface="Franklin Gothic Book"/>
                <a:cs typeface="Franklin Gothic Book"/>
              </a:endParaRPr>
            </a:p>
          </p:txBody>
        </p:sp>
        <p:sp>
          <p:nvSpPr>
            <p:cNvPr id="220" name="object 185"/>
            <p:cNvSpPr txBox="1"/>
            <p:nvPr/>
          </p:nvSpPr>
          <p:spPr>
            <a:xfrm>
              <a:off x="9171082" y="3579957"/>
              <a:ext cx="73966" cy="109980"/>
            </a:xfrm>
            <a:prstGeom prst="rect">
              <a:avLst/>
            </a:prstGeom>
          </p:spPr>
          <p:txBody>
            <a:bodyPr vert="horz" wrap="square" lIns="0" tIns="0" rIns="0" bIns="0" rtlCol="0">
              <a:noAutofit/>
            </a:bodyPr>
            <a:lstStyle/>
            <a:p>
              <a:pPr marL="12700">
                <a:lnSpc>
                  <a:spcPct val="100000"/>
                </a:lnSpc>
              </a:pPr>
              <a:r>
                <a:rPr sz="650" spc="10" dirty="0" smtClean="0">
                  <a:latin typeface="Franklin Gothic Book"/>
                  <a:cs typeface="Franklin Gothic Book"/>
                </a:rPr>
                <a:t>2</a:t>
              </a:r>
              <a:endParaRPr sz="650">
                <a:latin typeface="Franklin Gothic Book"/>
                <a:cs typeface="Franklin Gothic Book"/>
              </a:endParaRPr>
            </a:p>
          </p:txBody>
        </p:sp>
        <p:sp>
          <p:nvSpPr>
            <p:cNvPr id="221" name="object 186"/>
            <p:cNvSpPr txBox="1"/>
            <p:nvPr/>
          </p:nvSpPr>
          <p:spPr>
            <a:xfrm>
              <a:off x="8367549" y="3405124"/>
              <a:ext cx="548584" cy="191084"/>
            </a:xfrm>
            <a:prstGeom prst="rect">
              <a:avLst/>
            </a:prstGeom>
          </p:spPr>
          <p:txBody>
            <a:bodyPr vert="horz" wrap="square" lIns="0" tIns="0" rIns="0" bIns="0" rtlCol="0">
              <a:noAutofit/>
            </a:bodyPr>
            <a:lstStyle/>
            <a:p>
              <a:pPr marL="12700">
                <a:lnSpc>
                  <a:spcPct val="100000"/>
                </a:lnSpc>
              </a:pPr>
              <a:r>
                <a:rPr sz="650" spc="10" dirty="0" smtClean="0">
                  <a:latin typeface="Franklin Gothic Book"/>
                  <a:cs typeface="Franklin Gothic Book"/>
                </a:rPr>
                <a:t>Jump</a:t>
              </a:r>
              <a:endParaRPr sz="650">
                <a:latin typeface="Franklin Gothic Book"/>
                <a:cs typeface="Franklin Gothic Book"/>
              </a:endParaRPr>
            </a:p>
            <a:p>
              <a:pPr marL="12700">
                <a:lnSpc>
                  <a:spcPts val="660"/>
                </a:lnSpc>
              </a:pPr>
              <a:r>
                <a:rPr sz="650" spc="15" dirty="0" smtClean="0">
                  <a:latin typeface="Franklin Gothic Book"/>
                  <a:cs typeface="Franklin Gothic Book"/>
                </a:rPr>
                <a:t>address</a:t>
              </a:r>
              <a:r>
                <a:rPr sz="650" spc="35" dirty="0" smtClean="0">
                  <a:latin typeface="Franklin Gothic Book"/>
                  <a:cs typeface="Franklin Gothic Book"/>
                </a:rPr>
                <a:t> </a:t>
              </a:r>
              <a:r>
                <a:rPr sz="650" spc="5" dirty="0" smtClean="0">
                  <a:latin typeface="Franklin Gothic Book"/>
                  <a:cs typeface="Franklin Gothic Book"/>
                </a:rPr>
                <a:t>[31-0]</a:t>
              </a:r>
              <a:endParaRPr sz="650">
                <a:latin typeface="Franklin Gothic Book"/>
                <a:cs typeface="Franklin Gothic Book"/>
              </a:endParaRPr>
            </a:p>
          </p:txBody>
        </p:sp>
        <p:sp>
          <p:nvSpPr>
            <p:cNvPr id="222" name="object 187"/>
            <p:cNvSpPr txBox="1"/>
            <p:nvPr/>
          </p:nvSpPr>
          <p:spPr>
            <a:xfrm>
              <a:off x="4086418" y="3491491"/>
              <a:ext cx="731034" cy="117968"/>
            </a:xfrm>
            <a:prstGeom prst="rect">
              <a:avLst/>
            </a:prstGeom>
          </p:spPr>
          <p:txBody>
            <a:bodyPr vert="horz" wrap="square" lIns="0" tIns="0" rIns="0" bIns="0" rtlCol="0">
              <a:noAutofit/>
            </a:bodyPr>
            <a:lstStyle/>
            <a:p>
              <a:pPr marL="12700">
                <a:lnSpc>
                  <a:spcPct val="100000"/>
                </a:lnSpc>
              </a:pPr>
              <a:r>
                <a:rPr sz="700" spc="10" dirty="0" smtClean="0">
                  <a:latin typeface="Franklin Gothic Book"/>
                  <a:cs typeface="Franklin Gothic Book"/>
                </a:rPr>
                <a:t>I</a:t>
              </a:r>
              <a:r>
                <a:rPr sz="700" spc="15" dirty="0" smtClean="0">
                  <a:latin typeface="Franklin Gothic Book"/>
                  <a:cs typeface="Franklin Gothic Book"/>
                </a:rPr>
                <a:t>n</a:t>
              </a:r>
              <a:r>
                <a:rPr sz="700" spc="55" dirty="0" smtClean="0">
                  <a:latin typeface="Franklin Gothic Book"/>
                  <a:cs typeface="Franklin Gothic Book"/>
                </a:rPr>
                <a:t>s</a:t>
              </a:r>
              <a:r>
                <a:rPr sz="700" spc="15" dirty="0" smtClean="0">
                  <a:latin typeface="Franklin Gothic Book"/>
                  <a:cs typeface="Franklin Gothic Book"/>
                </a:rPr>
                <a:t>t</a:t>
              </a:r>
              <a:r>
                <a:rPr sz="700" spc="0" dirty="0" smtClean="0">
                  <a:latin typeface="Franklin Gothic Book"/>
                  <a:cs typeface="Franklin Gothic Book"/>
                </a:rPr>
                <a:t>r</a:t>
              </a:r>
              <a:r>
                <a:rPr sz="700" spc="15" dirty="0" smtClean="0">
                  <a:latin typeface="Franklin Gothic Book"/>
                  <a:cs typeface="Franklin Gothic Book"/>
                </a:rPr>
                <a:t>u</a:t>
              </a:r>
              <a:r>
                <a:rPr sz="700" spc="20" dirty="0" smtClean="0">
                  <a:latin typeface="Franklin Gothic Book"/>
                  <a:cs typeface="Franklin Gothic Book"/>
                </a:rPr>
                <a:t>c</a:t>
              </a:r>
              <a:r>
                <a:rPr sz="700" spc="15" dirty="0" smtClean="0">
                  <a:latin typeface="Franklin Gothic Book"/>
                  <a:cs typeface="Franklin Gothic Book"/>
                </a:rPr>
                <a:t>t</a:t>
              </a:r>
              <a:r>
                <a:rPr sz="700" spc="10" dirty="0" smtClean="0">
                  <a:latin typeface="Franklin Gothic Book"/>
                  <a:cs typeface="Franklin Gothic Book"/>
                </a:rPr>
                <a:t>i</a:t>
              </a:r>
              <a:r>
                <a:rPr sz="700" spc="25" dirty="0" smtClean="0">
                  <a:latin typeface="Franklin Gothic Book"/>
                  <a:cs typeface="Franklin Gothic Book"/>
                </a:rPr>
                <a:t>o</a:t>
              </a:r>
              <a:r>
                <a:rPr sz="700" spc="15" dirty="0" smtClean="0">
                  <a:latin typeface="Franklin Gothic Book"/>
                  <a:cs typeface="Franklin Gothic Book"/>
                </a:rPr>
                <a:t>n</a:t>
              </a:r>
              <a:r>
                <a:rPr sz="700" spc="40" dirty="0" smtClean="0">
                  <a:latin typeface="Franklin Gothic Book"/>
                  <a:cs typeface="Franklin Gothic Book"/>
                </a:rPr>
                <a:t> </a:t>
              </a:r>
              <a:r>
                <a:rPr sz="700" spc="20" dirty="0" smtClean="0">
                  <a:latin typeface="Franklin Gothic Book"/>
                  <a:cs typeface="Franklin Gothic Book"/>
                </a:rPr>
                <a:t>[25</a:t>
              </a:r>
              <a:r>
                <a:rPr sz="700" spc="-50" dirty="0" smtClean="0">
                  <a:latin typeface="Franklin Gothic Book"/>
                  <a:cs typeface="Franklin Gothic Book"/>
                </a:rPr>
                <a:t>–</a:t>
              </a:r>
              <a:r>
                <a:rPr sz="700" spc="20" dirty="0" smtClean="0">
                  <a:latin typeface="Franklin Gothic Book"/>
                  <a:cs typeface="Franklin Gothic Book"/>
                </a:rPr>
                <a:t>0]</a:t>
              </a:r>
              <a:endParaRPr sz="700">
                <a:latin typeface="Franklin Gothic Book"/>
                <a:cs typeface="Franklin Gothic Book"/>
              </a:endParaRPr>
            </a:p>
          </p:txBody>
        </p:sp>
        <p:sp>
          <p:nvSpPr>
            <p:cNvPr id="223" name="object 188"/>
            <p:cNvSpPr txBox="1"/>
            <p:nvPr/>
          </p:nvSpPr>
          <p:spPr>
            <a:xfrm>
              <a:off x="7130697" y="3452734"/>
              <a:ext cx="133139" cy="117968"/>
            </a:xfrm>
            <a:prstGeom prst="rect">
              <a:avLst/>
            </a:prstGeom>
          </p:spPr>
          <p:txBody>
            <a:bodyPr vert="horz" wrap="square" lIns="0" tIns="0" rIns="0" bIns="0" rtlCol="0">
              <a:noAutofit/>
            </a:bodyPr>
            <a:lstStyle/>
            <a:p>
              <a:pPr marL="12700">
                <a:lnSpc>
                  <a:spcPct val="100000"/>
                </a:lnSpc>
              </a:pPr>
              <a:r>
                <a:rPr sz="700" spc="20" dirty="0" smtClean="0">
                  <a:latin typeface="Franklin Gothic Book"/>
                  <a:cs typeface="Franklin Gothic Book"/>
                </a:rPr>
                <a:t>26</a:t>
              </a:r>
              <a:endParaRPr sz="700">
                <a:latin typeface="Franklin Gothic Book"/>
                <a:cs typeface="Franklin Gothic Book"/>
              </a:endParaRPr>
            </a:p>
          </p:txBody>
        </p:sp>
        <p:sp>
          <p:nvSpPr>
            <p:cNvPr id="224" name="object 189"/>
            <p:cNvSpPr txBox="1"/>
            <p:nvPr/>
          </p:nvSpPr>
          <p:spPr>
            <a:xfrm>
              <a:off x="7353969" y="3452734"/>
              <a:ext cx="369832" cy="181254"/>
            </a:xfrm>
            <a:prstGeom prst="rect">
              <a:avLst/>
            </a:prstGeom>
          </p:spPr>
          <p:txBody>
            <a:bodyPr vert="horz" wrap="square" lIns="0" tIns="0" rIns="0" bIns="0" rtlCol="0">
              <a:noAutofit/>
            </a:bodyPr>
            <a:lstStyle/>
            <a:p>
              <a:pPr marR="12700" algn="r">
                <a:lnSpc>
                  <a:spcPts val="775"/>
                </a:lnSpc>
              </a:pPr>
              <a:r>
                <a:rPr sz="700" spc="20" dirty="0" smtClean="0">
                  <a:latin typeface="Franklin Gothic Book"/>
                  <a:cs typeface="Franklin Gothic Book"/>
                </a:rPr>
                <a:t>28</a:t>
              </a:r>
              <a:endParaRPr sz="700">
                <a:latin typeface="Franklin Gothic Book"/>
                <a:cs typeface="Franklin Gothic Book"/>
              </a:endParaRPr>
            </a:p>
            <a:p>
              <a:pPr marL="12700">
                <a:lnSpc>
                  <a:spcPts val="585"/>
                </a:lnSpc>
              </a:pPr>
              <a:r>
                <a:rPr sz="650" spc="5" dirty="0" smtClean="0">
                  <a:latin typeface="Franklin Gothic Demi"/>
                  <a:cs typeface="Franklin Gothic Demi"/>
                </a:rPr>
                <a:t>Shift</a:t>
              </a:r>
              <a:endParaRPr sz="650">
                <a:latin typeface="Franklin Gothic Demi"/>
                <a:cs typeface="Franklin Gothic Demi"/>
              </a:endParaRPr>
            </a:p>
          </p:txBody>
        </p:sp>
        <p:sp>
          <p:nvSpPr>
            <p:cNvPr id="225" name="object 190"/>
            <p:cNvSpPr txBox="1"/>
            <p:nvPr/>
          </p:nvSpPr>
          <p:spPr>
            <a:xfrm>
              <a:off x="7341779" y="3621760"/>
              <a:ext cx="218201" cy="109367"/>
            </a:xfrm>
            <a:prstGeom prst="rect">
              <a:avLst/>
            </a:prstGeom>
          </p:spPr>
          <p:txBody>
            <a:bodyPr vert="horz" wrap="square" lIns="0" tIns="0" rIns="0" bIns="0" rtlCol="0">
              <a:noAutofit/>
            </a:bodyPr>
            <a:lstStyle/>
            <a:p>
              <a:pPr marL="12700">
                <a:lnSpc>
                  <a:spcPct val="100000"/>
                </a:lnSpc>
              </a:pPr>
              <a:r>
                <a:rPr sz="650" spc="0" dirty="0" smtClean="0">
                  <a:latin typeface="Franklin Gothic Demi"/>
                  <a:cs typeface="Franklin Gothic Demi"/>
                </a:rPr>
                <a:t>left</a:t>
              </a:r>
              <a:r>
                <a:rPr sz="650" spc="35" dirty="0" smtClean="0">
                  <a:latin typeface="Franklin Gothic Demi"/>
                  <a:cs typeface="Franklin Gothic Demi"/>
                </a:rPr>
                <a:t> </a:t>
              </a:r>
              <a:r>
                <a:rPr sz="650" spc="10" dirty="0" smtClean="0">
                  <a:latin typeface="Franklin Gothic Demi"/>
                  <a:cs typeface="Franklin Gothic Demi"/>
                </a:rPr>
                <a:t>2</a:t>
              </a:r>
              <a:endParaRPr sz="650">
                <a:latin typeface="Franklin Gothic Demi"/>
                <a:cs typeface="Franklin Gothic Demi"/>
              </a:endParaRPr>
            </a:p>
          </p:txBody>
        </p:sp>
        <p:sp>
          <p:nvSpPr>
            <p:cNvPr id="226" name="object 191"/>
            <p:cNvSpPr txBox="1"/>
            <p:nvPr/>
          </p:nvSpPr>
          <p:spPr>
            <a:xfrm>
              <a:off x="7370845" y="3851194"/>
              <a:ext cx="406815" cy="109980"/>
            </a:xfrm>
            <a:prstGeom prst="rect">
              <a:avLst/>
            </a:prstGeom>
          </p:spPr>
          <p:txBody>
            <a:bodyPr vert="horz" wrap="square" lIns="0" tIns="0" rIns="0" bIns="0" rtlCol="0">
              <a:noAutofit/>
            </a:bodyPr>
            <a:lstStyle/>
            <a:p>
              <a:pPr marL="12700">
                <a:lnSpc>
                  <a:spcPct val="100000"/>
                </a:lnSpc>
              </a:pPr>
              <a:r>
                <a:rPr sz="650" spc="15" dirty="0" smtClean="0">
                  <a:latin typeface="Franklin Gothic Book"/>
                  <a:cs typeface="Franklin Gothic Book"/>
                </a:rPr>
                <a:t>PC</a:t>
              </a:r>
              <a:r>
                <a:rPr sz="650" spc="35" dirty="0" smtClean="0">
                  <a:latin typeface="Franklin Gothic Book"/>
                  <a:cs typeface="Franklin Gothic Book"/>
                </a:rPr>
                <a:t> </a:t>
              </a:r>
              <a:r>
                <a:rPr sz="650" spc="5" dirty="0" smtClean="0">
                  <a:latin typeface="Franklin Gothic Book"/>
                  <a:cs typeface="Franklin Gothic Book"/>
                </a:rPr>
                <a:t>[31-28]</a:t>
              </a:r>
              <a:endParaRPr sz="650">
                <a:latin typeface="Franklin Gothic Book"/>
                <a:cs typeface="Franklin Gothic Book"/>
              </a:endParaRPr>
            </a:p>
          </p:txBody>
        </p:sp>
        <p:sp>
          <p:nvSpPr>
            <p:cNvPr id="227" name="object 192"/>
            <p:cNvSpPr/>
            <p:nvPr/>
          </p:nvSpPr>
          <p:spPr>
            <a:xfrm>
              <a:off x="3879309" y="3231355"/>
              <a:ext cx="877344" cy="468094"/>
            </a:xfrm>
            <a:custGeom>
              <a:avLst/>
              <a:gdLst/>
              <a:ahLst/>
              <a:cxnLst/>
              <a:rect l="l" t="t" r="r" b="b"/>
              <a:pathLst>
                <a:path w="903838" h="483774">
                  <a:moveTo>
                    <a:pt x="0" y="483774"/>
                  </a:moveTo>
                  <a:lnTo>
                    <a:pt x="0" y="0"/>
                  </a:lnTo>
                  <a:lnTo>
                    <a:pt x="903838" y="0"/>
                  </a:lnTo>
                </a:path>
              </a:pathLst>
            </a:custGeom>
            <a:ln w="15716">
              <a:solidFill>
                <a:srgbClr val="EB2D2E"/>
              </a:solidFill>
            </a:ln>
          </p:spPr>
          <p:txBody>
            <a:bodyPr wrap="square" lIns="0" tIns="0" rIns="0" bIns="0" rtlCol="0">
              <a:noAutofit/>
            </a:bodyPr>
            <a:lstStyle/>
            <a:p>
              <a:endParaRPr/>
            </a:p>
          </p:txBody>
        </p:sp>
        <p:sp>
          <p:nvSpPr>
            <p:cNvPr id="228" name="object 193"/>
            <p:cNvSpPr/>
            <p:nvPr/>
          </p:nvSpPr>
          <p:spPr>
            <a:xfrm>
              <a:off x="4240506" y="5688421"/>
              <a:ext cx="2762312" cy="527661"/>
            </a:xfrm>
            <a:custGeom>
              <a:avLst/>
              <a:gdLst/>
              <a:ahLst/>
              <a:cxnLst/>
              <a:rect l="l" t="t" r="r" b="b"/>
              <a:pathLst>
                <a:path w="2845728" h="545336">
                  <a:moveTo>
                    <a:pt x="0" y="0"/>
                  </a:moveTo>
                  <a:lnTo>
                    <a:pt x="0" y="545336"/>
                  </a:lnTo>
                  <a:lnTo>
                    <a:pt x="2640352" y="545336"/>
                  </a:lnTo>
                  <a:lnTo>
                    <a:pt x="2641335" y="6880"/>
                  </a:lnTo>
                  <a:lnTo>
                    <a:pt x="2845728" y="6880"/>
                  </a:lnTo>
                </a:path>
              </a:pathLst>
            </a:custGeom>
            <a:ln w="31432">
              <a:solidFill>
                <a:srgbClr val="000000"/>
              </a:solidFill>
            </a:ln>
          </p:spPr>
          <p:txBody>
            <a:bodyPr wrap="square" lIns="0" tIns="0" rIns="0" bIns="0" rtlCol="0">
              <a:noAutofit/>
            </a:bodyPr>
            <a:lstStyle/>
            <a:p>
              <a:endParaRPr/>
            </a:p>
          </p:txBody>
        </p:sp>
        <p:sp>
          <p:nvSpPr>
            <p:cNvPr id="229" name="object 194"/>
            <p:cNvSpPr/>
            <p:nvPr/>
          </p:nvSpPr>
          <p:spPr>
            <a:xfrm>
              <a:off x="4155974" y="4599221"/>
              <a:ext cx="559341" cy="256315"/>
            </a:xfrm>
            <a:custGeom>
              <a:avLst/>
              <a:gdLst/>
              <a:ahLst/>
              <a:cxnLst/>
              <a:rect l="l" t="t" r="r" b="b"/>
              <a:pathLst>
                <a:path w="576232" h="264901">
                  <a:moveTo>
                    <a:pt x="576232" y="264901"/>
                  </a:moveTo>
                  <a:lnTo>
                    <a:pt x="87085" y="264901"/>
                  </a:lnTo>
                  <a:lnTo>
                    <a:pt x="89119" y="331"/>
                  </a:lnTo>
                  <a:lnTo>
                    <a:pt x="0" y="0"/>
                  </a:lnTo>
                </a:path>
              </a:pathLst>
            </a:custGeom>
            <a:ln w="31432">
              <a:solidFill>
                <a:srgbClr val="000000"/>
              </a:solidFill>
            </a:ln>
          </p:spPr>
          <p:txBody>
            <a:bodyPr wrap="square" lIns="0" tIns="0" rIns="0" bIns="0" rtlCol="0">
              <a:noAutofit/>
            </a:bodyPr>
            <a:lstStyle/>
            <a:p>
              <a:endParaRPr/>
            </a:p>
          </p:txBody>
        </p:sp>
        <p:sp>
          <p:nvSpPr>
            <p:cNvPr id="230" name="object 195"/>
            <p:cNvSpPr/>
            <p:nvPr/>
          </p:nvSpPr>
          <p:spPr>
            <a:xfrm>
              <a:off x="1843074" y="4339301"/>
              <a:ext cx="6827692" cy="2085918"/>
            </a:xfrm>
            <a:custGeom>
              <a:avLst/>
              <a:gdLst/>
              <a:ahLst/>
              <a:cxnLst/>
              <a:rect l="l" t="t" r="r" b="b"/>
              <a:pathLst>
                <a:path w="7033873" h="2155789">
                  <a:moveTo>
                    <a:pt x="6900531" y="156122"/>
                  </a:moveTo>
                  <a:lnTo>
                    <a:pt x="7033873" y="156122"/>
                  </a:lnTo>
                  <a:lnTo>
                    <a:pt x="7033873" y="2155789"/>
                  </a:lnTo>
                  <a:lnTo>
                    <a:pt x="0" y="2155789"/>
                  </a:lnTo>
                  <a:lnTo>
                    <a:pt x="708" y="0"/>
                  </a:lnTo>
                  <a:lnTo>
                    <a:pt x="83336" y="0"/>
                  </a:lnTo>
                </a:path>
              </a:pathLst>
            </a:custGeom>
            <a:ln w="31432">
              <a:solidFill>
                <a:srgbClr val="000000"/>
              </a:solidFill>
            </a:ln>
          </p:spPr>
          <p:txBody>
            <a:bodyPr wrap="square" lIns="0" tIns="0" rIns="0" bIns="0" rtlCol="0">
              <a:noAutofit/>
            </a:bodyPr>
            <a:lstStyle/>
            <a:p>
              <a:endParaRPr/>
            </a:p>
          </p:txBody>
        </p:sp>
        <p:sp>
          <p:nvSpPr>
            <p:cNvPr id="231" name="object 196"/>
            <p:cNvSpPr/>
            <p:nvPr/>
          </p:nvSpPr>
          <p:spPr>
            <a:xfrm>
              <a:off x="4301528" y="3606650"/>
              <a:ext cx="0" cy="740071"/>
            </a:xfrm>
            <a:custGeom>
              <a:avLst/>
              <a:gdLst/>
              <a:ahLst/>
              <a:cxnLst/>
              <a:rect l="l" t="t" r="r" b="b"/>
              <a:pathLst>
                <a:path h="764861">
                  <a:moveTo>
                    <a:pt x="0" y="764861"/>
                  </a:moveTo>
                  <a:lnTo>
                    <a:pt x="0" y="0"/>
                  </a:lnTo>
                </a:path>
              </a:pathLst>
            </a:custGeom>
            <a:ln w="31432">
              <a:solidFill>
                <a:srgbClr val="000000"/>
              </a:solidFill>
            </a:ln>
          </p:spPr>
          <p:txBody>
            <a:bodyPr wrap="square" lIns="0" tIns="0" rIns="0" bIns="0" rtlCol="0">
              <a:noAutofit/>
            </a:bodyPr>
            <a:lstStyle/>
            <a:p>
              <a:endParaRPr/>
            </a:p>
          </p:txBody>
        </p:sp>
        <p:sp>
          <p:nvSpPr>
            <p:cNvPr id="232" name="object 197"/>
            <p:cNvSpPr/>
            <p:nvPr/>
          </p:nvSpPr>
          <p:spPr>
            <a:xfrm>
              <a:off x="4372724" y="3621856"/>
              <a:ext cx="0" cy="451140"/>
            </a:xfrm>
            <a:custGeom>
              <a:avLst/>
              <a:gdLst/>
              <a:ahLst/>
              <a:cxnLst/>
              <a:rect l="l" t="t" r="r" b="b"/>
              <a:pathLst>
                <a:path h="466252">
                  <a:moveTo>
                    <a:pt x="0" y="466252"/>
                  </a:moveTo>
                  <a:lnTo>
                    <a:pt x="0" y="0"/>
                  </a:lnTo>
                </a:path>
              </a:pathLst>
            </a:custGeom>
            <a:ln w="31432">
              <a:solidFill>
                <a:srgbClr val="000000"/>
              </a:solidFill>
            </a:ln>
          </p:spPr>
          <p:txBody>
            <a:bodyPr wrap="square" lIns="0" tIns="0" rIns="0" bIns="0" rtlCol="0">
              <a:noAutofit/>
            </a:bodyPr>
            <a:lstStyle/>
            <a:p>
              <a:endParaRPr/>
            </a:p>
          </p:txBody>
        </p:sp>
        <p:sp>
          <p:nvSpPr>
            <p:cNvPr id="233" name="object 198"/>
            <p:cNvSpPr/>
            <p:nvPr/>
          </p:nvSpPr>
          <p:spPr>
            <a:xfrm>
              <a:off x="4240184" y="3616790"/>
              <a:ext cx="3048517" cy="982751"/>
            </a:xfrm>
            <a:custGeom>
              <a:avLst/>
              <a:gdLst/>
              <a:ahLst/>
              <a:cxnLst/>
              <a:rect l="l" t="t" r="r" b="b"/>
              <a:pathLst>
                <a:path w="3140575" h="1015670">
                  <a:moveTo>
                    <a:pt x="0" y="1015670"/>
                  </a:moveTo>
                  <a:lnTo>
                    <a:pt x="0" y="0"/>
                  </a:lnTo>
                  <a:lnTo>
                    <a:pt x="3140575" y="0"/>
                  </a:lnTo>
                </a:path>
              </a:pathLst>
            </a:custGeom>
            <a:ln w="31432">
              <a:solidFill>
                <a:srgbClr val="000000"/>
              </a:solidFill>
            </a:ln>
          </p:spPr>
          <p:txBody>
            <a:bodyPr wrap="square" lIns="0" tIns="0" rIns="0" bIns="0" rtlCol="0">
              <a:noAutofit/>
            </a:bodyPr>
            <a:lstStyle/>
            <a:p>
              <a:endParaRPr/>
            </a:p>
          </p:txBody>
        </p:sp>
        <p:sp>
          <p:nvSpPr>
            <p:cNvPr id="234" name="object 199"/>
            <p:cNvSpPr/>
            <p:nvPr/>
          </p:nvSpPr>
          <p:spPr>
            <a:xfrm>
              <a:off x="6804784" y="4559025"/>
              <a:ext cx="237055" cy="640823"/>
            </a:xfrm>
            <a:custGeom>
              <a:avLst/>
              <a:gdLst/>
              <a:ahLst/>
              <a:cxnLst/>
              <a:rect l="l" t="t" r="r" b="b"/>
              <a:pathLst>
                <a:path w="244214" h="662288">
                  <a:moveTo>
                    <a:pt x="130936" y="0"/>
                  </a:moveTo>
                  <a:lnTo>
                    <a:pt x="85547" y="6846"/>
                  </a:lnTo>
                  <a:lnTo>
                    <a:pt x="47919" y="26165"/>
                  </a:lnTo>
                  <a:lnTo>
                    <a:pt x="19955" y="55522"/>
                  </a:lnTo>
                  <a:lnTo>
                    <a:pt x="3561" y="92485"/>
                  </a:lnTo>
                  <a:lnTo>
                    <a:pt x="0" y="120151"/>
                  </a:lnTo>
                  <a:lnTo>
                    <a:pt x="87" y="542137"/>
                  </a:lnTo>
                  <a:lnTo>
                    <a:pt x="7528" y="582819"/>
                  </a:lnTo>
                  <a:lnTo>
                    <a:pt x="28318" y="618695"/>
                  </a:lnTo>
                  <a:lnTo>
                    <a:pt x="59683" y="645462"/>
                  </a:lnTo>
                  <a:lnTo>
                    <a:pt x="98919" y="660403"/>
                  </a:lnTo>
                  <a:lnTo>
                    <a:pt x="113280" y="662288"/>
                  </a:lnTo>
                  <a:lnTo>
                    <a:pt x="129154" y="661542"/>
                  </a:lnTo>
                  <a:lnTo>
                    <a:pt x="172166" y="650268"/>
                  </a:lnTo>
                  <a:lnTo>
                    <a:pt x="206784" y="627333"/>
                  </a:lnTo>
                  <a:lnTo>
                    <a:pt x="231103" y="595170"/>
                  </a:lnTo>
                  <a:lnTo>
                    <a:pt x="243217" y="556213"/>
                  </a:lnTo>
                  <a:lnTo>
                    <a:pt x="244214" y="542137"/>
                  </a:lnTo>
                  <a:lnTo>
                    <a:pt x="244127" y="120151"/>
                  </a:lnTo>
                  <a:lnTo>
                    <a:pt x="236686" y="79469"/>
                  </a:lnTo>
                  <a:lnTo>
                    <a:pt x="215892" y="43588"/>
                  </a:lnTo>
                  <a:lnTo>
                    <a:pt x="184527" y="16821"/>
                  </a:lnTo>
                  <a:lnTo>
                    <a:pt x="145295" y="1883"/>
                  </a:lnTo>
                  <a:lnTo>
                    <a:pt x="130936" y="0"/>
                  </a:lnTo>
                  <a:close/>
                </a:path>
              </a:pathLst>
            </a:custGeom>
            <a:solidFill>
              <a:srgbClr val="FFFFFF"/>
            </a:solidFill>
          </p:spPr>
          <p:txBody>
            <a:bodyPr wrap="square" lIns="0" tIns="0" rIns="0" bIns="0" rtlCol="0">
              <a:noAutofit/>
            </a:bodyPr>
            <a:lstStyle/>
            <a:p>
              <a:endParaRPr/>
            </a:p>
          </p:txBody>
        </p:sp>
        <p:sp>
          <p:nvSpPr>
            <p:cNvPr id="235" name="object 200"/>
            <p:cNvSpPr/>
            <p:nvPr/>
          </p:nvSpPr>
          <p:spPr>
            <a:xfrm>
              <a:off x="6804772" y="4559025"/>
              <a:ext cx="237078" cy="640823"/>
            </a:xfrm>
            <a:custGeom>
              <a:avLst/>
              <a:gdLst/>
              <a:ahLst/>
              <a:cxnLst/>
              <a:rect l="l" t="t" r="r" b="b"/>
              <a:pathLst>
                <a:path w="244237" h="662288">
                  <a:moveTo>
                    <a:pt x="244237" y="121804"/>
                  </a:moveTo>
                  <a:lnTo>
                    <a:pt x="236704" y="79483"/>
                  </a:lnTo>
                  <a:lnTo>
                    <a:pt x="215904" y="43588"/>
                  </a:lnTo>
                  <a:lnTo>
                    <a:pt x="184539" y="16821"/>
                  </a:lnTo>
                  <a:lnTo>
                    <a:pt x="145306" y="1883"/>
                  </a:lnTo>
                  <a:lnTo>
                    <a:pt x="130948" y="0"/>
                  </a:lnTo>
                  <a:lnTo>
                    <a:pt x="115073" y="746"/>
                  </a:lnTo>
                  <a:lnTo>
                    <a:pt x="72059" y="12020"/>
                  </a:lnTo>
                  <a:lnTo>
                    <a:pt x="37441" y="34955"/>
                  </a:lnTo>
                  <a:lnTo>
                    <a:pt x="13122" y="67118"/>
                  </a:lnTo>
                  <a:lnTo>
                    <a:pt x="1008" y="106075"/>
                  </a:lnTo>
                  <a:lnTo>
                    <a:pt x="0" y="540485"/>
                  </a:lnTo>
                  <a:lnTo>
                    <a:pt x="870" y="555138"/>
                  </a:lnTo>
                  <a:lnTo>
                    <a:pt x="13123" y="595614"/>
                  </a:lnTo>
                  <a:lnTo>
                    <a:pt x="37743" y="628765"/>
                  </a:lnTo>
                  <a:lnTo>
                    <a:pt x="72031" y="651890"/>
                  </a:lnTo>
                  <a:lnTo>
                    <a:pt x="113291" y="662288"/>
                  </a:lnTo>
                  <a:lnTo>
                    <a:pt x="129165" y="661542"/>
                  </a:lnTo>
                  <a:lnTo>
                    <a:pt x="172177" y="650268"/>
                  </a:lnTo>
                  <a:lnTo>
                    <a:pt x="206795" y="627333"/>
                  </a:lnTo>
                  <a:lnTo>
                    <a:pt x="231114" y="595171"/>
                  </a:lnTo>
                  <a:lnTo>
                    <a:pt x="243229" y="556213"/>
                  </a:lnTo>
                  <a:lnTo>
                    <a:pt x="244237" y="121804"/>
                  </a:lnTo>
                  <a:close/>
                </a:path>
              </a:pathLst>
            </a:custGeom>
            <a:ln w="15716">
              <a:solidFill>
                <a:srgbClr val="000000"/>
              </a:solidFill>
            </a:ln>
          </p:spPr>
          <p:txBody>
            <a:bodyPr wrap="square" lIns="0" tIns="0" rIns="0" bIns="0" rtlCol="0">
              <a:noAutofit/>
            </a:bodyPr>
            <a:lstStyle/>
            <a:p>
              <a:endParaRPr/>
            </a:p>
          </p:txBody>
        </p:sp>
        <p:sp>
          <p:nvSpPr>
            <p:cNvPr id="236" name="object 201"/>
            <p:cNvSpPr txBox="1"/>
            <p:nvPr/>
          </p:nvSpPr>
          <p:spPr>
            <a:xfrm>
              <a:off x="6826628" y="4734348"/>
              <a:ext cx="199092" cy="140702"/>
            </a:xfrm>
            <a:prstGeom prst="rect">
              <a:avLst/>
            </a:prstGeom>
          </p:spPr>
          <p:txBody>
            <a:bodyPr vert="horz" wrap="square" lIns="0" tIns="0" rIns="0" bIns="0" rtlCol="0">
              <a:noAutofit/>
            </a:bodyPr>
            <a:lstStyle/>
            <a:p>
              <a:pPr marL="12700">
                <a:lnSpc>
                  <a:spcPct val="100000"/>
                </a:lnSpc>
              </a:pPr>
              <a:r>
                <a:rPr sz="1050" spc="37" baseline="-15873" dirty="0" smtClean="0">
                  <a:latin typeface="Franklin Gothic Book"/>
                  <a:cs typeface="Franklin Gothic Book"/>
                </a:rPr>
                <a:t>1 </a:t>
              </a:r>
              <a:r>
                <a:rPr sz="1050" spc="-37" baseline="-15873" dirty="0" smtClean="0">
                  <a:latin typeface="Franklin Gothic Book"/>
                  <a:cs typeface="Franklin Gothic Book"/>
                </a:rPr>
                <a:t> </a:t>
              </a:r>
              <a:r>
                <a:rPr sz="700" spc="40" dirty="0" smtClean="0">
                  <a:latin typeface="Franklin Gothic Demi"/>
                  <a:cs typeface="Franklin Gothic Demi"/>
                </a:rPr>
                <a:t>M</a:t>
              </a:r>
              <a:endParaRPr sz="700">
                <a:latin typeface="Franklin Gothic Demi"/>
                <a:cs typeface="Franklin Gothic Demi"/>
              </a:endParaRPr>
            </a:p>
          </p:txBody>
        </p:sp>
        <p:sp>
          <p:nvSpPr>
            <p:cNvPr id="237" name="object 202"/>
            <p:cNvSpPr txBox="1"/>
            <p:nvPr/>
          </p:nvSpPr>
          <p:spPr>
            <a:xfrm>
              <a:off x="6826628" y="4824371"/>
              <a:ext cx="183683" cy="185555"/>
            </a:xfrm>
            <a:prstGeom prst="rect">
              <a:avLst/>
            </a:prstGeom>
          </p:spPr>
          <p:txBody>
            <a:bodyPr vert="horz" wrap="square" lIns="0" tIns="0" rIns="0" bIns="0" rtlCol="0">
              <a:noAutofit/>
            </a:bodyPr>
            <a:lstStyle/>
            <a:p>
              <a:pPr marR="12700" algn="r">
                <a:lnSpc>
                  <a:spcPts val="760"/>
                </a:lnSpc>
              </a:pPr>
              <a:r>
                <a:rPr sz="700" spc="15" dirty="0" smtClean="0">
                  <a:latin typeface="Franklin Gothic Demi"/>
                  <a:cs typeface="Franklin Gothic Demi"/>
                </a:rPr>
                <a:t>u</a:t>
              </a:r>
              <a:endParaRPr sz="700">
                <a:latin typeface="Franklin Gothic Demi"/>
                <a:cs typeface="Franklin Gothic Demi"/>
              </a:endParaRPr>
            </a:p>
            <a:p>
              <a:pPr marL="12700">
                <a:lnSpc>
                  <a:spcPts val="635"/>
                </a:lnSpc>
              </a:pPr>
              <a:r>
                <a:rPr sz="700" spc="25" dirty="0" smtClean="0">
                  <a:latin typeface="Franklin Gothic Book"/>
                  <a:cs typeface="Franklin Gothic Book"/>
                </a:rPr>
                <a:t>2</a:t>
              </a:r>
              <a:endParaRPr sz="700">
                <a:latin typeface="Franklin Gothic Book"/>
                <a:cs typeface="Franklin Gothic Book"/>
              </a:endParaRPr>
            </a:p>
          </p:txBody>
        </p:sp>
        <p:sp>
          <p:nvSpPr>
            <p:cNvPr id="238" name="object 203"/>
            <p:cNvSpPr txBox="1"/>
            <p:nvPr/>
          </p:nvSpPr>
          <p:spPr>
            <a:xfrm>
              <a:off x="6936691" y="4914395"/>
              <a:ext cx="73966" cy="117354"/>
            </a:xfrm>
            <a:prstGeom prst="rect">
              <a:avLst/>
            </a:prstGeom>
          </p:spPr>
          <p:txBody>
            <a:bodyPr vert="horz" wrap="square" lIns="0" tIns="0" rIns="0" bIns="0" rtlCol="0">
              <a:noAutofit/>
            </a:bodyPr>
            <a:lstStyle/>
            <a:p>
              <a:pPr marL="12700">
                <a:lnSpc>
                  <a:spcPct val="100000"/>
                </a:lnSpc>
              </a:pPr>
              <a:r>
                <a:rPr sz="700" spc="45" dirty="0" smtClean="0">
                  <a:latin typeface="Franklin Gothic Demi"/>
                  <a:cs typeface="Franklin Gothic Demi"/>
                </a:rPr>
                <a:t>x</a:t>
              </a:r>
              <a:endParaRPr sz="700">
                <a:latin typeface="Franklin Gothic Demi"/>
                <a:cs typeface="Franklin Gothic Demi"/>
              </a:endParaRPr>
            </a:p>
          </p:txBody>
        </p:sp>
        <p:sp>
          <p:nvSpPr>
            <p:cNvPr id="239" name="object 204"/>
            <p:cNvSpPr txBox="1"/>
            <p:nvPr/>
          </p:nvSpPr>
          <p:spPr>
            <a:xfrm>
              <a:off x="6826628" y="4622043"/>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0</a:t>
              </a:r>
              <a:endParaRPr sz="700">
                <a:latin typeface="Franklin Gothic Book"/>
                <a:cs typeface="Franklin Gothic Book"/>
              </a:endParaRPr>
            </a:p>
          </p:txBody>
        </p:sp>
        <p:sp>
          <p:nvSpPr>
            <p:cNvPr id="240" name="object 205"/>
            <p:cNvSpPr txBox="1"/>
            <p:nvPr/>
          </p:nvSpPr>
          <p:spPr>
            <a:xfrm>
              <a:off x="6826628" y="5027167"/>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3</a:t>
              </a:r>
              <a:endParaRPr sz="700">
                <a:latin typeface="Franklin Gothic Book"/>
                <a:cs typeface="Franklin Gothic Book"/>
              </a:endParaRPr>
            </a:p>
          </p:txBody>
        </p:sp>
        <p:sp>
          <p:nvSpPr>
            <p:cNvPr id="241" name="object 206"/>
            <p:cNvSpPr/>
            <p:nvPr/>
          </p:nvSpPr>
          <p:spPr>
            <a:xfrm>
              <a:off x="6849108" y="3882981"/>
              <a:ext cx="168664" cy="571274"/>
            </a:xfrm>
            <a:custGeom>
              <a:avLst/>
              <a:gdLst/>
              <a:ahLst/>
              <a:cxnLst/>
              <a:rect l="l" t="t" r="r" b="b"/>
              <a:pathLst>
                <a:path w="173757" h="590410">
                  <a:moveTo>
                    <a:pt x="76977" y="0"/>
                  </a:moveTo>
                  <a:lnTo>
                    <a:pt x="37766" y="14648"/>
                  </a:lnTo>
                  <a:lnTo>
                    <a:pt x="10330" y="45204"/>
                  </a:lnTo>
                  <a:lnTo>
                    <a:pt x="0" y="86332"/>
                  </a:lnTo>
                  <a:lnTo>
                    <a:pt x="80" y="507850"/>
                  </a:lnTo>
                  <a:lnTo>
                    <a:pt x="11190" y="546178"/>
                  </a:lnTo>
                  <a:lnTo>
                    <a:pt x="38965" y="574901"/>
                  </a:lnTo>
                  <a:lnTo>
                    <a:pt x="80431" y="589478"/>
                  </a:lnTo>
                  <a:lnTo>
                    <a:pt x="96781" y="590410"/>
                  </a:lnTo>
                  <a:lnTo>
                    <a:pt x="110829" y="587626"/>
                  </a:lnTo>
                  <a:lnTo>
                    <a:pt x="146706" y="567086"/>
                  </a:lnTo>
                  <a:lnTo>
                    <a:pt x="169034" y="532412"/>
                  </a:lnTo>
                  <a:lnTo>
                    <a:pt x="173757" y="504076"/>
                  </a:lnTo>
                  <a:lnTo>
                    <a:pt x="173676" y="82559"/>
                  </a:lnTo>
                  <a:lnTo>
                    <a:pt x="162567" y="44235"/>
                  </a:lnTo>
                  <a:lnTo>
                    <a:pt x="134792" y="15511"/>
                  </a:lnTo>
                  <a:lnTo>
                    <a:pt x="93327" y="931"/>
                  </a:lnTo>
                  <a:lnTo>
                    <a:pt x="76977" y="0"/>
                  </a:lnTo>
                  <a:close/>
                </a:path>
              </a:pathLst>
            </a:custGeom>
            <a:solidFill>
              <a:srgbClr val="FFFFFF"/>
            </a:solidFill>
          </p:spPr>
          <p:txBody>
            <a:bodyPr wrap="square" lIns="0" tIns="0" rIns="0" bIns="0" rtlCol="0">
              <a:noAutofit/>
            </a:bodyPr>
            <a:lstStyle/>
            <a:p>
              <a:endParaRPr/>
            </a:p>
          </p:txBody>
        </p:sp>
        <p:sp>
          <p:nvSpPr>
            <p:cNvPr id="242" name="object 207"/>
            <p:cNvSpPr/>
            <p:nvPr/>
          </p:nvSpPr>
          <p:spPr>
            <a:xfrm>
              <a:off x="6849108" y="3882982"/>
              <a:ext cx="168665" cy="571274"/>
            </a:xfrm>
            <a:custGeom>
              <a:avLst/>
              <a:gdLst/>
              <a:ahLst/>
              <a:cxnLst/>
              <a:rect l="l" t="t" r="r" b="b"/>
              <a:pathLst>
                <a:path w="173758" h="590410">
                  <a:moveTo>
                    <a:pt x="0" y="86332"/>
                  </a:moveTo>
                  <a:lnTo>
                    <a:pt x="10330" y="45204"/>
                  </a:lnTo>
                  <a:lnTo>
                    <a:pt x="37766" y="14648"/>
                  </a:lnTo>
                  <a:lnTo>
                    <a:pt x="76977" y="0"/>
                  </a:lnTo>
                  <a:lnTo>
                    <a:pt x="93326" y="931"/>
                  </a:lnTo>
                  <a:lnTo>
                    <a:pt x="134792" y="15510"/>
                  </a:lnTo>
                  <a:lnTo>
                    <a:pt x="162568" y="44234"/>
                  </a:lnTo>
                  <a:lnTo>
                    <a:pt x="173678" y="82558"/>
                  </a:lnTo>
                  <a:lnTo>
                    <a:pt x="173758" y="504076"/>
                  </a:lnTo>
                  <a:lnTo>
                    <a:pt x="172545" y="518634"/>
                  </a:lnTo>
                  <a:lnTo>
                    <a:pt x="155918" y="556835"/>
                  </a:lnTo>
                  <a:lnTo>
                    <a:pt x="123965" y="582678"/>
                  </a:lnTo>
                  <a:lnTo>
                    <a:pt x="96781" y="590410"/>
                  </a:lnTo>
                  <a:lnTo>
                    <a:pt x="80432" y="589478"/>
                  </a:lnTo>
                  <a:lnTo>
                    <a:pt x="38966" y="574901"/>
                  </a:lnTo>
                  <a:lnTo>
                    <a:pt x="11190" y="546179"/>
                  </a:lnTo>
                  <a:lnTo>
                    <a:pt x="80" y="507851"/>
                  </a:lnTo>
                  <a:lnTo>
                    <a:pt x="0" y="86332"/>
                  </a:lnTo>
                  <a:close/>
                </a:path>
              </a:pathLst>
            </a:custGeom>
            <a:ln w="15716">
              <a:solidFill>
                <a:srgbClr val="000000"/>
              </a:solidFill>
            </a:ln>
          </p:spPr>
          <p:txBody>
            <a:bodyPr wrap="square" lIns="0" tIns="0" rIns="0" bIns="0" rtlCol="0">
              <a:noAutofit/>
            </a:bodyPr>
            <a:lstStyle/>
            <a:p>
              <a:endParaRPr/>
            </a:p>
          </p:txBody>
        </p:sp>
        <p:sp>
          <p:nvSpPr>
            <p:cNvPr id="243" name="object 208"/>
            <p:cNvSpPr txBox="1"/>
            <p:nvPr/>
          </p:nvSpPr>
          <p:spPr>
            <a:xfrm>
              <a:off x="6870607" y="4023520"/>
              <a:ext cx="115264" cy="410432"/>
            </a:xfrm>
            <a:prstGeom prst="rect">
              <a:avLst/>
            </a:prstGeom>
          </p:spPr>
          <p:txBody>
            <a:bodyPr vert="horz" wrap="square" lIns="0" tIns="0" rIns="0" bIns="0" rtlCol="0">
              <a:noAutofit/>
            </a:bodyPr>
            <a:lstStyle/>
            <a:p>
              <a:pPr marL="23495">
                <a:lnSpc>
                  <a:spcPct val="100000"/>
                </a:lnSpc>
              </a:pPr>
              <a:r>
                <a:rPr sz="700" spc="40" dirty="0" smtClean="0">
                  <a:latin typeface="Franklin Gothic Demi"/>
                  <a:cs typeface="Franklin Gothic Demi"/>
                </a:rPr>
                <a:t>M</a:t>
              </a:r>
              <a:endParaRPr sz="700">
                <a:latin typeface="Franklin Gothic Demi"/>
                <a:cs typeface="Franklin Gothic Demi"/>
              </a:endParaRPr>
            </a:p>
            <a:p>
              <a:pPr marL="39370" marR="27940">
                <a:lnSpc>
                  <a:spcPts val="730"/>
                </a:lnSpc>
                <a:spcBef>
                  <a:spcPts val="5"/>
                </a:spcBef>
              </a:pPr>
              <a:r>
                <a:rPr sz="700" spc="15" dirty="0" smtClean="0">
                  <a:latin typeface="Franklin Gothic Demi"/>
                  <a:cs typeface="Franklin Gothic Demi"/>
                </a:rPr>
                <a:t>u</a:t>
              </a:r>
              <a:r>
                <a:rPr sz="700" spc="5" dirty="0" smtClean="0">
                  <a:latin typeface="Franklin Gothic Demi"/>
                  <a:cs typeface="Franklin Gothic Demi"/>
                </a:rPr>
                <a:t> </a:t>
              </a:r>
              <a:r>
                <a:rPr sz="700" spc="45" dirty="0" smtClean="0">
                  <a:latin typeface="Franklin Gothic Demi"/>
                  <a:cs typeface="Franklin Gothic Demi"/>
                </a:rPr>
                <a:t>x</a:t>
              </a:r>
              <a:endParaRPr sz="700">
                <a:latin typeface="Franklin Gothic Demi"/>
                <a:cs typeface="Franklin Gothic Demi"/>
              </a:endParaRPr>
            </a:p>
            <a:p>
              <a:pPr marL="12700">
                <a:lnSpc>
                  <a:spcPct val="100000"/>
                </a:lnSpc>
                <a:spcBef>
                  <a:spcPts val="70"/>
                </a:spcBef>
              </a:pPr>
              <a:r>
                <a:rPr sz="700" spc="25" dirty="0" smtClean="0">
                  <a:latin typeface="Franklin Gothic Book"/>
                  <a:cs typeface="Franklin Gothic Book"/>
                </a:rPr>
                <a:t>1</a:t>
              </a:r>
              <a:endParaRPr sz="700">
                <a:latin typeface="Franklin Gothic Book"/>
                <a:cs typeface="Franklin Gothic Book"/>
              </a:endParaRPr>
            </a:p>
          </p:txBody>
        </p:sp>
        <p:sp>
          <p:nvSpPr>
            <p:cNvPr id="244" name="object 209"/>
            <p:cNvSpPr txBox="1"/>
            <p:nvPr/>
          </p:nvSpPr>
          <p:spPr>
            <a:xfrm>
              <a:off x="6870607" y="3911081"/>
              <a:ext cx="78897"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0</a:t>
              </a:r>
              <a:endParaRPr sz="700">
                <a:latin typeface="Franklin Gothic Book"/>
                <a:cs typeface="Franklin Gothic Book"/>
              </a:endParaRPr>
            </a:p>
          </p:txBody>
        </p:sp>
        <p:sp>
          <p:nvSpPr>
            <p:cNvPr id="245" name="object 210"/>
            <p:cNvSpPr/>
            <p:nvPr/>
          </p:nvSpPr>
          <p:spPr>
            <a:xfrm>
              <a:off x="1843785" y="3464335"/>
              <a:ext cx="4964759" cy="501362"/>
            </a:xfrm>
            <a:custGeom>
              <a:avLst/>
              <a:gdLst/>
              <a:ahLst/>
              <a:cxnLst/>
              <a:rect l="l" t="t" r="r" b="b"/>
              <a:pathLst>
                <a:path w="5114684" h="518156">
                  <a:moveTo>
                    <a:pt x="5114684" y="518156"/>
                  </a:moveTo>
                  <a:lnTo>
                    <a:pt x="4900863" y="518156"/>
                  </a:lnTo>
                  <a:lnTo>
                    <a:pt x="4900863" y="0"/>
                  </a:lnTo>
                  <a:lnTo>
                    <a:pt x="0" y="0"/>
                  </a:lnTo>
                  <a:lnTo>
                    <a:pt x="0" y="487135"/>
                  </a:lnTo>
                </a:path>
              </a:pathLst>
            </a:custGeom>
            <a:ln w="31432">
              <a:solidFill>
                <a:srgbClr val="000000"/>
              </a:solidFill>
            </a:ln>
          </p:spPr>
          <p:txBody>
            <a:bodyPr wrap="square" lIns="0" tIns="0" rIns="0" bIns="0" rtlCol="0">
              <a:noAutofit/>
            </a:bodyPr>
            <a:lstStyle/>
            <a:p>
              <a:endParaRPr/>
            </a:p>
          </p:txBody>
        </p:sp>
        <p:sp>
          <p:nvSpPr>
            <p:cNvPr id="246" name="object 211"/>
            <p:cNvSpPr/>
            <p:nvPr/>
          </p:nvSpPr>
          <p:spPr>
            <a:xfrm>
              <a:off x="2285264" y="3946232"/>
              <a:ext cx="848231" cy="1057812"/>
            </a:xfrm>
            <a:custGeom>
              <a:avLst/>
              <a:gdLst/>
              <a:ahLst/>
              <a:cxnLst/>
              <a:rect l="l" t="t" r="r" b="b"/>
              <a:pathLst>
                <a:path w="873846" h="1093245">
                  <a:moveTo>
                    <a:pt x="0" y="1093245"/>
                  </a:moveTo>
                  <a:lnTo>
                    <a:pt x="873846" y="1093245"/>
                  </a:lnTo>
                  <a:lnTo>
                    <a:pt x="873846" y="0"/>
                  </a:lnTo>
                  <a:lnTo>
                    <a:pt x="0" y="0"/>
                  </a:lnTo>
                  <a:lnTo>
                    <a:pt x="0" y="1093245"/>
                  </a:lnTo>
                  <a:close/>
                </a:path>
              </a:pathLst>
            </a:custGeom>
            <a:solidFill>
              <a:srgbClr val="FFFFFF"/>
            </a:solidFill>
          </p:spPr>
          <p:txBody>
            <a:bodyPr wrap="square" lIns="0" tIns="0" rIns="0" bIns="0" rtlCol="0">
              <a:noAutofit/>
            </a:bodyPr>
            <a:lstStyle/>
            <a:p>
              <a:endParaRPr/>
            </a:p>
          </p:txBody>
        </p:sp>
        <p:sp>
          <p:nvSpPr>
            <p:cNvPr id="247" name="object 212"/>
            <p:cNvSpPr/>
            <p:nvPr/>
          </p:nvSpPr>
          <p:spPr>
            <a:xfrm>
              <a:off x="2285264" y="3946233"/>
              <a:ext cx="848231" cy="1057812"/>
            </a:xfrm>
            <a:custGeom>
              <a:avLst/>
              <a:gdLst/>
              <a:ahLst/>
              <a:cxnLst/>
              <a:rect l="l" t="t" r="r" b="b"/>
              <a:pathLst>
                <a:path w="873846" h="1093245">
                  <a:moveTo>
                    <a:pt x="0" y="1093245"/>
                  </a:moveTo>
                  <a:lnTo>
                    <a:pt x="873846" y="1093245"/>
                  </a:lnTo>
                  <a:lnTo>
                    <a:pt x="873846" y="0"/>
                  </a:lnTo>
                  <a:lnTo>
                    <a:pt x="0" y="0"/>
                  </a:lnTo>
                  <a:lnTo>
                    <a:pt x="0" y="1093245"/>
                  </a:lnTo>
                  <a:close/>
                </a:path>
              </a:pathLst>
            </a:custGeom>
            <a:ln w="15716">
              <a:solidFill>
                <a:srgbClr val="000000"/>
              </a:solidFill>
            </a:ln>
          </p:spPr>
          <p:txBody>
            <a:bodyPr wrap="square" lIns="0" tIns="0" rIns="0" bIns="0" rtlCol="0">
              <a:noAutofit/>
            </a:bodyPr>
            <a:lstStyle/>
            <a:p>
              <a:endParaRPr/>
            </a:p>
          </p:txBody>
        </p:sp>
        <p:sp>
          <p:nvSpPr>
            <p:cNvPr id="248" name="object 213"/>
            <p:cNvSpPr/>
            <p:nvPr/>
          </p:nvSpPr>
          <p:spPr>
            <a:xfrm>
              <a:off x="1908713" y="3904670"/>
              <a:ext cx="62631" cy="62409"/>
            </a:xfrm>
            <a:custGeom>
              <a:avLst/>
              <a:gdLst/>
              <a:ahLst/>
              <a:cxnLst/>
              <a:rect l="l" t="t" r="r" b="b"/>
              <a:pathLst>
                <a:path w="64522" h="64499">
                  <a:moveTo>
                    <a:pt x="0" y="0"/>
                  </a:moveTo>
                  <a:lnTo>
                    <a:pt x="45" y="64499"/>
                  </a:lnTo>
                  <a:lnTo>
                    <a:pt x="64522" y="32198"/>
                  </a:lnTo>
                  <a:lnTo>
                    <a:pt x="0" y="0"/>
                  </a:lnTo>
                  <a:close/>
                </a:path>
              </a:pathLst>
            </a:custGeom>
            <a:solidFill>
              <a:srgbClr val="000000"/>
            </a:solidFill>
          </p:spPr>
          <p:txBody>
            <a:bodyPr wrap="square" lIns="0" tIns="0" rIns="0" bIns="0" rtlCol="0">
              <a:noAutofit/>
            </a:bodyPr>
            <a:lstStyle/>
            <a:p>
              <a:endParaRPr/>
            </a:p>
          </p:txBody>
        </p:sp>
        <p:sp>
          <p:nvSpPr>
            <p:cNvPr id="249" name="object 214"/>
            <p:cNvSpPr/>
            <p:nvPr/>
          </p:nvSpPr>
          <p:spPr>
            <a:xfrm>
              <a:off x="1910244" y="4308410"/>
              <a:ext cx="62619" cy="62409"/>
            </a:xfrm>
            <a:custGeom>
              <a:avLst/>
              <a:gdLst/>
              <a:ahLst/>
              <a:cxnLst/>
              <a:rect l="l" t="t" r="r" b="b"/>
              <a:pathLst>
                <a:path w="64510" h="64499">
                  <a:moveTo>
                    <a:pt x="0" y="0"/>
                  </a:moveTo>
                  <a:lnTo>
                    <a:pt x="34" y="64499"/>
                  </a:lnTo>
                  <a:lnTo>
                    <a:pt x="64510" y="32198"/>
                  </a:lnTo>
                  <a:lnTo>
                    <a:pt x="0" y="0"/>
                  </a:lnTo>
                  <a:close/>
                </a:path>
              </a:pathLst>
            </a:custGeom>
            <a:solidFill>
              <a:srgbClr val="000000"/>
            </a:solidFill>
          </p:spPr>
          <p:txBody>
            <a:bodyPr wrap="square" lIns="0" tIns="0" rIns="0" bIns="0" rtlCol="0">
              <a:noAutofit/>
            </a:bodyPr>
            <a:lstStyle/>
            <a:p>
              <a:endParaRPr/>
            </a:p>
          </p:txBody>
        </p:sp>
        <p:sp>
          <p:nvSpPr>
            <p:cNvPr id="250" name="object 215"/>
            <p:cNvSpPr/>
            <p:nvPr/>
          </p:nvSpPr>
          <p:spPr>
            <a:xfrm>
              <a:off x="2216687" y="4782865"/>
              <a:ext cx="62631" cy="62409"/>
            </a:xfrm>
            <a:custGeom>
              <a:avLst/>
              <a:gdLst/>
              <a:ahLst/>
              <a:cxnLst/>
              <a:rect l="l" t="t" r="r" b="b"/>
              <a:pathLst>
                <a:path w="64522" h="64499">
                  <a:moveTo>
                    <a:pt x="0" y="0"/>
                  </a:moveTo>
                  <a:lnTo>
                    <a:pt x="45" y="64499"/>
                  </a:lnTo>
                  <a:lnTo>
                    <a:pt x="64522" y="32198"/>
                  </a:lnTo>
                  <a:lnTo>
                    <a:pt x="0" y="0"/>
                  </a:lnTo>
                  <a:close/>
                </a:path>
              </a:pathLst>
            </a:custGeom>
            <a:solidFill>
              <a:srgbClr val="000000"/>
            </a:solidFill>
          </p:spPr>
          <p:txBody>
            <a:bodyPr wrap="square" lIns="0" tIns="0" rIns="0" bIns="0" rtlCol="0">
              <a:noAutofit/>
            </a:bodyPr>
            <a:lstStyle/>
            <a:p>
              <a:endParaRPr/>
            </a:p>
          </p:txBody>
        </p:sp>
        <p:sp>
          <p:nvSpPr>
            <p:cNvPr id="251" name="object 216"/>
            <p:cNvSpPr/>
            <p:nvPr/>
          </p:nvSpPr>
          <p:spPr>
            <a:xfrm>
              <a:off x="2216687" y="4107104"/>
              <a:ext cx="62631" cy="62419"/>
            </a:xfrm>
            <a:custGeom>
              <a:avLst/>
              <a:gdLst/>
              <a:ahLst/>
              <a:cxnLst/>
              <a:rect l="l" t="t" r="r" b="b"/>
              <a:pathLst>
                <a:path w="64522" h="64510">
                  <a:moveTo>
                    <a:pt x="0" y="0"/>
                  </a:moveTo>
                  <a:lnTo>
                    <a:pt x="45" y="64510"/>
                  </a:lnTo>
                  <a:lnTo>
                    <a:pt x="64522" y="32209"/>
                  </a:lnTo>
                  <a:lnTo>
                    <a:pt x="0" y="0"/>
                  </a:lnTo>
                  <a:close/>
                </a:path>
              </a:pathLst>
            </a:custGeom>
            <a:solidFill>
              <a:srgbClr val="000000"/>
            </a:solidFill>
          </p:spPr>
          <p:txBody>
            <a:bodyPr wrap="square" lIns="0" tIns="0" rIns="0" bIns="0" rtlCol="0">
              <a:noAutofit/>
            </a:bodyPr>
            <a:lstStyle/>
            <a:p>
              <a:endParaRPr/>
            </a:p>
          </p:txBody>
        </p:sp>
        <p:sp>
          <p:nvSpPr>
            <p:cNvPr id="252" name="object 217"/>
            <p:cNvSpPr/>
            <p:nvPr/>
          </p:nvSpPr>
          <p:spPr>
            <a:xfrm>
              <a:off x="3466456" y="4444685"/>
              <a:ext cx="62631" cy="62409"/>
            </a:xfrm>
            <a:custGeom>
              <a:avLst/>
              <a:gdLst/>
              <a:ahLst/>
              <a:cxnLst/>
              <a:rect l="l" t="t" r="r" b="b"/>
              <a:pathLst>
                <a:path w="64522" h="64499">
                  <a:moveTo>
                    <a:pt x="0" y="0"/>
                  </a:moveTo>
                  <a:lnTo>
                    <a:pt x="45" y="64499"/>
                  </a:lnTo>
                  <a:lnTo>
                    <a:pt x="64522" y="32209"/>
                  </a:lnTo>
                  <a:lnTo>
                    <a:pt x="0" y="0"/>
                  </a:lnTo>
                  <a:close/>
                </a:path>
              </a:pathLst>
            </a:custGeom>
            <a:solidFill>
              <a:srgbClr val="000000"/>
            </a:solidFill>
          </p:spPr>
          <p:txBody>
            <a:bodyPr wrap="square" lIns="0" tIns="0" rIns="0" bIns="0" rtlCol="0">
              <a:noAutofit/>
            </a:bodyPr>
            <a:lstStyle/>
            <a:p>
              <a:endParaRPr/>
            </a:p>
          </p:txBody>
        </p:sp>
        <p:sp>
          <p:nvSpPr>
            <p:cNvPr id="253" name="object 218"/>
            <p:cNvSpPr/>
            <p:nvPr/>
          </p:nvSpPr>
          <p:spPr>
            <a:xfrm>
              <a:off x="4693203" y="4445648"/>
              <a:ext cx="62631" cy="62398"/>
            </a:xfrm>
            <a:custGeom>
              <a:avLst/>
              <a:gdLst/>
              <a:ahLst/>
              <a:cxnLst/>
              <a:rect l="l" t="t" r="r" b="b"/>
              <a:pathLst>
                <a:path w="64522" h="64488">
                  <a:moveTo>
                    <a:pt x="0" y="0"/>
                  </a:moveTo>
                  <a:lnTo>
                    <a:pt x="45" y="64488"/>
                  </a:lnTo>
                  <a:lnTo>
                    <a:pt x="64522" y="32198"/>
                  </a:lnTo>
                  <a:lnTo>
                    <a:pt x="0" y="0"/>
                  </a:lnTo>
                  <a:close/>
                </a:path>
              </a:pathLst>
            </a:custGeom>
            <a:solidFill>
              <a:srgbClr val="000000"/>
            </a:solidFill>
          </p:spPr>
          <p:txBody>
            <a:bodyPr wrap="square" lIns="0" tIns="0" rIns="0" bIns="0" rtlCol="0">
              <a:noAutofit/>
            </a:bodyPr>
            <a:lstStyle/>
            <a:p>
              <a:endParaRPr/>
            </a:p>
          </p:txBody>
        </p:sp>
        <p:sp>
          <p:nvSpPr>
            <p:cNvPr id="254" name="object 219"/>
            <p:cNvSpPr/>
            <p:nvPr/>
          </p:nvSpPr>
          <p:spPr>
            <a:xfrm>
              <a:off x="5134471" y="4307581"/>
              <a:ext cx="62631" cy="62419"/>
            </a:xfrm>
            <a:custGeom>
              <a:avLst/>
              <a:gdLst/>
              <a:ahLst/>
              <a:cxnLst/>
              <a:rect l="l" t="t" r="r" b="b"/>
              <a:pathLst>
                <a:path w="64522" h="64510">
                  <a:moveTo>
                    <a:pt x="0" y="0"/>
                  </a:moveTo>
                  <a:lnTo>
                    <a:pt x="45" y="64510"/>
                  </a:lnTo>
                  <a:lnTo>
                    <a:pt x="64522" y="32209"/>
                  </a:lnTo>
                  <a:lnTo>
                    <a:pt x="0" y="0"/>
                  </a:lnTo>
                  <a:close/>
                </a:path>
              </a:pathLst>
            </a:custGeom>
            <a:solidFill>
              <a:srgbClr val="000000"/>
            </a:solidFill>
          </p:spPr>
          <p:txBody>
            <a:bodyPr wrap="square" lIns="0" tIns="0" rIns="0" bIns="0" rtlCol="0">
              <a:noAutofit/>
            </a:bodyPr>
            <a:lstStyle/>
            <a:p>
              <a:endParaRPr/>
            </a:p>
          </p:txBody>
        </p:sp>
        <p:sp>
          <p:nvSpPr>
            <p:cNvPr id="255" name="object 220"/>
            <p:cNvSpPr/>
            <p:nvPr/>
          </p:nvSpPr>
          <p:spPr>
            <a:xfrm>
              <a:off x="5134471" y="4579414"/>
              <a:ext cx="62631" cy="62409"/>
            </a:xfrm>
            <a:custGeom>
              <a:avLst/>
              <a:gdLst/>
              <a:ahLst/>
              <a:cxnLst/>
              <a:rect l="l" t="t" r="r" b="b"/>
              <a:pathLst>
                <a:path w="64522" h="64499">
                  <a:moveTo>
                    <a:pt x="0" y="0"/>
                  </a:moveTo>
                  <a:lnTo>
                    <a:pt x="45" y="64499"/>
                  </a:lnTo>
                  <a:lnTo>
                    <a:pt x="64522" y="32198"/>
                  </a:lnTo>
                  <a:lnTo>
                    <a:pt x="0" y="0"/>
                  </a:lnTo>
                  <a:close/>
                </a:path>
              </a:pathLst>
            </a:custGeom>
            <a:solidFill>
              <a:srgbClr val="000000"/>
            </a:solidFill>
          </p:spPr>
          <p:txBody>
            <a:bodyPr wrap="square" lIns="0" tIns="0" rIns="0" bIns="0" rtlCol="0">
              <a:noAutofit/>
            </a:bodyPr>
            <a:lstStyle/>
            <a:p>
              <a:endParaRPr/>
            </a:p>
          </p:txBody>
        </p:sp>
        <p:sp>
          <p:nvSpPr>
            <p:cNvPr id="256" name="object 221"/>
            <p:cNvSpPr/>
            <p:nvPr/>
          </p:nvSpPr>
          <p:spPr>
            <a:xfrm>
              <a:off x="5134471" y="4849332"/>
              <a:ext cx="62631" cy="62409"/>
            </a:xfrm>
            <a:custGeom>
              <a:avLst/>
              <a:gdLst/>
              <a:ahLst/>
              <a:cxnLst/>
              <a:rect l="l" t="t" r="r" b="b"/>
              <a:pathLst>
                <a:path w="64522" h="64499">
                  <a:moveTo>
                    <a:pt x="0" y="0"/>
                  </a:moveTo>
                  <a:lnTo>
                    <a:pt x="45" y="64499"/>
                  </a:lnTo>
                  <a:lnTo>
                    <a:pt x="64522" y="32209"/>
                  </a:lnTo>
                  <a:lnTo>
                    <a:pt x="0" y="0"/>
                  </a:lnTo>
                  <a:close/>
                </a:path>
              </a:pathLst>
            </a:custGeom>
            <a:solidFill>
              <a:srgbClr val="000000"/>
            </a:solidFill>
          </p:spPr>
          <p:txBody>
            <a:bodyPr wrap="square" lIns="0" tIns="0" rIns="0" bIns="0" rtlCol="0">
              <a:noAutofit/>
            </a:bodyPr>
            <a:lstStyle/>
            <a:p>
              <a:endParaRPr/>
            </a:p>
          </p:txBody>
        </p:sp>
        <p:sp>
          <p:nvSpPr>
            <p:cNvPr id="257" name="object 222"/>
            <p:cNvSpPr/>
            <p:nvPr/>
          </p:nvSpPr>
          <p:spPr>
            <a:xfrm>
              <a:off x="5132563" y="4038480"/>
              <a:ext cx="62630" cy="62409"/>
            </a:xfrm>
            <a:custGeom>
              <a:avLst/>
              <a:gdLst/>
              <a:ahLst/>
              <a:cxnLst/>
              <a:rect l="l" t="t" r="r" b="b"/>
              <a:pathLst>
                <a:path w="64521" h="64499">
                  <a:moveTo>
                    <a:pt x="0" y="0"/>
                  </a:moveTo>
                  <a:lnTo>
                    <a:pt x="45" y="64499"/>
                  </a:lnTo>
                  <a:lnTo>
                    <a:pt x="64521" y="32198"/>
                  </a:lnTo>
                  <a:lnTo>
                    <a:pt x="0" y="0"/>
                  </a:lnTo>
                  <a:close/>
                </a:path>
              </a:pathLst>
            </a:custGeom>
            <a:solidFill>
              <a:srgbClr val="000000"/>
            </a:solidFill>
          </p:spPr>
          <p:txBody>
            <a:bodyPr wrap="square" lIns="0" tIns="0" rIns="0" bIns="0" rtlCol="0">
              <a:noAutofit/>
            </a:bodyPr>
            <a:lstStyle/>
            <a:p>
              <a:endParaRPr/>
            </a:p>
          </p:txBody>
        </p:sp>
        <p:sp>
          <p:nvSpPr>
            <p:cNvPr id="258" name="object 223"/>
            <p:cNvSpPr/>
            <p:nvPr/>
          </p:nvSpPr>
          <p:spPr>
            <a:xfrm>
              <a:off x="4867726" y="3338688"/>
              <a:ext cx="62619" cy="62431"/>
            </a:xfrm>
            <a:custGeom>
              <a:avLst/>
              <a:gdLst/>
              <a:ahLst/>
              <a:cxnLst/>
              <a:rect l="l" t="t" r="r" b="b"/>
              <a:pathLst>
                <a:path w="64510" h="64522">
                  <a:moveTo>
                    <a:pt x="32209" y="0"/>
                  </a:moveTo>
                  <a:lnTo>
                    <a:pt x="0" y="64522"/>
                  </a:lnTo>
                  <a:lnTo>
                    <a:pt x="64510" y="64476"/>
                  </a:lnTo>
                  <a:lnTo>
                    <a:pt x="32209" y="0"/>
                  </a:lnTo>
                  <a:close/>
                </a:path>
              </a:pathLst>
            </a:custGeom>
            <a:solidFill>
              <a:srgbClr val="000000"/>
            </a:solidFill>
          </p:spPr>
          <p:txBody>
            <a:bodyPr wrap="square" lIns="0" tIns="0" rIns="0" bIns="0" rtlCol="0">
              <a:noAutofit/>
            </a:bodyPr>
            <a:lstStyle/>
            <a:p>
              <a:endParaRPr/>
            </a:p>
          </p:txBody>
        </p:sp>
        <p:sp>
          <p:nvSpPr>
            <p:cNvPr id="259" name="object 224"/>
            <p:cNvSpPr/>
            <p:nvPr/>
          </p:nvSpPr>
          <p:spPr>
            <a:xfrm>
              <a:off x="4693203" y="4822015"/>
              <a:ext cx="62631" cy="62419"/>
            </a:xfrm>
            <a:custGeom>
              <a:avLst/>
              <a:gdLst/>
              <a:ahLst/>
              <a:cxnLst/>
              <a:rect l="l" t="t" r="r" b="b"/>
              <a:pathLst>
                <a:path w="64522" h="64510">
                  <a:moveTo>
                    <a:pt x="0" y="0"/>
                  </a:moveTo>
                  <a:lnTo>
                    <a:pt x="45" y="64510"/>
                  </a:lnTo>
                  <a:lnTo>
                    <a:pt x="64522" y="32198"/>
                  </a:lnTo>
                  <a:lnTo>
                    <a:pt x="0" y="0"/>
                  </a:lnTo>
                  <a:close/>
                </a:path>
              </a:pathLst>
            </a:custGeom>
            <a:solidFill>
              <a:srgbClr val="000000"/>
            </a:solidFill>
          </p:spPr>
          <p:txBody>
            <a:bodyPr wrap="square" lIns="0" tIns="0" rIns="0" bIns="0" rtlCol="0">
              <a:noAutofit/>
            </a:bodyPr>
            <a:lstStyle/>
            <a:p>
              <a:endParaRPr/>
            </a:p>
          </p:txBody>
        </p:sp>
        <p:sp>
          <p:nvSpPr>
            <p:cNvPr id="260" name="object 225"/>
            <p:cNvSpPr/>
            <p:nvPr/>
          </p:nvSpPr>
          <p:spPr>
            <a:xfrm>
              <a:off x="4759373" y="5440741"/>
              <a:ext cx="62631" cy="62419"/>
            </a:xfrm>
            <a:custGeom>
              <a:avLst/>
              <a:gdLst/>
              <a:ahLst/>
              <a:cxnLst/>
              <a:rect l="l" t="t" r="r" b="b"/>
              <a:pathLst>
                <a:path w="64522" h="64510">
                  <a:moveTo>
                    <a:pt x="0" y="0"/>
                  </a:moveTo>
                  <a:lnTo>
                    <a:pt x="45" y="64510"/>
                  </a:lnTo>
                  <a:lnTo>
                    <a:pt x="64522" y="32209"/>
                  </a:lnTo>
                  <a:lnTo>
                    <a:pt x="0" y="0"/>
                  </a:lnTo>
                  <a:close/>
                </a:path>
              </a:pathLst>
            </a:custGeom>
            <a:solidFill>
              <a:srgbClr val="000000"/>
            </a:solidFill>
          </p:spPr>
          <p:txBody>
            <a:bodyPr wrap="square" lIns="0" tIns="0" rIns="0" bIns="0" rtlCol="0">
              <a:noAutofit/>
            </a:bodyPr>
            <a:lstStyle/>
            <a:p>
              <a:endParaRPr/>
            </a:p>
          </p:txBody>
        </p:sp>
        <p:sp>
          <p:nvSpPr>
            <p:cNvPr id="261" name="object 226"/>
            <p:cNvSpPr/>
            <p:nvPr/>
          </p:nvSpPr>
          <p:spPr>
            <a:xfrm>
              <a:off x="5239286" y="5645409"/>
              <a:ext cx="62631" cy="62409"/>
            </a:xfrm>
            <a:custGeom>
              <a:avLst/>
              <a:gdLst/>
              <a:ahLst/>
              <a:cxnLst/>
              <a:rect l="l" t="t" r="r" b="b"/>
              <a:pathLst>
                <a:path w="64522" h="64499">
                  <a:moveTo>
                    <a:pt x="0" y="0"/>
                  </a:moveTo>
                  <a:lnTo>
                    <a:pt x="57" y="64499"/>
                  </a:lnTo>
                  <a:lnTo>
                    <a:pt x="64522" y="32198"/>
                  </a:lnTo>
                  <a:lnTo>
                    <a:pt x="0" y="0"/>
                  </a:lnTo>
                  <a:close/>
                </a:path>
              </a:pathLst>
            </a:custGeom>
            <a:solidFill>
              <a:srgbClr val="000000"/>
            </a:solidFill>
          </p:spPr>
          <p:txBody>
            <a:bodyPr wrap="square" lIns="0" tIns="0" rIns="0" bIns="0" rtlCol="0">
              <a:noAutofit/>
            </a:bodyPr>
            <a:lstStyle/>
            <a:p>
              <a:endParaRPr/>
            </a:p>
          </p:txBody>
        </p:sp>
        <p:sp>
          <p:nvSpPr>
            <p:cNvPr id="262" name="object 227"/>
            <p:cNvSpPr/>
            <p:nvPr/>
          </p:nvSpPr>
          <p:spPr>
            <a:xfrm>
              <a:off x="5879131" y="5645409"/>
              <a:ext cx="62640" cy="62409"/>
            </a:xfrm>
            <a:custGeom>
              <a:avLst/>
              <a:gdLst/>
              <a:ahLst/>
              <a:cxnLst/>
              <a:rect l="l" t="t" r="r" b="b"/>
              <a:pathLst>
                <a:path w="64532" h="64499">
                  <a:moveTo>
                    <a:pt x="0" y="0"/>
                  </a:moveTo>
                  <a:lnTo>
                    <a:pt x="45" y="64499"/>
                  </a:lnTo>
                  <a:lnTo>
                    <a:pt x="64532" y="32198"/>
                  </a:lnTo>
                  <a:lnTo>
                    <a:pt x="0" y="0"/>
                  </a:lnTo>
                  <a:close/>
                </a:path>
              </a:pathLst>
            </a:custGeom>
            <a:solidFill>
              <a:srgbClr val="000000"/>
            </a:solidFill>
          </p:spPr>
          <p:txBody>
            <a:bodyPr wrap="square" lIns="0" tIns="0" rIns="0" bIns="0" rtlCol="0">
              <a:noAutofit/>
            </a:bodyPr>
            <a:lstStyle/>
            <a:p>
              <a:endParaRPr/>
            </a:p>
          </p:txBody>
        </p:sp>
        <p:sp>
          <p:nvSpPr>
            <p:cNvPr id="263" name="object 228"/>
            <p:cNvSpPr/>
            <p:nvPr/>
          </p:nvSpPr>
          <p:spPr>
            <a:xfrm>
              <a:off x="4762424" y="5028254"/>
              <a:ext cx="62631" cy="62419"/>
            </a:xfrm>
            <a:custGeom>
              <a:avLst/>
              <a:gdLst/>
              <a:ahLst/>
              <a:cxnLst/>
              <a:rect l="l" t="t" r="r" b="b"/>
              <a:pathLst>
                <a:path w="64522" h="64510">
                  <a:moveTo>
                    <a:pt x="0" y="0"/>
                  </a:moveTo>
                  <a:lnTo>
                    <a:pt x="45" y="64510"/>
                  </a:lnTo>
                  <a:lnTo>
                    <a:pt x="64522" y="32209"/>
                  </a:lnTo>
                  <a:lnTo>
                    <a:pt x="0" y="0"/>
                  </a:lnTo>
                  <a:close/>
                </a:path>
              </a:pathLst>
            </a:custGeom>
            <a:solidFill>
              <a:srgbClr val="000000"/>
            </a:solidFill>
          </p:spPr>
          <p:txBody>
            <a:bodyPr wrap="square" lIns="0" tIns="0" rIns="0" bIns="0" rtlCol="0">
              <a:noAutofit/>
            </a:bodyPr>
            <a:lstStyle/>
            <a:p>
              <a:endParaRPr/>
            </a:p>
          </p:txBody>
        </p:sp>
        <p:sp>
          <p:nvSpPr>
            <p:cNvPr id="264" name="object 229"/>
            <p:cNvSpPr/>
            <p:nvPr/>
          </p:nvSpPr>
          <p:spPr>
            <a:xfrm>
              <a:off x="3542101" y="5419772"/>
              <a:ext cx="62631" cy="62409"/>
            </a:xfrm>
            <a:custGeom>
              <a:avLst/>
              <a:gdLst/>
              <a:ahLst/>
              <a:cxnLst/>
              <a:rect l="l" t="t" r="r" b="b"/>
              <a:pathLst>
                <a:path w="64522" h="64499">
                  <a:moveTo>
                    <a:pt x="0" y="0"/>
                  </a:moveTo>
                  <a:lnTo>
                    <a:pt x="45" y="64499"/>
                  </a:lnTo>
                  <a:lnTo>
                    <a:pt x="64522" y="32209"/>
                  </a:lnTo>
                  <a:lnTo>
                    <a:pt x="0" y="0"/>
                  </a:lnTo>
                  <a:close/>
                </a:path>
              </a:pathLst>
            </a:custGeom>
            <a:solidFill>
              <a:srgbClr val="000000"/>
            </a:solidFill>
          </p:spPr>
          <p:txBody>
            <a:bodyPr wrap="square" lIns="0" tIns="0" rIns="0" bIns="0" rtlCol="0">
              <a:noAutofit/>
            </a:bodyPr>
            <a:lstStyle/>
            <a:p>
              <a:endParaRPr/>
            </a:p>
          </p:txBody>
        </p:sp>
        <p:sp>
          <p:nvSpPr>
            <p:cNvPr id="265" name="object 230"/>
            <p:cNvSpPr/>
            <p:nvPr/>
          </p:nvSpPr>
          <p:spPr>
            <a:xfrm>
              <a:off x="1503059" y="3905411"/>
              <a:ext cx="62631" cy="62419"/>
            </a:xfrm>
            <a:custGeom>
              <a:avLst/>
              <a:gdLst/>
              <a:ahLst/>
              <a:cxnLst/>
              <a:rect l="l" t="t" r="r" b="b"/>
              <a:pathLst>
                <a:path w="64522" h="64510">
                  <a:moveTo>
                    <a:pt x="0" y="0"/>
                  </a:moveTo>
                  <a:lnTo>
                    <a:pt x="45" y="64510"/>
                  </a:lnTo>
                  <a:lnTo>
                    <a:pt x="64522" y="32198"/>
                  </a:lnTo>
                  <a:lnTo>
                    <a:pt x="0" y="0"/>
                  </a:lnTo>
                  <a:close/>
                </a:path>
              </a:pathLst>
            </a:custGeom>
            <a:solidFill>
              <a:srgbClr val="000000"/>
            </a:solidFill>
          </p:spPr>
          <p:txBody>
            <a:bodyPr wrap="square" lIns="0" tIns="0" rIns="0" bIns="0" rtlCol="0">
              <a:noAutofit/>
            </a:bodyPr>
            <a:lstStyle/>
            <a:p>
              <a:endParaRPr/>
            </a:p>
          </p:txBody>
        </p:sp>
        <p:sp>
          <p:nvSpPr>
            <p:cNvPr id="266" name="object 231"/>
            <p:cNvSpPr/>
            <p:nvPr/>
          </p:nvSpPr>
          <p:spPr>
            <a:xfrm>
              <a:off x="1813927" y="3904535"/>
              <a:ext cx="60073" cy="62356"/>
            </a:xfrm>
            <a:custGeom>
              <a:avLst/>
              <a:gdLst/>
              <a:ahLst/>
              <a:cxnLst/>
              <a:rect l="l" t="t" r="r" b="b"/>
              <a:pathLst>
                <a:path w="61887" h="64445">
                  <a:moveTo>
                    <a:pt x="32630" y="0"/>
                  </a:moveTo>
                  <a:lnTo>
                    <a:pt x="18001" y="2913"/>
                  </a:lnTo>
                  <a:lnTo>
                    <a:pt x="6761" y="10862"/>
                  </a:lnTo>
                  <a:lnTo>
                    <a:pt x="0" y="22529"/>
                  </a:lnTo>
                  <a:lnTo>
                    <a:pt x="1444" y="39786"/>
                  </a:lnTo>
                  <a:lnTo>
                    <a:pt x="7222" y="52577"/>
                  </a:lnTo>
                  <a:lnTo>
                    <a:pt x="16341" y="60789"/>
                  </a:lnTo>
                  <a:lnTo>
                    <a:pt x="27812" y="64311"/>
                  </a:lnTo>
                  <a:lnTo>
                    <a:pt x="30759" y="64445"/>
                  </a:lnTo>
                  <a:lnTo>
                    <a:pt x="44612" y="61325"/>
                  </a:lnTo>
                  <a:lnTo>
                    <a:pt x="55466" y="52921"/>
                  </a:lnTo>
                  <a:lnTo>
                    <a:pt x="61887" y="40669"/>
                  </a:lnTo>
                  <a:lnTo>
                    <a:pt x="60156" y="23753"/>
                  </a:lnTo>
                  <a:lnTo>
                    <a:pt x="54017" y="11191"/>
                  </a:lnTo>
                  <a:lnTo>
                    <a:pt x="44499" y="3201"/>
                  </a:lnTo>
                  <a:lnTo>
                    <a:pt x="32630" y="0"/>
                  </a:lnTo>
                  <a:close/>
                </a:path>
              </a:pathLst>
            </a:custGeom>
            <a:solidFill>
              <a:srgbClr val="000000"/>
            </a:solidFill>
          </p:spPr>
          <p:txBody>
            <a:bodyPr wrap="square" lIns="0" tIns="0" rIns="0" bIns="0" rtlCol="0">
              <a:noAutofit/>
            </a:bodyPr>
            <a:lstStyle/>
            <a:p>
              <a:endParaRPr/>
            </a:p>
          </p:txBody>
        </p:sp>
        <p:sp>
          <p:nvSpPr>
            <p:cNvPr id="267" name="object 232"/>
            <p:cNvSpPr/>
            <p:nvPr/>
          </p:nvSpPr>
          <p:spPr>
            <a:xfrm>
              <a:off x="4268487" y="3588176"/>
              <a:ext cx="60076" cy="62357"/>
            </a:xfrm>
            <a:custGeom>
              <a:avLst/>
              <a:gdLst/>
              <a:ahLst/>
              <a:cxnLst/>
              <a:rect l="l" t="t" r="r" b="b"/>
              <a:pathLst>
                <a:path w="61890" h="64446">
                  <a:moveTo>
                    <a:pt x="32627" y="0"/>
                  </a:moveTo>
                  <a:lnTo>
                    <a:pt x="18004" y="2914"/>
                  </a:lnTo>
                  <a:lnTo>
                    <a:pt x="6763" y="10864"/>
                  </a:lnTo>
                  <a:lnTo>
                    <a:pt x="0" y="22532"/>
                  </a:lnTo>
                  <a:lnTo>
                    <a:pt x="1445" y="39786"/>
                  </a:lnTo>
                  <a:lnTo>
                    <a:pt x="7225" y="52576"/>
                  </a:lnTo>
                  <a:lnTo>
                    <a:pt x="16346" y="60788"/>
                  </a:lnTo>
                  <a:lnTo>
                    <a:pt x="27818" y="64311"/>
                  </a:lnTo>
                  <a:lnTo>
                    <a:pt x="30770" y="64446"/>
                  </a:lnTo>
                  <a:lnTo>
                    <a:pt x="44623" y="61325"/>
                  </a:lnTo>
                  <a:lnTo>
                    <a:pt x="55474" y="52918"/>
                  </a:lnTo>
                  <a:lnTo>
                    <a:pt x="61890" y="40663"/>
                  </a:lnTo>
                  <a:lnTo>
                    <a:pt x="60157" y="23747"/>
                  </a:lnTo>
                  <a:lnTo>
                    <a:pt x="54018" y="11186"/>
                  </a:lnTo>
                  <a:lnTo>
                    <a:pt x="44499" y="3197"/>
                  </a:lnTo>
                  <a:lnTo>
                    <a:pt x="32627" y="0"/>
                  </a:lnTo>
                  <a:close/>
                </a:path>
              </a:pathLst>
            </a:custGeom>
            <a:solidFill>
              <a:srgbClr val="000000"/>
            </a:solidFill>
          </p:spPr>
          <p:txBody>
            <a:bodyPr wrap="square" lIns="0" tIns="0" rIns="0" bIns="0" rtlCol="0">
              <a:noAutofit/>
            </a:bodyPr>
            <a:lstStyle/>
            <a:p>
              <a:endParaRPr/>
            </a:p>
          </p:txBody>
        </p:sp>
        <p:sp>
          <p:nvSpPr>
            <p:cNvPr id="268" name="object 233"/>
            <p:cNvSpPr/>
            <p:nvPr/>
          </p:nvSpPr>
          <p:spPr>
            <a:xfrm>
              <a:off x="4342860" y="3588177"/>
              <a:ext cx="60081" cy="62356"/>
            </a:xfrm>
            <a:custGeom>
              <a:avLst/>
              <a:gdLst/>
              <a:ahLst/>
              <a:cxnLst/>
              <a:rect l="l" t="t" r="r" b="b"/>
              <a:pathLst>
                <a:path w="61895" h="64445">
                  <a:moveTo>
                    <a:pt x="32638" y="0"/>
                  </a:moveTo>
                  <a:lnTo>
                    <a:pt x="18010" y="2912"/>
                  </a:lnTo>
                  <a:lnTo>
                    <a:pt x="6766" y="10859"/>
                  </a:lnTo>
                  <a:lnTo>
                    <a:pt x="0" y="22522"/>
                  </a:lnTo>
                  <a:lnTo>
                    <a:pt x="1443" y="39779"/>
                  </a:lnTo>
                  <a:lnTo>
                    <a:pt x="7220" y="52570"/>
                  </a:lnTo>
                  <a:lnTo>
                    <a:pt x="16338" y="60784"/>
                  </a:lnTo>
                  <a:lnTo>
                    <a:pt x="27807" y="64309"/>
                  </a:lnTo>
                  <a:lnTo>
                    <a:pt x="30767" y="64445"/>
                  </a:lnTo>
                  <a:lnTo>
                    <a:pt x="44620" y="61325"/>
                  </a:lnTo>
                  <a:lnTo>
                    <a:pt x="55475" y="52921"/>
                  </a:lnTo>
                  <a:lnTo>
                    <a:pt x="61895" y="40669"/>
                  </a:lnTo>
                  <a:lnTo>
                    <a:pt x="60164" y="23753"/>
                  </a:lnTo>
                  <a:lnTo>
                    <a:pt x="54026" y="11191"/>
                  </a:lnTo>
                  <a:lnTo>
                    <a:pt x="44507" y="3201"/>
                  </a:lnTo>
                  <a:lnTo>
                    <a:pt x="32638" y="0"/>
                  </a:lnTo>
                  <a:close/>
                </a:path>
              </a:pathLst>
            </a:custGeom>
            <a:solidFill>
              <a:srgbClr val="000000"/>
            </a:solidFill>
          </p:spPr>
          <p:txBody>
            <a:bodyPr wrap="square" lIns="0" tIns="0" rIns="0" bIns="0" rtlCol="0">
              <a:noAutofit/>
            </a:bodyPr>
            <a:lstStyle/>
            <a:p>
              <a:endParaRPr/>
            </a:p>
          </p:txBody>
        </p:sp>
        <p:sp>
          <p:nvSpPr>
            <p:cNvPr id="269" name="object 234"/>
            <p:cNvSpPr/>
            <p:nvPr/>
          </p:nvSpPr>
          <p:spPr>
            <a:xfrm>
              <a:off x="4345500" y="4036033"/>
              <a:ext cx="60073" cy="62356"/>
            </a:xfrm>
            <a:custGeom>
              <a:avLst/>
              <a:gdLst/>
              <a:ahLst/>
              <a:cxnLst/>
              <a:rect l="l" t="t" r="r" b="b"/>
              <a:pathLst>
                <a:path w="61887" h="64445">
                  <a:moveTo>
                    <a:pt x="32629" y="0"/>
                  </a:moveTo>
                  <a:lnTo>
                    <a:pt x="18002" y="2912"/>
                  </a:lnTo>
                  <a:lnTo>
                    <a:pt x="6762" y="10860"/>
                  </a:lnTo>
                  <a:lnTo>
                    <a:pt x="0" y="22528"/>
                  </a:lnTo>
                  <a:lnTo>
                    <a:pt x="1443" y="39789"/>
                  </a:lnTo>
                  <a:lnTo>
                    <a:pt x="7219" y="52580"/>
                  </a:lnTo>
                  <a:lnTo>
                    <a:pt x="16337" y="60790"/>
                  </a:lnTo>
                  <a:lnTo>
                    <a:pt x="27807" y="64310"/>
                  </a:lnTo>
                  <a:lnTo>
                    <a:pt x="30756" y="64445"/>
                  </a:lnTo>
                  <a:lnTo>
                    <a:pt x="44612" y="61326"/>
                  </a:lnTo>
                  <a:lnTo>
                    <a:pt x="55467" y="52924"/>
                  </a:lnTo>
                  <a:lnTo>
                    <a:pt x="61887" y="40672"/>
                  </a:lnTo>
                  <a:lnTo>
                    <a:pt x="60155" y="23755"/>
                  </a:lnTo>
                  <a:lnTo>
                    <a:pt x="54016" y="11192"/>
                  </a:lnTo>
                  <a:lnTo>
                    <a:pt x="44498" y="3201"/>
                  </a:lnTo>
                  <a:lnTo>
                    <a:pt x="32629" y="0"/>
                  </a:lnTo>
                  <a:close/>
                </a:path>
              </a:pathLst>
            </a:custGeom>
            <a:solidFill>
              <a:srgbClr val="000000"/>
            </a:solidFill>
          </p:spPr>
          <p:txBody>
            <a:bodyPr wrap="square" lIns="0" tIns="0" rIns="0" bIns="0" rtlCol="0">
              <a:noAutofit/>
            </a:bodyPr>
            <a:lstStyle/>
            <a:p>
              <a:endParaRPr/>
            </a:p>
          </p:txBody>
        </p:sp>
        <p:sp>
          <p:nvSpPr>
            <p:cNvPr id="270" name="object 235"/>
            <p:cNvSpPr/>
            <p:nvPr/>
          </p:nvSpPr>
          <p:spPr>
            <a:xfrm>
              <a:off x="4271128" y="4305963"/>
              <a:ext cx="60072" cy="62356"/>
            </a:xfrm>
            <a:custGeom>
              <a:avLst/>
              <a:gdLst/>
              <a:ahLst/>
              <a:cxnLst/>
              <a:rect l="l" t="t" r="r" b="b"/>
              <a:pathLst>
                <a:path w="61886" h="64445">
                  <a:moveTo>
                    <a:pt x="32632" y="0"/>
                  </a:moveTo>
                  <a:lnTo>
                    <a:pt x="18002" y="2914"/>
                  </a:lnTo>
                  <a:lnTo>
                    <a:pt x="6762" y="10866"/>
                  </a:lnTo>
                  <a:lnTo>
                    <a:pt x="0" y="22532"/>
                  </a:lnTo>
                  <a:lnTo>
                    <a:pt x="1444" y="39792"/>
                  </a:lnTo>
                  <a:lnTo>
                    <a:pt x="7222" y="52582"/>
                  </a:lnTo>
                  <a:lnTo>
                    <a:pt x="16341" y="60792"/>
                  </a:lnTo>
                  <a:lnTo>
                    <a:pt x="27813" y="64311"/>
                  </a:lnTo>
                  <a:lnTo>
                    <a:pt x="30758" y="64445"/>
                  </a:lnTo>
                  <a:lnTo>
                    <a:pt x="44611" y="61327"/>
                  </a:lnTo>
                  <a:lnTo>
                    <a:pt x="55466" y="52925"/>
                  </a:lnTo>
                  <a:lnTo>
                    <a:pt x="61886" y="40673"/>
                  </a:lnTo>
                  <a:lnTo>
                    <a:pt x="60156" y="23761"/>
                  </a:lnTo>
                  <a:lnTo>
                    <a:pt x="54018" y="11197"/>
                  </a:lnTo>
                  <a:lnTo>
                    <a:pt x="44501" y="3204"/>
                  </a:lnTo>
                  <a:lnTo>
                    <a:pt x="32632" y="0"/>
                  </a:lnTo>
                  <a:close/>
                </a:path>
              </a:pathLst>
            </a:custGeom>
            <a:solidFill>
              <a:srgbClr val="000000"/>
            </a:solidFill>
          </p:spPr>
          <p:txBody>
            <a:bodyPr wrap="square" lIns="0" tIns="0" rIns="0" bIns="0" rtlCol="0">
              <a:noAutofit/>
            </a:bodyPr>
            <a:lstStyle/>
            <a:p>
              <a:endParaRPr/>
            </a:p>
          </p:txBody>
        </p:sp>
        <p:sp>
          <p:nvSpPr>
            <p:cNvPr id="271" name="object 236"/>
            <p:cNvSpPr/>
            <p:nvPr/>
          </p:nvSpPr>
          <p:spPr>
            <a:xfrm>
              <a:off x="4511401" y="4312609"/>
              <a:ext cx="60077" cy="62357"/>
            </a:xfrm>
            <a:custGeom>
              <a:avLst/>
              <a:gdLst/>
              <a:ahLst/>
              <a:cxnLst/>
              <a:rect l="l" t="t" r="r" b="b"/>
              <a:pathLst>
                <a:path w="61891" h="64446">
                  <a:moveTo>
                    <a:pt x="32624" y="0"/>
                  </a:moveTo>
                  <a:lnTo>
                    <a:pt x="17999" y="2913"/>
                  </a:lnTo>
                  <a:lnTo>
                    <a:pt x="6761" y="10863"/>
                  </a:lnTo>
                  <a:lnTo>
                    <a:pt x="0" y="22533"/>
                  </a:lnTo>
                  <a:lnTo>
                    <a:pt x="1444" y="39787"/>
                  </a:lnTo>
                  <a:lnTo>
                    <a:pt x="7220" y="52576"/>
                  </a:lnTo>
                  <a:lnTo>
                    <a:pt x="16341" y="60788"/>
                  </a:lnTo>
                  <a:lnTo>
                    <a:pt x="27815" y="64311"/>
                  </a:lnTo>
                  <a:lnTo>
                    <a:pt x="30769" y="64446"/>
                  </a:lnTo>
                  <a:lnTo>
                    <a:pt x="44624" y="61324"/>
                  </a:lnTo>
                  <a:lnTo>
                    <a:pt x="55476" y="52916"/>
                  </a:lnTo>
                  <a:lnTo>
                    <a:pt x="61891" y="40662"/>
                  </a:lnTo>
                  <a:lnTo>
                    <a:pt x="60157" y="23746"/>
                  </a:lnTo>
                  <a:lnTo>
                    <a:pt x="54017" y="11185"/>
                  </a:lnTo>
                  <a:lnTo>
                    <a:pt x="44498" y="3196"/>
                  </a:lnTo>
                  <a:lnTo>
                    <a:pt x="32624" y="0"/>
                  </a:lnTo>
                  <a:close/>
                </a:path>
              </a:pathLst>
            </a:custGeom>
            <a:solidFill>
              <a:srgbClr val="000000"/>
            </a:solidFill>
          </p:spPr>
          <p:txBody>
            <a:bodyPr wrap="square" lIns="0" tIns="0" rIns="0" bIns="0" rtlCol="0">
              <a:noAutofit/>
            </a:bodyPr>
            <a:lstStyle/>
            <a:p>
              <a:endParaRPr/>
            </a:p>
          </p:txBody>
        </p:sp>
        <p:sp>
          <p:nvSpPr>
            <p:cNvPr id="272" name="object 237"/>
            <p:cNvSpPr/>
            <p:nvPr/>
          </p:nvSpPr>
          <p:spPr>
            <a:xfrm>
              <a:off x="4208197" y="4570187"/>
              <a:ext cx="60073" cy="62356"/>
            </a:xfrm>
            <a:custGeom>
              <a:avLst/>
              <a:gdLst/>
              <a:ahLst/>
              <a:cxnLst/>
              <a:rect l="l" t="t" r="r" b="b"/>
              <a:pathLst>
                <a:path w="61887" h="64445">
                  <a:moveTo>
                    <a:pt x="32630" y="0"/>
                  </a:moveTo>
                  <a:lnTo>
                    <a:pt x="18001" y="2913"/>
                  </a:lnTo>
                  <a:lnTo>
                    <a:pt x="6761" y="10862"/>
                  </a:lnTo>
                  <a:lnTo>
                    <a:pt x="0" y="22529"/>
                  </a:lnTo>
                  <a:lnTo>
                    <a:pt x="1444" y="39786"/>
                  </a:lnTo>
                  <a:lnTo>
                    <a:pt x="7222" y="52577"/>
                  </a:lnTo>
                  <a:lnTo>
                    <a:pt x="16341" y="60789"/>
                  </a:lnTo>
                  <a:lnTo>
                    <a:pt x="27812" y="64311"/>
                  </a:lnTo>
                  <a:lnTo>
                    <a:pt x="30759" y="64445"/>
                  </a:lnTo>
                  <a:lnTo>
                    <a:pt x="44612" y="61325"/>
                  </a:lnTo>
                  <a:lnTo>
                    <a:pt x="55466" y="52921"/>
                  </a:lnTo>
                  <a:lnTo>
                    <a:pt x="61887" y="40669"/>
                  </a:lnTo>
                  <a:lnTo>
                    <a:pt x="60156" y="23753"/>
                  </a:lnTo>
                  <a:lnTo>
                    <a:pt x="54017" y="11191"/>
                  </a:lnTo>
                  <a:lnTo>
                    <a:pt x="44499" y="3201"/>
                  </a:lnTo>
                  <a:lnTo>
                    <a:pt x="32630" y="0"/>
                  </a:lnTo>
                  <a:close/>
                </a:path>
              </a:pathLst>
            </a:custGeom>
            <a:solidFill>
              <a:srgbClr val="000000"/>
            </a:solidFill>
          </p:spPr>
          <p:txBody>
            <a:bodyPr wrap="square" lIns="0" tIns="0" rIns="0" bIns="0" rtlCol="0">
              <a:noAutofit/>
            </a:bodyPr>
            <a:lstStyle/>
            <a:p>
              <a:endParaRPr/>
            </a:p>
          </p:txBody>
        </p:sp>
        <p:sp>
          <p:nvSpPr>
            <p:cNvPr id="273" name="object 238"/>
            <p:cNvSpPr/>
            <p:nvPr/>
          </p:nvSpPr>
          <p:spPr>
            <a:xfrm>
              <a:off x="4210650" y="4824390"/>
              <a:ext cx="60072" cy="62356"/>
            </a:xfrm>
            <a:custGeom>
              <a:avLst/>
              <a:gdLst/>
              <a:ahLst/>
              <a:cxnLst/>
              <a:rect l="l" t="t" r="r" b="b"/>
              <a:pathLst>
                <a:path w="61886" h="64445">
                  <a:moveTo>
                    <a:pt x="32632" y="0"/>
                  </a:moveTo>
                  <a:lnTo>
                    <a:pt x="18002" y="2913"/>
                  </a:lnTo>
                  <a:lnTo>
                    <a:pt x="6762" y="10861"/>
                  </a:lnTo>
                  <a:lnTo>
                    <a:pt x="0" y="22527"/>
                  </a:lnTo>
                  <a:lnTo>
                    <a:pt x="1444" y="39789"/>
                  </a:lnTo>
                  <a:lnTo>
                    <a:pt x="7221" y="52580"/>
                  </a:lnTo>
                  <a:lnTo>
                    <a:pt x="16339" y="60790"/>
                  </a:lnTo>
                  <a:lnTo>
                    <a:pt x="27810" y="64310"/>
                  </a:lnTo>
                  <a:lnTo>
                    <a:pt x="30758" y="64445"/>
                  </a:lnTo>
                  <a:lnTo>
                    <a:pt x="44611" y="61327"/>
                  </a:lnTo>
                  <a:lnTo>
                    <a:pt x="55466" y="52926"/>
                  </a:lnTo>
                  <a:lnTo>
                    <a:pt x="61886" y="40673"/>
                  </a:lnTo>
                  <a:lnTo>
                    <a:pt x="60156" y="23756"/>
                  </a:lnTo>
                  <a:lnTo>
                    <a:pt x="54018" y="11193"/>
                  </a:lnTo>
                  <a:lnTo>
                    <a:pt x="44501" y="3202"/>
                  </a:lnTo>
                  <a:lnTo>
                    <a:pt x="32632" y="0"/>
                  </a:lnTo>
                  <a:close/>
                </a:path>
              </a:pathLst>
            </a:custGeom>
            <a:solidFill>
              <a:srgbClr val="000000"/>
            </a:solidFill>
          </p:spPr>
          <p:txBody>
            <a:bodyPr wrap="square" lIns="0" tIns="0" rIns="0" bIns="0" rtlCol="0">
              <a:noAutofit/>
            </a:bodyPr>
            <a:lstStyle/>
            <a:p>
              <a:endParaRPr/>
            </a:p>
          </p:txBody>
        </p:sp>
        <p:sp>
          <p:nvSpPr>
            <p:cNvPr id="274" name="object 239"/>
            <p:cNvSpPr/>
            <p:nvPr/>
          </p:nvSpPr>
          <p:spPr>
            <a:xfrm>
              <a:off x="4212937" y="5645118"/>
              <a:ext cx="60075" cy="62357"/>
            </a:xfrm>
            <a:custGeom>
              <a:avLst/>
              <a:gdLst/>
              <a:ahLst/>
              <a:cxnLst/>
              <a:rect l="l" t="t" r="r" b="b"/>
              <a:pathLst>
                <a:path w="61889" h="64446">
                  <a:moveTo>
                    <a:pt x="32629" y="0"/>
                  </a:moveTo>
                  <a:lnTo>
                    <a:pt x="18002" y="2914"/>
                  </a:lnTo>
                  <a:lnTo>
                    <a:pt x="6762" y="10866"/>
                  </a:lnTo>
                  <a:lnTo>
                    <a:pt x="0" y="22533"/>
                  </a:lnTo>
                  <a:lnTo>
                    <a:pt x="1443" y="39796"/>
                  </a:lnTo>
                  <a:lnTo>
                    <a:pt x="7219" y="52585"/>
                  </a:lnTo>
                  <a:lnTo>
                    <a:pt x="16340" y="60792"/>
                  </a:lnTo>
                  <a:lnTo>
                    <a:pt x="27814" y="64311"/>
                  </a:lnTo>
                  <a:lnTo>
                    <a:pt x="30768" y="64446"/>
                  </a:lnTo>
                  <a:lnTo>
                    <a:pt x="44618" y="61327"/>
                  </a:lnTo>
                  <a:lnTo>
                    <a:pt x="55472" y="52925"/>
                  </a:lnTo>
                  <a:lnTo>
                    <a:pt x="61889" y="40670"/>
                  </a:lnTo>
                  <a:lnTo>
                    <a:pt x="60155" y="23756"/>
                  </a:lnTo>
                  <a:lnTo>
                    <a:pt x="54014" y="11193"/>
                  </a:lnTo>
                  <a:lnTo>
                    <a:pt x="44495" y="3200"/>
                  </a:lnTo>
                  <a:lnTo>
                    <a:pt x="32629" y="0"/>
                  </a:lnTo>
                  <a:close/>
                </a:path>
              </a:pathLst>
            </a:custGeom>
            <a:solidFill>
              <a:srgbClr val="000000"/>
            </a:solidFill>
          </p:spPr>
          <p:txBody>
            <a:bodyPr wrap="square" lIns="0" tIns="0" rIns="0" bIns="0" rtlCol="0">
              <a:noAutofit/>
            </a:bodyPr>
            <a:lstStyle/>
            <a:p>
              <a:endParaRPr/>
            </a:p>
          </p:txBody>
        </p:sp>
        <p:sp>
          <p:nvSpPr>
            <p:cNvPr id="275" name="object 240"/>
            <p:cNvSpPr/>
            <p:nvPr/>
          </p:nvSpPr>
          <p:spPr>
            <a:xfrm>
              <a:off x="4694791" y="6392059"/>
              <a:ext cx="60069" cy="62367"/>
            </a:xfrm>
            <a:custGeom>
              <a:avLst/>
              <a:gdLst/>
              <a:ahLst/>
              <a:cxnLst/>
              <a:rect l="l" t="t" r="r" b="b"/>
              <a:pathLst>
                <a:path w="61883" h="64456">
                  <a:moveTo>
                    <a:pt x="32638" y="0"/>
                  </a:moveTo>
                  <a:lnTo>
                    <a:pt x="18005" y="2914"/>
                  </a:lnTo>
                  <a:lnTo>
                    <a:pt x="6763" y="10863"/>
                  </a:lnTo>
                  <a:lnTo>
                    <a:pt x="0" y="22526"/>
                  </a:lnTo>
                  <a:lnTo>
                    <a:pt x="1442" y="39787"/>
                  </a:lnTo>
                  <a:lnTo>
                    <a:pt x="7216" y="52581"/>
                  </a:lnTo>
                  <a:lnTo>
                    <a:pt x="16332" y="60796"/>
                  </a:lnTo>
                  <a:lnTo>
                    <a:pt x="27799" y="64320"/>
                  </a:lnTo>
                  <a:lnTo>
                    <a:pt x="30757" y="64456"/>
                  </a:lnTo>
                  <a:lnTo>
                    <a:pt x="44607" y="61337"/>
                  </a:lnTo>
                  <a:lnTo>
                    <a:pt x="55461" y="52934"/>
                  </a:lnTo>
                  <a:lnTo>
                    <a:pt x="61883" y="40680"/>
                  </a:lnTo>
                  <a:lnTo>
                    <a:pt x="60154" y="23766"/>
                  </a:lnTo>
                  <a:lnTo>
                    <a:pt x="54018" y="11201"/>
                  </a:lnTo>
                  <a:lnTo>
                    <a:pt x="44504" y="3206"/>
                  </a:lnTo>
                  <a:lnTo>
                    <a:pt x="32638" y="0"/>
                  </a:lnTo>
                  <a:close/>
                </a:path>
              </a:pathLst>
            </a:custGeom>
            <a:solidFill>
              <a:srgbClr val="000000"/>
            </a:solidFill>
          </p:spPr>
          <p:txBody>
            <a:bodyPr wrap="square" lIns="0" tIns="0" rIns="0" bIns="0" rtlCol="0">
              <a:noAutofit/>
            </a:bodyPr>
            <a:lstStyle/>
            <a:p>
              <a:endParaRPr/>
            </a:p>
          </p:txBody>
        </p:sp>
        <p:sp>
          <p:nvSpPr>
            <p:cNvPr id="276" name="object 241"/>
            <p:cNvSpPr/>
            <p:nvPr/>
          </p:nvSpPr>
          <p:spPr>
            <a:xfrm>
              <a:off x="5795732" y="5645118"/>
              <a:ext cx="60075" cy="62357"/>
            </a:xfrm>
            <a:custGeom>
              <a:avLst/>
              <a:gdLst/>
              <a:ahLst/>
              <a:cxnLst/>
              <a:rect l="l" t="t" r="r" b="b"/>
              <a:pathLst>
                <a:path w="61889" h="64446">
                  <a:moveTo>
                    <a:pt x="32628" y="0"/>
                  </a:moveTo>
                  <a:lnTo>
                    <a:pt x="18001" y="2915"/>
                  </a:lnTo>
                  <a:lnTo>
                    <a:pt x="6762" y="10866"/>
                  </a:lnTo>
                  <a:lnTo>
                    <a:pt x="0" y="22534"/>
                  </a:lnTo>
                  <a:lnTo>
                    <a:pt x="1443" y="39797"/>
                  </a:lnTo>
                  <a:lnTo>
                    <a:pt x="7219" y="52585"/>
                  </a:lnTo>
                  <a:lnTo>
                    <a:pt x="16340" y="60792"/>
                  </a:lnTo>
                  <a:lnTo>
                    <a:pt x="27815" y="64311"/>
                  </a:lnTo>
                  <a:lnTo>
                    <a:pt x="30768" y="64446"/>
                  </a:lnTo>
                  <a:lnTo>
                    <a:pt x="44624" y="61327"/>
                  </a:lnTo>
                  <a:lnTo>
                    <a:pt x="55475" y="52925"/>
                  </a:lnTo>
                  <a:lnTo>
                    <a:pt x="61889" y="40669"/>
                  </a:lnTo>
                  <a:lnTo>
                    <a:pt x="60156" y="23755"/>
                  </a:lnTo>
                  <a:lnTo>
                    <a:pt x="54017" y="11192"/>
                  </a:lnTo>
                  <a:lnTo>
                    <a:pt x="44499" y="3200"/>
                  </a:lnTo>
                  <a:lnTo>
                    <a:pt x="32628" y="0"/>
                  </a:lnTo>
                  <a:close/>
                </a:path>
              </a:pathLst>
            </a:custGeom>
            <a:solidFill>
              <a:srgbClr val="000000"/>
            </a:solidFill>
          </p:spPr>
          <p:txBody>
            <a:bodyPr wrap="square" lIns="0" tIns="0" rIns="0" bIns="0" rtlCol="0">
              <a:noAutofit/>
            </a:bodyPr>
            <a:lstStyle/>
            <a:p>
              <a:endParaRPr/>
            </a:p>
          </p:txBody>
        </p:sp>
        <p:sp>
          <p:nvSpPr>
            <p:cNvPr id="277" name="object 242"/>
            <p:cNvSpPr/>
            <p:nvPr/>
          </p:nvSpPr>
          <p:spPr>
            <a:xfrm>
              <a:off x="6499785" y="4646784"/>
              <a:ext cx="60075" cy="62357"/>
            </a:xfrm>
            <a:custGeom>
              <a:avLst/>
              <a:gdLst/>
              <a:ahLst/>
              <a:cxnLst/>
              <a:rect l="l" t="t" r="r" b="b"/>
              <a:pathLst>
                <a:path w="61889" h="64446">
                  <a:moveTo>
                    <a:pt x="32626" y="0"/>
                  </a:moveTo>
                  <a:lnTo>
                    <a:pt x="18005" y="2913"/>
                  </a:lnTo>
                  <a:lnTo>
                    <a:pt x="6765" y="10862"/>
                  </a:lnTo>
                  <a:lnTo>
                    <a:pt x="0" y="22531"/>
                  </a:lnTo>
                  <a:lnTo>
                    <a:pt x="1444" y="39790"/>
                  </a:lnTo>
                  <a:lnTo>
                    <a:pt x="7222" y="52579"/>
                  </a:lnTo>
                  <a:lnTo>
                    <a:pt x="16343" y="60789"/>
                  </a:lnTo>
                  <a:lnTo>
                    <a:pt x="27813" y="64311"/>
                  </a:lnTo>
                  <a:lnTo>
                    <a:pt x="30767" y="64446"/>
                  </a:lnTo>
                  <a:lnTo>
                    <a:pt x="44623" y="61326"/>
                  </a:lnTo>
                  <a:lnTo>
                    <a:pt x="55475" y="52921"/>
                  </a:lnTo>
                  <a:lnTo>
                    <a:pt x="61889" y="40666"/>
                  </a:lnTo>
                  <a:lnTo>
                    <a:pt x="60156" y="23749"/>
                  </a:lnTo>
                  <a:lnTo>
                    <a:pt x="54017" y="11186"/>
                  </a:lnTo>
                  <a:lnTo>
                    <a:pt x="44498" y="3197"/>
                  </a:lnTo>
                  <a:lnTo>
                    <a:pt x="32626" y="0"/>
                  </a:lnTo>
                  <a:close/>
                </a:path>
              </a:pathLst>
            </a:custGeom>
            <a:solidFill>
              <a:srgbClr val="000000"/>
            </a:solidFill>
          </p:spPr>
          <p:txBody>
            <a:bodyPr wrap="square" lIns="0" tIns="0" rIns="0" bIns="0" rtlCol="0">
              <a:noAutofit/>
            </a:bodyPr>
            <a:lstStyle/>
            <a:p>
              <a:endParaRPr/>
            </a:p>
          </p:txBody>
        </p:sp>
        <p:sp>
          <p:nvSpPr>
            <p:cNvPr id="278" name="object 243"/>
            <p:cNvSpPr/>
            <p:nvPr/>
          </p:nvSpPr>
          <p:spPr>
            <a:xfrm>
              <a:off x="6569960" y="3819497"/>
              <a:ext cx="60075" cy="62357"/>
            </a:xfrm>
            <a:custGeom>
              <a:avLst/>
              <a:gdLst/>
              <a:ahLst/>
              <a:cxnLst/>
              <a:rect l="l" t="t" r="r" b="b"/>
              <a:pathLst>
                <a:path w="61889" h="64446">
                  <a:moveTo>
                    <a:pt x="32629" y="0"/>
                  </a:moveTo>
                  <a:lnTo>
                    <a:pt x="18005" y="2913"/>
                  </a:lnTo>
                  <a:lnTo>
                    <a:pt x="6764" y="10863"/>
                  </a:lnTo>
                  <a:lnTo>
                    <a:pt x="0" y="22530"/>
                  </a:lnTo>
                  <a:lnTo>
                    <a:pt x="1445" y="39789"/>
                  </a:lnTo>
                  <a:lnTo>
                    <a:pt x="7224" y="52579"/>
                  </a:lnTo>
                  <a:lnTo>
                    <a:pt x="16345" y="60789"/>
                  </a:lnTo>
                  <a:lnTo>
                    <a:pt x="27816" y="64311"/>
                  </a:lnTo>
                  <a:lnTo>
                    <a:pt x="30769" y="64446"/>
                  </a:lnTo>
                  <a:lnTo>
                    <a:pt x="44622" y="61326"/>
                  </a:lnTo>
                  <a:lnTo>
                    <a:pt x="55473" y="52923"/>
                  </a:lnTo>
                  <a:lnTo>
                    <a:pt x="61889" y="40666"/>
                  </a:lnTo>
                  <a:lnTo>
                    <a:pt x="60157" y="23749"/>
                  </a:lnTo>
                  <a:lnTo>
                    <a:pt x="54019" y="11187"/>
                  </a:lnTo>
                  <a:lnTo>
                    <a:pt x="44501" y="3198"/>
                  </a:lnTo>
                  <a:lnTo>
                    <a:pt x="32629" y="0"/>
                  </a:lnTo>
                  <a:close/>
                </a:path>
              </a:pathLst>
            </a:custGeom>
            <a:solidFill>
              <a:srgbClr val="000000"/>
            </a:solidFill>
          </p:spPr>
          <p:txBody>
            <a:bodyPr wrap="square" lIns="0" tIns="0" rIns="0" bIns="0" rtlCol="0">
              <a:noAutofit/>
            </a:bodyPr>
            <a:lstStyle/>
            <a:p>
              <a:endParaRPr/>
            </a:p>
          </p:txBody>
        </p:sp>
        <p:sp>
          <p:nvSpPr>
            <p:cNvPr id="279" name="object 244"/>
            <p:cNvSpPr/>
            <p:nvPr/>
          </p:nvSpPr>
          <p:spPr>
            <a:xfrm>
              <a:off x="7772107" y="3592909"/>
              <a:ext cx="60068" cy="62357"/>
            </a:xfrm>
            <a:custGeom>
              <a:avLst/>
              <a:gdLst/>
              <a:ahLst/>
              <a:cxnLst/>
              <a:rect l="l" t="t" r="r" b="b"/>
              <a:pathLst>
                <a:path w="61882" h="64446">
                  <a:moveTo>
                    <a:pt x="32618" y="0"/>
                  </a:moveTo>
                  <a:lnTo>
                    <a:pt x="17996" y="2914"/>
                  </a:lnTo>
                  <a:lnTo>
                    <a:pt x="6759" y="10865"/>
                  </a:lnTo>
                  <a:lnTo>
                    <a:pt x="0" y="22538"/>
                  </a:lnTo>
                  <a:lnTo>
                    <a:pt x="1445" y="39797"/>
                  </a:lnTo>
                  <a:lnTo>
                    <a:pt x="7223" y="52586"/>
                  </a:lnTo>
                  <a:lnTo>
                    <a:pt x="16345" y="60794"/>
                  </a:lnTo>
                  <a:lnTo>
                    <a:pt x="27818" y="64312"/>
                  </a:lnTo>
                  <a:lnTo>
                    <a:pt x="30759" y="64446"/>
                  </a:lnTo>
                  <a:lnTo>
                    <a:pt x="44620" y="61326"/>
                  </a:lnTo>
                  <a:lnTo>
                    <a:pt x="55470" y="52921"/>
                  </a:lnTo>
                  <a:lnTo>
                    <a:pt x="61882" y="40666"/>
                  </a:lnTo>
                  <a:lnTo>
                    <a:pt x="60150" y="23749"/>
                  </a:lnTo>
                  <a:lnTo>
                    <a:pt x="54013" y="11186"/>
                  </a:lnTo>
                  <a:lnTo>
                    <a:pt x="44494" y="3197"/>
                  </a:lnTo>
                  <a:lnTo>
                    <a:pt x="32618" y="0"/>
                  </a:lnTo>
                  <a:close/>
                </a:path>
              </a:pathLst>
            </a:custGeom>
            <a:solidFill>
              <a:srgbClr val="000000"/>
            </a:solidFill>
          </p:spPr>
          <p:txBody>
            <a:bodyPr wrap="square" lIns="0" tIns="0" rIns="0" bIns="0" rtlCol="0">
              <a:noAutofit/>
            </a:bodyPr>
            <a:lstStyle/>
            <a:p>
              <a:endParaRPr/>
            </a:p>
          </p:txBody>
        </p:sp>
        <p:sp>
          <p:nvSpPr>
            <p:cNvPr id="280" name="object 245"/>
            <p:cNvSpPr/>
            <p:nvPr/>
          </p:nvSpPr>
          <p:spPr>
            <a:xfrm>
              <a:off x="8050329" y="4448111"/>
              <a:ext cx="60072" cy="62368"/>
            </a:xfrm>
            <a:custGeom>
              <a:avLst/>
              <a:gdLst/>
              <a:ahLst/>
              <a:cxnLst/>
              <a:rect l="l" t="t" r="r" b="b"/>
              <a:pathLst>
                <a:path w="61886" h="64457">
                  <a:moveTo>
                    <a:pt x="32631" y="0"/>
                  </a:moveTo>
                  <a:lnTo>
                    <a:pt x="18007" y="2914"/>
                  </a:lnTo>
                  <a:lnTo>
                    <a:pt x="6766" y="10864"/>
                  </a:lnTo>
                  <a:lnTo>
                    <a:pt x="0" y="22530"/>
                  </a:lnTo>
                  <a:lnTo>
                    <a:pt x="1442" y="39788"/>
                  </a:lnTo>
                  <a:lnTo>
                    <a:pt x="7218" y="52580"/>
                  </a:lnTo>
                  <a:lnTo>
                    <a:pt x="16335" y="60795"/>
                  </a:lnTo>
                  <a:lnTo>
                    <a:pt x="27802" y="64321"/>
                  </a:lnTo>
                  <a:lnTo>
                    <a:pt x="30766" y="64457"/>
                  </a:lnTo>
                  <a:lnTo>
                    <a:pt x="44619" y="61336"/>
                  </a:lnTo>
                  <a:lnTo>
                    <a:pt x="55470" y="52929"/>
                  </a:lnTo>
                  <a:lnTo>
                    <a:pt x="61886" y="40673"/>
                  </a:lnTo>
                  <a:lnTo>
                    <a:pt x="60154" y="23759"/>
                  </a:lnTo>
                  <a:lnTo>
                    <a:pt x="54017" y="11195"/>
                  </a:lnTo>
                  <a:lnTo>
                    <a:pt x="44501" y="3201"/>
                  </a:lnTo>
                  <a:lnTo>
                    <a:pt x="32631" y="0"/>
                  </a:lnTo>
                  <a:close/>
                </a:path>
              </a:pathLst>
            </a:custGeom>
            <a:solidFill>
              <a:srgbClr val="000000"/>
            </a:solidFill>
          </p:spPr>
          <p:txBody>
            <a:bodyPr wrap="square" lIns="0" tIns="0" rIns="0" bIns="0" rtlCol="0">
              <a:noAutofit/>
            </a:bodyPr>
            <a:lstStyle/>
            <a:p>
              <a:endParaRPr/>
            </a:p>
          </p:txBody>
        </p:sp>
        <p:sp>
          <p:nvSpPr>
            <p:cNvPr id="281" name="object 246"/>
            <p:cNvSpPr/>
            <p:nvPr/>
          </p:nvSpPr>
          <p:spPr>
            <a:xfrm>
              <a:off x="8641310" y="4457676"/>
              <a:ext cx="60087" cy="62347"/>
            </a:xfrm>
            <a:custGeom>
              <a:avLst/>
              <a:gdLst/>
              <a:ahLst/>
              <a:cxnLst/>
              <a:rect l="l" t="t" r="r" b="b"/>
              <a:pathLst>
                <a:path w="61902" h="64435">
                  <a:moveTo>
                    <a:pt x="32630" y="0"/>
                  </a:moveTo>
                  <a:lnTo>
                    <a:pt x="18005" y="2912"/>
                  </a:lnTo>
                  <a:lnTo>
                    <a:pt x="6764" y="10859"/>
                  </a:lnTo>
                  <a:lnTo>
                    <a:pt x="0" y="22526"/>
                  </a:lnTo>
                  <a:lnTo>
                    <a:pt x="1445" y="39781"/>
                  </a:lnTo>
                  <a:lnTo>
                    <a:pt x="7224" y="52569"/>
                  </a:lnTo>
                  <a:lnTo>
                    <a:pt x="16347" y="60778"/>
                  </a:lnTo>
                  <a:lnTo>
                    <a:pt x="27823" y="64300"/>
                  </a:lnTo>
                  <a:lnTo>
                    <a:pt x="30781" y="64435"/>
                  </a:lnTo>
                  <a:lnTo>
                    <a:pt x="44635" y="61315"/>
                  </a:lnTo>
                  <a:lnTo>
                    <a:pt x="55488" y="52910"/>
                  </a:lnTo>
                  <a:lnTo>
                    <a:pt x="61902" y="40655"/>
                  </a:lnTo>
                  <a:lnTo>
                    <a:pt x="60168" y="23737"/>
                  </a:lnTo>
                  <a:lnTo>
                    <a:pt x="54027" y="11178"/>
                  </a:lnTo>
                  <a:lnTo>
                    <a:pt x="44505" y="3193"/>
                  </a:lnTo>
                  <a:lnTo>
                    <a:pt x="32630" y="0"/>
                  </a:lnTo>
                  <a:close/>
                </a:path>
              </a:pathLst>
            </a:custGeom>
            <a:solidFill>
              <a:srgbClr val="000000"/>
            </a:solidFill>
          </p:spPr>
          <p:txBody>
            <a:bodyPr wrap="square" lIns="0" tIns="0" rIns="0" bIns="0" rtlCol="0">
              <a:noAutofit/>
            </a:bodyPr>
            <a:lstStyle/>
            <a:p>
              <a:endParaRPr/>
            </a:p>
          </p:txBody>
        </p:sp>
        <p:sp>
          <p:nvSpPr>
            <p:cNvPr id="282" name="object 247"/>
            <p:cNvSpPr/>
            <p:nvPr/>
          </p:nvSpPr>
          <p:spPr>
            <a:xfrm>
              <a:off x="8212522" y="4330562"/>
              <a:ext cx="374632" cy="292734"/>
            </a:xfrm>
            <a:custGeom>
              <a:avLst/>
              <a:gdLst/>
              <a:ahLst/>
              <a:cxnLst/>
              <a:rect l="l" t="t" r="r" b="b"/>
              <a:pathLst>
                <a:path w="385945" h="302540">
                  <a:moveTo>
                    <a:pt x="0" y="302540"/>
                  </a:moveTo>
                  <a:lnTo>
                    <a:pt x="385945" y="302540"/>
                  </a:lnTo>
                  <a:lnTo>
                    <a:pt x="385945" y="0"/>
                  </a:lnTo>
                  <a:lnTo>
                    <a:pt x="0" y="0"/>
                  </a:lnTo>
                  <a:lnTo>
                    <a:pt x="0" y="302540"/>
                  </a:lnTo>
                  <a:close/>
                </a:path>
              </a:pathLst>
            </a:custGeom>
            <a:solidFill>
              <a:srgbClr val="FFFFFF"/>
            </a:solidFill>
          </p:spPr>
          <p:txBody>
            <a:bodyPr wrap="square" lIns="0" tIns="0" rIns="0" bIns="0" rtlCol="0">
              <a:noAutofit/>
            </a:bodyPr>
            <a:lstStyle/>
            <a:p>
              <a:endParaRPr/>
            </a:p>
          </p:txBody>
        </p:sp>
        <p:sp>
          <p:nvSpPr>
            <p:cNvPr id="283" name="object 248"/>
            <p:cNvSpPr/>
            <p:nvPr/>
          </p:nvSpPr>
          <p:spPr>
            <a:xfrm>
              <a:off x="8212522" y="4330562"/>
              <a:ext cx="374632" cy="292734"/>
            </a:xfrm>
            <a:custGeom>
              <a:avLst/>
              <a:gdLst/>
              <a:ahLst/>
              <a:cxnLst/>
              <a:rect l="l" t="t" r="r" b="b"/>
              <a:pathLst>
                <a:path w="385945" h="302540">
                  <a:moveTo>
                    <a:pt x="0" y="302540"/>
                  </a:moveTo>
                  <a:lnTo>
                    <a:pt x="385945" y="302540"/>
                  </a:lnTo>
                  <a:lnTo>
                    <a:pt x="385945" y="0"/>
                  </a:lnTo>
                  <a:lnTo>
                    <a:pt x="0" y="0"/>
                  </a:lnTo>
                  <a:lnTo>
                    <a:pt x="0" y="302540"/>
                  </a:lnTo>
                  <a:close/>
                </a:path>
              </a:pathLst>
            </a:custGeom>
            <a:ln w="15716">
              <a:solidFill>
                <a:srgbClr val="000000"/>
              </a:solidFill>
            </a:ln>
          </p:spPr>
          <p:txBody>
            <a:bodyPr wrap="square" lIns="0" tIns="0" rIns="0" bIns="0" rtlCol="0">
              <a:noAutofit/>
            </a:bodyPr>
            <a:lstStyle/>
            <a:p>
              <a:endParaRPr/>
            </a:p>
          </p:txBody>
        </p:sp>
        <p:sp>
          <p:nvSpPr>
            <p:cNvPr id="284" name="object 249"/>
            <p:cNvSpPr txBox="1"/>
            <p:nvPr/>
          </p:nvSpPr>
          <p:spPr>
            <a:xfrm>
              <a:off x="8245826" y="4414677"/>
              <a:ext cx="315590" cy="117968"/>
            </a:xfrm>
            <a:prstGeom prst="rect">
              <a:avLst/>
            </a:prstGeom>
          </p:spPr>
          <p:txBody>
            <a:bodyPr vert="horz" wrap="square" lIns="0" tIns="0" rIns="0" bIns="0" rtlCol="0">
              <a:noAutofit/>
            </a:bodyPr>
            <a:lstStyle/>
            <a:p>
              <a:pPr marL="12700">
                <a:lnSpc>
                  <a:spcPct val="100000"/>
                </a:lnSpc>
              </a:pPr>
              <a:r>
                <a:rPr sz="700" spc="25" dirty="0" smtClean="0">
                  <a:latin typeface="Franklin Gothic Book"/>
                  <a:cs typeface="Franklin Gothic Book"/>
                </a:rPr>
                <a:t>ALUOut</a:t>
              </a:r>
              <a:endParaRPr sz="700">
                <a:latin typeface="Franklin Gothic Book"/>
                <a:cs typeface="Franklin Gothic Book"/>
              </a:endParaRPr>
            </a:p>
          </p:txBody>
        </p:sp>
        <p:sp>
          <p:nvSpPr>
            <p:cNvPr id="285" name="object 250"/>
            <p:cNvSpPr txBox="1"/>
            <p:nvPr/>
          </p:nvSpPr>
          <p:spPr>
            <a:xfrm>
              <a:off x="2531160" y="4280353"/>
              <a:ext cx="580636" cy="267272"/>
            </a:xfrm>
            <a:prstGeom prst="rect">
              <a:avLst/>
            </a:prstGeom>
          </p:spPr>
          <p:txBody>
            <a:bodyPr vert="horz" wrap="square" lIns="0" tIns="0" rIns="0" bIns="0" rtlCol="0">
              <a:noAutofit/>
            </a:bodyPr>
            <a:lstStyle/>
            <a:p>
              <a:pPr marL="12700">
                <a:lnSpc>
                  <a:spcPct val="100000"/>
                </a:lnSpc>
              </a:pPr>
              <a:r>
                <a:rPr sz="700" spc="20" dirty="0" smtClean="0">
                  <a:latin typeface="Franklin Gothic Demi"/>
                  <a:cs typeface="Franklin Gothic Demi"/>
                </a:rPr>
                <a:t>Memory</a:t>
              </a:r>
              <a:endParaRPr sz="700">
                <a:latin typeface="Franklin Gothic Demi"/>
                <a:cs typeface="Franklin Gothic Demi"/>
              </a:endParaRPr>
            </a:p>
            <a:p>
              <a:pPr marL="190500">
                <a:lnSpc>
                  <a:spcPct val="100000"/>
                </a:lnSpc>
                <a:spcBef>
                  <a:spcPts val="375"/>
                </a:spcBef>
              </a:pPr>
              <a:r>
                <a:rPr sz="700" spc="25" dirty="0" smtClean="0">
                  <a:latin typeface="Franklin Gothic Book"/>
                  <a:cs typeface="Franklin Gothic Book"/>
                </a:rPr>
                <a:t>MemData</a:t>
              </a:r>
              <a:endParaRPr sz="700">
                <a:latin typeface="Franklin Gothic Book"/>
                <a:cs typeface="Franklin Gothic Book"/>
              </a:endParaRPr>
            </a:p>
          </p:txBody>
        </p:sp>
        <p:sp>
          <p:nvSpPr>
            <p:cNvPr id="286" name="object 251"/>
            <p:cNvSpPr txBox="1"/>
            <p:nvPr/>
          </p:nvSpPr>
          <p:spPr>
            <a:xfrm>
              <a:off x="2312785" y="4726576"/>
              <a:ext cx="227447" cy="193542"/>
            </a:xfrm>
            <a:prstGeom prst="rect">
              <a:avLst/>
            </a:prstGeom>
          </p:spPr>
          <p:txBody>
            <a:bodyPr vert="horz" wrap="square" lIns="0" tIns="0" rIns="0" bIns="0" rtlCol="0">
              <a:noAutofit/>
            </a:bodyPr>
            <a:lstStyle/>
            <a:p>
              <a:pPr marL="12700" marR="12700">
                <a:lnSpc>
                  <a:spcPts val="730"/>
                </a:lnSpc>
              </a:pPr>
              <a:r>
                <a:rPr sz="700" spc="15" dirty="0" smtClean="0">
                  <a:latin typeface="Franklin Gothic Book"/>
                  <a:cs typeface="Franklin Gothic Book"/>
                </a:rPr>
                <a:t>Write data</a:t>
              </a:r>
              <a:endParaRPr sz="700">
                <a:latin typeface="Franklin Gothic Book"/>
                <a:cs typeface="Franklin Gothic Book"/>
              </a:endParaRPr>
            </a:p>
          </p:txBody>
        </p:sp>
        <p:sp>
          <p:nvSpPr>
            <p:cNvPr id="287" name="object 252"/>
            <p:cNvSpPr txBox="1"/>
            <p:nvPr/>
          </p:nvSpPr>
          <p:spPr>
            <a:xfrm>
              <a:off x="2303429" y="4074613"/>
              <a:ext cx="348875" cy="124113"/>
            </a:xfrm>
            <a:prstGeom prst="rect">
              <a:avLst/>
            </a:prstGeom>
          </p:spPr>
          <p:txBody>
            <a:bodyPr vert="horz" wrap="square" lIns="0" tIns="0" rIns="0" bIns="0" rtlCol="0">
              <a:noAutofit/>
            </a:bodyPr>
            <a:lstStyle/>
            <a:p>
              <a:pPr marL="12700">
                <a:lnSpc>
                  <a:spcPct val="100000"/>
                </a:lnSpc>
              </a:pPr>
              <a:r>
                <a:rPr sz="750" spc="10" dirty="0" smtClean="0">
                  <a:latin typeface="Franklin Gothic Book"/>
                  <a:cs typeface="Franklin Gothic Book"/>
                </a:rPr>
                <a:t>Address</a:t>
              </a:r>
              <a:endParaRPr sz="750">
                <a:latin typeface="Franklin Gothic Book"/>
                <a:cs typeface="Franklin Gothic Book"/>
              </a:endParaRPr>
            </a:p>
          </p:txBody>
        </p:sp>
      </p:grpSp>
      <p:sp>
        <p:nvSpPr>
          <p:cNvPr id="16" name="TextBox 15"/>
          <p:cNvSpPr txBox="1"/>
          <p:nvPr/>
        </p:nvSpPr>
        <p:spPr>
          <a:xfrm>
            <a:off x="393207" y="4318468"/>
            <a:ext cx="980910" cy="923330"/>
          </a:xfrm>
          <a:prstGeom prst="rect">
            <a:avLst/>
          </a:prstGeom>
          <a:noFill/>
        </p:spPr>
        <p:txBody>
          <a:bodyPr wrap="none" rtlCol="0">
            <a:spAutoFit/>
          </a:bodyPr>
          <a:lstStyle/>
          <a:p>
            <a:r>
              <a:rPr lang="en-US" dirty="0" smtClean="0"/>
              <a:t>PC:</a:t>
            </a:r>
          </a:p>
          <a:p>
            <a:r>
              <a:rPr lang="en-US" dirty="0" smtClean="0"/>
              <a:t>Program</a:t>
            </a:r>
          </a:p>
          <a:p>
            <a:r>
              <a:rPr lang="en-US" dirty="0" smtClean="0"/>
              <a:t>Counter</a:t>
            </a:r>
            <a:endParaRPr lang="en-US" dirty="0"/>
          </a:p>
        </p:txBody>
      </p:sp>
      <p:cxnSp>
        <p:nvCxnSpPr>
          <p:cNvPr id="33" name="Straight Arrow Connector 32"/>
          <p:cNvCxnSpPr/>
          <p:nvPr/>
        </p:nvCxnSpPr>
        <p:spPr>
          <a:xfrm flipV="1">
            <a:off x="1175019" y="4128129"/>
            <a:ext cx="348745" cy="3799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4" name="TextBox 383"/>
          <p:cNvSpPr txBox="1"/>
          <p:nvPr/>
        </p:nvSpPr>
        <p:spPr>
          <a:xfrm>
            <a:off x="559122" y="6743338"/>
            <a:ext cx="8995638" cy="923330"/>
          </a:xfrm>
          <a:prstGeom prst="rect">
            <a:avLst/>
          </a:prstGeom>
          <a:noFill/>
        </p:spPr>
        <p:txBody>
          <a:bodyPr wrap="square" rtlCol="0">
            <a:spAutoFit/>
          </a:bodyPr>
          <a:lstStyle/>
          <a:p>
            <a:r>
              <a:rPr lang="en-US" dirty="0" smtClean="0"/>
              <a:t>The PC or Program </a:t>
            </a:r>
            <a:r>
              <a:rPr lang="en-US" smtClean="0"/>
              <a:t>Counter is </a:t>
            </a:r>
            <a:r>
              <a:rPr lang="en-US" dirty="0" smtClean="0"/>
              <a:t>an address.   It is the address of a register holding the address of the next instruction to be executed.</a:t>
            </a:r>
          </a:p>
          <a:p>
            <a:r>
              <a:rPr lang="en-US" dirty="0" smtClean="0"/>
              <a:t>Aside: It is the hardware equivalent of a software pointer which will discuss in the next lesson  </a:t>
            </a:r>
            <a:endParaRPr lang="en-US" dirty="0"/>
          </a:p>
        </p:txBody>
      </p:sp>
    </p:spTree>
    <p:extLst>
      <p:ext uri="{BB962C8B-B14F-4D97-AF65-F5344CB8AC3E}">
        <p14:creationId xmlns:p14="http://schemas.microsoft.com/office/powerpoint/2010/main" val="1734681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Making an association</a:t>
            </a:r>
            <a:endParaRPr lang="en-US" sz="4400" b="0" u="none" strike="noStrike" dirty="0">
              <a:solidFill>
                <a:srgbClr val="000000"/>
              </a:solidFill>
              <a:effectLst/>
              <a:uFillTx/>
              <a:latin typeface="Arial"/>
            </a:endParaRPr>
          </a:p>
        </p:txBody>
      </p:sp>
      <p:sp>
        <p:nvSpPr>
          <p:cNvPr id="3" name="TextBox 2"/>
          <p:cNvSpPr txBox="1"/>
          <p:nvPr/>
        </p:nvSpPr>
        <p:spPr>
          <a:xfrm>
            <a:off x="735357" y="1788467"/>
            <a:ext cx="8247129" cy="3108543"/>
          </a:xfrm>
          <a:prstGeom prst="rect">
            <a:avLst/>
          </a:prstGeom>
          <a:noFill/>
        </p:spPr>
        <p:txBody>
          <a:bodyPr wrap="none" rtlCol="0">
            <a:spAutoFit/>
          </a:bodyPr>
          <a:lstStyle/>
          <a:p>
            <a:r>
              <a:rPr lang="en-US" sz="2800" dirty="0" smtClean="0"/>
              <a:t>Symbolically make an association.   </a:t>
            </a:r>
          </a:p>
          <a:p>
            <a:r>
              <a:rPr lang="en-US" sz="2800" dirty="0" smtClean="0"/>
              <a:t>Let</a:t>
            </a:r>
          </a:p>
          <a:p>
            <a:r>
              <a:rPr lang="en-US" sz="2800" dirty="0" smtClean="0"/>
              <a:t>   sum   be the address or location of memory</a:t>
            </a:r>
            <a:endParaRPr lang="en-US" sz="2800" dirty="0"/>
          </a:p>
          <a:p>
            <a:r>
              <a:rPr lang="en-US" sz="2800" dirty="0" smtClean="0"/>
              <a:t>  $sum  be the contents of memory </a:t>
            </a:r>
          </a:p>
          <a:p>
            <a:endParaRPr lang="en-US" sz="2800" dirty="0"/>
          </a:p>
          <a:p>
            <a:r>
              <a:rPr lang="en-US" sz="2800" dirty="0" smtClean="0"/>
              <a:t>Very clean and exact </a:t>
            </a:r>
          </a:p>
          <a:p>
            <a:r>
              <a:rPr lang="en-US" sz="2800" dirty="0" smtClean="0"/>
              <a:t>Some languages do it this way!  But not C, C++, or Rust!</a:t>
            </a:r>
            <a:endParaRPr lang="en-US" sz="2800" dirty="0"/>
          </a:p>
        </p:txBody>
      </p:sp>
      <p:sp>
        <p:nvSpPr>
          <p:cNvPr id="10" name="TextBox 9"/>
          <p:cNvSpPr txBox="1"/>
          <p:nvPr/>
        </p:nvSpPr>
        <p:spPr>
          <a:xfrm>
            <a:off x="7669881" y="5495634"/>
            <a:ext cx="1798056" cy="369332"/>
          </a:xfrm>
          <a:prstGeom prst="rect">
            <a:avLst/>
          </a:prstGeom>
          <a:noFill/>
        </p:spPr>
        <p:txBody>
          <a:bodyPr wrap="none" rtlCol="0">
            <a:spAutoFit/>
          </a:bodyPr>
          <a:lstStyle/>
          <a:p>
            <a:r>
              <a:rPr lang="en-US" dirty="0" smtClean="0"/>
              <a:t>Location in space</a:t>
            </a:r>
            <a:endParaRPr lang="en-US" dirty="0"/>
          </a:p>
        </p:txBody>
      </p:sp>
      <p:grpSp>
        <p:nvGrpSpPr>
          <p:cNvPr id="12" name="Group 11"/>
          <p:cNvGrpSpPr/>
          <p:nvPr/>
        </p:nvGrpSpPr>
        <p:grpSpPr>
          <a:xfrm>
            <a:off x="2394338" y="5151477"/>
            <a:ext cx="6665122" cy="2620923"/>
            <a:chOff x="2889638" y="4332327"/>
            <a:chExt cx="6665122" cy="2620923"/>
          </a:xfrm>
        </p:grpSpPr>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6" name="TextBox 5"/>
            <p:cNvSpPr txBox="1"/>
            <p:nvPr/>
          </p:nvSpPr>
          <p:spPr>
            <a:xfrm>
              <a:off x="7078260" y="5149770"/>
              <a:ext cx="1405862" cy="369332"/>
            </a:xfrm>
            <a:prstGeom prst="rect">
              <a:avLst/>
            </a:prstGeom>
            <a:noFill/>
          </p:spPr>
          <p:txBody>
            <a:bodyPr wrap="square" rtlCol="0">
              <a:spAutoFit/>
            </a:bodyPr>
            <a:lstStyle/>
            <a:p>
              <a:r>
                <a:rPr lang="en-US" dirty="0" smtClean="0"/>
                <a:t>0x1F899BC</a:t>
              </a:r>
              <a:endParaRPr lang="en-US" dirty="0"/>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43217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Humans hate to type</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601364" y="1864217"/>
            <a:ext cx="8678530" cy="2246769"/>
          </a:xfrm>
          <a:prstGeom prst="rect">
            <a:avLst/>
          </a:prstGeom>
          <a:noFill/>
        </p:spPr>
        <p:txBody>
          <a:bodyPr wrap="none" rtlCol="0">
            <a:spAutoFit/>
          </a:bodyPr>
          <a:lstStyle/>
          <a:p>
            <a:r>
              <a:rPr lang="en-US" sz="2800" dirty="0" smtClean="0"/>
              <a:t>Most of the time we want to process data</a:t>
            </a:r>
          </a:p>
          <a:p>
            <a:r>
              <a:rPr lang="en-US" sz="2800" dirty="0" smtClean="0"/>
              <a:t>We really don’t want to care about the location</a:t>
            </a:r>
          </a:p>
          <a:p>
            <a:r>
              <a:rPr lang="en-US" sz="2800" dirty="0" smtClean="0"/>
              <a:t>We just want the answer</a:t>
            </a:r>
          </a:p>
          <a:p>
            <a:r>
              <a:rPr lang="en-US" sz="2800" dirty="0" smtClean="0"/>
              <a:t>So just drop the address from consideration</a:t>
            </a:r>
          </a:p>
          <a:p>
            <a:r>
              <a:rPr lang="en-US" sz="2800" dirty="0" smtClean="0"/>
              <a:t>The symbol represents the contents of a memory location</a:t>
            </a:r>
          </a:p>
        </p:txBody>
      </p:sp>
      <p:sp>
        <p:nvSpPr>
          <p:cNvPr id="6" name="TextBox 5"/>
          <p:cNvSpPr txBox="1"/>
          <p:nvPr/>
        </p:nvSpPr>
        <p:spPr>
          <a:xfrm>
            <a:off x="7078260" y="5149770"/>
            <a:ext cx="1405862" cy="369332"/>
          </a:xfrm>
          <a:prstGeom prst="rect">
            <a:avLst/>
          </a:prstGeom>
          <a:noFill/>
        </p:spPr>
        <p:txBody>
          <a:bodyPr wrap="square" rtlCol="0">
            <a:spAutoFit/>
          </a:bodyPr>
          <a:lstStyle/>
          <a:p>
            <a:r>
              <a:rPr lang="en-US" dirty="0" smtClean="0"/>
              <a:t>0x1F899BC</a:t>
            </a:r>
            <a:endParaRPr lang="en-US" dirty="0"/>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10" name="TextBox 9"/>
          <p:cNvSpPr txBox="1"/>
          <p:nvPr/>
        </p:nvSpPr>
        <p:spPr>
          <a:xfrm>
            <a:off x="7888956" y="4726539"/>
            <a:ext cx="1798056" cy="369332"/>
          </a:xfrm>
          <a:prstGeom prst="rect">
            <a:avLst/>
          </a:prstGeom>
          <a:noFill/>
        </p:spPr>
        <p:txBody>
          <a:bodyPr wrap="none" rtlCol="0">
            <a:spAutoFit/>
          </a:bodyPr>
          <a:lstStyle/>
          <a:p>
            <a:r>
              <a:rPr lang="en-US" dirty="0" smtClean="0"/>
              <a:t>Location in space</a:t>
            </a:r>
            <a:endParaRPr lang="en-US"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92018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Humans hate to type</a:t>
            </a:r>
            <a:endParaRPr lang="en-US" sz="4400" b="0" u="none" strike="noStrike" dirty="0">
              <a:solidFill>
                <a:srgbClr val="000000"/>
              </a:solidFill>
              <a:effectLst/>
              <a:uFillTx/>
              <a:latin typeface="Arial"/>
            </a:endParaRPr>
          </a:p>
        </p:txBody>
      </p:sp>
      <p:sp>
        <p:nvSpPr>
          <p:cNvPr id="3" name="TextBox 2"/>
          <p:cNvSpPr txBox="1"/>
          <p:nvPr/>
        </p:nvSpPr>
        <p:spPr>
          <a:xfrm>
            <a:off x="684365" y="1643155"/>
            <a:ext cx="8646406" cy="3108543"/>
          </a:xfrm>
          <a:prstGeom prst="rect">
            <a:avLst/>
          </a:prstGeom>
          <a:noFill/>
        </p:spPr>
        <p:txBody>
          <a:bodyPr wrap="none" rtlCol="0">
            <a:spAutoFit/>
          </a:bodyPr>
          <a:lstStyle/>
          <a:p>
            <a:r>
              <a:rPr lang="en-US" sz="2800" dirty="0" smtClean="0"/>
              <a:t>If we want the address, we will use the &amp; address operator</a:t>
            </a:r>
          </a:p>
          <a:p>
            <a:endParaRPr lang="en-US" sz="2800" dirty="0"/>
          </a:p>
          <a:p>
            <a:r>
              <a:rPr lang="en-US" sz="2800" dirty="0" smtClean="0"/>
              <a:t>&amp;sum is 0x1F899BC</a:t>
            </a:r>
          </a:p>
          <a:p>
            <a:endParaRPr lang="en-US" sz="2800" dirty="0"/>
          </a:p>
          <a:p>
            <a:r>
              <a:rPr lang="en-US" sz="2800" dirty="0" smtClean="0"/>
              <a:t>sum is 11011 in binary or 55</a:t>
            </a:r>
          </a:p>
          <a:p>
            <a:endParaRPr lang="en-US" sz="2800" dirty="0"/>
          </a:p>
          <a:p>
            <a:r>
              <a:rPr lang="en-US" sz="2800" dirty="0" smtClean="0"/>
              <a:t>C, C++, and Rust all do it this way</a:t>
            </a:r>
          </a:p>
        </p:txBody>
      </p:sp>
      <p:grpSp>
        <p:nvGrpSpPr>
          <p:cNvPr id="12" name="Group 11"/>
          <p:cNvGrpSpPr/>
          <p:nvPr/>
        </p:nvGrpSpPr>
        <p:grpSpPr>
          <a:xfrm>
            <a:off x="2480063" y="4989552"/>
            <a:ext cx="6797374" cy="2620923"/>
            <a:chOff x="2889638" y="4332327"/>
            <a:chExt cx="6797374" cy="2620923"/>
          </a:xfrm>
        </p:grpSpPr>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6" name="TextBox 5"/>
            <p:cNvSpPr txBox="1"/>
            <p:nvPr/>
          </p:nvSpPr>
          <p:spPr>
            <a:xfrm>
              <a:off x="7078260" y="5149770"/>
              <a:ext cx="1405862" cy="369332"/>
            </a:xfrm>
            <a:prstGeom prst="rect">
              <a:avLst/>
            </a:prstGeom>
            <a:noFill/>
          </p:spPr>
          <p:txBody>
            <a:bodyPr wrap="square" rtlCol="0">
              <a:spAutoFit/>
            </a:bodyPr>
            <a:lstStyle/>
            <a:p>
              <a:r>
                <a:rPr lang="en-US" dirty="0" smtClean="0"/>
                <a:t>0x1F899BC</a:t>
              </a:r>
              <a:endParaRPr lang="en-US" dirty="0"/>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10" name="TextBox 9"/>
            <p:cNvSpPr txBox="1"/>
            <p:nvPr/>
          </p:nvSpPr>
          <p:spPr>
            <a:xfrm>
              <a:off x="7888956" y="4726539"/>
              <a:ext cx="1798056" cy="369332"/>
            </a:xfrm>
            <a:prstGeom prst="rect">
              <a:avLst/>
            </a:prstGeom>
            <a:noFill/>
          </p:spPr>
          <p:txBody>
            <a:bodyPr wrap="none" rtlCol="0">
              <a:spAutoFit/>
            </a:bodyPr>
            <a:lstStyle/>
            <a:p>
              <a:r>
                <a:rPr lang="en-US" dirty="0" smtClean="0"/>
                <a:t>Location in space</a:t>
              </a:r>
              <a:endParaRPr lang="en-US"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3343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Machine Size</a:t>
            </a:r>
            <a:endParaRPr lang="en-US" sz="4400" b="0" u="none" strike="noStrike" dirty="0">
              <a:solidFill>
                <a:srgbClr val="000000"/>
              </a:solidFill>
              <a:effectLst/>
              <a:uFillTx/>
              <a:latin typeface="Arial"/>
            </a:endParaRPr>
          </a:p>
        </p:txBody>
      </p:sp>
      <p:sp>
        <p:nvSpPr>
          <p:cNvPr id="3" name="TextBox 2"/>
          <p:cNvSpPr txBox="1"/>
          <p:nvPr/>
        </p:nvSpPr>
        <p:spPr>
          <a:xfrm>
            <a:off x="601364" y="1864217"/>
            <a:ext cx="8999195" cy="4401205"/>
          </a:xfrm>
          <a:prstGeom prst="rect">
            <a:avLst/>
          </a:prstGeom>
          <a:noFill/>
        </p:spPr>
        <p:txBody>
          <a:bodyPr wrap="none" rtlCol="0">
            <a:spAutoFit/>
          </a:bodyPr>
          <a:lstStyle/>
          <a:p>
            <a:r>
              <a:rPr lang="en-US" sz="2800" dirty="0" smtClean="0"/>
              <a:t>The implemented number of bits of the computer’s data bus</a:t>
            </a:r>
          </a:p>
          <a:p>
            <a:endParaRPr lang="en-US" sz="2800" dirty="0" smtClean="0"/>
          </a:p>
          <a:p>
            <a:r>
              <a:rPr lang="en-US" sz="2800" dirty="0" smtClean="0"/>
              <a:t>The natural size of the computer</a:t>
            </a:r>
          </a:p>
          <a:p>
            <a:endParaRPr lang="en-US" sz="2800" dirty="0"/>
          </a:p>
          <a:p>
            <a:r>
              <a:rPr lang="en-US" sz="2800" dirty="0" smtClean="0"/>
              <a:t>Arithmetic Logic Unit works on this many bits at one time</a:t>
            </a:r>
          </a:p>
          <a:p>
            <a:endParaRPr lang="en-US" sz="2800" dirty="0" smtClean="0"/>
          </a:p>
          <a:p>
            <a:r>
              <a:rPr lang="en-US" sz="2800" dirty="0" smtClean="0"/>
              <a:t>Computer is most efficient with this data size</a:t>
            </a:r>
          </a:p>
          <a:p>
            <a:endParaRPr lang="en-US" sz="2800" dirty="0" smtClean="0"/>
          </a:p>
          <a:p>
            <a:r>
              <a:rPr lang="en-US" sz="2800" dirty="0" smtClean="0"/>
              <a:t>Smaller is usually just as fast but bigger takes more time</a:t>
            </a:r>
          </a:p>
          <a:p>
            <a:endParaRPr lang="en-US" sz="2800" dirty="0" smtClean="0"/>
          </a:p>
        </p:txBody>
      </p:sp>
    </p:spTree>
    <p:extLst>
      <p:ext uri="{BB962C8B-B14F-4D97-AF65-F5344CB8AC3E}">
        <p14:creationId xmlns:p14="http://schemas.microsoft.com/office/powerpoint/2010/main" val="1482978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Address Space</a:t>
            </a:r>
            <a:endParaRPr lang="en-US" sz="4400" b="0" u="none" strike="noStrike" dirty="0">
              <a:solidFill>
                <a:srgbClr val="000000"/>
              </a:solidFill>
              <a:effectLst/>
              <a:uFillTx/>
              <a:latin typeface="Arial"/>
            </a:endParaRPr>
          </a:p>
        </p:txBody>
      </p:sp>
      <p:sp>
        <p:nvSpPr>
          <p:cNvPr id="3" name="TextBox 2"/>
          <p:cNvSpPr txBox="1"/>
          <p:nvPr/>
        </p:nvSpPr>
        <p:spPr>
          <a:xfrm>
            <a:off x="447683" y="1854692"/>
            <a:ext cx="9248768" cy="7417415"/>
          </a:xfrm>
          <a:prstGeom prst="rect">
            <a:avLst/>
          </a:prstGeom>
          <a:noFill/>
        </p:spPr>
        <p:txBody>
          <a:bodyPr wrap="square" rtlCol="0">
            <a:spAutoFit/>
          </a:bodyPr>
          <a:lstStyle/>
          <a:p>
            <a:r>
              <a:rPr lang="en-US" sz="2800" dirty="0" smtClean="0"/>
              <a:t>Since the data bus (</a:t>
            </a:r>
            <a:r>
              <a:rPr lang="en-US" sz="2800" dirty="0" err="1" smtClean="0"/>
              <a:t>num_databus_bits</a:t>
            </a:r>
            <a:r>
              <a:rPr lang="en-US" sz="2800" dirty="0" smtClean="0"/>
              <a:t>) is used to compute addresses</a:t>
            </a:r>
          </a:p>
          <a:p>
            <a:r>
              <a:rPr lang="en-US" sz="2800" dirty="0"/>
              <a:t>	</a:t>
            </a:r>
            <a:r>
              <a:rPr lang="en-US" sz="2800" dirty="0" smtClean="0"/>
              <a:t>address size : [ 0 ... 2</a:t>
            </a:r>
            <a:r>
              <a:rPr lang="en-US" sz="2800" baseline="30000" dirty="0" smtClean="0"/>
              <a:t>num_databus_bits</a:t>
            </a:r>
            <a:r>
              <a:rPr lang="en-US" sz="2800" dirty="0" smtClean="0"/>
              <a:t> – 1]</a:t>
            </a:r>
          </a:p>
          <a:p>
            <a:endParaRPr lang="en-US" sz="2800" dirty="0"/>
          </a:p>
          <a:p>
            <a:r>
              <a:rPr lang="en-US" sz="2800" dirty="0" smtClean="0"/>
              <a:t>The universe of addresses representable is called the</a:t>
            </a:r>
          </a:p>
          <a:p>
            <a:r>
              <a:rPr lang="en-US" sz="2800" dirty="0"/>
              <a:t>	</a:t>
            </a:r>
            <a:r>
              <a:rPr lang="en-US" sz="2800" dirty="0" smtClean="0"/>
              <a:t> </a:t>
            </a:r>
            <a:r>
              <a:rPr lang="en-US" sz="2800" b="1" dirty="0" smtClean="0"/>
              <a:t>address space</a:t>
            </a:r>
          </a:p>
          <a:p>
            <a:endParaRPr lang="en-US" sz="2800" dirty="0"/>
          </a:p>
          <a:p>
            <a:r>
              <a:rPr lang="en-US" sz="2800" dirty="0" smtClean="0"/>
              <a:t>For 32 bits </a:t>
            </a:r>
          </a:p>
          <a:p>
            <a:r>
              <a:rPr lang="en-US" sz="2800" dirty="0"/>
              <a:t>	</a:t>
            </a:r>
            <a:r>
              <a:rPr lang="en-US" sz="2800" dirty="0" smtClean="0"/>
              <a:t>address space : [0 … 2</a:t>
            </a:r>
            <a:r>
              <a:rPr lang="en-US" sz="2800" baseline="30000" dirty="0" smtClean="0"/>
              <a:t>32</a:t>
            </a:r>
            <a:r>
              <a:rPr lang="en-US" sz="2800" dirty="0" smtClean="0"/>
              <a:t> – 1] = 4,294,967,295 = 4 </a:t>
            </a:r>
            <a:r>
              <a:rPr lang="en-US" sz="2800" dirty="0" err="1" smtClean="0"/>
              <a:t>GBytes</a:t>
            </a:r>
            <a:endParaRPr lang="en-US" sz="2800" dirty="0" smtClean="0"/>
          </a:p>
          <a:p>
            <a:endParaRPr lang="en-US" sz="2800" dirty="0"/>
          </a:p>
          <a:p>
            <a:r>
              <a:rPr lang="en-US" sz="2800" dirty="0" smtClean="0"/>
              <a:t>For 64 bits</a:t>
            </a:r>
          </a:p>
          <a:p>
            <a:r>
              <a:rPr lang="en-US" sz="2800" dirty="0" smtClean="0"/>
              <a:t>	address </a:t>
            </a:r>
            <a:r>
              <a:rPr lang="en-US" sz="2800" dirty="0"/>
              <a:t>space : [0 … </a:t>
            </a:r>
            <a:r>
              <a:rPr lang="en-US" sz="2800" dirty="0" smtClean="0"/>
              <a:t>2</a:t>
            </a:r>
            <a:r>
              <a:rPr lang="en-US" sz="2800" baseline="30000" dirty="0" smtClean="0"/>
              <a:t>64</a:t>
            </a:r>
            <a:r>
              <a:rPr lang="en-US" sz="2800" dirty="0" smtClean="0"/>
              <a:t> </a:t>
            </a:r>
            <a:r>
              <a:rPr lang="en-US" sz="2800" dirty="0"/>
              <a:t>– 1] </a:t>
            </a:r>
            <a:r>
              <a:rPr lang="en-US" sz="2800" dirty="0" smtClean="0"/>
              <a:t>=</a:t>
            </a:r>
          </a:p>
          <a:p>
            <a:r>
              <a:rPr lang="en-US" sz="2800" dirty="0"/>
              <a:t>	</a:t>
            </a:r>
            <a:r>
              <a:rPr lang="en-US" sz="2800" dirty="0" smtClean="0"/>
              <a:t>	18,446,744,073,709,551,615 = 18.45 </a:t>
            </a:r>
            <a:r>
              <a:rPr lang="en-US" sz="2800" dirty="0" err="1" smtClean="0"/>
              <a:t>ExaBytes</a:t>
            </a:r>
            <a:endParaRPr lang="en-US" sz="2800" dirty="0" smtClean="0"/>
          </a:p>
          <a:p>
            <a:endParaRPr lang="en-US" sz="2800" dirty="0"/>
          </a:p>
          <a:p>
            <a:r>
              <a:rPr lang="en-US" sz="2800" dirty="0" smtClean="0"/>
              <a:t> </a:t>
            </a:r>
          </a:p>
          <a:p>
            <a:endParaRPr lang="en-US" sz="2800" dirty="0" smtClean="0"/>
          </a:p>
          <a:p>
            <a:endParaRPr lang="en-US" sz="2800" dirty="0" smtClean="0"/>
          </a:p>
        </p:txBody>
      </p:sp>
    </p:spTree>
    <p:extLst>
      <p:ext uri="{BB962C8B-B14F-4D97-AF65-F5344CB8AC3E}">
        <p14:creationId xmlns:p14="http://schemas.microsoft.com/office/powerpoint/2010/main" val="494757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Implementing Address Space</a:t>
            </a:r>
            <a:endParaRPr lang="en-US" sz="4400" b="0" u="none" strike="noStrike" dirty="0">
              <a:solidFill>
                <a:srgbClr val="000000"/>
              </a:solidFill>
              <a:effectLst/>
              <a:uFillTx/>
              <a:latin typeface="Arial"/>
            </a:endParaRPr>
          </a:p>
        </p:txBody>
      </p:sp>
      <p:sp>
        <p:nvSpPr>
          <p:cNvPr id="3" name="TextBox 2"/>
          <p:cNvSpPr txBox="1"/>
          <p:nvPr/>
        </p:nvSpPr>
        <p:spPr>
          <a:xfrm>
            <a:off x="502920" y="1788017"/>
            <a:ext cx="8783955" cy="6986528"/>
          </a:xfrm>
          <a:prstGeom prst="rect">
            <a:avLst/>
          </a:prstGeom>
          <a:noFill/>
        </p:spPr>
        <p:txBody>
          <a:bodyPr wrap="square" rtlCol="0">
            <a:spAutoFit/>
          </a:bodyPr>
          <a:lstStyle/>
          <a:p>
            <a:r>
              <a:rPr lang="en-US" sz="2800" dirty="0" smtClean="0"/>
              <a:t>Computer does not have to implement the entire address space</a:t>
            </a:r>
          </a:p>
          <a:p>
            <a:endParaRPr lang="en-US" sz="2800" dirty="0"/>
          </a:p>
          <a:p>
            <a:r>
              <a:rPr lang="en-US" sz="2800" dirty="0" smtClean="0"/>
              <a:t>The physical address space may be smaller than the full address space</a:t>
            </a:r>
          </a:p>
          <a:p>
            <a:endParaRPr lang="en-US" sz="2800" dirty="0"/>
          </a:p>
          <a:p>
            <a:r>
              <a:rPr lang="en-US" sz="2800" dirty="0" smtClean="0"/>
              <a:t>Embedded Systems which utilize 32 bit MCUs do not usually implement all of the possible 4 G Byte address space</a:t>
            </a:r>
          </a:p>
          <a:p>
            <a:endParaRPr lang="en-US" sz="2800" dirty="0"/>
          </a:p>
          <a:p>
            <a:r>
              <a:rPr lang="en-US" sz="2800" dirty="0" smtClean="0"/>
              <a:t>Desktops, Laptops, and Notebooks do not implement all 18 </a:t>
            </a:r>
            <a:r>
              <a:rPr lang="en-US" sz="2800" dirty="0" err="1" smtClean="0"/>
              <a:t>Exa</a:t>
            </a:r>
            <a:r>
              <a:rPr lang="en-US" sz="2800" dirty="0" smtClean="0"/>
              <a:t> Bytes</a:t>
            </a:r>
          </a:p>
          <a:p>
            <a:endParaRPr lang="en-US" sz="2800" dirty="0" smtClean="0"/>
          </a:p>
          <a:p>
            <a:endParaRPr lang="en-US" sz="2800" dirty="0"/>
          </a:p>
          <a:p>
            <a:endParaRPr lang="en-US" sz="2800" dirty="0" smtClean="0"/>
          </a:p>
          <a:p>
            <a:endParaRPr lang="en-US" sz="2800" dirty="0" smtClean="0"/>
          </a:p>
        </p:txBody>
      </p:sp>
    </p:spTree>
    <p:extLst>
      <p:ext uri="{BB962C8B-B14F-4D97-AF65-F5344CB8AC3E}">
        <p14:creationId xmlns:p14="http://schemas.microsoft.com/office/powerpoint/2010/main" val="2189375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Virtual Memory</a:t>
            </a:r>
            <a:endParaRPr lang="en-US" sz="4400" b="0" u="none" strike="noStrike" dirty="0">
              <a:solidFill>
                <a:srgbClr val="000000"/>
              </a:solidFill>
              <a:effectLst/>
              <a:uFillTx/>
              <a:latin typeface="Arial"/>
            </a:endParaRPr>
          </a:p>
        </p:txBody>
      </p:sp>
      <p:sp>
        <p:nvSpPr>
          <p:cNvPr id="3" name="TextBox 2"/>
          <p:cNvSpPr txBox="1"/>
          <p:nvPr/>
        </p:nvSpPr>
        <p:spPr>
          <a:xfrm>
            <a:off x="502920" y="1788017"/>
            <a:ext cx="8783955" cy="5693866"/>
          </a:xfrm>
          <a:prstGeom prst="rect">
            <a:avLst/>
          </a:prstGeom>
          <a:noFill/>
        </p:spPr>
        <p:txBody>
          <a:bodyPr wrap="square" rtlCol="0">
            <a:spAutoFit/>
          </a:bodyPr>
          <a:lstStyle/>
          <a:p>
            <a:r>
              <a:rPr lang="en-US" sz="2800" dirty="0" smtClean="0"/>
              <a:t>Every access to memory ultimately needs a physical address</a:t>
            </a:r>
          </a:p>
          <a:p>
            <a:endParaRPr lang="en-US" sz="2800" dirty="0"/>
          </a:p>
          <a:p>
            <a:r>
              <a:rPr lang="en-US" sz="2800" dirty="0" smtClean="0"/>
              <a:t>To make things easier for the programmer, present the allusion that memory is just one large contiguous set of addresses</a:t>
            </a:r>
          </a:p>
          <a:p>
            <a:endParaRPr lang="en-US" sz="2800" dirty="0"/>
          </a:p>
          <a:p>
            <a:r>
              <a:rPr lang="en-US" sz="2800" dirty="0" smtClean="0"/>
              <a:t>This allusion is called </a:t>
            </a:r>
            <a:r>
              <a:rPr lang="en-US" sz="2800" b="1" dirty="0" smtClean="0"/>
              <a:t>virtual memory</a:t>
            </a:r>
          </a:p>
          <a:p>
            <a:endParaRPr lang="en-US" sz="2800" dirty="0"/>
          </a:p>
          <a:p>
            <a:endParaRPr lang="en-US" sz="2800" dirty="0" smtClean="0"/>
          </a:p>
          <a:p>
            <a:endParaRPr lang="en-US" sz="2800" dirty="0"/>
          </a:p>
          <a:p>
            <a:endParaRPr lang="en-US" sz="2800" dirty="0" smtClean="0"/>
          </a:p>
          <a:p>
            <a:endParaRPr lang="en-US" sz="2800" dirty="0" smtClean="0"/>
          </a:p>
        </p:txBody>
      </p:sp>
    </p:spTree>
    <p:extLst>
      <p:ext uri="{BB962C8B-B14F-4D97-AF65-F5344CB8AC3E}">
        <p14:creationId xmlns:p14="http://schemas.microsoft.com/office/powerpoint/2010/main" val="32486544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Memory Mapping</a:t>
            </a:r>
            <a:endParaRPr lang="en-US" sz="4400" b="0" u="none" strike="noStrike" dirty="0">
              <a:solidFill>
                <a:srgbClr val="000000"/>
              </a:solidFill>
              <a:effectLst/>
              <a:uFillTx/>
              <a:latin typeface="Arial"/>
            </a:endParaRPr>
          </a:p>
        </p:txBody>
      </p:sp>
      <p:sp>
        <p:nvSpPr>
          <p:cNvPr id="3" name="TextBox 2"/>
          <p:cNvSpPr txBox="1"/>
          <p:nvPr/>
        </p:nvSpPr>
        <p:spPr>
          <a:xfrm>
            <a:off x="636862" y="1340280"/>
            <a:ext cx="8783955" cy="9140964"/>
          </a:xfrm>
          <a:prstGeom prst="rect">
            <a:avLst/>
          </a:prstGeom>
          <a:noFill/>
        </p:spPr>
        <p:txBody>
          <a:bodyPr wrap="square" rtlCol="0">
            <a:spAutoFit/>
          </a:bodyPr>
          <a:lstStyle/>
          <a:p>
            <a:r>
              <a:rPr lang="en-US" sz="2800" dirty="0" smtClean="0"/>
              <a:t>This requires a translation:</a:t>
            </a:r>
          </a:p>
          <a:p>
            <a:r>
              <a:rPr lang="en-US" sz="2800" dirty="0"/>
              <a:t>	</a:t>
            </a:r>
            <a:r>
              <a:rPr lang="en-US" sz="2800" dirty="0" smtClean="0"/>
              <a:t>virtual address </a:t>
            </a:r>
            <a:r>
              <a:rPr lang="en-US" sz="2800" dirty="0" smtClean="0">
                <a:sym typeface="Wingdings" panose="05000000000000000000" pitchFamily="2" charset="2"/>
              </a:rPr>
              <a:t>  physical address</a:t>
            </a:r>
            <a:endParaRPr lang="en-US" sz="2800" dirty="0"/>
          </a:p>
          <a:p>
            <a:r>
              <a:rPr lang="en-US" sz="2800" dirty="0" smtClean="0"/>
              <a:t>A computer needs to perform the translation and check to see if the physical address exists</a:t>
            </a:r>
          </a:p>
          <a:p>
            <a:endParaRPr lang="en-US" sz="2400" dirty="0"/>
          </a:p>
          <a:p>
            <a:r>
              <a:rPr lang="en-US" sz="2800" dirty="0" smtClean="0"/>
              <a:t>Modern computers have hardware to do this efficiently</a:t>
            </a:r>
          </a:p>
          <a:p>
            <a:endParaRPr lang="en-US" sz="2400" dirty="0"/>
          </a:p>
          <a:p>
            <a:r>
              <a:rPr lang="en-US" sz="2800" dirty="0" smtClean="0"/>
              <a:t>Users see one large space; physical space can be segmented</a:t>
            </a:r>
          </a:p>
          <a:p>
            <a:endParaRPr lang="en-US" sz="2400" dirty="0" smtClean="0"/>
          </a:p>
          <a:p>
            <a:r>
              <a:rPr lang="en-US" sz="2800" dirty="0" smtClean="0"/>
              <a:t>Allows </a:t>
            </a:r>
            <a:r>
              <a:rPr lang="en-US" sz="2800" dirty="0"/>
              <a:t>computer architect to optimize variable placement</a:t>
            </a:r>
          </a:p>
          <a:p>
            <a:endParaRPr lang="en-US" sz="2000" dirty="0" smtClean="0"/>
          </a:p>
          <a:p>
            <a:r>
              <a:rPr lang="en-US" sz="2800" dirty="0" smtClean="0"/>
              <a:t>Aside: Hardware is named the memory mapper and may use special memory used to speed the process called the TLB or translation look aside buffer.</a:t>
            </a:r>
          </a:p>
          <a:p>
            <a:endParaRPr lang="en-US" sz="2800" b="1" dirty="0" smtClean="0"/>
          </a:p>
          <a:p>
            <a:endParaRPr lang="en-US" sz="2800" dirty="0"/>
          </a:p>
          <a:p>
            <a:endParaRPr lang="en-US" sz="2800" dirty="0" smtClean="0"/>
          </a:p>
          <a:p>
            <a:endParaRPr lang="en-US" sz="2800" dirty="0"/>
          </a:p>
          <a:p>
            <a:endParaRPr lang="en-US" sz="2800" dirty="0" smtClean="0"/>
          </a:p>
          <a:p>
            <a:endParaRPr lang="en-US" sz="2800" dirty="0" smtClean="0"/>
          </a:p>
        </p:txBody>
      </p:sp>
    </p:spTree>
    <p:extLst>
      <p:ext uri="{BB962C8B-B14F-4D97-AF65-F5344CB8AC3E}">
        <p14:creationId xmlns:p14="http://schemas.microsoft.com/office/powerpoint/2010/main" val="4191605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Linux Memory Mapping</a:t>
            </a:r>
            <a:endParaRPr lang="en-US" sz="4400" b="0" u="none" strike="noStrike" dirty="0">
              <a:solidFill>
                <a:srgbClr val="000000"/>
              </a:solidFill>
              <a:effectLst/>
              <a:uFillTx/>
              <a:latin typeface="Arial"/>
            </a:endParaRPr>
          </a:p>
        </p:txBody>
      </p:sp>
      <p:sp>
        <p:nvSpPr>
          <p:cNvPr id="3" name="TextBox 2"/>
          <p:cNvSpPr txBox="1"/>
          <p:nvPr/>
        </p:nvSpPr>
        <p:spPr>
          <a:xfrm>
            <a:off x="502920" y="1788017"/>
            <a:ext cx="8783955" cy="2677656"/>
          </a:xfrm>
          <a:prstGeom prst="rect">
            <a:avLst/>
          </a:prstGeom>
          <a:noFill/>
        </p:spPr>
        <p:txBody>
          <a:bodyPr wrap="square" rtlCol="0">
            <a:spAutoFit/>
          </a:bodyPr>
          <a:lstStyle/>
          <a:p>
            <a:endParaRPr lang="en-US" sz="2800" b="1" dirty="0" smtClean="0"/>
          </a:p>
          <a:p>
            <a:endParaRPr lang="en-US" sz="2800" dirty="0"/>
          </a:p>
          <a:p>
            <a:endParaRPr lang="en-US" sz="2800" dirty="0" smtClean="0"/>
          </a:p>
          <a:p>
            <a:endParaRPr lang="en-US" sz="2800" dirty="0"/>
          </a:p>
          <a:p>
            <a:endParaRPr lang="en-US" sz="2800" dirty="0" smtClean="0"/>
          </a:p>
          <a:p>
            <a:endParaRPr lang="en-US" sz="2800" dirty="0" smtClean="0"/>
          </a:p>
        </p:txBody>
      </p:sp>
      <p:pic>
        <p:nvPicPr>
          <p:cNvPr id="4" name="Content Placeholder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8217" y="2198996"/>
            <a:ext cx="6715316" cy="5499614"/>
          </a:xfrm>
          <a:prstGeom prst="rect">
            <a:avLst/>
          </a:prstGeom>
        </p:spPr>
      </p:pic>
      <p:sp>
        <p:nvSpPr>
          <p:cNvPr id="5" name="Title 1"/>
          <p:cNvSpPr>
            <a:spLocks noGrp="1"/>
          </p:cNvSpPr>
          <p:nvPr>
            <p:ph type="title"/>
          </p:nvPr>
        </p:nvSpPr>
        <p:spPr>
          <a:xfrm>
            <a:off x="1646896" y="1688195"/>
            <a:ext cx="7907864" cy="480600"/>
          </a:xfrm>
        </p:spPr>
        <p:txBody>
          <a:bodyPr/>
          <a:lstStyle/>
          <a:p>
            <a:r>
              <a:rPr lang="en-US" sz="3600" dirty="0" smtClean="0"/>
              <a:t>Memory map of Linux 32 bit OS</a:t>
            </a:r>
            <a:endParaRPr lang="en-US" sz="3600" dirty="0"/>
          </a:p>
        </p:txBody>
      </p:sp>
    </p:spTree>
    <p:extLst>
      <p:ext uri="{BB962C8B-B14F-4D97-AF65-F5344CB8AC3E}">
        <p14:creationId xmlns:p14="http://schemas.microsoft.com/office/powerpoint/2010/main" val="41943942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Addresses are Unsigned Integers</a:t>
            </a:r>
            <a:endParaRPr lang="en-US" sz="4400" b="0" u="none" strike="noStrike" dirty="0">
              <a:solidFill>
                <a:srgbClr val="000000"/>
              </a:solidFill>
              <a:effectLst/>
              <a:uFillTx/>
              <a:latin typeface="Arial"/>
            </a:endParaRPr>
          </a:p>
        </p:txBody>
      </p:sp>
      <p:sp>
        <p:nvSpPr>
          <p:cNvPr id="3" name="TextBox 2"/>
          <p:cNvSpPr txBox="1"/>
          <p:nvPr/>
        </p:nvSpPr>
        <p:spPr>
          <a:xfrm>
            <a:off x="502920" y="1788017"/>
            <a:ext cx="8783955" cy="4832092"/>
          </a:xfrm>
          <a:prstGeom prst="rect">
            <a:avLst/>
          </a:prstGeom>
          <a:noFill/>
        </p:spPr>
        <p:txBody>
          <a:bodyPr wrap="square" rtlCol="0">
            <a:spAutoFit/>
          </a:bodyPr>
          <a:lstStyle/>
          <a:p>
            <a:r>
              <a:rPr lang="en-US" sz="2800" dirty="0" smtClean="0"/>
              <a:t>Every memory access needs to be checked</a:t>
            </a:r>
          </a:p>
          <a:p>
            <a:endParaRPr lang="en-US" sz="2800" dirty="0"/>
          </a:p>
          <a:p>
            <a:r>
              <a:rPr lang="en-US" sz="2800" dirty="0" smtClean="0"/>
              <a:t>Unsigned integers need only one check : limit of address space</a:t>
            </a:r>
          </a:p>
          <a:p>
            <a:endParaRPr lang="en-US" sz="2800" dirty="0"/>
          </a:p>
          <a:p>
            <a:r>
              <a:rPr lang="en-US" sz="2800" dirty="0" smtClean="0"/>
              <a:t>Integers would require two checks!  One for positive limit and one for negative limit</a:t>
            </a:r>
          </a:p>
          <a:p>
            <a:endParaRPr lang="en-US" sz="2800" dirty="0"/>
          </a:p>
          <a:p>
            <a:r>
              <a:rPr lang="en-US" sz="2800" dirty="0" smtClean="0"/>
              <a:t>Speed rules!</a:t>
            </a:r>
            <a:endParaRPr lang="en-US" sz="2800" dirty="0"/>
          </a:p>
          <a:p>
            <a:endParaRPr lang="en-US" sz="2800" dirty="0" smtClean="0"/>
          </a:p>
          <a:p>
            <a:endParaRPr lang="en-US" sz="2800" dirty="0" smtClean="0"/>
          </a:p>
        </p:txBody>
      </p:sp>
    </p:spTree>
    <p:extLst>
      <p:ext uri="{BB962C8B-B14F-4D97-AF65-F5344CB8AC3E}">
        <p14:creationId xmlns:p14="http://schemas.microsoft.com/office/powerpoint/2010/main" val="1668030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Common Machine Sizes</a:t>
            </a:r>
            <a:endParaRPr lang="en-US" sz="4400" b="0" u="none" strike="noStrike" dirty="0">
              <a:solidFill>
                <a:srgbClr val="000000"/>
              </a:solidFill>
              <a:effectLst/>
              <a:uFillTx/>
              <a:latin typeface="Arial"/>
            </a:endParaRPr>
          </a:p>
        </p:txBody>
      </p:sp>
      <p:sp>
        <p:nvSpPr>
          <p:cNvPr id="3" name="TextBox 2"/>
          <p:cNvSpPr txBox="1"/>
          <p:nvPr/>
        </p:nvSpPr>
        <p:spPr>
          <a:xfrm>
            <a:off x="341916" y="1949942"/>
            <a:ext cx="9364059" cy="4401205"/>
          </a:xfrm>
          <a:prstGeom prst="rect">
            <a:avLst/>
          </a:prstGeom>
          <a:noFill/>
        </p:spPr>
        <p:txBody>
          <a:bodyPr wrap="square" rtlCol="0">
            <a:spAutoFit/>
          </a:bodyPr>
          <a:lstStyle/>
          <a:p>
            <a:r>
              <a:rPr lang="en-US" sz="2800" dirty="0" smtClean="0"/>
              <a:t>Most new desktop, laptop, and notebook computers are 64 bits</a:t>
            </a:r>
          </a:p>
          <a:p>
            <a:endParaRPr lang="en-US" sz="2800" dirty="0" smtClean="0"/>
          </a:p>
          <a:p>
            <a:r>
              <a:rPr lang="en-US" sz="2800" dirty="0" smtClean="0"/>
              <a:t>Most embedded computers have a 32 bit data and address space</a:t>
            </a:r>
          </a:p>
          <a:p>
            <a:endParaRPr lang="en-US" sz="2800" dirty="0"/>
          </a:p>
          <a:p>
            <a:r>
              <a:rPr lang="en-US" sz="2800" dirty="0" smtClean="0"/>
              <a:t>It is best to use the machine word size because it is efficient</a:t>
            </a:r>
            <a:endParaRPr lang="en-US" sz="2800" dirty="0"/>
          </a:p>
          <a:p>
            <a:endParaRPr lang="en-US" sz="2800" dirty="0" smtClean="0"/>
          </a:p>
          <a:p>
            <a:r>
              <a:rPr lang="en-US" sz="2800" dirty="0" smtClean="0"/>
              <a:t>While addresses are unsigned integers, our program data can be either signed or unsigned</a:t>
            </a:r>
          </a:p>
        </p:txBody>
      </p:sp>
    </p:spTree>
    <p:extLst>
      <p:ext uri="{BB962C8B-B14F-4D97-AF65-F5344CB8AC3E}">
        <p14:creationId xmlns:p14="http://schemas.microsoft.com/office/powerpoint/2010/main" val="17320921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Natural Size on 64 Bit Machines</a:t>
            </a:r>
            <a:endParaRPr lang="en-US" sz="4400" b="0" u="none" strike="noStrike" dirty="0">
              <a:solidFill>
                <a:srgbClr val="000000"/>
              </a:solidFill>
              <a:effectLst/>
              <a:uFillTx/>
              <a:latin typeface="Arial"/>
            </a:endParaRPr>
          </a:p>
        </p:txBody>
      </p:sp>
      <p:sp>
        <p:nvSpPr>
          <p:cNvPr id="3" name="TextBox 2"/>
          <p:cNvSpPr txBox="1"/>
          <p:nvPr/>
        </p:nvSpPr>
        <p:spPr>
          <a:xfrm>
            <a:off x="341915" y="1949942"/>
            <a:ext cx="9325959" cy="4401205"/>
          </a:xfrm>
          <a:prstGeom prst="rect">
            <a:avLst/>
          </a:prstGeom>
          <a:noFill/>
        </p:spPr>
        <p:txBody>
          <a:bodyPr wrap="square" rtlCol="0">
            <a:spAutoFit/>
          </a:bodyPr>
          <a:lstStyle/>
          <a:p>
            <a:r>
              <a:rPr lang="en-US" sz="2800" dirty="0" smtClean="0"/>
              <a:t>Rust : </a:t>
            </a:r>
          </a:p>
          <a:p>
            <a:r>
              <a:rPr lang="en-US" sz="2800" dirty="0"/>
              <a:t>	</a:t>
            </a:r>
            <a:r>
              <a:rPr lang="en-US" sz="2800" b="1" dirty="0" smtClean="0"/>
              <a:t>i64</a:t>
            </a:r>
            <a:r>
              <a:rPr lang="en-US" sz="2800" dirty="0" smtClean="0"/>
              <a:t> : </a:t>
            </a:r>
            <a:r>
              <a:rPr lang="en-US" sz="2800" dirty="0"/>
              <a:t>signed integer </a:t>
            </a:r>
            <a:r>
              <a:rPr lang="en-US" sz="2800" dirty="0" smtClean="0"/>
              <a:t> [-</a:t>
            </a:r>
            <a:r>
              <a:rPr lang="en-US" sz="2800" dirty="0"/>
              <a:t>2⁶³ </a:t>
            </a:r>
            <a:r>
              <a:rPr lang="en-US" sz="2800" dirty="0" smtClean="0"/>
              <a:t>… 2</a:t>
            </a:r>
            <a:r>
              <a:rPr lang="en-US" sz="2800" dirty="0"/>
              <a:t>⁶³ - </a:t>
            </a:r>
            <a:r>
              <a:rPr lang="en-US" sz="2800" dirty="0" smtClean="0"/>
              <a:t>1]</a:t>
            </a:r>
          </a:p>
          <a:p>
            <a:r>
              <a:rPr lang="en-US" sz="2800" dirty="0"/>
              <a:t>	</a:t>
            </a:r>
            <a:r>
              <a:rPr lang="en-US" sz="2800" b="1" dirty="0" smtClean="0"/>
              <a:t>u64</a:t>
            </a:r>
            <a:r>
              <a:rPr lang="en-US" sz="2800" dirty="0" smtClean="0"/>
              <a:t> : unsigned integer [0 … </a:t>
            </a:r>
            <a:r>
              <a:rPr lang="en-US" sz="2800" dirty="0"/>
              <a:t>, </a:t>
            </a:r>
            <a:r>
              <a:rPr lang="en-US" sz="2800" dirty="0" smtClean="0"/>
              <a:t> </a:t>
            </a:r>
            <a:r>
              <a:rPr lang="en-US" sz="2800" dirty="0"/>
              <a:t>2⁶⁴ - </a:t>
            </a:r>
            <a:r>
              <a:rPr lang="en-US" sz="2800" dirty="0" smtClean="0"/>
              <a:t>1]</a:t>
            </a:r>
          </a:p>
          <a:p>
            <a:endParaRPr lang="en-US" sz="2800" dirty="0" smtClean="0"/>
          </a:p>
          <a:p>
            <a:r>
              <a:rPr lang="en-US" sz="2800" dirty="0" smtClean="0"/>
              <a:t>C, C++:</a:t>
            </a:r>
          </a:p>
          <a:p>
            <a:r>
              <a:rPr lang="en-US" sz="2800" dirty="0"/>
              <a:t>	</a:t>
            </a:r>
            <a:r>
              <a:rPr lang="en-US" sz="2800" b="1" dirty="0" smtClean="0"/>
              <a:t>long </a:t>
            </a:r>
            <a:r>
              <a:rPr lang="en-US" sz="2800" b="1" dirty="0" err="1" smtClean="0"/>
              <a:t>long</a:t>
            </a:r>
            <a:r>
              <a:rPr lang="en-US" sz="2800" b="1" dirty="0" smtClean="0"/>
              <a:t> </a:t>
            </a:r>
            <a:r>
              <a:rPr lang="en-US" sz="2800" dirty="0"/>
              <a:t>: signed integer  [-2⁶³ … 2⁶³ - 1]</a:t>
            </a:r>
          </a:p>
          <a:p>
            <a:r>
              <a:rPr lang="en-US" sz="2800" dirty="0" smtClean="0"/>
              <a:t>	</a:t>
            </a:r>
            <a:r>
              <a:rPr lang="en-US" sz="2800" b="1" dirty="0" smtClean="0"/>
              <a:t>unsigned long </a:t>
            </a:r>
            <a:r>
              <a:rPr lang="en-US" sz="2800" b="1" dirty="0" err="1" smtClean="0"/>
              <a:t>long</a:t>
            </a:r>
            <a:r>
              <a:rPr lang="en-US" sz="2800" b="1" dirty="0" smtClean="0"/>
              <a:t> </a:t>
            </a:r>
            <a:r>
              <a:rPr lang="en-US" sz="2800" dirty="0" smtClean="0"/>
              <a:t>: unsigned integer </a:t>
            </a:r>
            <a:r>
              <a:rPr lang="en-US" sz="2800" dirty="0"/>
              <a:t>[0 … ,  2⁶⁴ - 1</a:t>
            </a:r>
            <a:r>
              <a:rPr lang="en-US" sz="2800" dirty="0" smtClean="0"/>
              <a:t>]</a:t>
            </a:r>
          </a:p>
          <a:p>
            <a:endParaRPr lang="en-US" sz="2800" dirty="0"/>
          </a:p>
          <a:p>
            <a:r>
              <a:rPr lang="en-US" sz="2800" dirty="0" smtClean="0"/>
              <a:t>Problematic!  These languages existed before 64 bit machines</a:t>
            </a:r>
            <a:endParaRPr lang="en-US" sz="2800" dirty="0"/>
          </a:p>
          <a:p>
            <a:endParaRPr lang="en-US" sz="2800" dirty="0" smtClean="0"/>
          </a:p>
        </p:txBody>
      </p:sp>
    </p:spTree>
    <p:extLst>
      <p:ext uri="{BB962C8B-B14F-4D97-AF65-F5344CB8AC3E}">
        <p14:creationId xmlns:p14="http://schemas.microsoft.com/office/powerpoint/2010/main" val="5265392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Use </a:t>
            </a:r>
            <a:r>
              <a:rPr lang="en-US" sz="4400" b="1" dirty="0">
                <a:solidFill>
                  <a:schemeClr val="lt1"/>
                </a:solidFill>
                <a:latin typeface="Arial"/>
              </a:rPr>
              <a:t>the C, C</a:t>
            </a:r>
            <a:r>
              <a:rPr lang="en-US" sz="4400" b="1" dirty="0" smtClean="0">
                <a:solidFill>
                  <a:schemeClr val="lt1"/>
                </a:solidFill>
                <a:latin typeface="Arial"/>
              </a:rPr>
              <a:t>++</a:t>
            </a:r>
            <a:r>
              <a:rPr lang="en-US" sz="4400" dirty="0" smtClean="0">
                <a:solidFill>
                  <a:srgbClr val="000000"/>
                </a:solidFill>
                <a:latin typeface="Arial"/>
              </a:rPr>
              <a:t> </a:t>
            </a:r>
            <a:r>
              <a:rPr lang="en-US" sz="4400" b="1" dirty="0" smtClean="0">
                <a:solidFill>
                  <a:schemeClr val="lt1"/>
                </a:solidFill>
                <a:latin typeface="Arial"/>
              </a:rPr>
              <a:t>Preprocessor</a:t>
            </a:r>
            <a:endParaRPr lang="en-US" sz="4400" b="0" u="none" strike="noStrike" dirty="0">
              <a:solidFill>
                <a:srgbClr val="000000"/>
              </a:solidFill>
              <a:effectLst/>
              <a:uFillTx/>
              <a:latin typeface="Arial"/>
            </a:endParaRPr>
          </a:p>
        </p:txBody>
      </p:sp>
      <p:sp>
        <p:nvSpPr>
          <p:cNvPr id="3" name="TextBox 2"/>
          <p:cNvSpPr txBox="1"/>
          <p:nvPr/>
        </p:nvSpPr>
        <p:spPr>
          <a:xfrm>
            <a:off x="341915" y="1949942"/>
            <a:ext cx="9325959" cy="4832092"/>
          </a:xfrm>
          <a:prstGeom prst="rect">
            <a:avLst/>
          </a:prstGeom>
          <a:noFill/>
        </p:spPr>
        <p:txBody>
          <a:bodyPr wrap="square" rtlCol="0">
            <a:spAutoFit/>
          </a:bodyPr>
          <a:lstStyle/>
          <a:p>
            <a:r>
              <a:rPr lang="en-US" sz="2800" dirty="0" smtClean="0"/>
              <a:t>The C and C++ languages use a preprocessor before they compile your code</a:t>
            </a:r>
          </a:p>
          <a:p>
            <a:endParaRPr lang="en-US" sz="2800" dirty="0"/>
          </a:p>
          <a:p>
            <a:r>
              <a:rPr lang="en-US" sz="2800" dirty="0" smtClean="0"/>
              <a:t>The preprocessor is sensitive to lines that begin with </a:t>
            </a:r>
            <a:r>
              <a:rPr lang="en-US" sz="2800" b="1" dirty="0" smtClean="0"/>
              <a:t>#</a:t>
            </a:r>
          </a:p>
          <a:p>
            <a:endParaRPr lang="en-US" sz="2800" dirty="0"/>
          </a:p>
          <a:p>
            <a:r>
              <a:rPr lang="en-US" sz="2800" dirty="0" smtClean="0"/>
              <a:t>Lines beginning with </a:t>
            </a:r>
            <a:r>
              <a:rPr lang="en-US" sz="2800" b="1" dirty="0" smtClean="0"/>
              <a:t># </a:t>
            </a:r>
            <a:r>
              <a:rPr lang="en-US" sz="2800" dirty="0" smtClean="0"/>
              <a:t>are preprocessor directives</a:t>
            </a:r>
            <a:endParaRPr lang="en-US" sz="2800" dirty="0"/>
          </a:p>
          <a:p>
            <a:endParaRPr lang="en-US" sz="2800" dirty="0" smtClean="0"/>
          </a:p>
          <a:p>
            <a:r>
              <a:rPr lang="en-US" sz="2800" dirty="0" smtClean="0"/>
              <a:t>Meta language that controls how things are presented to the real compiler</a:t>
            </a:r>
          </a:p>
          <a:p>
            <a:endParaRPr lang="en-US" sz="2800" dirty="0"/>
          </a:p>
          <a:p>
            <a:r>
              <a:rPr lang="en-US" sz="2800" dirty="0" smtClean="0"/>
              <a:t>Allows text to be substituted, deleted, and included</a:t>
            </a:r>
          </a:p>
        </p:txBody>
      </p:sp>
    </p:spTree>
    <p:extLst>
      <p:ext uri="{BB962C8B-B14F-4D97-AF65-F5344CB8AC3E}">
        <p14:creationId xmlns:p14="http://schemas.microsoft.com/office/powerpoint/2010/main" val="26388572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Use </a:t>
            </a:r>
            <a:r>
              <a:rPr lang="en-US" sz="4400" b="1" dirty="0">
                <a:solidFill>
                  <a:schemeClr val="lt1"/>
                </a:solidFill>
                <a:latin typeface="Arial"/>
              </a:rPr>
              <a:t>the C, C</a:t>
            </a:r>
            <a:r>
              <a:rPr lang="en-US" sz="4400" b="1" dirty="0" smtClean="0">
                <a:solidFill>
                  <a:schemeClr val="lt1"/>
                </a:solidFill>
                <a:latin typeface="Arial"/>
              </a:rPr>
              <a:t>++</a:t>
            </a:r>
            <a:r>
              <a:rPr lang="en-US" sz="4400" dirty="0" smtClean="0">
                <a:solidFill>
                  <a:srgbClr val="000000"/>
                </a:solidFill>
                <a:latin typeface="Arial"/>
              </a:rPr>
              <a:t> </a:t>
            </a:r>
            <a:r>
              <a:rPr lang="en-US" sz="4400" b="1" dirty="0" smtClean="0">
                <a:solidFill>
                  <a:schemeClr val="lt1"/>
                </a:solidFill>
                <a:latin typeface="Arial"/>
              </a:rPr>
              <a:t>Preprocessor</a:t>
            </a:r>
            <a:endParaRPr lang="en-US" sz="4400" b="0" u="none" strike="noStrike" dirty="0">
              <a:solidFill>
                <a:srgbClr val="000000"/>
              </a:solidFill>
              <a:effectLst/>
              <a:uFillTx/>
              <a:latin typeface="Arial"/>
            </a:endParaRPr>
          </a:p>
        </p:txBody>
      </p:sp>
      <p:sp>
        <p:nvSpPr>
          <p:cNvPr id="3" name="TextBox 2"/>
          <p:cNvSpPr txBox="1"/>
          <p:nvPr/>
        </p:nvSpPr>
        <p:spPr>
          <a:xfrm>
            <a:off x="365860" y="2732038"/>
            <a:ext cx="9325959" cy="2677656"/>
          </a:xfrm>
          <a:prstGeom prst="rect">
            <a:avLst/>
          </a:prstGeom>
          <a:noFill/>
        </p:spPr>
        <p:txBody>
          <a:bodyPr wrap="square" rtlCol="0">
            <a:spAutoFit/>
          </a:bodyPr>
          <a:lstStyle/>
          <a:p>
            <a:r>
              <a:rPr lang="en-US" sz="2800" dirty="0" smtClean="0"/>
              <a:t>The preprocessor allows different code to be compiled based on computer model differences</a:t>
            </a:r>
          </a:p>
          <a:p>
            <a:endParaRPr lang="en-US" sz="2800" dirty="0"/>
          </a:p>
          <a:p>
            <a:r>
              <a:rPr lang="en-US" sz="2800" dirty="0" smtClean="0"/>
              <a:t>The preprocessor allows macro and variable definitions</a:t>
            </a:r>
            <a:endParaRPr lang="en-US" sz="2800" b="1" dirty="0" smtClean="0"/>
          </a:p>
          <a:p>
            <a:endParaRPr lang="en-US" sz="2800" dirty="0"/>
          </a:p>
          <a:p>
            <a:endParaRPr lang="en-US" sz="2800" dirty="0" smtClean="0"/>
          </a:p>
        </p:txBody>
      </p:sp>
    </p:spTree>
    <p:extLst>
      <p:ext uri="{BB962C8B-B14F-4D97-AF65-F5344CB8AC3E}">
        <p14:creationId xmlns:p14="http://schemas.microsoft.com/office/powerpoint/2010/main" val="965308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Preprocessor Directives</a:t>
            </a:r>
            <a:endParaRPr lang="en-US" sz="4400" b="0" u="none" strike="noStrike" dirty="0">
              <a:solidFill>
                <a:srgbClr val="000000"/>
              </a:solidFill>
              <a:effectLst/>
              <a:uFillTx/>
              <a:latin typeface="Arial"/>
            </a:endParaRPr>
          </a:p>
        </p:txBody>
      </p:sp>
      <p:sp>
        <p:nvSpPr>
          <p:cNvPr id="3" name="TextBox 2"/>
          <p:cNvSpPr txBox="1"/>
          <p:nvPr/>
        </p:nvSpPr>
        <p:spPr>
          <a:xfrm>
            <a:off x="365860" y="2132270"/>
            <a:ext cx="9325959" cy="3908762"/>
          </a:xfrm>
          <a:prstGeom prst="rect">
            <a:avLst/>
          </a:prstGeom>
          <a:noFill/>
        </p:spPr>
        <p:txBody>
          <a:bodyPr wrap="square" rtlCol="0">
            <a:spAutoFit/>
          </a:bodyPr>
          <a:lstStyle/>
          <a:p>
            <a:r>
              <a:rPr lang="en-US" sz="3200" dirty="0" smtClean="0"/>
              <a:t>The preprocessor has the following directive categories</a:t>
            </a:r>
          </a:p>
          <a:p>
            <a:r>
              <a:rPr lang="en-US" sz="3200" dirty="0" smtClean="0"/>
              <a:t>	Macro Substitution</a:t>
            </a:r>
          </a:p>
          <a:p>
            <a:r>
              <a:rPr lang="en-US" sz="3200" dirty="0" smtClean="0"/>
              <a:t>	File Inclusion</a:t>
            </a:r>
          </a:p>
          <a:p>
            <a:r>
              <a:rPr lang="en-US" sz="3200" dirty="0" smtClean="0"/>
              <a:t>	Conditional Compilation</a:t>
            </a:r>
          </a:p>
          <a:p>
            <a:r>
              <a:rPr lang="en-US" sz="3200" dirty="0" smtClean="0"/>
              <a:t>	Error </a:t>
            </a:r>
            <a:r>
              <a:rPr lang="en-US" sz="3200" dirty="0"/>
              <a:t>Handling &amp; </a:t>
            </a:r>
            <a:r>
              <a:rPr lang="en-US" sz="3200" dirty="0" smtClean="0"/>
              <a:t>Diagnostics</a:t>
            </a:r>
          </a:p>
          <a:p>
            <a:r>
              <a:rPr lang="en-US" sz="3200" dirty="0" smtClean="0"/>
              <a:t>	Miscellaneous </a:t>
            </a:r>
            <a:r>
              <a:rPr lang="en-US" sz="3200" dirty="0"/>
              <a:t>Directives</a:t>
            </a:r>
            <a:endParaRPr lang="en-US" sz="3200" dirty="0" smtClean="0"/>
          </a:p>
          <a:p>
            <a:endParaRPr lang="en-US" sz="2800" dirty="0"/>
          </a:p>
          <a:p>
            <a:endParaRPr lang="en-US" sz="2800" dirty="0" smtClean="0"/>
          </a:p>
        </p:txBody>
      </p:sp>
    </p:spTree>
    <p:extLst>
      <p:ext uri="{BB962C8B-B14F-4D97-AF65-F5344CB8AC3E}">
        <p14:creationId xmlns:p14="http://schemas.microsoft.com/office/powerpoint/2010/main" val="3469764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Macro Substitution Directives</a:t>
            </a:r>
            <a:endParaRPr lang="en-US" sz="4400" b="0" u="none" strike="noStrike" dirty="0">
              <a:solidFill>
                <a:srgbClr val="000000"/>
              </a:solidFill>
              <a:effectLst/>
              <a:uFillTx/>
              <a:latin typeface="Arial"/>
            </a:endParaRPr>
          </a:p>
        </p:txBody>
      </p:sp>
      <p:sp>
        <p:nvSpPr>
          <p:cNvPr id="3" name="TextBox 2"/>
          <p:cNvSpPr txBox="1"/>
          <p:nvPr/>
        </p:nvSpPr>
        <p:spPr>
          <a:xfrm>
            <a:off x="502920" y="1789063"/>
            <a:ext cx="9437493" cy="4832092"/>
          </a:xfrm>
          <a:prstGeom prst="rect">
            <a:avLst/>
          </a:prstGeom>
          <a:noFill/>
        </p:spPr>
        <p:txBody>
          <a:bodyPr wrap="square" rtlCol="0">
            <a:spAutoFit/>
          </a:bodyPr>
          <a:lstStyle/>
          <a:p>
            <a:pPr lvl="0" eaLnBrk="0" fontAlgn="base" hangingPunct="0">
              <a:spcBef>
                <a:spcPct val="0"/>
              </a:spcBef>
              <a:spcAft>
                <a:spcPct val="0"/>
              </a:spcAft>
            </a:pPr>
            <a:r>
              <a:rPr lang="en-US" sz="2800" b="1" dirty="0">
                <a:latin typeface="Cambria" panose="02040503050406030204" pitchFamily="18" charset="0"/>
                <a:ea typeface="Cambria" panose="02040503050406030204" pitchFamily="18" charset="0"/>
                <a:cs typeface="Courier New" panose="02070309020205020404" pitchFamily="49" charset="0"/>
              </a:rPr>
              <a:t>#</a:t>
            </a:r>
            <a:r>
              <a:rPr lang="en-US" sz="2800" b="1" dirty="0" smtClean="0">
                <a:latin typeface="Cambria" panose="02040503050406030204" pitchFamily="18" charset="0"/>
                <a:ea typeface="Cambria" panose="02040503050406030204" pitchFamily="18" charset="0"/>
                <a:cs typeface="Courier New" panose="02070309020205020404" pitchFamily="49" charset="0"/>
              </a:rPr>
              <a:t>define </a:t>
            </a:r>
            <a:r>
              <a:rPr lang="en-US" sz="2800" dirty="0" smtClean="0">
                <a:latin typeface="Courier New" panose="02070309020205020404" pitchFamily="49" charset="0"/>
                <a:ea typeface="Cambria" panose="02040503050406030204" pitchFamily="18" charset="0"/>
                <a:cs typeface="Courier New" panose="02070309020205020404" pitchFamily="49" charset="0"/>
              </a:rPr>
              <a:t>&lt;</a:t>
            </a:r>
            <a:r>
              <a:rPr lang="en-US" sz="2800" dirty="0" err="1" smtClean="0">
                <a:latin typeface="Courier New" panose="02070309020205020404" pitchFamily="49" charset="0"/>
                <a:ea typeface="Cambria" panose="02040503050406030204" pitchFamily="18" charset="0"/>
                <a:cs typeface="Courier New" panose="02070309020205020404" pitchFamily="49" charset="0"/>
              </a:rPr>
              <a:t>macro_symbol</a:t>
            </a:r>
            <a:r>
              <a:rPr lang="en-US" sz="2800" dirty="0" smtClean="0">
                <a:latin typeface="Courier New" panose="02070309020205020404" pitchFamily="49" charset="0"/>
                <a:ea typeface="Cambria" panose="02040503050406030204" pitchFamily="18" charset="0"/>
                <a:cs typeface="Courier New" panose="02070309020205020404" pitchFamily="49" charset="0"/>
              </a:rPr>
              <a:t>[s]&gt; &lt;</a:t>
            </a:r>
            <a:r>
              <a:rPr lang="en-US" sz="2800" dirty="0" err="1" smtClean="0">
                <a:latin typeface="Courier New" panose="02070309020205020404" pitchFamily="49" charset="0"/>
                <a:ea typeface="Cambria" panose="02040503050406030204" pitchFamily="18" charset="0"/>
                <a:cs typeface="Courier New" panose="02070309020205020404" pitchFamily="49" charset="0"/>
              </a:rPr>
              <a:t>macro_definition</a:t>
            </a:r>
            <a:r>
              <a:rPr lang="en-US" sz="2800" dirty="0" smtClean="0">
                <a:latin typeface="Courier New" panose="02070309020205020404" pitchFamily="49" charset="0"/>
                <a:ea typeface="Cambria" panose="02040503050406030204" pitchFamily="18" charset="0"/>
                <a:cs typeface="Courier New" panose="02070309020205020404" pitchFamily="49" charset="0"/>
              </a:rPr>
              <a:t>&gt;  </a:t>
            </a:r>
          </a:p>
          <a:p>
            <a:pPr lvl="0"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Creates </a:t>
            </a:r>
            <a:r>
              <a:rPr lang="en-US" sz="2800" dirty="0">
                <a:latin typeface="Cambria" panose="02040503050406030204" pitchFamily="18" charset="0"/>
                <a:ea typeface="Cambria" panose="02040503050406030204" pitchFamily="18" charset="0"/>
              </a:rPr>
              <a:t>a </a:t>
            </a:r>
            <a:r>
              <a:rPr lang="en-US" sz="2800" dirty="0" smtClean="0">
                <a:latin typeface="Cambria" panose="02040503050406030204" pitchFamily="18" charset="0"/>
                <a:ea typeface="Cambria" panose="02040503050406030204" pitchFamily="18" charset="0"/>
              </a:rPr>
              <a:t>macro</a:t>
            </a:r>
          </a:p>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	Symbolic </a:t>
            </a:r>
            <a:r>
              <a:rPr lang="en-US" sz="2800" dirty="0">
                <a:latin typeface="Cambria" panose="02040503050406030204" pitchFamily="18" charset="0"/>
                <a:ea typeface="Cambria" panose="02040503050406030204" pitchFamily="18" charset="0"/>
              </a:rPr>
              <a:t>constant or a function-like </a:t>
            </a:r>
            <a:r>
              <a:rPr lang="en-US" sz="2800" dirty="0" smtClean="0">
                <a:latin typeface="Cambria" panose="02040503050406030204" pitchFamily="18" charset="0"/>
                <a:ea typeface="Cambria" panose="02040503050406030204" pitchFamily="18" charset="0"/>
              </a:rPr>
              <a:t>block</a:t>
            </a:r>
          </a:p>
          <a:p>
            <a:pPr marL="855663" lvl="0" indent="-855663" eaLnBrk="0" fontAlgn="base" hangingPunct="0">
              <a:spcBef>
                <a:spcPct val="0"/>
              </a:spcBef>
              <a:spcAft>
                <a:spcPct val="0"/>
              </a:spcAft>
            </a:pPr>
            <a:r>
              <a:rPr lang="en-US" sz="2800"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The </a:t>
            </a:r>
            <a:r>
              <a:rPr lang="en-US" sz="2800" dirty="0">
                <a:latin typeface="Cambria" panose="02040503050406030204" pitchFamily="18" charset="0"/>
                <a:ea typeface="Cambria" panose="02040503050406030204" pitchFamily="18" charset="0"/>
              </a:rPr>
              <a:t>preprocessor replaces every occurrence of the macro name with the defined </a:t>
            </a:r>
            <a:r>
              <a:rPr lang="en-US" sz="2800" dirty="0" smtClean="0">
                <a:latin typeface="Cambria" panose="02040503050406030204" pitchFamily="18" charset="0"/>
                <a:ea typeface="Cambria" panose="02040503050406030204" pitchFamily="18" charset="0"/>
              </a:rPr>
              <a:t>text </a:t>
            </a: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Example: (written text code)</a:t>
            </a: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#define int64_t   long </a:t>
            </a:r>
            <a:r>
              <a:rPr lang="en-US" sz="2800" dirty="0" err="1" smtClean="0">
                <a:latin typeface="Cambria" panose="02040503050406030204" pitchFamily="18" charset="0"/>
                <a:ea typeface="Cambria" panose="02040503050406030204" pitchFamily="18" charset="0"/>
              </a:rPr>
              <a:t>long</a:t>
            </a:r>
            <a:endParaRPr lang="en-US" sz="2800" dirty="0" smtClean="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int64_t </a:t>
            </a:r>
            <a:r>
              <a:rPr lang="en-US" sz="2800" dirty="0" err="1" smtClean="0">
                <a:latin typeface="Cambria" panose="02040503050406030204" pitchFamily="18" charset="0"/>
                <a:ea typeface="Cambria" panose="02040503050406030204" pitchFamily="18" charset="0"/>
              </a:rPr>
              <a:t>my_variable</a:t>
            </a:r>
            <a:r>
              <a:rPr lang="en-US" sz="2800" dirty="0" smtClean="0">
                <a:latin typeface="Cambria" panose="02040503050406030204" pitchFamily="18" charset="0"/>
                <a:ea typeface="Cambria" panose="02040503050406030204" pitchFamily="18" charset="0"/>
              </a:rPr>
              <a:t> ;</a:t>
            </a: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47344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Macro Substitution Directives</a:t>
            </a:r>
            <a:endParaRPr lang="en-US" sz="4400" b="0" u="none" strike="noStrike" dirty="0">
              <a:solidFill>
                <a:srgbClr val="000000"/>
              </a:solidFill>
              <a:effectLst/>
              <a:uFillTx/>
              <a:latin typeface="Arial"/>
            </a:endParaRPr>
          </a:p>
        </p:txBody>
      </p:sp>
      <p:sp>
        <p:nvSpPr>
          <p:cNvPr id="3" name="TextBox 2"/>
          <p:cNvSpPr txBox="1"/>
          <p:nvPr/>
        </p:nvSpPr>
        <p:spPr>
          <a:xfrm>
            <a:off x="994534" y="2005374"/>
            <a:ext cx="7038422" cy="2554545"/>
          </a:xfrm>
          <a:prstGeom prst="rect">
            <a:avLst/>
          </a:prstGeom>
          <a:noFill/>
        </p:spPr>
        <p:txBody>
          <a:bodyPr wrap="square" rtlCol="0">
            <a:spAutoFit/>
          </a:bodyPr>
          <a:lstStyle/>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r>
              <a:rPr lang="en-US" sz="4400" dirty="0" smtClean="0">
                <a:latin typeface="Cambria" panose="02040503050406030204" pitchFamily="18" charset="0"/>
                <a:ea typeface="Cambria" panose="02040503050406030204" pitchFamily="18" charset="0"/>
              </a:rPr>
              <a:t>Example: (compiler sees)</a:t>
            </a:r>
          </a:p>
          <a:p>
            <a:pPr marL="855663" lvl="0" indent="-855663" eaLnBrk="0" fontAlgn="base" hangingPunct="0">
              <a:spcBef>
                <a:spcPct val="0"/>
              </a:spcBef>
              <a:spcAft>
                <a:spcPct val="0"/>
              </a:spcAft>
            </a:pPr>
            <a:endParaRPr lang="en-US" sz="44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r>
              <a:rPr lang="en-US" sz="4400" dirty="0">
                <a:latin typeface="Cambria" panose="02040503050406030204" pitchFamily="18" charset="0"/>
                <a:ea typeface="Cambria" panose="02040503050406030204" pitchFamily="18" charset="0"/>
              </a:rPr>
              <a:t>l</a:t>
            </a:r>
            <a:r>
              <a:rPr lang="en-US" sz="4400" dirty="0" smtClean="0">
                <a:latin typeface="Cambria" panose="02040503050406030204" pitchFamily="18" charset="0"/>
                <a:ea typeface="Cambria" panose="02040503050406030204" pitchFamily="18" charset="0"/>
              </a:rPr>
              <a:t>ong long </a:t>
            </a:r>
            <a:r>
              <a:rPr lang="en-US" sz="4400" dirty="0" err="1" smtClean="0">
                <a:latin typeface="Cambria" panose="02040503050406030204" pitchFamily="18" charset="0"/>
                <a:ea typeface="Cambria" panose="02040503050406030204" pitchFamily="18" charset="0"/>
              </a:rPr>
              <a:t>my_variable</a:t>
            </a:r>
            <a:r>
              <a:rPr lang="en-US" sz="4400" dirty="0" smtClean="0">
                <a:latin typeface="Cambria" panose="02040503050406030204" pitchFamily="18" charset="0"/>
                <a:ea typeface="Cambria" panose="02040503050406030204" pitchFamily="18" charset="0"/>
              </a:rPr>
              <a:t> ;</a:t>
            </a:r>
            <a:endParaRPr lang="en-US" sz="4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99736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Macro Substitution Directives</a:t>
            </a:r>
            <a:endParaRPr lang="en-US" sz="4400" b="0" u="none" strike="noStrike" dirty="0">
              <a:solidFill>
                <a:srgbClr val="000000"/>
              </a:solidFill>
              <a:effectLst/>
              <a:uFillTx/>
              <a:latin typeface="Arial"/>
            </a:endParaRPr>
          </a:p>
        </p:txBody>
      </p:sp>
      <p:sp>
        <p:nvSpPr>
          <p:cNvPr id="3" name="TextBox 2"/>
          <p:cNvSpPr txBox="1"/>
          <p:nvPr/>
        </p:nvSpPr>
        <p:spPr>
          <a:xfrm>
            <a:off x="691209" y="1966045"/>
            <a:ext cx="7038422" cy="5693866"/>
          </a:xfrm>
          <a:prstGeom prst="rect">
            <a:avLst/>
          </a:prstGeom>
          <a:noFill/>
        </p:spPr>
        <p:txBody>
          <a:bodyPr wrap="square" rtlCol="0">
            <a:spAutoFit/>
          </a:bodyPr>
          <a:lstStyle/>
          <a:p>
            <a:pPr marL="855663" indent="-855663"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cs typeface="Courier New" panose="02070309020205020404" pitchFamily="49" charset="0"/>
              </a:rPr>
              <a:t>#</a:t>
            </a:r>
            <a:r>
              <a:rPr lang="en-US" sz="2800" b="1" dirty="0" err="1" smtClean="0">
                <a:latin typeface="Cambria" panose="02040503050406030204" pitchFamily="18" charset="0"/>
                <a:ea typeface="Cambria" panose="02040503050406030204" pitchFamily="18" charset="0"/>
                <a:cs typeface="Courier New" panose="02070309020205020404" pitchFamily="49" charset="0"/>
              </a:rPr>
              <a:t>undef</a:t>
            </a:r>
            <a:r>
              <a:rPr lang="en-US" sz="2800" b="1" dirty="0" smtClean="0">
                <a:latin typeface="Cambria" panose="02040503050406030204" pitchFamily="18" charset="0"/>
                <a:ea typeface="Cambria" panose="02040503050406030204" pitchFamily="18" charset="0"/>
                <a:cs typeface="Courier New" panose="02070309020205020404" pitchFamily="49" charset="0"/>
              </a:rPr>
              <a:t>  </a:t>
            </a:r>
            <a:r>
              <a:rPr lang="en-US" sz="2800" dirty="0" smtClean="0">
                <a:latin typeface="Cambria" panose="02040503050406030204" pitchFamily="18" charset="0"/>
                <a:ea typeface="Cambria" panose="02040503050406030204" pitchFamily="18" charset="0"/>
                <a:cs typeface="Courier New" panose="02070309020205020404" pitchFamily="49" charset="0"/>
              </a:rPr>
              <a:t>&lt;</a:t>
            </a:r>
            <a:r>
              <a:rPr lang="en-US" sz="2800" dirty="0" err="1" smtClean="0">
                <a:latin typeface="Cambria" panose="02040503050406030204" pitchFamily="18" charset="0"/>
                <a:ea typeface="Cambria" panose="02040503050406030204" pitchFamily="18" charset="0"/>
                <a:cs typeface="Courier New" panose="02070309020205020404" pitchFamily="49" charset="0"/>
              </a:rPr>
              <a:t>macro_symbol</a:t>
            </a:r>
            <a:r>
              <a:rPr lang="en-US" sz="2800" dirty="0" smtClean="0">
                <a:latin typeface="Cambria" panose="02040503050406030204" pitchFamily="18" charset="0"/>
                <a:ea typeface="Cambria" panose="02040503050406030204" pitchFamily="18" charset="0"/>
                <a:cs typeface="Courier New" panose="02070309020205020404" pitchFamily="49" charset="0"/>
              </a:rPr>
              <a:t>&gt; </a:t>
            </a:r>
          </a:p>
          <a:p>
            <a:pPr marL="855663" indent="-855663" eaLnBrk="0" fontAlgn="base" hangingPunct="0">
              <a:spcBef>
                <a:spcPct val="0"/>
              </a:spcBef>
              <a:spcAft>
                <a:spcPct val="0"/>
              </a:spcAft>
            </a:pPr>
            <a:r>
              <a:rPr lang="en-US" sz="2800" dirty="0">
                <a:latin typeface="Cambria" panose="02040503050406030204" pitchFamily="18" charset="0"/>
                <a:ea typeface="Cambria" panose="02040503050406030204" pitchFamily="18" charset="0"/>
                <a:cs typeface="Courier New" panose="02070309020205020404" pitchFamily="49" charset="0"/>
              </a:rPr>
              <a:t>	</a:t>
            </a:r>
            <a:r>
              <a:rPr lang="en-US" sz="2800" dirty="0" smtClean="0">
                <a:latin typeface="Cambria" panose="02040503050406030204" pitchFamily="18" charset="0"/>
                <a:ea typeface="Cambria" panose="02040503050406030204" pitchFamily="18" charset="0"/>
              </a:rPr>
              <a:t>Cancels </a:t>
            </a:r>
            <a:r>
              <a:rPr lang="en-US" sz="2800" dirty="0">
                <a:latin typeface="Cambria" panose="02040503050406030204" pitchFamily="18" charset="0"/>
                <a:ea typeface="Cambria" panose="02040503050406030204" pitchFamily="18" charset="0"/>
              </a:rPr>
              <a:t>a previously defined </a:t>
            </a:r>
            <a:r>
              <a:rPr lang="en-US" sz="2800" dirty="0" smtClean="0">
                <a:latin typeface="Cambria" panose="02040503050406030204" pitchFamily="18" charset="0"/>
                <a:ea typeface="Cambria" panose="02040503050406030204" pitchFamily="18" charset="0"/>
              </a:rPr>
              <a:t>macro Stops replacement</a:t>
            </a: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Example:</a:t>
            </a: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rPr>
              <a:t>#</a:t>
            </a:r>
            <a:r>
              <a:rPr lang="en-US" sz="2800" b="1" dirty="0" err="1" smtClean="0">
                <a:latin typeface="Cambria" panose="02040503050406030204" pitchFamily="18" charset="0"/>
                <a:ea typeface="Cambria" panose="02040503050406030204" pitchFamily="18" charset="0"/>
              </a:rPr>
              <a:t>undef</a:t>
            </a:r>
            <a:r>
              <a:rPr lang="en-US" sz="2800" b="1" dirty="0" smtClean="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int64_t</a:t>
            </a: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After this statement, there is no further substitution</a:t>
            </a: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94106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File Inclusion Directives</a:t>
            </a:r>
            <a:endParaRPr lang="en-US" sz="4400" b="0" u="none" strike="noStrike" dirty="0">
              <a:solidFill>
                <a:srgbClr val="000000"/>
              </a:solidFill>
              <a:effectLst/>
              <a:uFillTx/>
              <a:latin typeface="Arial"/>
            </a:endParaRPr>
          </a:p>
        </p:txBody>
      </p:sp>
      <p:sp>
        <p:nvSpPr>
          <p:cNvPr id="3" name="TextBox 2"/>
          <p:cNvSpPr txBox="1"/>
          <p:nvPr/>
        </p:nvSpPr>
        <p:spPr>
          <a:xfrm>
            <a:off x="691208" y="1966045"/>
            <a:ext cx="9367191" cy="6124754"/>
          </a:xfrm>
          <a:prstGeom prst="rect">
            <a:avLst/>
          </a:prstGeom>
          <a:noFill/>
        </p:spPr>
        <p:txBody>
          <a:bodyPr wrap="square" rtlCol="0">
            <a:spAutoFit/>
          </a:bodyPr>
          <a:lstStyle/>
          <a:p>
            <a:pPr marL="855663" indent="-855663" eaLnBrk="0" fontAlgn="base" hangingPunct="0">
              <a:spcBef>
                <a:spcPct val="0"/>
              </a:spcBef>
              <a:spcAft>
                <a:spcPct val="0"/>
              </a:spcAft>
            </a:pPr>
            <a:r>
              <a:rPr lang="en-US" sz="2800" b="1" dirty="0" smtClean="0"/>
              <a:t>#include </a:t>
            </a:r>
            <a:r>
              <a:rPr lang="en-US" sz="2800" dirty="0" smtClean="0"/>
              <a:t>“filename”</a:t>
            </a:r>
          </a:p>
          <a:p>
            <a:pPr marL="855663" indent="-855663" eaLnBrk="0" fontAlgn="base" hangingPunct="0">
              <a:spcBef>
                <a:spcPct val="0"/>
              </a:spcBef>
              <a:spcAft>
                <a:spcPct val="0"/>
              </a:spcAft>
            </a:pPr>
            <a:r>
              <a:rPr lang="en-US" sz="2800" b="1" dirty="0"/>
              <a:t>#include </a:t>
            </a:r>
            <a:r>
              <a:rPr lang="en-US" sz="2800" dirty="0" smtClean="0"/>
              <a:t>&lt;filename</a:t>
            </a:r>
            <a:r>
              <a:rPr lang="en-US" sz="2800" dirty="0"/>
              <a:t>&gt;</a:t>
            </a:r>
          </a:p>
          <a:p>
            <a:pPr marL="855663" indent="-855663" eaLnBrk="0" fontAlgn="base" hangingPunct="0">
              <a:spcBef>
                <a:spcPct val="0"/>
              </a:spcBef>
              <a:spcAft>
                <a:spcPct val="0"/>
              </a:spcAft>
            </a:pPr>
            <a:r>
              <a:rPr lang="en-US" sz="2800" dirty="0"/>
              <a:t>	</a:t>
            </a:r>
            <a:r>
              <a:rPr lang="en-US" sz="2800" dirty="0" smtClean="0"/>
              <a:t>Includes </a:t>
            </a:r>
            <a:r>
              <a:rPr lang="en-US" sz="2800" dirty="0"/>
              <a:t>the contents of a </a:t>
            </a:r>
            <a:r>
              <a:rPr lang="en-US" sz="2800" dirty="0" smtClean="0"/>
              <a:t>file</a:t>
            </a:r>
          </a:p>
          <a:p>
            <a:pPr marL="855663" indent="-855663" eaLnBrk="0" fontAlgn="base" hangingPunct="0">
              <a:spcBef>
                <a:spcPct val="0"/>
              </a:spcBef>
              <a:spcAft>
                <a:spcPct val="0"/>
              </a:spcAft>
            </a:pPr>
            <a:r>
              <a:rPr lang="en-US" sz="2800" dirty="0"/>
              <a:t>	</a:t>
            </a:r>
            <a:r>
              <a:rPr lang="en-US" sz="2800" dirty="0" smtClean="0"/>
              <a:t>First form searches current directory</a:t>
            </a:r>
          </a:p>
          <a:p>
            <a:pPr marL="855663" indent="-855663" eaLnBrk="0" fontAlgn="base" hangingPunct="0">
              <a:spcBef>
                <a:spcPct val="0"/>
              </a:spcBef>
              <a:spcAft>
                <a:spcPct val="0"/>
              </a:spcAft>
            </a:pPr>
            <a:r>
              <a:rPr lang="en-US" sz="2800" dirty="0"/>
              <a:t>	</a:t>
            </a:r>
            <a:r>
              <a:rPr lang="en-US" sz="2800" dirty="0" smtClean="0"/>
              <a:t>Second form searches a list of directories specified on command line as well as a default set of directories</a:t>
            </a:r>
          </a:p>
          <a:p>
            <a:pPr marL="855663"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Example:</a:t>
            </a: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rPr>
              <a:t>#include &lt;</a:t>
            </a:r>
            <a:r>
              <a:rPr lang="en-US" sz="2800" b="1" dirty="0" err="1" smtClean="0">
                <a:latin typeface="Cambria" panose="02040503050406030204" pitchFamily="18" charset="0"/>
                <a:ea typeface="Cambria" panose="02040503050406030204" pitchFamily="18" charset="0"/>
              </a:rPr>
              <a:t>stdio.h</a:t>
            </a:r>
            <a:r>
              <a:rPr lang="en-US" sz="2800" b="1" dirty="0" smtClean="0">
                <a:latin typeface="Cambria" panose="02040503050406030204" pitchFamily="18" charset="0"/>
                <a:ea typeface="Cambria" panose="02040503050406030204" pitchFamily="18" charset="0"/>
              </a:rPr>
              <a:t>&gt;</a:t>
            </a:r>
            <a:endParaRPr lang="en-US" sz="2800" dirty="0" smtClean="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Search in all default directories for a file called </a:t>
            </a:r>
            <a:r>
              <a:rPr lang="en-US" sz="2800" dirty="0" err="1" smtClean="0">
                <a:latin typeface="Cambria" panose="02040503050406030204" pitchFamily="18" charset="0"/>
                <a:ea typeface="Cambria" panose="02040503050406030204" pitchFamily="18" charset="0"/>
              </a:rPr>
              <a:t>stdio.h</a:t>
            </a:r>
            <a:r>
              <a:rPr lang="en-US" sz="2800" dirty="0" smtClean="0">
                <a:latin typeface="Cambria" panose="02040503050406030204" pitchFamily="18" charset="0"/>
                <a:ea typeface="Cambria" panose="02040503050406030204" pitchFamily="18" charset="0"/>
              </a:rPr>
              <a:t> and include it</a:t>
            </a: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049703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Conditional Compile Directives</a:t>
            </a:r>
            <a:endParaRPr lang="en-US" sz="4400" b="0" u="none" strike="noStrike" dirty="0">
              <a:solidFill>
                <a:srgbClr val="000000"/>
              </a:solidFill>
              <a:effectLst/>
              <a:uFillTx/>
              <a:latin typeface="Arial"/>
            </a:endParaRPr>
          </a:p>
        </p:txBody>
      </p:sp>
      <p:sp>
        <p:nvSpPr>
          <p:cNvPr id="3" name="TextBox 2"/>
          <p:cNvSpPr txBox="1"/>
          <p:nvPr/>
        </p:nvSpPr>
        <p:spPr>
          <a:xfrm>
            <a:off x="502920" y="1710406"/>
            <a:ext cx="9367191" cy="6924973"/>
          </a:xfrm>
          <a:prstGeom prst="rect">
            <a:avLst/>
          </a:prstGeom>
          <a:noFill/>
        </p:spPr>
        <p:txBody>
          <a:bodyPr wrap="square" rtlCol="0">
            <a:spAutoFit/>
          </a:bodyPr>
          <a:lstStyle/>
          <a:p>
            <a:pPr lvl="0"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cs typeface="Courier New" panose="02070309020205020404" pitchFamily="49" charset="0"/>
              </a:rPr>
              <a:t>#if </a:t>
            </a:r>
            <a:r>
              <a:rPr lang="en-US" sz="2800" dirty="0" smtClean="0">
                <a:latin typeface="Cambria" panose="02040503050406030204" pitchFamily="18" charset="0"/>
                <a:ea typeface="Cambria" panose="02040503050406030204" pitchFamily="18" charset="0"/>
                <a:cs typeface="Courier New" panose="02070309020205020404" pitchFamily="49" charset="0"/>
              </a:rPr>
              <a:t>&lt;</a:t>
            </a:r>
            <a:r>
              <a:rPr lang="en-US" sz="2800" dirty="0" err="1" smtClean="0">
                <a:latin typeface="Cambria" panose="02040503050406030204" pitchFamily="18" charset="0"/>
                <a:ea typeface="Cambria" panose="02040503050406030204" pitchFamily="18" charset="0"/>
                <a:cs typeface="Courier New" panose="02070309020205020404" pitchFamily="49" charset="0"/>
              </a:rPr>
              <a:t>condition_statement</a:t>
            </a:r>
            <a:r>
              <a:rPr lang="en-US" sz="2800" dirty="0" smtClean="0">
                <a:latin typeface="Cambria" panose="02040503050406030204" pitchFamily="18" charset="0"/>
                <a:ea typeface="Cambria" panose="02040503050406030204" pitchFamily="18" charset="0"/>
                <a:cs typeface="Courier New" panose="02070309020205020404" pitchFamily="49" charset="0"/>
              </a:rPr>
              <a:t>&gt;</a:t>
            </a:r>
          </a:p>
          <a:p>
            <a:pPr lvl="0" eaLnBrk="0" fontAlgn="base" hangingPunct="0">
              <a:spcBef>
                <a:spcPct val="0"/>
              </a:spcBef>
              <a:spcAft>
                <a:spcPct val="0"/>
              </a:spcAft>
            </a:pPr>
            <a:r>
              <a:rPr lang="en-US" sz="2000" dirty="0" smtClean="0">
                <a:latin typeface="Cambria" panose="02040503050406030204" pitchFamily="18" charset="0"/>
                <a:ea typeface="Cambria" panose="02040503050406030204" pitchFamily="18" charset="0"/>
              </a:rPr>
              <a:t>Checks </a:t>
            </a:r>
            <a:r>
              <a:rPr lang="en-US" sz="2000" dirty="0">
                <a:latin typeface="Cambria" panose="02040503050406030204" pitchFamily="18" charset="0"/>
                <a:ea typeface="Cambria" panose="02040503050406030204" pitchFamily="18" charset="0"/>
              </a:rPr>
              <a:t>a condition; compiles the following block if the condition evaluates to true</a:t>
            </a:r>
            <a:r>
              <a:rPr lang="en-US" sz="2800" dirty="0">
                <a:latin typeface="Cambria" panose="02040503050406030204" pitchFamily="18" charset="0"/>
                <a:ea typeface="Cambria" panose="02040503050406030204" pitchFamily="18" charset="0"/>
              </a:rPr>
              <a:t>.</a:t>
            </a:r>
          </a:p>
          <a:p>
            <a:pPr lvl="0" eaLnBrk="0" fontAlgn="base" hangingPunct="0">
              <a:spcBef>
                <a:spcPct val="0"/>
              </a:spcBef>
              <a:spcAft>
                <a:spcPct val="0"/>
              </a:spcAft>
            </a:pPr>
            <a:r>
              <a:rPr lang="en-US" sz="2800" b="1" dirty="0">
                <a:latin typeface="Cambria" panose="02040503050406030204" pitchFamily="18" charset="0"/>
                <a:ea typeface="Cambria" panose="02040503050406030204" pitchFamily="18" charset="0"/>
                <a:cs typeface="Courier New" panose="02070309020205020404" pitchFamily="49" charset="0"/>
              </a:rPr>
              <a:t>#</a:t>
            </a:r>
            <a:r>
              <a:rPr lang="en-US" sz="2800" b="1" dirty="0" err="1" smtClean="0">
                <a:latin typeface="Cambria" panose="02040503050406030204" pitchFamily="18" charset="0"/>
                <a:ea typeface="Cambria" panose="02040503050406030204" pitchFamily="18" charset="0"/>
                <a:cs typeface="Courier New" panose="02070309020205020404" pitchFamily="49" charset="0"/>
              </a:rPr>
              <a:t>elif</a:t>
            </a:r>
            <a:r>
              <a:rPr lang="en-US" sz="2800" b="1" dirty="0" smtClean="0">
                <a:latin typeface="Cambria" panose="02040503050406030204" pitchFamily="18" charset="0"/>
                <a:ea typeface="Cambria" panose="02040503050406030204" pitchFamily="18" charset="0"/>
                <a:cs typeface="Courier New" panose="02070309020205020404" pitchFamily="49" charset="0"/>
              </a:rPr>
              <a:t> </a:t>
            </a:r>
            <a:r>
              <a:rPr lang="en-US" sz="2800" dirty="0" smtClean="0">
                <a:latin typeface="Cambria" panose="02040503050406030204" pitchFamily="18" charset="0"/>
                <a:ea typeface="Cambria" panose="02040503050406030204" pitchFamily="18" charset="0"/>
                <a:cs typeface="Courier New" panose="02070309020205020404" pitchFamily="49" charset="0"/>
              </a:rPr>
              <a:t>&lt;</a:t>
            </a:r>
            <a:r>
              <a:rPr lang="en-US" sz="2800" dirty="0" err="1" smtClean="0">
                <a:latin typeface="Cambria" panose="02040503050406030204" pitchFamily="18" charset="0"/>
                <a:ea typeface="Cambria" panose="02040503050406030204" pitchFamily="18" charset="0"/>
                <a:cs typeface="Courier New" panose="02070309020205020404" pitchFamily="49" charset="0"/>
              </a:rPr>
              <a:t>condition_statement</a:t>
            </a:r>
            <a:r>
              <a:rPr lang="en-US" sz="2800" dirty="0" smtClean="0">
                <a:latin typeface="Cambria" panose="02040503050406030204" pitchFamily="18" charset="0"/>
                <a:ea typeface="Cambria" panose="02040503050406030204" pitchFamily="18" charset="0"/>
                <a:cs typeface="Courier New" panose="02070309020205020404" pitchFamily="49" charset="0"/>
              </a:rPr>
              <a:t>&gt;</a:t>
            </a:r>
          </a:p>
          <a:p>
            <a:pPr lvl="0" eaLnBrk="0" fontAlgn="base" hangingPunct="0">
              <a:spcBef>
                <a:spcPct val="0"/>
              </a:spcBef>
              <a:spcAft>
                <a:spcPct val="0"/>
              </a:spcAft>
            </a:pPr>
            <a:r>
              <a:rPr lang="en-US" sz="2000" dirty="0" smtClean="0">
                <a:latin typeface="Cambria" panose="02040503050406030204" pitchFamily="18" charset="0"/>
                <a:ea typeface="Cambria" panose="02040503050406030204" pitchFamily="18" charset="0"/>
              </a:rPr>
              <a:t>Acts </a:t>
            </a:r>
            <a:r>
              <a:rPr lang="en-US" sz="2000" dirty="0">
                <a:latin typeface="Cambria" panose="02040503050406030204" pitchFamily="18" charset="0"/>
                <a:ea typeface="Cambria" panose="02040503050406030204" pitchFamily="18" charset="0"/>
              </a:rPr>
              <a:t>as "else if" to check an alternate condition if the previous </a:t>
            </a:r>
            <a:r>
              <a:rPr lang="en-US" sz="2000" dirty="0">
                <a:latin typeface="Cambria" panose="02040503050406030204" pitchFamily="18" charset="0"/>
                <a:ea typeface="Cambria" panose="02040503050406030204" pitchFamily="18" charset="0"/>
                <a:cs typeface="Courier New" panose="02070309020205020404" pitchFamily="49" charset="0"/>
              </a:rPr>
              <a:t>#if</a:t>
            </a:r>
            <a:r>
              <a:rPr lang="en-US" sz="2000" dirty="0">
                <a:latin typeface="Cambria" panose="02040503050406030204" pitchFamily="18" charset="0"/>
                <a:ea typeface="Cambria" panose="02040503050406030204" pitchFamily="18" charset="0"/>
              </a:rPr>
              <a:t> failed.</a:t>
            </a:r>
          </a:p>
          <a:p>
            <a:pPr lvl="0" eaLnBrk="0" fontAlgn="base" hangingPunct="0">
              <a:spcBef>
                <a:spcPct val="0"/>
              </a:spcBef>
              <a:spcAft>
                <a:spcPct val="0"/>
              </a:spcAft>
            </a:pPr>
            <a:r>
              <a:rPr lang="en-US" sz="2800" b="1" dirty="0">
                <a:latin typeface="Cambria" panose="02040503050406030204" pitchFamily="18" charset="0"/>
                <a:ea typeface="Cambria" panose="02040503050406030204" pitchFamily="18" charset="0"/>
                <a:cs typeface="Courier New" panose="02070309020205020404" pitchFamily="49" charset="0"/>
              </a:rPr>
              <a:t>#</a:t>
            </a:r>
            <a:r>
              <a:rPr lang="en-US" sz="2800" b="1" dirty="0" smtClean="0">
                <a:latin typeface="Cambria" panose="02040503050406030204" pitchFamily="18" charset="0"/>
                <a:ea typeface="Cambria" panose="02040503050406030204" pitchFamily="18" charset="0"/>
                <a:cs typeface="Courier New" panose="02070309020205020404" pitchFamily="49" charset="0"/>
              </a:rPr>
              <a:t>else</a:t>
            </a:r>
            <a:r>
              <a:rPr lang="en-US" sz="2800" b="1"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&lt;</a:t>
            </a:r>
            <a:r>
              <a:rPr lang="en-US" sz="2800" dirty="0" err="1" smtClean="0">
                <a:latin typeface="Cambria" panose="02040503050406030204" pitchFamily="18" charset="0"/>
                <a:ea typeface="Cambria" panose="02040503050406030204" pitchFamily="18" charset="0"/>
              </a:rPr>
              <a:t>condition_statement</a:t>
            </a:r>
            <a:r>
              <a:rPr lang="en-US" sz="2800" dirty="0" smtClean="0">
                <a:latin typeface="Cambria" panose="02040503050406030204" pitchFamily="18" charset="0"/>
                <a:ea typeface="Cambria" panose="02040503050406030204" pitchFamily="18" charset="0"/>
              </a:rPr>
              <a:t>&gt;</a:t>
            </a:r>
          </a:p>
          <a:p>
            <a:pPr lvl="0" eaLnBrk="0" fontAlgn="base" hangingPunct="0">
              <a:spcBef>
                <a:spcPct val="0"/>
              </a:spcBef>
              <a:spcAft>
                <a:spcPct val="0"/>
              </a:spcAft>
            </a:pPr>
            <a:r>
              <a:rPr lang="en-US" sz="2000" dirty="0" smtClean="0">
                <a:latin typeface="Cambria" panose="02040503050406030204" pitchFamily="18" charset="0"/>
                <a:ea typeface="Cambria" panose="02040503050406030204" pitchFamily="18" charset="0"/>
              </a:rPr>
              <a:t>Provides </a:t>
            </a:r>
            <a:r>
              <a:rPr lang="en-US" sz="2000" dirty="0">
                <a:latin typeface="Cambria" panose="02040503050406030204" pitchFamily="18" charset="0"/>
                <a:ea typeface="Cambria" panose="02040503050406030204" pitchFamily="18" charset="0"/>
              </a:rPr>
              <a:t>a fallback block that compiles if all preceding conditions fail.</a:t>
            </a:r>
          </a:p>
          <a:p>
            <a:pPr lvl="0" eaLnBrk="0" fontAlgn="base" hangingPunct="0">
              <a:spcBef>
                <a:spcPct val="0"/>
              </a:spcBef>
              <a:spcAft>
                <a:spcPct val="0"/>
              </a:spcAft>
            </a:pPr>
            <a:r>
              <a:rPr lang="en-US" sz="2800" b="1" dirty="0">
                <a:latin typeface="Cambria" panose="02040503050406030204" pitchFamily="18" charset="0"/>
                <a:ea typeface="Cambria" panose="02040503050406030204" pitchFamily="18" charset="0"/>
                <a:cs typeface="Courier New" panose="02070309020205020404" pitchFamily="49" charset="0"/>
              </a:rPr>
              <a:t>#</a:t>
            </a:r>
            <a:r>
              <a:rPr lang="en-US" sz="2800" b="1" dirty="0" err="1" smtClean="0">
                <a:latin typeface="Cambria" panose="02040503050406030204" pitchFamily="18" charset="0"/>
                <a:ea typeface="Cambria" panose="02040503050406030204" pitchFamily="18" charset="0"/>
                <a:cs typeface="Courier New" panose="02070309020205020404" pitchFamily="49" charset="0"/>
              </a:rPr>
              <a:t>endif</a:t>
            </a:r>
            <a:endParaRPr lang="en-US" sz="2800" b="1" dirty="0" smtClean="0">
              <a:latin typeface="Cambria" panose="02040503050406030204" pitchFamily="18" charset="0"/>
              <a:ea typeface="Cambria" panose="02040503050406030204" pitchFamily="18" charset="0"/>
            </a:endParaRPr>
          </a:p>
          <a:p>
            <a:pPr lvl="0" eaLnBrk="0" fontAlgn="base" hangingPunct="0">
              <a:spcBef>
                <a:spcPct val="0"/>
              </a:spcBef>
              <a:spcAft>
                <a:spcPct val="0"/>
              </a:spcAft>
            </a:pPr>
            <a:r>
              <a:rPr lang="en-US" sz="2000" dirty="0" smtClean="0">
                <a:latin typeface="Cambria" panose="02040503050406030204" pitchFamily="18" charset="0"/>
                <a:ea typeface="Cambria" panose="02040503050406030204" pitchFamily="18" charset="0"/>
              </a:rPr>
              <a:t>Marks </a:t>
            </a:r>
            <a:r>
              <a:rPr lang="en-US" sz="2000" dirty="0">
                <a:latin typeface="Cambria" panose="02040503050406030204" pitchFamily="18" charset="0"/>
                <a:ea typeface="Cambria" panose="02040503050406030204" pitchFamily="18" charset="0"/>
              </a:rPr>
              <a:t>the end of a conditional compilation block (</a:t>
            </a:r>
            <a:r>
              <a:rPr lang="en-US" sz="2000" dirty="0">
                <a:latin typeface="Cambria" panose="02040503050406030204" pitchFamily="18" charset="0"/>
                <a:ea typeface="Cambria" panose="02040503050406030204" pitchFamily="18" charset="0"/>
                <a:cs typeface="Courier New" panose="02070309020205020404" pitchFamily="49" charset="0"/>
              </a:rPr>
              <a:t>#if</a:t>
            </a:r>
            <a:r>
              <a:rPr lang="en-US"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cs typeface="Courier New" panose="02070309020205020404" pitchFamily="49" charset="0"/>
              </a:rPr>
              <a:t>#</a:t>
            </a:r>
            <a:r>
              <a:rPr lang="en-US" sz="2000" dirty="0" err="1">
                <a:latin typeface="Cambria" panose="02040503050406030204" pitchFamily="18" charset="0"/>
                <a:ea typeface="Cambria" panose="02040503050406030204" pitchFamily="18" charset="0"/>
                <a:cs typeface="Courier New" panose="02070309020205020404" pitchFamily="49" charset="0"/>
              </a:rPr>
              <a:t>ifdef</a:t>
            </a:r>
            <a:r>
              <a:rPr lang="en-US" sz="2000" dirty="0">
                <a:latin typeface="Cambria" panose="02040503050406030204" pitchFamily="18" charset="0"/>
                <a:ea typeface="Cambria" panose="02040503050406030204" pitchFamily="18" charset="0"/>
              </a:rPr>
              <a:t>, or </a:t>
            </a:r>
            <a:r>
              <a:rPr lang="en-US" sz="2000" dirty="0">
                <a:latin typeface="Cambria" panose="02040503050406030204" pitchFamily="18" charset="0"/>
                <a:ea typeface="Cambria" panose="02040503050406030204" pitchFamily="18" charset="0"/>
                <a:cs typeface="Courier New" panose="02070309020205020404" pitchFamily="49" charset="0"/>
              </a:rPr>
              <a:t>#</a:t>
            </a:r>
            <a:r>
              <a:rPr lang="en-US" sz="2000" dirty="0" err="1">
                <a:latin typeface="Cambria" panose="02040503050406030204" pitchFamily="18" charset="0"/>
                <a:ea typeface="Cambria" panose="02040503050406030204" pitchFamily="18" charset="0"/>
                <a:cs typeface="Courier New" panose="02070309020205020404" pitchFamily="49" charset="0"/>
              </a:rPr>
              <a:t>ifndef</a:t>
            </a:r>
            <a:r>
              <a:rPr lang="en-US" sz="2000" dirty="0">
                <a:latin typeface="Cambria" panose="02040503050406030204" pitchFamily="18" charset="0"/>
                <a:ea typeface="Cambria" panose="02040503050406030204" pitchFamily="18" charset="0"/>
              </a:rPr>
              <a:t>).</a:t>
            </a:r>
          </a:p>
          <a:p>
            <a:pPr lvl="0" eaLnBrk="0" fontAlgn="base" hangingPunct="0">
              <a:spcBef>
                <a:spcPct val="0"/>
              </a:spcBef>
              <a:spcAft>
                <a:spcPct val="0"/>
              </a:spcAft>
            </a:pPr>
            <a:r>
              <a:rPr lang="en-US" sz="2800" b="1" dirty="0">
                <a:latin typeface="Cambria" panose="02040503050406030204" pitchFamily="18" charset="0"/>
                <a:ea typeface="Cambria" panose="02040503050406030204" pitchFamily="18" charset="0"/>
                <a:cs typeface="Courier New" panose="02070309020205020404" pitchFamily="49" charset="0"/>
              </a:rPr>
              <a:t>#</a:t>
            </a:r>
            <a:r>
              <a:rPr lang="en-US" sz="2800" b="1" dirty="0" err="1" smtClean="0">
                <a:latin typeface="Cambria" panose="02040503050406030204" pitchFamily="18" charset="0"/>
                <a:ea typeface="Cambria" panose="02040503050406030204" pitchFamily="18" charset="0"/>
                <a:cs typeface="Courier New" panose="02070309020205020404" pitchFamily="49" charset="0"/>
              </a:rPr>
              <a:t>ifdef</a:t>
            </a:r>
            <a:r>
              <a:rPr lang="en-US" sz="2800" b="1"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&lt;</a:t>
            </a:r>
            <a:r>
              <a:rPr lang="en-US" sz="2800" dirty="0" err="1" smtClean="0">
                <a:latin typeface="Cambria" panose="02040503050406030204" pitchFamily="18" charset="0"/>
                <a:ea typeface="Cambria" panose="02040503050406030204" pitchFamily="18" charset="0"/>
              </a:rPr>
              <a:t>condition_statement</a:t>
            </a:r>
            <a:r>
              <a:rPr lang="en-US" sz="2800" dirty="0" smtClean="0">
                <a:latin typeface="Cambria" panose="02040503050406030204" pitchFamily="18" charset="0"/>
                <a:ea typeface="Cambria" panose="02040503050406030204" pitchFamily="18" charset="0"/>
              </a:rPr>
              <a:t>&gt;</a:t>
            </a:r>
          </a:p>
          <a:p>
            <a:pPr lvl="0" eaLnBrk="0" fontAlgn="base" hangingPunct="0">
              <a:spcBef>
                <a:spcPct val="0"/>
              </a:spcBef>
              <a:spcAft>
                <a:spcPct val="0"/>
              </a:spcAft>
            </a:pPr>
            <a:r>
              <a:rPr lang="en-US" sz="2000" dirty="0" smtClean="0">
                <a:latin typeface="Cambria" panose="02040503050406030204" pitchFamily="18" charset="0"/>
                <a:ea typeface="Cambria" panose="02040503050406030204" pitchFamily="18" charset="0"/>
              </a:rPr>
              <a:t>Checks </a:t>
            </a:r>
            <a:r>
              <a:rPr lang="en-US" sz="2000" dirty="0">
                <a:latin typeface="Cambria" panose="02040503050406030204" pitchFamily="18" charset="0"/>
                <a:ea typeface="Cambria" panose="02040503050406030204" pitchFamily="18" charset="0"/>
              </a:rPr>
              <a:t>if a macro is defined, compiling the block only if it exists.</a:t>
            </a:r>
          </a:p>
          <a:p>
            <a:pPr lvl="0" eaLnBrk="0" fontAlgn="base" hangingPunct="0">
              <a:spcBef>
                <a:spcPct val="0"/>
              </a:spcBef>
              <a:spcAft>
                <a:spcPct val="0"/>
              </a:spcAft>
            </a:pPr>
            <a:r>
              <a:rPr lang="en-US" sz="2800" b="1" dirty="0">
                <a:latin typeface="Cambria" panose="02040503050406030204" pitchFamily="18" charset="0"/>
                <a:ea typeface="Cambria" panose="02040503050406030204" pitchFamily="18" charset="0"/>
                <a:cs typeface="Courier New" panose="02070309020205020404" pitchFamily="49" charset="0"/>
              </a:rPr>
              <a:t>#</a:t>
            </a:r>
            <a:r>
              <a:rPr lang="en-US" sz="2800" b="1" dirty="0" err="1" smtClean="0">
                <a:latin typeface="Cambria" panose="02040503050406030204" pitchFamily="18" charset="0"/>
                <a:ea typeface="Cambria" panose="02040503050406030204" pitchFamily="18" charset="0"/>
                <a:cs typeface="Courier New" panose="02070309020205020404" pitchFamily="49" charset="0"/>
              </a:rPr>
              <a:t>ifndef</a:t>
            </a:r>
            <a:r>
              <a:rPr lang="en-US" sz="2800" b="1"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&lt;</a:t>
            </a:r>
            <a:r>
              <a:rPr lang="en-US" sz="2800" dirty="0" err="1" smtClean="0">
                <a:latin typeface="Cambria" panose="02040503050406030204" pitchFamily="18" charset="0"/>
                <a:ea typeface="Cambria" panose="02040503050406030204" pitchFamily="18" charset="0"/>
              </a:rPr>
              <a:t>condition_statement</a:t>
            </a:r>
            <a:r>
              <a:rPr lang="en-US" sz="2800" dirty="0" smtClean="0">
                <a:latin typeface="Cambria" panose="02040503050406030204" pitchFamily="18" charset="0"/>
                <a:ea typeface="Cambria" panose="02040503050406030204" pitchFamily="18" charset="0"/>
              </a:rPr>
              <a:t>&gt; </a:t>
            </a:r>
          </a:p>
          <a:p>
            <a:pPr lvl="0" eaLnBrk="0" fontAlgn="base" hangingPunct="0">
              <a:spcBef>
                <a:spcPct val="0"/>
              </a:spcBef>
              <a:spcAft>
                <a:spcPct val="0"/>
              </a:spcAft>
            </a:pPr>
            <a:r>
              <a:rPr lang="en-US" sz="2000" dirty="0" smtClean="0">
                <a:latin typeface="Cambria" panose="02040503050406030204" pitchFamily="18" charset="0"/>
                <a:ea typeface="Cambria" panose="02040503050406030204" pitchFamily="18" charset="0"/>
              </a:rPr>
              <a:t>Checks </a:t>
            </a:r>
            <a:r>
              <a:rPr lang="en-US" sz="2000" dirty="0">
                <a:latin typeface="Cambria" panose="02040503050406030204" pitchFamily="18" charset="0"/>
                <a:ea typeface="Cambria" panose="02040503050406030204" pitchFamily="18" charset="0"/>
              </a:rPr>
              <a:t>if a macro is not defined, commonly used as a header guard to prevent duplicate inclusions.</a:t>
            </a:r>
          </a:p>
          <a:p>
            <a:pPr marL="855663" indent="-855663" eaLnBrk="0" fontAlgn="base" hangingPunct="0">
              <a:spcBef>
                <a:spcPct val="0"/>
              </a:spcBef>
              <a:spcAft>
                <a:spcPct val="0"/>
              </a:spcAft>
            </a:pPr>
            <a:endParaRPr lang="en-US" sz="2800" dirty="0" smtClean="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289313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Include Only Once Directives</a:t>
            </a:r>
            <a:endParaRPr lang="en-US" sz="4400" b="0" u="none" strike="noStrike" dirty="0">
              <a:solidFill>
                <a:srgbClr val="000000"/>
              </a:solidFill>
              <a:effectLst/>
              <a:uFillTx/>
              <a:latin typeface="Arial"/>
            </a:endParaRPr>
          </a:p>
        </p:txBody>
      </p:sp>
      <p:sp>
        <p:nvSpPr>
          <p:cNvPr id="3" name="TextBox 2"/>
          <p:cNvSpPr txBox="1"/>
          <p:nvPr/>
        </p:nvSpPr>
        <p:spPr>
          <a:xfrm>
            <a:off x="502920" y="1671077"/>
            <a:ext cx="9367191" cy="3970318"/>
          </a:xfrm>
          <a:prstGeom prst="rect">
            <a:avLst/>
          </a:prstGeom>
          <a:noFill/>
        </p:spPr>
        <p:txBody>
          <a:bodyPr wrap="square" rtlCol="0">
            <a:spAutoFit/>
          </a:bodyPr>
          <a:lstStyle/>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cs typeface="Courier New" panose="02070309020205020404" pitchFamily="49" charset="0"/>
              </a:rPr>
              <a:t>Example: In the file </a:t>
            </a:r>
            <a:r>
              <a:rPr lang="en-US" sz="2800" dirty="0" err="1" smtClean="0">
                <a:latin typeface="Cambria" panose="02040503050406030204" pitchFamily="18" charset="0"/>
                <a:ea typeface="Cambria" panose="02040503050406030204" pitchFamily="18" charset="0"/>
                <a:cs typeface="Courier New" panose="02070309020205020404" pitchFamily="49" charset="0"/>
              </a:rPr>
              <a:t>my_include.h</a:t>
            </a:r>
            <a:endParaRPr lang="en-US" sz="2800" dirty="0" smtClean="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endParaRPr lang="en-US" sz="2800" dirty="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cs typeface="Courier New" panose="02070309020205020404" pitchFamily="49" charset="0"/>
              </a:rPr>
              <a:t>#</a:t>
            </a:r>
            <a:r>
              <a:rPr lang="en-US" sz="2800" b="1" dirty="0" err="1" smtClean="0">
                <a:latin typeface="Cambria" panose="02040503050406030204" pitchFamily="18" charset="0"/>
                <a:ea typeface="Cambria" panose="02040503050406030204" pitchFamily="18" charset="0"/>
                <a:cs typeface="Courier New" panose="02070309020205020404" pitchFamily="49" charset="0"/>
              </a:rPr>
              <a:t>ifndef</a:t>
            </a:r>
            <a:r>
              <a:rPr lang="en-US" sz="2800" b="1" dirty="0" smtClean="0">
                <a:latin typeface="Cambria" panose="02040503050406030204" pitchFamily="18" charset="0"/>
                <a:ea typeface="Cambria" panose="02040503050406030204" pitchFamily="18" charset="0"/>
                <a:cs typeface="Courier New" panose="02070309020205020404" pitchFamily="49" charset="0"/>
              </a:rPr>
              <a:t> </a:t>
            </a:r>
            <a:r>
              <a:rPr lang="en-US" sz="2800" dirty="0" smtClean="0">
                <a:latin typeface="Cambria" panose="02040503050406030204" pitchFamily="18" charset="0"/>
                <a:ea typeface="Cambria" panose="02040503050406030204" pitchFamily="18" charset="0"/>
                <a:cs typeface="Courier New" panose="02070309020205020404" pitchFamily="49" charset="0"/>
              </a:rPr>
              <a:t>MY_INCLUDE_FILE_H</a:t>
            </a:r>
          </a:p>
          <a:p>
            <a:pPr lvl="0"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cs typeface="Courier New" panose="02070309020205020404" pitchFamily="49" charset="0"/>
              </a:rPr>
              <a:t>#define </a:t>
            </a:r>
            <a:r>
              <a:rPr lang="en-US" sz="2800" dirty="0" smtClean="0">
                <a:latin typeface="Cambria" panose="02040503050406030204" pitchFamily="18" charset="0"/>
                <a:ea typeface="Cambria" panose="02040503050406030204" pitchFamily="18" charset="0"/>
                <a:cs typeface="Courier New" panose="02070309020205020404" pitchFamily="49" charset="0"/>
              </a:rPr>
              <a:t>MY_INCLUDE_FILE_H</a:t>
            </a:r>
          </a:p>
          <a:p>
            <a:pPr lvl="0" eaLnBrk="0" fontAlgn="base" hangingPunct="0">
              <a:spcBef>
                <a:spcPct val="0"/>
              </a:spcBef>
              <a:spcAft>
                <a:spcPct val="0"/>
              </a:spcAft>
            </a:pPr>
            <a:endParaRPr lang="en-US" sz="2800" dirty="0">
              <a:latin typeface="Cambria" panose="02040503050406030204" pitchFamily="18" charset="0"/>
              <a:ea typeface="Cambria" panose="02040503050406030204" pitchFamily="18" charset="0"/>
              <a:cs typeface="Courier New" panose="02070309020205020404" pitchFamily="49" charset="0"/>
            </a:endParaRPr>
          </a:p>
          <a:p>
            <a:pPr eaLnBrk="0" fontAlgn="base" hangingPunct="0">
              <a:spcBef>
                <a:spcPct val="0"/>
              </a:spcBef>
              <a:spcAft>
                <a:spcPct val="0"/>
              </a:spcAft>
            </a:pPr>
            <a:r>
              <a:rPr lang="en-US" sz="2800" b="1" dirty="0" smtClean="0">
                <a:latin typeface="Cambria" panose="02040503050406030204" pitchFamily="18" charset="0"/>
                <a:ea typeface="Cambria" panose="02040503050406030204" pitchFamily="18" charset="0"/>
              </a:rPr>
              <a:t>#</a:t>
            </a:r>
            <a:r>
              <a:rPr lang="en-US" sz="2800" b="1" dirty="0">
                <a:latin typeface="Cambria" panose="02040503050406030204" pitchFamily="18" charset="0"/>
                <a:ea typeface="Cambria" panose="02040503050406030204" pitchFamily="18" charset="0"/>
              </a:rPr>
              <a:t>define </a:t>
            </a:r>
            <a:r>
              <a:rPr lang="en-US" sz="2800" dirty="0">
                <a:latin typeface="Cambria" panose="02040503050406030204" pitchFamily="18" charset="0"/>
                <a:ea typeface="Cambria" panose="02040503050406030204" pitchFamily="18" charset="0"/>
              </a:rPr>
              <a:t>int64_t   long </a:t>
            </a:r>
            <a:r>
              <a:rPr lang="en-US" sz="2800" dirty="0" err="1">
                <a:latin typeface="Cambria" panose="02040503050406030204" pitchFamily="18" charset="0"/>
                <a:ea typeface="Cambria" panose="02040503050406030204" pitchFamily="18" charset="0"/>
              </a:rPr>
              <a:t>long</a:t>
            </a:r>
            <a:endParaRPr lang="en-US" sz="2800" dirty="0">
              <a:latin typeface="Cambria" panose="02040503050406030204" pitchFamily="18" charset="0"/>
              <a:ea typeface="Cambria" panose="02040503050406030204" pitchFamily="18" charset="0"/>
            </a:endParaRPr>
          </a:p>
          <a:p>
            <a:pPr lvl="0" eaLnBrk="0" fontAlgn="base" hangingPunct="0">
              <a:spcBef>
                <a:spcPct val="0"/>
              </a:spcBef>
              <a:spcAft>
                <a:spcPct val="0"/>
              </a:spcAft>
            </a:pPr>
            <a:endParaRPr lang="en-US" sz="2800" dirty="0" smtClean="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cs typeface="Courier New" panose="02070309020205020404" pitchFamily="49" charset="0"/>
              </a:rPr>
              <a:t>#</a:t>
            </a:r>
            <a:r>
              <a:rPr lang="en-US" sz="2800" dirty="0" err="1" smtClean="0">
                <a:latin typeface="Cambria" panose="02040503050406030204" pitchFamily="18" charset="0"/>
                <a:ea typeface="Cambria" panose="02040503050406030204" pitchFamily="18" charset="0"/>
                <a:cs typeface="Courier New" panose="02070309020205020404" pitchFamily="49" charset="0"/>
              </a:rPr>
              <a:t>endif</a:t>
            </a: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9645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Include Only Once Directives</a:t>
            </a:r>
            <a:endParaRPr lang="en-US" sz="4400" b="0" u="none" strike="noStrike" dirty="0">
              <a:solidFill>
                <a:srgbClr val="000000"/>
              </a:solidFill>
              <a:effectLst/>
              <a:uFillTx/>
              <a:latin typeface="Arial"/>
            </a:endParaRPr>
          </a:p>
        </p:txBody>
      </p:sp>
      <p:sp>
        <p:nvSpPr>
          <p:cNvPr id="3" name="TextBox 2"/>
          <p:cNvSpPr txBox="1"/>
          <p:nvPr/>
        </p:nvSpPr>
        <p:spPr>
          <a:xfrm>
            <a:off x="502920" y="1671077"/>
            <a:ext cx="9367191" cy="5262979"/>
          </a:xfrm>
          <a:prstGeom prst="rect">
            <a:avLst/>
          </a:prstGeom>
          <a:noFill/>
        </p:spPr>
        <p:txBody>
          <a:bodyPr wrap="square" rtlCol="0">
            <a:spAutoFit/>
          </a:bodyPr>
          <a:lstStyle/>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cs typeface="Courier New" panose="02070309020205020404" pitchFamily="49" charset="0"/>
              </a:rPr>
              <a:t>Example: In the file code </a:t>
            </a:r>
            <a:r>
              <a:rPr lang="en-US" sz="2800" dirty="0" err="1" smtClean="0">
                <a:latin typeface="Cambria" panose="02040503050406030204" pitchFamily="18" charset="0"/>
                <a:ea typeface="Cambria" panose="02040503050406030204" pitchFamily="18" charset="0"/>
                <a:cs typeface="Courier New" panose="02070309020205020404" pitchFamily="49" charset="0"/>
              </a:rPr>
              <a:t>main.c</a:t>
            </a:r>
            <a:endParaRPr lang="en-US" sz="2800" dirty="0" smtClean="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endParaRPr lang="en-US" sz="2800" dirty="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cs typeface="Courier New" panose="02070309020205020404" pitchFamily="49" charset="0"/>
              </a:rPr>
              <a:t>#include “</a:t>
            </a:r>
            <a:r>
              <a:rPr lang="en-US" sz="2800" dirty="0" err="1" smtClean="0">
                <a:latin typeface="Cambria" panose="02040503050406030204" pitchFamily="18" charset="0"/>
                <a:ea typeface="Cambria" panose="02040503050406030204" pitchFamily="18" charset="0"/>
                <a:cs typeface="Courier New" panose="02070309020205020404" pitchFamily="49" charset="0"/>
              </a:rPr>
              <a:t>my_include.h</a:t>
            </a:r>
            <a:r>
              <a:rPr lang="en-US" sz="2800" dirty="0" smtClean="0">
                <a:latin typeface="Cambria" panose="02040503050406030204" pitchFamily="18" charset="0"/>
                <a:ea typeface="Cambria" panose="02040503050406030204" pitchFamily="18" charset="0"/>
                <a:cs typeface="Courier New" panose="02070309020205020404" pitchFamily="49" charset="0"/>
              </a:rPr>
              <a:t>”</a:t>
            </a:r>
          </a:p>
          <a:p>
            <a:pPr lvl="0" eaLnBrk="0" fontAlgn="base" hangingPunct="0">
              <a:spcBef>
                <a:spcPct val="0"/>
              </a:spcBef>
              <a:spcAft>
                <a:spcPct val="0"/>
              </a:spcAft>
            </a:pPr>
            <a:endParaRPr lang="en-US" sz="2800" dirty="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cs typeface="Courier New" panose="02070309020205020404" pitchFamily="49" charset="0"/>
              </a:rPr>
              <a:t>#include “</a:t>
            </a:r>
            <a:r>
              <a:rPr lang="en-US" sz="2800" dirty="0" err="1" smtClean="0">
                <a:latin typeface="Cambria" panose="02040503050406030204" pitchFamily="18" charset="0"/>
                <a:ea typeface="Cambria" panose="02040503050406030204" pitchFamily="18" charset="0"/>
                <a:cs typeface="Courier New" panose="02070309020205020404" pitchFamily="49" charset="0"/>
              </a:rPr>
              <a:t>my_include.h</a:t>
            </a:r>
            <a:r>
              <a:rPr lang="en-US" sz="2800" dirty="0" smtClean="0">
                <a:latin typeface="Cambria" panose="02040503050406030204" pitchFamily="18" charset="0"/>
                <a:ea typeface="Cambria" panose="02040503050406030204" pitchFamily="18" charset="0"/>
                <a:cs typeface="Courier New" panose="02070309020205020404" pitchFamily="49" charset="0"/>
              </a:rPr>
              <a:t>”</a:t>
            </a:r>
          </a:p>
          <a:p>
            <a:pPr lvl="0" eaLnBrk="0" fontAlgn="base" hangingPunct="0">
              <a:spcBef>
                <a:spcPct val="0"/>
              </a:spcBef>
              <a:spcAft>
                <a:spcPct val="0"/>
              </a:spcAft>
            </a:pPr>
            <a:endParaRPr lang="en-US" sz="2800" dirty="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endParaRPr lang="en-US" sz="2800" dirty="0" smtClean="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cs typeface="Courier New" panose="02070309020205020404" pitchFamily="49" charset="0"/>
              </a:rPr>
              <a:t>Will only have one definition of int64_t as first include will define MY_INCLUDE_FILE_H</a:t>
            </a:r>
          </a:p>
          <a:p>
            <a:pPr lvl="0" eaLnBrk="0" fontAlgn="base" hangingPunct="0">
              <a:spcBef>
                <a:spcPct val="0"/>
              </a:spcBef>
              <a:spcAft>
                <a:spcPct val="0"/>
              </a:spcAft>
            </a:pPr>
            <a:endParaRPr lang="en-US" sz="2800" dirty="0">
              <a:latin typeface="Cambria" panose="02040503050406030204" pitchFamily="18" charset="0"/>
              <a:ea typeface="Cambria" panose="02040503050406030204" pitchFamily="18" charset="0"/>
              <a:cs typeface="Courier New" panose="02070309020205020404" pitchFamily="49" charset="0"/>
            </a:endParaRPr>
          </a:p>
          <a:p>
            <a:pPr lvl="0" eaLnBrk="0" fontAlgn="base" hangingPunct="0">
              <a:spcBef>
                <a:spcPct val="0"/>
              </a:spcBef>
              <a:spcAft>
                <a:spcPct val="0"/>
              </a:spcAft>
            </a:pPr>
            <a:r>
              <a:rPr lang="en-US" sz="2800" dirty="0" smtClean="0">
                <a:latin typeface="Cambria" panose="02040503050406030204" pitchFamily="18" charset="0"/>
                <a:ea typeface="Cambria" panose="02040503050406030204" pitchFamily="18" charset="0"/>
              </a:rPr>
              <a:t>Necessary because multiple include files can have references to the same include file.    Must have only one definition!</a:t>
            </a:r>
            <a:endParaRPr lang="en-US" sz="2800" dirty="0" smtClean="0">
              <a:latin typeface="Cambria" panose="02040503050406030204" pitchFamily="18" charset="0"/>
              <a:ea typeface="Cambria" panose="02040503050406030204" pitchFamily="18" charset="0"/>
              <a:cs typeface="Courier New" panose="02070309020205020404" pitchFamily="49" charset="0"/>
            </a:endParaRPr>
          </a:p>
        </p:txBody>
      </p:sp>
    </p:spTree>
    <p:extLst>
      <p:ext uri="{BB962C8B-B14F-4D97-AF65-F5344CB8AC3E}">
        <p14:creationId xmlns:p14="http://schemas.microsoft.com/office/powerpoint/2010/main" val="1751361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Error Handling Directives</a:t>
            </a:r>
            <a:endParaRPr lang="en-US" sz="4400" b="0" u="none" strike="noStrike" dirty="0">
              <a:solidFill>
                <a:srgbClr val="000000"/>
              </a:solidFill>
              <a:effectLst/>
              <a:uFillTx/>
              <a:latin typeface="Arial"/>
            </a:endParaRPr>
          </a:p>
        </p:txBody>
      </p:sp>
      <p:sp>
        <p:nvSpPr>
          <p:cNvPr id="3" name="TextBox 2"/>
          <p:cNvSpPr txBox="1"/>
          <p:nvPr/>
        </p:nvSpPr>
        <p:spPr>
          <a:xfrm>
            <a:off x="691209" y="1907052"/>
            <a:ext cx="9367191" cy="7294305"/>
          </a:xfrm>
          <a:prstGeom prst="rect">
            <a:avLst/>
          </a:prstGeom>
          <a:noFill/>
        </p:spPr>
        <p:txBody>
          <a:bodyPr wrap="square" rtlCol="0">
            <a:spAutoFit/>
          </a:bodyPr>
          <a:lstStyle/>
          <a:p>
            <a:pPr lvl="0" eaLnBrk="0" fontAlgn="base" hangingPunct="0">
              <a:spcBef>
                <a:spcPct val="0"/>
              </a:spcBef>
              <a:spcAft>
                <a:spcPct val="0"/>
              </a:spcAft>
            </a:pPr>
            <a:r>
              <a:rPr lang="en-US" sz="2800" dirty="0" smtClean="0">
                <a:latin typeface="Google Sans"/>
              </a:rPr>
              <a:t>These </a:t>
            </a:r>
            <a:r>
              <a:rPr lang="en-US" sz="2800" dirty="0">
                <a:latin typeface="Google Sans"/>
              </a:rPr>
              <a:t>help generate compiler messages or force failures during build </a:t>
            </a:r>
            <a:r>
              <a:rPr lang="en-US" sz="2800" dirty="0" smtClean="0">
                <a:latin typeface="Google Sans"/>
              </a:rPr>
              <a:t>time</a:t>
            </a:r>
          </a:p>
          <a:p>
            <a:pPr lvl="0" eaLnBrk="0" fontAlgn="base" hangingPunct="0">
              <a:spcBef>
                <a:spcPct val="0"/>
              </a:spcBef>
              <a:spcAft>
                <a:spcPct val="0"/>
              </a:spcAft>
            </a:pPr>
            <a:endParaRPr lang="en-US" sz="800" dirty="0"/>
          </a:p>
          <a:p>
            <a:pPr lvl="0" eaLnBrk="0" fontAlgn="base" hangingPunct="0">
              <a:spcBef>
                <a:spcPct val="0"/>
              </a:spcBef>
              <a:spcAft>
                <a:spcPct val="0"/>
              </a:spcAft>
            </a:pPr>
            <a:r>
              <a:rPr lang="en-US" sz="2800" b="1" dirty="0">
                <a:latin typeface="Courier New" panose="02070309020205020404" pitchFamily="49" charset="0"/>
                <a:cs typeface="Courier New" panose="02070309020205020404" pitchFamily="49" charset="0"/>
              </a:rPr>
              <a:t>#</a:t>
            </a:r>
            <a:r>
              <a:rPr lang="en-US" sz="2800" b="1" dirty="0" smtClean="0">
                <a:latin typeface="Courier New" panose="02070309020205020404" pitchFamily="49" charset="0"/>
                <a:cs typeface="Courier New" panose="02070309020205020404" pitchFamily="49" charset="0"/>
              </a:rPr>
              <a:t>error </a:t>
            </a:r>
            <a:r>
              <a:rPr lang="en-US" sz="2800" dirty="0" smtClean="0">
                <a:latin typeface="Courier New" panose="02070309020205020404" pitchFamily="49" charset="0"/>
                <a:cs typeface="Courier New" panose="02070309020205020404" pitchFamily="49" charset="0"/>
              </a:rPr>
              <a:t>&lt;</a:t>
            </a:r>
            <a:r>
              <a:rPr lang="en-US" sz="2800" dirty="0" err="1" smtClean="0">
                <a:latin typeface="Courier New" panose="02070309020205020404" pitchFamily="49" charset="0"/>
                <a:cs typeface="Courier New" panose="02070309020205020404" pitchFamily="49" charset="0"/>
              </a:rPr>
              <a:t>output_message</a:t>
            </a:r>
            <a:r>
              <a:rPr lang="en-US" sz="2800" dirty="0" smtClean="0">
                <a:latin typeface="Courier New" panose="02070309020205020404" pitchFamily="49" charset="0"/>
                <a:cs typeface="Courier New" panose="02070309020205020404" pitchFamily="49" charset="0"/>
              </a:rPr>
              <a:t>&gt;</a:t>
            </a:r>
            <a:endParaRPr lang="en-US" sz="2800" dirty="0">
              <a:latin typeface="Google Sans"/>
            </a:endParaRPr>
          </a:p>
          <a:p>
            <a:pPr lvl="0" eaLnBrk="0" fontAlgn="base" hangingPunct="0">
              <a:spcBef>
                <a:spcPct val="0"/>
              </a:spcBef>
              <a:spcAft>
                <a:spcPct val="0"/>
              </a:spcAft>
            </a:pPr>
            <a:r>
              <a:rPr lang="en-US" sz="2800" dirty="0" smtClean="0">
                <a:latin typeface="Google Sans"/>
              </a:rPr>
              <a:t>	Outputs error</a:t>
            </a:r>
          </a:p>
          <a:p>
            <a:pPr lvl="0" eaLnBrk="0" fontAlgn="base" hangingPunct="0">
              <a:spcBef>
                <a:spcPct val="0"/>
              </a:spcBef>
              <a:spcAft>
                <a:spcPct val="0"/>
              </a:spcAft>
            </a:pPr>
            <a:r>
              <a:rPr lang="en-US" sz="2800" dirty="0" smtClean="0">
                <a:latin typeface="Google Sans"/>
              </a:rPr>
              <a:t>	Stops </a:t>
            </a:r>
            <a:r>
              <a:rPr lang="en-US" sz="2800" dirty="0">
                <a:latin typeface="Google Sans"/>
              </a:rPr>
              <a:t>the </a:t>
            </a:r>
            <a:r>
              <a:rPr lang="en-US" sz="2800" dirty="0" smtClean="0">
                <a:latin typeface="Google Sans"/>
              </a:rPr>
              <a:t>build</a:t>
            </a:r>
            <a:endParaRPr lang="en-US" sz="2800" dirty="0">
              <a:latin typeface="Google Sans"/>
            </a:endParaRPr>
          </a:p>
          <a:p>
            <a:pPr lvl="0" eaLnBrk="0" fontAlgn="base" hangingPunct="0">
              <a:spcBef>
                <a:spcPct val="0"/>
              </a:spcBef>
              <a:spcAft>
                <a:spcPct val="0"/>
              </a:spcAft>
            </a:pPr>
            <a:r>
              <a:rPr lang="en-US" sz="2800" b="1" dirty="0">
                <a:latin typeface="Courier New" panose="02070309020205020404" pitchFamily="49" charset="0"/>
                <a:cs typeface="Courier New" panose="02070309020205020404" pitchFamily="49" charset="0"/>
              </a:rPr>
              <a:t>#</a:t>
            </a:r>
            <a:r>
              <a:rPr lang="en-US" sz="2800" b="1" dirty="0" smtClean="0">
                <a:latin typeface="Courier New" panose="02070309020205020404" pitchFamily="49" charset="0"/>
                <a:cs typeface="Courier New" panose="02070309020205020404" pitchFamily="49" charset="0"/>
              </a:rPr>
              <a:t>warning</a:t>
            </a:r>
            <a:r>
              <a:rPr lang="en-US" sz="2800" b="1" dirty="0">
                <a:latin typeface="Google Sans"/>
              </a:rPr>
              <a:t> </a:t>
            </a:r>
            <a:r>
              <a:rPr lang="en-US" sz="2800" dirty="0" smtClean="0">
                <a:latin typeface="Courier New" panose="02070309020205020404" pitchFamily="49" charset="0"/>
                <a:cs typeface="Courier New" panose="02070309020205020404" pitchFamily="49" charset="0"/>
              </a:rPr>
              <a:t>&lt;</a:t>
            </a:r>
            <a:r>
              <a:rPr lang="en-US" sz="2800" dirty="0" err="1" smtClean="0">
                <a:latin typeface="Courier New" panose="02070309020205020404" pitchFamily="49" charset="0"/>
                <a:cs typeface="Courier New" panose="02070309020205020404" pitchFamily="49" charset="0"/>
              </a:rPr>
              <a:t>output_message</a:t>
            </a:r>
            <a:r>
              <a:rPr lang="en-US" sz="2800" dirty="0" smtClean="0">
                <a:latin typeface="Courier New" panose="02070309020205020404" pitchFamily="49" charset="0"/>
                <a:cs typeface="Courier New" panose="02070309020205020404" pitchFamily="49" charset="0"/>
              </a:rPr>
              <a:t>&gt; </a:t>
            </a:r>
          </a:p>
          <a:p>
            <a:pPr lvl="0" eaLnBrk="0" fontAlgn="base" hangingPunct="0">
              <a:spcBef>
                <a:spcPct val="0"/>
              </a:spcBef>
              <a:spcAft>
                <a:spcPct val="0"/>
              </a:spcAft>
            </a:pPr>
            <a:r>
              <a:rPr lang="en-US" sz="2800" b="1" dirty="0" smtClean="0">
                <a:latin typeface="Google Sans"/>
              </a:rPr>
              <a:t>	</a:t>
            </a:r>
            <a:r>
              <a:rPr lang="en-US" sz="2800" dirty="0" smtClean="0">
                <a:latin typeface="Google Sans"/>
              </a:rPr>
              <a:t>Generates warning message</a:t>
            </a:r>
          </a:p>
          <a:p>
            <a:pPr lvl="0" eaLnBrk="0" fontAlgn="base" hangingPunct="0">
              <a:spcBef>
                <a:spcPct val="0"/>
              </a:spcBef>
              <a:spcAft>
                <a:spcPct val="0"/>
              </a:spcAft>
            </a:pPr>
            <a:r>
              <a:rPr lang="en-US" sz="2800" dirty="0">
                <a:latin typeface="Google Sans"/>
              </a:rPr>
              <a:t>	</a:t>
            </a:r>
            <a:r>
              <a:rPr lang="en-US" sz="2800" dirty="0" smtClean="0">
                <a:latin typeface="Google Sans"/>
              </a:rPr>
              <a:t>Does no halt </a:t>
            </a:r>
            <a:r>
              <a:rPr lang="en-US" sz="2800" dirty="0">
                <a:latin typeface="Google Sans"/>
              </a:rPr>
              <a:t>the compilation </a:t>
            </a:r>
            <a:r>
              <a:rPr lang="en-US" sz="2800" dirty="0" smtClean="0">
                <a:latin typeface="Google Sans"/>
              </a:rPr>
              <a:t>process</a:t>
            </a:r>
          </a:p>
          <a:p>
            <a:pPr lvl="0" eaLnBrk="0" fontAlgn="base" hangingPunct="0">
              <a:spcBef>
                <a:spcPct val="0"/>
              </a:spcBef>
              <a:spcAft>
                <a:spcPct val="0"/>
              </a:spcAft>
            </a:pPr>
            <a:endParaRPr lang="en-US" sz="2800" dirty="0">
              <a:latin typeface="Google Sans"/>
            </a:endParaRPr>
          </a:p>
          <a:p>
            <a:pPr lvl="0" eaLnBrk="0" fontAlgn="base" hangingPunct="0">
              <a:spcBef>
                <a:spcPct val="0"/>
              </a:spcBef>
              <a:spcAft>
                <a:spcPct val="0"/>
              </a:spcAft>
            </a:pPr>
            <a:r>
              <a:rPr lang="en-US" sz="2800" dirty="0" smtClean="0">
                <a:latin typeface="Google Sans"/>
              </a:rPr>
              <a:t>Example:</a:t>
            </a:r>
          </a:p>
          <a:p>
            <a:pPr lvl="0" eaLnBrk="0" fontAlgn="base" hangingPunct="0">
              <a:spcBef>
                <a:spcPct val="0"/>
              </a:spcBef>
              <a:spcAft>
                <a:spcPct val="0"/>
              </a:spcAft>
            </a:pPr>
            <a:r>
              <a:rPr lang="en-US" sz="2800" dirty="0" smtClean="0">
                <a:latin typeface="Google Sans"/>
              </a:rPr>
              <a:t># error “Please fix &lt;bits/</a:t>
            </a:r>
            <a:r>
              <a:rPr lang="en-US" sz="2800" dirty="0" err="1" smtClean="0">
                <a:latin typeface="Google Sans"/>
              </a:rPr>
              <a:t>endian.h</a:t>
            </a:r>
            <a:r>
              <a:rPr lang="en-US" sz="2800" dirty="0" smtClean="0">
                <a:latin typeface="Google Sans"/>
              </a:rPr>
              <a:t>&gt;”</a:t>
            </a:r>
            <a:endParaRPr lang="en-US" sz="2800" dirty="0">
              <a:latin typeface="Google Sans"/>
            </a:endParaRPr>
          </a:p>
          <a:p>
            <a:pPr lvl="0" eaLnBrk="0" fontAlgn="base" hangingPunct="0">
              <a:spcBef>
                <a:spcPct val="0"/>
              </a:spcBef>
              <a:spcAft>
                <a:spcPct val="0"/>
              </a:spcAft>
            </a:pPr>
            <a:endParaRPr lang="en-US" sz="4000" dirty="0">
              <a:latin typeface="Arial" panose="020B0604020202020204" pitchFamily="34" charset="0"/>
            </a:endParaRPr>
          </a:p>
          <a:p>
            <a:pPr marL="855663" indent="-855663" eaLnBrk="0" fontAlgn="base" hangingPunct="0">
              <a:spcBef>
                <a:spcPct val="0"/>
              </a:spcBef>
              <a:spcAft>
                <a:spcPct val="0"/>
              </a:spcAft>
            </a:pPr>
            <a:endParaRPr lang="en-US" sz="2800" dirty="0"/>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319717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r>
              <a:rPr lang="en-US" sz="4400" b="1" dirty="0" smtClean="0">
                <a:solidFill>
                  <a:schemeClr val="lt1"/>
                </a:solidFill>
                <a:latin typeface="Arial"/>
              </a:rPr>
              <a:t>Miscellaneous Directives</a:t>
            </a:r>
            <a:endParaRPr lang="en-US" sz="4400" b="0" u="none" strike="noStrike" dirty="0">
              <a:solidFill>
                <a:srgbClr val="000000"/>
              </a:solidFill>
              <a:effectLst/>
              <a:uFillTx/>
              <a:latin typeface="Arial"/>
            </a:endParaRPr>
          </a:p>
        </p:txBody>
      </p:sp>
      <p:sp>
        <p:nvSpPr>
          <p:cNvPr id="3" name="TextBox 2"/>
          <p:cNvSpPr txBox="1"/>
          <p:nvPr/>
        </p:nvSpPr>
        <p:spPr>
          <a:xfrm>
            <a:off x="691209" y="1907052"/>
            <a:ext cx="9367191" cy="6432530"/>
          </a:xfrm>
          <a:prstGeom prst="rect">
            <a:avLst/>
          </a:prstGeom>
          <a:noFill/>
        </p:spPr>
        <p:txBody>
          <a:bodyPr wrap="square" rtlCol="0">
            <a:spAutoFit/>
          </a:bodyPr>
          <a:lstStyle/>
          <a:p>
            <a:pPr lvl="0" eaLnBrk="0" fontAlgn="base" hangingPunct="0">
              <a:spcBef>
                <a:spcPct val="0"/>
              </a:spcBef>
              <a:spcAft>
                <a:spcPct val="0"/>
              </a:spcAft>
            </a:pPr>
            <a:endParaRPr lang="en-US" sz="800" dirty="0"/>
          </a:p>
          <a:p>
            <a:pPr lvl="0" eaLnBrk="0" fontAlgn="base" hangingPunct="0">
              <a:spcBef>
                <a:spcPct val="0"/>
              </a:spcBef>
              <a:spcAft>
                <a:spcPct val="0"/>
              </a:spcAft>
            </a:pPr>
            <a:r>
              <a:rPr lang="en-US" sz="2800" b="1" dirty="0" smtClean="0">
                <a:latin typeface="Courier New" panose="02070309020205020404" pitchFamily="49" charset="0"/>
                <a:cs typeface="Courier New" panose="02070309020205020404" pitchFamily="49" charset="0"/>
              </a:rPr>
              <a:t>#pragma </a:t>
            </a:r>
            <a:r>
              <a:rPr lang="en-US" sz="2800" dirty="0" smtClean="0">
                <a:latin typeface="Courier New" panose="02070309020205020404" pitchFamily="49" charset="0"/>
                <a:cs typeface="Courier New" panose="02070309020205020404" pitchFamily="49" charset="0"/>
              </a:rPr>
              <a:t>&lt;</a:t>
            </a:r>
            <a:r>
              <a:rPr lang="en-US" sz="2800" dirty="0">
                <a:latin typeface="Courier New" panose="02070309020205020404" pitchFamily="49" charset="0"/>
                <a:cs typeface="Courier New" panose="02070309020205020404" pitchFamily="49" charset="0"/>
              </a:rPr>
              <a:t>c</a:t>
            </a:r>
            <a:r>
              <a:rPr lang="en-US" sz="2800" dirty="0" smtClean="0">
                <a:latin typeface="Courier New" panose="02070309020205020404" pitchFamily="49" charset="0"/>
                <a:cs typeface="Courier New" panose="02070309020205020404" pitchFamily="49" charset="0"/>
              </a:rPr>
              <a:t>ompiler directive&gt;</a:t>
            </a:r>
            <a:endParaRPr lang="en-US" sz="2800" dirty="0">
              <a:latin typeface="Google Sans"/>
            </a:endParaRPr>
          </a:p>
          <a:p>
            <a:pPr lvl="0" eaLnBrk="0" fontAlgn="base" hangingPunct="0">
              <a:spcBef>
                <a:spcPct val="0"/>
              </a:spcBef>
              <a:spcAft>
                <a:spcPct val="0"/>
              </a:spcAft>
            </a:pPr>
            <a:r>
              <a:rPr lang="en-US" sz="2800" dirty="0" smtClean="0">
                <a:latin typeface="Google Sans"/>
              </a:rPr>
              <a:t>	Compiler specific directive (parallel commands)</a:t>
            </a:r>
          </a:p>
          <a:p>
            <a:pPr lvl="0" eaLnBrk="0" fontAlgn="base" hangingPunct="0">
              <a:spcBef>
                <a:spcPct val="0"/>
              </a:spcBef>
              <a:spcAft>
                <a:spcPct val="0"/>
              </a:spcAft>
            </a:pPr>
            <a:r>
              <a:rPr lang="en-US" sz="2800" b="1" dirty="0" smtClean="0">
                <a:latin typeface="Courier New" panose="02070309020205020404" pitchFamily="49" charset="0"/>
                <a:cs typeface="Courier New" panose="02070309020205020404" pitchFamily="49" charset="0"/>
              </a:rPr>
              <a:t>#line </a:t>
            </a:r>
            <a:r>
              <a:rPr lang="en-US" sz="2800" dirty="0" smtClean="0">
                <a:latin typeface="Courier New" panose="02070309020205020404" pitchFamily="49" charset="0"/>
                <a:cs typeface="Courier New" panose="02070309020205020404" pitchFamily="49" charset="0"/>
              </a:rPr>
              <a:t>&lt;file and line number&gt; </a:t>
            </a:r>
          </a:p>
          <a:p>
            <a:pPr lvl="0" eaLnBrk="0" fontAlgn="base" hangingPunct="0">
              <a:spcBef>
                <a:spcPct val="0"/>
              </a:spcBef>
              <a:spcAft>
                <a:spcPct val="0"/>
              </a:spcAft>
            </a:pPr>
            <a:r>
              <a:rPr lang="en-US" sz="2800" b="1" dirty="0" smtClean="0">
                <a:latin typeface="Google Sans"/>
              </a:rPr>
              <a:t>	</a:t>
            </a:r>
            <a:r>
              <a:rPr lang="en-US" sz="2800" dirty="0" smtClean="0">
                <a:latin typeface="Google Sans"/>
              </a:rPr>
              <a:t>Changes file and line number reported by real</a:t>
            </a:r>
          </a:p>
          <a:p>
            <a:pPr lvl="0" eaLnBrk="0" fontAlgn="base" hangingPunct="0">
              <a:spcBef>
                <a:spcPct val="0"/>
              </a:spcBef>
              <a:spcAft>
                <a:spcPct val="0"/>
              </a:spcAft>
            </a:pPr>
            <a:r>
              <a:rPr lang="en-US" sz="2800" dirty="0">
                <a:latin typeface="Google Sans"/>
              </a:rPr>
              <a:t>	</a:t>
            </a:r>
            <a:r>
              <a:rPr lang="en-US" sz="2800" dirty="0" smtClean="0">
                <a:latin typeface="Google Sans"/>
              </a:rPr>
              <a:t>compiler</a:t>
            </a:r>
          </a:p>
          <a:p>
            <a:pPr lvl="0" eaLnBrk="0" fontAlgn="base" hangingPunct="0">
              <a:spcBef>
                <a:spcPct val="0"/>
              </a:spcBef>
              <a:spcAft>
                <a:spcPct val="0"/>
              </a:spcAft>
            </a:pPr>
            <a:r>
              <a:rPr lang="en-US" sz="2800" dirty="0">
                <a:latin typeface="Google Sans"/>
              </a:rPr>
              <a:t>	</a:t>
            </a:r>
            <a:r>
              <a:rPr lang="en-US" sz="2800" dirty="0" smtClean="0">
                <a:latin typeface="Google Sans"/>
              </a:rPr>
              <a:t>Used for debugging purposes</a:t>
            </a:r>
          </a:p>
          <a:p>
            <a:pPr lvl="0" eaLnBrk="0" fontAlgn="base" hangingPunct="0">
              <a:spcBef>
                <a:spcPct val="0"/>
              </a:spcBef>
              <a:spcAft>
                <a:spcPct val="0"/>
              </a:spcAft>
            </a:pPr>
            <a:endParaRPr lang="en-US" sz="2800" dirty="0">
              <a:latin typeface="Google Sans"/>
            </a:endParaRPr>
          </a:p>
          <a:p>
            <a:pPr lvl="0" eaLnBrk="0" fontAlgn="base" hangingPunct="0">
              <a:spcBef>
                <a:spcPct val="0"/>
              </a:spcBef>
              <a:spcAft>
                <a:spcPct val="0"/>
              </a:spcAft>
            </a:pPr>
            <a:r>
              <a:rPr lang="en-US" sz="2800" dirty="0" smtClean="0">
                <a:latin typeface="Google Sans"/>
              </a:rPr>
              <a:t>Example:</a:t>
            </a:r>
          </a:p>
          <a:p>
            <a:pPr lvl="0" eaLnBrk="0" fontAlgn="base" hangingPunct="0">
              <a:spcBef>
                <a:spcPct val="0"/>
              </a:spcBef>
              <a:spcAft>
                <a:spcPct val="0"/>
              </a:spcAft>
            </a:pPr>
            <a:r>
              <a:rPr lang="en-US" sz="2800" dirty="0" smtClean="0">
                <a:latin typeface="Google Sans"/>
              </a:rPr>
              <a:t># error “Please fix &lt;bits/</a:t>
            </a:r>
            <a:r>
              <a:rPr lang="en-US" sz="2800" dirty="0" err="1" smtClean="0">
                <a:latin typeface="Google Sans"/>
              </a:rPr>
              <a:t>endian.h</a:t>
            </a:r>
            <a:r>
              <a:rPr lang="en-US" sz="2800" dirty="0" smtClean="0">
                <a:latin typeface="Google Sans"/>
              </a:rPr>
              <a:t>&gt;”</a:t>
            </a:r>
            <a:endParaRPr lang="en-US" sz="2800" dirty="0">
              <a:latin typeface="Google Sans"/>
            </a:endParaRPr>
          </a:p>
          <a:p>
            <a:pPr lvl="0" eaLnBrk="0" fontAlgn="base" hangingPunct="0">
              <a:spcBef>
                <a:spcPct val="0"/>
              </a:spcBef>
              <a:spcAft>
                <a:spcPct val="0"/>
              </a:spcAft>
            </a:pPr>
            <a:endParaRPr lang="en-US" sz="4000" dirty="0">
              <a:latin typeface="Arial" panose="020B0604020202020204" pitchFamily="34" charset="0"/>
            </a:endParaRPr>
          </a:p>
          <a:p>
            <a:pPr marL="855663" indent="-855663" eaLnBrk="0" fontAlgn="base" hangingPunct="0">
              <a:spcBef>
                <a:spcPct val="0"/>
              </a:spcBef>
              <a:spcAft>
                <a:spcPct val="0"/>
              </a:spcAft>
            </a:pPr>
            <a:endParaRPr lang="en-US" sz="2800" dirty="0"/>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a:p>
            <a:pPr marL="855663" lvl="0" indent="-855663" eaLnBrk="0" fontAlgn="base" hangingPunct="0">
              <a:spcBef>
                <a:spcPct val="0"/>
              </a:spcBef>
              <a:spcAft>
                <a:spcPct val="0"/>
              </a:spcAft>
            </a:pP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90314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Natural Size on 64 Bit Machines</a:t>
            </a:r>
            <a:endParaRPr lang="en-US" sz="4400" b="0" u="none" strike="noStrike" dirty="0">
              <a:solidFill>
                <a:srgbClr val="000000"/>
              </a:solidFill>
              <a:effectLst/>
              <a:uFillTx/>
              <a:latin typeface="Arial"/>
            </a:endParaRPr>
          </a:p>
        </p:txBody>
      </p:sp>
      <p:sp>
        <p:nvSpPr>
          <p:cNvPr id="3" name="TextBox 2"/>
          <p:cNvSpPr txBox="1"/>
          <p:nvPr/>
        </p:nvSpPr>
        <p:spPr>
          <a:xfrm>
            <a:off x="341915" y="1949942"/>
            <a:ext cx="9325959" cy="5262979"/>
          </a:xfrm>
          <a:prstGeom prst="rect">
            <a:avLst/>
          </a:prstGeom>
          <a:noFill/>
        </p:spPr>
        <p:txBody>
          <a:bodyPr wrap="square" rtlCol="0">
            <a:spAutoFit/>
          </a:bodyPr>
          <a:lstStyle/>
          <a:p>
            <a:r>
              <a:rPr lang="en-US" sz="2800" dirty="0" smtClean="0"/>
              <a:t>Rust : </a:t>
            </a:r>
          </a:p>
          <a:p>
            <a:r>
              <a:rPr lang="en-US" sz="2800" dirty="0"/>
              <a:t>	</a:t>
            </a:r>
            <a:r>
              <a:rPr lang="en-US" sz="2800" b="1" dirty="0" smtClean="0"/>
              <a:t>i64</a:t>
            </a:r>
            <a:r>
              <a:rPr lang="en-US" sz="2800" dirty="0" smtClean="0"/>
              <a:t> : </a:t>
            </a:r>
            <a:r>
              <a:rPr lang="en-US" sz="2800" dirty="0"/>
              <a:t>signed integer </a:t>
            </a:r>
            <a:r>
              <a:rPr lang="en-US" sz="2800" dirty="0" smtClean="0"/>
              <a:t> [-</a:t>
            </a:r>
            <a:r>
              <a:rPr lang="en-US" sz="2800" dirty="0"/>
              <a:t>2⁶³ </a:t>
            </a:r>
            <a:r>
              <a:rPr lang="en-US" sz="2800" dirty="0" smtClean="0"/>
              <a:t>… 2</a:t>
            </a:r>
            <a:r>
              <a:rPr lang="en-US" sz="2800" dirty="0"/>
              <a:t>⁶³ - </a:t>
            </a:r>
            <a:r>
              <a:rPr lang="en-US" sz="2800" dirty="0" smtClean="0"/>
              <a:t>1]</a:t>
            </a:r>
          </a:p>
          <a:p>
            <a:r>
              <a:rPr lang="en-US" sz="2800" dirty="0"/>
              <a:t>	</a:t>
            </a:r>
            <a:r>
              <a:rPr lang="en-US" sz="2800" b="1" dirty="0" smtClean="0"/>
              <a:t>u64</a:t>
            </a:r>
            <a:r>
              <a:rPr lang="en-US" sz="2800" dirty="0" smtClean="0"/>
              <a:t> : unsigned integer [0 … </a:t>
            </a:r>
            <a:r>
              <a:rPr lang="en-US" sz="2800" dirty="0"/>
              <a:t>, </a:t>
            </a:r>
            <a:r>
              <a:rPr lang="en-US" sz="2800" dirty="0" smtClean="0"/>
              <a:t> </a:t>
            </a:r>
            <a:r>
              <a:rPr lang="en-US" sz="2800" dirty="0"/>
              <a:t>2⁶⁴ - </a:t>
            </a:r>
            <a:r>
              <a:rPr lang="en-US" sz="2800" dirty="0" smtClean="0"/>
              <a:t>1]</a:t>
            </a:r>
          </a:p>
          <a:p>
            <a:endParaRPr lang="en-US" sz="2800" dirty="0" smtClean="0"/>
          </a:p>
          <a:p>
            <a:r>
              <a:rPr lang="en-US" sz="2800" dirty="0" smtClean="0"/>
              <a:t>C, C++:</a:t>
            </a:r>
          </a:p>
          <a:p>
            <a:r>
              <a:rPr lang="en-US" sz="2800" dirty="0"/>
              <a:t>	</a:t>
            </a:r>
            <a:r>
              <a:rPr lang="en-US" sz="2800" b="1" dirty="0" smtClean="0"/>
              <a:t>long </a:t>
            </a:r>
            <a:r>
              <a:rPr lang="en-US" sz="2800" b="1" dirty="0" err="1" smtClean="0"/>
              <a:t>long</a:t>
            </a:r>
            <a:r>
              <a:rPr lang="en-US" sz="2800" b="1" dirty="0" smtClean="0"/>
              <a:t> </a:t>
            </a:r>
            <a:r>
              <a:rPr lang="en-US" sz="2800" dirty="0"/>
              <a:t>: signed integer  [-2⁶³ … 2⁶³ - 1]</a:t>
            </a:r>
          </a:p>
          <a:p>
            <a:r>
              <a:rPr lang="en-US" sz="2800" dirty="0" smtClean="0"/>
              <a:t>	</a:t>
            </a:r>
            <a:r>
              <a:rPr lang="en-US" sz="2800" b="1" dirty="0" smtClean="0"/>
              <a:t>unsigned long </a:t>
            </a:r>
            <a:r>
              <a:rPr lang="en-US" sz="2800" b="1" dirty="0" err="1" smtClean="0"/>
              <a:t>long</a:t>
            </a:r>
            <a:r>
              <a:rPr lang="en-US" sz="2800" b="1" dirty="0" smtClean="0"/>
              <a:t> </a:t>
            </a:r>
            <a:r>
              <a:rPr lang="en-US" sz="2800" dirty="0" smtClean="0"/>
              <a:t>: unsigned integer </a:t>
            </a:r>
            <a:r>
              <a:rPr lang="en-US" sz="2800" dirty="0"/>
              <a:t>[0 … ,  2⁶⁴ - 1</a:t>
            </a:r>
            <a:r>
              <a:rPr lang="en-US" sz="2800" dirty="0" smtClean="0"/>
              <a:t>]</a:t>
            </a:r>
          </a:p>
          <a:p>
            <a:endParaRPr lang="en-US" sz="2800" dirty="0"/>
          </a:p>
          <a:p>
            <a:r>
              <a:rPr lang="en-US" sz="2800" dirty="0" smtClean="0"/>
              <a:t>Problematic!  These languages existed before 64 bit machines</a:t>
            </a:r>
          </a:p>
          <a:p>
            <a:endParaRPr lang="en-US" sz="2800" dirty="0"/>
          </a:p>
          <a:p>
            <a:r>
              <a:rPr lang="en-US" sz="2800" dirty="0" smtClean="0">
                <a:solidFill>
                  <a:srgbClr val="FF0000"/>
                </a:solidFill>
              </a:rPr>
              <a:t>How can we use the </a:t>
            </a:r>
            <a:r>
              <a:rPr lang="en-US" sz="2800" dirty="0" err="1" smtClean="0">
                <a:solidFill>
                  <a:srgbClr val="FF0000"/>
                </a:solidFill>
              </a:rPr>
              <a:t>preproceesor</a:t>
            </a:r>
            <a:r>
              <a:rPr lang="en-US" sz="2800" dirty="0" smtClean="0">
                <a:solidFill>
                  <a:srgbClr val="FF0000"/>
                </a:solidFill>
              </a:rPr>
              <a:t> to fix C and C++?</a:t>
            </a:r>
            <a:endParaRPr lang="en-US" sz="2800" dirty="0">
              <a:solidFill>
                <a:srgbClr val="FF0000"/>
              </a:solidFill>
            </a:endParaRPr>
          </a:p>
          <a:p>
            <a:endParaRPr lang="en-US" sz="2800" dirty="0" smtClean="0"/>
          </a:p>
        </p:txBody>
      </p:sp>
    </p:spTree>
    <p:extLst>
      <p:ext uri="{BB962C8B-B14F-4D97-AF65-F5344CB8AC3E}">
        <p14:creationId xmlns:p14="http://schemas.microsoft.com/office/powerpoint/2010/main" val="3409337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New way for C</a:t>
            </a:r>
            <a:endParaRPr lang="en-US" sz="4400" b="0" u="none" strike="noStrike" dirty="0">
              <a:solidFill>
                <a:srgbClr val="000000"/>
              </a:solidFill>
              <a:effectLst/>
              <a:uFillTx/>
              <a:latin typeface="Arial"/>
            </a:endParaRPr>
          </a:p>
        </p:txBody>
      </p:sp>
      <p:sp>
        <p:nvSpPr>
          <p:cNvPr id="3" name="TextBox 2"/>
          <p:cNvSpPr txBox="1"/>
          <p:nvPr/>
        </p:nvSpPr>
        <p:spPr>
          <a:xfrm>
            <a:off x="580041" y="1949942"/>
            <a:ext cx="8135334" cy="3108543"/>
          </a:xfrm>
          <a:prstGeom prst="rect">
            <a:avLst/>
          </a:prstGeom>
          <a:noFill/>
        </p:spPr>
        <p:txBody>
          <a:bodyPr wrap="square" rtlCol="0">
            <a:spAutoFit/>
          </a:bodyPr>
          <a:lstStyle/>
          <a:p>
            <a:pPr lvl="0" eaLnBrk="0" fontAlgn="base" hangingPunct="0">
              <a:spcBef>
                <a:spcPct val="0"/>
              </a:spcBef>
              <a:spcAft>
                <a:spcPct val="0"/>
              </a:spcAft>
            </a:pPr>
            <a:r>
              <a:rPr lang="en-US" sz="2800" dirty="0">
                <a:latin typeface="Cambria" panose="02040503050406030204" pitchFamily="18" charset="0"/>
                <a:ea typeface="Cambria" panose="02040503050406030204" pitchFamily="18" charset="0"/>
              </a:rPr>
              <a:t>#</a:t>
            </a:r>
            <a:r>
              <a:rPr lang="en-US" sz="2800" dirty="0" smtClean="0">
                <a:latin typeface="Cambria" panose="02040503050406030204" pitchFamily="18" charset="0"/>
                <a:ea typeface="Cambria" panose="02040503050406030204" pitchFamily="18" charset="0"/>
              </a:rPr>
              <a:t>include </a:t>
            </a:r>
            <a:r>
              <a:rPr lang="en-US" sz="2800" dirty="0">
                <a:latin typeface="Cambria" panose="02040503050406030204" pitchFamily="18" charset="0"/>
                <a:ea typeface="Cambria" panose="02040503050406030204" pitchFamily="18" charset="0"/>
                <a:cs typeface="Courier New" panose="02070309020205020404" pitchFamily="49" charset="0"/>
              </a:rPr>
              <a:t>&lt;</a:t>
            </a:r>
            <a:r>
              <a:rPr lang="en-US" sz="2800" dirty="0" err="1">
                <a:latin typeface="Cambria" panose="02040503050406030204" pitchFamily="18" charset="0"/>
                <a:ea typeface="Cambria" panose="02040503050406030204" pitchFamily="18" charset="0"/>
                <a:cs typeface="Courier New" panose="02070309020205020404" pitchFamily="49" charset="0"/>
              </a:rPr>
              <a:t>stdint.h</a:t>
            </a:r>
            <a:r>
              <a:rPr lang="en-US" sz="2800" dirty="0">
                <a:latin typeface="Cambria" panose="02040503050406030204" pitchFamily="18" charset="0"/>
                <a:ea typeface="Cambria" panose="02040503050406030204" pitchFamily="18" charset="0"/>
                <a:cs typeface="Courier New" panose="02070309020205020404" pitchFamily="49" charset="0"/>
              </a:rPr>
              <a:t>&gt;</a:t>
            </a:r>
            <a:r>
              <a:rPr lang="en-US" sz="2800" dirty="0">
                <a:latin typeface="Cambria" panose="02040503050406030204" pitchFamily="18" charset="0"/>
                <a:ea typeface="Cambria" panose="02040503050406030204" pitchFamily="18" charset="0"/>
              </a:rPr>
              <a:t> </a:t>
            </a:r>
          </a:p>
          <a:p>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a:t>	</a:t>
            </a:r>
            <a:r>
              <a:rPr lang="en-US" sz="2800" b="1" dirty="0" smtClean="0"/>
              <a:t>int64_t</a:t>
            </a:r>
            <a:r>
              <a:rPr lang="en-US" sz="2800" dirty="0" smtClean="0"/>
              <a:t>: </a:t>
            </a:r>
            <a:r>
              <a:rPr lang="en-US" sz="2800" dirty="0"/>
              <a:t>signed integer  [-2⁶³ … 2⁶³ - 1]</a:t>
            </a:r>
          </a:p>
          <a:p>
            <a:r>
              <a:rPr lang="en-US" sz="2800" dirty="0" smtClean="0"/>
              <a:t>	</a:t>
            </a:r>
            <a:r>
              <a:rPr lang="en-US" sz="2800" b="1" dirty="0" smtClean="0"/>
              <a:t>uint64_t</a:t>
            </a:r>
            <a:r>
              <a:rPr lang="en-US" sz="2800" dirty="0" smtClean="0"/>
              <a:t>: unsigned integer [0 </a:t>
            </a:r>
            <a:r>
              <a:rPr lang="en-US" sz="2800" dirty="0"/>
              <a:t>… ,  2⁶⁴ - 1</a:t>
            </a:r>
            <a:r>
              <a:rPr lang="en-US" sz="2800" dirty="0" smtClean="0"/>
              <a:t>]</a:t>
            </a:r>
          </a:p>
          <a:p>
            <a:endParaRPr lang="en-US" sz="2800" dirty="0"/>
          </a:p>
          <a:p>
            <a:endParaRPr lang="en-US" sz="2800" dirty="0" smtClean="0"/>
          </a:p>
        </p:txBody>
      </p:sp>
    </p:spTree>
    <p:extLst>
      <p:ext uri="{BB962C8B-B14F-4D97-AF65-F5344CB8AC3E}">
        <p14:creationId xmlns:p14="http://schemas.microsoft.com/office/powerpoint/2010/main" val="2090993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New way for C++</a:t>
            </a:r>
            <a:endParaRPr lang="en-US" sz="4400" b="0" u="none" strike="noStrike" dirty="0">
              <a:solidFill>
                <a:srgbClr val="000000"/>
              </a:solidFill>
              <a:effectLst/>
              <a:uFillTx/>
              <a:latin typeface="Arial"/>
            </a:endParaRPr>
          </a:p>
        </p:txBody>
      </p:sp>
      <p:sp>
        <p:nvSpPr>
          <p:cNvPr id="3" name="TextBox 2"/>
          <p:cNvSpPr txBox="1"/>
          <p:nvPr/>
        </p:nvSpPr>
        <p:spPr>
          <a:xfrm>
            <a:off x="580041" y="1949942"/>
            <a:ext cx="8135334" cy="3108543"/>
          </a:xfrm>
          <a:prstGeom prst="rect">
            <a:avLst/>
          </a:prstGeom>
          <a:noFill/>
        </p:spPr>
        <p:txBody>
          <a:bodyPr wrap="square" rtlCol="0">
            <a:spAutoFit/>
          </a:bodyPr>
          <a:lstStyle/>
          <a:p>
            <a:pPr lvl="0" eaLnBrk="0" fontAlgn="base" hangingPunct="0">
              <a:spcBef>
                <a:spcPct val="0"/>
              </a:spcBef>
              <a:spcAft>
                <a:spcPct val="0"/>
              </a:spcAft>
            </a:pPr>
            <a:r>
              <a:rPr lang="en-US" sz="2800" dirty="0" smtClean="0"/>
              <a:t>#</a:t>
            </a:r>
            <a:r>
              <a:rPr lang="en-US" sz="2800" dirty="0"/>
              <a:t>include &lt;</a:t>
            </a:r>
            <a:r>
              <a:rPr lang="en-US" sz="2800" dirty="0" err="1"/>
              <a:t>cstdint</a:t>
            </a:r>
            <a:r>
              <a:rPr lang="en-US" sz="2800" dirty="0"/>
              <a:t>&gt;</a:t>
            </a:r>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a:t>	</a:t>
            </a:r>
            <a:r>
              <a:rPr lang="en-US" sz="2800" b="1" dirty="0" smtClean="0"/>
              <a:t>int64_t</a:t>
            </a:r>
            <a:r>
              <a:rPr lang="en-US" sz="2800" dirty="0" smtClean="0"/>
              <a:t>: </a:t>
            </a:r>
            <a:r>
              <a:rPr lang="en-US" sz="2800" dirty="0"/>
              <a:t>signed integer  [-2⁶³ … 2⁶³ - 1]</a:t>
            </a:r>
          </a:p>
          <a:p>
            <a:r>
              <a:rPr lang="en-US" sz="2800" dirty="0" smtClean="0"/>
              <a:t>	</a:t>
            </a:r>
            <a:r>
              <a:rPr lang="en-US" sz="2800" b="1" dirty="0" smtClean="0"/>
              <a:t>uint64_t</a:t>
            </a:r>
            <a:r>
              <a:rPr lang="en-US" sz="2800" dirty="0" smtClean="0"/>
              <a:t>: unsigned integer [0 </a:t>
            </a:r>
            <a:r>
              <a:rPr lang="en-US" sz="2800" dirty="0"/>
              <a:t>… ,  2⁶⁴ - 1</a:t>
            </a:r>
            <a:r>
              <a:rPr lang="en-US" sz="2800" dirty="0" smtClean="0"/>
              <a:t>]</a:t>
            </a:r>
          </a:p>
          <a:p>
            <a:endParaRPr lang="en-US" sz="2800" dirty="0"/>
          </a:p>
          <a:p>
            <a:endParaRPr lang="en-US" sz="2800" dirty="0" smtClean="0"/>
          </a:p>
        </p:txBody>
      </p:sp>
    </p:spTree>
    <p:extLst>
      <p:ext uri="{BB962C8B-B14F-4D97-AF65-F5344CB8AC3E}">
        <p14:creationId xmlns:p14="http://schemas.microsoft.com/office/powerpoint/2010/main" val="712202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Defining variables</a:t>
            </a:r>
            <a:endParaRPr lang="en-US" sz="4400" b="0" u="none" strike="noStrike" dirty="0">
              <a:solidFill>
                <a:srgbClr val="000000"/>
              </a:solidFill>
              <a:effectLst/>
              <a:uFillTx/>
              <a:latin typeface="Arial"/>
            </a:endParaRPr>
          </a:p>
        </p:txBody>
      </p:sp>
      <p:sp>
        <p:nvSpPr>
          <p:cNvPr id="3" name="TextBox 2"/>
          <p:cNvSpPr txBox="1"/>
          <p:nvPr/>
        </p:nvSpPr>
        <p:spPr>
          <a:xfrm>
            <a:off x="580041" y="1949942"/>
            <a:ext cx="8135334" cy="6555641"/>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Assume the variable name is </a:t>
            </a:r>
            <a:r>
              <a:rPr lang="en-US" sz="2800" b="1" dirty="0" err="1" smtClean="0">
                <a:latin typeface="Cambria" panose="02040503050406030204" pitchFamily="18" charset="0"/>
                <a:ea typeface="Cambria" panose="02040503050406030204" pitchFamily="18" charset="0"/>
              </a:rPr>
              <a:t>my_integer</a:t>
            </a:r>
            <a:r>
              <a:rPr lang="en-US" sz="2800" b="1" dirty="0" smtClean="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and the machine size is 64 bits with no initial state</a:t>
            </a: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let </a:t>
            </a:r>
            <a:r>
              <a:rPr lang="en-US" sz="2800" dirty="0" err="1" smtClean="0">
                <a:latin typeface="Cambria" panose="02040503050406030204" pitchFamily="18" charset="0"/>
                <a:ea typeface="Cambria" panose="02040503050406030204" pitchFamily="18" charset="0"/>
              </a:rPr>
              <a:t>my_integer</a:t>
            </a:r>
            <a:r>
              <a:rPr lang="en-US" sz="2800" dirty="0" smtClean="0">
                <a:latin typeface="Cambria" panose="02040503050406030204" pitchFamily="18" charset="0"/>
                <a:ea typeface="Cambria" panose="02040503050406030204" pitchFamily="18" charset="0"/>
              </a:rPr>
              <a:t> : i64 ;</a:t>
            </a:r>
          </a:p>
          <a:p>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smtClean="0"/>
              <a:t>#include &lt;</a:t>
            </a:r>
            <a:r>
              <a:rPr lang="en-US" sz="2800" dirty="0" err="1" smtClean="0"/>
              <a:t>stdint.h</a:t>
            </a:r>
            <a:r>
              <a:rPr lang="en-US" sz="2800" dirty="0" smtClean="0"/>
              <a:t>&gt;</a:t>
            </a:r>
          </a:p>
          <a:p>
            <a:r>
              <a:rPr lang="en-US" sz="2800" dirty="0"/>
              <a:t>	</a:t>
            </a:r>
            <a:r>
              <a:rPr lang="en-US" sz="2800" b="1" dirty="0" smtClean="0"/>
              <a:t>int64_t</a:t>
            </a:r>
            <a:r>
              <a:rPr lang="en-US" sz="2800" dirty="0" smtClean="0"/>
              <a:t> </a:t>
            </a:r>
            <a:r>
              <a:rPr lang="en-US" sz="2800" dirty="0" err="1" smtClean="0"/>
              <a:t>my_integer</a:t>
            </a:r>
            <a:r>
              <a:rPr lang="en-US" sz="2800" dirty="0" smtClean="0"/>
              <a:t> ;</a:t>
            </a:r>
          </a:p>
          <a:p>
            <a:endParaRPr lang="en-US" sz="2800" dirty="0" smtClean="0"/>
          </a:p>
          <a:p>
            <a:r>
              <a:rPr lang="en-US" sz="2800" dirty="0" smtClean="0"/>
              <a:t>C++:</a:t>
            </a:r>
          </a:p>
          <a:p>
            <a:r>
              <a:rPr lang="en-US" sz="2800" dirty="0" smtClean="0"/>
              <a:t>#include &lt;</a:t>
            </a:r>
            <a:r>
              <a:rPr lang="en-US" sz="2800" dirty="0" err="1" smtClean="0"/>
              <a:t>cstdint</a:t>
            </a:r>
            <a:r>
              <a:rPr lang="en-US" sz="2800" dirty="0" smtClean="0"/>
              <a:t>&gt;</a:t>
            </a:r>
            <a:endParaRPr lang="en-US" sz="2800" dirty="0"/>
          </a:p>
          <a:p>
            <a:r>
              <a:rPr lang="en-US" sz="2800" dirty="0"/>
              <a:t>	</a:t>
            </a:r>
            <a:r>
              <a:rPr lang="en-US" sz="2800" b="1" dirty="0"/>
              <a:t>int64_t</a:t>
            </a:r>
            <a:r>
              <a:rPr lang="en-US" sz="2800" dirty="0"/>
              <a:t> </a:t>
            </a:r>
            <a:r>
              <a:rPr lang="en-US" sz="2800" dirty="0" err="1"/>
              <a:t>my_integer</a:t>
            </a:r>
            <a:r>
              <a:rPr lang="en-US" sz="2800" dirty="0"/>
              <a:t> ;</a:t>
            </a:r>
          </a:p>
          <a:p>
            <a:endParaRPr lang="en-US" sz="2800" dirty="0" smtClean="0"/>
          </a:p>
          <a:p>
            <a:endParaRPr lang="en-US" sz="2800" dirty="0" smtClean="0"/>
          </a:p>
        </p:txBody>
      </p:sp>
    </p:spTree>
    <p:extLst>
      <p:ext uri="{BB962C8B-B14F-4D97-AF65-F5344CB8AC3E}">
        <p14:creationId xmlns:p14="http://schemas.microsoft.com/office/powerpoint/2010/main" val="31293679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a:solidFill>
                  <a:schemeClr val="lt1"/>
                </a:solidFill>
                <a:latin typeface="Arial"/>
              </a:rPr>
              <a:t>V</a:t>
            </a:r>
            <a:r>
              <a:rPr lang="en-US" sz="4400" b="1" dirty="0" smtClean="0">
                <a:solidFill>
                  <a:schemeClr val="lt1"/>
                </a:solidFill>
                <a:latin typeface="Arial"/>
              </a:rPr>
              <a:t>ariables with initial state</a:t>
            </a:r>
            <a:endParaRPr lang="en-US" sz="4400" b="0" u="none" strike="noStrike" dirty="0">
              <a:solidFill>
                <a:srgbClr val="000000"/>
              </a:solidFill>
              <a:effectLst/>
              <a:uFillTx/>
              <a:latin typeface="Arial"/>
            </a:endParaRPr>
          </a:p>
        </p:txBody>
      </p:sp>
      <p:sp>
        <p:nvSpPr>
          <p:cNvPr id="3" name="TextBox 2"/>
          <p:cNvSpPr txBox="1"/>
          <p:nvPr/>
        </p:nvSpPr>
        <p:spPr>
          <a:xfrm>
            <a:off x="580041" y="1949942"/>
            <a:ext cx="8135334" cy="5693866"/>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Assume the variable name is </a:t>
            </a:r>
            <a:r>
              <a:rPr lang="en-US" sz="2800" b="1" dirty="0" err="1" smtClean="0">
                <a:latin typeface="Cambria" panose="02040503050406030204" pitchFamily="18" charset="0"/>
                <a:ea typeface="Cambria" panose="02040503050406030204" pitchFamily="18" charset="0"/>
              </a:rPr>
              <a:t>my_integer</a:t>
            </a:r>
            <a:r>
              <a:rPr lang="en-US" sz="2800" b="1" dirty="0" smtClean="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and the machine size is 64 bits with initial state equal to 7</a:t>
            </a: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let </a:t>
            </a:r>
            <a:r>
              <a:rPr lang="en-US" sz="2800" dirty="0" err="1" smtClean="0">
                <a:latin typeface="Cambria" panose="02040503050406030204" pitchFamily="18" charset="0"/>
                <a:ea typeface="Cambria" panose="02040503050406030204" pitchFamily="18" charset="0"/>
              </a:rPr>
              <a:t>my_integer</a:t>
            </a:r>
            <a:r>
              <a:rPr lang="en-US" sz="2800" dirty="0" smtClean="0">
                <a:latin typeface="Cambria" panose="02040503050406030204" pitchFamily="18" charset="0"/>
                <a:ea typeface="Cambria" panose="02040503050406030204" pitchFamily="18" charset="0"/>
              </a:rPr>
              <a:t> : i64 = 7 ;</a:t>
            </a:r>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smtClean="0"/>
              <a:t>#include &lt;</a:t>
            </a:r>
            <a:r>
              <a:rPr lang="en-US" sz="2800" dirty="0" err="1" smtClean="0"/>
              <a:t>stdint.h</a:t>
            </a:r>
            <a:r>
              <a:rPr lang="en-US" sz="2800" dirty="0" smtClean="0"/>
              <a:t>&gt;</a:t>
            </a:r>
          </a:p>
          <a:p>
            <a:r>
              <a:rPr lang="en-US" sz="2800" dirty="0"/>
              <a:t>	</a:t>
            </a:r>
            <a:r>
              <a:rPr lang="en-US" sz="2800" b="1" dirty="0" smtClean="0"/>
              <a:t>int64_t</a:t>
            </a:r>
            <a:r>
              <a:rPr lang="en-US" sz="2800" dirty="0" smtClean="0"/>
              <a:t> </a:t>
            </a:r>
            <a:r>
              <a:rPr lang="en-US" sz="2800" dirty="0" err="1" smtClean="0"/>
              <a:t>my_integer</a:t>
            </a:r>
            <a:r>
              <a:rPr lang="en-US" sz="2800" dirty="0" smtClean="0"/>
              <a:t> = 7 ;</a:t>
            </a:r>
          </a:p>
          <a:p>
            <a:r>
              <a:rPr lang="en-US" sz="2800" dirty="0" smtClean="0"/>
              <a:t>C++:</a:t>
            </a:r>
          </a:p>
          <a:p>
            <a:r>
              <a:rPr lang="en-US" sz="2800" dirty="0" smtClean="0"/>
              <a:t>#include &lt;</a:t>
            </a:r>
            <a:r>
              <a:rPr lang="en-US" sz="2800" dirty="0" err="1" smtClean="0"/>
              <a:t>cstdint</a:t>
            </a:r>
            <a:r>
              <a:rPr lang="en-US" sz="2800" dirty="0" smtClean="0"/>
              <a:t>&gt;</a:t>
            </a:r>
            <a:endParaRPr lang="en-US" sz="2800" dirty="0"/>
          </a:p>
          <a:p>
            <a:r>
              <a:rPr lang="en-US" sz="2800" dirty="0"/>
              <a:t>	</a:t>
            </a:r>
            <a:r>
              <a:rPr lang="en-US" sz="2800" b="1" dirty="0"/>
              <a:t>int64_t</a:t>
            </a:r>
            <a:r>
              <a:rPr lang="en-US" sz="2800" dirty="0"/>
              <a:t> </a:t>
            </a:r>
            <a:r>
              <a:rPr lang="en-US" sz="2800" dirty="0" err="1" smtClean="0"/>
              <a:t>my_integer</a:t>
            </a:r>
            <a:r>
              <a:rPr lang="en-US" sz="2800" dirty="0" smtClean="0"/>
              <a:t> = 7 </a:t>
            </a:r>
            <a:r>
              <a:rPr lang="en-US" sz="2800" dirty="0"/>
              <a:t>;</a:t>
            </a:r>
          </a:p>
          <a:p>
            <a:endParaRPr lang="en-US" sz="2800" dirty="0" smtClean="0"/>
          </a:p>
          <a:p>
            <a:endParaRPr lang="en-US" sz="2800" dirty="0" smtClean="0"/>
          </a:p>
        </p:txBody>
      </p:sp>
    </p:spTree>
    <p:extLst>
      <p:ext uri="{BB962C8B-B14F-4D97-AF65-F5344CB8AC3E}">
        <p14:creationId xmlns:p14="http://schemas.microsoft.com/office/powerpoint/2010/main" val="2580519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Basic Variable Type</a:t>
            </a:r>
            <a:endParaRPr lang="en-US" sz="4400" b="0" u="none" strike="noStrike" dirty="0">
              <a:solidFill>
                <a:srgbClr val="000000"/>
              </a:solidFill>
              <a:effectLst/>
              <a:uFillTx/>
              <a:latin typeface="Arial"/>
            </a:endParaRPr>
          </a:p>
        </p:txBody>
      </p:sp>
      <p:sp>
        <p:nvSpPr>
          <p:cNvPr id="3" name="TextBox 2"/>
          <p:cNvSpPr txBox="1"/>
          <p:nvPr/>
        </p:nvSpPr>
        <p:spPr>
          <a:xfrm>
            <a:off x="580040" y="1949942"/>
            <a:ext cx="9478359" cy="5693866"/>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These type of variables are treated as </a:t>
            </a:r>
            <a:r>
              <a:rPr lang="en-US" sz="2800" b="1" dirty="0" smtClean="0">
                <a:latin typeface="Cambria" panose="02040503050406030204" pitchFamily="18" charset="0"/>
                <a:ea typeface="Cambria" panose="02040503050406030204" pitchFamily="18" charset="0"/>
              </a:rPr>
              <a:t>atomic</a:t>
            </a:r>
            <a:r>
              <a:rPr lang="en-US" sz="2800" dirty="0" smtClean="0">
                <a:latin typeface="Cambria" panose="02040503050406030204" pitchFamily="18" charset="0"/>
                <a:ea typeface="Cambria" panose="02040503050406030204" pitchFamily="18" charset="0"/>
              </a:rPr>
              <a:t> or indivisible.    </a:t>
            </a:r>
          </a:p>
          <a:p>
            <a:r>
              <a:rPr lang="en-US" sz="2800" dirty="0" smtClean="0">
                <a:latin typeface="Cambria" panose="02040503050406030204" pitchFamily="18" charset="0"/>
                <a:ea typeface="Cambria" panose="02040503050406030204" pitchFamily="18" charset="0"/>
              </a:rPr>
              <a:t>Signed Integer types</a:t>
            </a:r>
            <a:endParaRPr lang="en-US" sz="2800"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i8, i16, i32, i64 </a:t>
            </a:r>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smtClean="0"/>
              <a:t>#include &lt;</a:t>
            </a:r>
            <a:r>
              <a:rPr lang="en-US" sz="2800" dirty="0" err="1" smtClean="0"/>
              <a:t>stdint.h</a:t>
            </a:r>
            <a:r>
              <a:rPr lang="en-US" sz="2800" dirty="0" smtClean="0"/>
              <a:t>&gt;</a:t>
            </a:r>
          </a:p>
          <a:p>
            <a:r>
              <a:rPr lang="en-US" sz="2800" dirty="0"/>
              <a:t>	</a:t>
            </a:r>
            <a:r>
              <a:rPr lang="en-US" sz="2800" dirty="0" smtClean="0"/>
              <a:t>int8_t, int16_t, int32_t, int64_t</a:t>
            </a:r>
          </a:p>
          <a:p>
            <a:r>
              <a:rPr lang="en-US" sz="2800" dirty="0"/>
              <a:t>	</a:t>
            </a:r>
            <a:r>
              <a:rPr lang="en-US" sz="2800" dirty="0" smtClean="0"/>
              <a:t>signed char (equal to int8_t but deprecated)</a:t>
            </a:r>
          </a:p>
          <a:p>
            <a:r>
              <a:rPr lang="en-US" sz="2800" dirty="0" smtClean="0"/>
              <a:t>C++:</a:t>
            </a:r>
          </a:p>
          <a:p>
            <a:r>
              <a:rPr lang="en-US" sz="2800" dirty="0" smtClean="0"/>
              <a:t>#include &lt;</a:t>
            </a:r>
            <a:r>
              <a:rPr lang="en-US" sz="2800" dirty="0" err="1" smtClean="0"/>
              <a:t>cstdint</a:t>
            </a:r>
            <a:r>
              <a:rPr lang="en-US" sz="2800" dirty="0" smtClean="0"/>
              <a:t>&gt;</a:t>
            </a:r>
            <a:endParaRPr lang="en-US" sz="2800" dirty="0"/>
          </a:p>
          <a:p>
            <a:r>
              <a:rPr lang="en-US" sz="2800" dirty="0"/>
              <a:t>	 int8_t, int16_t, int32_t, </a:t>
            </a:r>
            <a:r>
              <a:rPr lang="en-US" sz="2800" dirty="0" smtClean="0"/>
              <a:t>int64_t, signed char</a:t>
            </a:r>
          </a:p>
          <a:p>
            <a:endParaRPr lang="en-US" sz="2800" dirty="0" smtClean="0"/>
          </a:p>
        </p:txBody>
      </p:sp>
    </p:spTree>
    <p:extLst>
      <p:ext uri="{BB962C8B-B14F-4D97-AF65-F5344CB8AC3E}">
        <p14:creationId xmlns:p14="http://schemas.microsoft.com/office/powerpoint/2010/main" val="2060855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Basic Variable Type</a:t>
            </a:r>
            <a:endParaRPr lang="en-US" sz="4400" b="0" u="none" strike="noStrike" dirty="0">
              <a:solidFill>
                <a:srgbClr val="000000"/>
              </a:solidFill>
              <a:effectLst/>
              <a:uFillTx/>
              <a:latin typeface="Arial"/>
            </a:endParaRPr>
          </a:p>
        </p:txBody>
      </p:sp>
      <p:sp>
        <p:nvSpPr>
          <p:cNvPr id="3" name="TextBox 2"/>
          <p:cNvSpPr txBox="1"/>
          <p:nvPr/>
        </p:nvSpPr>
        <p:spPr>
          <a:xfrm>
            <a:off x="580040" y="1949942"/>
            <a:ext cx="9478359" cy="5693866"/>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These type of variables are treated as </a:t>
            </a:r>
            <a:r>
              <a:rPr lang="en-US" sz="2800" b="1" dirty="0" smtClean="0">
                <a:latin typeface="Cambria" panose="02040503050406030204" pitchFamily="18" charset="0"/>
                <a:ea typeface="Cambria" panose="02040503050406030204" pitchFamily="18" charset="0"/>
              </a:rPr>
              <a:t>atomic</a:t>
            </a:r>
            <a:r>
              <a:rPr lang="en-US" sz="2800" dirty="0" smtClean="0">
                <a:latin typeface="Cambria" panose="02040503050406030204" pitchFamily="18" charset="0"/>
                <a:ea typeface="Cambria" panose="02040503050406030204" pitchFamily="18" charset="0"/>
              </a:rPr>
              <a:t> or indivisible.    </a:t>
            </a:r>
          </a:p>
          <a:p>
            <a:r>
              <a:rPr lang="en-US" sz="2800" dirty="0" smtClean="0">
                <a:latin typeface="Cambria" panose="02040503050406030204" pitchFamily="18" charset="0"/>
                <a:ea typeface="Cambria" panose="02040503050406030204" pitchFamily="18" charset="0"/>
              </a:rPr>
              <a:t>Unsigned Integer types</a:t>
            </a:r>
            <a:endParaRPr lang="en-US" sz="2800"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u</a:t>
            </a:r>
            <a:r>
              <a:rPr lang="en-US" sz="2800" dirty="0" smtClean="0">
                <a:latin typeface="Cambria" panose="02040503050406030204" pitchFamily="18" charset="0"/>
                <a:ea typeface="Cambria" panose="02040503050406030204" pitchFamily="18" charset="0"/>
              </a:rPr>
              <a:t>8, u16, u32, u64 </a:t>
            </a:r>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smtClean="0"/>
              <a:t>#include &lt;</a:t>
            </a:r>
            <a:r>
              <a:rPr lang="en-US" sz="2800" dirty="0" err="1" smtClean="0"/>
              <a:t>stdint.h</a:t>
            </a:r>
            <a:r>
              <a:rPr lang="en-US" sz="2800" dirty="0" smtClean="0"/>
              <a:t>&gt;</a:t>
            </a:r>
          </a:p>
          <a:p>
            <a:r>
              <a:rPr lang="en-US" sz="2800" dirty="0"/>
              <a:t>	</a:t>
            </a:r>
            <a:r>
              <a:rPr lang="en-US" sz="2800" dirty="0" smtClean="0"/>
              <a:t>uint8_t, uint16_t, uint32_t, uint64_t</a:t>
            </a:r>
          </a:p>
          <a:p>
            <a:r>
              <a:rPr lang="en-US" sz="2800" dirty="0" smtClean="0"/>
              <a:t>	unsigned </a:t>
            </a:r>
            <a:r>
              <a:rPr lang="en-US" sz="2800" dirty="0"/>
              <a:t>char (equal to </a:t>
            </a:r>
            <a:r>
              <a:rPr lang="en-US" sz="2800" dirty="0" smtClean="0"/>
              <a:t>uint8_t </a:t>
            </a:r>
            <a:r>
              <a:rPr lang="en-US" sz="2800" dirty="0"/>
              <a:t>but deprecated)</a:t>
            </a:r>
          </a:p>
          <a:p>
            <a:r>
              <a:rPr lang="en-US" sz="2800" dirty="0" smtClean="0"/>
              <a:t>C++:</a:t>
            </a:r>
          </a:p>
          <a:p>
            <a:r>
              <a:rPr lang="en-US" sz="2800" dirty="0" smtClean="0"/>
              <a:t>#include &lt;</a:t>
            </a:r>
            <a:r>
              <a:rPr lang="en-US" sz="2800" dirty="0" err="1" smtClean="0"/>
              <a:t>cstdint</a:t>
            </a:r>
            <a:r>
              <a:rPr lang="en-US" sz="2800" dirty="0" smtClean="0"/>
              <a:t>&gt;</a:t>
            </a:r>
            <a:endParaRPr lang="en-US" sz="2800" dirty="0"/>
          </a:p>
          <a:p>
            <a:r>
              <a:rPr lang="en-US" sz="2800" dirty="0"/>
              <a:t>	 </a:t>
            </a:r>
            <a:r>
              <a:rPr lang="en-US" sz="2800" dirty="0" smtClean="0"/>
              <a:t>uint8_t</a:t>
            </a:r>
            <a:r>
              <a:rPr lang="en-US" sz="2800" dirty="0"/>
              <a:t>, u</a:t>
            </a:r>
            <a:r>
              <a:rPr lang="en-US" sz="2800" dirty="0" smtClean="0"/>
              <a:t>int16_t</a:t>
            </a:r>
            <a:r>
              <a:rPr lang="en-US" sz="2800" dirty="0"/>
              <a:t>, </a:t>
            </a:r>
            <a:r>
              <a:rPr lang="en-US" sz="2800" dirty="0" smtClean="0"/>
              <a:t>uint32_t</a:t>
            </a:r>
            <a:r>
              <a:rPr lang="en-US" sz="2800" dirty="0"/>
              <a:t>, </a:t>
            </a:r>
            <a:r>
              <a:rPr lang="en-US" sz="2800" dirty="0" smtClean="0"/>
              <a:t>uint64_t, unsigned char</a:t>
            </a:r>
          </a:p>
          <a:p>
            <a:endParaRPr lang="en-US" sz="2800" dirty="0" smtClean="0"/>
          </a:p>
        </p:txBody>
      </p:sp>
    </p:spTree>
    <p:extLst>
      <p:ext uri="{BB962C8B-B14F-4D97-AF65-F5344CB8AC3E}">
        <p14:creationId xmlns:p14="http://schemas.microsoft.com/office/powerpoint/2010/main" val="3210783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Floating Point Variables</a:t>
            </a:r>
            <a:endParaRPr lang="en-US" sz="4400" b="0" u="none" strike="noStrike" dirty="0">
              <a:solidFill>
                <a:srgbClr val="000000"/>
              </a:solidFill>
              <a:effectLst/>
              <a:uFillTx/>
              <a:latin typeface="Arial"/>
            </a:endParaRPr>
          </a:p>
        </p:txBody>
      </p:sp>
      <p:sp>
        <p:nvSpPr>
          <p:cNvPr id="3" name="TextBox 2"/>
          <p:cNvSpPr txBox="1"/>
          <p:nvPr/>
        </p:nvSpPr>
        <p:spPr>
          <a:xfrm>
            <a:off x="580040" y="1949942"/>
            <a:ext cx="9478359" cy="4832092"/>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Floating point numbers are numbers with a decimal point</a:t>
            </a:r>
          </a:p>
          <a:p>
            <a:r>
              <a:rPr lang="en-US" sz="2800" dirty="0" smtClean="0">
                <a:latin typeface="Cambria" panose="02040503050406030204" pitchFamily="18" charset="0"/>
                <a:ea typeface="Cambria" panose="02040503050406030204" pitchFamily="18" charset="0"/>
              </a:rPr>
              <a:t>Can be represented as mantissa x base </a:t>
            </a:r>
            <a:r>
              <a:rPr lang="en-US" sz="2800" baseline="30000" dirty="0" smtClean="0">
                <a:latin typeface="Cambria" panose="02040503050406030204" pitchFamily="18" charset="0"/>
                <a:ea typeface="Cambria" panose="02040503050406030204" pitchFamily="18" charset="0"/>
              </a:rPr>
              <a:t>exponent</a:t>
            </a:r>
            <a:endParaRPr lang="en-US" sz="2800" baseline="30000"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b="1" dirty="0" smtClean="0">
                <a:latin typeface="Cambria" panose="02040503050406030204" pitchFamily="18" charset="0"/>
                <a:ea typeface="Cambria" panose="02040503050406030204" pitchFamily="18" charset="0"/>
              </a:rPr>
              <a:t>f32</a:t>
            </a:r>
            <a:r>
              <a:rPr lang="en-US" sz="2800" dirty="0" smtClean="0">
                <a:latin typeface="Cambria" panose="02040503050406030204" pitchFamily="18" charset="0"/>
                <a:ea typeface="Cambria" panose="02040503050406030204" pitchFamily="18" charset="0"/>
              </a:rPr>
              <a:t> : single precision using 4 bytes</a:t>
            </a:r>
          </a:p>
          <a:p>
            <a:r>
              <a:rPr lang="en-US" sz="2800" dirty="0">
                <a:latin typeface="Cambria" panose="02040503050406030204" pitchFamily="18" charset="0"/>
                <a:ea typeface="Cambria" panose="02040503050406030204" pitchFamily="18" charset="0"/>
              </a:rPr>
              <a:t>	</a:t>
            </a:r>
            <a:r>
              <a:rPr lang="en-US" sz="2800" b="1" dirty="0" smtClean="0">
                <a:latin typeface="Cambria" panose="02040503050406030204" pitchFamily="18" charset="0"/>
                <a:ea typeface="Cambria" panose="02040503050406030204" pitchFamily="18" charset="0"/>
              </a:rPr>
              <a:t>f64</a:t>
            </a:r>
            <a:r>
              <a:rPr lang="en-US" sz="2800" dirty="0" smtClean="0">
                <a:latin typeface="Cambria" panose="02040503050406030204" pitchFamily="18" charset="0"/>
                <a:ea typeface="Cambria" panose="02040503050406030204" pitchFamily="18" charset="0"/>
              </a:rPr>
              <a:t> : double precision using 8 bytes</a:t>
            </a:r>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 C++:</a:t>
            </a:r>
          </a:p>
          <a:p>
            <a:pPr lvl="1"/>
            <a:r>
              <a:rPr lang="en-US" sz="2800" dirty="0" smtClean="0"/>
              <a:t>	</a:t>
            </a:r>
            <a:r>
              <a:rPr lang="en-US" sz="2800" b="1" dirty="0" smtClean="0"/>
              <a:t>float </a:t>
            </a:r>
            <a:r>
              <a:rPr lang="en-US" sz="2800" dirty="0" smtClean="0"/>
              <a:t>: single precision using 4 bytes</a:t>
            </a:r>
          </a:p>
          <a:p>
            <a:pPr lvl="1"/>
            <a:r>
              <a:rPr lang="en-US" sz="2800" dirty="0"/>
              <a:t>	</a:t>
            </a:r>
            <a:r>
              <a:rPr lang="en-US" sz="2800" b="1" dirty="0" smtClean="0"/>
              <a:t>double</a:t>
            </a:r>
            <a:r>
              <a:rPr lang="en-US" sz="2800" dirty="0" smtClean="0"/>
              <a:t> : double precision using 8 bytes</a:t>
            </a:r>
          </a:p>
          <a:p>
            <a:pPr lvl="1"/>
            <a:r>
              <a:rPr lang="en-US" sz="2800" dirty="0"/>
              <a:t>	</a:t>
            </a:r>
            <a:r>
              <a:rPr lang="en-US" sz="2800" b="1" dirty="0" smtClean="0"/>
              <a:t>long double </a:t>
            </a:r>
            <a:r>
              <a:rPr lang="en-US" sz="2800" dirty="0" smtClean="0"/>
              <a:t>: may be 80 or 128 bits (compiler dependent)</a:t>
            </a:r>
          </a:p>
          <a:p>
            <a:endParaRPr lang="en-US" sz="2800" dirty="0" smtClean="0"/>
          </a:p>
        </p:txBody>
      </p:sp>
    </p:spTree>
    <p:extLst>
      <p:ext uri="{BB962C8B-B14F-4D97-AF65-F5344CB8AC3E}">
        <p14:creationId xmlns:p14="http://schemas.microsoft.com/office/powerpoint/2010/main" val="674777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Boolean Variables</a:t>
            </a:r>
            <a:endParaRPr lang="en-US" sz="4400" b="0" u="none" strike="noStrike" dirty="0">
              <a:solidFill>
                <a:srgbClr val="000000"/>
              </a:solidFill>
              <a:effectLst/>
              <a:uFillTx/>
              <a:latin typeface="Arial"/>
            </a:endParaRPr>
          </a:p>
        </p:txBody>
      </p:sp>
      <p:sp>
        <p:nvSpPr>
          <p:cNvPr id="3" name="TextBox 2"/>
          <p:cNvSpPr txBox="1"/>
          <p:nvPr/>
        </p:nvSpPr>
        <p:spPr>
          <a:xfrm>
            <a:off x="580040" y="1949942"/>
            <a:ext cx="9478359" cy="5262979"/>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Variable may either true or false</a:t>
            </a:r>
            <a:endParaRPr lang="en-US" sz="2800" baseline="30000"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dirty="0" err="1" smtClean="0">
                <a:latin typeface="Cambria" panose="02040503050406030204" pitchFamily="18" charset="0"/>
                <a:ea typeface="Cambria" panose="02040503050406030204" pitchFamily="18" charset="0"/>
              </a:rPr>
              <a:t>bool</a:t>
            </a:r>
            <a:r>
              <a:rPr lang="en-US" sz="2800" dirty="0" smtClean="0">
                <a:latin typeface="Cambria" panose="02040503050406030204" pitchFamily="18" charset="0"/>
                <a:ea typeface="Cambria" panose="02040503050406030204" pitchFamily="18" charset="0"/>
              </a:rPr>
              <a:t> : 1 byte storage</a:t>
            </a:r>
          </a:p>
          <a:p>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a:t>	#include &lt;</a:t>
            </a:r>
            <a:r>
              <a:rPr lang="en-US" sz="2800" dirty="0" err="1"/>
              <a:t>stdbool.h</a:t>
            </a:r>
            <a:r>
              <a:rPr lang="en-US" sz="2800" dirty="0" smtClean="0"/>
              <a:t>&gt;</a:t>
            </a:r>
          </a:p>
          <a:p>
            <a:r>
              <a:rPr lang="en-US" sz="2800" dirty="0"/>
              <a:t>	</a:t>
            </a:r>
            <a:r>
              <a:rPr lang="en-US" sz="2800" dirty="0" err="1" smtClean="0"/>
              <a:t>bool</a:t>
            </a:r>
            <a:r>
              <a:rPr lang="en-US" sz="2800" dirty="0" smtClean="0"/>
              <a:t> :  1 byte storage</a:t>
            </a:r>
          </a:p>
          <a:p>
            <a:endParaRPr lang="en-US" sz="2800" dirty="0"/>
          </a:p>
          <a:p>
            <a:r>
              <a:rPr lang="en-US" sz="2800" dirty="0" smtClean="0"/>
              <a:t>C++:                                                 No include necessary</a:t>
            </a:r>
          </a:p>
          <a:p>
            <a:pPr lvl="1"/>
            <a:r>
              <a:rPr lang="en-US" sz="2800" dirty="0" smtClean="0"/>
              <a:t>	</a:t>
            </a:r>
            <a:r>
              <a:rPr lang="en-US" sz="2800" dirty="0" err="1" smtClean="0"/>
              <a:t>bool</a:t>
            </a:r>
            <a:r>
              <a:rPr lang="en-US" sz="2800" dirty="0" smtClean="0"/>
              <a:t> : 1 byte storage</a:t>
            </a:r>
          </a:p>
          <a:p>
            <a:endParaRPr lang="en-US" sz="2800" dirty="0" smtClean="0"/>
          </a:p>
        </p:txBody>
      </p:sp>
    </p:spTree>
    <p:extLst>
      <p:ext uri="{BB962C8B-B14F-4D97-AF65-F5344CB8AC3E}">
        <p14:creationId xmlns:p14="http://schemas.microsoft.com/office/powerpoint/2010/main" val="805665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Boolean Usage</a:t>
            </a:r>
            <a:endParaRPr lang="en-US" sz="4400" b="0" u="none" strike="noStrike" dirty="0">
              <a:solidFill>
                <a:srgbClr val="000000"/>
              </a:solidFill>
              <a:effectLst/>
              <a:uFillTx/>
              <a:latin typeface="Arial"/>
            </a:endParaRPr>
          </a:p>
        </p:txBody>
      </p:sp>
      <p:sp>
        <p:nvSpPr>
          <p:cNvPr id="3" name="TextBox 2"/>
          <p:cNvSpPr txBox="1"/>
          <p:nvPr/>
        </p:nvSpPr>
        <p:spPr>
          <a:xfrm>
            <a:off x="580040" y="1949942"/>
            <a:ext cx="9478359" cy="5262979"/>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All languages use </a:t>
            </a:r>
            <a:r>
              <a:rPr lang="en-US" sz="2800" b="1" dirty="0" smtClean="0">
                <a:latin typeface="Cambria" panose="02040503050406030204" pitchFamily="18" charset="0"/>
                <a:ea typeface="Cambria" panose="02040503050406030204" pitchFamily="18" charset="0"/>
              </a:rPr>
              <a:t>true</a:t>
            </a:r>
            <a:r>
              <a:rPr lang="en-US" sz="2800" dirty="0" smtClean="0">
                <a:latin typeface="Cambria" panose="02040503050406030204" pitchFamily="18" charset="0"/>
                <a:ea typeface="Cambria" panose="02040503050406030204" pitchFamily="18" charset="0"/>
              </a:rPr>
              <a:t> and </a:t>
            </a:r>
            <a:r>
              <a:rPr lang="en-US" sz="2800" b="1" dirty="0" smtClean="0">
                <a:latin typeface="Cambria" panose="02040503050406030204" pitchFamily="18" charset="0"/>
                <a:ea typeface="Cambria" panose="02040503050406030204" pitchFamily="18" charset="0"/>
              </a:rPr>
              <a:t>false</a:t>
            </a:r>
            <a:r>
              <a:rPr lang="en-US" sz="2800" dirty="0" smtClean="0">
                <a:latin typeface="Cambria" panose="02040503050406030204" pitchFamily="18" charset="0"/>
                <a:ea typeface="Cambria" panose="02040503050406030204" pitchFamily="18" charset="0"/>
              </a:rPr>
              <a:t> keywords in lower case</a:t>
            </a:r>
            <a:endParaRPr lang="en-US" sz="2800" baseline="30000"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let </a:t>
            </a:r>
            <a:r>
              <a:rPr lang="en-US" sz="2800" dirty="0" err="1" smtClean="0">
                <a:latin typeface="Cambria" panose="02040503050406030204" pitchFamily="18" charset="0"/>
                <a:ea typeface="Cambria" panose="02040503050406030204" pitchFamily="18" charset="0"/>
              </a:rPr>
              <a:t>my_bool</a:t>
            </a:r>
            <a:r>
              <a:rPr lang="en-US" sz="2800" dirty="0" smtClean="0">
                <a:latin typeface="Cambria" panose="02040503050406030204" pitchFamily="18" charset="0"/>
                <a:ea typeface="Cambria" panose="02040503050406030204" pitchFamily="18" charset="0"/>
              </a:rPr>
              <a:t> : </a:t>
            </a:r>
            <a:r>
              <a:rPr lang="en-US" sz="2800" dirty="0" err="1" smtClean="0">
                <a:latin typeface="Cambria" panose="02040503050406030204" pitchFamily="18" charset="0"/>
                <a:ea typeface="Cambria" panose="02040503050406030204" pitchFamily="18" charset="0"/>
              </a:rPr>
              <a:t>bool</a:t>
            </a:r>
            <a:r>
              <a:rPr lang="en-US" sz="2800" dirty="0" smtClean="0">
                <a:latin typeface="Cambria" panose="02040503050406030204" pitchFamily="18" charset="0"/>
                <a:ea typeface="Cambria" panose="02040503050406030204" pitchFamily="18" charset="0"/>
              </a:rPr>
              <a:t> = true ;   </a:t>
            </a:r>
          </a:p>
          <a:p>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a:t>
            </a:r>
          </a:p>
          <a:p>
            <a:r>
              <a:rPr lang="en-US" sz="2800" dirty="0"/>
              <a:t>	#include &lt;</a:t>
            </a:r>
            <a:r>
              <a:rPr lang="en-US" sz="2800" dirty="0" err="1"/>
              <a:t>stdbool.h</a:t>
            </a:r>
            <a:r>
              <a:rPr lang="en-US" sz="2800" dirty="0" smtClean="0"/>
              <a:t>&gt;</a:t>
            </a:r>
          </a:p>
          <a:p>
            <a:r>
              <a:rPr lang="en-US" sz="2800" dirty="0"/>
              <a:t>	</a:t>
            </a:r>
            <a:r>
              <a:rPr lang="en-US" sz="2800" dirty="0" err="1" smtClean="0"/>
              <a:t>bool</a:t>
            </a:r>
            <a:r>
              <a:rPr lang="en-US" sz="2800" dirty="0" smtClean="0"/>
              <a:t>  </a:t>
            </a:r>
            <a:r>
              <a:rPr lang="en-US" sz="2800" dirty="0" err="1" smtClean="0"/>
              <a:t>my_bool</a:t>
            </a:r>
            <a:r>
              <a:rPr lang="en-US" sz="2800" dirty="0" smtClean="0"/>
              <a:t> = true ;</a:t>
            </a:r>
          </a:p>
          <a:p>
            <a:endParaRPr lang="en-US" sz="2800" dirty="0"/>
          </a:p>
          <a:p>
            <a:r>
              <a:rPr lang="en-US" sz="2800" dirty="0" smtClean="0"/>
              <a:t>C++:</a:t>
            </a:r>
          </a:p>
          <a:p>
            <a:pPr lvl="1"/>
            <a:r>
              <a:rPr lang="en-US" sz="2800" dirty="0" smtClean="0"/>
              <a:t>	</a:t>
            </a:r>
            <a:r>
              <a:rPr lang="en-US" sz="2800" dirty="0" err="1" smtClean="0"/>
              <a:t>bool</a:t>
            </a:r>
            <a:r>
              <a:rPr lang="en-US" sz="2800" dirty="0" smtClean="0"/>
              <a:t> </a:t>
            </a:r>
            <a:r>
              <a:rPr lang="en-US" sz="2800" dirty="0" err="1" smtClean="0"/>
              <a:t>my_bool</a:t>
            </a:r>
            <a:r>
              <a:rPr lang="en-US" sz="2800" dirty="0" smtClean="0"/>
              <a:t> = false ;</a:t>
            </a:r>
          </a:p>
          <a:p>
            <a:endParaRPr lang="en-US" sz="2800" dirty="0" smtClean="0"/>
          </a:p>
        </p:txBody>
      </p:sp>
    </p:spTree>
    <p:extLst>
      <p:ext uri="{BB962C8B-B14F-4D97-AF65-F5344CB8AC3E}">
        <p14:creationId xmlns:p14="http://schemas.microsoft.com/office/powerpoint/2010/main" val="3114687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Character Variables</a:t>
            </a:r>
            <a:endParaRPr lang="en-US" sz="4400" b="0" u="none" strike="noStrike" dirty="0">
              <a:solidFill>
                <a:srgbClr val="000000"/>
              </a:solidFill>
              <a:effectLst/>
              <a:uFillTx/>
              <a:latin typeface="Arial"/>
            </a:endParaRPr>
          </a:p>
        </p:txBody>
      </p:sp>
      <p:sp>
        <p:nvSpPr>
          <p:cNvPr id="3" name="TextBox 2"/>
          <p:cNvSpPr txBox="1"/>
          <p:nvPr/>
        </p:nvSpPr>
        <p:spPr>
          <a:xfrm>
            <a:off x="580040" y="1949942"/>
            <a:ext cx="9478359" cy="3539430"/>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Used as a single character in a “string” of characters</a:t>
            </a:r>
            <a:endParaRPr lang="en-US" sz="2800" baseline="30000"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Rust:</a:t>
            </a:r>
          </a:p>
          <a:p>
            <a:r>
              <a:rPr lang="en-US" sz="2800" dirty="0">
                <a:latin typeface="Cambria" panose="02040503050406030204" pitchFamily="18" charset="0"/>
                <a:ea typeface="Cambria" panose="02040503050406030204" pitchFamily="18" charset="0"/>
              </a:rPr>
              <a:t>	</a:t>
            </a:r>
            <a:r>
              <a:rPr lang="en-US" sz="2800" dirty="0" smtClean="0">
                <a:latin typeface="Cambria" panose="02040503050406030204" pitchFamily="18" charset="0"/>
                <a:ea typeface="Cambria" panose="02040503050406030204" pitchFamily="18" charset="0"/>
              </a:rPr>
              <a:t>char : storage space 4 bytes</a:t>
            </a:r>
          </a:p>
          <a:p>
            <a:r>
              <a:rPr lang="en-US" sz="2800" dirty="0">
                <a:latin typeface="Cambria" panose="02040503050406030204" pitchFamily="18" charset="0"/>
                <a:ea typeface="Cambria" panose="02040503050406030204" pitchFamily="18" charset="0"/>
              </a:rPr>
              <a:t>				</a:t>
            </a:r>
            <a:endParaRPr lang="en-US" sz="2800" dirty="0" smtClean="0"/>
          </a:p>
          <a:p>
            <a:r>
              <a:rPr lang="en-US" sz="2800" dirty="0" smtClean="0"/>
              <a:t>C, C++:</a:t>
            </a:r>
          </a:p>
          <a:p>
            <a:r>
              <a:rPr lang="en-US" sz="2800" dirty="0"/>
              <a:t>	</a:t>
            </a:r>
            <a:r>
              <a:rPr lang="en-US" sz="2800" dirty="0" smtClean="0"/>
              <a:t>char : storage space 1 byte</a:t>
            </a:r>
          </a:p>
          <a:p>
            <a:r>
              <a:rPr lang="en-US" sz="2800" dirty="0"/>
              <a:t>	</a:t>
            </a:r>
            <a:endParaRPr lang="en-US" sz="2800" dirty="0" smtClean="0"/>
          </a:p>
        </p:txBody>
      </p:sp>
    </p:spTree>
    <p:extLst>
      <p:ext uri="{BB962C8B-B14F-4D97-AF65-F5344CB8AC3E}">
        <p14:creationId xmlns:p14="http://schemas.microsoft.com/office/powerpoint/2010/main" val="3281482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Let’s review memory</a:t>
            </a:r>
            <a:endParaRPr lang="en-US" sz="4400" b="0" u="none" strike="noStrike" dirty="0">
              <a:solidFill>
                <a:srgbClr val="000000"/>
              </a:solidFill>
              <a:effectLst/>
              <a:uFillTx/>
              <a:latin typeface="Arial"/>
            </a:endParaRPr>
          </a:p>
        </p:txBody>
      </p:sp>
      <p:sp>
        <p:nvSpPr>
          <p:cNvPr id="3" name="TextBox 2"/>
          <p:cNvSpPr txBox="1"/>
          <p:nvPr/>
        </p:nvSpPr>
        <p:spPr>
          <a:xfrm>
            <a:off x="1685315" y="1990428"/>
            <a:ext cx="6852132" cy="769441"/>
          </a:xfrm>
          <a:prstGeom prst="rect">
            <a:avLst/>
          </a:prstGeom>
          <a:noFill/>
        </p:spPr>
        <p:txBody>
          <a:bodyPr wrap="none" rtlCol="0">
            <a:spAutoFit/>
          </a:bodyPr>
          <a:lstStyle/>
          <a:p>
            <a:r>
              <a:rPr lang="en-US" sz="4400" dirty="0" smtClean="0"/>
              <a:t>Exercise:  Using </a:t>
            </a:r>
            <a:r>
              <a:rPr lang="en-US" sz="4400" dirty="0" err="1" smtClean="0"/>
              <a:t>mempractice</a:t>
            </a:r>
            <a:endParaRPr lang="en-US" sz="4400" dirty="0"/>
          </a:p>
        </p:txBody>
      </p:sp>
      <p:cxnSp>
        <p:nvCxnSpPr>
          <p:cNvPr id="7" name="Elbow Connector 6"/>
          <p:cNvCxnSpPr/>
          <p:nvPr/>
        </p:nvCxnSpPr>
        <p:spPr>
          <a:xfrm>
            <a:off x="4937454" y="7038975"/>
            <a:ext cx="914400" cy="9144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4914900" y="4533900"/>
            <a:ext cx="0" cy="66675"/>
          </a:xfrm>
          <a:custGeom>
            <a:avLst/>
            <a:gdLst>
              <a:gd name="connsiteX0" fmla="*/ 0 w 0"/>
              <a:gd name="connsiteY0" fmla="*/ 0 h 66675"/>
              <a:gd name="connsiteX1" fmla="*/ 0 w 0"/>
              <a:gd name="connsiteY1" fmla="*/ 66675 h 66675"/>
            </a:gdLst>
            <a:ahLst/>
            <a:cxnLst>
              <a:cxn ang="0">
                <a:pos x="connsiteX0" y="connsiteY0"/>
              </a:cxn>
              <a:cxn ang="0">
                <a:pos x="connsiteX1" y="connsiteY1"/>
              </a:cxn>
            </a:cxnLst>
            <a:rect l="l" t="t" r="r" b="b"/>
            <a:pathLst>
              <a:path h="66675">
                <a:moveTo>
                  <a:pt x="0" y="0"/>
                </a:moveTo>
                <a:lnTo>
                  <a:pt x="0" y="66675"/>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69923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57972</TotalTime>
  <Words>4263</Words>
  <Application>Microsoft Office PowerPoint</Application>
  <PresentationFormat>Custom</PresentationFormat>
  <Paragraphs>1400</Paragraphs>
  <Slides>80</Slides>
  <Notes>80</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80</vt:i4>
      </vt:variant>
    </vt:vector>
  </HeadingPairs>
  <TitlesOfParts>
    <vt:vector size="97" baseType="lpstr">
      <vt:lpstr>ＭＳ Ｐゴシック</vt:lpstr>
      <vt:lpstr>Arial</vt:lpstr>
      <vt:lpstr>Calibri</vt:lpstr>
      <vt:lpstr>Cambria</vt:lpstr>
      <vt:lpstr>Courier New</vt:lpstr>
      <vt:lpstr>DejaVu Sans</vt:lpstr>
      <vt:lpstr>Franklin Gothic Book</vt:lpstr>
      <vt:lpstr>Franklin Gothic Demi</vt:lpstr>
      <vt:lpstr>Google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Memory map of Linux 32 bit 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577</cp:revision>
  <dcterms:created xsi:type="dcterms:W3CDTF">2013-08-28T11:36:20Z</dcterms:created>
  <dcterms:modified xsi:type="dcterms:W3CDTF">2026-10-26T18:44:52Z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