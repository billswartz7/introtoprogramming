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 id="2147483668" r:id="rId3"/>
  </p:sldMasterIdLst>
  <p:notesMasterIdLst>
    <p:notesMasterId r:id="rId81"/>
  </p:notesMasterIdLst>
  <p:sldIdLst>
    <p:sldId id="256" r:id="rId4"/>
    <p:sldId id="307" r:id="rId5"/>
    <p:sldId id="308" r:id="rId6"/>
    <p:sldId id="352" r:id="rId7"/>
    <p:sldId id="353" r:id="rId8"/>
    <p:sldId id="354" r:id="rId9"/>
    <p:sldId id="355" r:id="rId10"/>
    <p:sldId id="356" r:id="rId11"/>
    <p:sldId id="357" r:id="rId12"/>
    <p:sldId id="358" r:id="rId13"/>
    <p:sldId id="359" r:id="rId14"/>
    <p:sldId id="360" r:id="rId15"/>
    <p:sldId id="361" r:id="rId16"/>
    <p:sldId id="362" r:id="rId17"/>
    <p:sldId id="363" r:id="rId18"/>
    <p:sldId id="364" r:id="rId19"/>
    <p:sldId id="365" r:id="rId20"/>
    <p:sldId id="373" r:id="rId21"/>
    <p:sldId id="374" r:id="rId22"/>
    <p:sldId id="375" r:id="rId23"/>
    <p:sldId id="376" r:id="rId24"/>
    <p:sldId id="366" r:id="rId25"/>
    <p:sldId id="367" r:id="rId26"/>
    <p:sldId id="368" r:id="rId27"/>
    <p:sldId id="369" r:id="rId28"/>
    <p:sldId id="370" r:id="rId29"/>
    <p:sldId id="371" r:id="rId30"/>
    <p:sldId id="372" r:id="rId31"/>
    <p:sldId id="377" r:id="rId32"/>
    <p:sldId id="378" r:id="rId33"/>
    <p:sldId id="379" r:id="rId34"/>
    <p:sldId id="380" r:id="rId35"/>
    <p:sldId id="381" r:id="rId36"/>
    <p:sldId id="382" r:id="rId37"/>
    <p:sldId id="383" r:id="rId38"/>
    <p:sldId id="384" r:id="rId39"/>
    <p:sldId id="385" r:id="rId40"/>
    <p:sldId id="386" r:id="rId41"/>
    <p:sldId id="310" r:id="rId42"/>
    <p:sldId id="309" r:id="rId43"/>
    <p:sldId id="311" r:id="rId44"/>
    <p:sldId id="313" r:id="rId45"/>
    <p:sldId id="312" r:id="rId46"/>
    <p:sldId id="314" r:id="rId47"/>
    <p:sldId id="315" r:id="rId48"/>
    <p:sldId id="319" r:id="rId49"/>
    <p:sldId id="320" r:id="rId50"/>
    <p:sldId id="321" r:id="rId51"/>
    <p:sldId id="323" r:id="rId52"/>
    <p:sldId id="339" r:id="rId53"/>
    <p:sldId id="322" r:id="rId54"/>
    <p:sldId id="318" r:id="rId55"/>
    <p:sldId id="324" r:id="rId56"/>
    <p:sldId id="327" r:id="rId57"/>
    <p:sldId id="328" r:id="rId58"/>
    <p:sldId id="329" r:id="rId59"/>
    <p:sldId id="330" r:id="rId60"/>
    <p:sldId id="331" r:id="rId61"/>
    <p:sldId id="332" r:id="rId62"/>
    <p:sldId id="333" r:id="rId63"/>
    <p:sldId id="335" r:id="rId64"/>
    <p:sldId id="334" r:id="rId65"/>
    <p:sldId id="336" r:id="rId66"/>
    <p:sldId id="337" r:id="rId67"/>
    <p:sldId id="340" r:id="rId68"/>
    <p:sldId id="351" r:id="rId69"/>
    <p:sldId id="325" r:id="rId70"/>
    <p:sldId id="326" r:id="rId71"/>
    <p:sldId id="341" r:id="rId72"/>
    <p:sldId id="342" r:id="rId73"/>
    <p:sldId id="345" r:id="rId74"/>
    <p:sldId id="346" r:id="rId75"/>
    <p:sldId id="347" r:id="rId76"/>
    <p:sldId id="348" r:id="rId77"/>
    <p:sldId id="349" r:id="rId78"/>
    <p:sldId id="350" r:id="rId79"/>
    <p:sldId id="293" r:id="rId80"/>
  </p:sldIdLst>
  <p:sldSz cx="10058400" cy="7772400"/>
  <p:notesSz cx="10058400" cy="7772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92" userDrawn="1">
          <p15:clr>
            <a:srgbClr val="A4A3A4"/>
          </p15:clr>
        </p15:guide>
        <p15:guide id="2" pos="33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44" autoAdjust="0"/>
    <p:restoredTop sz="94660"/>
  </p:normalViewPr>
  <p:slideViewPr>
    <p:cSldViewPr snapToGrid="0" showGuides="1">
      <p:cViewPr varScale="1">
        <p:scale>
          <a:sx n="97" d="100"/>
          <a:sy n="97" d="100"/>
        </p:scale>
        <p:origin x="1122" y="78"/>
      </p:cViewPr>
      <p:guideLst>
        <p:guide orient="horz" pos="4392"/>
        <p:guide pos="3312"/>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slide" Target="slides/slide60.xml"/><Relationship Id="rId68" Type="http://schemas.openxmlformats.org/officeDocument/2006/relationships/slide" Target="slides/slide65.xml"/><Relationship Id="rId76" Type="http://schemas.openxmlformats.org/officeDocument/2006/relationships/slide" Target="slides/slide73.xml"/><Relationship Id="rId84" Type="http://schemas.openxmlformats.org/officeDocument/2006/relationships/theme" Target="theme/theme1.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slide" Target="slides/slide71.xml"/><Relationship Id="rId79" Type="http://schemas.openxmlformats.org/officeDocument/2006/relationships/slide" Target="slides/slide76.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presProps" Target="presProps.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slide" Target="slides/slide74.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slide" Target="slides/slide77.xml"/><Relationship Id="rId85"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u="none" strike="noStrike">
                <a:solidFill>
                  <a:srgbClr val="000000"/>
                </a:solidFill>
                <a:effectLst/>
                <a:uFillTx/>
                <a:latin typeface="Arial"/>
              </a:rPr>
              <a:t>Click to move the slide</a:t>
            </a:r>
          </a:p>
        </p:txBody>
      </p:sp>
      <p:sp>
        <p:nvSpPr>
          <p:cNvPr id="38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38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383" name="PlaceHolder 4"/>
          <p:cNvSpPr>
            <a:spLocks noGrp="1"/>
          </p:cNvSpPr>
          <p:nvPr>
            <p:ph type="dt" idx="1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384" name="PlaceHolder 5"/>
          <p:cNvSpPr>
            <a:spLocks noGrp="1"/>
          </p:cNvSpPr>
          <p:nvPr>
            <p:ph type="ftr" idx="17"/>
          </p:nvPr>
        </p:nvSpPr>
        <p:spPr>
          <a:xfrm>
            <a:off x="0" y="9555480"/>
            <a:ext cx="3372840" cy="50256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385" name="PlaceHolder 6"/>
          <p:cNvSpPr>
            <a:spLocks noGrp="1"/>
          </p:cNvSpPr>
          <p:nvPr>
            <p:ph type="sldNum" idx="1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0BBEA29-00E4-49AD-9593-1714797B7997}"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83319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 name="PlaceHolder 1"/>
          <p:cNvSpPr>
            <a:spLocks noGrp="1"/>
          </p:cNvSpPr>
          <p:nvPr>
            <p:ph type="sldNum" idx="19"/>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E84248F-72EB-4DE5-929E-276F76CCF674}" type="slidenum">
              <a:rPr lang="en-US" sz="1200" b="0" u="none" strike="noStrike">
                <a:solidFill>
                  <a:srgbClr val="000000"/>
                </a:solidFill>
                <a:effectLst/>
                <a:uFillTx/>
                <a:latin typeface="Times New Roman"/>
              </a:rPr>
              <a:t>1</a:t>
            </a:fld>
            <a:endParaRPr lang="en-US" sz="1200" b="0" u="none" strike="noStrike">
              <a:solidFill>
                <a:srgbClr val="000000"/>
              </a:solidFill>
              <a:effectLst/>
              <a:uFillTx/>
              <a:latin typeface="Times New Roman"/>
            </a:endParaRPr>
          </a:p>
        </p:txBody>
      </p:sp>
      <p:sp>
        <p:nvSpPr>
          <p:cNvPr id="439" name="Rectangle 7"/>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F1AD9CE5-08E1-4DC7-8E48-11CF26660D51}" type="slidenum">
              <a:rPr lang="en-US" sz="1200" b="0" u="none" strike="noStrike">
                <a:solidFill>
                  <a:schemeClr val="dk1"/>
                </a:solidFill>
                <a:effectLst/>
                <a:uFillTx/>
                <a:latin typeface="Arial"/>
                <a:ea typeface="+mn-ea"/>
              </a:rPr>
              <a:t>1</a:t>
            </a:fld>
            <a:endParaRPr lang="en-US" sz="1200" b="0" u="none" strike="noStrike">
              <a:solidFill>
                <a:srgbClr val="000000"/>
              </a:solidFill>
              <a:effectLst/>
              <a:uFillTx/>
              <a:latin typeface="Arial"/>
            </a:endParaRPr>
          </a:p>
        </p:txBody>
      </p:sp>
      <p:sp>
        <p:nvSpPr>
          <p:cNvPr id="440" name="PlaceHolder 2"/>
          <p:cNvSpPr>
            <a:spLocks noGrp="1" noRot="1" noChangeAspect="1"/>
          </p:cNvSpPr>
          <p:nvPr>
            <p:ph type="sldImg"/>
          </p:nvPr>
        </p:nvSpPr>
        <p:spPr>
          <a:xfrm>
            <a:off x="1192213" y="690563"/>
            <a:ext cx="4467225" cy="3451225"/>
          </a:xfrm>
          <a:prstGeom prst="rect">
            <a:avLst/>
          </a:prstGeom>
          <a:ln w="0">
            <a:noFill/>
          </a:ln>
        </p:spPr>
      </p:sp>
      <p:sp>
        <p:nvSpPr>
          <p:cNvPr id="441"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122943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5576946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41707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092485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Start from the hardware. A transistor is on or off, a voltage is high or low. Everything above that is interpretation. Four bits is small enough to draw completely, which is why we use it for the next several slides.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338752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Here is every four-bit pattern there is. Ask the class what number 1011 is. The honest answer is that the question has no answer yet - nothing here says what any pattern means.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777223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the key idea of the whole review. Representation is a human convention layered on top of patterns. Different conventions give different answers for the same bits, and the machine cannot tell you which one you meant.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80042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 perfectly legal mapping: every pattern gets exactly one value, every value is used once. Nothing is wrong with it. Ask what 0101 + 1 should be - the answer is 0 + 1 = 1, which is the pattern 1010, three ticks away. Counting goes nowhere.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0950758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Put the number on the board: 2 to the 64 is about 1.8 times 10 to the 19. No table that size can exist. The mapping has to be a rule the hardware can evaluate, not a list it has to store.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8107474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same rule as decimal, with 10 replaced by 2. Each column has a weight, the weight is a power of the base, and the digit says how many of that weight to take. Read the bits right to left: 1, 2, 4, 8.</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172978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rule does not change when the word gets wider - a 64-bit unsigned integer is the same formula with 64 terms. That is exactly what an arbitrary mapping could not give us.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586792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Now the circle has structure. Neighbouring patterns are neighbouring numbers. This is the mapping the machine uses for addresses, which is what slide 4 was talking about.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27535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Walk a finger around the circle while counting out loud. The wrap at the top is the single most important feature of the picture - it is where overflow lives, and it is why the representation is drawn as a circle instead of a line.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6351192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Zero to 2 to the n, minus 1. The minus one trips students up: there are 2 to the n patterns, but one of them is used for zero.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321244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the point the lecture returns to a few slides from now. Negative addresses would waste half the patterns and double the bounds checking on every single memory access.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686888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Emphasize the conservation law: the patterns are fixed. Buying negative numbers is always paid for with positive ones. This frames the next several slides as a choice, not a rule handed down.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9232030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Still used for floating point, where the sign really is a separate field. For integers it was abandoned because add and subtract need to inspect the signs first and then decide what to do, which costs gates and time.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06565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fourth scheme, and the only one that is not about flipping bits. Choose K so that the most negative value you need lands on the all-zeros pattern. For n bits the usual choice is K = 2^(n-1), which is 8 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000797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Compare this circle with the twos complement circle. The values are the same set, but they have been rotated: zero has moved from 0000 to 1000. That rotation is the whole trick - the patterns now run in increasing numeric order all the way round.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2446410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why the scheme exists. Two floating point numbers can be compared by treating their bits as integers, because the biased exponent already sorts correctly. We will meet it again on the floating point slides. The cost is that ordinary addition no longer works directly - adding two biased numbers adds the bias twice.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124583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That last line is a real bug source. In C, negating INT_MIN is undefined behaviour; in Rust it panics in a debug build. Show it on the circle: 1000 is directly opposite 0000, so flipping and adding one lands back on itself.</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445945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Flipping every bit is the complement operation, the ~ operator in C. It is one gate per bit and it happens in parallel, so negation costs nothing. That is what made it attractive.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2104870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Look at the two ends of the circle. 0000 is plus zero and 1111 is minus zero - the same quantity in two patterns. Also notice the mapping is a mirror: the negative half is the positive half reflected.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304657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Demonstrate the end-around carry if there is time: (-3) + 4 in four-bit ones complement is 1100 + 0100 = 1 0000, and that leading carry has to be added back to give 0001 = 1. Real machines used this, and everyone was glad to stop.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347592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Have them negate 1011 on paper: flip gives 0100, add 1 gives 0101, which is +5. The operation is its own inverse, as negation should be. The one exception is the most negative number, which we come back to.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585196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picture that matters. One zero. The top bit is 1 for exactly the negative half. And the whole circle is the unsigned circle with the second half relabelled - the patterns never moved.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7979852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second line is the whole reason. The same transistors add signed and unsigned numbers, and the ALU never has to ask which kind it is holding. That is why this representation won and the others did not.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800149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rule with one change: the top weight is negative. Minus 8 plus 2 plus 1 is minus 5. This one formula reads any twos complement number, of any width, with no flipping and no special cases.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828626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numbers behind the type names on the slides that follow. Point out that 8-bit signed stops at 127 - the classic limit students hit when a counter suddenly goes negative.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147657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bits do not carry their own interpretation. 1111 is 15 or minus 1 depending only on the type you declared. This is why mixing signed and unsigned in one comparison is such a reliable source of bugs.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458659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Let them stare at it for a moment. Humans cannot read long binary reliably, but we do not want to convert to decimal either, because decimal hides where the bit boundaries are.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314347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why hex, and not octal or decimal, is the programmer notation: 16 is 2 to the 4, so the digit boundary and the bit boundary line up. Each hex digit is one of the sixteen patterns we just drew on the circle.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607438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same 16 patterns a third time - as numbers, as bits, and now as single characters. Students should memorize A = 10 through F = 15; everything else follows.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034011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the address from the earlier slide. Split the bits into groups of four from the RIGHT, then write each group as its digit. Grouping from the right matters - pad the left end with zeros if the last group is short.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650704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Byte values in hex always take exactly two digits, which is why memory dumps line up so neatly. Note the last two lines: the same byte, two readings, exactly the point from a few slides back.</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700327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patterns, different notation for us. The digit separators are worth showing - an apostrophe in C++14 and later, an underscore in Rust, and Rust allows it in hex and binary literals too.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6536925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Reach for the debugger first, not a print statement. p/x prints a value in hex and x/16xb dumps sixteen bytes, which is how you see the actual patterns in memory rather than an interpretation of them.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076454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Bridge back into the lecture. Addresses are unsigned integers, which is now a statement with content rather than a definition to accept on faith.</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9280523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39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39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7892165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68840689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8723512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5090043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6690510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4394404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9739351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292260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1933549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7081493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4330612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29305080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61666273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3184931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7898074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7108164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405276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442922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471488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76243450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45096544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99473001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0008357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80853307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8458581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43001841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1748149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18839878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5637367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56435089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27330050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3774912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10758231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44204937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6759902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69826786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83781277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91001283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016304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54560" y="2409480"/>
            <a:ext cx="8548920" cy="163152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ftr" idx="1"/>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2" name="PlaceHolder 3"/>
          <p:cNvSpPr>
            <a:spLocks noGrp="1"/>
          </p:cNvSpPr>
          <p:nvPr>
            <p:ph type="dt" idx="2"/>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3" name="PlaceHolder 4"/>
          <p:cNvSpPr>
            <a:spLocks noGrp="1"/>
          </p:cNvSpPr>
          <p:nvPr>
            <p:ph type="sldNum" idx="3"/>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7F920929-0F69-4400-B58F-F0F9AC4A6A2D}"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502920" y="1787760"/>
            <a:ext cx="905184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6" name="PlaceHolder 3"/>
          <p:cNvSpPr>
            <a:spLocks noGrp="1"/>
          </p:cNvSpPr>
          <p:nvPr>
            <p:ph type="ftr" idx="4"/>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7" name="PlaceHolder 4"/>
          <p:cNvSpPr>
            <a:spLocks noGrp="1"/>
          </p:cNvSpPr>
          <p:nvPr>
            <p:ph type="dt" idx="5"/>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8" name="PlaceHolder 5"/>
          <p:cNvSpPr>
            <a:spLocks noGrp="1"/>
          </p:cNvSpPr>
          <p:nvPr>
            <p:ph type="sldNum" idx="6"/>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5BC29054-6F74-4644-9529-D93E886B0EF0}"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bg>
      <p:bgPr>
        <a:solidFill>
          <a:schemeClr val="lt1"/>
        </a:solidFill>
        <a:effectLst/>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50292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1" name="PlaceHolder 3"/>
          <p:cNvSpPr>
            <a:spLocks noGrp="1"/>
          </p:cNvSpPr>
          <p:nvPr>
            <p:ph type="body"/>
          </p:nvPr>
        </p:nvSpPr>
        <p:spPr>
          <a:xfrm>
            <a:off x="518004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2" name="PlaceHolder 4"/>
          <p:cNvSpPr>
            <a:spLocks noGrp="1"/>
          </p:cNvSpPr>
          <p:nvPr>
            <p:ph type="ftr" idx="7"/>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3" name="PlaceHolder 5"/>
          <p:cNvSpPr>
            <a:spLocks noGrp="1"/>
          </p:cNvSpPr>
          <p:nvPr>
            <p:ph type="dt" idx="8"/>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4" name="PlaceHolder 6"/>
          <p:cNvSpPr>
            <a:spLocks noGrp="1"/>
          </p:cNvSpPr>
          <p:nvPr>
            <p:ph type="sldNum" idx="9"/>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4839A86E-239E-4764-956E-22B529859FEB}"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bg>
      <p:bgPr>
        <a:solidFill>
          <a:schemeClr val="lt1"/>
        </a:solidFill>
        <a:effectLst/>
      </p:bgPr>
    </p:bg>
    <p:spTree>
      <p:nvGrpSpPr>
        <p:cNvPr id="1" name=""/>
        <p:cNvGrpSpPr/>
        <p:nvPr/>
      </p:nvGrpSpPr>
      <p:grpSpPr>
        <a:xfrm>
          <a:off x="0" y="0"/>
          <a:ext cx="0" cy="0"/>
          <a:chOff x="0" y="0"/>
          <a:chExt cx="0" cy="0"/>
        </a:xfrm>
      </p:grpSpPr>
      <p:sp>
        <p:nvSpPr>
          <p:cNvPr id="15" name="bk object 16"/>
          <p:cNvSpPr/>
          <p:nvPr/>
        </p:nvSpPr>
        <p:spPr>
          <a:xfrm>
            <a:off x="2341800" y="638280"/>
            <a:ext cx="360" cy="5485680"/>
          </a:xfrm>
          <a:custGeom>
            <a:avLst/>
            <a:gdLst>
              <a:gd name="textAreaLeft" fmla="*/ 0 w 360"/>
              <a:gd name="textAreaRight" fmla="*/ 1440 w 360"/>
              <a:gd name="textAreaTop" fmla="*/ 0 h 5485680"/>
              <a:gd name="textAreaBottom" fmla="*/ 5486400 h 5485680"/>
            </a:gdLst>
            <a:ahLst/>
            <a:cxnLst/>
            <a:rect l="textAreaLeft" t="textAreaTop" r="textAreaRight" b="textAreaBottom"/>
            <a:pathLst>
              <a:path h="5486398">
                <a:moveTo>
                  <a:pt x="0" y="0"/>
                </a:moveTo>
                <a:lnTo>
                  <a:pt x="0" y="5486398"/>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 name="bk object 17"/>
          <p:cNvSpPr/>
          <p:nvPr/>
        </p:nvSpPr>
        <p:spPr>
          <a:xfrm>
            <a:off x="2296080" y="60789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 name="bk object 18"/>
          <p:cNvSpPr/>
          <p:nvPr/>
        </p:nvSpPr>
        <p:spPr>
          <a:xfrm>
            <a:off x="2296080" y="55396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 name="bk object 19"/>
          <p:cNvSpPr/>
          <p:nvPr/>
        </p:nvSpPr>
        <p:spPr>
          <a:xfrm>
            <a:off x="2296080" y="50000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9" name="bk object 20"/>
          <p:cNvSpPr/>
          <p:nvPr/>
        </p:nvSpPr>
        <p:spPr>
          <a:xfrm>
            <a:off x="2296080" y="44604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0" name="bk object 21"/>
          <p:cNvSpPr/>
          <p:nvPr/>
        </p:nvSpPr>
        <p:spPr>
          <a:xfrm>
            <a:off x="2296080" y="39211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1" name="bk object 22"/>
          <p:cNvSpPr/>
          <p:nvPr/>
        </p:nvSpPr>
        <p:spPr>
          <a:xfrm>
            <a:off x="2296080" y="33814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2" name="bk object 23"/>
          <p:cNvSpPr/>
          <p:nvPr/>
        </p:nvSpPr>
        <p:spPr>
          <a:xfrm>
            <a:off x="2296080" y="28418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3" name="bk object 24"/>
          <p:cNvSpPr/>
          <p:nvPr/>
        </p:nvSpPr>
        <p:spPr>
          <a:xfrm>
            <a:off x="2296080" y="23025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4" name="bk object 25"/>
          <p:cNvSpPr/>
          <p:nvPr/>
        </p:nvSpPr>
        <p:spPr>
          <a:xfrm>
            <a:off x="2296080" y="17629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5" name="bk object 26"/>
          <p:cNvSpPr/>
          <p:nvPr/>
        </p:nvSpPr>
        <p:spPr>
          <a:xfrm>
            <a:off x="2296080" y="12236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6" name="bk object 27"/>
          <p:cNvSpPr/>
          <p:nvPr/>
        </p:nvSpPr>
        <p:spPr>
          <a:xfrm>
            <a:off x="2296080" y="6840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7" name="bk object 28"/>
          <p:cNvSpPr/>
          <p:nvPr/>
        </p:nvSpPr>
        <p:spPr>
          <a:xfrm>
            <a:off x="2107080" y="5949000"/>
            <a:ext cx="134640" cy="204480"/>
          </a:xfrm>
          <a:custGeom>
            <a:avLst/>
            <a:gdLst>
              <a:gd name="textAreaLeft" fmla="*/ 0 w 134640"/>
              <a:gd name="textAreaRight" fmla="*/ 135360 w 134640"/>
              <a:gd name="textAreaTop" fmla="*/ 0 h 204480"/>
              <a:gd name="textAreaBottom" fmla="*/ 205200 h 204480"/>
            </a:gdLst>
            <a:ahLst/>
            <a:cxnLst/>
            <a:rect l="textAreaLeft" t="textAreaTop" r="textAreaRight" b="textAreaBottom"/>
            <a:pathLst>
              <a:path w="135254" h="205371">
                <a:moveTo>
                  <a:pt x="81533" y="0"/>
                </a:moveTo>
                <a:lnTo>
                  <a:pt x="54101" y="0"/>
                </a:lnTo>
                <a:lnTo>
                  <a:pt x="30098" y="11823"/>
                </a:lnTo>
                <a:lnTo>
                  <a:pt x="18033" y="20840"/>
                </a:lnTo>
                <a:lnTo>
                  <a:pt x="6095" y="44970"/>
                </a:lnTo>
                <a:lnTo>
                  <a:pt x="3175" y="53975"/>
                </a:lnTo>
                <a:lnTo>
                  <a:pt x="253" y="75196"/>
                </a:lnTo>
                <a:lnTo>
                  <a:pt x="253" y="102628"/>
                </a:lnTo>
                <a:lnTo>
                  <a:pt x="0" y="102628"/>
                </a:lnTo>
                <a:lnTo>
                  <a:pt x="0" y="130060"/>
                </a:lnTo>
                <a:lnTo>
                  <a:pt x="2920" y="151269"/>
                </a:lnTo>
                <a:lnTo>
                  <a:pt x="11937" y="169430"/>
                </a:lnTo>
                <a:lnTo>
                  <a:pt x="17906" y="184543"/>
                </a:lnTo>
                <a:lnTo>
                  <a:pt x="29971" y="193560"/>
                </a:lnTo>
                <a:lnTo>
                  <a:pt x="42036" y="199529"/>
                </a:lnTo>
                <a:lnTo>
                  <a:pt x="66166" y="205371"/>
                </a:lnTo>
                <a:lnTo>
                  <a:pt x="81279" y="202450"/>
                </a:lnTo>
                <a:lnTo>
                  <a:pt x="93344" y="199529"/>
                </a:lnTo>
                <a:lnTo>
                  <a:pt x="105409" y="193560"/>
                </a:lnTo>
                <a:lnTo>
                  <a:pt x="114426" y="184543"/>
                </a:lnTo>
                <a:lnTo>
                  <a:pt x="116397" y="181241"/>
                </a:lnTo>
                <a:lnTo>
                  <a:pt x="57276" y="181241"/>
                </a:lnTo>
                <a:lnTo>
                  <a:pt x="54356" y="178320"/>
                </a:lnTo>
                <a:lnTo>
                  <a:pt x="51434" y="178320"/>
                </a:lnTo>
                <a:lnTo>
                  <a:pt x="39623" y="166509"/>
                </a:lnTo>
                <a:lnTo>
                  <a:pt x="33654" y="157492"/>
                </a:lnTo>
                <a:lnTo>
                  <a:pt x="30709" y="139204"/>
                </a:lnTo>
                <a:lnTo>
                  <a:pt x="27812" y="124218"/>
                </a:lnTo>
                <a:lnTo>
                  <a:pt x="27812" y="103009"/>
                </a:lnTo>
                <a:lnTo>
                  <a:pt x="27558" y="102628"/>
                </a:lnTo>
                <a:lnTo>
                  <a:pt x="27558" y="78371"/>
                </a:lnTo>
                <a:lnTo>
                  <a:pt x="30479" y="66306"/>
                </a:lnTo>
                <a:lnTo>
                  <a:pt x="33400" y="48145"/>
                </a:lnTo>
                <a:lnTo>
                  <a:pt x="39369" y="39128"/>
                </a:lnTo>
                <a:lnTo>
                  <a:pt x="51181" y="27317"/>
                </a:lnTo>
                <a:lnTo>
                  <a:pt x="57150" y="24396"/>
                </a:lnTo>
                <a:lnTo>
                  <a:pt x="116294" y="24396"/>
                </a:lnTo>
                <a:lnTo>
                  <a:pt x="114553" y="20840"/>
                </a:lnTo>
                <a:lnTo>
                  <a:pt x="105536" y="11823"/>
                </a:lnTo>
                <a:lnTo>
                  <a:pt x="81533" y="0"/>
                </a:lnTo>
                <a:close/>
              </a:path>
              <a:path w="135254" h="205371">
                <a:moveTo>
                  <a:pt x="116294" y="24396"/>
                </a:moveTo>
                <a:lnTo>
                  <a:pt x="75310" y="24396"/>
                </a:lnTo>
                <a:lnTo>
                  <a:pt x="84327" y="27317"/>
                </a:lnTo>
                <a:lnTo>
                  <a:pt x="96265" y="39255"/>
                </a:lnTo>
                <a:lnTo>
                  <a:pt x="102234" y="48272"/>
                </a:lnTo>
                <a:lnTo>
                  <a:pt x="105156" y="66433"/>
                </a:lnTo>
                <a:lnTo>
                  <a:pt x="108076" y="81546"/>
                </a:lnTo>
                <a:lnTo>
                  <a:pt x="108052" y="124218"/>
                </a:lnTo>
                <a:lnTo>
                  <a:pt x="105135" y="139331"/>
                </a:lnTo>
                <a:lnTo>
                  <a:pt x="102234" y="157365"/>
                </a:lnTo>
                <a:lnTo>
                  <a:pt x="96265" y="166382"/>
                </a:lnTo>
                <a:lnTo>
                  <a:pt x="84327" y="178320"/>
                </a:lnTo>
                <a:lnTo>
                  <a:pt x="78358" y="178320"/>
                </a:lnTo>
                <a:lnTo>
                  <a:pt x="75437" y="181241"/>
                </a:lnTo>
                <a:lnTo>
                  <a:pt x="116397" y="181241"/>
                </a:lnTo>
                <a:lnTo>
                  <a:pt x="123443" y="169430"/>
                </a:lnTo>
                <a:lnTo>
                  <a:pt x="129412" y="151269"/>
                </a:lnTo>
                <a:lnTo>
                  <a:pt x="132333" y="130060"/>
                </a:lnTo>
                <a:lnTo>
                  <a:pt x="135254" y="102628"/>
                </a:lnTo>
                <a:lnTo>
                  <a:pt x="132333" y="75196"/>
                </a:lnTo>
                <a:lnTo>
                  <a:pt x="129412" y="53975"/>
                </a:lnTo>
                <a:lnTo>
                  <a:pt x="123443" y="32778"/>
                </a:lnTo>
                <a:lnTo>
                  <a:pt x="117475" y="26809"/>
                </a:lnTo>
                <a:lnTo>
                  <a:pt x="116294" y="24396"/>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8" name="bk object 29"/>
          <p:cNvSpPr/>
          <p:nvPr/>
        </p:nvSpPr>
        <p:spPr>
          <a:xfrm>
            <a:off x="2147040" y="5409720"/>
            <a:ext cx="68400" cy="200160"/>
          </a:xfrm>
          <a:custGeom>
            <a:avLst/>
            <a:gdLst>
              <a:gd name="textAreaLeft" fmla="*/ 0 w 68400"/>
              <a:gd name="textAreaRight" fmla="*/ 69120 w 68400"/>
              <a:gd name="textAreaTop" fmla="*/ 0 h 200160"/>
              <a:gd name="textAreaBottom" fmla="*/ 200880 h 200160"/>
            </a:gdLst>
            <a:ahLst/>
            <a:cxnLst/>
            <a:rect l="textAreaLeft" t="textAreaTop" r="textAreaRight" b="textAreaBottom"/>
            <a:pathLst>
              <a:path w="69087" h="201041">
                <a:moveTo>
                  <a:pt x="69087" y="0"/>
                </a:moveTo>
                <a:lnTo>
                  <a:pt x="50927" y="0"/>
                </a:lnTo>
                <a:lnTo>
                  <a:pt x="48006" y="9004"/>
                </a:lnTo>
                <a:lnTo>
                  <a:pt x="48006" y="14986"/>
                </a:lnTo>
                <a:lnTo>
                  <a:pt x="36195" y="26797"/>
                </a:lnTo>
                <a:lnTo>
                  <a:pt x="27178" y="32766"/>
                </a:lnTo>
                <a:lnTo>
                  <a:pt x="18161" y="35687"/>
                </a:lnTo>
                <a:lnTo>
                  <a:pt x="0" y="35687"/>
                </a:lnTo>
                <a:lnTo>
                  <a:pt x="0" y="56895"/>
                </a:lnTo>
                <a:lnTo>
                  <a:pt x="45593" y="56895"/>
                </a:lnTo>
                <a:lnTo>
                  <a:pt x="45593" y="200025"/>
                </a:lnTo>
                <a:lnTo>
                  <a:pt x="44831" y="201041"/>
                </a:lnTo>
                <a:lnTo>
                  <a:pt x="69087" y="201041"/>
                </a:lnTo>
                <a:lnTo>
                  <a:pt x="690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9" name="bk object 30"/>
          <p:cNvSpPr/>
          <p:nvPr/>
        </p:nvSpPr>
        <p:spPr>
          <a:xfrm>
            <a:off x="2104200" y="4871880"/>
            <a:ext cx="136800" cy="194400"/>
          </a:xfrm>
          <a:custGeom>
            <a:avLst/>
            <a:gdLst>
              <a:gd name="textAreaLeft" fmla="*/ 0 w 136800"/>
              <a:gd name="textAreaRight" fmla="*/ 137520 w 136800"/>
              <a:gd name="textAreaTop" fmla="*/ 0 h 194400"/>
              <a:gd name="textAreaBottom" fmla="*/ 195120 h 194400"/>
            </a:gdLst>
            <a:ahLst/>
            <a:cxnLst/>
            <a:rect l="textAreaLeft" t="textAreaTop" r="textAreaRight" b="textAreaBottom"/>
            <a:pathLst>
              <a:path w="137541" h="195199">
                <a:moveTo>
                  <a:pt x="123952" y="21463"/>
                </a:moveTo>
                <a:lnTo>
                  <a:pt x="77978" y="21463"/>
                </a:lnTo>
                <a:lnTo>
                  <a:pt x="95885" y="30226"/>
                </a:lnTo>
                <a:lnTo>
                  <a:pt x="101854" y="36195"/>
                </a:lnTo>
                <a:lnTo>
                  <a:pt x="107633" y="48006"/>
                </a:lnTo>
                <a:lnTo>
                  <a:pt x="107696" y="66294"/>
                </a:lnTo>
                <a:lnTo>
                  <a:pt x="104775" y="72263"/>
                </a:lnTo>
                <a:lnTo>
                  <a:pt x="101854" y="81280"/>
                </a:lnTo>
                <a:lnTo>
                  <a:pt x="90043" y="93091"/>
                </a:lnTo>
                <a:lnTo>
                  <a:pt x="81025" y="99047"/>
                </a:lnTo>
                <a:lnTo>
                  <a:pt x="62865" y="108077"/>
                </a:lnTo>
                <a:lnTo>
                  <a:pt x="53848" y="114046"/>
                </a:lnTo>
                <a:lnTo>
                  <a:pt x="14731" y="144018"/>
                </a:lnTo>
                <a:lnTo>
                  <a:pt x="2921" y="180213"/>
                </a:lnTo>
                <a:lnTo>
                  <a:pt x="0" y="186182"/>
                </a:lnTo>
                <a:lnTo>
                  <a:pt x="0" y="195199"/>
                </a:lnTo>
                <a:lnTo>
                  <a:pt x="507" y="194818"/>
                </a:lnTo>
                <a:lnTo>
                  <a:pt x="137541" y="194818"/>
                </a:lnTo>
                <a:lnTo>
                  <a:pt x="137541" y="170561"/>
                </a:lnTo>
                <a:lnTo>
                  <a:pt x="30861" y="170561"/>
                </a:lnTo>
                <a:lnTo>
                  <a:pt x="30861" y="164592"/>
                </a:lnTo>
                <a:lnTo>
                  <a:pt x="36703" y="158750"/>
                </a:lnTo>
                <a:lnTo>
                  <a:pt x="39624" y="152781"/>
                </a:lnTo>
                <a:lnTo>
                  <a:pt x="48513" y="143891"/>
                </a:lnTo>
                <a:lnTo>
                  <a:pt x="54482" y="140970"/>
                </a:lnTo>
                <a:lnTo>
                  <a:pt x="72517" y="129032"/>
                </a:lnTo>
                <a:lnTo>
                  <a:pt x="75437" y="126111"/>
                </a:lnTo>
                <a:lnTo>
                  <a:pt x="93599" y="120142"/>
                </a:lnTo>
                <a:lnTo>
                  <a:pt x="96519" y="117221"/>
                </a:lnTo>
                <a:lnTo>
                  <a:pt x="102488" y="114300"/>
                </a:lnTo>
                <a:lnTo>
                  <a:pt x="111506" y="105283"/>
                </a:lnTo>
                <a:lnTo>
                  <a:pt x="120523" y="99314"/>
                </a:lnTo>
                <a:lnTo>
                  <a:pt x="126492" y="90297"/>
                </a:lnTo>
                <a:lnTo>
                  <a:pt x="129412" y="87376"/>
                </a:lnTo>
                <a:lnTo>
                  <a:pt x="132334" y="81407"/>
                </a:lnTo>
                <a:lnTo>
                  <a:pt x="135255" y="72390"/>
                </a:lnTo>
                <a:lnTo>
                  <a:pt x="135255" y="44958"/>
                </a:lnTo>
                <a:lnTo>
                  <a:pt x="132334" y="32893"/>
                </a:lnTo>
                <a:lnTo>
                  <a:pt x="126365" y="23876"/>
                </a:lnTo>
                <a:lnTo>
                  <a:pt x="123952" y="21463"/>
                </a:lnTo>
                <a:close/>
              </a:path>
              <a:path w="137541" h="195199">
                <a:moveTo>
                  <a:pt x="84200" y="0"/>
                </a:moveTo>
                <a:lnTo>
                  <a:pt x="53848" y="0"/>
                </a:lnTo>
                <a:lnTo>
                  <a:pt x="47879" y="2921"/>
                </a:lnTo>
                <a:lnTo>
                  <a:pt x="41910" y="2921"/>
                </a:lnTo>
                <a:lnTo>
                  <a:pt x="8890" y="38989"/>
                </a:lnTo>
                <a:lnTo>
                  <a:pt x="5968" y="48006"/>
                </a:lnTo>
                <a:lnTo>
                  <a:pt x="5968" y="69215"/>
                </a:lnTo>
                <a:lnTo>
                  <a:pt x="30225" y="69215"/>
                </a:lnTo>
                <a:lnTo>
                  <a:pt x="30225" y="60198"/>
                </a:lnTo>
                <a:lnTo>
                  <a:pt x="33147" y="54229"/>
                </a:lnTo>
                <a:lnTo>
                  <a:pt x="33225" y="48006"/>
                </a:lnTo>
                <a:lnTo>
                  <a:pt x="36068" y="39243"/>
                </a:lnTo>
                <a:lnTo>
                  <a:pt x="42037" y="33274"/>
                </a:lnTo>
                <a:lnTo>
                  <a:pt x="48006" y="30353"/>
                </a:lnTo>
                <a:lnTo>
                  <a:pt x="53975" y="24384"/>
                </a:lnTo>
                <a:lnTo>
                  <a:pt x="59943" y="24384"/>
                </a:lnTo>
                <a:lnTo>
                  <a:pt x="68961" y="21463"/>
                </a:lnTo>
                <a:lnTo>
                  <a:pt x="123952" y="21463"/>
                </a:lnTo>
                <a:lnTo>
                  <a:pt x="117348" y="14859"/>
                </a:lnTo>
                <a:lnTo>
                  <a:pt x="108331" y="8890"/>
                </a:lnTo>
                <a:lnTo>
                  <a:pt x="96266" y="2921"/>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0" name="bk object 31"/>
          <p:cNvSpPr/>
          <p:nvPr/>
        </p:nvSpPr>
        <p:spPr>
          <a:xfrm>
            <a:off x="2104200" y="4331880"/>
            <a:ext cx="134280" cy="203400"/>
          </a:xfrm>
          <a:custGeom>
            <a:avLst/>
            <a:gdLst>
              <a:gd name="textAreaLeft" fmla="*/ 0 w 134280"/>
              <a:gd name="textAreaRight" fmla="*/ 135000 w 134280"/>
              <a:gd name="textAreaTop" fmla="*/ 0 h 203400"/>
              <a:gd name="textAreaBottom" fmla="*/ 204120 h 203400"/>
            </a:gdLst>
            <a:ahLst/>
            <a:cxnLst/>
            <a:rect l="textAreaLeft" t="textAreaTop" r="textAreaRight" b="textAreaBottom"/>
            <a:pathLst>
              <a:path w="135128" h="203949">
                <a:moveTo>
                  <a:pt x="24256" y="134620"/>
                </a:moveTo>
                <a:lnTo>
                  <a:pt x="0" y="134620"/>
                </a:lnTo>
                <a:lnTo>
                  <a:pt x="127" y="135128"/>
                </a:lnTo>
                <a:lnTo>
                  <a:pt x="127" y="159385"/>
                </a:lnTo>
                <a:lnTo>
                  <a:pt x="3048" y="162306"/>
                </a:lnTo>
                <a:lnTo>
                  <a:pt x="3048" y="165227"/>
                </a:lnTo>
                <a:lnTo>
                  <a:pt x="9017" y="177292"/>
                </a:lnTo>
                <a:lnTo>
                  <a:pt x="26924" y="195199"/>
                </a:lnTo>
                <a:lnTo>
                  <a:pt x="38988" y="198120"/>
                </a:lnTo>
                <a:lnTo>
                  <a:pt x="57023" y="203949"/>
                </a:lnTo>
                <a:lnTo>
                  <a:pt x="72136" y="203949"/>
                </a:lnTo>
                <a:lnTo>
                  <a:pt x="78105" y="201041"/>
                </a:lnTo>
                <a:lnTo>
                  <a:pt x="90169" y="201041"/>
                </a:lnTo>
                <a:lnTo>
                  <a:pt x="114300" y="189103"/>
                </a:lnTo>
                <a:lnTo>
                  <a:pt x="117221" y="183134"/>
                </a:lnTo>
                <a:lnTo>
                  <a:pt x="123190" y="180212"/>
                </a:lnTo>
                <a:lnTo>
                  <a:pt x="123566" y="179450"/>
                </a:lnTo>
                <a:lnTo>
                  <a:pt x="66040" y="179450"/>
                </a:lnTo>
                <a:lnTo>
                  <a:pt x="53975" y="176530"/>
                </a:lnTo>
                <a:lnTo>
                  <a:pt x="48006" y="176530"/>
                </a:lnTo>
                <a:lnTo>
                  <a:pt x="38988" y="170561"/>
                </a:lnTo>
                <a:lnTo>
                  <a:pt x="33019" y="164592"/>
                </a:lnTo>
                <a:lnTo>
                  <a:pt x="24256" y="146685"/>
                </a:lnTo>
                <a:lnTo>
                  <a:pt x="24256" y="134620"/>
                </a:lnTo>
                <a:close/>
              </a:path>
              <a:path w="135128" h="203949">
                <a:moveTo>
                  <a:pt x="121424" y="105029"/>
                </a:moveTo>
                <a:lnTo>
                  <a:pt x="74930" y="105029"/>
                </a:lnTo>
                <a:lnTo>
                  <a:pt x="77850" y="107950"/>
                </a:lnTo>
                <a:lnTo>
                  <a:pt x="83819" y="107950"/>
                </a:lnTo>
                <a:lnTo>
                  <a:pt x="86741" y="110871"/>
                </a:lnTo>
                <a:lnTo>
                  <a:pt x="98679" y="116712"/>
                </a:lnTo>
                <a:lnTo>
                  <a:pt x="104648" y="125730"/>
                </a:lnTo>
                <a:lnTo>
                  <a:pt x="107568" y="131699"/>
                </a:lnTo>
                <a:lnTo>
                  <a:pt x="107568" y="149860"/>
                </a:lnTo>
                <a:lnTo>
                  <a:pt x="104648" y="155829"/>
                </a:lnTo>
                <a:lnTo>
                  <a:pt x="101727" y="164846"/>
                </a:lnTo>
                <a:lnTo>
                  <a:pt x="95885" y="170687"/>
                </a:lnTo>
                <a:lnTo>
                  <a:pt x="89916" y="173609"/>
                </a:lnTo>
                <a:lnTo>
                  <a:pt x="80899" y="176530"/>
                </a:lnTo>
                <a:lnTo>
                  <a:pt x="77978" y="176530"/>
                </a:lnTo>
                <a:lnTo>
                  <a:pt x="75056" y="179450"/>
                </a:lnTo>
                <a:lnTo>
                  <a:pt x="123566" y="179450"/>
                </a:lnTo>
                <a:lnTo>
                  <a:pt x="135128" y="156083"/>
                </a:lnTo>
                <a:lnTo>
                  <a:pt x="135128" y="125730"/>
                </a:lnTo>
                <a:lnTo>
                  <a:pt x="129159" y="113665"/>
                </a:lnTo>
                <a:lnTo>
                  <a:pt x="123190" y="107696"/>
                </a:lnTo>
                <a:lnTo>
                  <a:pt x="121424" y="105029"/>
                </a:lnTo>
                <a:close/>
              </a:path>
              <a:path w="135128" h="203949">
                <a:moveTo>
                  <a:pt x="120425" y="24257"/>
                </a:moveTo>
                <a:lnTo>
                  <a:pt x="78359" y="24257"/>
                </a:lnTo>
                <a:lnTo>
                  <a:pt x="90297" y="30099"/>
                </a:lnTo>
                <a:lnTo>
                  <a:pt x="99187" y="38989"/>
                </a:lnTo>
                <a:lnTo>
                  <a:pt x="99187" y="44958"/>
                </a:lnTo>
                <a:lnTo>
                  <a:pt x="102107" y="53975"/>
                </a:lnTo>
                <a:lnTo>
                  <a:pt x="99249" y="59817"/>
                </a:lnTo>
                <a:lnTo>
                  <a:pt x="99187" y="68961"/>
                </a:lnTo>
                <a:lnTo>
                  <a:pt x="90297" y="77850"/>
                </a:lnTo>
                <a:lnTo>
                  <a:pt x="78359" y="83693"/>
                </a:lnTo>
                <a:lnTo>
                  <a:pt x="50927" y="83693"/>
                </a:lnTo>
                <a:lnTo>
                  <a:pt x="50927" y="107950"/>
                </a:lnTo>
                <a:lnTo>
                  <a:pt x="56896" y="107950"/>
                </a:lnTo>
                <a:lnTo>
                  <a:pt x="62865" y="105029"/>
                </a:lnTo>
                <a:lnTo>
                  <a:pt x="121424" y="105029"/>
                </a:lnTo>
                <a:lnTo>
                  <a:pt x="117221" y="98679"/>
                </a:lnTo>
                <a:lnTo>
                  <a:pt x="114300" y="95758"/>
                </a:lnTo>
                <a:lnTo>
                  <a:pt x="108331" y="92824"/>
                </a:lnTo>
                <a:lnTo>
                  <a:pt x="102362" y="92824"/>
                </a:lnTo>
                <a:lnTo>
                  <a:pt x="111379" y="89916"/>
                </a:lnTo>
                <a:lnTo>
                  <a:pt x="120268" y="81025"/>
                </a:lnTo>
                <a:lnTo>
                  <a:pt x="123190" y="75057"/>
                </a:lnTo>
                <a:lnTo>
                  <a:pt x="126111" y="66040"/>
                </a:lnTo>
                <a:lnTo>
                  <a:pt x="129031" y="53975"/>
                </a:lnTo>
                <a:lnTo>
                  <a:pt x="126111" y="38849"/>
                </a:lnTo>
                <a:lnTo>
                  <a:pt x="123190" y="29845"/>
                </a:lnTo>
                <a:lnTo>
                  <a:pt x="120425" y="24257"/>
                </a:lnTo>
                <a:close/>
              </a:path>
              <a:path w="135128" h="203949">
                <a:moveTo>
                  <a:pt x="78105" y="0"/>
                </a:moveTo>
                <a:lnTo>
                  <a:pt x="66040" y="0"/>
                </a:lnTo>
                <a:lnTo>
                  <a:pt x="50927" y="2921"/>
                </a:lnTo>
                <a:lnTo>
                  <a:pt x="41910" y="2921"/>
                </a:lnTo>
                <a:lnTo>
                  <a:pt x="29972" y="8762"/>
                </a:lnTo>
                <a:lnTo>
                  <a:pt x="20955" y="14732"/>
                </a:lnTo>
                <a:lnTo>
                  <a:pt x="18034" y="20700"/>
                </a:lnTo>
                <a:lnTo>
                  <a:pt x="15112" y="23622"/>
                </a:lnTo>
                <a:lnTo>
                  <a:pt x="9143" y="35674"/>
                </a:lnTo>
                <a:lnTo>
                  <a:pt x="3302" y="53721"/>
                </a:lnTo>
                <a:lnTo>
                  <a:pt x="3302" y="65786"/>
                </a:lnTo>
                <a:lnTo>
                  <a:pt x="27559" y="65786"/>
                </a:lnTo>
                <a:lnTo>
                  <a:pt x="30417" y="59944"/>
                </a:lnTo>
                <a:lnTo>
                  <a:pt x="30480" y="50800"/>
                </a:lnTo>
                <a:lnTo>
                  <a:pt x="33338" y="44958"/>
                </a:lnTo>
                <a:lnTo>
                  <a:pt x="33400" y="41910"/>
                </a:lnTo>
                <a:lnTo>
                  <a:pt x="36322" y="38989"/>
                </a:lnTo>
                <a:lnTo>
                  <a:pt x="39243" y="33020"/>
                </a:lnTo>
                <a:lnTo>
                  <a:pt x="57150" y="24257"/>
                </a:lnTo>
                <a:lnTo>
                  <a:pt x="120425" y="24257"/>
                </a:lnTo>
                <a:lnTo>
                  <a:pt x="117221" y="17780"/>
                </a:lnTo>
                <a:lnTo>
                  <a:pt x="99187" y="5842"/>
                </a:lnTo>
                <a:lnTo>
                  <a:pt x="87122" y="2921"/>
                </a:lnTo>
                <a:lnTo>
                  <a:pt x="7810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1" name="bk object 32"/>
          <p:cNvSpPr/>
          <p:nvPr/>
        </p:nvSpPr>
        <p:spPr>
          <a:xfrm>
            <a:off x="2104200" y="379620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8" h="194817">
                <a:moveTo>
                  <a:pt x="112648" y="143001"/>
                </a:moveTo>
                <a:lnTo>
                  <a:pt x="85216" y="143001"/>
                </a:lnTo>
                <a:lnTo>
                  <a:pt x="85216" y="194817"/>
                </a:lnTo>
                <a:lnTo>
                  <a:pt x="112648" y="194817"/>
                </a:lnTo>
                <a:lnTo>
                  <a:pt x="112648" y="143001"/>
                </a:lnTo>
                <a:close/>
              </a:path>
              <a:path w="112648" h="194817">
                <a:moveTo>
                  <a:pt x="112648" y="0"/>
                </a:moveTo>
                <a:lnTo>
                  <a:pt x="85216" y="0"/>
                </a:lnTo>
                <a:lnTo>
                  <a:pt x="0" y="118744"/>
                </a:lnTo>
                <a:lnTo>
                  <a:pt x="0" y="143001"/>
                </a:lnTo>
                <a:lnTo>
                  <a:pt x="140080" y="143001"/>
                </a:lnTo>
                <a:lnTo>
                  <a:pt x="140080" y="121792"/>
                </a:lnTo>
                <a:lnTo>
                  <a:pt x="112648" y="121792"/>
                </a:lnTo>
                <a:lnTo>
                  <a:pt x="24383" y="121665"/>
                </a:lnTo>
                <a:lnTo>
                  <a:pt x="85216" y="33400"/>
                </a:lnTo>
                <a:lnTo>
                  <a:pt x="112648" y="33400"/>
                </a:lnTo>
                <a:lnTo>
                  <a:pt x="112648" y="0"/>
                </a:lnTo>
                <a:close/>
              </a:path>
              <a:path w="112648" h="194817">
                <a:moveTo>
                  <a:pt x="112648" y="33400"/>
                </a:moveTo>
                <a:lnTo>
                  <a:pt x="85216" y="33400"/>
                </a:lnTo>
                <a:lnTo>
                  <a:pt x="85216" y="121665"/>
                </a:lnTo>
                <a:lnTo>
                  <a:pt x="112648" y="121665"/>
                </a:lnTo>
                <a:lnTo>
                  <a:pt x="112648" y="3340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2" name="bk object 33"/>
          <p:cNvSpPr/>
          <p:nvPr/>
        </p:nvSpPr>
        <p:spPr>
          <a:xfrm>
            <a:off x="2104200" y="3253680"/>
            <a:ext cx="135000" cy="198720"/>
          </a:xfrm>
          <a:custGeom>
            <a:avLst/>
            <a:gdLst>
              <a:gd name="textAreaLeft" fmla="*/ 0 w 135000"/>
              <a:gd name="textAreaRight" fmla="*/ 135720 w 135000"/>
              <a:gd name="textAreaTop" fmla="*/ 0 h 198720"/>
              <a:gd name="textAreaBottom" fmla="*/ 199440 h 198720"/>
            </a:gdLst>
            <a:ahLst/>
            <a:cxnLst/>
            <a:rect l="textAreaLeft" t="textAreaTop" r="textAreaRight" b="textAreaBottom"/>
            <a:pathLst>
              <a:path w="135762" h="199389">
                <a:moveTo>
                  <a:pt x="27431" y="143001"/>
                </a:moveTo>
                <a:lnTo>
                  <a:pt x="635" y="143001"/>
                </a:lnTo>
                <a:lnTo>
                  <a:pt x="635" y="151637"/>
                </a:lnTo>
                <a:lnTo>
                  <a:pt x="21336" y="184530"/>
                </a:lnTo>
                <a:lnTo>
                  <a:pt x="51435" y="199389"/>
                </a:lnTo>
                <a:lnTo>
                  <a:pt x="81787" y="199389"/>
                </a:lnTo>
                <a:lnTo>
                  <a:pt x="93853" y="196469"/>
                </a:lnTo>
                <a:lnTo>
                  <a:pt x="105918" y="190500"/>
                </a:lnTo>
                <a:lnTo>
                  <a:pt x="120650" y="175767"/>
                </a:lnTo>
                <a:lnTo>
                  <a:pt x="57277" y="175767"/>
                </a:lnTo>
                <a:lnTo>
                  <a:pt x="48260" y="172847"/>
                </a:lnTo>
                <a:lnTo>
                  <a:pt x="42291" y="169925"/>
                </a:lnTo>
                <a:lnTo>
                  <a:pt x="27431" y="155066"/>
                </a:lnTo>
                <a:lnTo>
                  <a:pt x="27431" y="143001"/>
                </a:lnTo>
                <a:close/>
              </a:path>
              <a:path w="135762" h="199389">
                <a:moveTo>
                  <a:pt x="121920" y="89026"/>
                </a:moveTo>
                <a:lnTo>
                  <a:pt x="75437" y="89026"/>
                </a:lnTo>
                <a:lnTo>
                  <a:pt x="81406" y="91948"/>
                </a:lnTo>
                <a:lnTo>
                  <a:pt x="90424" y="94869"/>
                </a:lnTo>
                <a:lnTo>
                  <a:pt x="102362" y="106807"/>
                </a:lnTo>
                <a:lnTo>
                  <a:pt x="105282" y="115824"/>
                </a:lnTo>
                <a:lnTo>
                  <a:pt x="108204" y="118745"/>
                </a:lnTo>
                <a:lnTo>
                  <a:pt x="108204" y="143001"/>
                </a:lnTo>
                <a:lnTo>
                  <a:pt x="105282" y="148971"/>
                </a:lnTo>
                <a:lnTo>
                  <a:pt x="102362" y="157987"/>
                </a:lnTo>
                <a:lnTo>
                  <a:pt x="90424" y="169925"/>
                </a:lnTo>
                <a:lnTo>
                  <a:pt x="84455" y="172847"/>
                </a:lnTo>
                <a:lnTo>
                  <a:pt x="75437" y="175767"/>
                </a:lnTo>
                <a:lnTo>
                  <a:pt x="120650" y="175767"/>
                </a:lnTo>
                <a:lnTo>
                  <a:pt x="123952" y="172465"/>
                </a:lnTo>
                <a:lnTo>
                  <a:pt x="129793" y="160527"/>
                </a:lnTo>
                <a:lnTo>
                  <a:pt x="135762" y="148462"/>
                </a:lnTo>
                <a:lnTo>
                  <a:pt x="135762" y="118110"/>
                </a:lnTo>
                <a:lnTo>
                  <a:pt x="132842" y="106045"/>
                </a:lnTo>
                <a:lnTo>
                  <a:pt x="126873" y="93979"/>
                </a:lnTo>
                <a:lnTo>
                  <a:pt x="121920" y="89026"/>
                </a:lnTo>
                <a:close/>
              </a:path>
              <a:path w="135762" h="199389">
                <a:moveTo>
                  <a:pt x="635" y="142621"/>
                </a:moveTo>
                <a:lnTo>
                  <a:pt x="0" y="143001"/>
                </a:lnTo>
                <a:lnTo>
                  <a:pt x="635" y="143001"/>
                </a:lnTo>
                <a:lnTo>
                  <a:pt x="635" y="142621"/>
                </a:lnTo>
                <a:close/>
              </a:path>
              <a:path w="135762" h="199389">
                <a:moveTo>
                  <a:pt x="128016" y="0"/>
                </a:moveTo>
                <a:lnTo>
                  <a:pt x="21336" y="0"/>
                </a:lnTo>
                <a:lnTo>
                  <a:pt x="6223" y="106679"/>
                </a:lnTo>
                <a:lnTo>
                  <a:pt x="27431" y="106679"/>
                </a:lnTo>
                <a:lnTo>
                  <a:pt x="36322" y="97789"/>
                </a:lnTo>
                <a:lnTo>
                  <a:pt x="48260" y="91948"/>
                </a:lnTo>
                <a:lnTo>
                  <a:pt x="57277" y="89026"/>
                </a:lnTo>
                <a:lnTo>
                  <a:pt x="121920" y="89026"/>
                </a:lnTo>
                <a:lnTo>
                  <a:pt x="117856" y="84962"/>
                </a:lnTo>
                <a:lnTo>
                  <a:pt x="114997" y="79121"/>
                </a:lnTo>
                <a:lnTo>
                  <a:pt x="33781" y="79121"/>
                </a:lnTo>
                <a:lnTo>
                  <a:pt x="39750" y="24257"/>
                </a:lnTo>
                <a:lnTo>
                  <a:pt x="128016" y="24257"/>
                </a:lnTo>
                <a:lnTo>
                  <a:pt x="128016" y="0"/>
                </a:lnTo>
                <a:close/>
              </a:path>
              <a:path w="135762" h="199389">
                <a:moveTo>
                  <a:pt x="84962" y="67310"/>
                </a:moveTo>
                <a:lnTo>
                  <a:pt x="60706" y="67310"/>
                </a:lnTo>
                <a:lnTo>
                  <a:pt x="48641" y="70230"/>
                </a:lnTo>
                <a:lnTo>
                  <a:pt x="42672" y="70230"/>
                </a:lnTo>
                <a:lnTo>
                  <a:pt x="33781" y="79121"/>
                </a:lnTo>
                <a:lnTo>
                  <a:pt x="114997" y="79121"/>
                </a:lnTo>
                <a:lnTo>
                  <a:pt x="97028" y="70230"/>
                </a:lnTo>
                <a:lnTo>
                  <a:pt x="84962" y="6731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3" name="bk object 34"/>
          <p:cNvSpPr/>
          <p:nvPr/>
        </p:nvSpPr>
        <p:spPr>
          <a:xfrm>
            <a:off x="2109600" y="2711520"/>
            <a:ext cx="134280" cy="204480"/>
          </a:xfrm>
          <a:custGeom>
            <a:avLst/>
            <a:gdLst>
              <a:gd name="textAreaLeft" fmla="*/ 0 w 134280"/>
              <a:gd name="textAreaRight" fmla="*/ 135000 w 134280"/>
              <a:gd name="textAreaTop" fmla="*/ 0 h 204480"/>
              <a:gd name="textAreaBottom" fmla="*/ 205200 h 204480"/>
            </a:gdLst>
            <a:ahLst/>
            <a:cxnLst/>
            <a:rect l="textAreaLeft" t="textAreaTop" r="textAreaRight" b="textAreaBottom"/>
            <a:pathLst>
              <a:path w="135000" h="205104">
                <a:moveTo>
                  <a:pt x="84200" y="202184"/>
                </a:moveTo>
                <a:lnTo>
                  <a:pt x="53975" y="202184"/>
                </a:lnTo>
                <a:lnTo>
                  <a:pt x="69087" y="205104"/>
                </a:lnTo>
                <a:lnTo>
                  <a:pt x="84200" y="202184"/>
                </a:lnTo>
                <a:close/>
              </a:path>
              <a:path w="135000" h="205104">
                <a:moveTo>
                  <a:pt x="72008" y="0"/>
                </a:moveTo>
                <a:lnTo>
                  <a:pt x="56895" y="2920"/>
                </a:lnTo>
                <a:lnTo>
                  <a:pt x="44831" y="5841"/>
                </a:lnTo>
                <a:lnTo>
                  <a:pt x="38862" y="8762"/>
                </a:lnTo>
                <a:lnTo>
                  <a:pt x="32893" y="14731"/>
                </a:lnTo>
                <a:lnTo>
                  <a:pt x="20827" y="23749"/>
                </a:lnTo>
                <a:lnTo>
                  <a:pt x="17906" y="29717"/>
                </a:lnTo>
                <a:lnTo>
                  <a:pt x="11937" y="38735"/>
                </a:lnTo>
                <a:lnTo>
                  <a:pt x="0" y="81152"/>
                </a:lnTo>
                <a:lnTo>
                  <a:pt x="0" y="141986"/>
                </a:lnTo>
                <a:lnTo>
                  <a:pt x="2920" y="151002"/>
                </a:lnTo>
                <a:lnTo>
                  <a:pt x="11937" y="172212"/>
                </a:lnTo>
                <a:lnTo>
                  <a:pt x="20955" y="184276"/>
                </a:lnTo>
                <a:lnTo>
                  <a:pt x="29971" y="193293"/>
                </a:lnTo>
                <a:lnTo>
                  <a:pt x="45085" y="199262"/>
                </a:lnTo>
                <a:lnTo>
                  <a:pt x="48006" y="202184"/>
                </a:lnTo>
                <a:lnTo>
                  <a:pt x="90169" y="202184"/>
                </a:lnTo>
                <a:lnTo>
                  <a:pt x="96138" y="199262"/>
                </a:lnTo>
                <a:lnTo>
                  <a:pt x="102107" y="199262"/>
                </a:lnTo>
                <a:lnTo>
                  <a:pt x="108076" y="196341"/>
                </a:lnTo>
                <a:lnTo>
                  <a:pt x="117093" y="187325"/>
                </a:lnTo>
                <a:lnTo>
                  <a:pt x="121460" y="181482"/>
                </a:lnTo>
                <a:lnTo>
                  <a:pt x="53212" y="181482"/>
                </a:lnTo>
                <a:lnTo>
                  <a:pt x="50292" y="178562"/>
                </a:lnTo>
                <a:lnTo>
                  <a:pt x="44323" y="175640"/>
                </a:lnTo>
                <a:lnTo>
                  <a:pt x="32512" y="163829"/>
                </a:lnTo>
                <a:lnTo>
                  <a:pt x="32512" y="160909"/>
                </a:lnTo>
                <a:lnTo>
                  <a:pt x="29591" y="154939"/>
                </a:lnTo>
                <a:lnTo>
                  <a:pt x="38354" y="109727"/>
                </a:lnTo>
                <a:lnTo>
                  <a:pt x="62356" y="97916"/>
                </a:lnTo>
                <a:lnTo>
                  <a:pt x="122916" y="97916"/>
                </a:lnTo>
                <a:lnTo>
                  <a:pt x="121991" y="96519"/>
                </a:lnTo>
                <a:lnTo>
                  <a:pt x="26924" y="96519"/>
                </a:lnTo>
                <a:lnTo>
                  <a:pt x="26924" y="78359"/>
                </a:lnTo>
                <a:lnTo>
                  <a:pt x="29844" y="66293"/>
                </a:lnTo>
                <a:lnTo>
                  <a:pt x="32766" y="57276"/>
                </a:lnTo>
                <a:lnTo>
                  <a:pt x="38735" y="45212"/>
                </a:lnTo>
                <a:lnTo>
                  <a:pt x="41656" y="39242"/>
                </a:lnTo>
                <a:lnTo>
                  <a:pt x="50545" y="30352"/>
                </a:lnTo>
                <a:lnTo>
                  <a:pt x="62483" y="24511"/>
                </a:lnTo>
                <a:lnTo>
                  <a:pt x="124681" y="24511"/>
                </a:lnTo>
                <a:lnTo>
                  <a:pt x="120142" y="17652"/>
                </a:lnTo>
                <a:lnTo>
                  <a:pt x="114300" y="11811"/>
                </a:lnTo>
                <a:lnTo>
                  <a:pt x="102235" y="5841"/>
                </a:lnTo>
                <a:lnTo>
                  <a:pt x="72008" y="0"/>
                </a:lnTo>
                <a:close/>
              </a:path>
              <a:path w="135000" h="205104">
                <a:moveTo>
                  <a:pt x="122916" y="97916"/>
                </a:moveTo>
                <a:lnTo>
                  <a:pt x="77469" y="97916"/>
                </a:lnTo>
                <a:lnTo>
                  <a:pt x="86487" y="100837"/>
                </a:lnTo>
                <a:lnTo>
                  <a:pt x="92456" y="103759"/>
                </a:lnTo>
                <a:lnTo>
                  <a:pt x="98298" y="109600"/>
                </a:lnTo>
                <a:lnTo>
                  <a:pt x="101218" y="115569"/>
                </a:lnTo>
                <a:lnTo>
                  <a:pt x="104139" y="124587"/>
                </a:lnTo>
                <a:lnTo>
                  <a:pt x="107061" y="130555"/>
                </a:lnTo>
                <a:lnTo>
                  <a:pt x="107061" y="139573"/>
                </a:lnTo>
                <a:lnTo>
                  <a:pt x="107314" y="139700"/>
                </a:lnTo>
                <a:lnTo>
                  <a:pt x="107314" y="148716"/>
                </a:lnTo>
                <a:lnTo>
                  <a:pt x="104393" y="154686"/>
                </a:lnTo>
                <a:lnTo>
                  <a:pt x="101473" y="163702"/>
                </a:lnTo>
                <a:lnTo>
                  <a:pt x="98551" y="169672"/>
                </a:lnTo>
                <a:lnTo>
                  <a:pt x="92582" y="175640"/>
                </a:lnTo>
                <a:lnTo>
                  <a:pt x="80644" y="181482"/>
                </a:lnTo>
                <a:lnTo>
                  <a:pt x="121460" y="181482"/>
                </a:lnTo>
                <a:lnTo>
                  <a:pt x="126111" y="175260"/>
                </a:lnTo>
                <a:lnTo>
                  <a:pt x="132080" y="163194"/>
                </a:lnTo>
                <a:lnTo>
                  <a:pt x="132080" y="157225"/>
                </a:lnTo>
                <a:lnTo>
                  <a:pt x="135000" y="154304"/>
                </a:lnTo>
                <a:lnTo>
                  <a:pt x="135000" y="126873"/>
                </a:lnTo>
                <a:lnTo>
                  <a:pt x="132080" y="114807"/>
                </a:lnTo>
                <a:lnTo>
                  <a:pt x="126111" y="102742"/>
                </a:lnTo>
                <a:lnTo>
                  <a:pt x="122916" y="97916"/>
                </a:lnTo>
                <a:close/>
              </a:path>
              <a:path w="135000" h="205104">
                <a:moveTo>
                  <a:pt x="68833" y="72898"/>
                </a:moveTo>
                <a:lnTo>
                  <a:pt x="59817" y="75818"/>
                </a:lnTo>
                <a:lnTo>
                  <a:pt x="47751" y="78739"/>
                </a:lnTo>
                <a:lnTo>
                  <a:pt x="38735" y="81661"/>
                </a:lnTo>
                <a:lnTo>
                  <a:pt x="29844" y="90550"/>
                </a:lnTo>
                <a:lnTo>
                  <a:pt x="26924" y="96519"/>
                </a:lnTo>
                <a:lnTo>
                  <a:pt x="121991" y="96519"/>
                </a:lnTo>
                <a:lnTo>
                  <a:pt x="120142" y="93725"/>
                </a:lnTo>
                <a:lnTo>
                  <a:pt x="108076" y="84709"/>
                </a:lnTo>
                <a:lnTo>
                  <a:pt x="96012" y="78739"/>
                </a:lnTo>
                <a:lnTo>
                  <a:pt x="83946" y="75818"/>
                </a:lnTo>
                <a:lnTo>
                  <a:pt x="68833" y="72898"/>
                </a:lnTo>
                <a:close/>
              </a:path>
              <a:path w="135000" h="205104">
                <a:moveTo>
                  <a:pt x="124681" y="24511"/>
                </a:moveTo>
                <a:lnTo>
                  <a:pt x="80644" y="24511"/>
                </a:lnTo>
                <a:lnTo>
                  <a:pt x="86613" y="27431"/>
                </a:lnTo>
                <a:lnTo>
                  <a:pt x="95631" y="30352"/>
                </a:lnTo>
                <a:lnTo>
                  <a:pt x="98551" y="33274"/>
                </a:lnTo>
                <a:lnTo>
                  <a:pt x="101473" y="33274"/>
                </a:lnTo>
                <a:lnTo>
                  <a:pt x="107314" y="45212"/>
                </a:lnTo>
                <a:lnTo>
                  <a:pt x="107314" y="54228"/>
                </a:lnTo>
                <a:lnTo>
                  <a:pt x="134746" y="54228"/>
                </a:lnTo>
                <a:lnTo>
                  <a:pt x="134874" y="53593"/>
                </a:lnTo>
                <a:lnTo>
                  <a:pt x="134874" y="47625"/>
                </a:lnTo>
                <a:lnTo>
                  <a:pt x="129031" y="35687"/>
                </a:lnTo>
                <a:lnTo>
                  <a:pt x="126111" y="26669"/>
                </a:lnTo>
                <a:lnTo>
                  <a:pt x="124681" y="2451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4" name="bk object 35"/>
          <p:cNvSpPr/>
          <p:nvPr/>
        </p:nvSpPr>
        <p:spPr>
          <a:xfrm>
            <a:off x="2106000" y="2179080"/>
            <a:ext cx="28080" cy="192960"/>
          </a:xfrm>
          <a:custGeom>
            <a:avLst/>
            <a:gdLst>
              <a:gd name="textAreaLeft" fmla="*/ 0 w 28080"/>
              <a:gd name="textAreaRight" fmla="*/ 28800 w 28080"/>
              <a:gd name="textAreaTop" fmla="*/ 0 h 192960"/>
              <a:gd name="textAreaBottom" fmla="*/ 193680 h 192960"/>
            </a:gdLst>
            <a:ahLst/>
            <a:cxnLst/>
            <a:rect l="textAreaLeft" t="textAreaTop" r="textAreaRight" b="textAreaBottom"/>
            <a:pathLst>
              <a:path w="28722" h="193675">
                <a:moveTo>
                  <a:pt x="28722" y="193548"/>
                </a:moveTo>
              </a:path>
              <a:path w="28722" h="193675">
                <a:moveTo>
                  <a:pt x="137032" y="0"/>
                </a:moveTo>
                <a:lnTo>
                  <a:pt x="0" y="0"/>
                </a:lnTo>
                <a:lnTo>
                  <a:pt x="0" y="24256"/>
                </a:lnTo>
                <a:lnTo>
                  <a:pt x="109727" y="24256"/>
                </a:lnTo>
                <a:lnTo>
                  <a:pt x="97662" y="39370"/>
                </a:lnTo>
                <a:lnTo>
                  <a:pt x="91693" y="45338"/>
                </a:lnTo>
                <a:lnTo>
                  <a:pt x="79628" y="63500"/>
                </a:lnTo>
                <a:lnTo>
                  <a:pt x="67563" y="78612"/>
                </a:lnTo>
                <a:lnTo>
                  <a:pt x="55499" y="102870"/>
                </a:lnTo>
                <a:lnTo>
                  <a:pt x="46481" y="124078"/>
                </a:lnTo>
                <a:lnTo>
                  <a:pt x="40512" y="145287"/>
                </a:lnTo>
                <a:lnTo>
                  <a:pt x="34543" y="169545"/>
                </a:lnTo>
                <a:lnTo>
                  <a:pt x="31622" y="175513"/>
                </a:lnTo>
                <a:lnTo>
                  <a:pt x="28722" y="193548"/>
                </a:lnTo>
                <a:lnTo>
                  <a:pt x="59054" y="193548"/>
                </a:lnTo>
                <a:lnTo>
                  <a:pt x="61975" y="172338"/>
                </a:lnTo>
                <a:lnTo>
                  <a:pt x="61975" y="163322"/>
                </a:lnTo>
                <a:lnTo>
                  <a:pt x="67944" y="142112"/>
                </a:lnTo>
                <a:lnTo>
                  <a:pt x="70865" y="133096"/>
                </a:lnTo>
                <a:lnTo>
                  <a:pt x="73787" y="121030"/>
                </a:lnTo>
                <a:lnTo>
                  <a:pt x="82803" y="102870"/>
                </a:lnTo>
                <a:lnTo>
                  <a:pt x="94868" y="81661"/>
                </a:lnTo>
                <a:lnTo>
                  <a:pt x="103885" y="63500"/>
                </a:lnTo>
                <a:lnTo>
                  <a:pt x="115950" y="48387"/>
                </a:lnTo>
                <a:lnTo>
                  <a:pt x="121919" y="39370"/>
                </a:lnTo>
                <a:lnTo>
                  <a:pt x="137032" y="24256"/>
                </a:lnTo>
                <a:lnTo>
                  <a:pt x="13703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5" name="bk object 36"/>
          <p:cNvSpPr/>
          <p:nvPr/>
        </p:nvSpPr>
        <p:spPr>
          <a:xfrm>
            <a:off x="2107800" y="1636560"/>
            <a:ext cx="134640" cy="200160"/>
          </a:xfrm>
          <a:custGeom>
            <a:avLst/>
            <a:gdLst>
              <a:gd name="textAreaLeft" fmla="*/ 0 w 134640"/>
              <a:gd name="textAreaRight" fmla="*/ 135360 w 134640"/>
              <a:gd name="textAreaTop" fmla="*/ 0 h 200160"/>
              <a:gd name="textAreaBottom" fmla="*/ 200880 h 200160"/>
            </a:gdLst>
            <a:ahLst/>
            <a:cxnLst/>
            <a:rect l="textAreaLeft" t="textAreaTop" r="textAreaRight" b="textAreaBottom"/>
            <a:pathLst>
              <a:path w="135509" h="200913">
                <a:moveTo>
                  <a:pt x="32584" y="89815"/>
                </a:moveTo>
                <a:lnTo>
                  <a:pt x="26670" y="92709"/>
                </a:lnTo>
                <a:lnTo>
                  <a:pt x="23749" y="92709"/>
                </a:lnTo>
                <a:lnTo>
                  <a:pt x="17780" y="98678"/>
                </a:lnTo>
                <a:lnTo>
                  <a:pt x="11811" y="101600"/>
                </a:lnTo>
                <a:lnTo>
                  <a:pt x="5842" y="110616"/>
                </a:lnTo>
                <a:lnTo>
                  <a:pt x="0" y="128650"/>
                </a:lnTo>
                <a:lnTo>
                  <a:pt x="0" y="152907"/>
                </a:lnTo>
                <a:lnTo>
                  <a:pt x="2921" y="164972"/>
                </a:lnTo>
                <a:lnTo>
                  <a:pt x="11938" y="177037"/>
                </a:lnTo>
                <a:lnTo>
                  <a:pt x="29972" y="195071"/>
                </a:lnTo>
                <a:lnTo>
                  <a:pt x="54102" y="200913"/>
                </a:lnTo>
                <a:lnTo>
                  <a:pt x="81534" y="200913"/>
                </a:lnTo>
                <a:lnTo>
                  <a:pt x="90551" y="197992"/>
                </a:lnTo>
                <a:lnTo>
                  <a:pt x="105664" y="195071"/>
                </a:lnTo>
                <a:lnTo>
                  <a:pt x="123444" y="177291"/>
                </a:lnTo>
                <a:lnTo>
                  <a:pt x="53213" y="177291"/>
                </a:lnTo>
                <a:lnTo>
                  <a:pt x="47244" y="174370"/>
                </a:lnTo>
                <a:lnTo>
                  <a:pt x="44323" y="174370"/>
                </a:lnTo>
                <a:lnTo>
                  <a:pt x="32385" y="162432"/>
                </a:lnTo>
                <a:lnTo>
                  <a:pt x="29464" y="156463"/>
                </a:lnTo>
                <a:lnTo>
                  <a:pt x="26543" y="147446"/>
                </a:lnTo>
                <a:lnTo>
                  <a:pt x="26543" y="138429"/>
                </a:lnTo>
                <a:lnTo>
                  <a:pt x="26797" y="138429"/>
                </a:lnTo>
                <a:lnTo>
                  <a:pt x="26859" y="129412"/>
                </a:lnTo>
                <a:lnTo>
                  <a:pt x="32639" y="117601"/>
                </a:lnTo>
                <a:lnTo>
                  <a:pt x="38608" y="111632"/>
                </a:lnTo>
                <a:lnTo>
                  <a:pt x="44577" y="108712"/>
                </a:lnTo>
                <a:lnTo>
                  <a:pt x="53594" y="105790"/>
                </a:lnTo>
                <a:lnTo>
                  <a:pt x="59563" y="102869"/>
                </a:lnTo>
                <a:lnTo>
                  <a:pt x="121406" y="102869"/>
                </a:lnTo>
                <a:lnTo>
                  <a:pt x="120650" y="101726"/>
                </a:lnTo>
                <a:lnTo>
                  <a:pt x="114681" y="98805"/>
                </a:lnTo>
                <a:lnTo>
                  <a:pt x="108712" y="92837"/>
                </a:lnTo>
                <a:lnTo>
                  <a:pt x="102743" y="89915"/>
                </a:lnTo>
                <a:lnTo>
                  <a:pt x="32893" y="89915"/>
                </a:lnTo>
                <a:lnTo>
                  <a:pt x="32584" y="89815"/>
                </a:lnTo>
                <a:close/>
              </a:path>
              <a:path w="135509" h="200913">
                <a:moveTo>
                  <a:pt x="121406" y="102869"/>
                </a:moveTo>
                <a:lnTo>
                  <a:pt x="74676" y="102869"/>
                </a:lnTo>
                <a:lnTo>
                  <a:pt x="92583" y="111632"/>
                </a:lnTo>
                <a:lnTo>
                  <a:pt x="101473" y="120522"/>
                </a:lnTo>
                <a:lnTo>
                  <a:pt x="101473" y="123443"/>
                </a:lnTo>
                <a:lnTo>
                  <a:pt x="104394" y="129412"/>
                </a:lnTo>
                <a:lnTo>
                  <a:pt x="107315" y="138429"/>
                </a:lnTo>
                <a:lnTo>
                  <a:pt x="104394" y="147446"/>
                </a:lnTo>
                <a:lnTo>
                  <a:pt x="104394" y="156463"/>
                </a:lnTo>
                <a:lnTo>
                  <a:pt x="98425" y="162432"/>
                </a:lnTo>
                <a:lnTo>
                  <a:pt x="95504" y="168401"/>
                </a:lnTo>
                <a:lnTo>
                  <a:pt x="89535" y="174370"/>
                </a:lnTo>
                <a:lnTo>
                  <a:pt x="83566" y="174370"/>
                </a:lnTo>
                <a:lnTo>
                  <a:pt x="80645" y="177291"/>
                </a:lnTo>
                <a:lnTo>
                  <a:pt x="123444" y="177291"/>
                </a:lnTo>
                <a:lnTo>
                  <a:pt x="123698" y="177037"/>
                </a:lnTo>
                <a:lnTo>
                  <a:pt x="129667" y="164972"/>
                </a:lnTo>
                <a:lnTo>
                  <a:pt x="135509" y="140842"/>
                </a:lnTo>
                <a:lnTo>
                  <a:pt x="132588" y="128777"/>
                </a:lnTo>
                <a:lnTo>
                  <a:pt x="132588" y="119760"/>
                </a:lnTo>
                <a:lnTo>
                  <a:pt x="121406" y="102869"/>
                </a:lnTo>
                <a:close/>
              </a:path>
              <a:path w="135509" h="200913">
                <a:moveTo>
                  <a:pt x="26797" y="138429"/>
                </a:moveTo>
                <a:lnTo>
                  <a:pt x="26543" y="138429"/>
                </a:lnTo>
                <a:lnTo>
                  <a:pt x="26797" y="138556"/>
                </a:lnTo>
                <a:close/>
              </a:path>
              <a:path w="135509" h="200913">
                <a:moveTo>
                  <a:pt x="103002" y="89788"/>
                </a:moveTo>
                <a:lnTo>
                  <a:pt x="32639" y="89788"/>
                </a:lnTo>
                <a:lnTo>
                  <a:pt x="32893" y="89915"/>
                </a:lnTo>
                <a:lnTo>
                  <a:pt x="102743" y="89915"/>
                </a:lnTo>
                <a:lnTo>
                  <a:pt x="103002" y="89788"/>
                </a:lnTo>
                <a:close/>
              </a:path>
              <a:path w="135509" h="200913">
                <a:moveTo>
                  <a:pt x="87503" y="0"/>
                </a:moveTo>
                <a:lnTo>
                  <a:pt x="44958" y="0"/>
                </a:lnTo>
                <a:lnTo>
                  <a:pt x="32893" y="5968"/>
                </a:lnTo>
                <a:lnTo>
                  <a:pt x="23876" y="11937"/>
                </a:lnTo>
                <a:lnTo>
                  <a:pt x="17907" y="17906"/>
                </a:lnTo>
                <a:lnTo>
                  <a:pt x="11938" y="26923"/>
                </a:lnTo>
                <a:lnTo>
                  <a:pt x="6096" y="38862"/>
                </a:lnTo>
                <a:lnTo>
                  <a:pt x="6096" y="60070"/>
                </a:lnTo>
                <a:lnTo>
                  <a:pt x="9017" y="69087"/>
                </a:lnTo>
                <a:lnTo>
                  <a:pt x="14986" y="78104"/>
                </a:lnTo>
                <a:lnTo>
                  <a:pt x="23876" y="86994"/>
                </a:lnTo>
                <a:lnTo>
                  <a:pt x="32584" y="89815"/>
                </a:lnTo>
                <a:lnTo>
                  <a:pt x="103002" y="89788"/>
                </a:lnTo>
                <a:lnTo>
                  <a:pt x="114681" y="84073"/>
                </a:lnTo>
                <a:lnTo>
                  <a:pt x="115823" y="82930"/>
                </a:lnTo>
                <a:lnTo>
                  <a:pt x="65659" y="82930"/>
                </a:lnTo>
                <a:lnTo>
                  <a:pt x="59690" y="80009"/>
                </a:lnTo>
                <a:lnTo>
                  <a:pt x="53721" y="80009"/>
                </a:lnTo>
                <a:lnTo>
                  <a:pt x="41783" y="74167"/>
                </a:lnTo>
                <a:lnTo>
                  <a:pt x="38862" y="71246"/>
                </a:lnTo>
                <a:lnTo>
                  <a:pt x="33020" y="59308"/>
                </a:lnTo>
                <a:lnTo>
                  <a:pt x="33020" y="50291"/>
                </a:lnTo>
                <a:lnTo>
                  <a:pt x="32893" y="50291"/>
                </a:lnTo>
                <a:lnTo>
                  <a:pt x="32893" y="44322"/>
                </a:lnTo>
                <a:lnTo>
                  <a:pt x="41656" y="26415"/>
                </a:lnTo>
                <a:lnTo>
                  <a:pt x="47625" y="23494"/>
                </a:lnTo>
                <a:lnTo>
                  <a:pt x="53594" y="23494"/>
                </a:lnTo>
                <a:lnTo>
                  <a:pt x="56515" y="20573"/>
                </a:lnTo>
                <a:lnTo>
                  <a:pt x="119367" y="20573"/>
                </a:lnTo>
                <a:lnTo>
                  <a:pt x="117602" y="17906"/>
                </a:lnTo>
                <a:lnTo>
                  <a:pt x="99568" y="5968"/>
                </a:lnTo>
                <a:lnTo>
                  <a:pt x="87503" y="0"/>
                </a:lnTo>
                <a:close/>
              </a:path>
              <a:path w="135509" h="200913">
                <a:moveTo>
                  <a:pt x="119367" y="20573"/>
                </a:moveTo>
                <a:lnTo>
                  <a:pt x="74676" y="20573"/>
                </a:lnTo>
                <a:lnTo>
                  <a:pt x="77597" y="23494"/>
                </a:lnTo>
                <a:lnTo>
                  <a:pt x="83566" y="23494"/>
                </a:lnTo>
                <a:lnTo>
                  <a:pt x="89535" y="26415"/>
                </a:lnTo>
                <a:lnTo>
                  <a:pt x="95504" y="32384"/>
                </a:lnTo>
                <a:lnTo>
                  <a:pt x="98425" y="38353"/>
                </a:lnTo>
                <a:lnTo>
                  <a:pt x="98425" y="44322"/>
                </a:lnTo>
                <a:lnTo>
                  <a:pt x="101346" y="50291"/>
                </a:lnTo>
                <a:lnTo>
                  <a:pt x="98425" y="59308"/>
                </a:lnTo>
                <a:lnTo>
                  <a:pt x="98425" y="65277"/>
                </a:lnTo>
                <a:lnTo>
                  <a:pt x="95504" y="71246"/>
                </a:lnTo>
                <a:lnTo>
                  <a:pt x="77597" y="80009"/>
                </a:lnTo>
                <a:lnTo>
                  <a:pt x="71628" y="80009"/>
                </a:lnTo>
                <a:lnTo>
                  <a:pt x="65659" y="82930"/>
                </a:lnTo>
                <a:lnTo>
                  <a:pt x="115823" y="82930"/>
                </a:lnTo>
                <a:lnTo>
                  <a:pt x="120650" y="78104"/>
                </a:lnTo>
                <a:lnTo>
                  <a:pt x="126492" y="60070"/>
                </a:lnTo>
                <a:lnTo>
                  <a:pt x="129413" y="48005"/>
                </a:lnTo>
                <a:lnTo>
                  <a:pt x="126461" y="38862"/>
                </a:lnTo>
                <a:lnTo>
                  <a:pt x="123571" y="26923"/>
                </a:lnTo>
                <a:lnTo>
                  <a:pt x="119367" y="20573"/>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6" name="bk object 37"/>
          <p:cNvSpPr/>
          <p:nvPr/>
        </p:nvSpPr>
        <p:spPr>
          <a:xfrm>
            <a:off x="2104200" y="1094040"/>
            <a:ext cx="137160" cy="204480"/>
          </a:xfrm>
          <a:custGeom>
            <a:avLst/>
            <a:gdLst>
              <a:gd name="textAreaLeft" fmla="*/ 0 w 137160"/>
              <a:gd name="textAreaRight" fmla="*/ 137880 w 137160"/>
              <a:gd name="textAreaTop" fmla="*/ 0 h 204480"/>
              <a:gd name="textAreaBottom" fmla="*/ 205200 h 204480"/>
            </a:gdLst>
            <a:ahLst/>
            <a:cxnLst/>
            <a:rect l="textAreaLeft" t="textAreaTop" r="textAreaRight" b="textAreaBottom"/>
            <a:pathLst>
              <a:path w="137922" h="205104">
                <a:moveTo>
                  <a:pt x="27431" y="150749"/>
                </a:moveTo>
                <a:lnTo>
                  <a:pt x="3175" y="150749"/>
                </a:lnTo>
                <a:lnTo>
                  <a:pt x="2667" y="151129"/>
                </a:lnTo>
                <a:lnTo>
                  <a:pt x="2667" y="169290"/>
                </a:lnTo>
                <a:lnTo>
                  <a:pt x="8636" y="178307"/>
                </a:lnTo>
                <a:lnTo>
                  <a:pt x="23622" y="193293"/>
                </a:lnTo>
                <a:lnTo>
                  <a:pt x="47625" y="205104"/>
                </a:lnTo>
                <a:lnTo>
                  <a:pt x="62737" y="205104"/>
                </a:lnTo>
                <a:lnTo>
                  <a:pt x="105029" y="193293"/>
                </a:lnTo>
                <a:lnTo>
                  <a:pt x="114576" y="180339"/>
                </a:lnTo>
                <a:lnTo>
                  <a:pt x="54102" y="180339"/>
                </a:lnTo>
                <a:lnTo>
                  <a:pt x="36194" y="171576"/>
                </a:lnTo>
                <a:lnTo>
                  <a:pt x="30353" y="159638"/>
                </a:lnTo>
                <a:lnTo>
                  <a:pt x="30353" y="156717"/>
                </a:lnTo>
                <a:lnTo>
                  <a:pt x="27431" y="150749"/>
                </a:lnTo>
                <a:close/>
              </a:path>
              <a:path w="137922" h="205104">
                <a:moveTo>
                  <a:pt x="136650" y="111378"/>
                </a:moveTo>
                <a:lnTo>
                  <a:pt x="110871" y="111378"/>
                </a:lnTo>
                <a:lnTo>
                  <a:pt x="107950" y="120395"/>
                </a:lnTo>
                <a:lnTo>
                  <a:pt x="107950" y="132460"/>
                </a:lnTo>
                <a:lnTo>
                  <a:pt x="105029" y="138429"/>
                </a:lnTo>
                <a:lnTo>
                  <a:pt x="87249" y="174498"/>
                </a:lnTo>
                <a:lnTo>
                  <a:pt x="78231" y="177418"/>
                </a:lnTo>
                <a:lnTo>
                  <a:pt x="72262" y="180339"/>
                </a:lnTo>
                <a:lnTo>
                  <a:pt x="114576" y="180339"/>
                </a:lnTo>
                <a:lnTo>
                  <a:pt x="123062" y="166115"/>
                </a:lnTo>
                <a:lnTo>
                  <a:pt x="132080" y="144906"/>
                </a:lnTo>
                <a:lnTo>
                  <a:pt x="135000" y="135889"/>
                </a:lnTo>
                <a:lnTo>
                  <a:pt x="135109" y="125856"/>
                </a:lnTo>
                <a:lnTo>
                  <a:pt x="136650" y="111378"/>
                </a:lnTo>
                <a:close/>
              </a:path>
              <a:path w="137922" h="205104">
                <a:moveTo>
                  <a:pt x="65912" y="0"/>
                </a:moveTo>
                <a:lnTo>
                  <a:pt x="41782" y="5841"/>
                </a:lnTo>
                <a:lnTo>
                  <a:pt x="17653" y="17779"/>
                </a:lnTo>
                <a:lnTo>
                  <a:pt x="11811" y="29717"/>
                </a:lnTo>
                <a:lnTo>
                  <a:pt x="5842" y="35686"/>
                </a:lnTo>
                <a:lnTo>
                  <a:pt x="5842" y="41655"/>
                </a:lnTo>
                <a:lnTo>
                  <a:pt x="123" y="65276"/>
                </a:lnTo>
                <a:lnTo>
                  <a:pt x="0" y="80899"/>
                </a:lnTo>
                <a:lnTo>
                  <a:pt x="20828" y="116966"/>
                </a:lnTo>
                <a:lnTo>
                  <a:pt x="53975" y="131825"/>
                </a:lnTo>
                <a:lnTo>
                  <a:pt x="72136" y="131825"/>
                </a:lnTo>
                <a:lnTo>
                  <a:pt x="78105" y="128904"/>
                </a:lnTo>
                <a:lnTo>
                  <a:pt x="96138" y="123062"/>
                </a:lnTo>
                <a:lnTo>
                  <a:pt x="104902" y="114300"/>
                </a:lnTo>
                <a:lnTo>
                  <a:pt x="110871" y="111378"/>
                </a:lnTo>
                <a:lnTo>
                  <a:pt x="136650" y="111378"/>
                </a:lnTo>
                <a:lnTo>
                  <a:pt x="137097" y="107187"/>
                </a:lnTo>
                <a:lnTo>
                  <a:pt x="57150" y="107187"/>
                </a:lnTo>
                <a:lnTo>
                  <a:pt x="54229" y="104266"/>
                </a:lnTo>
                <a:lnTo>
                  <a:pt x="51307" y="104266"/>
                </a:lnTo>
                <a:lnTo>
                  <a:pt x="42291" y="101345"/>
                </a:lnTo>
                <a:lnTo>
                  <a:pt x="39369" y="95376"/>
                </a:lnTo>
                <a:lnTo>
                  <a:pt x="33400" y="89407"/>
                </a:lnTo>
                <a:lnTo>
                  <a:pt x="30480" y="83438"/>
                </a:lnTo>
                <a:lnTo>
                  <a:pt x="27559" y="74421"/>
                </a:lnTo>
                <a:lnTo>
                  <a:pt x="27559" y="65404"/>
                </a:lnTo>
                <a:lnTo>
                  <a:pt x="27431" y="65276"/>
                </a:lnTo>
                <a:lnTo>
                  <a:pt x="27431" y="56260"/>
                </a:lnTo>
                <a:lnTo>
                  <a:pt x="33274" y="44323"/>
                </a:lnTo>
                <a:lnTo>
                  <a:pt x="33274" y="41401"/>
                </a:lnTo>
                <a:lnTo>
                  <a:pt x="39243" y="35432"/>
                </a:lnTo>
                <a:lnTo>
                  <a:pt x="42163" y="29463"/>
                </a:lnTo>
                <a:lnTo>
                  <a:pt x="51181" y="26542"/>
                </a:lnTo>
                <a:lnTo>
                  <a:pt x="57150" y="23621"/>
                </a:lnTo>
                <a:lnTo>
                  <a:pt x="118523" y="23621"/>
                </a:lnTo>
                <a:lnTo>
                  <a:pt x="117093" y="20700"/>
                </a:lnTo>
                <a:lnTo>
                  <a:pt x="105029" y="11683"/>
                </a:lnTo>
                <a:lnTo>
                  <a:pt x="93091" y="5841"/>
                </a:lnTo>
                <a:lnTo>
                  <a:pt x="81025" y="2920"/>
                </a:lnTo>
                <a:lnTo>
                  <a:pt x="65912" y="0"/>
                </a:lnTo>
                <a:close/>
              </a:path>
              <a:path w="137922" h="205104">
                <a:moveTo>
                  <a:pt x="118523" y="23621"/>
                </a:moveTo>
                <a:lnTo>
                  <a:pt x="78359" y="23621"/>
                </a:lnTo>
                <a:lnTo>
                  <a:pt x="84328" y="26542"/>
                </a:lnTo>
                <a:lnTo>
                  <a:pt x="93344" y="29463"/>
                </a:lnTo>
                <a:lnTo>
                  <a:pt x="99313" y="35432"/>
                </a:lnTo>
                <a:lnTo>
                  <a:pt x="102235" y="41401"/>
                </a:lnTo>
                <a:lnTo>
                  <a:pt x="105156" y="50418"/>
                </a:lnTo>
                <a:lnTo>
                  <a:pt x="108014" y="56260"/>
                </a:lnTo>
                <a:lnTo>
                  <a:pt x="107984" y="65785"/>
                </a:lnTo>
                <a:lnTo>
                  <a:pt x="105156" y="77469"/>
                </a:lnTo>
                <a:lnTo>
                  <a:pt x="105156" y="83438"/>
                </a:lnTo>
                <a:lnTo>
                  <a:pt x="102235" y="89407"/>
                </a:lnTo>
                <a:lnTo>
                  <a:pt x="90297" y="101345"/>
                </a:lnTo>
                <a:lnTo>
                  <a:pt x="81280" y="104266"/>
                </a:lnTo>
                <a:lnTo>
                  <a:pt x="75311" y="107187"/>
                </a:lnTo>
                <a:lnTo>
                  <a:pt x="137097" y="107187"/>
                </a:lnTo>
                <a:lnTo>
                  <a:pt x="137922" y="99440"/>
                </a:lnTo>
                <a:lnTo>
                  <a:pt x="137922" y="72008"/>
                </a:lnTo>
                <a:lnTo>
                  <a:pt x="131953" y="53848"/>
                </a:lnTo>
                <a:lnTo>
                  <a:pt x="125984" y="32638"/>
                </a:lnTo>
                <a:lnTo>
                  <a:pt x="120015" y="26669"/>
                </a:lnTo>
                <a:lnTo>
                  <a:pt x="118523" y="2362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 name="bk object 38"/>
          <p:cNvSpPr/>
          <p:nvPr/>
        </p:nvSpPr>
        <p:spPr>
          <a:xfrm>
            <a:off x="1991520" y="55440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1881" h="201040">
                <a:moveTo>
                  <a:pt x="71881" y="0"/>
                </a:moveTo>
                <a:lnTo>
                  <a:pt x="53721" y="0"/>
                </a:lnTo>
                <a:lnTo>
                  <a:pt x="50800" y="9016"/>
                </a:lnTo>
                <a:lnTo>
                  <a:pt x="47879" y="14985"/>
                </a:lnTo>
                <a:lnTo>
                  <a:pt x="44958" y="24002"/>
                </a:lnTo>
                <a:lnTo>
                  <a:pt x="42037" y="26923"/>
                </a:lnTo>
                <a:lnTo>
                  <a:pt x="24130" y="35686"/>
                </a:lnTo>
                <a:lnTo>
                  <a:pt x="15112" y="35686"/>
                </a:lnTo>
                <a:lnTo>
                  <a:pt x="0" y="38607"/>
                </a:lnTo>
                <a:lnTo>
                  <a:pt x="0" y="56768"/>
                </a:lnTo>
                <a:lnTo>
                  <a:pt x="45593" y="56768"/>
                </a:lnTo>
                <a:lnTo>
                  <a:pt x="45593" y="199897"/>
                </a:lnTo>
                <a:lnTo>
                  <a:pt x="44450" y="201040"/>
                </a:lnTo>
                <a:lnTo>
                  <a:pt x="71881" y="201040"/>
                </a:lnTo>
                <a:lnTo>
                  <a:pt x="718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8" name="bk object 39"/>
          <p:cNvSpPr/>
          <p:nvPr/>
        </p:nvSpPr>
        <p:spPr>
          <a:xfrm>
            <a:off x="2107080" y="553680"/>
            <a:ext cx="134640" cy="204840"/>
          </a:xfrm>
          <a:custGeom>
            <a:avLst/>
            <a:gdLst>
              <a:gd name="textAreaLeft" fmla="*/ 0 w 134640"/>
              <a:gd name="textAreaRight" fmla="*/ 135360 w 134640"/>
              <a:gd name="textAreaTop" fmla="*/ 0 h 204840"/>
              <a:gd name="textAreaBottom" fmla="*/ 205560 h 204840"/>
            </a:gdLst>
            <a:ahLst/>
            <a:cxnLst/>
            <a:rect l="textAreaLeft" t="textAreaTop" r="textAreaRight" b="textAreaBottom"/>
            <a:pathLst>
              <a:path w="135509" h="205611">
                <a:moveTo>
                  <a:pt x="81534" y="0"/>
                </a:moveTo>
                <a:lnTo>
                  <a:pt x="54102" y="0"/>
                </a:lnTo>
                <a:lnTo>
                  <a:pt x="29972" y="11938"/>
                </a:lnTo>
                <a:lnTo>
                  <a:pt x="17906" y="20954"/>
                </a:lnTo>
                <a:lnTo>
                  <a:pt x="11937" y="33020"/>
                </a:lnTo>
                <a:lnTo>
                  <a:pt x="2921" y="54228"/>
                </a:lnTo>
                <a:lnTo>
                  <a:pt x="0" y="75438"/>
                </a:lnTo>
                <a:lnTo>
                  <a:pt x="0" y="102870"/>
                </a:lnTo>
                <a:lnTo>
                  <a:pt x="254" y="102870"/>
                </a:lnTo>
                <a:lnTo>
                  <a:pt x="254" y="130301"/>
                </a:lnTo>
                <a:lnTo>
                  <a:pt x="3175" y="151511"/>
                </a:lnTo>
                <a:lnTo>
                  <a:pt x="12192" y="169672"/>
                </a:lnTo>
                <a:lnTo>
                  <a:pt x="18161" y="184785"/>
                </a:lnTo>
                <a:lnTo>
                  <a:pt x="30225" y="193801"/>
                </a:lnTo>
                <a:lnTo>
                  <a:pt x="42291" y="199771"/>
                </a:lnTo>
                <a:lnTo>
                  <a:pt x="66421" y="205611"/>
                </a:lnTo>
                <a:lnTo>
                  <a:pt x="81534" y="202692"/>
                </a:lnTo>
                <a:lnTo>
                  <a:pt x="93599" y="199771"/>
                </a:lnTo>
                <a:lnTo>
                  <a:pt x="105663" y="193801"/>
                </a:lnTo>
                <a:lnTo>
                  <a:pt x="114681" y="184785"/>
                </a:lnTo>
                <a:lnTo>
                  <a:pt x="116726" y="181355"/>
                </a:lnTo>
                <a:lnTo>
                  <a:pt x="57023" y="181355"/>
                </a:lnTo>
                <a:lnTo>
                  <a:pt x="51054" y="178435"/>
                </a:lnTo>
                <a:lnTo>
                  <a:pt x="39243" y="166624"/>
                </a:lnTo>
                <a:lnTo>
                  <a:pt x="33274" y="157606"/>
                </a:lnTo>
                <a:lnTo>
                  <a:pt x="30353" y="139446"/>
                </a:lnTo>
                <a:lnTo>
                  <a:pt x="27431" y="124333"/>
                </a:lnTo>
                <a:lnTo>
                  <a:pt x="27305" y="78611"/>
                </a:lnTo>
                <a:lnTo>
                  <a:pt x="30225" y="66548"/>
                </a:lnTo>
                <a:lnTo>
                  <a:pt x="33147" y="48387"/>
                </a:lnTo>
                <a:lnTo>
                  <a:pt x="39116" y="39370"/>
                </a:lnTo>
                <a:lnTo>
                  <a:pt x="50927" y="27559"/>
                </a:lnTo>
                <a:lnTo>
                  <a:pt x="56896" y="24638"/>
                </a:lnTo>
                <a:lnTo>
                  <a:pt x="117433" y="24638"/>
                </a:lnTo>
                <a:lnTo>
                  <a:pt x="114681" y="20954"/>
                </a:lnTo>
                <a:lnTo>
                  <a:pt x="105663" y="11938"/>
                </a:lnTo>
                <a:lnTo>
                  <a:pt x="81534" y="0"/>
                </a:lnTo>
                <a:close/>
              </a:path>
              <a:path w="135509" h="205611">
                <a:moveTo>
                  <a:pt x="117433" y="24638"/>
                </a:moveTo>
                <a:lnTo>
                  <a:pt x="75056" y="24638"/>
                </a:lnTo>
                <a:lnTo>
                  <a:pt x="84074" y="27559"/>
                </a:lnTo>
                <a:lnTo>
                  <a:pt x="96012" y="39497"/>
                </a:lnTo>
                <a:lnTo>
                  <a:pt x="101981" y="48514"/>
                </a:lnTo>
                <a:lnTo>
                  <a:pt x="104902" y="66675"/>
                </a:lnTo>
                <a:lnTo>
                  <a:pt x="107823" y="81788"/>
                </a:lnTo>
                <a:lnTo>
                  <a:pt x="107823" y="124333"/>
                </a:lnTo>
                <a:lnTo>
                  <a:pt x="104902" y="139446"/>
                </a:lnTo>
                <a:lnTo>
                  <a:pt x="101981" y="157606"/>
                </a:lnTo>
                <a:lnTo>
                  <a:pt x="96012" y="166624"/>
                </a:lnTo>
                <a:lnTo>
                  <a:pt x="84200" y="178435"/>
                </a:lnTo>
                <a:lnTo>
                  <a:pt x="75184" y="181355"/>
                </a:lnTo>
                <a:lnTo>
                  <a:pt x="116726" y="181355"/>
                </a:lnTo>
                <a:lnTo>
                  <a:pt x="123698" y="169672"/>
                </a:lnTo>
                <a:lnTo>
                  <a:pt x="129667" y="151511"/>
                </a:lnTo>
                <a:lnTo>
                  <a:pt x="132587" y="130301"/>
                </a:lnTo>
                <a:lnTo>
                  <a:pt x="135509" y="102870"/>
                </a:lnTo>
                <a:lnTo>
                  <a:pt x="132587" y="75438"/>
                </a:lnTo>
                <a:lnTo>
                  <a:pt x="129667" y="54228"/>
                </a:lnTo>
                <a:lnTo>
                  <a:pt x="123698" y="33020"/>
                </a:lnTo>
                <a:lnTo>
                  <a:pt x="117433" y="2463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9" name="bk object 40"/>
          <p:cNvSpPr/>
          <p:nvPr/>
        </p:nvSpPr>
        <p:spPr>
          <a:xfrm>
            <a:off x="2341800" y="6124680"/>
            <a:ext cx="6009840" cy="360"/>
          </a:xfrm>
          <a:custGeom>
            <a:avLst/>
            <a:gdLst>
              <a:gd name="textAreaLeft" fmla="*/ 0 w 6009840"/>
              <a:gd name="textAreaRight" fmla="*/ 6010560 w 6009840"/>
              <a:gd name="textAreaTop" fmla="*/ 0 h 360"/>
              <a:gd name="textAreaBottom" fmla="*/ 1440 h 360"/>
            </a:gdLst>
            <a:ahLst/>
            <a:cxnLst/>
            <a:rect l="textAreaLeft" t="textAreaTop" r="textAreaRight" b="textAreaBottom"/>
            <a:pathLst>
              <a:path w="6010529">
                <a:moveTo>
                  <a:pt x="6010529" y="0"/>
                </a:moveTo>
                <a:lnTo>
                  <a:pt x="0"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0" name="bk object 41"/>
          <p:cNvSpPr/>
          <p:nvPr/>
        </p:nvSpPr>
        <p:spPr>
          <a:xfrm>
            <a:off x="2387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1" name="bk object 42"/>
          <p:cNvSpPr/>
          <p:nvPr/>
        </p:nvSpPr>
        <p:spPr>
          <a:xfrm>
            <a:off x="29818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2" name="bk object 43"/>
          <p:cNvSpPr/>
          <p:nvPr/>
        </p:nvSpPr>
        <p:spPr>
          <a:xfrm>
            <a:off x="35733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3" name="bk object 44"/>
          <p:cNvSpPr/>
          <p:nvPr/>
        </p:nvSpPr>
        <p:spPr>
          <a:xfrm>
            <a:off x="41644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4" name="bk object 45"/>
          <p:cNvSpPr/>
          <p:nvPr/>
        </p:nvSpPr>
        <p:spPr>
          <a:xfrm>
            <a:off x="47559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5" name="bk object 46"/>
          <p:cNvSpPr/>
          <p:nvPr/>
        </p:nvSpPr>
        <p:spPr>
          <a:xfrm>
            <a:off x="53470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6" name="bk object 47"/>
          <p:cNvSpPr/>
          <p:nvPr/>
        </p:nvSpPr>
        <p:spPr>
          <a:xfrm>
            <a:off x="59385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 name="bk object 48"/>
          <p:cNvSpPr/>
          <p:nvPr/>
        </p:nvSpPr>
        <p:spPr>
          <a:xfrm>
            <a:off x="65329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 name="bk object 49"/>
          <p:cNvSpPr/>
          <p:nvPr/>
        </p:nvSpPr>
        <p:spPr>
          <a:xfrm>
            <a:off x="71240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9" name="bk object 50"/>
          <p:cNvSpPr/>
          <p:nvPr/>
        </p:nvSpPr>
        <p:spPr>
          <a:xfrm>
            <a:off x="7715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 name="bk object 51"/>
          <p:cNvSpPr/>
          <p:nvPr/>
        </p:nvSpPr>
        <p:spPr>
          <a:xfrm>
            <a:off x="83066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1" name="bk object 52"/>
          <p:cNvSpPr/>
          <p:nvPr/>
        </p:nvSpPr>
        <p:spPr>
          <a:xfrm>
            <a:off x="220428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599" y="2921"/>
                </a:moveTo>
                <a:lnTo>
                  <a:pt x="42291" y="2921"/>
                </a:lnTo>
                <a:lnTo>
                  <a:pt x="30226" y="11938"/>
                </a:lnTo>
                <a:lnTo>
                  <a:pt x="21209" y="20955"/>
                </a:lnTo>
                <a:lnTo>
                  <a:pt x="18287" y="26924"/>
                </a:lnTo>
                <a:lnTo>
                  <a:pt x="12318" y="32893"/>
                </a:lnTo>
                <a:lnTo>
                  <a:pt x="9398" y="41910"/>
                </a:lnTo>
                <a:lnTo>
                  <a:pt x="6477" y="53975"/>
                </a:lnTo>
                <a:lnTo>
                  <a:pt x="3542" y="75311"/>
                </a:lnTo>
                <a:lnTo>
                  <a:pt x="635" y="102616"/>
                </a:lnTo>
                <a:lnTo>
                  <a:pt x="0" y="102743"/>
                </a:lnTo>
                <a:lnTo>
                  <a:pt x="5842" y="148336"/>
                </a:lnTo>
                <a:lnTo>
                  <a:pt x="29845" y="193675"/>
                </a:lnTo>
                <a:lnTo>
                  <a:pt x="53975" y="202565"/>
                </a:lnTo>
                <a:lnTo>
                  <a:pt x="81406" y="202565"/>
                </a:lnTo>
                <a:lnTo>
                  <a:pt x="93472" y="199644"/>
                </a:lnTo>
                <a:lnTo>
                  <a:pt x="105537" y="193675"/>
                </a:lnTo>
                <a:lnTo>
                  <a:pt x="117602" y="181610"/>
                </a:lnTo>
                <a:lnTo>
                  <a:pt x="69850" y="181483"/>
                </a:lnTo>
                <a:lnTo>
                  <a:pt x="60833" y="178562"/>
                </a:lnTo>
                <a:lnTo>
                  <a:pt x="54864" y="178562"/>
                </a:lnTo>
                <a:lnTo>
                  <a:pt x="45847" y="172593"/>
                </a:lnTo>
                <a:lnTo>
                  <a:pt x="39878" y="166624"/>
                </a:lnTo>
                <a:lnTo>
                  <a:pt x="36956" y="154559"/>
                </a:lnTo>
                <a:lnTo>
                  <a:pt x="30987" y="139446"/>
                </a:lnTo>
                <a:lnTo>
                  <a:pt x="30987" y="124333"/>
                </a:lnTo>
                <a:lnTo>
                  <a:pt x="28067" y="103124"/>
                </a:lnTo>
                <a:lnTo>
                  <a:pt x="27940" y="102616"/>
                </a:lnTo>
                <a:lnTo>
                  <a:pt x="30861" y="78359"/>
                </a:lnTo>
                <a:lnTo>
                  <a:pt x="30861" y="63246"/>
                </a:lnTo>
                <a:lnTo>
                  <a:pt x="36830" y="48133"/>
                </a:lnTo>
                <a:lnTo>
                  <a:pt x="39751" y="39116"/>
                </a:lnTo>
                <a:lnTo>
                  <a:pt x="45720" y="30099"/>
                </a:lnTo>
                <a:lnTo>
                  <a:pt x="54737" y="27178"/>
                </a:lnTo>
                <a:lnTo>
                  <a:pt x="60706" y="24257"/>
                </a:lnTo>
                <a:lnTo>
                  <a:pt x="119344" y="24257"/>
                </a:lnTo>
                <a:lnTo>
                  <a:pt x="117729" y="20955"/>
                </a:lnTo>
                <a:lnTo>
                  <a:pt x="93599" y="2921"/>
                </a:lnTo>
                <a:close/>
              </a:path>
              <a:path w="135509" h="202564">
                <a:moveTo>
                  <a:pt x="119344" y="24257"/>
                </a:moveTo>
                <a:lnTo>
                  <a:pt x="78867" y="24257"/>
                </a:lnTo>
                <a:lnTo>
                  <a:pt x="90805" y="30099"/>
                </a:lnTo>
                <a:lnTo>
                  <a:pt x="102743" y="48133"/>
                </a:lnTo>
                <a:lnTo>
                  <a:pt x="108712" y="63246"/>
                </a:lnTo>
                <a:lnTo>
                  <a:pt x="108712" y="139446"/>
                </a:lnTo>
                <a:lnTo>
                  <a:pt x="102743" y="154559"/>
                </a:lnTo>
                <a:lnTo>
                  <a:pt x="96774" y="166624"/>
                </a:lnTo>
                <a:lnTo>
                  <a:pt x="84836" y="178562"/>
                </a:lnTo>
                <a:lnTo>
                  <a:pt x="78867" y="178562"/>
                </a:lnTo>
                <a:lnTo>
                  <a:pt x="69850" y="181483"/>
                </a:lnTo>
                <a:lnTo>
                  <a:pt x="117664" y="181483"/>
                </a:lnTo>
                <a:lnTo>
                  <a:pt x="123571" y="169545"/>
                </a:lnTo>
                <a:lnTo>
                  <a:pt x="132587" y="148336"/>
                </a:lnTo>
                <a:lnTo>
                  <a:pt x="135509" y="130175"/>
                </a:lnTo>
                <a:lnTo>
                  <a:pt x="135491" y="75184"/>
                </a:lnTo>
                <a:lnTo>
                  <a:pt x="132587" y="54102"/>
                </a:lnTo>
                <a:lnTo>
                  <a:pt x="123571" y="32893"/>
                </a:lnTo>
                <a:lnTo>
                  <a:pt x="119344" y="24257"/>
                </a:lnTo>
                <a:close/>
              </a:path>
              <a:path w="135509" h="202564">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2" name="bk object 53"/>
          <p:cNvSpPr/>
          <p:nvPr/>
        </p:nvSpPr>
        <p:spPr>
          <a:xfrm>
            <a:off x="237240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2" h="33401">
                <a:moveTo>
                  <a:pt x="0" y="16700"/>
                </a:moveTo>
                <a:lnTo>
                  <a:pt x="3035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3" name="bk object 54"/>
          <p:cNvSpPr/>
          <p:nvPr/>
        </p:nvSpPr>
        <p:spPr>
          <a:xfrm>
            <a:off x="243252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361" h="202564">
                <a:moveTo>
                  <a:pt x="93472" y="2920"/>
                </a:moveTo>
                <a:lnTo>
                  <a:pt x="42163" y="2920"/>
                </a:lnTo>
                <a:lnTo>
                  <a:pt x="36194" y="5841"/>
                </a:lnTo>
                <a:lnTo>
                  <a:pt x="21208" y="20827"/>
                </a:lnTo>
                <a:lnTo>
                  <a:pt x="18287" y="26796"/>
                </a:lnTo>
                <a:lnTo>
                  <a:pt x="12318" y="32765"/>
                </a:lnTo>
                <a:lnTo>
                  <a:pt x="9398" y="41782"/>
                </a:lnTo>
                <a:lnTo>
                  <a:pt x="6476" y="53847"/>
                </a:lnTo>
                <a:lnTo>
                  <a:pt x="3528" y="75310"/>
                </a:lnTo>
                <a:lnTo>
                  <a:pt x="635" y="102488"/>
                </a:lnTo>
                <a:lnTo>
                  <a:pt x="0" y="102869"/>
                </a:lnTo>
                <a:lnTo>
                  <a:pt x="5842" y="148462"/>
                </a:lnTo>
                <a:lnTo>
                  <a:pt x="29844" y="193801"/>
                </a:lnTo>
                <a:lnTo>
                  <a:pt x="53848" y="202564"/>
                </a:lnTo>
                <a:lnTo>
                  <a:pt x="81280" y="202564"/>
                </a:lnTo>
                <a:lnTo>
                  <a:pt x="93344" y="199643"/>
                </a:lnTo>
                <a:lnTo>
                  <a:pt x="105410" y="193674"/>
                </a:lnTo>
                <a:lnTo>
                  <a:pt x="117475" y="181609"/>
                </a:lnTo>
                <a:lnTo>
                  <a:pt x="117537" y="181482"/>
                </a:lnTo>
                <a:lnTo>
                  <a:pt x="69976" y="181482"/>
                </a:lnTo>
                <a:lnTo>
                  <a:pt x="60960" y="178561"/>
                </a:lnTo>
                <a:lnTo>
                  <a:pt x="54991" y="178561"/>
                </a:lnTo>
                <a:lnTo>
                  <a:pt x="45974" y="172592"/>
                </a:lnTo>
                <a:lnTo>
                  <a:pt x="40005" y="166611"/>
                </a:lnTo>
                <a:lnTo>
                  <a:pt x="37083" y="160654"/>
                </a:lnTo>
                <a:lnTo>
                  <a:pt x="37033" y="154558"/>
                </a:lnTo>
                <a:lnTo>
                  <a:pt x="31114" y="139572"/>
                </a:lnTo>
                <a:lnTo>
                  <a:pt x="31114" y="124459"/>
                </a:lnTo>
                <a:lnTo>
                  <a:pt x="28193" y="103250"/>
                </a:lnTo>
                <a:lnTo>
                  <a:pt x="28067" y="102488"/>
                </a:lnTo>
                <a:lnTo>
                  <a:pt x="30987" y="78231"/>
                </a:lnTo>
                <a:lnTo>
                  <a:pt x="30987" y="63118"/>
                </a:lnTo>
                <a:lnTo>
                  <a:pt x="36906" y="48132"/>
                </a:lnTo>
                <a:lnTo>
                  <a:pt x="36956" y="42036"/>
                </a:lnTo>
                <a:lnTo>
                  <a:pt x="39878" y="39115"/>
                </a:lnTo>
                <a:lnTo>
                  <a:pt x="45847" y="30086"/>
                </a:lnTo>
                <a:lnTo>
                  <a:pt x="54863" y="27177"/>
                </a:lnTo>
                <a:lnTo>
                  <a:pt x="60832" y="24256"/>
                </a:lnTo>
                <a:lnTo>
                  <a:pt x="119217" y="24256"/>
                </a:lnTo>
                <a:lnTo>
                  <a:pt x="117601" y="20954"/>
                </a:lnTo>
                <a:lnTo>
                  <a:pt x="93472" y="2920"/>
                </a:lnTo>
                <a:close/>
              </a:path>
              <a:path w="135361" h="202564">
                <a:moveTo>
                  <a:pt x="119217" y="24256"/>
                </a:moveTo>
                <a:lnTo>
                  <a:pt x="78993" y="24256"/>
                </a:lnTo>
                <a:lnTo>
                  <a:pt x="90931" y="30086"/>
                </a:lnTo>
                <a:lnTo>
                  <a:pt x="102869" y="48132"/>
                </a:lnTo>
                <a:lnTo>
                  <a:pt x="108788" y="63118"/>
                </a:lnTo>
                <a:lnTo>
                  <a:pt x="108788" y="139572"/>
                </a:lnTo>
                <a:lnTo>
                  <a:pt x="102807" y="154685"/>
                </a:lnTo>
                <a:lnTo>
                  <a:pt x="96900" y="166611"/>
                </a:lnTo>
                <a:lnTo>
                  <a:pt x="84962" y="178561"/>
                </a:lnTo>
                <a:lnTo>
                  <a:pt x="78993" y="178561"/>
                </a:lnTo>
                <a:lnTo>
                  <a:pt x="69976" y="181482"/>
                </a:lnTo>
                <a:lnTo>
                  <a:pt x="117537" y="181482"/>
                </a:lnTo>
                <a:lnTo>
                  <a:pt x="123443" y="169544"/>
                </a:lnTo>
                <a:lnTo>
                  <a:pt x="132461" y="148335"/>
                </a:lnTo>
                <a:lnTo>
                  <a:pt x="135361" y="130301"/>
                </a:lnTo>
                <a:lnTo>
                  <a:pt x="135347" y="75056"/>
                </a:lnTo>
                <a:lnTo>
                  <a:pt x="132461" y="54101"/>
                </a:lnTo>
                <a:lnTo>
                  <a:pt x="123381" y="32765"/>
                </a:lnTo>
                <a:lnTo>
                  <a:pt x="119217" y="24256"/>
                </a:lnTo>
                <a:close/>
              </a:path>
              <a:path w="135361" h="202564">
                <a:moveTo>
                  <a:pt x="81533" y="0"/>
                </a:moveTo>
                <a:lnTo>
                  <a:pt x="54101" y="0"/>
                </a:lnTo>
                <a:lnTo>
                  <a:pt x="48132" y="2920"/>
                </a:lnTo>
                <a:lnTo>
                  <a:pt x="87503" y="2920"/>
                </a:lnTo>
                <a:lnTo>
                  <a:pt x="81533"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4" name="bk object 55"/>
          <p:cNvSpPr/>
          <p:nvPr/>
        </p:nvSpPr>
        <p:spPr>
          <a:xfrm>
            <a:off x="2816640" y="6293160"/>
            <a:ext cx="137520" cy="201960"/>
          </a:xfrm>
          <a:custGeom>
            <a:avLst/>
            <a:gdLst>
              <a:gd name="textAreaLeft" fmla="*/ 0 w 137520"/>
              <a:gd name="textAreaRight" fmla="*/ 138240 w 137520"/>
              <a:gd name="textAreaTop" fmla="*/ 0 h 201960"/>
              <a:gd name="textAreaBottom" fmla="*/ 202680 h 201960"/>
            </a:gdLst>
            <a:ahLst/>
            <a:cxnLst/>
            <a:rect l="textAreaLeft" t="textAreaTop" r="textAreaRight" b="textAreaBottom"/>
            <a:pathLst>
              <a:path w="138289" h="202564">
                <a:moveTo>
                  <a:pt x="96519" y="2921"/>
                </a:moveTo>
                <a:lnTo>
                  <a:pt x="45338" y="2921"/>
                </a:lnTo>
                <a:lnTo>
                  <a:pt x="21208" y="20955"/>
                </a:lnTo>
                <a:lnTo>
                  <a:pt x="15367" y="32893"/>
                </a:lnTo>
                <a:lnTo>
                  <a:pt x="9398" y="41910"/>
                </a:lnTo>
                <a:lnTo>
                  <a:pt x="6476" y="53975"/>
                </a:lnTo>
                <a:lnTo>
                  <a:pt x="3542" y="75311"/>
                </a:lnTo>
                <a:lnTo>
                  <a:pt x="635" y="102616"/>
                </a:lnTo>
                <a:lnTo>
                  <a:pt x="0" y="102743"/>
                </a:lnTo>
                <a:lnTo>
                  <a:pt x="5842" y="148336"/>
                </a:lnTo>
                <a:lnTo>
                  <a:pt x="32893" y="193675"/>
                </a:lnTo>
                <a:lnTo>
                  <a:pt x="53975" y="202565"/>
                </a:lnTo>
                <a:lnTo>
                  <a:pt x="84328" y="202565"/>
                </a:lnTo>
                <a:lnTo>
                  <a:pt x="96393" y="199644"/>
                </a:lnTo>
                <a:lnTo>
                  <a:pt x="105410" y="193675"/>
                </a:lnTo>
                <a:lnTo>
                  <a:pt x="117475" y="181610"/>
                </a:lnTo>
                <a:lnTo>
                  <a:pt x="117854" y="181102"/>
                </a:lnTo>
                <a:lnTo>
                  <a:pt x="69976" y="181102"/>
                </a:lnTo>
                <a:lnTo>
                  <a:pt x="60960" y="178181"/>
                </a:lnTo>
                <a:lnTo>
                  <a:pt x="54991" y="178181"/>
                </a:lnTo>
                <a:lnTo>
                  <a:pt x="45974" y="172212"/>
                </a:lnTo>
                <a:lnTo>
                  <a:pt x="40005" y="166243"/>
                </a:lnTo>
                <a:lnTo>
                  <a:pt x="37083" y="160274"/>
                </a:lnTo>
                <a:lnTo>
                  <a:pt x="37033" y="154178"/>
                </a:lnTo>
                <a:lnTo>
                  <a:pt x="31114" y="139192"/>
                </a:lnTo>
                <a:lnTo>
                  <a:pt x="31097" y="123952"/>
                </a:lnTo>
                <a:lnTo>
                  <a:pt x="28193" y="102870"/>
                </a:lnTo>
                <a:lnTo>
                  <a:pt x="28067" y="102616"/>
                </a:lnTo>
                <a:lnTo>
                  <a:pt x="30972" y="78486"/>
                </a:lnTo>
                <a:lnTo>
                  <a:pt x="30987" y="63246"/>
                </a:lnTo>
                <a:lnTo>
                  <a:pt x="36906" y="48260"/>
                </a:lnTo>
                <a:lnTo>
                  <a:pt x="36956" y="42164"/>
                </a:lnTo>
                <a:lnTo>
                  <a:pt x="39878" y="39243"/>
                </a:lnTo>
                <a:lnTo>
                  <a:pt x="45847" y="30213"/>
                </a:lnTo>
                <a:lnTo>
                  <a:pt x="54863" y="27305"/>
                </a:lnTo>
                <a:lnTo>
                  <a:pt x="60832" y="24384"/>
                </a:lnTo>
                <a:lnTo>
                  <a:pt x="119280" y="24384"/>
                </a:lnTo>
                <a:lnTo>
                  <a:pt x="117601" y="20955"/>
                </a:lnTo>
                <a:lnTo>
                  <a:pt x="105537" y="11938"/>
                </a:lnTo>
                <a:lnTo>
                  <a:pt x="96519" y="2921"/>
                </a:lnTo>
                <a:close/>
              </a:path>
              <a:path w="138289" h="202564">
                <a:moveTo>
                  <a:pt x="119280" y="24384"/>
                </a:moveTo>
                <a:lnTo>
                  <a:pt x="78993" y="24384"/>
                </a:lnTo>
                <a:lnTo>
                  <a:pt x="84962" y="27305"/>
                </a:lnTo>
                <a:lnTo>
                  <a:pt x="93980" y="30213"/>
                </a:lnTo>
                <a:lnTo>
                  <a:pt x="99949" y="39243"/>
                </a:lnTo>
                <a:lnTo>
                  <a:pt x="102869" y="48260"/>
                </a:lnTo>
                <a:lnTo>
                  <a:pt x="108788" y="63246"/>
                </a:lnTo>
                <a:lnTo>
                  <a:pt x="108838" y="78486"/>
                </a:lnTo>
                <a:lnTo>
                  <a:pt x="111744" y="102616"/>
                </a:lnTo>
                <a:lnTo>
                  <a:pt x="111742" y="102870"/>
                </a:lnTo>
                <a:lnTo>
                  <a:pt x="108838" y="123952"/>
                </a:lnTo>
                <a:lnTo>
                  <a:pt x="108788" y="139192"/>
                </a:lnTo>
                <a:lnTo>
                  <a:pt x="102869" y="154178"/>
                </a:lnTo>
                <a:lnTo>
                  <a:pt x="99949" y="166243"/>
                </a:lnTo>
                <a:lnTo>
                  <a:pt x="93980" y="172212"/>
                </a:lnTo>
                <a:lnTo>
                  <a:pt x="84962" y="178181"/>
                </a:lnTo>
                <a:lnTo>
                  <a:pt x="78993" y="178181"/>
                </a:lnTo>
                <a:lnTo>
                  <a:pt x="69976" y="181102"/>
                </a:lnTo>
                <a:lnTo>
                  <a:pt x="117854" y="181102"/>
                </a:lnTo>
                <a:lnTo>
                  <a:pt x="126492" y="169545"/>
                </a:lnTo>
                <a:lnTo>
                  <a:pt x="132461" y="148336"/>
                </a:lnTo>
                <a:lnTo>
                  <a:pt x="135381" y="130175"/>
                </a:lnTo>
                <a:lnTo>
                  <a:pt x="138289" y="102870"/>
                </a:lnTo>
                <a:lnTo>
                  <a:pt x="138289" y="102616"/>
                </a:lnTo>
                <a:lnTo>
                  <a:pt x="135364" y="75184"/>
                </a:lnTo>
                <a:lnTo>
                  <a:pt x="132461" y="54102"/>
                </a:lnTo>
                <a:lnTo>
                  <a:pt x="126492" y="32893"/>
                </a:lnTo>
                <a:lnTo>
                  <a:pt x="120523" y="26924"/>
                </a:lnTo>
                <a:lnTo>
                  <a:pt x="119280" y="24384"/>
                </a:lnTo>
                <a:close/>
              </a:path>
              <a:path w="138289" h="202564">
                <a:moveTo>
                  <a:pt x="84581" y="0"/>
                </a:moveTo>
                <a:lnTo>
                  <a:pt x="54229" y="0"/>
                </a:lnTo>
                <a:lnTo>
                  <a:pt x="48260" y="2921"/>
                </a:lnTo>
                <a:lnTo>
                  <a:pt x="90550" y="2921"/>
                </a:lnTo>
                <a:lnTo>
                  <a:pt x="845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5" name="bk object 56"/>
          <p:cNvSpPr/>
          <p:nvPr/>
        </p:nvSpPr>
        <p:spPr>
          <a:xfrm>
            <a:off x="298800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6" name="bk object 57"/>
          <p:cNvSpPr/>
          <p:nvPr/>
        </p:nvSpPr>
        <p:spPr>
          <a:xfrm>
            <a:off x="30430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6" h="201040">
                <a:moveTo>
                  <a:pt x="72136" y="0"/>
                </a:moveTo>
                <a:lnTo>
                  <a:pt x="53975" y="0"/>
                </a:lnTo>
                <a:lnTo>
                  <a:pt x="51054" y="9016"/>
                </a:lnTo>
                <a:lnTo>
                  <a:pt x="45212" y="20954"/>
                </a:lnTo>
                <a:lnTo>
                  <a:pt x="36194" y="26911"/>
                </a:lnTo>
                <a:lnTo>
                  <a:pt x="30225" y="32892"/>
                </a:lnTo>
                <a:lnTo>
                  <a:pt x="21208" y="35813"/>
                </a:lnTo>
                <a:lnTo>
                  <a:pt x="0" y="35813"/>
                </a:lnTo>
                <a:lnTo>
                  <a:pt x="0" y="57022"/>
                </a:lnTo>
                <a:lnTo>
                  <a:pt x="45593" y="57022"/>
                </a:lnTo>
                <a:lnTo>
                  <a:pt x="45593" y="200151"/>
                </a:lnTo>
                <a:lnTo>
                  <a:pt x="44704" y="201040"/>
                </a:lnTo>
                <a:lnTo>
                  <a:pt x="72136" y="201040"/>
                </a:lnTo>
                <a:lnTo>
                  <a:pt x="7213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7" name="bk object 58"/>
          <p:cNvSpPr/>
          <p:nvPr/>
        </p:nvSpPr>
        <p:spPr>
          <a:xfrm>
            <a:off x="3386520" y="6293520"/>
            <a:ext cx="137160" cy="201600"/>
          </a:xfrm>
          <a:custGeom>
            <a:avLst/>
            <a:gdLst>
              <a:gd name="textAreaLeft" fmla="*/ 0 w 137160"/>
              <a:gd name="textAreaRight" fmla="*/ 137880 w 137160"/>
              <a:gd name="textAreaTop" fmla="*/ 0 h 201600"/>
              <a:gd name="textAreaBottom" fmla="*/ 202320 h 201600"/>
            </a:gdLst>
            <a:ahLst/>
            <a:cxnLst/>
            <a:rect l="textAreaLeft" t="textAreaTop" r="textAreaRight" b="textAreaBottom"/>
            <a:pathLst>
              <a:path w="138049" h="202311">
                <a:moveTo>
                  <a:pt x="96393" y="2920"/>
                </a:moveTo>
                <a:lnTo>
                  <a:pt x="45212" y="2920"/>
                </a:lnTo>
                <a:lnTo>
                  <a:pt x="33147" y="11937"/>
                </a:lnTo>
                <a:lnTo>
                  <a:pt x="27178" y="14858"/>
                </a:lnTo>
                <a:lnTo>
                  <a:pt x="21209" y="20827"/>
                </a:lnTo>
                <a:lnTo>
                  <a:pt x="15367" y="32765"/>
                </a:lnTo>
                <a:lnTo>
                  <a:pt x="9398" y="41782"/>
                </a:lnTo>
                <a:lnTo>
                  <a:pt x="6477" y="53847"/>
                </a:lnTo>
                <a:lnTo>
                  <a:pt x="3542" y="75183"/>
                </a:lnTo>
                <a:lnTo>
                  <a:pt x="635" y="102488"/>
                </a:lnTo>
                <a:lnTo>
                  <a:pt x="0" y="102615"/>
                </a:lnTo>
                <a:lnTo>
                  <a:pt x="5842" y="148208"/>
                </a:lnTo>
                <a:lnTo>
                  <a:pt x="32766" y="193420"/>
                </a:lnTo>
                <a:lnTo>
                  <a:pt x="53848" y="202310"/>
                </a:lnTo>
                <a:lnTo>
                  <a:pt x="84201" y="202310"/>
                </a:lnTo>
                <a:lnTo>
                  <a:pt x="96266" y="199389"/>
                </a:lnTo>
                <a:lnTo>
                  <a:pt x="105283" y="193420"/>
                </a:lnTo>
                <a:lnTo>
                  <a:pt x="117221" y="181482"/>
                </a:lnTo>
                <a:lnTo>
                  <a:pt x="118075" y="180339"/>
                </a:lnTo>
                <a:lnTo>
                  <a:pt x="70231" y="180339"/>
                </a:lnTo>
                <a:lnTo>
                  <a:pt x="61214" y="177418"/>
                </a:lnTo>
                <a:lnTo>
                  <a:pt x="55245" y="177418"/>
                </a:lnTo>
                <a:lnTo>
                  <a:pt x="49276" y="171449"/>
                </a:lnTo>
                <a:lnTo>
                  <a:pt x="40259" y="165480"/>
                </a:lnTo>
                <a:lnTo>
                  <a:pt x="37337" y="153415"/>
                </a:lnTo>
                <a:lnTo>
                  <a:pt x="31419" y="138429"/>
                </a:lnTo>
                <a:lnTo>
                  <a:pt x="31369" y="102488"/>
                </a:lnTo>
                <a:lnTo>
                  <a:pt x="31292" y="62737"/>
                </a:lnTo>
                <a:lnTo>
                  <a:pt x="37252" y="47624"/>
                </a:lnTo>
                <a:lnTo>
                  <a:pt x="40132" y="38734"/>
                </a:lnTo>
                <a:lnTo>
                  <a:pt x="49149" y="29717"/>
                </a:lnTo>
                <a:lnTo>
                  <a:pt x="61087" y="23875"/>
                </a:lnTo>
                <a:lnTo>
                  <a:pt x="118839" y="23875"/>
                </a:lnTo>
                <a:lnTo>
                  <a:pt x="117348" y="20827"/>
                </a:lnTo>
                <a:lnTo>
                  <a:pt x="111379" y="14858"/>
                </a:lnTo>
                <a:lnTo>
                  <a:pt x="105410" y="11937"/>
                </a:lnTo>
                <a:lnTo>
                  <a:pt x="96393" y="2920"/>
                </a:lnTo>
                <a:close/>
              </a:path>
              <a:path w="138049" h="202311">
                <a:moveTo>
                  <a:pt x="118839" y="23875"/>
                </a:moveTo>
                <a:lnTo>
                  <a:pt x="79248" y="23875"/>
                </a:lnTo>
                <a:lnTo>
                  <a:pt x="85217" y="26796"/>
                </a:lnTo>
                <a:lnTo>
                  <a:pt x="94234" y="29717"/>
                </a:lnTo>
                <a:lnTo>
                  <a:pt x="100203" y="38734"/>
                </a:lnTo>
                <a:lnTo>
                  <a:pt x="103124" y="41655"/>
                </a:lnTo>
                <a:lnTo>
                  <a:pt x="103174" y="47751"/>
                </a:lnTo>
                <a:lnTo>
                  <a:pt x="109093" y="62737"/>
                </a:lnTo>
                <a:lnTo>
                  <a:pt x="109093" y="77850"/>
                </a:lnTo>
                <a:lnTo>
                  <a:pt x="111983" y="101853"/>
                </a:lnTo>
                <a:lnTo>
                  <a:pt x="111944" y="102615"/>
                </a:lnTo>
                <a:lnTo>
                  <a:pt x="109093" y="123316"/>
                </a:lnTo>
                <a:lnTo>
                  <a:pt x="109093" y="138429"/>
                </a:lnTo>
                <a:lnTo>
                  <a:pt x="103174" y="153415"/>
                </a:lnTo>
                <a:lnTo>
                  <a:pt x="103124" y="159511"/>
                </a:lnTo>
                <a:lnTo>
                  <a:pt x="100203" y="165480"/>
                </a:lnTo>
                <a:lnTo>
                  <a:pt x="94234" y="171449"/>
                </a:lnTo>
                <a:lnTo>
                  <a:pt x="85217" y="177418"/>
                </a:lnTo>
                <a:lnTo>
                  <a:pt x="79248" y="177418"/>
                </a:lnTo>
                <a:lnTo>
                  <a:pt x="70231" y="180339"/>
                </a:lnTo>
                <a:lnTo>
                  <a:pt x="118075" y="180339"/>
                </a:lnTo>
                <a:lnTo>
                  <a:pt x="126237" y="169417"/>
                </a:lnTo>
                <a:lnTo>
                  <a:pt x="132207" y="148208"/>
                </a:lnTo>
                <a:lnTo>
                  <a:pt x="135128" y="130047"/>
                </a:lnTo>
                <a:lnTo>
                  <a:pt x="138049" y="102615"/>
                </a:lnTo>
                <a:lnTo>
                  <a:pt x="135110" y="75056"/>
                </a:lnTo>
                <a:lnTo>
                  <a:pt x="132207" y="53974"/>
                </a:lnTo>
                <a:lnTo>
                  <a:pt x="126237" y="32765"/>
                </a:lnTo>
                <a:lnTo>
                  <a:pt x="120269" y="26796"/>
                </a:lnTo>
                <a:lnTo>
                  <a:pt x="118839" y="23875"/>
                </a:lnTo>
                <a:close/>
              </a:path>
              <a:path w="138049" h="202311">
                <a:moveTo>
                  <a:pt x="31369" y="101853"/>
                </a:moveTo>
                <a:lnTo>
                  <a:pt x="31242" y="102488"/>
                </a:lnTo>
                <a:lnTo>
                  <a:pt x="31369" y="101853"/>
                </a:lnTo>
                <a:close/>
              </a:path>
              <a:path w="138049" h="202311">
                <a:moveTo>
                  <a:pt x="84455" y="0"/>
                </a:moveTo>
                <a:lnTo>
                  <a:pt x="54102" y="0"/>
                </a:lnTo>
                <a:lnTo>
                  <a:pt x="51181" y="2920"/>
                </a:lnTo>
                <a:lnTo>
                  <a:pt x="90424" y="2920"/>
                </a:lnTo>
                <a:lnTo>
                  <a:pt x="8445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8" name="bk object 59"/>
          <p:cNvSpPr/>
          <p:nvPr/>
        </p:nvSpPr>
        <p:spPr>
          <a:xfrm>
            <a:off x="355788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9" name="bk object 60"/>
          <p:cNvSpPr/>
          <p:nvPr/>
        </p:nvSpPr>
        <p:spPr>
          <a:xfrm>
            <a:off x="3615840" y="6294960"/>
            <a:ext cx="136440" cy="197640"/>
          </a:xfrm>
          <a:custGeom>
            <a:avLst/>
            <a:gdLst>
              <a:gd name="textAreaLeft" fmla="*/ 0 w 136440"/>
              <a:gd name="textAreaRight" fmla="*/ 137160 w 136440"/>
              <a:gd name="textAreaTop" fmla="*/ 0 h 197640"/>
              <a:gd name="textAreaBottom" fmla="*/ 198360 h 197640"/>
            </a:gdLst>
            <a:ahLst/>
            <a:cxnLst/>
            <a:rect l="textAreaLeft" t="textAreaTop" r="textAreaRight" b="textAreaBottom"/>
            <a:pathLst>
              <a:path w="137287" h="198500">
                <a:moveTo>
                  <a:pt x="126675" y="24510"/>
                </a:moveTo>
                <a:lnTo>
                  <a:pt x="84200" y="24510"/>
                </a:lnTo>
                <a:lnTo>
                  <a:pt x="96138" y="30352"/>
                </a:lnTo>
                <a:lnTo>
                  <a:pt x="102108" y="36321"/>
                </a:lnTo>
                <a:lnTo>
                  <a:pt x="104966" y="42163"/>
                </a:lnTo>
                <a:lnTo>
                  <a:pt x="105029" y="45211"/>
                </a:lnTo>
                <a:lnTo>
                  <a:pt x="107823" y="48005"/>
                </a:lnTo>
                <a:lnTo>
                  <a:pt x="90170" y="93217"/>
                </a:lnTo>
                <a:lnTo>
                  <a:pt x="62992" y="108203"/>
                </a:lnTo>
                <a:lnTo>
                  <a:pt x="44958" y="120141"/>
                </a:lnTo>
                <a:lnTo>
                  <a:pt x="32893" y="126110"/>
                </a:lnTo>
                <a:lnTo>
                  <a:pt x="14859" y="144144"/>
                </a:lnTo>
                <a:lnTo>
                  <a:pt x="2921" y="168274"/>
                </a:lnTo>
                <a:lnTo>
                  <a:pt x="0" y="183387"/>
                </a:lnTo>
                <a:lnTo>
                  <a:pt x="0" y="198500"/>
                </a:lnTo>
                <a:lnTo>
                  <a:pt x="254" y="197992"/>
                </a:lnTo>
                <a:lnTo>
                  <a:pt x="137287" y="197992"/>
                </a:lnTo>
                <a:lnTo>
                  <a:pt x="137287" y="170560"/>
                </a:lnTo>
                <a:lnTo>
                  <a:pt x="30607" y="170560"/>
                </a:lnTo>
                <a:lnTo>
                  <a:pt x="30607" y="167639"/>
                </a:lnTo>
                <a:lnTo>
                  <a:pt x="33527" y="164718"/>
                </a:lnTo>
                <a:lnTo>
                  <a:pt x="39370" y="152780"/>
                </a:lnTo>
                <a:lnTo>
                  <a:pt x="45338" y="149859"/>
                </a:lnTo>
                <a:lnTo>
                  <a:pt x="48260" y="143890"/>
                </a:lnTo>
                <a:lnTo>
                  <a:pt x="54229" y="140969"/>
                </a:lnTo>
                <a:lnTo>
                  <a:pt x="63246" y="135000"/>
                </a:lnTo>
                <a:lnTo>
                  <a:pt x="72262" y="132079"/>
                </a:lnTo>
                <a:lnTo>
                  <a:pt x="75184" y="129158"/>
                </a:lnTo>
                <a:lnTo>
                  <a:pt x="93345" y="120141"/>
                </a:lnTo>
                <a:lnTo>
                  <a:pt x="96266" y="117220"/>
                </a:lnTo>
                <a:lnTo>
                  <a:pt x="102235" y="114299"/>
                </a:lnTo>
                <a:lnTo>
                  <a:pt x="111251" y="108330"/>
                </a:lnTo>
                <a:lnTo>
                  <a:pt x="126237" y="93344"/>
                </a:lnTo>
                <a:lnTo>
                  <a:pt x="129159" y="84327"/>
                </a:lnTo>
                <a:lnTo>
                  <a:pt x="135127" y="72262"/>
                </a:lnTo>
                <a:lnTo>
                  <a:pt x="135127" y="44830"/>
                </a:lnTo>
                <a:lnTo>
                  <a:pt x="132207" y="35813"/>
                </a:lnTo>
                <a:lnTo>
                  <a:pt x="126675" y="24510"/>
                </a:lnTo>
                <a:close/>
              </a:path>
              <a:path w="137287" h="198500">
                <a:moveTo>
                  <a:pt x="84200" y="0"/>
                </a:moveTo>
                <a:lnTo>
                  <a:pt x="53848" y="0"/>
                </a:lnTo>
                <a:lnTo>
                  <a:pt x="29845" y="11810"/>
                </a:lnTo>
                <a:lnTo>
                  <a:pt x="17907" y="23748"/>
                </a:lnTo>
                <a:lnTo>
                  <a:pt x="14986" y="29717"/>
                </a:lnTo>
                <a:lnTo>
                  <a:pt x="9017" y="38734"/>
                </a:lnTo>
                <a:lnTo>
                  <a:pt x="6096" y="47751"/>
                </a:lnTo>
                <a:lnTo>
                  <a:pt x="6096" y="68960"/>
                </a:lnTo>
                <a:lnTo>
                  <a:pt x="30352" y="68960"/>
                </a:lnTo>
                <a:lnTo>
                  <a:pt x="30352" y="59943"/>
                </a:lnTo>
                <a:lnTo>
                  <a:pt x="33274" y="53974"/>
                </a:lnTo>
                <a:lnTo>
                  <a:pt x="33274" y="48005"/>
                </a:lnTo>
                <a:lnTo>
                  <a:pt x="36068" y="45211"/>
                </a:lnTo>
                <a:lnTo>
                  <a:pt x="36195" y="42163"/>
                </a:lnTo>
                <a:lnTo>
                  <a:pt x="48006" y="30352"/>
                </a:lnTo>
                <a:lnTo>
                  <a:pt x="59944" y="24510"/>
                </a:lnTo>
                <a:lnTo>
                  <a:pt x="126675" y="24510"/>
                </a:lnTo>
                <a:lnTo>
                  <a:pt x="126364" y="23875"/>
                </a:lnTo>
                <a:lnTo>
                  <a:pt x="117348" y="14858"/>
                </a:lnTo>
                <a:lnTo>
                  <a:pt x="108331" y="8889"/>
                </a:lnTo>
                <a:lnTo>
                  <a:pt x="96266" y="2920"/>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0" name="bk object 61"/>
          <p:cNvSpPr/>
          <p:nvPr/>
        </p:nvSpPr>
        <p:spPr>
          <a:xfrm>
            <a:off x="3980880" y="6293160"/>
            <a:ext cx="134640" cy="201600"/>
          </a:xfrm>
          <a:custGeom>
            <a:avLst/>
            <a:gdLst>
              <a:gd name="textAreaLeft" fmla="*/ 0 w 134640"/>
              <a:gd name="textAreaRight" fmla="*/ 135360 w 134640"/>
              <a:gd name="textAreaTop" fmla="*/ 0 h 201600"/>
              <a:gd name="textAreaBottom" fmla="*/ 202320 h 201600"/>
            </a:gdLst>
            <a:ahLst/>
            <a:cxnLst/>
            <a:rect l="textAreaLeft" t="textAreaTop" r="textAreaRight" b="textAreaBottom"/>
            <a:pathLst>
              <a:path w="135509" h="202437">
                <a:moveTo>
                  <a:pt x="28448" y="102616"/>
                </a:moveTo>
                <a:lnTo>
                  <a:pt x="0" y="102616"/>
                </a:lnTo>
                <a:lnTo>
                  <a:pt x="0" y="130048"/>
                </a:lnTo>
                <a:lnTo>
                  <a:pt x="11937" y="169418"/>
                </a:lnTo>
                <a:lnTo>
                  <a:pt x="42037" y="199517"/>
                </a:lnTo>
                <a:lnTo>
                  <a:pt x="54101" y="202438"/>
                </a:lnTo>
                <a:lnTo>
                  <a:pt x="81534" y="202438"/>
                </a:lnTo>
                <a:lnTo>
                  <a:pt x="93599" y="199517"/>
                </a:lnTo>
                <a:lnTo>
                  <a:pt x="105663" y="193548"/>
                </a:lnTo>
                <a:lnTo>
                  <a:pt x="115155" y="180848"/>
                </a:lnTo>
                <a:lnTo>
                  <a:pt x="67183" y="180848"/>
                </a:lnTo>
                <a:lnTo>
                  <a:pt x="58165" y="177927"/>
                </a:lnTo>
                <a:lnTo>
                  <a:pt x="52197" y="177927"/>
                </a:lnTo>
                <a:lnTo>
                  <a:pt x="40259" y="165989"/>
                </a:lnTo>
                <a:lnTo>
                  <a:pt x="34289" y="153924"/>
                </a:lnTo>
                <a:lnTo>
                  <a:pt x="28472" y="123825"/>
                </a:lnTo>
                <a:lnTo>
                  <a:pt x="28448" y="102616"/>
                </a:lnTo>
                <a:close/>
              </a:path>
              <a:path w="135509" h="202437">
                <a:moveTo>
                  <a:pt x="116486" y="24257"/>
                </a:moveTo>
                <a:lnTo>
                  <a:pt x="76200" y="24257"/>
                </a:lnTo>
                <a:lnTo>
                  <a:pt x="85216" y="27178"/>
                </a:lnTo>
                <a:lnTo>
                  <a:pt x="91186" y="30099"/>
                </a:lnTo>
                <a:lnTo>
                  <a:pt x="97154" y="39116"/>
                </a:lnTo>
                <a:lnTo>
                  <a:pt x="100075" y="42037"/>
                </a:lnTo>
                <a:lnTo>
                  <a:pt x="102997" y="48006"/>
                </a:lnTo>
                <a:lnTo>
                  <a:pt x="108838" y="78232"/>
                </a:lnTo>
                <a:lnTo>
                  <a:pt x="108838" y="123825"/>
                </a:lnTo>
                <a:lnTo>
                  <a:pt x="102997" y="154038"/>
                </a:lnTo>
                <a:lnTo>
                  <a:pt x="97154" y="165989"/>
                </a:lnTo>
                <a:lnTo>
                  <a:pt x="85216" y="177927"/>
                </a:lnTo>
                <a:lnTo>
                  <a:pt x="76200" y="177927"/>
                </a:lnTo>
                <a:lnTo>
                  <a:pt x="67183" y="180848"/>
                </a:lnTo>
                <a:lnTo>
                  <a:pt x="115155" y="180848"/>
                </a:lnTo>
                <a:lnTo>
                  <a:pt x="123698" y="169418"/>
                </a:lnTo>
                <a:lnTo>
                  <a:pt x="129666" y="148209"/>
                </a:lnTo>
                <a:lnTo>
                  <a:pt x="132587" y="130048"/>
                </a:lnTo>
                <a:lnTo>
                  <a:pt x="135509" y="102616"/>
                </a:lnTo>
                <a:lnTo>
                  <a:pt x="132587" y="75184"/>
                </a:lnTo>
                <a:lnTo>
                  <a:pt x="129666" y="53975"/>
                </a:lnTo>
                <a:lnTo>
                  <a:pt x="123698" y="32766"/>
                </a:lnTo>
                <a:lnTo>
                  <a:pt x="117728" y="26797"/>
                </a:lnTo>
                <a:lnTo>
                  <a:pt x="116486" y="24257"/>
                </a:lnTo>
                <a:close/>
              </a:path>
              <a:path w="135509" h="202437">
                <a:moveTo>
                  <a:pt x="93852" y="2921"/>
                </a:moveTo>
                <a:lnTo>
                  <a:pt x="42545" y="2921"/>
                </a:lnTo>
                <a:lnTo>
                  <a:pt x="18414" y="20955"/>
                </a:lnTo>
                <a:lnTo>
                  <a:pt x="12573" y="32893"/>
                </a:lnTo>
                <a:lnTo>
                  <a:pt x="6603" y="41910"/>
                </a:lnTo>
                <a:lnTo>
                  <a:pt x="3683" y="53975"/>
                </a:lnTo>
                <a:lnTo>
                  <a:pt x="762" y="75184"/>
                </a:lnTo>
                <a:lnTo>
                  <a:pt x="762" y="102616"/>
                </a:lnTo>
                <a:lnTo>
                  <a:pt x="28321" y="102616"/>
                </a:lnTo>
                <a:lnTo>
                  <a:pt x="28345" y="78232"/>
                </a:lnTo>
                <a:lnTo>
                  <a:pt x="34162" y="48133"/>
                </a:lnTo>
                <a:lnTo>
                  <a:pt x="46100" y="30099"/>
                </a:lnTo>
                <a:lnTo>
                  <a:pt x="58038" y="24257"/>
                </a:lnTo>
                <a:lnTo>
                  <a:pt x="116486" y="24257"/>
                </a:lnTo>
                <a:lnTo>
                  <a:pt x="114808" y="20828"/>
                </a:lnTo>
                <a:lnTo>
                  <a:pt x="99822" y="5842"/>
                </a:lnTo>
                <a:lnTo>
                  <a:pt x="93852" y="2921"/>
                </a:lnTo>
                <a:close/>
              </a:path>
              <a:path w="135509" h="202437">
                <a:moveTo>
                  <a:pt x="28448" y="102489"/>
                </a:moveTo>
              </a:path>
              <a:path w="135509" h="202437">
                <a:moveTo>
                  <a:pt x="81914" y="0"/>
                </a:moveTo>
                <a:lnTo>
                  <a:pt x="54483" y="0"/>
                </a:lnTo>
                <a:lnTo>
                  <a:pt x="48513" y="2921"/>
                </a:lnTo>
                <a:lnTo>
                  <a:pt x="87884" y="2921"/>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1" name="bk object 62"/>
          <p:cNvSpPr/>
          <p:nvPr/>
        </p:nvSpPr>
        <p:spPr>
          <a:xfrm>
            <a:off x="414936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2" name="bk object 63"/>
          <p:cNvSpPr/>
          <p:nvPr/>
        </p:nvSpPr>
        <p:spPr>
          <a:xfrm>
            <a:off x="4207320" y="6294600"/>
            <a:ext cx="134640" cy="200520"/>
          </a:xfrm>
          <a:custGeom>
            <a:avLst/>
            <a:gdLst>
              <a:gd name="textAreaLeft" fmla="*/ 0 w 134640"/>
              <a:gd name="textAreaRight" fmla="*/ 135360 w 134640"/>
              <a:gd name="textAreaTop" fmla="*/ 0 h 200520"/>
              <a:gd name="textAreaBottom" fmla="*/ 201240 h 200520"/>
            </a:gdLst>
            <a:ahLst/>
            <a:cxnLst/>
            <a:rect l="textAreaLeft" t="textAreaTop" r="textAreaRight" b="textAreaBottom"/>
            <a:pathLst>
              <a:path w="135509" h="201167">
                <a:moveTo>
                  <a:pt x="24257" y="135000"/>
                </a:moveTo>
                <a:lnTo>
                  <a:pt x="0" y="135000"/>
                </a:lnTo>
                <a:lnTo>
                  <a:pt x="0" y="156209"/>
                </a:lnTo>
                <a:lnTo>
                  <a:pt x="26924" y="192278"/>
                </a:lnTo>
                <a:lnTo>
                  <a:pt x="48006" y="201167"/>
                </a:lnTo>
                <a:lnTo>
                  <a:pt x="78359" y="201167"/>
                </a:lnTo>
                <a:lnTo>
                  <a:pt x="102488" y="195325"/>
                </a:lnTo>
                <a:lnTo>
                  <a:pt x="114554" y="186308"/>
                </a:lnTo>
                <a:lnTo>
                  <a:pt x="123571" y="177291"/>
                </a:lnTo>
                <a:lnTo>
                  <a:pt x="123907" y="176783"/>
                </a:lnTo>
                <a:lnTo>
                  <a:pt x="53975" y="176783"/>
                </a:lnTo>
                <a:lnTo>
                  <a:pt x="48006" y="173862"/>
                </a:lnTo>
                <a:lnTo>
                  <a:pt x="38988" y="170941"/>
                </a:lnTo>
                <a:lnTo>
                  <a:pt x="33020" y="164972"/>
                </a:lnTo>
                <a:lnTo>
                  <a:pt x="30099" y="159003"/>
                </a:lnTo>
                <a:lnTo>
                  <a:pt x="27178" y="149986"/>
                </a:lnTo>
                <a:lnTo>
                  <a:pt x="24257" y="147065"/>
                </a:lnTo>
                <a:lnTo>
                  <a:pt x="24257" y="135000"/>
                </a:lnTo>
                <a:close/>
              </a:path>
              <a:path w="135509" h="201167">
                <a:moveTo>
                  <a:pt x="119998" y="21335"/>
                </a:moveTo>
                <a:lnTo>
                  <a:pt x="66294" y="21335"/>
                </a:lnTo>
                <a:lnTo>
                  <a:pt x="72262" y="24256"/>
                </a:lnTo>
                <a:lnTo>
                  <a:pt x="84328" y="24256"/>
                </a:lnTo>
                <a:lnTo>
                  <a:pt x="87249" y="27178"/>
                </a:lnTo>
                <a:lnTo>
                  <a:pt x="90170" y="27178"/>
                </a:lnTo>
                <a:lnTo>
                  <a:pt x="93091" y="33146"/>
                </a:lnTo>
                <a:lnTo>
                  <a:pt x="98933" y="38988"/>
                </a:lnTo>
                <a:lnTo>
                  <a:pt x="99060" y="45084"/>
                </a:lnTo>
                <a:lnTo>
                  <a:pt x="101981" y="51053"/>
                </a:lnTo>
                <a:lnTo>
                  <a:pt x="99060" y="60070"/>
                </a:lnTo>
                <a:lnTo>
                  <a:pt x="99060" y="66039"/>
                </a:lnTo>
                <a:lnTo>
                  <a:pt x="96138" y="72008"/>
                </a:lnTo>
                <a:lnTo>
                  <a:pt x="90170" y="77978"/>
                </a:lnTo>
                <a:lnTo>
                  <a:pt x="87249" y="77978"/>
                </a:lnTo>
                <a:lnTo>
                  <a:pt x="84328" y="80898"/>
                </a:lnTo>
                <a:lnTo>
                  <a:pt x="78359" y="83819"/>
                </a:lnTo>
                <a:lnTo>
                  <a:pt x="50927" y="83819"/>
                </a:lnTo>
                <a:lnTo>
                  <a:pt x="50927" y="105028"/>
                </a:lnTo>
                <a:lnTo>
                  <a:pt x="78359" y="105028"/>
                </a:lnTo>
                <a:lnTo>
                  <a:pt x="87375" y="107950"/>
                </a:lnTo>
                <a:lnTo>
                  <a:pt x="93345" y="110870"/>
                </a:lnTo>
                <a:lnTo>
                  <a:pt x="105283" y="122808"/>
                </a:lnTo>
                <a:lnTo>
                  <a:pt x="108204" y="131825"/>
                </a:lnTo>
                <a:lnTo>
                  <a:pt x="108204" y="153034"/>
                </a:lnTo>
                <a:lnTo>
                  <a:pt x="105283" y="155943"/>
                </a:lnTo>
                <a:lnTo>
                  <a:pt x="102362" y="161925"/>
                </a:lnTo>
                <a:lnTo>
                  <a:pt x="90424" y="173862"/>
                </a:lnTo>
                <a:lnTo>
                  <a:pt x="81407" y="176783"/>
                </a:lnTo>
                <a:lnTo>
                  <a:pt x="123907" y="176783"/>
                </a:lnTo>
                <a:lnTo>
                  <a:pt x="129540" y="168275"/>
                </a:lnTo>
                <a:lnTo>
                  <a:pt x="135509" y="153161"/>
                </a:lnTo>
                <a:lnTo>
                  <a:pt x="135509" y="125729"/>
                </a:lnTo>
                <a:lnTo>
                  <a:pt x="129540" y="113664"/>
                </a:lnTo>
                <a:lnTo>
                  <a:pt x="123571" y="104647"/>
                </a:lnTo>
                <a:lnTo>
                  <a:pt x="114681" y="95757"/>
                </a:lnTo>
                <a:lnTo>
                  <a:pt x="108712" y="92836"/>
                </a:lnTo>
                <a:lnTo>
                  <a:pt x="105791" y="92836"/>
                </a:lnTo>
                <a:lnTo>
                  <a:pt x="102870" y="89915"/>
                </a:lnTo>
                <a:lnTo>
                  <a:pt x="111887" y="86994"/>
                </a:lnTo>
                <a:lnTo>
                  <a:pt x="114808" y="86994"/>
                </a:lnTo>
                <a:lnTo>
                  <a:pt x="120777" y="81025"/>
                </a:lnTo>
                <a:lnTo>
                  <a:pt x="126619" y="62991"/>
                </a:lnTo>
                <a:lnTo>
                  <a:pt x="129509" y="51053"/>
                </a:lnTo>
                <a:lnTo>
                  <a:pt x="129540" y="44957"/>
                </a:lnTo>
                <a:lnTo>
                  <a:pt x="126619" y="38988"/>
                </a:lnTo>
                <a:lnTo>
                  <a:pt x="123698" y="26923"/>
                </a:lnTo>
                <a:lnTo>
                  <a:pt x="119998" y="21335"/>
                </a:lnTo>
                <a:close/>
              </a:path>
              <a:path w="135509" h="201167">
                <a:moveTo>
                  <a:pt x="87757" y="0"/>
                </a:moveTo>
                <a:lnTo>
                  <a:pt x="51308" y="0"/>
                </a:lnTo>
                <a:lnTo>
                  <a:pt x="42291" y="2920"/>
                </a:lnTo>
                <a:lnTo>
                  <a:pt x="9271" y="35940"/>
                </a:lnTo>
                <a:lnTo>
                  <a:pt x="3429" y="53975"/>
                </a:lnTo>
                <a:lnTo>
                  <a:pt x="3429" y="62991"/>
                </a:lnTo>
                <a:lnTo>
                  <a:pt x="27686" y="62991"/>
                </a:lnTo>
                <a:lnTo>
                  <a:pt x="30607" y="60070"/>
                </a:lnTo>
                <a:lnTo>
                  <a:pt x="30607" y="47993"/>
                </a:lnTo>
                <a:lnTo>
                  <a:pt x="36449" y="36067"/>
                </a:lnTo>
                <a:lnTo>
                  <a:pt x="45338" y="27178"/>
                </a:lnTo>
                <a:lnTo>
                  <a:pt x="51308" y="24256"/>
                </a:lnTo>
                <a:lnTo>
                  <a:pt x="57277" y="24256"/>
                </a:lnTo>
                <a:lnTo>
                  <a:pt x="66294" y="21335"/>
                </a:lnTo>
                <a:lnTo>
                  <a:pt x="119998" y="21335"/>
                </a:lnTo>
                <a:lnTo>
                  <a:pt x="117729" y="17906"/>
                </a:lnTo>
                <a:lnTo>
                  <a:pt x="108712" y="8889"/>
                </a:lnTo>
                <a:lnTo>
                  <a:pt x="102743" y="5968"/>
                </a:lnTo>
                <a:lnTo>
                  <a:pt x="99822" y="5968"/>
                </a:lnTo>
                <a:lnTo>
                  <a:pt x="8775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3" name="bk object 64"/>
          <p:cNvSpPr/>
          <p:nvPr/>
        </p:nvSpPr>
        <p:spPr>
          <a:xfrm>
            <a:off x="457236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725" y="2921"/>
                </a:moveTo>
                <a:lnTo>
                  <a:pt x="42418" y="2921"/>
                </a:lnTo>
                <a:lnTo>
                  <a:pt x="30352" y="11938"/>
                </a:lnTo>
                <a:lnTo>
                  <a:pt x="15367" y="26924"/>
                </a:lnTo>
                <a:lnTo>
                  <a:pt x="12446" y="32893"/>
                </a:lnTo>
                <a:lnTo>
                  <a:pt x="9525" y="41910"/>
                </a:lnTo>
                <a:lnTo>
                  <a:pt x="3556" y="53975"/>
                </a:lnTo>
                <a:lnTo>
                  <a:pt x="635" y="75184"/>
                </a:lnTo>
                <a:lnTo>
                  <a:pt x="635" y="102616"/>
                </a:lnTo>
                <a:lnTo>
                  <a:pt x="0" y="102743"/>
                </a:lnTo>
                <a:lnTo>
                  <a:pt x="0" y="130175"/>
                </a:lnTo>
                <a:lnTo>
                  <a:pt x="2921" y="148336"/>
                </a:lnTo>
                <a:lnTo>
                  <a:pt x="11937" y="169545"/>
                </a:lnTo>
                <a:lnTo>
                  <a:pt x="29972" y="193675"/>
                </a:lnTo>
                <a:lnTo>
                  <a:pt x="42037" y="199644"/>
                </a:lnTo>
                <a:lnTo>
                  <a:pt x="54101" y="202565"/>
                </a:lnTo>
                <a:lnTo>
                  <a:pt x="81534" y="202565"/>
                </a:lnTo>
                <a:lnTo>
                  <a:pt x="93599" y="199644"/>
                </a:lnTo>
                <a:lnTo>
                  <a:pt x="105663" y="193675"/>
                </a:lnTo>
                <a:lnTo>
                  <a:pt x="115440" y="180594"/>
                </a:lnTo>
                <a:lnTo>
                  <a:pt x="66929" y="180594"/>
                </a:lnTo>
                <a:lnTo>
                  <a:pt x="57912" y="177673"/>
                </a:lnTo>
                <a:lnTo>
                  <a:pt x="51943" y="177673"/>
                </a:lnTo>
                <a:lnTo>
                  <a:pt x="40005" y="165735"/>
                </a:lnTo>
                <a:lnTo>
                  <a:pt x="34036" y="153670"/>
                </a:lnTo>
                <a:lnTo>
                  <a:pt x="28243" y="123698"/>
                </a:lnTo>
                <a:lnTo>
                  <a:pt x="28194" y="102616"/>
                </a:lnTo>
                <a:lnTo>
                  <a:pt x="28116" y="78105"/>
                </a:lnTo>
                <a:lnTo>
                  <a:pt x="33909" y="48133"/>
                </a:lnTo>
                <a:lnTo>
                  <a:pt x="45847" y="30099"/>
                </a:lnTo>
                <a:lnTo>
                  <a:pt x="57785" y="24257"/>
                </a:lnTo>
                <a:lnTo>
                  <a:pt x="118109" y="24257"/>
                </a:lnTo>
                <a:lnTo>
                  <a:pt x="105790" y="11938"/>
                </a:lnTo>
                <a:lnTo>
                  <a:pt x="93725" y="2921"/>
                </a:lnTo>
                <a:close/>
              </a:path>
              <a:path w="135509" h="202564">
                <a:moveTo>
                  <a:pt x="118109" y="24257"/>
                </a:moveTo>
                <a:lnTo>
                  <a:pt x="75946" y="24257"/>
                </a:lnTo>
                <a:lnTo>
                  <a:pt x="84962" y="27178"/>
                </a:lnTo>
                <a:lnTo>
                  <a:pt x="90932" y="30099"/>
                </a:lnTo>
                <a:lnTo>
                  <a:pt x="93852" y="33020"/>
                </a:lnTo>
                <a:lnTo>
                  <a:pt x="96774" y="38989"/>
                </a:lnTo>
                <a:lnTo>
                  <a:pt x="102743" y="48006"/>
                </a:lnTo>
                <a:lnTo>
                  <a:pt x="105663" y="63119"/>
                </a:lnTo>
                <a:lnTo>
                  <a:pt x="105663" y="72136"/>
                </a:lnTo>
                <a:lnTo>
                  <a:pt x="108585" y="78105"/>
                </a:lnTo>
                <a:lnTo>
                  <a:pt x="108585" y="123698"/>
                </a:lnTo>
                <a:lnTo>
                  <a:pt x="105663" y="129667"/>
                </a:lnTo>
                <a:lnTo>
                  <a:pt x="105663" y="138684"/>
                </a:lnTo>
                <a:lnTo>
                  <a:pt x="102743" y="153797"/>
                </a:lnTo>
                <a:lnTo>
                  <a:pt x="96774" y="165862"/>
                </a:lnTo>
                <a:lnTo>
                  <a:pt x="84962" y="177673"/>
                </a:lnTo>
                <a:lnTo>
                  <a:pt x="75946" y="177673"/>
                </a:lnTo>
                <a:lnTo>
                  <a:pt x="66929" y="180594"/>
                </a:lnTo>
                <a:lnTo>
                  <a:pt x="115440" y="180594"/>
                </a:lnTo>
                <a:lnTo>
                  <a:pt x="123698" y="169545"/>
                </a:lnTo>
                <a:lnTo>
                  <a:pt x="129667" y="148336"/>
                </a:lnTo>
                <a:lnTo>
                  <a:pt x="132587" y="130175"/>
                </a:lnTo>
                <a:lnTo>
                  <a:pt x="135509" y="102743"/>
                </a:lnTo>
                <a:lnTo>
                  <a:pt x="132570" y="75184"/>
                </a:lnTo>
                <a:lnTo>
                  <a:pt x="129667" y="54102"/>
                </a:lnTo>
                <a:lnTo>
                  <a:pt x="123698" y="32893"/>
                </a:lnTo>
                <a:lnTo>
                  <a:pt x="120776" y="26924"/>
                </a:lnTo>
                <a:lnTo>
                  <a:pt x="118109" y="24257"/>
                </a:lnTo>
                <a:close/>
              </a:path>
              <a:path w="135509" h="202564">
                <a:moveTo>
                  <a:pt x="28194" y="102235"/>
                </a:moveTo>
                <a:lnTo>
                  <a:pt x="28067" y="102616"/>
                </a:lnTo>
                <a:lnTo>
                  <a:pt x="28194" y="102235"/>
                </a:lnTo>
                <a:close/>
              </a:path>
              <a:path w="135509" h="202564">
                <a:moveTo>
                  <a:pt x="81787" y="0"/>
                </a:moveTo>
                <a:lnTo>
                  <a:pt x="54356" y="0"/>
                </a:lnTo>
                <a:lnTo>
                  <a:pt x="48387" y="2921"/>
                </a:lnTo>
                <a:lnTo>
                  <a:pt x="87757" y="2921"/>
                </a:lnTo>
                <a:lnTo>
                  <a:pt x="817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4" name="bk object 65"/>
          <p:cNvSpPr/>
          <p:nvPr/>
        </p:nvSpPr>
        <p:spPr>
          <a:xfrm>
            <a:off x="474084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5" name="bk object 66"/>
          <p:cNvSpPr/>
          <p:nvPr/>
        </p:nvSpPr>
        <p:spPr>
          <a:xfrm>
            <a:off x="4798800" y="629856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9" h="194817">
                <a:moveTo>
                  <a:pt x="112649" y="143002"/>
                </a:moveTo>
                <a:lnTo>
                  <a:pt x="85217" y="143002"/>
                </a:lnTo>
                <a:lnTo>
                  <a:pt x="85217" y="194818"/>
                </a:lnTo>
                <a:lnTo>
                  <a:pt x="112649" y="194818"/>
                </a:lnTo>
                <a:lnTo>
                  <a:pt x="112649" y="143002"/>
                </a:lnTo>
                <a:close/>
              </a:path>
              <a:path w="112649" h="194817">
                <a:moveTo>
                  <a:pt x="112649" y="0"/>
                </a:moveTo>
                <a:lnTo>
                  <a:pt x="85217" y="0"/>
                </a:lnTo>
                <a:lnTo>
                  <a:pt x="0" y="118745"/>
                </a:lnTo>
                <a:lnTo>
                  <a:pt x="0" y="143002"/>
                </a:lnTo>
                <a:lnTo>
                  <a:pt x="140081" y="143002"/>
                </a:lnTo>
                <a:lnTo>
                  <a:pt x="140081" y="121793"/>
                </a:lnTo>
                <a:lnTo>
                  <a:pt x="112649" y="121793"/>
                </a:lnTo>
                <a:lnTo>
                  <a:pt x="24130" y="121666"/>
                </a:lnTo>
                <a:lnTo>
                  <a:pt x="84963" y="33401"/>
                </a:lnTo>
                <a:lnTo>
                  <a:pt x="112649" y="33401"/>
                </a:lnTo>
                <a:lnTo>
                  <a:pt x="112649" y="0"/>
                </a:lnTo>
                <a:close/>
              </a:path>
              <a:path w="112649" h="194817">
                <a:moveTo>
                  <a:pt x="112649" y="33401"/>
                </a:moveTo>
                <a:lnTo>
                  <a:pt x="84963" y="33401"/>
                </a:lnTo>
                <a:lnTo>
                  <a:pt x="84963" y="121666"/>
                </a:lnTo>
                <a:lnTo>
                  <a:pt x="112649" y="121666"/>
                </a:lnTo>
                <a:lnTo>
                  <a:pt x="112649" y="3340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6" name="bk object 67"/>
          <p:cNvSpPr/>
          <p:nvPr/>
        </p:nvSpPr>
        <p:spPr>
          <a:xfrm>
            <a:off x="5163480" y="6293520"/>
            <a:ext cx="135000" cy="201600"/>
          </a:xfrm>
          <a:custGeom>
            <a:avLst/>
            <a:gdLst>
              <a:gd name="textAreaLeft" fmla="*/ 0 w 135000"/>
              <a:gd name="textAreaRight" fmla="*/ 135720 w 135000"/>
              <a:gd name="textAreaTop" fmla="*/ 0 h 201600"/>
              <a:gd name="textAreaBottom" fmla="*/ 202320 h 201600"/>
            </a:gdLst>
            <a:ahLst/>
            <a:cxnLst/>
            <a:rect l="textAreaLeft" t="textAreaTop" r="textAreaRight" b="textAreaBottom"/>
            <a:pathLst>
              <a:path w="135636" h="202437">
                <a:moveTo>
                  <a:pt x="93852" y="2920"/>
                </a:moveTo>
                <a:lnTo>
                  <a:pt x="42545" y="2920"/>
                </a:lnTo>
                <a:lnTo>
                  <a:pt x="30479" y="11937"/>
                </a:lnTo>
                <a:lnTo>
                  <a:pt x="15494" y="26911"/>
                </a:lnTo>
                <a:lnTo>
                  <a:pt x="15367" y="29971"/>
                </a:lnTo>
                <a:lnTo>
                  <a:pt x="12573" y="32765"/>
                </a:lnTo>
                <a:lnTo>
                  <a:pt x="9651" y="41782"/>
                </a:lnTo>
                <a:lnTo>
                  <a:pt x="6730" y="53847"/>
                </a:lnTo>
                <a:lnTo>
                  <a:pt x="762" y="75056"/>
                </a:lnTo>
                <a:lnTo>
                  <a:pt x="762" y="102488"/>
                </a:lnTo>
                <a:lnTo>
                  <a:pt x="0" y="102615"/>
                </a:lnTo>
                <a:lnTo>
                  <a:pt x="0" y="130047"/>
                </a:lnTo>
                <a:lnTo>
                  <a:pt x="5969" y="148208"/>
                </a:lnTo>
                <a:lnTo>
                  <a:pt x="11937" y="169417"/>
                </a:lnTo>
                <a:lnTo>
                  <a:pt x="29972" y="193547"/>
                </a:lnTo>
                <a:lnTo>
                  <a:pt x="42037" y="199516"/>
                </a:lnTo>
                <a:lnTo>
                  <a:pt x="54101" y="202437"/>
                </a:lnTo>
                <a:lnTo>
                  <a:pt x="81534" y="202437"/>
                </a:lnTo>
                <a:lnTo>
                  <a:pt x="93599" y="199516"/>
                </a:lnTo>
                <a:lnTo>
                  <a:pt x="105663" y="193547"/>
                </a:lnTo>
                <a:lnTo>
                  <a:pt x="115250" y="180720"/>
                </a:lnTo>
                <a:lnTo>
                  <a:pt x="67183" y="180720"/>
                </a:lnTo>
                <a:lnTo>
                  <a:pt x="61213" y="177799"/>
                </a:lnTo>
                <a:lnTo>
                  <a:pt x="52197" y="177799"/>
                </a:lnTo>
                <a:lnTo>
                  <a:pt x="40259" y="165861"/>
                </a:lnTo>
                <a:lnTo>
                  <a:pt x="34289" y="153796"/>
                </a:lnTo>
                <a:lnTo>
                  <a:pt x="28472" y="123697"/>
                </a:lnTo>
                <a:lnTo>
                  <a:pt x="28448" y="102488"/>
                </a:lnTo>
                <a:lnTo>
                  <a:pt x="34162" y="48005"/>
                </a:lnTo>
                <a:lnTo>
                  <a:pt x="61087" y="24129"/>
                </a:lnTo>
                <a:lnTo>
                  <a:pt x="118109" y="24129"/>
                </a:lnTo>
                <a:lnTo>
                  <a:pt x="105917" y="11937"/>
                </a:lnTo>
                <a:lnTo>
                  <a:pt x="93852" y="2920"/>
                </a:lnTo>
                <a:close/>
              </a:path>
              <a:path w="135636" h="202437">
                <a:moveTo>
                  <a:pt x="118109" y="24129"/>
                </a:moveTo>
                <a:lnTo>
                  <a:pt x="76200" y="24129"/>
                </a:lnTo>
                <a:lnTo>
                  <a:pt x="85216" y="27050"/>
                </a:lnTo>
                <a:lnTo>
                  <a:pt x="91186" y="29971"/>
                </a:lnTo>
                <a:lnTo>
                  <a:pt x="103124" y="48005"/>
                </a:lnTo>
                <a:lnTo>
                  <a:pt x="106045" y="57022"/>
                </a:lnTo>
                <a:lnTo>
                  <a:pt x="106045" y="62991"/>
                </a:lnTo>
                <a:lnTo>
                  <a:pt x="108965" y="78104"/>
                </a:lnTo>
                <a:lnTo>
                  <a:pt x="108965" y="123697"/>
                </a:lnTo>
                <a:lnTo>
                  <a:pt x="106045" y="138810"/>
                </a:lnTo>
                <a:lnTo>
                  <a:pt x="106045" y="147827"/>
                </a:lnTo>
                <a:lnTo>
                  <a:pt x="103124" y="153796"/>
                </a:lnTo>
                <a:lnTo>
                  <a:pt x="97154" y="165861"/>
                </a:lnTo>
                <a:lnTo>
                  <a:pt x="85216" y="177799"/>
                </a:lnTo>
                <a:lnTo>
                  <a:pt x="76200" y="177799"/>
                </a:lnTo>
                <a:lnTo>
                  <a:pt x="67183" y="180720"/>
                </a:lnTo>
                <a:lnTo>
                  <a:pt x="115250" y="180720"/>
                </a:lnTo>
                <a:lnTo>
                  <a:pt x="123698" y="169417"/>
                </a:lnTo>
                <a:lnTo>
                  <a:pt x="129666" y="148208"/>
                </a:lnTo>
                <a:lnTo>
                  <a:pt x="135636" y="130047"/>
                </a:lnTo>
                <a:lnTo>
                  <a:pt x="135600" y="75056"/>
                </a:lnTo>
                <a:lnTo>
                  <a:pt x="123698" y="32765"/>
                </a:lnTo>
                <a:lnTo>
                  <a:pt x="120776" y="26796"/>
                </a:lnTo>
                <a:lnTo>
                  <a:pt x="118109" y="24129"/>
                </a:lnTo>
                <a:close/>
              </a:path>
              <a:path w="135636" h="202437">
                <a:moveTo>
                  <a:pt x="28448" y="102361"/>
                </a:moveTo>
              </a:path>
              <a:path w="135636" h="202437">
                <a:moveTo>
                  <a:pt x="81914" y="0"/>
                </a:moveTo>
                <a:lnTo>
                  <a:pt x="54483" y="0"/>
                </a:lnTo>
                <a:lnTo>
                  <a:pt x="48513" y="2920"/>
                </a:lnTo>
                <a:lnTo>
                  <a:pt x="87884" y="2920"/>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7" name="bk object 68"/>
          <p:cNvSpPr/>
          <p:nvPr/>
        </p:nvSpPr>
        <p:spPr>
          <a:xfrm>
            <a:off x="533196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8" name="bk object 69"/>
          <p:cNvSpPr/>
          <p:nvPr/>
        </p:nvSpPr>
        <p:spPr>
          <a:xfrm>
            <a:off x="5389920" y="6298560"/>
            <a:ext cx="138240" cy="195480"/>
          </a:xfrm>
          <a:custGeom>
            <a:avLst/>
            <a:gdLst>
              <a:gd name="textAreaLeft" fmla="*/ 0 w 138240"/>
              <a:gd name="textAreaRight" fmla="*/ 138960 w 138240"/>
              <a:gd name="textAreaTop" fmla="*/ 0 h 195480"/>
              <a:gd name="textAreaBottom" fmla="*/ 196200 h 195480"/>
            </a:gdLst>
            <a:ahLst/>
            <a:cxnLst/>
            <a:rect l="textAreaLeft" t="textAreaTop" r="textAreaRight" b="textAreaBottom"/>
            <a:pathLst>
              <a:path w="139064" h="196341">
                <a:moveTo>
                  <a:pt x="27432" y="142875"/>
                </a:moveTo>
                <a:lnTo>
                  <a:pt x="1270" y="142875"/>
                </a:lnTo>
                <a:lnTo>
                  <a:pt x="1311" y="148844"/>
                </a:lnTo>
                <a:lnTo>
                  <a:pt x="21971" y="181610"/>
                </a:lnTo>
                <a:lnTo>
                  <a:pt x="51955" y="196342"/>
                </a:lnTo>
                <a:lnTo>
                  <a:pt x="82296" y="196342"/>
                </a:lnTo>
                <a:lnTo>
                  <a:pt x="121412" y="175514"/>
                </a:lnTo>
                <a:lnTo>
                  <a:pt x="122903" y="172466"/>
                </a:lnTo>
                <a:lnTo>
                  <a:pt x="57023" y="172466"/>
                </a:lnTo>
                <a:lnTo>
                  <a:pt x="48006" y="169545"/>
                </a:lnTo>
                <a:lnTo>
                  <a:pt x="45085" y="169545"/>
                </a:lnTo>
                <a:lnTo>
                  <a:pt x="33274" y="157734"/>
                </a:lnTo>
                <a:lnTo>
                  <a:pt x="30352" y="151752"/>
                </a:lnTo>
                <a:lnTo>
                  <a:pt x="27432" y="148844"/>
                </a:lnTo>
                <a:lnTo>
                  <a:pt x="27432" y="142875"/>
                </a:lnTo>
                <a:close/>
              </a:path>
              <a:path w="139064" h="196341">
                <a:moveTo>
                  <a:pt x="123638" y="85852"/>
                </a:moveTo>
                <a:lnTo>
                  <a:pt x="75311" y="85852"/>
                </a:lnTo>
                <a:lnTo>
                  <a:pt x="78232" y="88773"/>
                </a:lnTo>
                <a:lnTo>
                  <a:pt x="84200" y="88773"/>
                </a:lnTo>
                <a:lnTo>
                  <a:pt x="90170" y="91694"/>
                </a:lnTo>
                <a:lnTo>
                  <a:pt x="102108" y="103632"/>
                </a:lnTo>
                <a:lnTo>
                  <a:pt x="108076" y="112649"/>
                </a:lnTo>
                <a:lnTo>
                  <a:pt x="108076" y="124714"/>
                </a:lnTo>
                <a:lnTo>
                  <a:pt x="110998" y="130683"/>
                </a:lnTo>
                <a:lnTo>
                  <a:pt x="108076" y="133604"/>
                </a:lnTo>
                <a:lnTo>
                  <a:pt x="107950" y="148844"/>
                </a:lnTo>
                <a:lnTo>
                  <a:pt x="90170" y="166624"/>
                </a:lnTo>
                <a:lnTo>
                  <a:pt x="84200" y="169545"/>
                </a:lnTo>
                <a:lnTo>
                  <a:pt x="75184" y="172466"/>
                </a:lnTo>
                <a:lnTo>
                  <a:pt x="122903" y="172466"/>
                </a:lnTo>
                <a:lnTo>
                  <a:pt x="124333" y="169545"/>
                </a:lnTo>
                <a:lnTo>
                  <a:pt x="133223" y="160655"/>
                </a:lnTo>
                <a:lnTo>
                  <a:pt x="133223" y="151638"/>
                </a:lnTo>
                <a:lnTo>
                  <a:pt x="136144" y="145669"/>
                </a:lnTo>
                <a:lnTo>
                  <a:pt x="139064" y="130556"/>
                </a:lnTo>
                <a:lnTo>
                  <a:pt x="136144" y="115443"/>
                </a:lnTo>
                <a:lnTo>
                  <a:pt x="133223" y="103378"/>
                </a:lnTo>
                <a:lnTo>
                  <a:pt x="127253" y="91313"/>
                </a:lnTo>
                <a:lnTo>
                  <a:pt x="123638" y="85852"/>
                </a:lnTo>
                <a:close/>
              </a:path>
              <a:path w="139064" h="196341">
                <a:moveTo>
                  <a:pt x="1270" y="142748"/>
                </a:moveTo>
                <a:lnTo>
                  <a:pt x="0" y="142875"/>
                </a:lnTo>
                <a:lnTo>
                  <a:pt x="1270" y="142875"/>
                </a:lnTo>
                <a:lnTo>
                  <a:pt x="1270" y="142748"/>
                </a:lnTo>
                <a:close/>
              </a:path>
              <a:path w="139064" h="196341">
                <a:moveTo>
                  <a:pt x="128155" y="0"/>
                </a:moveTo>
                <a:lnTo>
                  <a:pt x="21462" y="0"/>
                </a:lnTo>
                <a:lnTo>
                  <a:pt x="6350" y="103632"/>
                </a:lnTo>
                <a:lnTo>
                  <a:pt x="30607" y="103632"/>
                </a:lnTo>
                <a:lnTo>
                  <a:pt x="33527" y="97663"/>
                </a:lnTo>
                <a:lnTo>
                  <a:pt x="36449" y="97663"/>
                </a:lnTo>
                <a:lnTo>
                  <a:pt x="42430" y="91694"/>
                </a:lnTo>
                <a:lnTo>
                  <a:pt x="45338" y="91694"/>
                </a:lnTo>
                <a:lnTo>
                  <a:pt x="51308" y="88773"/>
                </a:lnTo>
                <a:lnTo>
                  <a:pt x="57276" y="88773"/>
                </a:lnTo>
                <a:lnTo>
                  <a:pt x="66294" y="85852"/>
                </a:lnTo>
                <a:lnTo>
                  <a:pt x="123638" y="85852"/>
                </a:lnTo>
                <a:lnTo>
                  <a:pt x="121285" y="82296"/>
                </a:lnTo>
                <a:lnTo>
                  <a:pt x="112958" y="76073"/>
                </a:lnTo>
                <a:lnTo>
                  <a:pt x="33909" y="76073"/>
                </a:lnTo>
                <a:lnTo>
                  <a:pt x="39877" y="21209"/>
                </a:lnTo>
                <a:lnTo>
                  <a:pt x="128155" y="21209"/>
                </a:lnTo>
                <a:lnTo>
                  <a:pt x="128155" y="0"/>
                </a:lnTo>
                <a:close/>
              </a:path>
              <a:path w="139064" h="196341">
                <a:moveTo>
                  <a:pt x="85089" y="64389"/>
                </a:moveTo>
                <a:lnTo>
                  <a:pt x="60833" y="64389"/>
                </a:lnTo>
                <a:lnTo>
                  <a:pt x="42799" y="70231"/>
                </a:lnTo>
                <a:lnTo>
                  <a:pt x="36830" y="73152"/>
                </a:lnTo>
                <a:lnTo>
                  <a:pt x="33909" y="76073"/>
                </a:lnTo>
                <a:lnTo>
                  <a:pt x="112958" y="76073"/>
                </a:lnTo>
                <a:lnTo>
                  <a:pt x="109220" y="73279"/>
                </a:lnTo>
                <a:lnTo>
                  <a:pt x="97155" y="67310"/>
                </a:lnTo>
                <a:lnTo>
                  <a:pt x="85089" y="64389"/>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9" name="bk object 70"/>
          <p:cNvSpPr/>
          <p:nvPr/>
        </p:nvSpPr>
        <p:spPr>
          <a:xfrm>
            <a:off x="575820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473" h="202564">
                <a:moveTo>
                  <a:pt x="93599" y="2921"/>
                </a:moveTo>
                <a:lnTo>
                  <a:pt x="42290" y="2921"/>
                </a:lnTo>
                <a:lnTo>
                  <a:pt x="30225" y="11938"/>
                </a:lnTo>
                <a:lnTo>
                  <a:pt x="15239" y="26924"/>
                </a:lnTo>
                <a:lnTo>
                  <a:pt x="12319" y="32893"/>
                </a:lnTo>
                <a:lnTo>
                  <a:pt x="9398" y="41910"/>
                </a:lnTo>
                <a:lnTo>
                  <a:pt x="6476" y="53975"/>
                </a:lnTo>
                <a:lnTo>
                  <a:pt x="508" y="75184"/>
                </a:lnTo>
                <a:lnTo>
                  <a:pt x="508" y="102616"/>
                </a:lnTo>
                <a:lnTo>
                  <a:pt x="0" y="102870"/>
                </a:lnTo>
                <a:lnTo>
                  <a:pt x="0" y="130302"/>
                </a:lnTo>
                <a:lnTo>
                  <a:pt x="5969" y="148463"/>
                </a:lnTo>
                <a:lnTo>
                  <a:pt x="8889" y="160528"/>
                </a:lnTo>
                <a:lnTo>
                  <a:pt x="11811" y="169545"/>
                </a:lnTo>
                <a:lnTo>
                  <a:pt x="29845" y="193675"/>
                </a:lnTo>
                <a:lnTo>
                  <a:pt x="41910" y="199644"/>
                </a:lnTo>
                <a:lnTo>
                  <a:pt x="53975" y="202565"/>
                </a:lnTo>
                <a:lnTo>
                  <a:pt x="81407" y="202565"/>
                </a:lnTo>
                <a:lnTo>
                  <a:pt x="93472" y="199644"/>
                </a:lnTo>
                <a:lnTo>
                  <a:pt x="105537" y="193675"/>
                </a:lnTo>
                <a:lnTo>
                  <a:pt x="115123" y="180848"/>
                </a:lnTo>
                <a:lnTo>
                  <a:pt x="66675" y="180848"/>
                </a:lnTo>
                <a:lnTo>
                  <a:pt x="60706" y="177927"/>
                </a:lnTo>
                <a:lnTo>
                  <a:pt x="51688" y="177927"/>
                </a:lnTo>
                <a:lnTo>
                  <a:pt x="39877" y="166116"/>
                </a:lnTo>
                <a:lnTo>
                  <a:pt x="33909" y="154038"/>
                </a:lnTo>
                <a:lnTo>
                  <a:pt x="28066" y="123825"/>
                </a:lnTo>
                <a:lnTo>
                  <a:pt x="27939" y="102616"/>
                </a:lnTo>
                <a:lnTo>
                  <a:pt x="27964" y="78232"/>
                </a:lnTo>
                <a:lnTo>
                  <a:pt x="33782" y="48133"/>
                </a:lnTo>
                <a:lnTo>
                  <a:pt x="45720" y="30099"/>
                </a:lnTo>
                <a:lnTo>
                  <a:pt x="48640" y="27178"/>
                </a:lnTo>
                <a:lnTo>
                  <a:pt x="51562" y="27178"/>
                </a:lnTo>
                <a:lnTo>
                  <a:pt x="60578" y="24257"/>
                </a:lnTo>
                <a:lnTo>
                  <a:pt x="117982" y="24257"/>
                </a:lnTo>
                <a:lnTo>
                  <a:pt x="105663" y="11938"/>
                </a:lnTo>
                <a:lnTo>
                  <a:pt x="93599" y="2921"/>
                </a:lnTo>
                <a:close/>
              </a:path>
              <a:path w="135473" h="202564">
                <a:moveTo>
                  <a:pt x="117982" y="24257"/>
                </a:moveTo>
                <a:lnTo>
                  <a:pt x="75691" y="24257"/>
                </a:lnTo>
                <a:lnTo>
                  <a:pt x="84709" y="27178"/>
                </a:lnTo>
                <a:lnTo>
                  <a:pt x="90677" y="30099"/>
                </a:lnTo>
                <a:lnTo>
                  <a:pt x="102615" y="48133"/>
                </a:lnTo>
                <a:lnTo>
                  <a:pt x="105537" y="57150"/>
                </a:lnTo>
                <a:lnTo>
                  <a:pt x="105537" y="63119"/>
                </a:lnTo>
                <a:lnTo>
                  <a:pt x="108458" y="78232"/>
                </a:lnTo>
                <a:lnTo>
                  <a:pt x="108458" y="123825"/>
                </a:lnTo>
                <a:lnTo>
                  <a:pt x="105537" y="138938"/>
                </a:lnTo>
                <a:lnTo>
                  <a:pt x="105537" y="147955"/>
                </a:lnTo>
                <a:lnTo>
                  <a:pt x="102559" y="154038"/>
                </a:lnTo>
                <a:lnTo>
                  <a:pt x="96647" y="165989"/>
                </a:lnTo>
                <a:lnTo>
                  <a:pt x="84709" y="177927"/>
                </a:lnTo>
                <a:lnTo>
                  <a:pt x="75691" y="177927"/>
                </a:lnTo>
                <a:lnTo>
                  <a:pt x="66675" y="180848"/>
                </a:lnTo>
                <a:lnTo>
                  <a:pt x="115123" y="180848"/>
                </a:lnTo>
                <a:lnTo>
                  <a:pt x="123571" y="169545"/>
                </a:lnTo>
                <a:lnTo>
                  <a:pt x="129539" y="148336"/>
                </a:lnTo>
                <a:lnTo>
                  <a:pt x="135467" y="130302"/>
                </a:lnTo>
                <a:lnTo>
                  <a:pt x="135473" y="75184"/>
                </a:lnTo>
                <a:lnTo>
                  <a:pt x="123571" y="32893"/>
                </a:lnTo>
                <a:lnTo>
                  <a:pt x="120650" y="26924"/>
                </a:lnTo>
                <a:lnTo>
                  <a:pt x="117982" y="24257"/>
                </a:lnTo>
                <a:close/>
              </a:path>
              <a:path w="135473" h="202564">
                <a:moveTo>
                  <a:pt x="81661" y="0"/>
                </a:moveTo>
                <a:lnTo>
                  <a:pt x="54228"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0" name="bk object 71"/>
          <p:cNvSpPr/>
          <p:nvPr/>
        </p:nvSpPr>
        <p:spPr>
          <a:xfrm>
            <a:off x="59263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1" name="bk object 72"/>
          <p:cNvSpPr/>
          <p:nvPr/>
        </p:nvSpPr>
        <p:spPr>
          <a:xfrm>
            <a:off x="5986800" y="6292440"/>
            <a:ext cx="137520" cy="201600"/>
          </a:xfrm>
          <a:custGeom>
            <a:avLst/>
            <a:gdLst>
              <a:gd name="textAreaLeft" fmla="*/ 0 w 137520"/>
              <a:gd name="textAreaRight" fmla="*/ 138240 w 137520"/>
              <a:gd name="textAreaTop" fmla="*/ 0 h 201600"/>
              <a:gd name="textAreaBottom" fmla="*/ 202320 h 201600"/>
            </a:gdLst>
            <a:ahLst/>
            <a:cxnLst/>
            <a:rect l="textAreaLeft" t="textAreaTop" r="textAreaRight" b="textAreaBottom"/>
            <a:pathLst>
              <a:path w="138303" h="202311">
                <a:moveTo>
                  <a:pt x="90424" y="0"/>
                </a:moveTo>
                <a:lnTo>
                  <a:pt x="60071" y="0"/>
                </a:lnTo>
                <a:lnTo>
                  <a:pt x="48006" y="5969"/>
                </a:lnTo>
                <a:lnTo>
                  <a:pt x="32893" y="11925"/>
                </a:lnTo>
                <a:lnTo>
                  <a:pt x="14859" y="36068"/>
                </a:lnTo>
                <a:lnTo>
                  <a:pt x="5842" y="57277"/>
                </a:lnTo>
                <a:lnTo>
                  <a:pt x="2921" y="78486"/>
                </a:lnTo>
                <a:lnTo>
                  <a:pt x="0" y="90551"/>
                </a:lnTo>
                <a:lnTo>
                  <a:pt x="87" y="130810"/>
                </a:lnTo>
                <a:lnTo>
                  <a:pt x="2921" y="151384"/>
                </a:lnTo>
                <a:lnTo>
                  <a:pt x="11937" y="169545"/>
                </a:lnTo>
                <a:lnTo>
                  <a:pt x="14859" y="178562"/>
                </a:lnTo>
                <a:lnTo>
                  <a:pt x="20700" y="184404"/>
                </a:lnTo>
                <a:lnTo>
                  <a:pt x="32766" y="193421"/>
                </a:lnTo>
                <a:lnTo>
                  <a:pt x="44831" y="199390"/>
                </a:lnTo>
                <a:lnTo>
                  <a:pt x="56896" y="202311"/>
                </a:lnTo>
                <a:lnTo>
                  <a:pt x="84328" y="202311"/>
                </a:lnTo>
                <a:lnTo>
                  <a:pt x="96393" y="199390"/>
                </a:lnTo>
                <a:lnTo>
                  <a:pt x="108458" y="193421"/>
                </a:lnTo>
                <a:lnTo>
                  <a:pt x="120142" y="181737"/>
                </a:lnTo>
                <a:lnTo>
                  <a:pt x="59182" y="181737"/>
                </a:lnTo>
                <a:lnTo>
                  <a:pt x="50164" y="178816"/>
                </a:lnTo>
                <a:lnTo>
                  <a:pt x="44196" y="172847"/>
                </a:lnTo>
                <a:lnTo>
                  <a:pt x="38226" y="169926"/>
                </a:lnTo>
                <a:lnTo>
                  <a:pt x="38226" y="167005"/>
                </a:lnTo>
                <a:lnTo>
                  <a:pt x="32385" y="155067"/>
                </a:lnTo>
                <a:lnTo>
                  <a:pt x="29463" y="146050"/>
                </a:lnTo>
                <a:lnTo>
                  <a:pt x="29463" y="127889"/>
                </a:lnTo>
                <a:lnTo>
                  <a:pt x="32385" y="121920"/>
                </a:lnTo>
                <a:lnTo>
                  <a:pt x="35306" y="112903"/>
                </a:lnTo>
                <a:lnTo>
                  <a:pt x="41275" y="106934"/>
                </a:lnTo>
                <a:lnTo>
                  <a:pt x="47244" y="104000"/>
                </a:lnTo>
                <a:lnTo>
                  <a:pt x="53212" y="98044"/>
                </a:lnTo>
                <a:lnTo>
                  <a:pt x="127508" y="98044"/>
                </a:lnTo>
                <a:lnTo>
                  <a:pt x="123444" y="93980"/>
                </a:lnTo>
                <a:lnTo>
                  <a:pt x="27050" y="93980"/>
                </a:lnTo>
                <a:lnTo>
                  <a:pt x="29972" y="81915"/>
                </a:lnTo>
                <a:lnTo>
                  <a:pt x="29972" y="66802"/>
                </a:lnTo>
                <a:lnTo>
                  <a:pt x="32893" y="54737"/>
                </a:lnTo>
                <a:lnTo>
                  <a:pt x="38862" y="42672"/>
                </a:lnTo>
                <a:lnTo>
                  <a:pt x="53721" y="27800"/>
                </a:lnTo>
                <a:lnTo>
                  <a:pt x="59689" y="24892"/>
                </a:lnTo>
                <a:lnTo>
                  <a:pt x="65659" y="24892"/>
                </a:lnTo>
                <a:lnTo>
                  <a:pt x="74675" y="21971"/>
                </a:lnTo>
                <a:lnTo>
                  <a:pt x="125432" y="21971"/>
                </a:lnTo>
                <a:lnTo>
                  <a:pt x="123444" y="17907"/>
                </a:lnTo>
                <a:lnTo>
                  <a:pt x="114426" y="8890"/>
                </a:lnTo>
                <a:lnTo>
                  <a:pt x="102362" y="2921"/>
                </a:lnTo>
                <a:lnTo>
                  <a:pt x="96393" y="2921"/>
                </a:lnTo>
                <a:lnTo>
                  <a:pt x="90424" y="0"/>
                </a:lnTo>
                <a:close/>
              </a:path>
              <a:path w="138303" h="202311">
                <a:moveTo>
                  <a:pt x="127508" y="98044"/>
                </a:moveTo>
                <a:lnTo>
                  <a:pt x="80645" y="98044"/>
                </a:lnTo>
                <a:lnTo>
                  <a:pt x="92583" y="103886"/>
                </a:lnTo>
                <a:lnTo>
                  <a:pt x="104521" y="115824"/>
                </a:lnTo>
                <a:lnTo>
                  <a:pt x="107442" y="121793"/>
                </a:lnTo>
                <a:lnTo>
                  <a:pt x="107442" y="130810"/>
                </a:lnTo>
                <a:lnTo>
                  <a:pt x="110362" y="139827"/>
                </a:lnTo>
                <a:lnTo>
                  <a:pt x="110109" y="139954"/>
                </a:lnTo>
                <a:lnTo>
                  <a:pt x="107187" y="145923"/>
                </a:lnTo>
                <a:lnTo>
                  <a:pt x="107146" y="155067"/>
                </a:lnTo>
                <a:lnTo>
                  <a:pt x="104267" y="163957"/>
                </a:lnTo>
                <a:lnTo>
                  <a:pt x="98298" y="169926"/>
                </a:lnTo>
                <a:lnTo>
                  <a:pt x="92329" y="172847"/>
                </a:lnTo>
                <a:lnTo>
                  <a:pt x="86360" y="178816"/>
                </a:lnTo>
                <a:lnTo>
                  <a:pt x="80391" y="181737"/>
                </a:lnTo>
                <a:lnTo>
                  <a:pt x="120142" y="181737"/>
                </a:lnTo>
                <a:lnTo>
                  <a:pt x="126492" y="175387"/>
                </a:lnTo>
                <a:lnTo>
                  <a:pt x="132461" y="163322"/>
                </a:lnTo>
                <a:lnTo>
                  <a:pt x="138303" y="139192"/>
                </a:lnTo>
                <a:lnTo>
                  <a:pt x="135382" y="124079"/>
                </a:lnTo>
                <a:lnTo>
                  <a:pt x="135382" y="115062"/>
                </a:lnTo>
                <a:lnTo>
                  <a:pt x="129412" y="99949"/>
                </a:lnTo>
                <a:lnTo>
                  <a:pt x="127508" y="98044"/>
                </a:lnTo>
                <a:close/>
              </a:path>
              <a:path w="138303" h="202311">
                <a:moveTo>
                  <a:pt x="84328" y="73152"/>
                </a:moveTo>
                <a:lnTo>
                  <a:pt x="60071" y="73152"/>
                </a:lnTo>
                <a:lnTo>
                  <a:pt x="51054" y="76073"/>
                </a:lnTo>
                <a:lnTo>
                  <a:pt x="33020" y="88011"/>
                </a:lnTo>
                <a:lnTo>
                  <a:pt x="27050" y="93980"/>
                </a:lnTo>
                <a:lnTo>
                  <a:pt x="123444" y="93980"/>
                </a:lnTo>
                <a:lnTo>
                  <a:pt x="111379" y="81915"/>
                </a:lnTo>
                <a:lnTo>
                  <a:pt x="99441" y="76073"/>
                </a:lnTo>
                <a:lnTo>
                  <a:pt x="84328" y="73152"/>
                </a:lnTo>
                <a:close/>
              </a:path>
              <a:path w="138303" h="202311">
                <a:moveTo>
                  <a:pt x="125432" y="21971"/>
                </a:moveTo>
                <a:lnTo>
                  <a:pt x="74675" y="21971"/>
                </a:lnTo>
                <a:lnTo>
                  <a:pt x="83693" y="24892"/>
                </a:lnTo>
                <a:lnTo>
                  <a:pt x="89662" y="24892"/>
                </a:lnTo>
                <a:lnTo>
                  <a:pt x="95631" y="27800"/>
                </a:lnTo>
                <a:lnTo>
                  <a:pt x="101600" y="33782"/>
                </a:lnTo>
                <a:lnTo>
                  <a:pt x="107442" y="45720"/>
                </a:lnTo>
                <a:lnTo>
                  <a:pt x="107442" y="51689"/>
                </a:lnTo>
                <a:lnTo>
                  <a:pt x="110362" y="54610"/>
                </a:lnTo>
                <a:lnTo>
                  <a:pt x="134620" y="54610"/>
                </a:lnTo>
                <a:lnTo>
                  <a:pt x="135255" y="53848"/>
                </a:lnTo>
                <a:lnTo>
                  <a:pt x="135255" y="44831"/>
                </a:lnTo>
                <a:lnTo>
                  <a:pt x="132334" y="38862"/>
                </a:lnTo>
                <a:lnTo>
                  <a:pt x="132334" y="32893"/>
                </a:lnTo>
                <a:lnTo>
                  <a:pt x="126364" y="23876"/>
                </a:lnTo>
                <a:lnTo>
                  <a:pt x="125432" y="2197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2" name="bk object 73"/>
          <p:cNvSpPr/>
          <p:nvPr/>
        </p:nvSpPr>
        <p:spPr>
          <a:xfrm>
            <a:off x="6350040" y="6293520"/>
            <a:ext cx="134280" cy="201600"/>
          </a:xfrm>
          <a:custGeom>
            <a:avLst/>
            <a:gdLst>
              <a:gd name="textAreaLeft" fmla="*/ 0 w 134280"/>
              <a:gd name="textAreaRight" fmla="*/ 135000 w 134280"/>
              <a:gd name="textAreaTop" fmla="*/ 0 h 201600"/>
              <a:gd name="textAreaBottom" fmla="*/ 202320 h 201600"/>
            </a:gdLst>
            <a:ahLst/>
            <a:cxnLst/>
            <a:rect l="textAreaLeft" t="textAreaTop" r="textAreaRight" b="textAreaBottom"/>
            <a:pathLst>
              <a:path w="134929" h="202437">
                <a:moveTo>
                  <a:pt x="93090" y="2920"/>
                </a:moveTo>
                <a:lnTo>
                  <a:pt x="41782" y="2920"/>
                </a:lnTo>
                <a:lnTo>
                  <a:pt x="29717" y="11937"/>
                </a:lnTo>
                <a:lnTo>
                  <a:pt x="14731" y="26911"/>
                </a:lnTo>
                <a:lnTo>
                  <a:pt x="11811" y="32892"/>
                </a:lnTo>
                <a:lnTo>
                  <a:pt x="8889" y="41909"/>
                </a:lnTo>
                <a:lnTo>
                  <a:pt x="5968" y="53974"/>
                </a:lnTo>
                <a:lnTo>
                  <a:pt x="3048" y="62991"/>
                </a:lnTo>
                <a:lnTo>
                  <a:pt x="126" y="75056"/>
                </a:lnTo>
                <a:lnTo>
                  <a:pt x="0" y="130428"/>
                </a:lnTo>
                <a:lnTo>
                  <a:pt x="5841" y="148462"/>
                </a:lnTo>
                <a:lnTo>
                  <a:pt x="8762" y="160527"/>
                </a:lnTo>
                <a:lnTo>
                  <a:pt x="11683" y="169544"/>
                </a:lnTo>
                <a:lnTo>
                  <a:pt x="14604" y="175513"/>
                </a:lnTo>
                <a:lnTo>
                  <a:pt x="20574" y="181482"/>
                </a:lnTo>
                <a:lnTo>
                  <a:pt x="29590" y="193547"/>
                </a:lnTo>
                <a:lnTo>
                  <a:pt x="47625" y="202437"/>
                </a:lnTo>
                <a:lnTo>
                  <a:pt x="81025" y="202437"/>
                </a:lnTo>
                <a:lnTo>
                  <a:pt x="93090" y="199516"/>
                </a:lnTo>
                <a:lnTo>
                  <a:pt x="105155" y="193547"/>
                </a:lnTo>
                <a:lnTo>
                  <a:pt x="114185" y="181482"/>
                </a:lnTo>
                <a:lnTo>
                  <a:pt x="114692" y="180974"/>
                </a:lnTo>
                <a:lnTo>
                  <a:pt x="69341" y="180974"/>
                </a:lnTo>
                <a:lnTo>
                  <a:pt x="60325" y="178053"/>
                </a:lnTo>
                <a:lnTo>
                  <a:pt x="51307" y="178053"/>
                </a:lnTo>
                <a:lnTo>
                  <a:pt x="39369" y="166115"/>
                </a:lnTo>
                <a:lnTo>
                  <a:pt x="33400" y="154050"/>
                </a:lnTo>
                <a:lnTo>
                  <a:pt x="27558" y="123824"/>
                </a:lnTo>
                <a:lnTo>
                  <a:pt x="27431" y="78231"/>
                </a:lnTo>
                <a:lnTo>
                  <a:pt x="33274" y="48005"/>
                </a:lnTo>
                <a:lnTo>
                  <a:pt x="45212" y="29971"/>
                </a:lnTo>
                <a:lnTo>
                  <a:pt x="51180" y="27050"/>
                </a:lnTo>
                <a:lnTo>
                  <a:pt x="60198" y="24129"/>
                </a:lnTo>
                <a:lnTo>
                  <a:pt x="117358" y="24129"/>
                </a:lnTo>
                <a:lnTo>
                  <a:pt x="105155" y="11937"/>
                </a:lnTo>
                <a:lnTo>
                  <a:pt x="93090" y="2920"/>
                </a:lnTo>
                <a:close/>
              </a:path>
              <a:path w="134929" h="202437">
                <a:moveTo>
                  <a:pt x="117358" y="24129"/>
                </a:moveTo>
                <a:lnTo>
                  <a:pt x="75311" y="24129"/>
                </a:lnTo>
                <a:lnTo>
                  <a:pt x="84327" y="27050"/>
                </a:lnTo>
                <a:lnTo>
                  <a:pt x="90296" y="29971"/>
                </a:lnTo>
                <a:lnTo>
                  <a:pt x="102235" y="48005"/>
                </a:lnTo>
                <a:lnTo>
                  <a:pt x="108076" y="78231"/>
                </a:lnTo>
                <a:lnTo>
                  <a:pt x="108076" y="123824"/>
                </a:lnTo>
                <a:lnTo>
                  <a:pt x="102235" y="154050"/>
                </a:lnTo>
                <a:lnTo>
                  <a:pt x="96265" y="166115"/>
                </a:lnTo>
                <a:lnTo>
                  <a:pt x="84327" y="178053"/>
                </a:lnTo>
                <a:lnTo>
                  <a:pt x="75311" y="178053"/>
                </a:lnTo>
                <a:lnTo>
                  <a:pt x="69341" y="180974"/>
                </a:lnTo>
                <a:lnTo>
                  <a:pt x="114692" y="180974"/>
                </a:lnTo>
                <a:lnTo>
                  <a:pt x="120141" y="175513"/>
                </a:lnTo>
                <a:lnTo>
                  <a:pt x="123062" y="169544"/>
                </a:lnTo>
                <a:lnTo>
                  <a:pt x="129031" y="148335"/>
                </a:lnTo>
                <a:lnTo>
                  <a:pt x="134917" y="130428"/>
                </a:lnTo>
                <a:lnTo>
                  <a:pt x="134929" y="75056"/>
                </a:lnTo>
                <a:lnTo>
                  <a:pt x="123062" y="32892"/>
                </a:lnTo>
                <a:lnTo>
                  <a:pt x="120141" y="26911"/>
                </a:lnTo>
                <a:lnTo>
                  <a:pt x="117358" y="24129"/>
                </a:lnTo>
                <a:close/>
              </a:path>
              <a:path w="134929" h="202437">
                <a:moveTo>
                  <a:pt x="81152" y="0"/>
                </a:moveTo>
                <a:lnTo>
                  <a:pt x="53720" y="0"/>
                </a:lnTo>
                <a:lnTo>
                  <a:pt x="47751" y="2920"/>
                </a:lnTo>
                <a:lnTo>
                  <a:pt x="87121" y="2920"/>
                </a:lnTo>
                <a:lnTo>
                  <a:pt x="8115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3" name="bk object 74"/>
          <p:cNvSpPr/>
          <p:nvPr/>
        </p:nvSpPr>
        <p:spPr>
          <a:xfrm>
            <a:off x="65174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4" name="bk object 75"/>
          <p:cNvSpPr/>
          <p:nvPr/>
        </p:nvSpPr>
        <p:spPr>
          <a:xfrm>
            <a:off x="6577200" y="6300000"/>
            <a:ext cx="133200" cy="192960"/>
          </a:xfrm>
          <a:custGeom>
            <a:avLst/>
            <a:gdLst>
              <a:gd name="textAreaLeft" fmla="*/ 0 w 133200"/>
              <a:gd name="textAreaRight" fmla="*/ 133920 w 133200"/>
              <a:gd name="textAreaTop" fmla="*/ 0 h 192960"/>
              <a:gd name="textAreaBottom" fmla="*/ 193680 h 192960"/>
            </a:gdLst>
            <a:ahLst/>
            <a:cxnLst/>
            <a:rect l="textAreaLeft" t="textAreaTop" r="textAreaRight" b="textAreaBottom"/>
            <a:pathLst>
              <a:path w="133984" h="193675">
                <a:moveTo>
                  <a:pt x="133984" y="0"/>
                </a:moveTo>
                <a:lnTo>
                  <a:pt x="0" y="0"/>
                </a:lnTo>
                <a:lnTo>
                  <a:pt x="0" y="24256"/>
                </a:lnTo>
                <a:lnTo>
                  <a:pt x="106679" y="24256"/>
                </a:lnTo>
                <a:lnTo>
                  <a:pt x="94615" y="39369"/>
                </a:lnTo>
                <a:lnTo>
                  <a:pt x="91694" y="45338"/>
                </a:lnTo>
                <a:lnTo>
                  <a:pt x="76580" y="60451"/>
                </a:lnTo>
                <a:lnTo>
                  <a:pt x="70611" y="69468"/>
                </a:lnTo>
                <a:lnTo>
                  <a:pt x="67691" y="78485"/>
                </a:lnTo>
                <a:lnTo>
                  <a:pt x="55625" y="102730"/>
                </a:lnTo>
                <a:lnTo>
                  <a:pt x="43687" y="120776"/>
                </a:lnTo>
                <a:lnTo>
                  <a:pt x="37656" y="142240"/>
                </a:lnTo>
                <a:lnTo>
                  <a:pt x="31750" y="166230"/>
                </a:lnTo>
                <a:lnTo>
                  <a:pt x="31750" y="175259"/>
                </a:lnTo>
                <a:lnTo>
                  <a:pt x="28828" y="193420"/>
                </a:lnTo>
                <a:lnTo>
                  <a:pt x="28575" y="193675"/>
                </a:lnTo>
                <a:lnTo>
                  <a:pt x="56006" y="193675"/>
                </a:lnTo>
                <a:lnTo>
                  <a:pt x="58927" y="172465"/>
                </a:lnTo>
                <a:lnTo>
                  <a:pt x="61849" y="160400"/>
                </a:lnTo>
                <a:lnTo>
                  <a:pt x="67889" y="141985"/>
                </a:lnTo>
                <a:lnTo>
                  <a:pt x="73786" y="121031"/>
                </a:lnTo>
                <a:lnTo>
                  <a:pt x="82803" y="99822"/>
                </a:lnTo>
                <a:lnTo>
                  <a:pt x="91821" y="81660"/>
                </a:lnTo>
                <a:lnTo>
                  <a:pt x="103885" y="63500"/>
                </a:lnTo>
                <a:lnTo>
                  <a:pt x="112902" y="48387"/>
                </a:lnTo>
                <a:lnTo>
                  <a:pt x="121920" y="39369"/>
                </a:lnTo>
                <a:lnTo>
                  <a:pt x="133984" y="21209"/>
                </a:lnTo>
                <a:lnTo>
                  <a:pt x="13398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5" name="bk object 76"/>
          <p:cNvSpPr/>
          <p:nvPr/>
        </p:nvSpPr>
        <p:spPr>
          <a:xfrm>
            <a:off x="6941160" y="6293160"/>
            <a:ext cx="134280" cy="201240"/>
          </a:xfrm>
          <a:custGeom>
            <a:avLst/>
            <a:gdLst>
              <a:gd name="textAreaLeft" fmla="*/ 0 w 134280"/>
              <a:gd name="textAreaRight" fmla="*/ 135000 w 134280"/>
              <a:gd name="textAreaTop" fmla="*/ 0 h 201240"/>
              <a:gd name="textAreaBottom" fmla="*/ 201960 h 201240"/>
            </a:gdLst>
            <a:ahLst/>
            <a:cxnLst/>
            <a:rect l="textAreaLeft" t="textAreaTop" r="textAreaRight" b="textAreaBottom"/>
            <a:pathLst>
              <a:path w="135127" h="201929">
                <a:moveTo>
                  <a:pt x="93345" y="2921"/>
                </a:moveTo>
                <a:lnTo>
                  <a:pt x="42037" y="2921"/>
                </a:lnTo>
                <a:lnTo>
                  <a:pt x="29972" y="11938"/>
                </a:lnTo>
                <a:lnTo>
                  <a:pt x="6223" y="53975"/>
                </a:lnTo>
                <a:lnTo>
                  <a:pt x="380" y="102616"/>
                </a:lnTo>
                <a:lnTo>
                  <a:pt x="40" y="102616"/>
                </a:lnTo>
                <a:lnTo>
                  <a:pt x="5842" y="147828"/>
                </a:lnTo>
                <a:lnTo>
                  <a:pt x="20700" y="180975"/>
                </a:lnTo>
                <a:lnTo>
                  <a:pt x="29718" y="193040"/>
                </a:lnTo>
                <a:lnTo>
                  <a:pt x="41782" y="199009"/>
                </a:lnTo>
                <a:lnTo>
                  <a:pt x="53848" y="201930"/>
                </a:lnTo>
                <a:lnTo>
                  <a:pt x="81279" y="201930"/>
                </a:lnTo>
                <a:lnTo>
                  <a:pt x="93345" y="199009"/>
                </a:lnTo>
                <a:lnTo>
                  <a:pt x="105410" y="193040"/>
                </a:lnTo>
                <a:lnTo>
                  <a:pt x="114332" y="181102"/>
                </a:lnTo>
                <a:lnTo>
                  <a:pt x="69596" y="181102"/>
                </a:lnTo>
                <a:lnTo>
                  <a:pt x="60578" y="178181"/>
                </a:lnTo>
                <a:lnTo>
                  <a:pt x="51562" y="178181"/>
                </a:lnTo>
                <a:lnTo>
                  <a:pt x="39624" y="166243"/>
                </a:lnTo>
                <a:lnTo>
                  <a:pt x="33654" y="154178"/>
                </a:lnTo>
                <a:lnTo>
                  <a:pt x="27813" y="123952"/>
                </a:lnTo>
                <a:lnTo>
                  <a:pt x="27686" y="102616"/>
                </a:lnTo>
                <a:lnTo>
                  <a:pt x="380" y="102616"/>
                </a:lnTo>
                <a:lnTo>
                  <a:pt x="0" y="102235"/>
                </a:lnTo>
                <a:lnTo>
                  <a:pt x="27686" y="102235"/>
                </a:lnTo>
                <a:lnTo>
                  <a:pt x="27686" y="78359"/>
                </a:lnTo>
                <a:lnTo>
                  <a:pt x="33527" y="48133"/>
                </a:lnTo>
                <a:lnTo>
                  <a:pt x="45466" y="30099"/>
                </a:lnTo>
                <a:lnTo>
                  <a:pt x="51435" y="27178"/>
                </a:lnTo>
                <a:lnTo>
                  <a:pt x="60451" y="24257"/>
                </a:lnTo>
                <a:lnTo>
                  <a:pt x="117728" y="24257"/>
                </a:lnTo>
                <a:lnTo>
                  <a:pt x="105410" y="11938"/>
                </a:lnTo>
                <a:lnTo>
                  <a:pt x="93345" y="2921"/>
                </a:lnTo>
                <a:close/>
              </a:path>
              <a:path w="135127" h="201929">
                <a:moveTo>
                  <a:pt x="117728" y="24257"/>
                </a:moveTo>
                <a:lnTo>
                  <a:pt x="78613" y="24257"/>
                </a:lnTo>
                <a:lnTo>
                  <a:pt x="90550" y="30099"/>
                </a:lnTo>
                <a:lnTo>
                  <a:pt x="102489" y="48133"/>
                </a:lnTo>
                <a:lnTo>
                  <a:pt x="108330" y="78359"/>
                </a:lnTo>
                <a:lnTo>
                  <a:pt x="108330" y="123952"/>
                </a:lnTo>
                <a:lnTo>
                  <a:pt x="102489" y="154178"/>
                </a:lnTo>
                <a:lnTo>
                  <a:pt x="96520" y="166243"/>
                </a:lnTo>
                <a:lnTo>
                  <a:pt x="84581" y="178181"/>
                </a:lnTo>
                <a:lnTo>
                  <a:pt x="78613" y="178181"/>
                </a:lnTo>
                <a:lnTo>
                  <a:pt x="69596" y="181102"/>
                </a:lnTo>
                <a:lnTo>
                  <a:pt x="114332" y="181102"/>
                </a:lnTo>
                <a:lnTo>
                  <a:pt x="114426" y="180975"/>
                </a:lnTo>
                <a:lnTo>
                  <a:pt x="120396" y="175006"/>
                </a:lnTo>
                <a:lnTo>
                  <a:pt x="123317" y="169037"/>
                </a:lnTo>
                <a:lnTo>
                  <a:pt x="129286" y="160020"/>
                </a:lnTo>
                <a:lnTo>
                  <a:pt x="132206" y="147955"/>
                </a:lnTo>
                <a:lnTo>
                  <a:pt x="132206" y="138938"/>
                </a:lnTo>
                <a:lnTo>
                  <a:pt x="135127" y="129921"/>
                </a:lnTo>
                <a:lnTo>
                  <a:pt x="135127" y="75057"/>
                </a:lnTo>
                <a:lnTo>
                  <a:pt x="132206" y="62992"/>
                </a:lnTo>
                <a:lnTo>
                  <a:pt x="132206" y="53975"/>
                </a:lnTo>
                <a:lnTo>
                  <a:pt x="129286" y="41910"/>
                </a:lnTo>
                <a:lnTo>
                  <a:pt x="123317" y="32893"/>
                </a:lnTo>
                <a:lnTo>
                  <a:pt x="120396" y="26924"/>
                </a:lnTo>
                <a:lnTo>
                  <a:pt x="117728" y="24257"/>
                </a:lnTo>
                <a:close/>
              </a:path>
              <a:path w="135127" h="201929">
                <a:moveTo>
                  <a:pt x="81406" y="0"/>
                </a:moveTo>
                <a:lnTo>
                  <a:pt x="53975" y="0"/>
                </a:lnTo>
                <a:lnTo>
                  <a:pt x="48005" y="2921"/>
                </a:lnTo>
                <a:lnTo>
                  <a:pt x="87375" y="2921"/>
                </a:lnTo>
                <a:lnTo>
                  <a:pt x="8140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6" name="bk object 77"/>
          <p:cNvSpPr/>
          <p:nvPr/>
        </p:nvSpPr>
        <p:spPr>
          <a:xfrm>
            <a:off x="71089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7" name="bk object 78"/>
          <p:cNvSpPr/>
          <p:nvPr/>
        </p:nvSpPr>
        <p:spPr>
          <a:xfrm>
            <a:off x="7170480" y="6293880"/>
            <a:ext cx="134640" cy="199800"/>
          </a:xfrm>
          <a:custGeom>
            <a:avLst/>
            <a:gdLst>
              <a:gd name="textAreaLeft" fmla="*/ 0 w 134640"/>
              <a:gd name="textAreaRight" fmla="*/ 135360 w 134640"/>
              <a:gd name="textAreaTop" fmla="*/ 0 h 199800"/>
              <a:gd name="textAreaBottom" fmla="*/ 200520 h 199800"/>
            </a:gdLst>
            <a:ahLst/>
            <a:cxnLst/>
            <a:rect l="textAreaLeft" t="textAreaTop" r="textAreaRight" b="textAreaBottom"/>
            <a:pathLst>
              <a:path w="135254" h="200405">
                <a:moveTo>
                  <a:pt x="32493" y="89606"/>
                </a:moveTo>
                <a:lnTo>
                  <a:pt x="26669" y="92456"/>
                </a:lnTo>
                <a:lnTo>
                  <a:pt x="23749" y="95377"/>
                </a:lnTo>
                <a:lnTo>
                  <a:pt x="17779" y="98298"/>
                </a:lnTo>
                <a:lnTo>
                  <a:pt x="14858" y="101219"/>
                </a:lnTo>
                <a:lnTo>
                  <a:pt x="2920" y="119253"/>
                </a:lnTo>
                <a:lnTo>
                  <a:pt x="0" y="128270"/>
                </a:lnTo>
                <a:lnTo>
                  <a:pt x="0" y="140335"/>
                </a:lnTo>
                <a:lnTo>
                  <a:pt x="20827" y="188595"/>
                </a:lnTo>
                <a:lnTo>
                  <a:pt x="44957" y="197485"/>
                </a:lnTo>
                <a:lnTo>
                  <a:pt x="53975" y="200406"/>
                </a:lnTo>
                <a:lnTo>
                  <a:pt x="81406" y="200406"/>
                </a:lnTo>
                <a:lnTo>
                  <a:pt x="105536" y="194551"/>
                </a:lnTo>
                <a:lnTo>
                  <a:pt x="114553" y="188595"/>
                </a:lnTo>
                <a:lnTo>
                  <a:pt x="120523" y="182626"/>
                </a:lnTo>
                <a:lnTo>
                  <a:pt x="123071" y="177419"/>
                </a:lnTo>
                <a:lnTo>
                  <a:pt x="53593" y="177419"/>
                </a:lnTo>
                <a:lnTo>
                  <a:pt x="44576" y="174498"/>
                </a:lnTo>
                <a:lnTo>
                  <a:pt x="38734" y="168656"/>
                </a:lnTo>
                <a:lnTo>
                  <a:pt x="35813" y="162687"/>
                </a:lnTo>
                <a:lnTo>
                  <a:pt x="29844" y="156718"/>
                </a:lnTo>
                <a:lnTo>
                  <a:pt x="29844" y="150749"/>
                </a:lnTo>
                <a:lnTo>
                  <a:pt x="26924" y="141732"/>
                </a:lnTo>
                <a:lnTo>
                  <a:pt x="29844" y="132588"/>
                </a:lnTo>
                <a:lnTo>
                  <a:pt x="29844" y="123571"/>
                </a:lnTo>
                <a:lnTo>
                  <a:pt x="41655" y="111760"/>
                </a:lnTo>
                <a:lnTo>
                  <a:pt x="53593" y="105918"/>
                </a:lnTo>
                <a:lnTo>
                  <a:pt x="126386" y="105918"/>
                </a:lnTo>
                <a:lnTo>
                  <a:pt x="123443" y="101473"/>
                </a:lnTo>
                <a:lnTo>
                  <a:pt x="111505" y="95631"/>
                </a:lnTo>
                <a:lnTo>
                  <a:pt x="108584" y="92710"/>
                </a:lnTo>
                <a:lnTo>
                  <a:pt x="102615" y="89776"/>
                </a:lnTo>
                <a:lnTo>
                  <a:pt x="33019" y="89776"/>
                </a:lnTo>
                <a:lnTo>
                  <a:pt x="32493" y="89606"/>
                </a:lnTo>
                <a:close/>
              </a:path>
              <a:path w="135254" h="200405">
                <a:moveTo>
                  <a:pt x="126386" y="105918"/>
                </a:moveTo>
                <a:lnTo>
                  <a:pt x="81025" y="105918"/>
                </a:lnTo>
                <a:lnTo>
                  <a:pt x="90042" y="108826"/>
                </a:lnTo>
                <a:lnTo>
                  <a:pt x="96011" y="111760"/>
                </a:lnTo>
                <a:lnTo>
                  <a:pt x="101980" y="117729"/>
                </a:lnTo>
                <a:lnTo>
                  <a:pt x="104839" y="123571"/>
                </a:lnTo>
                <a:lnTo>
                  <a:pt x="104901" y="126619"/>
                </a:lnTo>
                <a:lnTo>
                  <a:pt x="107823" y="132588"/>
                </a:lnTo>
                <a:lnTo>
                  <a:pt x="107823" y="150749"/>
                </a:lnTo>
                <a:lnTo>
                  <a:pt x="104901" y="156718"/>
                </a:lnTo>
                <a:lnTo>
                  <a:pt x="104901" y="159626"/>
                </a:lnTo>
                <a:lnTo>
                  <a:pt x="90042" y="174498"/>
                </a:lnTo>
                <a:lnTo>
                  <a:pt x="81025" y="177419"/>
                </a:lnTo>
                <a:lnTo>
                  <a:pt x="123071" y="177419"/>
                </a:lnTo>
                <a:lnTo>
                  <a:pt x="126364" y="170688"/>
                </a:lnTo>
                <a:lnTo>
                  <a:pt x="132333" y="164719"/>
                </a:lnTo>
                <a:lnTo>
                  <a:pt x="132333" y="158750"/>
                </a:lnTo>
                <a:lnTo>
                  <a:pt x="135254" y="152781"/>
                </a:lnTo>
                <a:lnTo>
                  <a:pt x="135172" y="128270"/>
                </a:lnTo>
                <a:lnTo>
                  <a:pt x="129412" y="110490"/>
                </a:lnTo>
                <a:lnTo>
                  <a:pt x="126386" y="105918"/>
                </a:lnTo>
                <a:close/>
              </a:path>
              <a:path w="135254" h="200405">
                <a:moveTo>
                  <a:pt x="103364" y="89535"/>
                </a:moveTo>
                <a:lnTo>
                  <a:pt x="32638" y="89535"/>
                </a:lnTo>
                <a:lnTo>
                  <a:pt x="33019" y="89776"/>
                </a:lnTo>
                <a:lnTo>
                  <a:pt x="102615" y="89776"/>
                </a:lnTo>
                <a:lnTo>
                  <a:pt x="103364" y="89535"/>
                </a:lnTo>
                <a:close/>
              </a:path>
              <a:path w="135254" h="200405">
                <a:moveTo>
                  <a:pt x="78485" y="0"/>
                </a:moveTo>
                <a:lnTo>
                  <a:pt x="57276" y="0"/>
                </a:lnTo>
                <a:lnTo>
                  <a:pt x="48259" y="2921"/>
                </a:lnTo>
                <a:lnTo>
                  <a:pt x="36194" y="5842"/>
                </a:lnTo>
                <a:lnTo>
                  <a:pt x="18160" y="17780"/>
                </a:lnTo>
                <a:lnTo>
                  <a:pt x="12191" y="26797"/>
                </a:lnTo>
                <a:lnTo>
                  <a:pt x="6350" y="50927"/>
                </a:lnTo>
                <a:lnTo>
                  <a:pt x="15112" y="77978"/>
                </a:lnTo>
                <a:lnTo>
                  <a:pt x="24002" y="86868"/>
                </a:lnTo>
                <a:lnTo>
                  <a:pt x="32493" y="89606"/>
                </a:lnTo>
                <a:lnTo>
                  <a:pt x="32638" y="89535"/>
                </a:lnTo>
                <a:lnTo>
                  <a:pt x="103364" y="89535"/>
                </a:lnTo>
                <a:lnTo>
                  <a:pt x="111632" y="86868"/>
                </a:lnTo>
                <a:lnTo>
                  <a:pt x="115570" y="82931"/>
                </a:lnTo>
                <a:lnTo>
                  <a:pt x="59689" y="82931"/>
                </a:lnTo>
                <a:lnTo>
                  <a:pt x="59689" y="80010"/>
                </a:lnTo>
                <a:lnTo>
                  <a:pt x="56768" y="80010"/>
                </a:lnTo>
                <a:lnTo>
                  <a:pt x="38861" y="71247"/>
                </a:lnTo>
                <a:lnTo>
                  <a:pt x="35940" y="65278"/>
                </a:lnTo>
                <a:lnTo>
                  <a:pt x="35940" y="59309"/>
                </a:lnTo>
                <a:lnTo>
                  <a:pt x="33019" y="50292"/>
                </a:lnTo>
                <a:lnTo>
                  <a:pt x="35940" y="44196"/>
                </a:lnTo>
                <a:lnTo>
                  <a:pt x="35940" y="38227"/>
                </a:lnTo>
                <a:lnTo>
                  <a:pt x="38861" y="32258"/>
                </a:lnTo>
                <a:lnTo>
                  <a:pt x="44830" y="29337"/>
                </a:lnTo>
                <a:lnTo>
                  <a:pt x="50800" y="23368"/>
                </a:lnTo>
                <a:lnTo>
                  <a:pt x="56768" y="23368"/>
                </a:lnTo>
                <a:lnTo>
                  <a:pt x="59689" y="20447"/>
                </a:lnTo>
                <a:lnTo>
                  <a:pt x="119367" y="20447"/>
                </a:lnTo>
                <a:lnTo>
                  <a:pt x="117601" y="17780"/>
                </a:lnTo>
                <a:lnTo>
                  <a:pt x="111632" y="11811"/>
                </a:lnTo>
                <a:lnTo>
                  <a:pt x="102615" y="5842"/>
                </a:lnTo>
                <a:lnTo>
                  <a:pt x="78485" y="0"/>
                </a:lnTo>
                <a:close/>
              </a:path>
              <a:path w="135254" h="200405">
                <a:moveTo>
                  <a:pt x="119367" y="20447"/>
                </a:moveTo>
                <a:lnTo>
                  <a:pt x="74815" y="20447"/>
                </a:lnTo>
                <a:lnTo>
                  <a:pt x="80772" y="23368"/>
                </a:lnTo>
                <a:lnTo>
                  <a:pt x="86740" y="23368"/>
                </a:lnTo>
                <a:lnTo>
                  <a:pt x="89661" y="29337"/>
                </a:lnTo>
                <a:lnTo>
                  <a:pt x="95630" y="32258"/>
                </a:lnTo>
                <a:lnTo>
                  <a:pt x="101473" y="44196"/>
                </a:lnTo>
                <a:lnTo>
                  <a:pt x="101473" y="59309"/>
                </a:lnTo>
                <a:lnTo>
                  <a:pt x="95630" y="71247"/>
                </a:lnTo>
                <a:lnTo>
                  <a:pt x="92709" y="74168"/>
                </a:lnTo>
                <a:lnTo>
                  <a:pt x="74815" y="82931"/>
                </a:lnTo>
                <a:lnTo>
                  <a:pt x="115570" y="82931"/>
                </a:lnTo>
                <a:lnTo>
                  <a:pt x="120523" y="77978"/>
                </a:lnTo>
                <a:lnTo>
                  <a:pt x="126491" y="68961"/>
                </a:lnTo>
                <a:lnTo>
                  <a:pt x="129412" y="59944"/>
                </a:lnTo>
                <a:lnTo>
                  <a:pt x="129412" y="50927"/>
                </a:lnTo>
                <a:lnTo>
                  <a:pt x="123570" y="26797"/>
                </a:lnTo>
                <a:lnTo>
                  <a:pt x="119367" y="20447"/>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8" name="bk object 79"/>
          <p:cNvSpPr/>
          <p:nvPr/>
        </p:nvSpPr>
        <p:spPr>
          <a:xfrm>
            <a:off x="7531920" y="6293160"/>
            <a:ext cx="134640" cy="201240"/>
          </a:xfrm>
          <a:custGeom>
            <a:avLst/>
            <a:gdLst>
              <a:gd name="textAreaLeft" fmla="*/ 0 w 134640"/>
              <a:gd name="textAreaRight" fmla="*/ 135360 w 134640"/>
              <a:gd name="textAreaTop" fmla="*/ 0 h 201240"/>
              <a:gd name="textAreaBottom" fmla="*/ 201960 h 201240"/>
            </a:gdLst>
            <a:ahLst/>
            <a:cxnLst/>
            <a:rect l="textAreaLeft" t="textAreaTop" r="textAreaRight" b="textAreaBottom"/>
            <a:pathLst>
              <a:path w="135394" h="202056">
                <a:moveTo>
                  <a:pt x="0" y="102235"/>
                </a:moveTo>
                <a:lnTo>
                  <a:pt x="5842" y="147828"/>
                </a:lnTo>
                <a:lnTo>
                  <a:pt x="29845" y="193167"/>
                </a:lnTo>
                <a:lnTo>
                  <a:pt x="53975" y="202057"/>
                </a:lnTo>
                <a:lnTo>
                  <a:pt x="81407" y="202057"/>
                </a:lnTo>
                <a:lnTo>
                  <a:pt x="93472" y="199136"/>
                </a:lnTo>
                <a:lnTo>
                  <a:pt x="105537" y="193167"/>
                </a:lnTo>
                <a:lnTo>
                  <a:pt x="117221" y="181483"/>
                </a:lnTo>
                <a:lnTo>
                  <a:pt x="69723" y="181483"/>
                </a:lnTo>
                <a:lnTo>
                  <a:pt x="60706" y="178562"/>
                </a:lnTo>
                <a:lnTo>
                  <a:pt x="51689" y="178562"/>
                </a:lnTo>
                <a:lnTo>
                  <a:pt x="39751" y="166624"/>
                </a:lnTo>
                <a:lnTo>
                  <a:pt x="36830" y="154559"/>
                </a:lnTo>
                <a:lnTo>
                  <a:pt x="33909" y="148590"/>
                </a:lnTo>
                <a:lnTo>
                  <a:pt x="30988" y="139573"/>
                </a:lnTo>
                <a:lnTo>
                  <a:pt x="30988" y="124460"/>
                </a:lnTo>
                <a:lnTo>
                  <a:pt x="28067" y="103238"/>
                </a:lnTo>
                <a:lnTo>
                  <a:pt x="27927" y="102616"/>
                </a:lnTo>
                <a:lnTo>
                  <a:pt x="635" y="102616"/>
                </a:lnTo>
                <a:lnTo>
                  <a:pt x="0" y="102235"/>
                </a:lnTo>
                <a:close/>
              </a:path>
              <a:path w="135394" h="202056">
                <a:moveTo>
                  <a:pt x="119407" y="24384"/>
                </a:moveTo>
                <a:lnTo>
                  <a:pt x="78740" y="24384"/>
                </a:lnTo>
                <a:lnTo>
                  <a:pt x="84709" y="27305"/>
                </a:lnTo>
                <a:lnTo>
                  <a:pt x="87630" y="27305"/>
                </a:lnTo>
                <a:lnTo>
                  <a:pt x="90551" y="30213"/>
                </a:lnTo>
                <a:lnTo>
                  <a:pt x="102489" y="48260"/>
                </a:lnTo>
                <a:lnTo>
                  <a:pt x="108407" y="63246"/>
                </a:lnTo>
                <a:lnTo>
                  <a:pt x="108458" y="139573"/>
                </a:lnTo>
                <a:lnTo>
                  <a:pt x="102489" y="154686"/>
                </a:lnTo>
                <a:lnTo>
                  <a:pt x="96520" y="166738"/>
                </a:lnTo>
                <a:lnTo>
                  <a:pt x="84709" y="178562"/>
                </a:lnTo>
                <a:lnTo>
                  <a:pt x="78740" y="178562"/>
                </a:lnTo>
                <a:lnTo>
                  <a:pt x="69723" y="181483"/>
                </a:lnTo>
                <a:lnTo>
                  <a:pt x="117221" y="181483"/>
                </a:lnTo>
                <a:lnTo>
                  <a:pt x="117602" y="181102"/>
                </a:lnTo>
                <a:lnTo>
                  <a:pt x="123571" y="169037"/>
                </a:lnTo>
                <a:lnTo>
                  <a:pt x="129540" y="160020"/>
                </a:lnTo>
                <a:lnTo>
                  <a:pt x="132461" y="147955"/>
                </a:lnTo>
                <a:lnTo>
                  <a:pt x="132461" y="138938"/>
                </a:lnTo>
                <a:lnTo>
                  <a:pt x="135394" y="129921"/>
                </a:lnTo>
                <a:lnTo>
                  <a:pt x="135394" y="75057"/>
                </a:lnTo>
                <a:lnTo>
                  <a:pt x="132553" y="63373"/>
                </a:lnTo>
                <a:lnTo>
                  <a:pt x="132461" y="53975"/>
                </a:lnTo>
                <a:lnTo>
                  <a:pt x="129540" y="41910"/>
                </a:lnTo>
                <a:lnTo>
                  <a:pt x="123571" y="32893"/>
                </a:lnTo>
                <a:lnTo>
                  <a:pt x="119407" y="24384"/>
                </a:lnTo>
                <a:close/>
              </a:path>
              <a:path w="135394" h="202056">
                <a:moveTo>
                  <a:pt x="93599" y="2921"/>
                </a:moveTo>
                <a:lnTo>
                  <a:pt x="42291" y="2921"/>
                </a:lnTo>
                <a:lnTo>
                  <a:pt x="30226" y="11938"/>
                </a:lnTo>
                <a:lnTo>
                  <a:pt x="21209" y="20955"/>
                </a:lnTo>
                <a:lnTo>
                  <a:pt x="18288" y="26924"/>
                </a:lnTo>
                <a:lnTo>
                  <a:pt x="12319" y="32893"/>
                </a:lnTo>
                <a:lnTo>
                  <a:pt x="9398" y="41910"/>
                </a:lnTo>
                <a:lnTo>
                  <a:pt x="6477" y="53975"/>
                </a:lnTo>
                <a:lnTo>
                  <a:pt x="3556" y="75184"/>
                </a:lnTo>
                <a:lnTo>
                  <a:pt x="635" y="102616"/>
                </a:lnTo>
                <a:lnTo>
                  <a:pt x="27927" y="102616"/>
                </a:lnTo>
                <a:lnTo>
                  <a:pt x="30861" y="78359"/>
                </a:lnTo>
                <a:lnTo>
                  <a:pt x="30985" y="62992"/>
                </a:lnTo>
                <a:lnTo>
                  <a:pt x="33782" y="57277"/>
                </a:lnTo>
                <a:lnTo>
                  <a:pt x="39624" y="39243"/>
                </a:lnTo>
                <a:lnTo>
                  <a:pt x="45593" y="30213"/>
                </a:lnTo>
                <a:lnTo>
                  <a:pt x="51562" y="27305"/>
                </a:lnTo>
                <a:lnTo>
                  <a:pt x="60579" y="24384"/>
                </a:lnTo>
                <a:lnTo>
                  <a:pt x="119407" y="24384"/>
                </a:lnTo>
                <a:lnTo>
                  <a:pt x="117729" y="20955"/>
                </a:lnTo>
                <a:lnTo>
                  <a:pt x="93599" y="2921"/>
                </a:lnTo>
                <a:close/>
              </a:path>
              <a:path w="135394" h="202056">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9" name="bk object 80"/>
          <p:cNvSpPr/>
          <p:nvPr/>
        </p:nvSpPr>
        <p:spPr>
          <a:xfrm>
            <a:off x="77000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65" h="33401">
                <a:moveTo>
                  <a:pt x="0" y="16700"/>
                </a:moveTo>
                <a:lnTo>
                  <a:pt x="30365"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0" name="bk object 81"/>
          <p:cNvSpPr/>
          <p:nvPr/>
        </p:nvSpPr>
        <p:spPr>
          <a:xfrm>
            <a:off x="7761240" y="6293520"/>
            <a:ext cx="137880" cy="201240"/>
          </a:xfrm>
          <a:custGeom>
            <a:avLst/>
            <a:gdLst>
              <a:gd name="textAreaLeft" fmla="*/ 0 w 137880"/>
              <a:gd name="textAreaRight" fmla="*/ 138600 w 137880"/>
              <a:gd name="textAreaTop" fmla="*/ 0 h 201240"/>
              <a:gd name="textAreaBottom" fmla="*/ 201960 h 201240"/>
            </a:gdLst>
            <a:ahLst/>
            <a:cxnLst/>
            <a:rect l="textAreaLeft" t="textAreaTop" r="textAreaRight" b="textAreaBottom"/>
            <a:pathLst>
              <a:path w="138429" h="202056">
                <a:moveTo>
                  <a:pt x="27558" y="147954"/>
                </a:moveTo>
                <a:lnTo>
                  <a:pt x="126" y="147954"/>
                </a:lnTo>
                <a:lnTo>
                  <a:pt x="0" y="157225"/>
                </a:lnTo>
                <a:lnTo>
                  <a:pt x="2802" y="162940"/>
                </a:lnTo>
                <a:lnTo>
                  <a:pt x="2921" y="166115"/>
                </a:lnTo>
                <a:lnTo>
                  <a:pt x="32893" y="199135"/>
                </a:lnTo>
                <a:lnTo>
                  <a:pt x="44957" y="202056"/>
                </a:lnTo>
                <a:lnTo>
                  <a:pt x="78358" y="202056"/>
                </a:lnTo>
                <a:lnTo>
                  <a:pt x="90436" y="199135"/>
                </a:lnTo>
                <a:lnTo>
                  <a:pt x="114553" y="181101"/>
                </a:lnTo>
                <a:lnTo>
                  <a:pt x="114781" y="180720"/>
                </a:lnTo>
                <a:lnTo>
                  <a:pt x="54355" y="180720"/>
                </a:lnTo>
                <a:lnTo>
                  <a:pt x="48386" y="177799"/>
                </a:lnTo>
                <a:lnTo>
                  <a:pt x="39370" y="174878"/>
                </a:lnTo>
                <a:lnTo>
                  <a:pt x="33400" y="168909"/>
                </a:lnTo>
                <a:lnTo>
                  <a:pt x="30479" y="162940"/>
                </a:lnTo>
                <a:lnTo>
                  <a:pt x="27558" y="160007"/>
                </a:lnTo>
                <a:lnTo>
                  <a:pt x="27558" y="147954"/>
                </a:lnTo>
                <a:close/>
              </a:path>
              <a:path w="138429" h="202056">
                <a:moveTo>
                  <a:pt x="136073" y="108584"/>
                </a:moveTo>
                <a:lnTo>
                  <a:pt x="108203" y="108584"/>
                </a:lnTo>
                <a:lnTo>
                  <a:pt x="108203" y="126745"/>
                </a:lnTo>
                <a:lnTo>
                  <a:pt x="105282" y="138810"/>
                </a:lnTo>
                <a:lnTo>
                  <a:pt x="102361" y="147827"/>
                </a:lnTo>
                <a:lnTo>
                  <a:pt x="96393" y="159892"/>
                </a:lnTo>
                <a:lnTo>
                  <a:pt x="93472" y="168909"/>
                </a:lnTo>
                <a:lnTo>
                  <a:pt x="84454" y="174878"/>
                </a:lnTo>
                <a:lnTo>
                  <a:pt x="72516" y="180720"/>
                </a:lnTo>
                <a:lnTo>
                  <a:pt x="114781" y="180720"/>
                </a:lnTo>
                <a:lnTo>
                  <a:pt x="123571" y="165988"/>
                </a:lnTo>
                <a:lnTo>
                  <a:pt x="135508" y="123570"/>
                </a:lnTo>
                <a:lnTo>
                  <a:pt x="135533" y="111378"/>
                </a:lnTo>
                <a:lnTo>
                  <a:pt x="136073" y="108584"/>
                </a:lnTo>
                <a:close/>
              </a:path>
              <a:path w="138429" h="202056">
                <a:moveTo>
                  <a:pt x="81533" y="0"/>
                </a:moveTo>
                <a:lnTo>
                  <a:pt x="51180" y="0"/>
                </a:lnTo>
                <a:lnTo>
                  <a:pt x="39115" y="2920"/>
                </a:lnTo>
                <a:lnTo>
                  <a:pt x="27050" y="8889"/>
                </a:lnTo>
                <a:lnTo>
                  <a:pt x="9144" y="26796"/>
                </a:lnTo>
                <a:lnTo>
                  <a:pt x="3175" y="38861"/>
                </a:lnTo>
                <a:lnTo>
                  <a:pt x="253" y="50926"/>
                </a:lnTo>
                <a:lnTo>
                  <a:pt x="253" y="78358"/>
                </a:lnTo>
                <a:lnTo>
                  <a:pt x="27050" y="120395"/>
                </a:lnTo>
                <a:lnTo>
                  <a:pt x="45084" y="129285"/>
                </a:lnTo>
                <a:lnTo>
                  <a:pt x="78485" y="129285"/>
                </a:lnTo>
                <a:lnTo>
                  <a:pt x="87502" y="126364"/>
                </a:lnTo>
                <a:lnTo>
                  <a:pt x="96520" y="120395"/>
                </a:lnTo>
                <a:lnTo>
                  <a:pt x="99440" y="117474"/>
                </a:lnTo>
                <a:lnTo>
                  <a:pt x="102361" y="117474"/>
                </a:lnTo>
                <a:lnTo>
                  <a:pt x="105282" y="114553"/>
                </a:lnTo>
                <a:lnTo>
                  <a:pt x="108203" y="108584"/>
                </a:lnTo>
                <a:lnTo>
                  <a:pt x="136073" y="108584"/>
                </a:lnTo>
                <a:lnTo>
                  <a:pt x="136196" y="107949"/>
                </a:lnTo>
                <a:lnTo>
                  <a:pt x="66166" y="107949"/>
                </a:lnTo>
                <a:lnTo>
                  <a:pt x="48132" y="102107"/>
                </a:lnTo>
                <a:lnTo>
                  <a:pt x="36195" y="96265"/>
                </a:lnTo>
                <a:lnTo>
                  <a:pt x="33286" y="90296"/>
                </a:lnTo>
                <a:lnTo>
                  <a:pt x="30352" y="81279"/>
                </a:lnTo>
                <a:lnTo>
                  <a:pt x="27419" y="75310"/>
                </a:lnTo>
                <a:lnTo>
                  <a:pt x="27419" y="56768"/>
                </a:lnTo>
                <a:lnTo>
                  <a:pt x="30352" y="47751"/>
                </a:lnTo>
                <a:lnTo>
                  <a:pt x="33161" y="42036"/>
                </a:lnTo>
                <a:lnTo>
                  <a:pt x="33286" y="38861"/>
                </a:lnTo>
                <a:lnTo>
                  <a:pt x="48005" y="24129"/>
                </a:lnTo>
                <a:lnTo>
                  <a:pt x="57023" y="24129"/>
                </a:lnTo>
                <a:lnTo>
                  <a:pt x="66039" y="21208"/>
                </a:lnTo>
                <a:lnTo>
                  <a:pt x="117982" y="21208"/>
                </a:lnTo>
                <a:lnTo>
                  <a:pt x="105663" y="8889"/>
                </a:lnTo>
                <a:lnTo>
                  <a:pt x="93611" y="2920"/>
                </a:lnTo>
                <a:lnTo>
                  <a:pt x="81533" y="0"/>
                </a:lnTo>
                <a:close/>
              </a:path>
              <a:path w="138429" h="202056">
                <a:moveTo>
                  <a:pt x="117982" y="21208"/>
                </a:moveTo>
                <a:lnTo>
                  <a:pt x="66039" y="21208"/>
                </a:lnTo>
                <a:lnTo>
                  <a:pt x="75044" y="24129"/>
                </a:lnTo>
                <a:lnTo>
                  <a:pt x="84086" y="24129"/>
                </a:lnTo>
                <a:lnTo>
                  <a:pt x="101980" y="42036"/>
                </a:lnTo>
                <a:lnTo>
                  <a:pt x="104777" y="47751"/>
                </a:lnTo>
                <a:lnTo>
                  <a:pt x="104901" y="78358"/>
                </a:lnTo>
                <a:lnTo>
                  <a:pt x="101980" y="81279"/>
                </a:lnTo>
                <a:lnTo>
                  <a:pt x="99059" y="90296"/>
                </a:lnTo>
                <a:lnTo>
                  <a:pt x="99059" y="93217"/>
                </a:lnTo>
                <a:lnTo>
                  <a:pt x="96138" y="96138"/>
                </a:lnTo>
                <a:lnTo>
                  <a:pt x="90170" y="99059"/>
                </a:lnTo>
                <a:lnTo>
                  <a:pt x="81152" y="105028"/>
                </a:lnTo>
                <a:lnTo>
                  <a:pt x="75183" y="105028"/>
                </a:lnTo>
                <a:lnTo>
                  <a:pt x="66166" y="107949"/>
                </a:lnTo>
                <a:lnTo>
                  <a:pt x="136196" y="107949"/>
                </a:lnTo>
                <a:lnTo>
                  <a:pt x="138429" y="96392"/>
                </a:lnTo>
                <a:lnTo>
                  <a:pt x="135508" y="72135"/>
                </a:lnTo>
                <a:lnTo>
                  <a:pt x="132587" y="50926"/>
                </a:lnTo>
                <a:lnTo>
                  <a:pt x="123571" y="32765"/>
                </a:lnTo>
                <a:lnTo>
                  <a:pt x="123571" y="29832"/>
                </a:lnTo>
                <a:lnTo>
                  <a:pt x="120650" y="23875"/>
                </a:lnTo>
                <a:lnTo>
                  <a:pt x="117982" y="2120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1" name="bk object 82"/>
          <p:cNvSpPr/>
          <p:nvPr/>
        </p:nvSpPr>
        <p:spPr>
          <a:xfrm>
            <a:off x="81424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5" h="201041">
                <a:moveTo>
                  <a:pt x="72135" y="0"/>
                </a:moveTo>
                <a:lnTo>
                  <a:pt x="53975" y="0"/>
                </a:lnTo>
                <a:lnTo>
                  <a:pt x="51053" y="2920"/>
                </a:lnTo>
                <a:lnTo>
                  <a:pt x="51053" y="8889"/>
                </a:lnTo>
                <a:lnTo>
                  <a:pt x="45211" y="20827"/>
                </a:lnTo>
                <a:lnTo>
                  <a:pt x="36207" y="26784"/>
                </a:lnTo>
                <a:lnTo>
                  <a:pt x="30225" y="32765"/>
                </a:lnTo>
                <a:lnTo>
                  <a:pt x="21208" y="35686"/>
                </a:lnTo>
                <a:lnTo>
                  <a:pt x="0" y="35686"/>
                </a:lnTo>
                <a:lnTo>
                  <a:pt x="0" y="56895"/>
                </a:lnTo>
                <a:lnTo>
                  <a:pt x="45593" y="56895"/>
                </a:lnTo>
                <a:lnTo>
                  <a:pt x="45593" y="200024"/>
                </a:lnTo>
                <a:lnTo>
                  <a:pt x="44703" y="201040"/>
                </a:lnTo>
                <a:lnTo>
                  <a:pt x="72135" y="201040"/>
                </a:lnTo>
                <a:lnTo>
                  <a:pt x="7213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2" name="bk object 83"/>
          <p:cNvSpPr/>
          <p:nvPr/>
        </p:nvSpPr>
        <p:spPr>
          <a:xfrm>
            <a:off x="827028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3" name="bk object 84"/>
          <p:cNvSpPr/>
          <p:nvPr/>
        </p:nvSpPr>
        <p:spPr>
          <a:xfrm>
            <a:off x="833076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8" h="202564">
                <a:moveTo>
                  <a:pt x="93598" y="2920"/>
                </a:moveTo>
                <a:lnTo>
                  <a:pt x="42290" y="2920"/>
                </a:lnTo>
                <a:lnTo>
                  <a:pt x="30225" y="11937"/>
                </a:lnTo>
                <a:lnTo>
                  <a:pt x="18287" y="23875"/>
                </a:lnTo>
                <a:lnTo>
                  <a:pt x="18287" y="26784"/>
                </a:lnTo>
                <a:lnTo>
                  <a:pt x="12318" y="32765"/>
                </a:lnTo>
                <a:lnTo>
                  <a:pt x="12318" y="38734"/>
                </a:lnTo>
                <a:lnTo>
                  <a:pt x="9397" y="41655"/>
                </a:lnTo>
                <a:lnTo>
                  <a:pt x="6476" y="53720"/>
                </a:lnTo>
                <a:lnTo>
                  <a:pt x="3527" y="75310"/>
                </a:lnTo>
                <a:lnTo>
                  <a:pt x="634" y="102361"/>
                </a:lnTo>
                <a:lnTo>
                  <a:pt x="0" y="102742"/>
                </a:lnTo>
                <a:lnTo>
                  <a:pt x="5841" y="148335"/>
                </a:lnTo>
                <a:lnTo>
                  <a:pt x="29844" y="193674"/>
                </a:lnTo>
                <a:lnTo>
                  <a:pt x="53975" y="202564"/>
                </a:lnTo>
                <a:lnTo>
                  <a:pt x="81406" y="202564"/>
                </a:lnTo>
                <a:lnTo>
                  <a:pt x="93471" y="199643"/>
                </a:lnTo>
                <a:lnTo>
                  <a:pt x="105536" y="193674"/>
                </a:lnTo>
                <a:lnTo>
                  <a:pt x="117601" y="181609"/>
                </a:lnTo>
                <a:lnTo>
                  <a:pt x="117727" y="181355"/>
                </a:lnTo>
                <a:lnTo>
                  <a:pt x="69722" y="181355"/>
                </a:lnTo>
                <a:lnTo>
                  <a:pt x="60718" y="178434"/>
                </a:lnTo>
                <a:lnTo>
                  <a:pt x="54736" y="178434"/>
                </a:lnTo>
                <a:lnTo>
                  <a:pt x="45719" y="172465"/>
                </a:lnTo>
                <a:lnTo>
                  <a:pt x="39750" y="166484"/>
                </a:lnTo>
                <a:lnTo>
                  <a:pt x="36829" y="154431"/>
                </a:lnTo>
                <a:lnTo>
                  <a:pt x="33908" y="148462"/>
                </a:lnTo>
                <a:lnTo>
                  <a:pt x="30987" y="139445"/>
                </a:lnTo>
                <a:lnTo>
                  <a:pt x="30987" y="124332"/>
                </a:lnTo>
                <a:lnTo>
                  <a:pt x="28066" y="103123"/>
                </a:lnTo>
                <a:lnTo>
                  <a:pt x="27939" y="102361"/>
                </a:lnTo>
                <a:lnTo>
                  <a:pt x="30860" y="78104"/>
                </a:lnTo>
                <a:lnTo>
                  <a:pt x="30860" y="62991"/>
                </a:lnTo>
                <a:lnTo>
                  <a:pt x="33781" y="57022"/>
                </a:lnTo>
                <a:lnTo>
                  <a:pt x="39623" y="38988"/>
                </a:lnTo>
                <a:lnTo>
                  <a:pt x="45592" y="29959"/>
                </a:lnTo>
                <a:lnTo>
                  <a:pt x="54609" y="27050"/>
                </a:lnTo>
                <a:lnTo>
                  <a:pt x="60578" y="24129"/>
                </a:lnTo>
                <a:lnTo>
                  <a:pt x="119282" y="24129"/>
                </a:lnTo>
                <a:lnTo>
                  <a:pt x="117728" y="20954"/>
                </a:lnTo>
                <a:lnTo>
                  <a:pt x="93598" y="2920"/>
                </a:lnTo>
                <a:close/>
              </a:path>
              <a:path w="135508" h="202564">
                <a:moveTo>
                  <a:pt x="119282" y="24129"/>
                </a:moveTo>
                <a:lnTo>
                  <a:pt x="78739" y="24129"/>
                </a:lnTo>
                <a:lnTo>
                  <a:pt x="90677" y="29959"/>
                </a:lnTo>
                <a:lnTo>
                  <a:pt x="102615" y="48005"/>
                </a:lnTo>
                <a:lnTo>
                  <a:pt x="108534" y="62991"/>
                </a:lnTo>
                <a:lnTo>
                  <a:pt x="108534" y="139445"/>
                </a:lnTo>
                <a:lnTo>
                  <a:pt x="102615" y="154431"/>
                </a:lnTo>
                <a:lnTo>
                  <a:pt x="96646" y="166484"/>
                </a:lnTo>
                <a:lnTo>
                  <a:pt x="84708" y="178434"/>
                </a:lnTo>
                <a:lnTo>
                  <a:pt x="78739" y="178434"/>
                </a:lnTo>
                <a:lnTo>
                  <a:pt x="69722" y="181355"/>
                </a:lnTo>
                <a:lnTo>
                  <a:pt x="117727" y="181355"/>
                </a:lnTo>
                <a:lnTo>
                  <a:pt x="123570" y="169544"/>
                </a:lnTo>
                <a:lnTo>
                  <a:pt x="132587" y="148335"/>
                </a:lnTo>
                <a:lnTo>
                  <a:pt x="135508" y="130174"/>
                </a:lnTo>
                <a:lnTo>
                  <a:pt x="135456" y="74929"/>
                </a:lnTo>
                <a:lnTo>
                  <a:pt x="132587" y="54101"/>
                </a:lnTo>
                <a:lnTo>
                  <a:pt x="123508" y="32765"/>
                </a:lnTo>
                <a:lnTo>
                  <a:pt x="119282" y="24129"/>
                </a:lnTo>
                <a:close/>
              </a:path>
              <a:path w="135508" h="202564">
                <a:moveTo>
                  <a:pt x="81660" y="0"/>
                </a:moveTo>
                <a:lnTo>
                  <a:pt x="54228" y="0"/>
                </a:lnTo>
                <a:lnTo>
                  <a:pt x="48259" y="2920"/>
                </a:lnTo>
                <a:lnTo>
                  <a:pt x="87629" y="2920"/>
                </a:lnTo>
                <a:lnTo>
                  <a:pt x="8166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4" name="bk object 85"/>
          <p:cNvSpPr/>
          <p:nvPr/>
        </p:nvSpPr>
        <p:spPr>
          <a:xfrm>
            <a:off x="2387520" y="5539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5" name="bk object 86"/>
          <p:cNvSpPr/>
          <p:nvPr/>
        </p:nvSpPr>
        <p:spPr>
          <a:xfrm>
            <a:off x="2448360" y="5533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6" name="bk object 87"/>
          <p:cNvSpPr/>
          <p:nvPr/>
        </p:nvSpPr>
        <p:spPr>
          <a:xfrm>
            <a:off x="2506320" y="552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7" name="bk object 88"/>
          <p:cNvSpPr/>
          <p:nvPr/>
        </p:nvSpPr>
        <p:spPr>
          <a:xfrm>
            <a:off x="2567520" y="5524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8" name="bk object 89"/>
          <p:cNvSpPr/>
          <p:nvPr/>
        </p:nvSpPr>
        <p:spPr>
          <a:xfrm>
            <a:off x="2625120" y="551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9" name="bk object 90"/>
          <p:cNvSpPr/>
          <p:nvPr/>
        </p:nvSpPr>
        <p:spPr>
          <a:xfrm>
            <a:off x="2683440" y="5511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0" name="bk object 91"/>
          <p:cNvSpPr/>
          <p:nvPr/>
        </p:nvSpPr>
        <p:spPr>
          <a:xfrm>
            <a:off x="2744280" y="5505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1" name="bk object 92"/>
          <p:cNvSpPr/>
          <p:nvPr/>
        </p:nvSpPr>
        <p:spPr>
          <a:xfrm>
            <a:off x="2802240" y="5502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2" name="bk object 93"/>
          <p:cNvSpPr/>
          <p:nvPr/>
        </p:nvSpPr>
        <p:spPr>
          <a:xfrm>
            <a:off x="2863080" y="5496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3" name="bk object 94"/>
          <p:cNvSpPr/>
          <p:nvPr/>
        </p:nvSpPr>
        <p:spPr>
          <a:xfrm>
            <a:off x="2921040" y="5490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4" name="bk object 95"/>
          <p:cNvSpPr/>
          <p:nvPr/>
        </p:nvSpPr>
        <p:spPr>
          <a:xfrm>
            <a:off x="2981880" y="5484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5" name="bk object 96"/>
          <p:cNvSpPr/>
          <p:nvPr/>
        </p:nvSpPr>
        <p:spPr>
          <a:xfrm>
            <a:off x="3039840" y="5478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6" name="bk object 97"/>
          <p:cNvSpPr/>
          <p:nvPr/>
        </p:nvSpPr>
        <p:spPr>
          <a:xfrm>
            <a:off x="3097800" y="5472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7" name="bk object 98"/>
          <p:cNvSpPr/>
          <p:nvPr/>
        </p:nvSpPr>
        <p:spPr>
          <a:xfrm>
            <a:off x="3158640" y="5466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8" name="bk object 99"/>
          <p:cNvSpPr/>
          <p:nvPr/>
        </p:nvSpPr>
        <p:spPr>
          <a:xfrm>
            <a:off x="3216600" y="5460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9" name="bk object 100"/>
          <p:cNvSpPr/>
          <p:nvPr/>
        </p:nvSpPr>
        <p:spPr>
          <a:xfrm>
            <a:off x="3277440" y="545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0" name="bk object 101"/>
          <p:cNvSpPr/>
          <p:nvPr/>
        </p:nvSpPr>
        <p:spPr>
          <a:xfrm>
            <a:off x="3335400" y="544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1" name="bk object 102"/>
          <p:cNvSpPr/>
          <p:nvPr/>
        </p:nvSpPr>
        <p:spPr>
          <a:xfrm>
            <a:off x="3393360" y="5441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2" name="bk object 103"/>
          <p:cNvSpPr/>
          <p:nvPr/>
        </p:nvSpPr>
        <p:spPr>
          <a:xfrm>
            <a:off x="3454560" y="5432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3" name="bk object 104"/>
          <p:cNvSpPr/>
          <p:nvPr/>
        </p:nvSpPr>
        <p:spPr>
          <a:xfrm>
            <a:off x="3512520" y="5426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4" name="bk object 105"/>
          <p:cNvSpPr/>
          <p:nvPr/>
        </p:nvSpPr>
        <p:spPr>
          <a:xfrm>
            <a:off x="3573360" y="5420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5" name="bk object 106"/>
          <p:cNvSpPr/>
          <p:nvPr/>
        </p:nvSpPr>
        <p:spPr>
          <a:xfrm>
            <a:off x="3630960" y="5411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6" name="bk object 107"/>
          <p:cNvSpPr/>
          <p:nvPr/>
        </p:nvSpPr>
        <p:spPr>
          <a:xfrm>
            <a:off x="3692160" y="5405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7" name="bk object 108"/>
          <p:cNvSpPr/>
          <p:nvPr/>
        </p:nvSpPr>
        <p:spPr>
          <a:xfrm>
            <a:off x="3750120" y="539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8" name="bk object 109"/>
          <p:cNvSpPr/>
          <p:nvPr/>
        </p:nvSpPr>
        <p:spPr>
          <a:xfrm>
            <a:off x="3808080" y="539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9" name="bk object 110"/>
          <p:cNvSpPr/>
          <p:nvPr/>
        </p:nvSpPr>
        <p:spPr>
          <a:xfrm>
            <a:off x="3868920" y="5380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0" name="bk object 111"/>
          <p:cNvSpPr/>
          <p:nvPr/>
        </p:nvSpPr>
        <p:spPr>
          <a:xfrm>
            <a:off x="3926880" y="5374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1" name="bk object 112"/>
          <p:cNvSpPr/>
          <p:nvPr/>
        </p:nvSpPr>
        <p:spPr>
          <a:xfrm>
            <a:off x="3987720" y="536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2" name="bk object 113"/>
          <p:cNvSpPr/>
          <p:nvPr/>
        </p:nvSpPr>
        <p:spPr>
          <a:xfrm>
            <a:off x="4045680" y="5356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3" name="bk object 114"/>
          <p:cNvSpPr/>
          <p:nvPr/>
        </p:nvSpPr>
        <p:spPr>
          <a:xfrm>
            <a:off x="4103640" y="534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4" name="bk object 115"/>
          <p:cNvSpPr/>
          <p:nvPr/>
        </p:nvSpPr>
        <p:spPr>
          <a:xfrm>
            <a:off x="4164480" y="533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5" name="bk object 116"/>
          <p:cNvSpPr/>
          <p:nvPr/>
        </p:nvSpPr>
        <p:spPr>
          <a:xfrm>
            <a:off x="4222440" y="5329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6" name="bk object 117"/>
          <p:cNvSpPr/>
          <p:nvPr/>
        </p:nvSpPr>
        <p:spPr>
          <a:xfrm>
            <a:off x="4283640" y="5320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7" name="bk object 118"/>
          <p:cNvSpPr/>
          <p:nvPr/>
        </p:nvSpPr>
        <p:spPr>
          <a:xfrm>
            <a:off x="4341600" y="5311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8" name="bk object 119"/>
          <p:cNvSpPr/>
          <p:nvPr/>
        </p:nvSpPr>
        <p:spPr>
          <a:xfrm>
            <a:off x="4402080" y="530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9" name="bk object 120"/>
          <p:cNvSpPr/>
          <p:nvPr/>
        </p:nvSpPr>
        <p:spPr>
          <a:xfrm>
            <a:off x="4460040" y="5289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0" name="bk object 121"/>
          <p:cNvSpPr/>
          <p:nvPr/>
        </p:nvSpPr>
        <p:spPr>
          <a:xfrm>
            <a:off x="4518000" y="5280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1" name="bk object 122"/>
          <p:cNvSpPr/>
          <p:nvPr/>
        </p:nvSpPr>
        <p:spPr>
          <a:xfrm>
            <a:off x="4579200" y="526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2" name="bk object 123"/>
          <p:cNvSpPr/>
          <p:nvPr/>
        </p:nvSpPr>
        <p:spPr>
          <a:xfrm>
            <a:off x="4637160" y="525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3" name="bk object 124"/>
          <p:cNvSpPr/>
          <p:nvPr/>
        </p:nvSpPr>
        <p:spPr>
          <a:xfrm>
            <a:off x="4698000" y="5247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4" name="bk object 125"/>
          <p:cNvSpPr/>
          <p:nvPr/>
        </p:nvSpPr>
        <p:spPr>
          <a:xfrm>
            <a:off x="4755960" y="5234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5" name="bk object 126"/>
          <p:cNvSpPr/>
          <p:nvPr/>
        </p:nvSpPr>
        <p:spPr>
          <a:xfrm>
            <a:off x="4816800" y="522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6" name="bk object 127"/>
          <p:cNvSpPr/>
          <p:nvPr/>
        </p:nvSpPr>
        <p:spPr>
          <a:xfrm>
            <a:off x="4874760" y="521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7" name="bk object 128"/>
          <p:cNvSpPr/>
          <p:nvPr/>
        </p:nvSpPr>
        <p:spPr>
          <a:xfrm>
            <a:off x="4932720" y="5198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8" name="bk object 129"/>
          <p:cNvSpPr/>
          <p:nvPr/>
        </p:nvSpPr>
        <p:spPr>
          <a:xfrm>
            <a:off x="4993560" y="518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9" name="bk object 130"/>
          <p:cNvSpPr/>
          <p:nvPr/>
        </p:nvSpPr>
        <p:spPr>
          <a:xfrm>
            <a:off x="5051520" y="517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0" name="bk object 131"/>
          <p:cNvSpPr/>
          <p:nvPr/>
        </p:nvSpPr>
        <p:spPr>
          <a:xfrm>
            <a:off x="5112720" y="5158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1" name="bk object 132"/>
          <p:cNvSpPr/>
          <p:nvPr/>
        </p:nvSpPr>
        <p:spPr>
          <a:xfrm>
            <a:off x="5170320" y="51433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2" name="bk object 133"/>
          <p:cNvSpPr/>
          <p:nvPr/>
        </p:nvSpPr>
        <p:spPr>
          <a:xfrm>
            <a:off x="5228280" y="5127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3" name="bk object 134"/>
          <p:cNvSpPr/>
          <p:nvPr/>
        </p:nvSpPr>
        <p:spPr>
          <a:xfrm>
            <a:off x="5289120" y="5112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4" name="bk object 135"/>
          <p:cNvSpPr/>
          <p:nvPr/>
        </p:nvSpPr>
        <p:spPr>
          <a:xfrm>
            <a:off x="5347080" y="5097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5" name="bk object 136"/>
          <p:cNvSpPr/>
          <p:nvPr/>
        </p:nvSpPr>
        <p:spPr>
          <a:xfrm>
            <a:off x="5407920" y="507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6" name="bk object 137"/>
          <p:cNvSpPr/>
          <p:nvPr/>
        </p:nvSpPr>
        <p:spPr>
          <a:xfrm>
            <a:off x="5465880" y="5064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7" name="bk object 138"/>
          <p:cNvSpPr/>
          <p:nvPr/>
        </p:nvSpPr>
        <p:spPr>
          <a:xfrm>
            <a:off x="5527080" y="5045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8" name="bk object 139"/>
          <p:cNvSpPr/>
          <p:nvPr/>
        </p:nvSpPr>
        <p:spPr>
          <a:xfrm>
            <a:off x="5585040" y="5027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9" name="bk object 140"/>
          <p:cNvSpPr/>
          <p:nvPr/>
        </p:nvSpPr>
        <p:spPr>
          <a:xfrm>
            <a:off x="5642640" y="5009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0" name="bk object 141"/>
          <p:cNvSpPr/>
          <p:nvPr/>
        </p:nvSpPr>
        <p:spPr>
          <a:xfrm>
            <a:off x="5703840" y="4991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1" name="bk object 142"/>
          <p:cNvSpPr/>
          <p:nvPr/>
        </p:nvSpPr>
        <p:spPr>
          <a:xfrm>
            <a:off x="5761800" y="4969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2" name="bk object 143"/>
          <p:cNvSpPr/>
          <p:nvPr/>
        </p:nvSpPr>
        <p:spPr>
          <a:xfrm>
            <a:off x="5822640" y="494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3" name="bk object 144"/>
          <p:cNvSpPr/>
          <p:nvPr/>
        </p:nvSpPr>
        <p:spPr>
          <a:xfrm>
            <a:off x="5880600" y="492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4" name="bk object 145"/>
          <p:cNvSpPr/>
          <p:nvPr/>
        </p:nvSpPr>
        <p:spPr>
          <a:xfrm>
            <a:off x="5938560" y="4905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5" name="bk object 146"/>
          <p:cNvSpPr/>
          <p:nvPr/>
        </p:nvSpPr>
        <p:spPr>
          <a:xfrm>
            <a:off x="5999400" y="4880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6" name="bk object 147"/>
          <p:cNvSpPr/>
          <p:nvPr/>
        </p:nvSpPr>
        <p:spPr>
          <a:xfrm>
            <a:off x="6057360" y="4856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7" name="bk object 148"/>
          <p:cNvSpPr/>
          <p:nvPr/>
        </p:nvSpPr>
        <p:spPr>
          <a:xfrm>
            <a:off x="6118200" y="4832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8" name="bk object 149"/>
          <p:cNvSpPr/>
          <p:nvPr/>
        </p:nvSpPr>
        <p:spPr>
          <a:xfrm>
            <a:off x="6176160" y="4804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9" name="bk object 150"/>
          <p:cNvSpPr/>
          <p:nvPr/>
        </p:nvSpPr>
        <p:spPr>
          <a:xfrm>
            <a:off x="6237360" y="4777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0" name="bk object 151"/>
          <p:cNvSpPr/>
          <p:nvPr/>
        </p:nvSpPr>
        <p:spPr>
          <a:xfrm>
            <a:off x="6295320" y="4750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1" name="bk object 152"/>
          <p:cNvSpPr/>
          <p:nvPr/>
        </p:nvSpPr>
        <p:spPr>
          <a:xfrm>
            <a:off x="6353280" y="4719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2" name="bk object 153"/>
          <p:cNvSpPr/>
          <p:nvPr/>
        </p:nvSpPr>
        <p:spPr>
          <a:xfrm>
            <a:off x="6413760" y="468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3" name="bk object 154"/>
          <p:cNvSpPr/>
          <p:nvPr/>
        </p:nvSpPr>
        <p:spPr>
          <a:xfrm>
            <a:off x="6471720" y="4655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4" name="bk object 155"/>
          <p:cNvSpPr/>
          <p:nvPr/>
        </p:nvSpPr>
        <p:spPr>
          <a:xfrm>
            <a:off x="6532920" y="4619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5" name="bk object 156"/>
          <p:cNvSpPr/>
          <p:nvPr/>
        </p:nvSpPr>
        <p:spPr>
          <a:xfrm>
            <a:off x="6590880" y="4582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6" name="bk object 157"/>
          <p:cNvSpPr/>
          <p:nvPr/>
        </p:nvSpPr>
        <p:spPr>
          <a:xfrm>
            <a:off x="6651720" y="4545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7" name="bk object 158"/>
          <p:cNvSpPr/>
          <p:nvPr/>
        </p:nvSpPr>
        <p:spPr>
          <a:xfrm>
            <a:off x="6709680" y="450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8" name="bk object 159"/>
          <p:cNvSpPr/>
          <p:nvPr/>
        </p:nvSpPr>
        <p:spPr>
          <a:xfrm>
            <a:off x="6767640" y="4463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9" name="bk object 160"/>
          <p:cNvSpPr/>
          <p:nvPr/>
        </p:nvSpPr>
        <p:spPr>
          <a:xfrm>
            <a:off x="6828480" y="4417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0" name="bk object 161"/>
          <p:cNvSpPr/>
          <p:nvPr/>
        </p:nvSpPr>
        <p:spPr>
          <a:xfrm>
            <a:off x="6886440" y="4372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1" name="bk object 162"/>
          <p:cNvSpPr/>
          <p:nvPr/>
        </p:nvSpPr>
        <p:spPr>
          <a:xfrm>
            <a:off x="6947280" y="4320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2" name="bk object 163"/>
          <p:cNvSpPr/>
          <p:nvPr/>
        </p:nvSpPr>
        <p:spPr>
          <a:xfrm>
            <a:off x="7005240" y="426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3" name="bk object 164"/>
          <p:cNvSpPr/>
          <p:nvPr/>
        </p:nvSpPr>
        <p:spPr>
          <a:xfrm>
            <a:off x="7063200" y="4210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4" name="bk object 165"/>
          <p:cNvSpPr/>
          <p:nvPr/>
        </p:nvSpPr>
        <p:spPr>
          <a:xfrm>
            <a:off x="7124040" y="4152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5" name="bk object 166"/>
          <p:cNvSpPr/>
          <p:nvPr/>
        </p:nvSpPr>
        <p:spPr>
          <a:xfrm>
            <a:off x="7182000" y="408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6" name="bk object 167"/>
          <p:cNvSpPr/>
          <p:nvPr/>
        </p:nvSpPr>
        <p:spPr>
          <a:xfrm>
            <a:off x="7242840" y="4018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7" name="bk object 168"/>
          <p:cNvSpPr/>
          <p:nvPr/>
        </p:nvSpPr>
        <p:spPr>
          <a:xfrm>
            <a:off x="7300800" y="3945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8" name="bk object 169"/>
          <p:cNvSpPr/>
          <p:nvPr/>
        </p:nvSpPr>
        <p:spPr>
          <a:xfrm>
            <a:off x="7362000" y="386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9" name="bk object 170"/>
          <p:cNvSpPr/>
          <p:nvPr/>
        </p:nvSpPr>
        <p:spPr>
          <a:xfrm>
            <a:off x="7419960" y="3783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0" name="bk object 171"/>
          <p:cNvSpPr/>
          <p:nvPr/>
        </p:nvSpPr>
        <p:spPr>
          <a:xfrm>
            <a:off x="7477560" y="369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1" name="bk object 172"/>
          <p:cNvSpPr/>
          <p:nvPr/>
        </p:nvSpPr>
        <p:spPr>
          <a:xfrm>
            <a:off x="7538760" y="359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2" name="bk object 173"/>
          <p:cNvSpPr/>
          <p:nvPr/>
        </p:nvSpPr>
        <p:spPr>
          <a:xfrm>
            <a:off x="7596720" y="3485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3" name="bk object 174"/>
          <p:cNvSpPr/>
          <p:nvPr/>
        </p:nvSpPr>
        <p:spPr>
          <a:xfrm>
            <a:off x="7657560" y="3366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4" name="bk object 175"/>
          <p:cNvSpPr/>
          <p:nvPr/>
        </p:nvSpPr>
        <p:spPr>
          <a:xfrm>
            <a:off x="7715520" y="323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5" name="bk object 176"/>
          <p:cNvSpPr/>
          <p:nvPr/>
        </p:nvSpPr>
        <p:spPr>
          <a:xfrm>
            <a:off x="7773480" y="3098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6" name="bk object 177"/>
          <p:cNvSpPr/>
          <p:nvPr/>
        </p:nvSpPr>
        <p:spPr>
          <a:xfrm>
            <a:off x="7834320" y="2942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7" name="bk object 178"/>
          <p:cNvSpPr/>
          <p:nvPr/>
        </p:nvSpPr>
        <p:spPr>
          <a:xfrm>
            <a:off x="7892280" y="2768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8" name="bk object 179"/>
          <p:cNvSpPr/>
          <p:nvPr/>
        </p:nvSpPr>
        <p:spPr>
          <a:xfrm>
            <a:off x="7953480" y="2576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9" name="bk object 180"/>
          <p:cNvSpPr/>
          <p:nvPr/>
        </p:nvSpPr>
        <p:spPr>
          <a:xfrm>
            <a:off x="8011080" y="2357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08">
                <a:moveTo>
                  <a:pt x="0" y="0"/>
                </a:moveTo>
                <a:lnTo>
                  <a:pt x="2908"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0" name="bk object 181"/>
          <p:cNvSpPr/>
          <p:nvPr/>
        </p:nvSpPr>
        <p:spPr>
          <a:xfrm>
            <a:off x="8071920" y="211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1" name="bk object 182"/>
          <p:cNvSpPr/>
          <p:nvPr/>
        </p:nvSpPr>
        <p:spPr>
          <a:xfrm>
            <a:off x="8129880" y="1830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2" name="bk object 183"/>
          <p:cNvSpPr/>
          <p:nvPr/>
        </p:nvSpPr>
        <p:spPr>
          <a:xfrm>
            <a:off x="8187840" y="150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3" name="bk object 184"/>
          <p:cNvSpPr/>
          <p:nvPr/>
        </p:nvSpPr>
        <p:spPr>
          <a:xfrm>
            <a:off x="8248680" y="1128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4" name="bk object 185"/>
          <p:cNvSpPr/>
          <p:nvPr/>
        </p:nvSpPr>
        <p:spPr>
          <a:xfrm>
            <a:off x="8306640" y="68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5" name="bk object 186"/>
          <p:cNvSpPr/>
          <p:nvPr/>
        </p:nvSpPr>
        <p:spPr>
          <a:xfrm>
            <a:off x="2387520" y="695160"/>
            <a:ext cx="5905800" cy="4843440"/>
          </a:xfrm>
          <a:custGeom>
            <a:avLst/>
            <a:gdLst>
              <a:gd name="textAreaLeft" fmla="*/ 0 w 5905800"/>
              <a:gd name="textAreaRight" fmla="*/ 5906520 w 5905800"/>
              <a:gd name="textAreaTop" fmla="*/ 0 h 4843440"/>
              <a:gd name="textAreaBottom" fmla="*/ 4844160 h 4843440"/>
            </a:gdLst>
            <a:ahLst/>
            <a:cxnLst/>
            <a:rect l="textAreaLeft" t="textAreaTop" r="textAreaRight" b="textAreaBottom"/>
            <a:pathLst>
              <a:path w="5906515" h="4844288">
                <a:moveTo>
                  <a:pt x="0" y="4844288"/>
                </a:moveTo>
                <a:lnTo>
                  <a:pt x="60832" y="4838319"/>
                </a:lnTo>
                <a:lnTo>
                  <a:pt x="118617" y="4832350"/>
                </a:lnTo>
                <a:lnTo>
                  <a:pt x="179450" y="4829429"/>
                </a:lnTo>
                <a:lnTo>
                  <a:pt x="237235" y="4823459"/>
                </a:lnTo>
                <a:lnTo>
                  <a:pt x="295020" y="4817491"/>
                </a:lnTo>
                <a:lnTo>
                  <a:pt x="355853" y="4811521"/>
                </a:lnTo>
                <a:lnTo>
                  <a:pt x="413638" y="4808601"/>
                </a:lnTo>
                <a:lnTo>
                  <a:pt x="474471" y="4802632"/>
                </a:lnTo>
                <a:lnTo>
                  <a:pt x="532256" y="4796663"/>
                </a:lnTo>
                <a:lnTo>
                  <a:pt x="593089" y="4790694"/>
                </a:lnTo>
                <a:lnTo>
                  <a:pt x="650874" y="4784725"/>
                </a:lnTo>
                <a:lnTo>
                  <a:pt x="708659" y="4778756"/>
                </a:lnTo>
                <a:lnTo>
                  <a:pt x="769492" y="4772786"/>
                </a:lnTo>
                <a:lnTo>
                  <a:pt x="827277" y="4766818"/>
                </a:lnTo>
                <a:lnTo>
                  <a:pt x="888110" y="4760849"/>
                </a:lnTo>
                <a:lnTo>
                  <a:pt x="1003680" y="4748910"/>
                </a:lnTo>
                <a:lnTo>
                  <a:pt x="1064513" y="4739894"/>
                </a:lnTo>
                <a:lnTo>
                  <a:pt x="1122298" y="4733925"/>
                </a:lnTo>
                <a:lnTo>
                  <a:pt x="1183131" y="4727956"/>
                </a:lnTo>
                <a:lnTo>
                  <a:pt x="1240916" y="4718938"/>
                </a:lnTo>
                <a:lnTo>
                  <a:pt x="1301749" y="4712970"/>
                </a:lnTo>
                <a:lnTo>
                  <a:pt x="1359534" y="4703953"/>
                </a:lnTo>
                <a:lnTo>
                  <a:pt x="1417319" y="4697983"/>
                </a:lnTo>
                <a:lnTo>
                  <a:pt x="1478152" y="4688967"/>
                </a:lnTo>
                <a:lnTo>
                  <a:pt x="1535937" y="4682998"/>
                </a:lnTo>
                <a:lnTo>
                  <a:pt x="1596770" y="4673981"/>
                </a:lnTo>
                <a:lnTo>
                  <a:pt x="1654555" y="4664963"/>
                </a:lnTo>
                <a:lnTo>
                  <a:pt x="1712340" y="4655947"/>
                </a:lnTo>
                <a:lnTo>
                  <a:pt x="1773173" y="4646930"/>
                </a:lnTo>
                <a:lnTo>
                  <a:pt x="1830958" y="4637912"/>
                </a:lnTo>
                <a:lnTo>
                  <a:pt x="1891791" y="4628896"/>
                </a:lnTo>
                <a:lnTo>
                  <a:pt x="1949576" y="4619879"/>
                </a:lnTo>
                <a:lnTo>
                  <a:pt x="2010409" y="4610861"/>
                </a:lnTo>
                <a:lnTo>
                  <a:pt x="2068194" y="4598797"/>
                </a:lnTo>
                <a:lnTo>
                  <a:pt x="2125979" y="4589780"/>
                </a:lnTo>
                <a:lnTo>
                  <a:pt x="2186812" y="4577715"/>
                </a:lnTo>
                <a:lnTo>
                  <a:pt x="2244597" y="4568698"/>
                </a:lnTo>
                <a:lnTo>
                  <a:pt x="2305430" y="4556633"/>
                </a:lnTo>
                <a:lnTo>
                  <a:pt x="2363215" y="4544568"/>
                </a:lnTo>
                <a:lnTo>
                  <a:pt x="2424048" y="4532503"/>
                </a:lnTo>
                <a:lnTo>
                  <a:pt x="2481833" y="4520437"/>
                </a:lnTo>
                <a:lnTo>
                  <a:pt x="2539618" y="4508373"/>
                </a:lnTo>
                <a:lnTo>
                  <a:pt x="2600451" y="4496308"/>
                </a:lnTo>
                <a:lnTo>
                  <a:pt x="2658236" y="4481195"/>
                </a:lnTo>
                <a:lnTo>
                  <a:pt x="2719069" y="4469130"/>
                </a:lnTo>
                <a:lnTo>
                  <a:pt x="2776854" y="4454017"/>
                </a:lnTo>
                <a:lnTo>
                  <a:pt x="2834639" y="4438904"/>
                </a:lnTo>
                <a:lnTo>
                  <a:pt x="2895472" y="4423791"/>
                </a:lnTo>
                <a:lnTo>
                  <a:pt x="2953257" y="4408678"/>
                </a:lnTo>
                <a:lnTo>
                  <a:pt x="3014090" y="4390517"/>
                </a:lnTo>
                <a:lnTo>
                  <a:pt x="3071875" y="4375404"/>
                </a:lnTo>
                <a:lnTo>
                  <a:pt x="3132708" y="4357243"/>
                </a:lnTo>
                <a:lnTo>
                  <a:pt x="3190493" y="4339082"/>
                </a:lnTo>
                <a:lnTo>
                  <a:pt x="3248278" y="4320921"/>
                </a:lnTo>
                <a:lnTo>
                  <a:pt x="3309111" y="4302759"/>
                </a:lnTo>
                <a:lnTo>
                  <a:pt x="3366896" y="4281551"/>
                </a:lnTo>
                <a:lnTo>
                  <a:pt x="3427729" y="4260342"/>
                </a:lnTo>
                <a:lnTo>
                  <a:pt x="3543299" y="4217924"/>
                </a:lnTo>
                <a:lnTo>
                  <a:pt x="3604132" y="4193666"/>
                </a:lnTo>
                <a:lnTo>
                  <a:pt x="3661917" y="4169409"/>
                </a:lnTo>
                <a:lnTo>
                  <a:pt x="3722750" y="4145153"/>
                </a:lnTo>
                <a:lnTo>
                  <a:pt x="3780535" y="4117721"/>
                </a:lnTo>
                <a:lnTo>
                  <a:pt x="3841368" y="4090288"/>
                </a:lnTo>
                <a:lnTo>
                  <a:pt x="3899153" y="4062856"/>
                </a:lnTo>
                <a:lnTo>
                  <a:pt x="3956938" y="4032504"/>
                </a:lnTo>
                <a:lnTo>
                  <a:pt x="4017771" y="3999103"/>
                </a:lnTo>
                <a:lnTo>
                  <a:pt x="4075556" y="3968750"/>
                </a:lnTo>
                <a:lnTo>
                  <a:pt x="4136389" y="3932301"/>
                </a:lnTo>
                <a:lnTo>
                  <a:pt x="4194174" y="3895852"/>
                </a:lnTo>
                <a:lnTo>
                  <a:pt x="4255007" y="3859403"/>
                </a:lnTo>
                <a:lnTo>
                  <a:pt x="4312792" y="3819779"/>
                </a:lnTo>
                <a:lnTo>
                  <a:pt x="4370577" y="3777221"/>
                </a:lnTo>
                <a:lnTo>
                  <a:pt x="4431410" y="3731641"/>
                </a:lnTo>
                <a:lnTo>
                  <a:pt x="4489195" y="3686048"/>
                </a:lnTo>
                <a:lnTo>
                  <a:pt x="4550028" y="3634231"/>
                </a:lnTo>
                <a:lnTo>
                  <a:pt x="4607812" y="3582416"/>
                </a:lnTo>
                <a:lnTo>
                  <a:pt x="4665598" y="3524630"/>
                </a:lnTo>
                <a:lnTo>
                  <a:pt x="4726431" y="3466846"/>
                </a:lnTo>
                <a:lnTo>
                  <a:pt x="4784216" y="3402837"/>
                </a:lnTo>
                <a:lnTo>
                  <a:pt x="4845049" y="3332860"/>
                </a:lnTo>
                <a:lnTo>
                  <a:pt x="4902834" y="3259835"/>
                </a:lnTo>
                <a:lnTo>
                  <a:pt x="4963667" y="3180587"/>
                </a:lnTo>
                <a:lnTo>
                  <a:pt x="5021452" y="3098418"/>
                </a:lnTo>
                <a:lnTo>
                  <a:pt x="5079237" y="3007105"/>
                </a:lnTo>
                <a:lnTo>
                  <a:pt x="5140070" y="2906649"/>
                </a:lnTo>
                <a:lnTo>
                  <a:pt x="5197855" y="2799968"/>
                </a:lnTo>
                <a:lnTo>
                  <a:pt x="5258687" y="2681224"/>
                </a:lnTo>
                <a:lnTo>
                  <a:pt x="5316473" y="2553207"/>
                </a:lnTo>
                <a:lnTo>
                  <a:pt x="5374258" y="2413127"/>
                </a:lnTo>
                <a:lnTo>
                  <a:pt x="5435091" y="2257679"/>
                </a:lnTo>
                <a:lnTo>
                  <a:pt x="5492875" y="2084069"/>
                </a:lnTo>
                <a:lnTo>
                  <a:pt x="5553709" y="1892172"/>
                </a:lnTo>
                <a:lnTo>
                  <a:pt x="5611494" y="1672716"/>
                </a:lnTo>
                <a:lnTo>
                  <a:pt x="5672327" y="1425955"/>
                </a:lnTo>
                <a:lnTo>
                  <a:pt x="5730112" y="1145666"/>
                </a:lnTo>
                <a:lnTo>
                  <a:pt x="5787897" y="822705"/>
                </a:lnTo>
                <a:lnTo>
                  <a:pt x="5848730" y="444880"/>
                </a:lnTo>
                <a:lnTo>
                  <a:pt x="5906515"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6" name="bk object 187"/>
          <p:cNvSpPr/>
          <p:nvPr/>
        </p:nvSpPr>
        <p:spPr>
          <a:xfrm>
            <a:off x="3711600" y="1895040"/>
            <a:ext cx="2564640" cy="659520"/>
          </a:xfrm>
          <a:custGeom>
            <a:avLst/>
            <a:gdLst>
              <a:gd name="textAreaLeft" fmla="*/ 0 w 2564640"/>
              <a:gd name="textAreaRight" fmla="*/ 2565360 w 2564640"/>
              <a:gd name="textAreaTop" fmla="*/ 0 h 659520"/>
              <a:gd name="textAreaBottom" fmla="*/ 660240 h 659520"/>
            </a:gdLst>
            <a:ahLst/>
            <a:cxnLst/>
            <a:rect l="textAreaLeft" t="textAreaTop" r="textAreaRight" b="textAreaBottom"/>
            <a:pathLst>
              <a:path w="2565400" h="660400">
                <a:moveTo>
                  <a:pt x="0" y="660400"/>
                </a:moveTo>
                <a:lnTo>
                  <a:pt x="2565400" y="660400"/>
                </a:lnTo>
                <a:lnTo>
                  <a:pt x="2565400" y="0"/>
                </a:lnTo>
                <a:lnTo>
                  <a:pt x="0" y="0"/>
                </a:lnTo>
                <a:lnTo>
                  <a:pt x="0" y="6604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7"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88" name="PlaceHolder 2"/>
          <p:cNvSpPr>
            <a:spLocks noGrp="1"/>
          </p:cNvSpPr>
          <p:nvPr>
            <p:ph type="ftr" idx="10"/>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89" name="PlaceHolder 3"/>
          <p:cNvSpPr>
            <a:spLocks noGrp="1"/>
          </p:cNvSpPr>
          <p:nvPr>
            <p:ph type="dt" idx="11"/>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0" name="PlaceHolder 4"/>
          <p:cNvSpPr>
            <a:spLocks noGrp="1"/>
          </p:cNvSpPr>
          <p:nvPr>
            <p:ph type="sldNum" idx="12"/>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61F9705-5889-4F40-9C66-F2C11886F55A}"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bg>
      <p:bgPr>
        <a:solidFill>
          <a:schemeClr val="lt1"/>
        </a:solidFill>
        <a:effectLst/>
      </p:bgPr>
    </p:bg>
    <p:spTree>
      <p:nvGrpSpPr>
        <p:cNvPr id="1" name=""/>
        <p:cNvGrpSpPr/>
        <p:nvPr/>
      </p:nvGrpSpPr>
      <p:grpSpPr>
        <a:xfrm>
          <a:off x="0" y="0"/>
          <a:ext cx="0" cy="0"/>
          <a:chOff x="0" y="0"/>
          <a:chExt cx="0" cy="0"/>
        </a:xfrm>
      </p:grpSpPr>
      <p:sp>
        <p:nvSpPr>
          <p:cNvPr id="191" name="PlaceHolder 1"/>
          <p:cNvSpPr>
            <a:spLocks noGrp="1"/>
          </p:cNvSpPr>
          <p:nvPr>
            <p:ph type="ftr" idx="13"/>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92" name="PlaceHolder 2"/>
          <p:cNvSpPr>
            <a:spLocks noGrp="1"/>
          </p:cNvSpPr>
          <p:nvPr>
            <p:ph type="dt" idx="14"/>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3" name="PlaceHolder 3"/>
          <p:cNvSpPr>
            <a:spLocks noGrp="1"/>
          </p:cNvSpPr>
          <p:nvPr>
            <p:ph type="sldNum" idx="15"/>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EBD7EAC-8FD1-4434-9C95-79BE485A3A12}"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
        <p:nvSpPr>
          <p:cNvPr id="194" name="PlaceHolder 4"/>
          <p:cNvSpPr>
            <a:spLocks noGrp="1"/>
          </p:cNvSpPr>
          <p:nvPr>
            <p:ph type="title"/>
          </p:nvPr>
        </p:nvSpPr>
        <p:spPr>
          <a:xfrm>
            <a:off x="502920" y="309960"/>
            <a:ext cx="9051840" cy="1297080"/>
          </a:xfrm>
          <a:prstGeom prst="rect">
            <a:avLst/>
          </a:prstGeom>
          <a:noFill/>
          <a:ln w="0">
            <a:noFill/>
          </a:ln>
        </p:spPr>
        <p:txBody>
          <a:bodyPr lIns="0" tIns="0" rIns="0" bIns="0" anchor="ctr">
            <a:noAutofit/>
          </a:bodyPr>
          <a:lstStyle/>
          <a:p>
            <a:pPr indent="0">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rgbClr val="000000"/>
              </a:solidFill>
              <a:effectLst/>
              <a:uFillTx/>
              <a:latin typeface="Arial"/>
            </a:endParaRPr>
          </a:p>
        </p:txBody>
      </p:sp>
      <p:sp>
        <p:nvSpPr>
          <p:cNvPr id="195" name="PlaceHolder 5"/>
          <p:cNvSpPr>
            <a:spLocks noGrp="1"/>
          </p:cNvSpPr>
          <p:nvPr>
            <p:ph type="body"/>
          </p:nvPr>
        </p:nvSpPr>
        <p:spPr>
          <a:xfrm>
            <a:off x="502920" y="1818720"/>
            <a:ext cx="9051840" cy="450720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6C9D30"/>
        </a:solidFill>
        <a:effectLst/>
      </p:bgPr>
    </p:bg>
    <p:spTree>
      <p:nvGrpSpPr>
        <p:cNvPr id="1" name=""/>
        <p:cNvGrpSpPr/>
        <p:nvPr/>
      </p:nvGrpSpPr>
      <p:grpSpPr>
        <a:xfrm>
          <a:off x="0" y="0"/>
          <a:ext cx="0" cy="0"/>
          <a:chOff x="0" y="0"/>
          <a:chExt cx="0" cy="0"/>
        </a:xfrm>
      </p:grpSpPr>
      <p:sp>
        <p:nvSpPr>
          <p:cNvPr id="19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19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198" name="Picture 24" descr="utdlogo"/>
          <p:cNvPicPr/>
          <p:nvPr/>
        </p:nvPicPr>
        <p:blipFill>
          <a:blip r:embed="rId2"/>
          <a:stretch/>
        </p:blipFill>
        <p:spPr>
          <a:xfrm>
            <a:off x="9304200" y="7254360"/>
            <a:ext cx="619200" cy="272880"/>
          </a:xfrm>
          <a:prstGeom prst="rect">
            <a:avLst/>
          </a:prstGeom>
          <a:noFill/>
          <a:ln w="9525">
            <a:noFill/>
          </a:ln>
        </p:spPr>
      </p:pic>
      <p:sp>
        <p:nvSpPr>
          <p:cNvPr id="19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0"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01"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2"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03"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4"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rgbClr val="6C9D30"/>
        </a:solidFill>
        <a:effectLst/>
      </p:bgPr>
    </p:bg>
    <p:spTree>
      <p:nvGrpSpPr>
        <p:cNvPr id="1" name=""/>
        <p:cNvGrpSpPr/>
        <p:nvPr/>
      </p:nvGrpSpPr>
      <p:grpSpPr>
        <a:xfrm>
          <a:off x="0" y="0"/>
          <a:ext cx="0" cy="0"/>
          <a:chOff x="0" y="0"/>
          <a:chExt cx="0" cy="0"/>
        </a:xfrm>
      </p:grpSpPr>
      <p:sp>
        <p:nvSpPr>
          <p:cNvPr id="20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07" name="Picture 24" descr="utdlogo"/>
          <p:cNvPicPr/>
          <p:nvPr/>
        </p:nvPicPr>
        <p:blipFill>
          <a:blip r:embed="rId2"/>
          <a:stretch/>
        </p:blipFill>
        <p:spPr>
          <a:xfrm>
            <a:off x="9304200" y="7254360"/>
            <a:ext cx="619200" cy="272880"/>
          </a:xfrm>
          <a:prstGeom prst="rect">
            <a:avLst/>
          </a:prstGeom>
          <a:noFill/>
          <a:ln w="9525">
            <a:noFill/>
          </a:ln>
        </p:spPr>
      </p:pic>
      <p:sp>
        <p:nvSpPr>
          <p:cNvPr id="20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Default 4">
    <p:bg>
      <p:bgPr>
        <a:solidFill>
          <a:srgbClr val="6C9D30"/>
        </a:solidFill>
        <a:effectLst/>
      </p:bgPr>
    </p:bg>
    <p:spTree>
      <p:nvGrpSpPr>
        <p:cNvPr id="1" name=""/>
        <p:cNvGrpSpPr/>
        <p:nvPr/>
      </p:nvGrpSpPr>
      <p:grpSpPr>
        <a:xfrm>
          <a:off x="0" y="0"/>
          <a:ext cx="0" cy="0"/>
          <a:chOff x="0" y="0"/>
          <a:chExt cx="0" cy="0"/>
        </a:xfrm>
      </p:grpSpPr>
      <p:sp>
        <p:nvSpPr>
          <p:cNvPr id="210"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1"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2" name="Picture 24" descr="utdlogo"/>
          <p:cNvPicPr/>
          <p:nvPr/>
        </p:nvPicPr>
        <p:blipFill>
          <a:blip r:embed="rId2"/>
          <a:stretch/>
        </p:blipFill>
        <p:spPr>
          <a:xfrm>
            <a:off x="9304200" y="7254360"/>
            <a:ext cx="619200" cy="272880"/>
          </a:xfrm>
          <a:prstGeom prst="rect">
            <a:avLst/>
          </a:prstGeom>
          <a:noFill/>
          <a:ln w="9525">
            <a:noFill/>
          </a:ln>
        </p:spPr>
      </p:pic>
      <p:sp>
        <p:nvSpPr>
          <p:cNvPr id="213"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6C9D30"/>
        </a:solidFill>
        <a:effectLst/>
      </p:bgPr>
    </p:bg>
    <p:spTree>
      <p:nvGrpSpPr>
        <p:cNvPr id="1" name=""/>
        <p:cNvGrpSpPr/>
        <p:nvPr/>
      </p:nvGrpSpPr>
      <p:grpSpPr>
        <a:xfrm>
          <a:off x="0" y="0"/>
          <a:ext cx="0" cy="0"/>
          <a:chOff x="0" y="0"/>
          <a:chExt cx="0" cy="0"/>
        </a:xfrm>
      </p:grpSpPr>
      <p:sp>
        <p:nvSpPr>
          <p:cNvPr id="214"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5"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6" name="Picture 24" descr="utdlogo"/>
          <p:cNvPicPr/>
          <p:nvPr/>
        </p:nvPicPr>
        <p:blipFill>
          <a:blip r:embed="rId2"/>
          <a:stretch/>
        </p:blipFill>
        <p:spPr>
          <a:xfrm>
            <a:off x="9304200" y="7254360"/>
            <a:ext cx="619200" cy="272880"/>
          </a:xfrm>
          <a:prstGeom prst="rect">
            <a:avLst/>
          </a:prstGeom>
          <a:noFill/>
          <a:ln w="9525">
            <a:noFill/>
          </a:ln>
        </p:spPr>
      </p:pic>
      <p:sp>
        <p:nvSpPr>
          <p:cNvPr id="217"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8"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19"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220"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6C9D30"/>
        </a:solidFill>
        <a:effectLst/>
      </p:bgPr>
    </p:bg>
    <p:spTree>
      <p:nvGrpSpPr>
        <p:cNvPr id="1" name=""/>
        <p:cNvGrpSpPr/>
        <p:nvPr/>
      </p:nvGrpSpPr>
      <p:grpSpPr>
        <a:xfrm>
          <a:off x="0" y="0"/>
          <a:ext cx="0" cy="0"/>
          <a:chOff x="0" y="0"/>
          <a:chExt cx="0" cy="0"/>
        </a:xfrm>
      </p:grpSpPr>
      <p:sp>
        <p:nvSpPr>
          <p:cNvPr id="22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23" name="Picture 24" descr="utdlogo"/>
          <p:cNvPicPr/>
          <p:nvPr/>
        </p:nvPicPr>
        <p:blipFill>
          <a:blip r:embed="rId2"/>
          <a:stretch/>
        </p:blipFill>
        <p:spPr>
          <a:xfrm>
            <a:off x="9304200" y="7254360"/>
            <a:ext cx="619200" cy="272880"/>
          </a:xfrm>
          <a:prstGeom prst="rect">
            <a:avLst/>
          </a:prstGeom>
          <a:noFill/>
          <a:ln w="9525">
            <a:noFill/>
          </a:ln>
        </p:spPr>
      </p:pic>
      <p:sp>
        <p:nvSpPr>
          <p:cNvPr id="22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5"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26"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227"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Default">
    <p:bg>
      <p:bgPr>
        <a:solidFill>
          <a:schemeClr val="lt1"/>
        </a:solidFill>
        <a:effectLst/>
      </p:bgPr>
    </p:bg>
    <p:spTree>
      <p:nvGrpSpPr>
        <p:cNvPr id="1" name=""/>
        <p:cNvGrpSpPr/>
        <p:nvPr/>
      </p:nvGrpSpPr>
      <p:grpSpPr>
        <a:xfrm>
          <a:off x="0" y="0"/>
          <a:ext cx="0" cy="0"/>
          <a:chOff x="0" y="0"/>
          <a:chExt cx="0" cy="0"/>
        </a:xfrm>
      </p:grpSpPr>
      <p:sp>
        <p:nvSpPr>
          <p:cNvPr id="228"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9"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30" name="Picture 24" descr="utdlogo"/>
          <p:cNvPicPr/>
          <p:nvPr/>
        </p:nvPicPr>
        <p:blipFill>
          <a:blip r:embed="rId2"/>
          <a:stretch/>
        </p:blipFill>
        <p:spPr>
          <a:xfrm>
            <a:off x="9304200" y="7254360"/>
            <a:ext cx="619200" cy="272880"/>
          </a:xfrm>
          <a:prstGeom prst="rect">
            <a:avLst/>
          </a:prstGeom>
          <a:noFill/>
          <a:ln w="9525">
            <a:noFill/>
          </a:ln>
        </p:spPr>
      </p:pic>
      <p:sp>
        <p:nvSpPr>
          <p:cNvPr id="231"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2"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3"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4"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35"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236"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237"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238"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9"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40" name="Picture 16" descr="utdlogo"/>
          <p:cNvPicPr/>
          <p:nvPr/>
        </p:nvPicPr>
        <p:blipFill>
          <a:blip r:embed="rId2"/>
          <a:stretch/>
        </p:blipFill>
        <p:spPr>
          <a:xfrm>
            <a:off x="9304200" y="7254360"/>
            <a:ext cx="619200" cy="272880"/>
          </a:xfrm>
          <a:prstGeom prst="rect">
            <a:avLst/>
          </a:prstGeom>
          <a:noFill/>
          <a:ln w="9525">
            <a:noFill/>
          </a:ln>
        </p:spPr>
      </p:pic>
      <p:sp>
        <p:nvSpPr>
          <p:cNvPr id="241"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42"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6C9D30"/>
        </a:solidFill>
        <a:effectLst/>
      </p:bgPr>
    </p:bg>
    <p:spTree>
      <p:nvGrpSpPr>
        <p:cNvPr id="1" name=""/>
        <p:cNvGrpSpPr/>
        <p:nvPr/>
      </p:nvGrpSpPr>
      <p:grpSpPr>
        <a:xfrm>
          <a:off x="0" y="0"/>
          <a:ext cx="0" cy="0"/>
          <a:chOff x="0" y="0"/>
          <a:chExt cx="0" cy="0"/>
        </a:xfrm>
      </p:grpSpPr>
      <p:sp>
        <p:nvSpPr>
          <p:cNvPr id="24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45" name="Picture 24" descr="utdlogo"/>
          <p:cNvPicPr/>
          <p:nvPr/>
        </p:nvPicPr>
        <p:blipFill>
          <a:blip r:embed="rId2"/>
          <a:stretch/>
        </p:blipFill>
        <p:spPr>
          <a:xfrm>
            <a:off x="9304200" y="7254360"/>
            <a:ext cx="619200" cy="272880"/>
          </a:xfrm>
          <a:prstGeom prst="rect">
            <a:avLst/>
          </a:prstGeom>
          <a:noFill/>
          <a:ln w="9525">
            <a:noFill/>
          </a:ln>
        </p:spPr>
      </p:pic>
      <p:sp>
        <p:nvSpPr>
          <p:cNvPr id="24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48"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6C9D30"/>
        </a:solidFill>
        <a:effectLst/>
      </p:bgPr>
    </p:bg>
    <p:spTree>
      <p:nvGrpSpPr>
        <p:cNvPr id="1" name=""/>
        <p:cNvGrpSpPr/>
        <p:nvPr/>
      </p:nvGrpSpPr>
      <p:grpSpPr>
        <a:xfrm>
          <a:off x="0" y="0"/>
          <a:ext cx="0" cy="0"/>
          <a:chOff x="0" y="0"/>
          <a:chExt cx="0" cy="0"/>
        </a:xfrm>
      </p:grpSpPr>
      <p:sp>
        <p:nvSpPr>
          <p:cNvPr id="24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1" name="Picture 24" descr="utdlogo"/>
          <p:cNvPicPr/>
          <p:nvPr/>
        </p:nvPicPr>
        <p:blipFill>
          <a:blip r:embed="rId2"/>
          <a:stretch/>
        </p:blipFill>
        <p:spPr>
          <a:xfrm>
            <a:off x="9304200" y="7254360"/>
            <a:ext cx="619200" cy="272880"/>
          </a:xfrm>
          <a:prstGeom prst="rect">
            <a:avLst/>
          </a:prstGeom>
          <a:noFill/>
          <a:ln w="9525">
            <a:noFill/>
          </a:ln>
        </p:spPr>
      </p:pic>
      <p:sp>
        <p:nvSpPr>
          <p:cNvPr id="25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3"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54"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TwoObj" preserve="1">
  <p:cSld name="Title, Text, and 2 Content">
    <p:bg>
      <p:bgPr>
        <a:solidFill>
          <a:srgbClr val="6C9D30"/>
        </a:solidFill>
        <a:effectLst/>
      </p:bgPr>
    </p:bg>
    <p:spTree>
      <p:nvGrpSpPr>
        <p:cNvPr id="1" name=""/>
        <p:cNvGrpSpPr/>
        <p:nvPr/>
      </p:nvGrpSpPr>
      <p:grpSpPr>
        <a:xfrm>
          <a:off x="0" y="0"/>
          <a:ext cx="0" cy="0"/>
          <a:chOff x="0" y="0"/>
          <a:chExt cx="0" cy="0"/>
        </a:xfrm>
      </p:grpSpPr>
      <p:sp>
        <p:nvSpPr>
          <p:cNvPr id="2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7" name="Picture 24" descr="utdlogo"/>
          <p:cNvPicPr/>
          <p:nvPr/>
        </p:nvPicPr>
        <p:blipFill>
          <a:blip r:embed="rId2"/>
          <a:stretch/>
        </p:blipFill>
        <p:spPr>
          <a:xfrm>
            <a:off x="9304200" y="7254360"/>
            <a:ext cx="619200" cy="272880"/>
          </a:xfrm>
          <a:prstGeom prst="rect">
            <a:avLst/>
          </a:prstGeom>
          <a:noFill/>
          <a:ln w="9525">
            <a:noFill/>
          </a:ln>
        </p:spPr>
      </p:pic>
      <p:sp>
        <p:nvSpPr>
          <p:cNvPr id="2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0"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1"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2"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itle and Table">
    <p:bg>
      <p:bgPr>
        <a:solidFill>
          <a:srgbClr val="6C9D30"/>
        </a:solidFill>
        <a:effectLst/>
      </p:bgPr>
    </p:bg>
    <p:spTree>
      <p:nvGrpSpPr>
        <p:cNvPr id="1" name=""/>
        <p:cNvGrpSpPr/>
        <p:nvPr/>
      </p:nvGrpSpPr>
      <p:grpSpPr>
        <a:xfrm>
          <a:off x="0" y="0"/>
          <a:ext cx="0" cy="0"/>
          <a:chOff x="0" y="0"/>
          <a:chExt cx="0" cy="0"/>
        </a:xfrm>
      </p:grpSpPr>
      <p:sp>
        <p:nvSpPr>
          <p:cNvPr id="26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65" name="Picture 24" descr="utdlogo"/>
          <p:cNvPicPr/>
          <p:nvPr/>
        </p:nvPicPr>
        <p:blipFill>
          <a:blip r:embed="rId2"/>
          <a:stretch/>
        </p:blipFill>
        <p:spPr>
          <a:xfrm>
            <a:off x="9304200" y="7254360"/>
            <a:ext cx="619200" cy="272880"/>
          </a:xfrm>
          <a:prstGeom prst="rect">
            <a:avLst/>
          </a:prstGeom>
          <a:noFill/>
          <a:ln w="9525">
            <a:noFill/>
          </a:ln>
        </p:spPr>
      </p:pic>
      <p:sp>
        <p:nvSpPr>
          <p:cNvPr id="26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8"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Default 1">
    <p:bg>
      <p:bgPr>
        <a:solidFill>
          <a:srgbClr val="6C9D30"/>
        </a:solidFill>
        <a:effectLst/>
      </p:bgPr>
    </p:bg>
    <p:spTree>
      <p:nvGrpSpPr>
        <p:cNvPr id="1" name=""/>
        <p:cNvGrpSpPr/>
        <p:nvPr/>
      </p:nvGrpSpPr>
      <p:grpSpPr>
        <a:xfrm>
          <a:off x="0" y="0"/>
          <a:ext cx="0" cy="0"/>
          <a:chOff x="0" y="0"/>
          <a:chExt cx="0" cy="0"/>
        </a:xfrm>
      </p:grpSpPr>
      <p:sp>
        <p:nvSpPr>
          <p:cNvPr id="26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1" name="Picture 24" descr="utdlogo"/>
          <p:cNvPicPr/>
          <p:nvPr/>
        </p:nvPicPr>
        <p:blipFill>
          <a:blip r:embed="rId2"/>
          <a:stretch/>
        </p:blipFill>
        <p:spPr>
          <a:xfrm>
            <a:off x="9304200" y="7254360"/>
            <a:ext cx="619200" cy="272880"/>
          </a:xfrm>
          <a:prstGeom prst="rect">
            <a:avLst/>
          </a:prstGeom>
          <a:noFill/>
          <a:ln w="9525">
            <a:noFill/>
          </a:ln>
        </p:spPr>
      </p:pic>
      <p:sp>
        <p:nvSpPr>
          <p:cNvPr id="27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3"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74"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6C9D30"/>
        </a:solidFill>
        <a:effectLst/>
      </p:bgPr>
    </p:bg>
    <p:spTree>
      <p:nvGrpSpPr>
        <p:cNvPr id="1" name=""/>
        <p:cNvGrpSpPr/>
        <p:nvPr/>
      </p:nvGrpSpPr>
      <p:grpSpPr>
        <a:xfrm>
          <a:off x="0" y="0"/>
          <a:ext cx="0" cy="0"/>
          <a:chOff x="0" y="0"/>
          <a:chExt cx="0" cy="0"/>
        </a:xfrm>
      </p:grpSpPr>
      <p:sp>
        <p:nvSpPr>
          <p:cNvPr id="27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7" name="Picture 24" descr="utdlogo"/>
          <p:cNvPicPr/>
          <p:nvPr/>
        </p:nvPicPr>
        <p:blipFill>
          <a:blip r:embed="rId2"/>
          <a:stretch/>
        </p:blipFill>
        <p:spPr>
          <a:xfrm>
            <a:off x="9304200" y="7254360"/>
            <a:ext cx="619200" cy="272880"/>
          </a:xfrm>
          <a:prstGeom prst="rect">
            <a:avLst/>
          </a:prstGeom>
          <a:noFill/>
          <a:ln w="9525">
            <a:noFill/>
          </a:ln>
        </p:spPr>
      </p:pic>
      <p:sp>
        <p:nvSpPr>
          <p:cNvPr id="27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9"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280"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fault 2">
    <p:bg>
      <p:bgPr>
        <a:solidFill>
          <a:srgbClr val="6C9D30"/>
        </a:solidFill>
        <a:effectLst/>
      </p:bgPr>
    </p:bg>
    <p:spTree>
      <p:nvGrpSpPr>
        <p:cNvPr id="1" name=""/>
        <p:cNvGrpSpPr/>
        <p:nvPr/>
      </p:nvGrpSpPr>
      <p:grpSpPr>
        <a:xfrm>
          <a:off x="0" y="0"/>
          <a:ext cx="0" cy="0"/>
          <a:chOff x="0" y="0"/>
          <a:chExt cx="0" cy="0"/>
        </a:xfrm>
      </p:grpSpPr>
      <p:sp>
        <p:nvSpPr>
          <p:cNvPr id="28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83" name="Picture 24" descr="utdlogo"/>
          <p:cNvPicPr/>
          <p:nvPr/>
        </p:nvPicPr>
        <p:blipFill>
          <a:blip r:embed="rId2"/>
          <a:stretch/>
        </p:blipFill>
        <p:spPr>
          <a:xfrm>
            <a:off x="9304200" y="7254360"/>
            <a:ext cx="619200" cy="272880"/>
          </a:xfrm>
          <a:prstGeom prst="rect">
            <a:avLst/>
          </a:prstGeom>
          <a:noFill/>
          <a:ln w="9525">
            <a:noFill/>
          </a:ln>
        </p:spPr>
      </p:pic>
      <p:sp>
        <p:nvSpPr>
          <p:cNvPr id="28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86"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287"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rgbClr val="6C9D30"/>
        </a:solidFill>
        <a:effectLst/>
      </p:bgPr>
    </p:bg>
    <p:spTree>
      <p:nvGrpSpPr>
        <p:cNvPr id="1" name=""/>
        <p:cNvGrpSpPr/>
        <p:nvPr/>
      </p:nvGrpSpPr>
      <p:grpSpPr>
        <a:xfrm>
          <a:off x="0" y="0"/>
          <a:ext cx="0" cy="0"/>
          <a:chOff x="0" y="0"/>
          <a:chExt cx="0" cy="0"/>
        </a:xfrm>
      </p:grpSpPr>
      <p:sp>
        <p:nvSpPr>
          <p:cNvPr id="288"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9"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0" name="Picture 24" descr="utdlogo"/>
          <p:cNvPicPr/>
          <p:nvPr/>
        </p:nvPicPr>
        <p:blipFill>
          <a:blip r:embed="rId2"/>
          <a:stretch/>
        </p:blipFill>
        <p:spPr>
          <a:xfrm>
            <a:off x="9304200" y="7254360"/>
            <a:ext cx="619200" cy="272880"/>
          </a:xfrm>
          <a:prstGeom prst="rect">
            <a:avLst/>
          </a:prstGeom>
          <a:noFill/>
          <a:ln w="9525">
            <a:noFill/>
          </a:ln>
        </p:spPr>
      </p:pic>
      <p:sp>
        <p:nvSpPr>
          <p:cNvPr id="291"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2"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93"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4"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95"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6"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Default 14">
    <p:bg>
      <p:bgPr>
        <a:solidFill>
          <a:srgbClr val="6C9D30"/>
        </a:solidFill>
        <a:effectLst/>
      </p:bgPr>
    </p:bg>
    <p:spTree>
      <p:nvGrpSpPr>
        <p:cNvPr id="1" name=""/>
        <p:cNvGrpSpPr/>
        <p:nvPr/>
      </p:nvGrpSpPr>
      <p:grpSpPr>
        <a:xfrm>
          <a:off x="0" y="0"/>
          <a:ext cx="0" cy="0"/>
          <a:chOff x="0" y="0"/>
          <a:chExt cx="0" cy="0"/>
        </a:xfrm>
      </p:grpSpPr>
      <p:sp>
        <p:nvSpPr>
          <p:cNvPr id="29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9" name="Picture 24" descr="utdlogo"/>
          <p:cNvPicPr/>
          <p:nvPr/>
        </p:nvPicPr>
        <p:blipFill>
          <a:blip r:embed="rId2"/>
          <a:stretch/>
        </p:blipFill>
        <p:spPr>
          <a:xfrm>
            <a:off x="9304200" y="7254360"/>
            <a:ext cx="619200" cy="272880"/>
          </a:xfrm>
          <a:prstGeom prst="rect">
            <a:avLst/>
          </a:prstGeom>
          <a:noFill/>
          <a:ln w="9525">
            <a:noFill/>
          </a:ln>
        </p:spPr>
      </p:pic>
      <p:sp>
        <p:nvSpPr>
          <p:cNvPr id="30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rgbClr val="6C9D30"/>
        </a:solidFill>
        <a:effectLst/>
      </p:bgPr>
    </p:bg>
    <p:spTree>
      <p:nvGrpSpPr>
        <p:cNvPr id="1" name=""/>
        <p:cNvGrpSpPr/>
        <p:nvPr/>
      </p:nvGrpSpPr>
      <p:grpSpPr>
        <a:xfrm>
          <a:off x="0" y="0"/>
          <a:ext cx="0" cy="0"/>
          <a:chOff x="0" y="0"/>
          <a:chExt cx="0" cy="0"/>
        </a:xfrm>
      </p:grpSpPr>
      <p:sp>
        <p:nvSpPr>
          <p:cNvPr id="302"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3"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4" name="Picture 24" descr="utdlogo"/>
          <p:cNvPicPr/>
          <p:nvPr/>
        </p:nvPicPr>
        <p:blipFill>
          <a:blip r:embed="rId2"/>
          <a:stretch/>
        </p:blipFill>
        <p:spPr>
          <a:xfrm>
            <a:off x="9304200" y="7254360"/>
            <a:ext cx="619200" cy="272880"/>
          </a:xfrm>
          <a:prstGeom prst="rect">
            <a:avLst/>
          </a:prstGeom>
          <a:noFill/>
          <a:ln w="9525">
            <a:noFill/>
          </a:ln>
        </p:spPr>
      </p:pic>
      <p:sp>
        <p:nvSpPr>
          <p:cNvPr id="305"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16">
    <p:bg>
      <p:bgPr>
        <a:solidFill>
          <a:srgbClr val="6C9D30"/>
        </a:solidFill>
        <a:effectLst/>
      </p:bgPr>
    </p:bg>
    <p:spTree>
      <p:nvGrpSpPr>
        <p:cNvPr id="1" name=""/>
        <p:cNvGrpSpPr/>
        <p:nvPr/>
      </p:nvGrpSpPr>
      <p:grpSpPr>
        <a:xfrm>
          <a:off x="0" y="0"/>
          <a:ext cx="0" cy="0"/>
          <a:chOff x="0" y="0"/>
          <a:chExt cx="0" cy="0"/>
        </a:xfrm>
      </p:grpSpPr>
      <p:sp>
        <p:nvSpPr>
          <p:cNvPr id="30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8" name="Picture 24" descr="utdlogo"/>
          <p:cNvPicPr/>
          <p:nvPr/>
        </p:nvPicPr>
        <p:blipFill>
          <a:blip r:embed="rId2"/>
          <a:stretch/>
        </p:blipFill>
        <p:spPr>
          <a:xfrm>
            <a:off x="9304200" y="7254360"/>
            <a:ext cx="619200" cy="272880"/>
          </a:xfrm>
          <a:prstGeom prst="rect">
            <a:avLst/>
          </a:prstGeom>
          <a:noFill/>
          <a:ln w="9525">
            <a:noFill/>
          </a:ln>
        </p:spPr>
      </p:pic>
      <p:sp>
        <p:nvSpPr>
          <p:cNvPr id="30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0"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1"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312"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7">
    <p:bg>
      <p:bgPr>
        <a:solidFill>
          <a:srgbClr val="6C9D30"/>
        </a:solidFill>
        <a:effectLst/>
      </p:bgPr>
    </p:bg>
    <p:spTree>
      <p:nvGrpSpPr>
        <p:cNvPr id="1" name=""/>
        <p:cNvGrpSpPr/>
        <p:nvPr/>
      </p:nvGrpSpPr>
      <p:grpSpPr>
        <a:xfrm>
          <a:off x="0" y="0"/>
          <a:ext cx="0" cy="0"/>
          <a:chOff x="0" y="0"/>
          <a:chExt cx="0" cy="0"/>
        </a:xfrm>
      </p:grpSpPr>
      <p:sp>
        <p:nvSpPr>
          <p:cNvPr id="31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15" name="Picture 24" descr="utdlogo"/>
          <p:cNvPicPr/>
          <p:nvPr/>
        </p:nvPicPr>
        <p:blipFill>
          <a:blip r:embed="rId2"/>
          <a:stretch/>
        </p:blipFill>
        <p:spPr>
          <a:xfrm>
            <a:off x="9304200" y="7254360"/>
            <a:ext cx="619200" cy="272880"/>
          </a:xfrm>
          <a:prstGeom prst="rect">
            <a:avLst/>
          </a:prstGeom>
          <a:noFill/>
          <a:ln w="9525">
            <a:noFill/>
          </a:ln>
        </p:spPr>
      </p:pic>
      <p:sp>
        <p:nvSpPr>
          <p:cNvPr id="31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7"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8"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319"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efault 5">
    <p:bg>
      <p:bgPr>
        <a:solidFill>
          <a:schemeClr val="lt1"/>
        </a:solidFill>
        <a:effectLst/>
      </p:bgPr>
    </p:bg>
    <p:spTree>
      <p:nvGrpSpPr>
        <p:cNvPr id="1" name=""/>
        <p:cNvGrpSpPr/>
        <p:nvPr/>
      </p:nvGrpSpPr>
      <p:grpSpPr>
        <a:xfrm>
          <a:off x="0" y="0"/>
          <a:ext cx="0" cy="0"/>
          <a:chOff x="0" y="0"/>
          <a:chExt cx="0" cy="0"/>
        </a:xfrm>
      </p:grpSpPr>
      <p:sp>
        <p:nvSpPr>
          <p:cNvPr id="320"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1"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22" name="Picture 24" descr="utdlogo"/>
          <p:cNvPicPr/>
          <p:nvPr/>
        </p:nvPicPr>
        <p:blipFill>
          <a:blip r:embed="rId2"/>
          <a:stretch/>
        </p:blipFill>
        <p:spPr>
          <a:xfrm>
            <a:off x="9304200" y="7254360"/>
            <a:ext cx="619200" cy="272880"/>
          </a:xfrm>
          <a:prstGeom prst="rect">
            <a:avLst/>
          </a:prstGeom>
          <a:noFill/>
          <a:ln w="9525">
            <a:noFill/>
          </a:ln>
        </p:spPr>
      </p:pic>
      <p:sp>
        <p:nvSpPr>
          <p:cNvPr id="323"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4"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5"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6"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27"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328"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329"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330"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1"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32" name="Picture 16" descr="utdlogo"/>
          <p:cNvPicPr/>
          <p:nvPr/>
        </p:nvPicPr>
        <p:blipFill>
          <a:blip r:embed="rId2"/>
          <a:stretch/>
        </p:blipFill>
        <p:spPr>
          <a:xfrm>
            <a:off x="9304200" y="7254360"/>
            <a:ext cx="619200" cy="272880"/>
          </a:xfrm>
          <a:prstGeom prst="rect">
            <a:avLst/>
          </a:prstGeom>
          <a:noFill/>
          <a:ln w="9525">
            <a:noFill/>
          </a:ln>
        </p:spPr>
      </p:pic>
      <p:sp>
        <p:nvSpPr>
          <p:cNvPr id="333"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34"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Default 6">
    <p:bg>
      <p:bgPr>
        <a:solidFill>
          <a:srgbClr val="6C9D30"/>
        </a:solidFill>
        <a:effectLst/>
      </p:bgPr>
    </p:bg>
    <p:spTree>
      <p:nvGrpSpPr>
        <p:cNvPr id="1" name=""/>
        <p:cNvGrpSpPr/>
        <p:nvPr/>
      </p:nvGrpSpPr>
      <p:grpSpPr>
        <a:xfrm>
          <a:off x="0" y="0"/>
          <a:ext cx="0" cy="0"/>
          <a:chOff x="0" y="0"/>
          <a:chExt cx="0" cy="0"/>
        </a:xfrm>
      </p:grpSpPr>
      <p:sp>
        <p:nvSpPr>
          <p:cNvPr id="33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37" name="Picture 24" descr="utdlogo"/>
          <p:cNvPicPr/>
          <p:nvPr/>
        </p:nvPicPr>
        <p:blipFill>
          <a:blip r:embed="rId2"/>
          <a:stretch/>
        </p:blipFill>
        <p:spPr>
          <a:xfrm>
            <a:off x="9304200" y="7254360"/>
            <a:ext cx="619200" cy="272880"/>
          </a:xfrm>
          <a:prstGeom prst="rect">
            <a:avLst/>
          </a:prstGeom>
          <a:noFill/>
          <a:ln w="9525">
            <a:noFill/>
          </a:ln>
        </p:spPr>
      </p:pic>
      <p:sp>
        <p:nvSpPr>
          <p:cNvPr id="33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0"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Default 7">
    <p:bg>
      <p:bgPr>
        <a:solidFill>
          <a:srgbClr val="6C9D30"/>
        </a:solidFill>
        <a:effectLst/>
      </p:bgPr>
    </p:bg>
    <p:spTree>
      <p:nvGrpSpPr>
        <p:cNvPr id="1" name=""/>
        <p:cNvGrpSpPr/>
        <p:nvPr/>
      </p:nvGrpSpPr>
      <p:grpSpPr>
        <a:xfrm>
          <a:off x="0" y="0"/>
          <a:ext cx="0" cy="0"/>
          <a:chOff x="0" y="0"/>
          <a:chExt cx="0" cy="0"/>
        </a:xfrm>
      </p:grpSpPr>
      <p:sp>
        <p:nvSpPr>
          <p:cNvPr id="34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3" name="Picture 24" descr="utdlogo"/>
          <p:cNvPicPr/>
          <p:nvPr/>
        </p:nvPicPr>
        <p:blipFill>
          <a:blip r:embed="rId2"/>
          <a:stretch/>
        </p:blipFill>
        <p:spPr>
          <a:xfrm>
            <a:off x="9304200" y="7254360"/>
            <a:ext cx="619200" cy="272880"/>
          </a:xfrm>
          <a:prstGeom prst="rect">
            <a:avLst/>
          </a:prstGeom>
          <a:noFill/>
          <a:ln w="9525">
            <a:noFill/>
          </a:ln>
        </p:spPr>
      </p:pic>
      <p:sp>
        <p:nvSpPr>
          <p:cNvPr id="34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5"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6"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TwoObj" preserve="1">
  <p:cSld name="Default 8">
    <p:bg>
      <p:bgPr>
        <a:solidFill>
          <a:srgbClr val="6C9D30"/>
        </a:solidFill>
        <a:effectLst/>
      </p:bgPr>
    </p:bg>
    <p:spTree>
      <p:nvGrpSpPr>
        <p:cNvPr id="1" name=""/>
        <p:cNvGrpSpPr/>
        <p:nvPr/>
      </p:nvGrpSpPr>
      <p:grpSpPr>
        <a:xfrm>
          <a:off x="0" y="0"/>
          <a:ext cx="0" cy="0"/>
          <a:chOff x="0" y="0"/>
          <a:chExt cx="0" cy="0"/>
        </a:xfrm>
      </p:grpSpPr>
      <p:sp>
        <p:nvSpPr>
          <p:cNvPr id="34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9" name="Picture 24" descr="utdlogo"/>
          <p:cNvPicPr/>
          <p:nvPr/>
        </p:nvPicPr>
        <p:blipFill>
          <a:blip r:embed="rId2"/>
          <a:stretch/>
        </p:blipFill>
        <p:spPr>
          <a:xfrm>
            <a:off x="9304200" y="7254360"/>
            <a:ext cx="619200" cy="272880"/>
          </a:xfrm>
          <a:prstGeom prst="rect">
            <a:avLst/>
          </a:prstGeom>
          <a:noFill/>
          <a:ln w="9525">
            <a:noFill/>
          </a:ln>
        </p:spPr>
      </p:pic>
      <p:sp>
        <p:nvSpPr>
          <p:cNvPr id="35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52"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3"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4"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bl" preserve="1">
  <p:cSld name="Default 9">
    <p:bg>
      <p:bgPr>
        <a:solidFill>
          <a:srgbClr val="6C9D30"/>
        </a:solidFill>
        <a:effectLst/>
      </p:bgPr>
    </p:bg>
    <p:spTree>
      <p:nvGrpSpPr>
        <p:cNvPr id="1" name=""/>
        <p:cNvGrpSpPr/>
        <p:nvPr/>
      </p:nvGrpSpPr>
      <p:grpSpPr>
        <a:xfrm>
          <a:off x="0" y="0"/>
          <a:ext cx="0" cy="0"/>
          <a:chOff x="0" y="0"/>
          <a:chExt cx="0" cy="0"/>
        </a:xfrm>
      </p:grpSpPr>
      <p:sp>
        <p:nvSpPr>
          <p:cNvPr id="3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57" name="Picture 24" descr="utdlogo"/>
          <p:cNvPicPr/>
          <p:nvPr/>
        </p:nvPicPr>
        <p:blipFill>
          <a:blip r:embed="rId2"/>
          <a:stretch/>
        </p:blipFill>
        <p:spPr>
          <a:xfrm>
            <a:off x="9304200" y="7254360"/>
            <a:ext cx="619200" cy="272880"/>
          </a:xfrm>
          <a:prstGeom prst="rect">
            <a:avLst/>
          </a:prstGeom>
          <a:noFill/>
          <a:ln w="9525">
            <a:noFill/>
          </a:ln>
        </p:spPr>
      </p:pic>
      <p:sp>
        <p:nvSpPr>
          <p:cNvPr id="3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0"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Default 10">
    <p:bg>
      <p:bgPr>
        <a:solidFill>
          <a:srgbClr val="6C9D30"/>
        </a:solidFill>
        <a:effectLst/>
      </p:bgPr>
    </p:bg>
    <p:spTree>
      <p:nvGrpSpPr>
        <p:cNvPr id="1" name=""/>
        <p:cNvGrpSpPr/>
        <p:nvPr/>
      </p:nvGrpSpPr>
      <p:grpSpPr>
        <a:xfrm>
          <a:off x="0" y="0"/>
          <a:ext cx="0" cy="0"/>
          <a:chOff x="0" y="0"/>
          <a:chExt cx="0" cy="0"/>
        </a:xfrm>
      </p:grpSpPr>
      <p:sp>
        <p:nvSpPr>
          <p:cNvPr id="36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3" name="Picture 24" descr="utdlogo"/>
          <p:cNvPicPr/>
          <p:nvPr/>
        </p:nvPicPr>
        <p:blipFill>
          <a:blip r:embed="rId2"/>
          <a:stretch/>
        </p:blipFill>
        <p:spPr>
          <a:xfrm>
            <a:off x="9304200" y="7254360"/>
            <a:ext cx="619200" cy="272880"/>
          </a:xfrm>
          <a:prstGeom prst="rect">
            <a:avLst/>
          </a:prstGeom>
          <a:noFill/>
          <a:ln w="9525">
            <a:noFill/>
          </a:ln>
        </p:spPr>
      </p:pic>
      <p:sp>
        <p:nvSpPr>
          <p:cNvPr id="36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6"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rgbClr val="6C9D30"/>
        </a:solidFill>
        <a:effectLst/>
      </p:bgPr>
    </p:bg>
    <p:spTree>
      <p:nvGrpSpPr>
        <p:cNvPr id="1" name=""/>
        <p:cNvGrpSpPr/>
        <p:nvPr/>
      </p:nvGrpSpPr>
      <p:grpSpPr>
        <a:xfrm>
          <a:off x="0" y="0"/>
          <a:ext cx="0" cy="0"/>
          <a:chOff x="0" y="0"/>
          <a:chExt cx="0" cy="0"/>
        </a:xfrm>
      </p:grpSpPr>
      <p:sp>
        <p:nvSpPr>
          <p:cNvPr id="36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9" name="Picture 24" descr="utdlogo"/>
          <p:cNvPicPr/>
          <p:nvPr/>
        </p:nvPicPr>
        <p:blipFill>
          <a:blip r:embed="rId2"/>
          <a:stretch/>
        </p:blipFill>
        <p:spPr>
          <a:xfrm>
            <a:off x="9304200" y="7254360"/>
            <a:ext cx="619200" cy="272880"/>
          </a:xfrm>
          <a:prstGeom prst="rect">
            <a:avLst/>
          </a:prstGeom>
          <a:noFill/>
          <a:ln w="9525">
            <a:noFill/>
          </a:ln>
        </p:spPr>
      </p:pic>
      <p:sp>
        <p:nvSpPr>
          <p:cNvPr id="37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1"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372"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Default 12">
    <p:bg>
      <p:bgPr>
        <a:solidFill>
          <a:srgbClr val="6C9D30"/>
        </a:solidFill>
        <a:effectLst/>
      </p:bgPr>
    </p:bg>
    <p:spTree>
      <p:nvGrpSpPr>
        <p:cNvPr id="1" name=""/>
        <p:cNvGrpSpPr/>
        <p:nvPr/>
      </p:nvGrpSpPr>
      <p:grpSpPr>
        <a:xfrm>
          <a:off x="0" y="0"/>
          <a:ext cx="0" cy="0"/>
          <a:chOff x="0" y="0"/>
          <a:chExt cx="0" cy="0"/>
        </a:xfrm>
      </p:grpSpPr>
      <p:sp>
        <p:nvSpPr>
          <p:cNvPr id="37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75" name="Picture 24" descr="utdlogo"/>
          <p:cNvPicPr/>
          <p:nvPr/>
        </p:nvPicPr>
        <p:blipFill>
          <a:blip r:embed="rId2"/>
          <a:stretch/>
        </p:blipFill>
        <p:spPr>
          <a:xfrm>
            <a:off x="9304200" y="7254360"/>
            <a:ext cx="619200" cy="272880"/>
          </a:xfrm>
          <a:prstGeom prst="rect">
            <a:avLst/>
          </a:prstGeom>
          <a:noFill/>
          <a:ln w="9525">
            <a:noFill/>
          </a:ln>
        </p:spPr>
      </p:pic>
      <p:sp>
        <p:nvSpPr>
          <p:cNvPr id="37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78"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379"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AutoShape 3"/>
          <p:cNvSpPr/>
          <p:nvPr/>
        </p:nvSpPr>
        <p:spPr>
          <a:xfrm>
            <a:off x="481680" y="1829520"/>
            <a:ext cx="8643270" cy="135183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Variables</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Let’s Review Memory</a:t>
            </a:r>
            <a:endParaRPr lang="en-US" sz="4400" b="0" u="none" strike="noStrike" dirty="0">
              <a:solidFill>
                <a:srgbClr val="000000"/>
              </a:solidFill>
              <a:effectLst/>
              <a:uFillTx/>
              <a:latin typeface="Arial"/>
            </a:endParaRPr>
          </a:p>
        </p:txBody>
      </p:sp>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4400" dirty="0" smtClean="0"/>
              <a:t>ALU</a:t>
            </a:r>
            <a:endParaRPr lang="en-US" sz="4400" dirty="0"/>
          </a:p>
        </p:txBody>
      </p:sp>
      <p:sp>
        <p:nvSpPr>
          <p:cNvPr id="2" name="TextBox 1"/>
          <p:cNvSpPr txBox="1"/>
          <p:nvPr/>
        </p:nvSpPr>
        <p:spPr>
          <a:xfrm>
            <a:off x="7162800" y="4060180"/>
            <a:ext cx="990600" cy="646331"/>
          </a:xfrm>
          <a:prstGeom prst="rect">
            <a:avLst/>
          </a:prstGeom>
          <a:noFill/>
        </p:spPr>
        <p:txBody>
          <a:bodyPr wrap="square" rtlCol="0">
            <a:spAutoFit/>
          </a:bodyPr>
          <a:lstStyle/>
          <a:p>
            <a:r>
              <a:rPr lang="en-US" sz="3600" dirty="0" smtClean="0"/>
              <a:t>sum</a:t>
            </a:r>
            <a:endParaRPr lang="en-US" sz="3600" dirty="0"/>
          </a:p>
        </p:txBody>
      </p:sp>
      <p:sp>
        <p:nvSpPr>
          <p:cNvPr id="3" name="TextBox 2"/>
          <p:cNvSpPr txBox="1"/>
          <p:nvPr/>
        </p:nvSpPr>
        <p:spPr>
          <a:xfrm>
            <a:off x="1352550" y="1961347"/>
            <a:ext cx="7810500" cy="584775"/>
          </a:xfrm>
          <a:prstGeom prst="rect">
            <a:avLst/>
          </a:prstGeom>
          <a:noFill/>
        </p:spPr>
        <p:txBody>
          <a:bodyPr wrap="square" rtlCol="0">
            <a:spAutoFit/>
          </a:bodyPr>
          <a:lstStyle/>
          <a:p>
            <a:r>
              <a:rPr lang="en-US" sz="3200" dirty="0" smtClean="0"/>
              <a:t>We need to remember a calculation or state</a:t>
            </a:r>
            <a:endParaRPr lang="en-US" sz="3200" dirty="0"/>
          </a:p>
        </p:txBody>
      </p:sp>
    </p:spTree>
    <p:extLst>
      <p:ext uri="{BB962C8B-B14F-4D97-AF65-F5344CB8AC3E}">
        <p14:creationId xmlns:p14="http://schemas.microsoft.com/office/powerpoint/2010/main" val="28650460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Memory</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735357" y="1788467"/>
            <a:ext cx="8321189" cy="2246769"/>
          </a:xfrm>
          <a:prstGeom prst="rect">
            <a:avLst/>
          </a:prstGeom>
          <a:noFill/>
        </p:spPr>
        <p:txBody>
          <a:bodyPr wrap="none" rtlCol="0">
            <a:spAutoFit/>
          </a:bodyPr>
          <a:lstStyle/>
          <a:p>
            <a:r>
              <a:rPr lang="en-US" sz="2800" dirty="0" smtClean="0"/>
              <a:t>Physically have to put the results of the add somewhere</a:t>
            </a:r>
          </a:p>
          <a:p>
            <a:endParaRPr lang="en-US" sz="2800" dirty="0"/>
          </a:p>
          <a:p>
            <a:r>
              <a:rPr lang="en-US" sz="2800" dirty="0" smtClean="0"/>
              <a:t>That place is called the address of sum</a:t>
            </a:r>
          </a:p>
          <a:p>
            <a:endParaRPr lang="en-US" sz="2800" dirty="0"/>
          </a:p>
          <a:p>
            <a:r>
              <a:rPr lang="en-US" sz="2800" dirty="0" smtClean="0"/>
              <a:t>It is the location of a memory device</a:t>
            </a:r>
            <a:endParaRPr lang="en-US" sz="2800" dirty="0"/>
          </a:p>
        </p:txBody>
      </p:sp>
    </p:spTree>
    <p:extLst>
      <p:ext uri="{BB962C8B-B14F-4D97-AF65-F5344CB8AC3E}">
        <p14:creationId xmlns:p14="http://schemas.microsoft.com/office/powerpoint/2010/main" val="13620440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Location of Storage</a:t>
            </a:r>
            <a:endParaRPr lang="en-US" sz="4400" b="0" u="none" strike="noStrike" dirty="0">
              <a:solidFill>
                <a:srgbClr val="000000"/>
              </a:solidFill>
              <a:effectLst/>
              <a:uFillTx/>
              <a:latin typeface="Arial"/>
            </a:endParaRPr>
          </a:p>
        </p:txBody>
      </p:sp>
      <p:sp>
        <p:nvSpPr>
          <p:cNvPr id="3" name="TextBox 2"/>
          <p:cNvSpPr txBox="1"/>
          <p:nvPr/>
        </p:nvSpPr>
        <p:spPr>
          <a:xfrm>
            <a:off x="735357" y="1788467"/>
            <a:ext cx="8846825" cy="3539430"/>
          </a:xfrm>
          <a:prstGeom prst="rect">
            <a:avLst/>
          </a:prstGeom>
          <a:noFill/>
        </p:spPr>
        <p:txBody>
          <a:bodyPr wrap="square" rtlCol="0">
            <a:spAutoFit/>
          </a:bodyPr>
          <a:lstStyle/>
          <a:p>
            <a:r>
              <a:rPr lang="en-US" sz="2800" dirty="0" smtClean="0"/>
              <a:t>Address is the location of memory or symbol (variable)</a:t>
            </a:r>
          </a:p>
          <a:p>
            <a:endParaRPr lang="en-US" sz="2800" dirty="0"/>
          </a:p>
          <a:p>
            <a:r>
              <a:rPr lang="en-US" sz="2800" dirty="0" smtClean="0"/>
              <a:t>The computer knows them as unsigned integers</a:t>
            </a:r>
          </a:p>
          <a:p>
            <a:endParaRPr lang="en-US" sz="2800" dirty="0"/>
          </a:p>
          <a:p>
            <a:r>
              <a:rPr lang="en-US" sz="2800" dirty="0" smtClean="0"/>
              <a:t>What are integers and unsigned integers?</a:t>
            </a:r>
          </a:p>
          <a:p>
            <a:endParaRPr lang="en-US" sz="2800" dirty="0"/>
          </a:p>
          <a:p>
            <a:r>
              <a:rPr lang="en-US" sz="2800" smtClean="0"/>
              <a:t>Let’s review</a:t>
            </a:r>
            <a:endParaRPr lang="en-US" sz="2800" dirty="0" smtClean="0"/>
          </a:p>
          <a:p>
            <a:endParaRPr lang="en-US" sz="2800" dirty="0"/>
          </a:p>
        </p:txBody>
      </p:sp>
    </p:spTree>
    <p:extLst>
      <p:ext uri="{BB962C8B-B14F-4D97-AF65-F5344CB8AC3E}">
        <p14:creationId xmlns:p14="http://schemas.microsoft.com/office/powerpoint/2010/main" val="128972496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Everything Is Bits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A memory device holds one of </a:t>
            </a:r>
            <a:r>
              <a:rPr sz="2600" b="1" dirty="0">
                <a:latin typeface="Cambria"/>
              </a:rPr>
              <a:t>two</a:t>
            </a:r>
            <a:r>
              <a:rPr sz="2600" b="0" dirty="0">
                <a:latin typeface="Cambria"/>
              </a:rPr>
              <a:t> states</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We call them  </a:t>
            </a:r>
            <a:r>
              <a:rPr sz="2600" b="1" dirty="0">
                <a:latin typeface="Cambria"/>
              </a:rPr>
              <a:t>0</a:t>
            </a:r>
            <a:r>
              <a:rPr sz="2600" b="0" dirty="0">
                <a:latin typeface="Cambria"/>
              </a:rPr>
              <a:t>  and  </a:t>
            </a:r>
            <a:r>
              <a:rPr sz="2600" b="1" dirty="0">
                <a:latin typeface="Cambria"/>
              </a:rPr>
              <a:t>1</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One such device is a  </a:t>
            </a:r>
            <a:r>
              <a:rPr sz="2600" b="1" dirty="0">
                <a:latin typeface="Cambria"/>
              </a:rPr>
              <a:t>bit</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n  bits give  </a:t>
            </a:r>
            <a:r>
              <a:rPr sz="2600" b="1" dirty="0">
                <a:latin typeface="Cambria"/>
              </a:rPr>
              <a:t>2^n</a:t>
            </a:r>
            <a:r>
              <a:rPr sz="2600" b="0" dirty="0">
                <a:latin typeface="Cambria"/>
              </a:rPr>
              <a:t>  different patterns</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4 bits  give  16 patterns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Sixteen Patterns</a:t>
            </a:r>
            <a:endParaRPr lang="en-US" sz="4400" b="0" u="none" strike="noStrike" dirty="0">
              <a:solidFill>
                <a:srgbClr val="000000"/>
              </a:solidFill>
              <a:effectLst/>
              <a:uFillTx/>
              <a:latin typeface="Arial"/>
            </a:endParaRPr>
          </a:p>
        </p:txBody>
      </p:sp>
      <p:sp>
        <p:nvSpPr>
          <p:cNvPr id="388" name="Rectangle 387"/>
          <p:cNvSpPr/>
          <p:nvPr/>
        </p:nvSpPr>
        <p:spPr>
          <a:xfrm>
            <a:off x="214884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0000</a:t>
            </a:r>
          </a:p>
        </p:txBody>
      </p:sp>
      <p:sp>
        <p:nvSpPr>
          <p:cNvPr id="389" name="Rectangle 388"/>
          <p:cNvSpPr/>
          <p:nvPr/>
        </p:nvSpPr>
        <p:spPr>
          <a:xfrm>
            <a:off x="356616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0001</a:t>
            </a:r>
          </a:p>
        </p:txBody>
      </p:sp>
      <p:sp>
        <p:nvSpPr>
          <p:cNvPr id="390" name="Rectangle 389"/>
          <p:cNvSpPr/>
          <p:nvPr/>
        </p:nvSpPr>
        <p:spPr>
          <a:xfrm>
            <a:off x="498348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0010</a:t>
            </a:r>
          </a:p>
        </p:txBody>
      </p:sp>
      <p:sp>
        <p:nvSpPr>
          <p:cNvPr id="391" name="Rectangle 390"/>
          <p:cNvSpPr/>
          <p:nvPr/>
        </p:nvSpPr>
        <p:spPr>
          <a:xfrm>
            <a:off x="640080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0011</a:t>
            </a:r>
          </a:p>
        </p:txBody>
      </p:sp>
      <p:sp>
        <p:nvSpPr>
          <p:cNvPr id="392" name="Rectangle 391"/>
          <p:cNvSpPr/>
          <p:nvPr/>
        </p:nvSpPr>
        <p:spPr>
          <a:xfrm>
            <a:off x="214884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0100</a:t>
            </a:r>
          </a:p>
        </p:txBody>
      </p:sp>
      <p:sp>
        <p:nvSpPr>
          <p:cNvPr id="393" name="Rectangle 392"/>
          <p:cNvSpPr/>
          <p:nvPr/>
        </p:nvSpPr>
        <p:spPr>
          <a:xfrm>
            <a:off x="356616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0101</a:t>
            </a:r>
          </a:p>
        </p:txBody>
      </p:sp>
      <p:sp>
        <p:nvSpPr>
          <p:cNvPr id="394" name="Rectangle 393"/>
          <p:cNvSpPr/>
          <p:nvPr/>
        </p:nvSpPr>
        <p:spPr>
          <a:xfrm>
            <a:off x="498348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0110</a:t>
            </a:r>
          </a:p>
        </p:txBody>
      </p:sp>
      <p:sp>
        <p:nvSpPr>
          <p:cNvPr id="395" name="Rectangle 394"/>
          <p:cNvSpPr/>
          <p:nvPr/>
        </p:nvSpPr>
        <p:spPr>
          <a:xfrm>
            <a:off x="640080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0111</a:t>
            </a:r>
          </a:p>
        </p:txBody>
      </p:sp>
      <p:sp>
        <p:nvSpPr>
          <p:cNvPr id="396" name="Rectangle 395"/>
          <p:cNvSpPr/>
          <p:nvPr/>
        </p:nvSpPr>
        <p:spPr>
          <a:xfrm>
            <a:off x="214884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1000</a:t>
            </a:r>
          </a:p>
        </p:txBody>
      </p:sp>
      <p:sp>
        <p:nvSpPr>
          <p:cNvPr id="397" name="Rectangle 396"/>
          <p:cNvSpPr/>
          <p:nvPr/>
        </p:nvSpPr>
        <p:spPr>
          <a:xfrm>
            <a:off x="356616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1001</a:t>
            </a:r>
          </a:p>
        </p:txBody>
      </p:sp>
      <p:sp>
        <p:nvSpPr>
          <p:cNvPr id="398" name="Rectangle 397"/>
          <p:cNvSpPr/>
          <p:nvPr/>
        </p:nvSpPr>
        <p:spPr>
          <a:xfrm>
            <a:off x="498348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1010</a:t>
            </a:r>
          </a:p>
        </p:txBody>
      </p:sp>
      <p:sp>
        <p:nvSpPr>
          <p:cNvPr id="399" name="Rectangle 398"/>
          <p:cNvSpPr/>
          <p:nvPr/>
        </p:nvSpPr>
        <p:spPr>
          <a:xfrm>
            <a:off x="640080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1011</a:t>
            </a:r>
          </a:p>
        </p:txBody>
      </p:sp>
      <p:sp>
        <p:nvSpPr>
          <p:cNvPr id="400" name="Rectangle 399"/>
          <p:cNvSpPr/>
          <p:nvPr/>
        </p:nvSpPr>
        <p:spPr>
          <a:xfrm>
            <a:off x="214884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1100</a:t>
            </a:r>
          </a:p>
        </p:txBody>
      </p:sp>
      <p:sp>
        <p:nvSpPr>
          <p:cNvPr id="401" name="Rectangle 400"/>
          <p:cNvSpPr/>
          <p:nvPr/>
        </p:nvSpPr>
        <p:spPr>
          <a:xfrm>
            <a:off x="356616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1101</a:t>
            </a:r>
          </a:p>
        </p:txBody>
      </p:sp>
      <p:sp>
        <p:nvSpPr>
          <p:cNvPr id="402" name="Rectangle 401"/>
          <p:cNvSpPr/>
          <p:nvPr/>
        </p:nvSpPr>
        <p:spPr>
          <a:xfrm>
            <a:off x="498348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1110</a:t>
            </a:r>
          </a:p>
        </p:txBody>
      </p:sp>
      <p:sp>
        <p:nvSpPr>
          <p:cNvPr id="403" name="Rectangle 402"/>
          <p:cNvSpPr/>
          <p:nvPr/>
        </p:nvSpPr>
        <p:spPr>
          <a:xfrm>
            <a:off x="640080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1111</a:t>
            </a:r>
          </a:p>
        </p:txBody>
      </p:sp>
      <p:sp>
        <p:nvSpPr>
          <p:cNvPr id="404" name="TextBox 403"/>
          <p:cNvSpPr txBox="1"/>
          <p:nvPr/>
        </p:nvSpPr>
        <p:spPr>
          <a:xfrm>
            <a:off x="822960" y="5330952"/>
            <a:ext cx="8412480" cy="310896"/>
          </a:xfrm>
          <a:prstGeom prst="rect">
            <a:avLst/>
          </a:prstGeom>
          <a:noFill/>
        </p:spPr>
        <p:txBody>
          <a:bodyPr wrap="square" lIns="0" tIns="0" rIns="0" bIns="0">
            <a:spAutoFit/>
          </a:bodyPr>
          <a:lstStyle/>
          <a:p>
            <a:pPr algn="ctr"/>
            <a:r>
              <a:rPr sz="2100" b="0" i="0">
                <a:solidFill>
                  <a:srgbClr val="000000"/>
                </a:solidFill>
                <a:latin typeface="Cambria"/>
              </a:rPr>
              <a:t>Sixteen patterns.   Nothing here says what any of them </a:t>
            </a:r>
            <a:r>
              <a:rPr sz="2100" b="1" i="0">
                <a:solidFill>
                  <a:srgbClr val="000000"/>
                </a:solidFill>
                <a:latin typeface="Cambria"/>
              </a:rPr>
              <a:t>means</a:t>
            </a:r>
            <a:r>
              <a:rPr sz="2100" b="0" i="0">
                <a:solidFill>
                  <a:srgbClr val="000000"/>
                </a:solidFill>
                <a:latin typeface="Cambria"/>
              </a:rPr>
              <a:t>.</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Meaning Is a Mapping</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2785378"/>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A pattern by itself means </a:t>
            </a:r>
            <a:r>
              <a:rPr sz="2500" b="1" dirty="0">
                <a:latin typeface="Cambria"/>
              </a:rPr>
              <a:t>nothing</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We must </a:t>
            </a:r>
            <a:r>
              <a:rPr sz="2500" b="1" dirty="0">
                <a:latin typeface="Cambria"/>
              </a:rPr>
              <a:t>choose</a:t>
            </a:r>
            <a:r>
              <a:rPr sz="2500" b="0" dirty="0">
                <a:latin typeface="Cambria"/>
              </a:rPr>
              <a:t> which </a:t>
            </a:r>
            <a:r>
              <a:rPr sz="2500" b="0" dirty="0" smtClean="0">
                <a:latin typeface="Cambria"/>
              </a:rPr>
              <a:t>number</a:t>
            </a:r>
            <a:r>
              <a:rPr lang="en-US" sz="2500" b="0" dirty="0" smtClean="0">
                <a:latin typeface="Cambria"/>
              </a:rPr>
              <a:t> </a:t>
            </a:r>
            <a:r>
              <a:rPr sz="2500" b="0" dirty="0" smtClean="0">
                <a:latin typeface="Cambria"/>
              </a:rPr>
              <a:t>each </a:t>
            </a:r>
            <a:r>
              <a:rPr sz="2500" b="0" dirty="0">
                <a:latin typeface="Cambria"/>
              </a:rPr>
              <a:t>pattern stands for</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Any one-to-one mapping is legal</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The hardware does not </a:t>
            </a:r>
            <a:r>
              <a:rPr sz="2500" b="0" dirty="0" smtClean="0">
                <a:latin typeface="Cambria"/>
              </a:rPr>
              <a:t>care</a:t>
            </a:r>
            <a:r>
              <a:rPr lang="en-US" sz="2500" b="0" dirty="0" smtClean="0">
                <a:latin typeface="Cambria"/>
              </a:rPr>
              <a:t> </a:t>
            </a:r>
            <a:r>
              <a:rPr sz="2500" b="0" dirty="0" smtClean="0">
                <a:latin typeface="Cambria"/>
              </a:rPr>
              <a:t>but </a:t>
            </a:r>
            <a:r>
              <a:rPr sz="2500" b="1" dirty="0">
                <a:latin typeface="Cambria"/>
              </a:rPr>
              <a:t>we</a:t>
            </a:r>
            <a:r>
              <a:rPr sz="2500" b="0" dirty="0">
                <a:latin typeface="Cambria"/>
              </a:rPr>
              <a:t> do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An Arbitrary Mapping</a:t>
            </a:r>
            <a:endParaRPr lang="en-US" sz="44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13</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9</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15</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11</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14</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8</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12</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10</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arbitrary</a:t>
            </a:r>
          </a:p>
          <a:p>
            <a:pPr algn="ctr"/>
            <a:r>
              <a:rPr sz="1600">
                <a:solidFill>
                  <a:srgbClr val="000000"/>
                </a:solidFill>
                <a:latin typeface="Cambria"/>
              </a:rPr>
              <a:t>mapping</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000" b="0" i="1">
                <a:solidFill>
                  <a:srgbClr val="000000"/>
                </a:solidFill>
                <a:latin typeface="Cambria"/>
              </a:rPr>
              <a:t>Legal  -  every pattern has one value  -  but  </a:t>
            </a:r>
            <a:r>
              <a:rPr sz="2000" b="1" i="1">
                <a:solidFill>
                  <a:srgbClr val="000000"/>
                </a:solidFill>
                <a:latin typeface="Cambria"/>
              </a:rPr>
              <a:t>1 + 1</a:t>
            </a:r>
            <a:r>
              <a:rPr sz="2000" b="0" i="1">
                <a:solidFill>
                  <a:srgbClr val="000000"/>
                </a:solidFill>
                <a:latin typeface="Cambria"/>
              </a:rPr>
              <a:t>  lands nowhere useful</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Why an Arbitrary Mapping Fails</a:t>
            </a:r>
            <a:endParaRPr lang="en-US" sz="36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2011680" algn="l"/>
              </a:tabLst>
            </a:pPr>
            <a:r>
              <a:rPr sz="2400" b="0" dirty="0">
                <a:latin typeface="Cambria"/>
              </a:rPr>
              <a:t>No relation between the </a:t>
            </a:r>
            <a:r>
              <a:rPr sz="2400" b="1" dirty="0">
                <a:latin typeface="Cambria"/>
              </a:rPr>
              <a:t>pattern</a:t>
            </a:r>
            <a:r>
              <a:rPr sz="2400" b="0" dirty="0">
                <a:latin typeface="Cambria"/>
              </a:rPr>
              <a:t> and the </a:t>
            </a:r>
            <a:r>
              <a:rPr sz="2400" b="1" dirty="0">
                <a:latin typeface="Cambria"/>
              </a:rPr>
              <a:t>value</a:t>
            </a:r>
          </a:p>
          <a:p>
            <a:pPr>
              <a:tabLst>
                <a:tab pos="548640" algn="l"/>
                <a:tab pos="2011680" algn="l"/>
              </a:tabLst>
            </a:pPr>
            <a:r>
              <a:rPr sz="2400" dirty="0">
                <a:latin typeface="Cambria"/>
              </a:rPr>
              <a:t> </a:t>
            </a:r>
          </a:p>
          <a:p>
            <a:pPr>
              <a:tabLst>
                <a:tab pos="548640" algn="l"/>
                <a:tab pos="2011680" algn="l"/>
              </a:tabLst>
            </a:pPr>
            <a:r>
              <a:rPr sz="2400" b="0" dirty="0">
                <a:latin typeface="Cambria"/>
              </a:rPr>
              <a:t>Adding 1 could move anywhere on the circle</a:t>
            </a:r>
          </a:p>
          <a:p>
            <a:pPr>
              <a:tabLst>
                <a:tab pos="548640" algn="l"/>
                <a:tab pos="2011680" algn="l"/>
              </a:tabLst>
            </a:pPr>
            <a:r>
              <a:rPr sz="2400" dirty="0">
                <a:latin typeface="Cambria"/>
              </a:rPr>
              <a:t> </a:t>
            </a:r>
          </a:p>
          <a:p>
            <a:pPr>
              <a:tabLst>
                <a:tab pos="548640" algn="l"/>
                <a:tab pos="2011680" algn="l"/>
              </a:tabLst>
            </a:pPr>
            <a:r>
              <a:rPr sz="2400" b="0" dirty="0">
                <a:latin typeface="Cambria"/>
              </a:rPr>
              <a:t>Every operation needs a </a:t>
            </a:r>
            <a:r>
              <a:rPr sz="2400" b="1" dirty="0">
                <a:latin typeface="Cambria"/>
              </a:rPr>
              <a:t>lookup table</a:t>
            </a:r>
          </a:p>
          <a:p>
            <a:pPr>
              <a:tabLst>
                <a:tab pos="548640" algn="l"/>
                <a:tab pos="2011680" algn="l"/>
              </a:tabLst>
            </a:pPr>
            <a:r>
              <a:rPr sz="2400" dirty="0">
                <a:latin typeface="Cambria"/>
              </a:rPr>
              <a:t> </a:t>
            </a:r>
          </a:p>
          <a:p>
            <a:pPr>
              <a:tabLst>
                <a:tab pos="548640" algn="l"/>
                <a:tab pos="2011680" algn="l"/>
              </a:tabLst>
            </a:pPr>
            <a:r>
              <a:rPr sz="2400" b="0" dirty="0">
                <a:latin typeface="Cambria"/>
              </a:rPr>
              <a:t>	4 bits	16 entries</a:t>
            </a:r>
          </a:p>
          <a:p>
            <a:pPr>
              <a:tabLst>
                <a:tab pos="548640" algn="l"/>
                <a:tab pos="2011680" algn="l"/>
              </a:tabLst>
            </a:pPr>
            <a:r>
              <a:rPr sz="2400" b="0" dirty="0">
                <a:latin typeface="Cambria"/>
              </a:rPr>
              <a:t>	64 bits	18 billion </a:t>
            </a:r>
            <a:r>
              <a:rPr sz="2400" b="0" dirty="0" err="1">
                <a:latin typeface="Cambria"/>
              </a:rPr>
              <a:t>billion</a:t>
            </a:r>
            <a:r>
              <a:rPr sz="2400" b="0" dirty="0">
                <a:latin typeface="Cambria"/>
              </a:rPr>
              <a:t> entries</a:t>
            </a:r>
          </a:p>
          <a:p>
            <a:pPr>
              <a:tabLst>
                <a:tab pos="548640" algn="l"/>
                <a:tab pos="2011680" algn="l"/>
              </a:tabLst>
            </a:pPr>
            <a:r>
              <a:rPr sz="2400" dirty="0">
                <a:latin typeface="Cambria"/>
              </a:rPr>
              <a:t> </a:t>
            </a:r>
          </a:p>
          <a:p>
            <a:pPr>
              <a:tabLst>
                <a:tab pos="548640" algn="l"/>
                <a:tab pos="2011680" algn="l"/>
              </a:tabLst>
            </a:pPr>
            <a:r>
              <a:rPr sz="2400" b="0" dirty="0">
                <a:latin typeface="Cambria"/>
              </a:rPr>
              <a:t>We need a mapping that </a:t>
            </a:r>
            <a:r>
              <a:rPr sz="2400" b="1" dirty="0">
                <a:latin typeface="Cambria"/>
              </a:rPr>
              <a:t>computes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Positional Notation</a:t>
            </a:r>
            <a:endParaRPr lang="en-US" sz="4400" b="0" u="none" strike="noStrike" dirty="0">
              <a:solidFill>
                <a:srgbClr val="000000"/>
              </a:solidFill>
              <a:effectLst/>
              <a:uFillTx/>
              <a:latin typeface="Arial"/>
            </a:endParaRPr>
          </a:p>
        </p:txBody>
      </p:sp>
      <p:sp>
        <p:nvSpPr>
          <p:cNvPr id="388" name="TextBox 387"/>
          <p:cNvSpPr txBox="1"/>
          <p:nvPr/>
        </p:nvSpPr>
        <p:spPr>
          <a:xfrm>
            <a:off x="265176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2³ = 8</a:t>
            </a:r>
          </a:p>
        </p:txBody>
      </p:sp>
      <p:sp>
        <p:nvSpPr>
          <p:cNvPr id="389" name="Rectangle 388"/>
          <p:cNvSpPr/>
          <p:nvPr/>
        </p:nvSpPr>
        <p:spPr>
          <a:xfrm>
            <a:off x="265176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0" name="TextBox 389"/>
          <p:cNvSpPr txBox="1"/>
          <p:nvPr/>
        </p:nvSpPr>
        <p:spPr>
          <a:xfrm>
            <a:off x="384048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2² = 4</a:t>
            </a:r>
          </a:p>
        </p:txBody>
      </p:sp>
      <p:sp>
        <p:nvSpPr>
          <p:cNvPr id="391" name="Rectangle 390"/>
          <p:cNvSpPr/>
          <p:nvPr/>
        </p:nvSpPr>
        <p:spPr>
          <a:xfrm>
            <a:off x="3840480" y="2606040"/>
            <a:ext cx="1188720" cy="8686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0</a:t>
            </a:r>
          </a:p>
        </p:txBody>
      </p:sp>
      <p:sp>
        <p:nvSpPr>
          <p:cNvPr id="392" name="TextBox 391"/>
          <p:cNvSpPr txBox="1"/>
          <p:nvPr/>
        </p:nvSpPr>
        <p:spPr>
          <a:xfrm>
            <a:off x="502920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2¹ = 2</a:t>
            </a:r>
          </a:p>
        </p:txBody>
      </p:sp>
      <p:sp>
        <p:nvSpPr>
          <p:cNvPr id="393" name="Rectangle 392"/>
          <p:cNvSpPr/>
          <p:nvPr/>
        </p:nvSpPr>
        <p:spPr>
          <a:xfrm>
            <a:off x="502920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4" name="TextBox 393"/>
          <p:cNvSpPr txBox="1"/>
          <p:nvPr/>
        </p:nvSpPr>
        <p:spPr>
          <a:xfrm>
            <a:off x="621792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2⁰ = 1</a:t>
            </a:r>
          </a:p>
        </p:txBody>
      </p:sp>
      <p:sp>
        <p:nvSpPr>
          <p:cNvPr id="395" name="Rectangle 394"/>
          <p:cNvSpPr/>
          <p:nvPr/>
        </p:nvSpPr>
        <p:spPr>
          <a:xfrm>
            <a:off x="621792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6" name="TextBox 395"/>
          <p:cNvSpPr txBox="1"/>
          <p:nvPr/>
        </p:nvSpPr>
        <p:spPr>
          <a:xfrm>
            <a:off x="2651760" y="3977639"/>
            <a:ext cx="1188720" cy="310896"/>
          </a:xfrm>
          <a:prstGeom prst="rect">
            <a:avLst/>
          </a:prstGeom>
          <a:noFill/>
        </p:spPr>
        <p:txBody>
          <a:bodyPr wrap="square" lIns="0" tIns="0" rIns="0" bIns="0">
            <a:spAutoFit/>
          </a:bodyPr>
          <a:lstStyle/>
          <a:p>
            <a:pPr algn="ctr"/>
            <a:r>
              <a:rPr sz="2600" b="0" i="0">
                <a:solidFill>
                  <a:srgbClr val="000000"/>
                </a:solidFill>
                <a:latin typeface="Cambria"/>
              </a:rPr>
              <a:t>1 · 8</a:t>
            </a:r>
          </a:p>
        </p:txBody>
      </p:sp>
      <p:sp>
        <p:nvSpPr>
          <p:cNvPr id="397" name="TextBox 396"/>
          <p:cNvSpPr txBox="1"/>
          <p:nvPr/>
        </p:nvSpPr>
        <p:spPr>
          <a:xfrm>
            <a:off x="3246120" y="3977639"/>
            <a:ext cx="1188720" cy="310896"/>
          </a:xfrm>
          <a:prstGeom prst="rect">
            <a:avLst/>
          </a:prstGeom>
          <a:noFill/>
        </p:spPr>
        <p:txBody>
          <a:bodyPr wrap="square" lIns="0" tIns="0" rIns="0" bIns="0">
            <a:spAutoFit/>
          </a:bodyPr>
          <a:lstStyle/>
          <a:p>
            <a:pPr algn="ctr"/>
            <a:r>
              <a:rPr sz="2600" b="0" i="0">
                <a:solidFill>
                  <a:srgbClr val="000000"/>
                </a:solidFill>
                <a:latin typeface="Cambria"/>
              </a:rPr>
              <a:t>+</a:t>
            </a:r>
          </a:p>
        </p:txBody>
      </p:sp>
      <p:sp>
        <p:nvSpPr>
          <p:cNvPr id="398" name="TextBox 397"/>
          <p:cNvSpPr txBox="1"/>
          <p:nvPr/>
        </p:nvSpPr>
        <p:spPr>
          <a:xfrm>
            <a:off x="3840480" y="3977639"/>
            <a:ext cx="1188720" cy="310896"/>
          </a:xfrm>
          <a:prstGeom prst="rect">
            <a:avLst/>
          </a:prstGeom>
          <a:noFill/>
        </p:spPr>
        <p:txBody>
          <a:bodyPr wrap="square" lIns="0" tIns="0" rIns="0" bIns="0">
            <a:spAutoFit/>
          </a:bodyPr>
          <a:lstStyle/>
          <a:p>
            <a:pPr algn="ctr"/>
            <a:r>
              <a:rPr sz="2600" b="0" i="0">
                <a:solidFill>
                  <a:srgbClr val="000000"/>
                </a:solidFill>
                <a:latin typeface="Cambria"/>
              </a:rPr>
              <a:t>0 · 4</a:t>
            </a:r>
          </a:p>
        </p:txBody>
      </p:sp>
      <p:sp>
        <p:nvSpPr>
          <p:cNvPr id="399" name="TextBox 398"/>
          <p:cNvSpPr txBox="1"/>
          <p:nvPr/>
        </p:nvSpPr>
        <p:spPr>
          <a:xfrm>
            <a:off x="4434840" y="3977639"/>
            <a:ext cx="1188720" cy="310896"/>
          </a:xfrm>
          <a:prstGeom prst="rect">
            <a:avLst/>
          </a:prstGeom>
          <a:noFill/>
        </p:spPr>
        <p:txBody>
          <a:bodyPr wrap="square" lIns="0" tIns="0" rIns="0" bIns="0">
            <a:spAutoFit/>
          </a:bodyPr>
          <a:lstStyle/>
          <a:p>
            <a:pPr algn="ctr"/>
            <a:r>
              <a:rPr sz="2600" b="0" i="0">
                <a:solidFill>
                  <a:srgbClr val="000000"/>
                </a:solidFill>
                <a:latin typeface="Cambria"/>
              </a:rPr>
              <a:t>+</a:t>
            </a:r>
          </a:p>
        </p:txBody>
      </p:sp>
      <p:sp>
        <p:nvSpPr>
          <p:cNvPr id="400" name="TextBox 399"/>
          <p:cNvSpPr txBox="1"/>
          <p:nvPr/>
        </p:nvSpPr>
        <p:spPr>
          <a:xfrm>
            <a:off x="5029200" y="3977639"/>
            <a:ext cx="1188720" cy="310896"/>
          </a:xfrm>
          <a:prstGeom prst="rect">
            <a:avLst/>
          </a:prstGeom>
          <a:noFill/>
        </p:spPr>
        <p:txBody>
          <a:bodyPr wrap="square" lIns="0" tIns="0" rIns="0" bIns="0">
            <a:spAutoFit/>
          </a:bodyPr>
          <a:lstStyle/>
          <a:p>
            <a:pPr algn="ctr"/>
            <a:r>
              <a:rPr sz="2600" b="0" i="0">
                <a:solidFill>
                  <a:srgbClr val="000000"/>
                </a:solidFill>
                <a:latin typeface="Cambria"/>
              </a:rPr>
              <a:t>1 · 2</a:t>
            </a:r>
          </a:p>
        </p:txBody>
      </p:sp>
      <p:sp>
        <p:nvSpPr>
          <p:cNvPr id="401" name="TextBox 400"/>
          <p:cNvSpPr txBox="1"/>
          <p:nvPr/>
        </p:nvSpPr>
        <p:spPr>
          <a:xfrm>
            <a:off x="5623560" y="3977639"/>
            <a:ext cx="1188720" cy="310896"/>
          </a:xfrm>
          <a:prstGeom prst="rect">
            <a:avLst/>
          </a:prstGeom>
          <a:noFill/>
        </p:spPr>
        <p:txBody>
          <a:bodyPr wrap="square" lIns="0" tIns="0" rIns="0" bIns="0">
            <a:spAutoFit/>
          </a:bodyPr>
          <a:lstStyle/>
          <a:p>
            <a:pPr algn="ctr"/>
            <a:r>
              <a:rPr sz="2600" b="0" i="0">
                <a:solidFill>
                  <a:srgbClr val="000000"/>
                </a:solidFill>
                <a:latin typeface="Cambria"/>
              </a:rPr>
              <a:t>+</a:t>
            </a:r>
          </a:p>
        </p:txBody>
      </p:sp>
      <p:sp>
        <p:nvSpPr>
          <p:cNvPr id="402" name="TextBox 401"/>
          <p:cNvSpPr txBox="1"/>
          <p:nvPr/>
        </p:nvSpPr>
        <p:spPr>
          <a:xfrm>
            <a:off x="6217920" y="3977639"/>
            <a:ext cx="1188720" cy="310896"/>
          </a:xfrm>
          <a:prstGeom prst="rect">
            <a:avLst/>
          </a:prstGeom>
          <a:noFill/>
        </p:spPr>
        <p:txBody>
          <a:bodyPr wrap="square" lIns="0" tIns="0" rIns="0" bIns="0">
            <a:spAutoFit/>
          </a:bodyPr>
          <a:lstStyle/>
          <a:p>
            <a:pPr algn="ctr"/>
            <a:r>
              <a:rPr sz="2600" b="0" i="0">
                <a:solidFill>
                  <a:srgbClr val="000000"/>
                </a:solidFill>
                <a:latin typeface="Cambria"/>
              </a:rPr>
              <a:t>1 · 1</a:t>
            </a:r>
          </a:p>
        </p:txBody>
      </p:sp>
      <p:sp>
        <p:nvSpPr>
          <p:cNvPr id="403" name="TextBox 402"/>
          <p:cNvSpPr txBox="1"/>
          <p:nvPr/>
        </p:nvSpPr>
        <p:spPr>
          <a:xfrm>
            <a:off x="822960" y="4754879"/>
            <a:ext cx="8412480" cy="310896"/>
          </a:xfrm>
          <a:prstGeom prst="rect">
            <a:avLst/>
          </a:prstGeom>
          <a:noFill/>
        </p:spPr>
        <p:txBody>
          <a:bodyPr wrap="square" lIns="0" tIns="0" rIns="0" bIns="0">
            <a:spAutoFit/>
          </a:bodyPr>
          <a:lstStyle/>
          <a:p>
            <a:pPr algn="ctr"/>
            <a:r>
              <a:rPr sz="3000" b="0" i="0">
                <a:solidFill>
                  <a:srgbClr val="000000"/>
                </a:solidFill>
                <a:latin typeface="Cambria"/>
              </a:rPr>
              <a:t>=   </a:t>
            </a:r>
            <a:r>
              <a:rPr sz="3000" b="1" i="0">
                <a:solidFill>
                  <a:srgbClr val="000000"/>
                </a:solidFill>
                <a:latin typeface="Cambria"/>
              </a:rPr>
              <a:t>11</a:t>
            </a:r>
          </a:p>
        </p:txBody>
      </p:sp>
      <p:sp>
        <p:nvSpPr>
          <p:cNvPr id="404" name="TextBox 403"/>
          <p:cNvSpPr txBox="1"/>
          <p:nvPr/>
        </p:nvSpPr>
        <p:spPr>
          <a:xfrm>
            <a:off x="822960" y="5486400"/>
            <a:ext cx="8412480" cy="310896"/>
          </a:xfrm>
          <a:prstGeom prst="rect">
            <a:avLst/>
          </a:prstGeom>
          <a:noFill/>
        </p:spPr>
        <p:txBody>
          <a:bodyPr wrap="square" lIns="0" tIns="0" rIns="0" bIns="0">
            <a:spAutoFit/>
          </a:bodyPr>
          <a:lstStyle/>
          <a:p>
            <a:pPr algn="ctr"/>
            <a:r>
              <a:rPr sz="2200" b="0" i="1">
                <a:solidFill>
                  <a:srgbClr val="000000"/>
                </a:solidFill>
                <a:latin typeface="Cambria"/>
              </a:rPr>
              <a:t>Each column has a </a:t>
            </a:r>
            <a:r>
              <a:rPr sz="2200" b="1" i="1">
                <a:solidFill>
                  <a:srgbClr val="000000"/>
                </a:solidFill>
                <a:latin typeface="Cambria"/>
              </a:rPr>
              <a:t>weight</a:t>
            </a:r>
            <a:r>
              <a:rPr sz="2200" b="0" i="1">
                <a:solidFill>
                  <a:srgbClr val="000000"/>
                </a:solidFill>
                <a:latin typeface="Cambria"/>
              </a:rPr>
              <a:t>  -  a power of two</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Unsigned Rule</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822960" algn="l"/>
                <a:tab pos="3566160" algn="l"/>
                <a:tab pos="5760720" algn="l"/>
              </a:tabLst>
            </a:pPr>
            <a:r>
              <a:rPr sz="2300" b="0">
                <a:latin typeface="Cambria"/>
              </a:rPr>
              <a:t>Number  =  sum of the </a:t>
            </a:r>
            <a:r>
              <a:rPr sz="2300" b="1">
                <a:latin typeface="Cambria"/>
              </a:rPr>
              <a:t>weights</a:t>
            </a:r>
            <a:r>
              <a:rPr sz="2300" b="0">
                <a:latin typeface="Cambria"/>
              </a:rPr>
              <a:t> whose bit is 1</a:t>
            </a:r>
          </a:p>
          <a:p>
            <a:pPr>
              <a:tabLst>
                <a:tab pos="822960" algn="l"/>
                <a:tab pos="3566160" algn="l"/>
                <a:tab pos="5760720" algn="l"/>
              </a:tabLst>
            </a:pPr>
            <a:r>
              <a:rPr sz="2300">
                <a:latin typeface="Cambria"/>
              </a:rPr>
              <a:t> </a:t>
            </a:r>
          </a:p>
          <a:p>
            <a:pPr>
              <a:tabLst>
                <a:tab pos="822960" algn="l"/>
                <a:tab pos="3566160" algn="l"/>
                <a:tab pos="5760720" algn="l"/>
              </a:tabLst>
            </a:pPr>
            <a:r>
              <a:rPr sz="2300" b="0">
                <a:latin typeface="Cambria"/>
              </a:rPr>
              <a:t>	b3·2³   +   b2·2²   +   b1·2¹   +   b0·2⁰</a:t>
            </a:r>
          </a:p>
          <a:p>
            <a:pPr>
              <a:tabLst>
                <a:tab pos="822960" algn="l"/>
                <a:tab pos="3566160" algn="l"/>
                <a:tab pos="5760720" algn="l"/>
              </a:tabLst>
            </a:pPr>
            <a:r>
              <a:rPr sz="2300">
                <a:latin typeface="Cambria"/>
              </a:rPr>
              <a:t> </a:t>
            </a:r>
          </a:p>
          <a:p>
            <a:pPr>
              <a:tabLst>
                <a:tab pos="822960" algn="l"/>
                <a:tab pos="3566160" algn="l"/>
                <a:tab pos="5760720" algn="l"/>
              </a:tabLst>
            </a:pPr>
            <a:r>
              <a:rPr sz="2300" b="0">
                <a:latin typeface="Cambria"/>
              </a:rPr>
              <a:t>1011	=  8 + 0 + 2 + 1	=  11</a:t>
            </a:r>
          </a:p>
          <a:p>
            <a:pPr>
              <a:tabLst>
                <a:tab pos="822960" algn="l"/>
                <a:tab pos="3566160" algn="l"/>
                <a:tab pos="5760720" algn="l"/>
              </a:tabLst>
            </a:pPr>
            <a:r>
              <a:rPr sz="2300" b="0">
                <a:latin typeface="Cambria"/>
              </a:rPr>
              <a:t>1111	=  8 + 4 + 2 + 1	=  15</a:t>
            </a:r>
          </a:p>
          <a:p>
            <a:pPr>
              <a:tabLst>
                <a:tab pos="822960" algn="l"/>
                <a:tab pos="3566160" algn="l"/>
                <a:tab pos="5760720" algn="l"/>
              </a:tabLst>
            </a:pPr>
            <a:r>
              <a:rPr sz="2300" b="0">
                <a:latin typeface="Cambria"/>
              </a:rPr>
              <a:t>0000	=  0	=  0</a:t>
            </a:r>
          </a:p>
          <a:p>
            <a:pPr>
              <a:tabLst>
                <a:tab pos="822960" algn="l"/>
                <a:tab pos="3566160" algn="l"/>
                <a:tab pos="5760720" algn="l"/>
              </a:tabLst>
            </a:pPr>
            <a:r>
              <a:rPr sz="2300">
                <a:latin typeface="Cambria"/>
              </a:rPr>
              <a:t> </a:t>
            </a:r>
          </a:p>
          <a:p>
            <a:pPr>
              <a:tabLst>
                <a:tab pos="822960" algn="l"/>
                <a:tab pos="3566160" algn="l"/>
                <a:tab pos="5760720" algn="l"/>
              </a:tabLst>
            </a:pPr>
            <a:r>
              <a:rPr sz="2300" b="0">
                <a:latin typeface="Cambria"/>
              </a:rPr>
              <a:t>One rule, any number of bits</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Unsigned Representation</a:t>
            </a:r>
            <a:endParaRPr lang="en-US" sz="40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000000"/>
                </a:solidFill>
                <a:latin typeface="Cambria"/>
              </a:rPr>
              <a:t>8</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9</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10</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11</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12</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13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14</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15</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unsigned integer</a:t>
            </a:r>
          </a:p>
          <a:p>
            <a:pPr algn="ctr"/>
            <a:r>
              <a:rPr sz="1600">
                <a:solidFill>
                  <a:srgbClr val="000000"/>
                </a:solidFill>
                <a:latin typeface="Cambria"/>
              </a:rPr>
              <a:t>representation</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100" b="0" i="1">
                <a:solidFill>
                  <a:srgbClr val="000000"/>
                </a:solidFill>
                <a:latin typeface="Cambria"/>
              </a:rPr>
              <a:t>Neighbouring patterns are neighbouring numbers</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Counting Works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4339650"/>
          </a:xfrm>
          <a:prstGeom prst="rect">
            <a:avLst/>
          </a:prstGeom>
          <a:noFill/>
        </p:spPr>
        <p:txBody>
          <a:bodyPr wrap="square">
            <a:spAutoFit/>
          </a:bodyPr>
          <a:lstStyle/>
          <a:p>
            <a:pPr>
              <a:tabLst>
                <a:tab pos="548640" algn="l"/>
                <a:tab pos="3017520" algn="l"/>
              </a:tabLst>
            </a:pPr>
            <a:r>
              <a:rPr sz="2300" b="0" dirty="0">
                <a:latin typeface="Cambria"/>
              </a:rPr>
              <a:t>Add 1  =  move </a:t>
            </a:r>
            <a:r>
              <a:rPr sz="2300" b="1" dirty="0">
                <a:latin typeface="Cambria"/>
              </a:rPr>
              <a:t>one tick clockwise</a:t>
            </a:r>
          </a:p>
          <a:p>
            <a:pPr>
              <a:tabLst>
                <a:tab pos="548640" algn="l"/>
                <a:tab pos="3017520" algn="l"/>
              </a:tabLst>
            </a:pPr>
            <a:r>
              <a:rPr sz="2300" dirty="0">
                <a:latin typeface="Cambria"/>
              </a:rPr>
              <a:t> </a:t>
            </a:r>
          </a:p>
          <a:p>
            <a:pPr>
              <a:tabLst>
                <a:tab pos="548640" algn="l"/>
                <a:tab pos="3017520" algn="l"/>
              </a:tabLst>
            </a:pPr>
            <a:r>
              <a:rPr sz="2300" b="0" dirty="0">
                <a:latin typeface="Cambria"/>
              </a:rPr>
              <a:t>The bit pattern and the value stay in step</a:t>
            </a:r>
          </a:p>
          <a:p>
            <a:pPr>
              <a:tabLst>
                <a:tab pos="548640" algn="l"/>
                <a:tab pos="3017520" algn="l"/>
              </a:tabLst>
            </a:pPr>
            <a:r>
              <a:rPr sz="2300" dirty="0">
                <a:latin typeface="Cambria"/>
              </a:rPr>
              <a:t> </a:t>
            </a:r>
          </a:p>
          <a:p>
            <a:pPr>
              <a:tabLst>
                <a:tab pos="548640" algn="l"/>
                <a:tab pos="3017520" algn="l"/>
              </a:tabLst>
            </a:pPr>
            <a:r>
              <a:rPr sz="2300" b="0" dirty="0">
                <a:latin typeface="Cambria"/>
              </a:rPr>
              <a:t>Past the top:	1111 + 1  =  0000</a:t>
            </a:r>
          </a:p>
          <a:p>
            <a:pPr>
              <a:tabLst>
                <a:tab pos="548640" algn="l"/>
                <a:tab pos="3017520" algn="l"/>
              </a:tabLst>
            </a:pPr>
            <a:r>
              <a:rPr sz="2300" b="0" dirty="0">
                <a:latin typeface="Cambria"/>
              </a:rPr>
              <a:t>		15 + 1  =  0</a:t>
            </a:r>
          </a:p>
          <a:p>
            <a:pPr>
              <a:tabLst>
                <a:tab pos="548640" algn="l"/>
                <a:tab pos="3017520" algn="l"/>
              </a:tabLst>
            </a:pPr>
            <a:r>
              <a:rPr sz="2300" dirty="0">
                <a:latin typeface="Cambria"/>
              </a:rPr>
              <a:t> </a:t>
            </a:r>
          </a:p>
          <a:p>
            <a:pPr>
              <a:tabLst>
                <a:tab pos="548640" algn="l"/>
                <a:tab pos="3017520" algn="l"/>
              </a:tabLst>
            </a:pPr>
            <a:r>
              <a:rPr sz="2300" b="0" dirty="0">
                <a:latin typeface="Cambria"/>
              </a:rPr>
              <a:t>The count </a:t>
            </a:r>
            <a:r>
              <a:rPr sz="2300" b="1" dirty="0">
                <a:latin typeface="Cambria"/>
              </a:rPr>
              <a:t>wraps</a:t>
            </a:r>
            <a:r>
              <a:rPr sz="2300" b="0" dirty="0">
                <a:latin typeface="Cambria"/>
              </a:rPr>
              <a:t>  -  arithmetic modulo 2^n</a:t>
            </a:r>
          </a:p>
          <a:p>
            <a:pPr>
              <a:tabLst>
                <a:tab pos="548640" algn="l"/>
                <a:tab pos="3017520" algn="l"/>
              </a:tabLst>
            </a:pPr>
            <a:r>
              <a:rPr sz="2300" dirty="0">
                <a:latin typeface="Cambria"/>
              </a:rPr>
              <a:t> </a:t>
            </a:r>
          </a:p>
          <a:p>
            <a:pPr>
              <a:tabLst>
                <a:tab pos="548640" algn="l"/>
                <a:tab pos="3017520" algn="l"/>
              </a:tabLst>
            </a:pPr>
            <a:r>
              <a:rPr sz="2300" b="0" dirty="0">
                <a:latin typeface="Cambria"/>
              </a:rPr>
              <a:t>The circle is not a mistake;  it is the </a:t>
            </a:r>
            <a:r>
              <a:rPr sz="2300" b="0" dirty="0" smtClean="0">
                <a:latin typeface="Cambria"/>
              </a:rPr>
              <a:t>machine</a:t>
            </a:r>
            <a:endParaRPr lang="en-US" sz="2300" b="0" dirty="0" smtClean="0">
              <a:latin typeface="Cambria"/>
            </a:endParaRPr>
          </a:p>
          <a:p>
            <a:pPr>
              <a:tabLst>
                <a:tab pos="548640" algn="l"/>
                <a:tab pos="3017520" algn="l"/>
              </a:tabLst>
            </a:pPr>
            <a:endParaRPr lang="en-US" sz="2300" dirty="0">
              <a:latin typeface="Cambria"/>
            </a:endParaRPr>
          </a:p>
          <a:p>
            <a:pPr>
              <a:tabLst>
                <a:tab pos="548640" algn="l"/>
                <a:tab pos="3017520" algn="l"/>
              </a:tabLst>
            </a:pPr>
            <a:r>
              <a:rPr lang="en-US" sz="2300" b="0" dirty="0" smtClean="0">
                <a:latin typeface="Cambria"/>
              </a:rPr>
              <a:t>A computer only has a finite bit length</a:t>
            </a:r>
            <a:endParaRPr sz="23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8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Unsigned Range</a:t>
            </a:r>
            <a:endParaRPr lang="en-US" sz="4400" b="0" u="none" strike="noStrike" dirty="0">
              <a:solidFill>
                <a:srgbClr val="000000"/>
              </a:solidFill>
              <a:effectLst/>
              <a:uFillTx/>
              <a:latin typeface="Arial"/>
            </a:endParaRPr>
          </a:p>
        </p:txBody>
      </p:sp>
      <p:sp>
        <p:nvSpPr>
          <p:cNvPr id="388" name="Rectangle 387"/>
          <p:cNvSpPr/>
          <p:nvPr/>
        </p:nvSpPr>
        <p:spPr>
          <a:xfrm>
            <a:off x="1005840" y="2423160"/>
            <a:ext cx="1371600" cy="73152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Bits</a:t>
            </a:r>
          </a:p>
        </p:txBody>
      </p:sp>
      <p:sp>
        <p:nvSpPr>
          <p:cNvPr id="389" name="Rectangle 388"/>
          <p:cNvSpPr/>
          <p:nvPr/>
        </p:nvSpPr>
        <p:spPr>
          <a:xfrm>
            <a:off x="2377440" y="2423160"/>
            <a:ext cx="2834640" cy="73152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Patterns</a:t>
            </a:r>
          </a:p>
        </p:txBody>
      </p:sp>
      <p:sp>
        <p:nvSpPr>
          <p:cNvPr id="390" name="Rectangle 389"/>
          <p:cNvSpPr/>
          <p:nvPr/>
        </p:nvSpPr>
        <p:spPr>
          <a:xfrm>
            <a:off x="5212080" y="2423160"/>
            <a:ext cx="3840480" cy="73152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Range</a:t>
            </a:r>
          </a:p>
        </p:txBody>
      </p:sp>
      <p:sp>
        <p:nvSpPr>
          <p:cNvPr id="391" name="Rectangle 390"/>
          <p:cNvSpPr/>
          <p:nvPr/>
        </p:nvSpPr>
        <p:spPr>
          <a:xfrm>
            <a:off x="1005840" y="315468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8</a:t>
            </a:r>
          </a:p>
        </p:txBody>
      </p:sp>
      <p:sp>
        <p:nvSpPr>
          <p:cNvPr id="392" name="Rectangle 391"/>
          <p:cNvSpPr/>
          <p:nvPr/>
        </p:nvSpPr>
        <p:spPr>
          <a:xfrm>
            <a:off x="2377440" y="315468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256</a:t>
            </a:r>
          </a:p>
        </p:txBody>
      </p:sp>
      <p:sp>
        <p:nvSpPr>
          <p:cNvPr id="393" name="Rectangle 392"/>
          <p:cNvSpPr/>
          <p:nvPr/>
        </p:nvSpPr>
        <p:spPr>
          <a:xfrm>
            <a:off x="5212080" y="315468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0 .. 255</a:t>
            </a:r>
          </a:p>
        </p:txBody>
      </p:sp>
      <p:sp>
        <p:nvSpPr>
          <p:cNvPr id="394" name="Rectangle 393"/>
          <p:cNvSpPr/>
          <p:nvPr/>
        </p:nvSpPr>
        <p:spPr>
          <a:xfrm>
            <a:off x="1005840" y="388620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16</a:t>
            </a:r>
          </a:p>
        </p:txBody>
      </p:sp>
      <p:sp>
        <p:nvSpPr>
          <p:cNvPr id="395" name="Rectangle 394"/>
          <p:cNvSpPr/>
          <p:nvPr/>
        </p:nvSpPr>
        <p:spPr>
          <a:xfrm>
            <a:off x="2377440" y="388620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65,536</a:t>
            </a:r>
          </a:p>
        </p:txBody>
      </p:sp>
      <p:sp>
        <p:nvSpPr>
          <p:cNvPr id="396" name="Rectangle 395"/>
          <p:cNvSpPr/>
          <p:nvPr/>
        </p:nvSpPr>
        <p:spPr>
          <a:xfrm>
            <a:off x="5212080" y="388620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0 .. 65,535</a:t>
            </a:r>
          </a:p>
        </p:txBody>
      </p:sp>
      <p:sp>
        <p:nvSpPr>
          <p:cNvPr id="397" name="Rectangle 396"/>
          <p:cNvSpPr/>
          <p:nvPr/>
        </p:nvSpPr>
        <p:spPr>
          <a:xfrm>
            <a:off x="1005840" y="461772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32</a:t>
            </a:r>
          </a:p>
        </p:txBody>
      </p:sp>
      <p:sp>
        <p:nvSpPr>
          <p:cNvPr id="398" name="Rectangle 397"/>
          <p:cNvSpPr/>
          <p:nvPr/>
        </p:nvSpPr>
        <p:spPr>
          <a:xfrm>
            <a:off x="2377440" y="461772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4,294,967,296</a:t>
            </a:r>
          </a:p>
        </p:txBody>
      </p:sp>
      <p:sp>
        <p:nvSpPr>
          <p:cNvPr id="399" name="Rectangle 398"/>
          <p:cNvSpPr/>
          <p:nvPr/>
        </p:nvSpPr>
        <p:spPr>
          <a:xfrm>
            <a:off x="5212080" y="461772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0 .. 4,294,967,295</a:t>
            </a:r>
          </a:p>
        </p:txBody>
      </p:sp>
      <p:sp>
        <p:nvSpPr>
          <p:cNvPr id="400" name="Rectangle 399"/>
          <p:cNvSpPr/>
          <p:nvPr/>
        </p:nvSpPr>
        <p:spPr>
          <a:xfrm>
            <a:off x="1005840" y="534924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64</a:t>
            </a:r>
          </a:p>
        </p:txBody>
      </p:sp>
      <p:sp>
        <p:nvSpPr>
          <p:cNvPr id="401" name="Rectangle 400"/>
          <p:cNvSpPr/>
          <p:nvPr/>
        </p:nvSpPr>
        <p:spPr>
          <a:xfrm>
            <a:off x="2377440" y="534924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1.8 × 10¹⁹</a:t>
            </a:r>
          </a:p>
        </p:txBody>
      </p:sp>
      <p:sp>
        <p:nvSpPr>
          <p:cNvPr id="402" name="Rectangle 401"/>
          <p:cNvSpPr/>
          <p:nvPr/>
        </p:nvSpPr>
        <p:spPr>
          <a:xfrm>
            <a:off x="5212080" y="534924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1.8 × 10¹⁹</a:t>
            </a:r>
          </a:p>
        </p:txBody>
      </p:sp>
      <p:sp>
        <p:nvSpPr>
          <p:cNvPr id="403" name="TextBox 402"/>
          <p:cNvSpPr txBox="1"/>
          <p:nvPr/>
        </p:nvSpPr>
        <p:spPr>
          <a:xfrm>
            <a:off x="822960" y="6309360"/>
            <a:ext cx="8412480" cy="310896"/>
          </a:xfrm>
          <a:prstGeom prst="rect">
            <a:avLst/>
          </a:prstGeom>
          <a:noFill/>
        </p:spPr>
        <p:txBody>
          <a:bodyPr wrap="square" lIns="0" tIns="0" rIns="0" bIns="0">
            <a:spAutoFit/>
          </a:bodyPr>
          <a:lstStyle/>
          <a:p>
            <a:pPr algn="ctr"/>
            <a:r>
              <a:rPr sz="2400" b="0" i="0">
                <a:solidFill>
                  <a:srgbClr val="000000"/>
                </a:solidFill>
                <a:latin typeface="Cambria"/>
              </a:rPr>
              <a:t>n bits:    0  ..  2^n − 1</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Addresses Are Unsigned</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3046988"/>
          </a:xfrm>
          <a:prstGeom prst="rect">
            <a:avLst/>
          </a:prstGeom>
          <a:noFill/>
        </p:spPr>
        <p:txBody>
          <a:bodyPr wrap="square">
            <a:spAutoFit/>
          </a:bodyPr>
          <a:lstStyle/>
          <a:p>
            <a:pPr>
              <a:tabLst>
                <a:tab pos="548640" algn="l"/>
                <a:tab pos="1920240" algn="l"/>
              </a:tabLst>
            </a:pPr>
            <a:r>
              <a:rPr sz="2400" b="0" dirty="0">
                <a:latin typeface="Cambria"/>
              </a:rPr>
              <a:t>An address is a </a:t>
            </a:r>
            <a:r>
              <a:rPr sz="2400" b="1" dirty="0">
                <a:latin typeface="Cambria"/>
              </a:rPr>
              <a:t>position</a:t>
            </a:r>
            <a:r>
              <a:rPr sz="2400" b="0" dirty="0">
                <a:latin typeface="Cambria"/>
              </a:rPr>
              <a:t>, never negative</a:t>
            </a:r>
          </a:p>
          <a:p>
            <a:pPr>
              <a:tabLst>
                <a:tab pos="548640" algn="l"/>
                <a:tab pos="1920240" algn="l"/>
              </a:tabLst>
            </a:pPr>
            <a:r>
              <a:rPr sz="2400" dirty="0">
                <a:latin typeface="Cambria"/>
              </a:rPr>
              <a:t> </a:t>
            </a:r>
          </a:p>
          <a:p>
            <a:pPr>
              <a:tabLst>
                <a:tab pos="548640" algn="l"/>
                <a:tab pos="1920240" algn="l"/>
              </a:tabLst>
            </a:pPr>
            <a:r>
              <a:rPr sz="2400" b="0" dirty="0">
                <a:latin typeface="Cambria"/>
              </a:rPr>
              <a:t>Unsigned gives us:</a:t>
            </a:r>
          </a:p>
          <a:p>
            <a:pPr>
              <a:tabLst>
                <a:tab pos="548640" algn="l"/>
                <a:tab pos="1920240" algn="l"/>
              </a:tabLst>
            </a:pPr>
            <a:r>
              <a:rPr sz="2400" b="0" dirty="0">
                <a:latin typeface="Cambria"/>
              </a:rPr>
              <a:t>	the </a:t>
            </a:r>
            <a:r>
              <a:rPr sz="2400" b="1" dirty="0">
                <a:latin typeface="Cambria"/>
              </a:rPr>
              <a:t>largest</a:t>
            </a:r>
            <a:r>
              <a:rPr sz="2400" b="0" dirty="0">
                <a:latin typeface="Cambria"/>
              </a:rPr>
              <a:t> range for the bits we have</a:t>
            </a:r>
          </a:p>
          <a:p>
            <a:pPr>
              <a:tabLst>
                <a:tab pos="548640" algn="l"/>
                <a:tab pos="1920240" algn="l"/>
              </a:tabLst>
            </a:pPr>
            <a:r>
              <a:rPr sz="2400" b="0" dirty="0">
                <a:latin typeface="Cambria"/>
              </a:rPr>
              <a:t>	</a:t>
            </a:r>
            <a:r>
              <a:rPr sz="2400" b="1" dirty="0">
                <a:latin typeface="Cambria"/>
              </a:rPr>
              <a:t>one</a:t>
            </a:r>
            <a:r>
              <a:rPr sz="2400" b="0" dirty="0">
                <a:latin typeface="Cambria"/>
              </a:rPr>
              <a:t> limit to check, not two</a:t>
            </a:r>
          </a:p>
          <a:p>
            <a:pPr>
              <a:tabLst>
                <a:tab pos="548640" algn="l"/>
                <a:tab pos="1920240" algn="l"/>
              </a:tabLst>
            </a:pPr>
            <a:r>
              <a:rPr sz="2400" dirty="0">
                <a:latin typeface="Cambria"/>
              </a:rPr>
              <a:t> </a:t>
            </a:r>
          </a:p>
          <a:p>
            <a:pPr>
              <a:tabLst>
                <a:tab pos="548640" algn="l"/>
                <a:tab pos="1920240" algn="l"/>
              </a:tabLst>
            </a:pPr>
            <a:r>
              <a:rPr sz="2400" b="0" dirty="0">
                <a:latin typeface="Cambria"/>
              </a:rPr>
              <a:t>32 bits	4 GB of address space</a:t>
            </a:r>
          </a:p>
          <a:p>
            <a:pPr>
              <a:tabLst>
                <a:tab pos="548640" algn="l"/>
                <a:tab pos="1920240" algn="l"/>
              </a:tabLst>
            </a:pPr>
            <a:r>
              <a:rPr sz="2400" b="0" dirty="0">
                <a:latin typeface="Cambria"/>
              </a:rPr>
              <a:t>64 bits	more than we can </a:t>
            </a:r>
            <a:r>
              <a:rPr lang="en-US" sz="2400" b="0" dirty="0" smtClean="0">
                <a:latin typeface="Cambria"/>
              </a:rPr>
              <a:t>physically </a:t>
            </a:r>
            <a:r>
              <a:rPr sz="2400" b="0" dirty="0" smtClean="0">
                <a:latin typeface="Cambria"/>
              </a:rPr>
              <a:t>build</a:t>
            </a:r>
            <a:r>
              <a:rPr lang="en-US" sz="2400" b="0" dirty="0" smtClean="0">
                <a:latin typeface="Cambria"/>
              </a:rPr>
              <a:t> – 18 </a:t>
            </a:r>
            <a:r>
              <a:rPr lang="en-US" sz="2400" b="0" dirty="0" err="1" smtClean="0">
                <a:latin typeface="Cambria"/>
              </a:rPr>
              <a:t>exa</a:t>
            </a:r>
            <a:r>
              <a:rPr lang="en-US" sz="2400" b="0" dirty="0" smtClean="0">
                <a:latin typeface="Cambria"/>
              </a:rPr>
              <a:t> Bytes</a:t>
            </a:r>
            <a:endParaRPr sz="24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We Also Need Negatives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093702"/>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Program data is often </a:t>
            </a:r>
            <a:r>
              <a:rPr sz="2500" b="1" dirty="0">
                <a:latin typeface="Cambria"/>
              </a:rPr>
              <a:t>signed</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Still only 16 patterns for 4 bits</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So some patterns must mean </a:t>
            </a:r>
            <a:r>
              <a:rPr sz="2500" b="1" dirty="0">
                <a:latin typeface="Cambria"/>
              </a:rPr>
              <a:t>negative</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Whatever we choose, we </a:t>
            </a:r>
            <a:r>
              <a:rPr sz="2500" b="1" dirty="0">
                <a:latin typeface="Cambria"/>
              </a:rPr>
              <a:t>lose</a:t>
            </a:r>
            <a:r>
              <a:rPr sz="2500" b="0" dirty="0">
                <a:latin typeface="Cambria"/>
              </a:rPr>
              <a:t> positive range</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Four schemes have been </a:t>
            </a:r>
            <a:r>
              <a:rPr sz="2500" b="0" dirty="0" smtClean="0">
                <a:latin typeface="Cambria"/>
              </a:rPr>
              <a:t>used</a:t>
            </a:r>
            <a:endParaRPr lang="en-US" sz="2500" b="0" dirty="0" smtClean="0">
              <a:latin typeface="Cambria"/>
            </a:endParaRPr>
          </a:p>
          <a:p>
            <a:pPr>
              <a:tabLst>
                <a:tab pos="548640" algn="l"/>
                <a:tab pos="1097280" algn="l"/>
                <a:tab pos="1645920" algn="l"/>
                <a:tab pos="2194560" algn="l"/>
              </a:tabLst>
            </a:pPr>
            <a:endParaRPr lang="en-US" sz="2500" dirty="0">
              <a:latin typeface="Cambria"/>
            </a:endParaRPr>
          </a:p>
          <a:p>
            <a:pPr>
              <a:tabLst>
                <a:tab pos="548640" algn="l"/>
                <a:tab pos="1097280" algn="l"/>
                <a:tab pos="1645920" algn="l"/>
                <a:tab pos="2194560" algn="l"/>
              </a:tabLst>
            </a:pPr>
            <a:r>
              <a:rPr lang="en-US" sz="2500" b="0" dirty="0" smtClean="0">
                <a:latin typeface="Cambria"/>
              </a:rPr>
              <a:t>Ideally, we would like to cut it in half </a:t>
            </a:r>
          </a:p>
          <a:p>
            <a:pPr>
              <a:tabLst>
                <a:tab pos="548640" algn="l"/>
                <a:tab pos="1097280" algn="l"/>
                <a:tab pos="1645920" algn="l"/>
                <a:tab pos="2194560" algn="l"/>
              </a:tabLst>
            </a:pPr>
            <a:endParaRPr lang="en-US" sz="2500" dirty="0">
              <a:latin typeface="Cambria"/>
            </a:endParaRPr>
          </a:p>
          <a:p>
            <a:pPr>
              <a:tabLst>
                <a:tab pos="548640" algn="l"/>
                <a:tab pos="1097280" algn="l"/>
                <a:tab pos="1645920" algn="l"/>
                <a:tab pos="2194560" algn="l"/>
              </a:tabLst>
            </a:pPr>
            <a:r>
              <a:rPr lang="en-US" sz="2500" b="0" dirty="0" smtClean="0">
                <a:latin typeface="Cambria"/>
              </a:rPr>
              <a:t>Half positive, half negative but zero spoils the fun</a:t>
            </a:r>
            <a:endParaRPr sz="25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8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Sign and Magnitude</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645920" algn="l"/>
              </a:tabLst>
            </a:pPr>
            <a:r>
              <a:rPr sz="2300" b="0">
                <a:latin typeface="Cambria"/>
              </a:rPr>
              <a:t>The obvious idea:  the top bit is the </a:t>
            </a:r>
            <a:r>
              <a:rPr sz="2300" b="1">
                <a:latin typeface="Cambria"/>
              </a:rPr>
              <a:t>sign</a:t>
            </a:r>
          </a:p>
          <a:p>
            <a:pPr>
              <a:tabLst>
                <a:tab pos="548640" algn="l"/>
                <a:tab pos="1645920" algn="l"/>
              </a:tabLst>
            </a:pPr>
            <a:r>
              <a:rPr sz="2300">
                <a:latin typeface="Cambria"/>
              </a:rPr>
              <a:t> </a:t>
            </a:r>
          </a:p>
          <a:p>
            <a:pPr>
              <a:tabLst>
                <a:tab pos="548640" algn="l"/>
                <a:tab pos="1645920" algn="l"/>
              </a:tabLst>
            </a:pPr>
            <a:r>
              <a:rPr sz="2300" b="0">
                <a:latin typeface="Cambria"/>
              </a:rPr>
              <a:t>	0 101	=  </a:t>
            </a:r>
            <a:r>
              <a:rPr sz="2300" b="1">
                <a:latin typeface="Cambria"/>
              </a:rPr>
              <a:t>+</a:t>
            </a:r>
            <a:r>
              <a:rPr sz="2300" b="0">
                <a:latin typeface="Cambria"/>
              </a:rPr>
              <a:t>5</a:t>
            </a:r>
          </a:p>
          <a:p>
            <a:pPr>
              <a:tabLst>
                <a:tab pos="548640" algn="l"/>
                <a:tab pos="1645920" algn="l"/>
              </a:tabLst>
            </a:pPr>
            <a:r>
              <a:rPr sz="2300" b="0">
                <a:latin typeface="Cambria"/>
              </a:rPr>
              <a:t>	1 101	=  </a:t>
            </a:r>
            <a:r>
              <a:rPr sz="2300" b="1">
                <a:latin typeface="Cambria"/>
              </a:rPr>
              <a:t>−</a:t>
            </a:r>
            <a:r>
              <a:rPr sz="2300" b="0">
                <a:latin typeface="Cambria"/>
              </a:rPr>
              <a:t>5</a:t>
            </a:r>
          </a:p>
          <a:p>
            <a:pPr>
              <a:tabLst>
                <a:tab pos="548640" algn="l"/>
                <a:tab pos="1645920" algn="l"/>
              </a:tabLst>
            </a:pPr>
            <a:r>
              <a:rPr sz="2300">
                <a:latin typeface="Cambria"/>
              </a:rPr>
              <a:t> </a:t>
            </a:r>
          </a:p>
          <a:p>
            <a:pPr>
              <a:tabLst>
                <a:tab pos="548640" algn="l"/>
                <a:tab pos="1645920" algn="l"/>
              </a:tabLst>
            </a:pPr>
            <a:r>
              <a:rPr sz="2300" b="0">
                <a:latin typeface="Cambria"/>
              </a:rPr>
              <a:t>Problems:</a:t>
            </a:r>
          </a:p>
          <a:p>
            <a:pPr>
              <a:tabLst>
                <a:tab pos="548640" algn="l"/>
                <a:tab pos="1645920" algn="l"/>
              </a:tabLst>
            </a:pPr>
            <a:r>
              <a:rPr sz="2300" b="0">
                <a:latin typeface="Cambria"/>
              </a:rPr>
              <a:t>	0000 = +0   and   1000 = −0</a:t>
            </a:r>
          </a:p>
          <a:p>
            <a:pPr>
              <a:tabLst>
                <a:tab pos="548640" algn="l"/>
                <a:tab pos="1645920" algn="l"/>
              </a:tabLst>
            </a:pPr>
            <a:r>
              <a:rPr sz="2300" b="0">
                <a:latin typeface="Cambria"/>
              </a:rPr>
              <a:t>	</a:t>
            </a:r>
            <a:r>
              <a:rPr sz="2300" b="1">
                <a:latin typeface="Cambria"/>
              </a:rPr>
              <a:t>two</a:t>
            </a:r>
            <a:r>
              <a:rPr sz="2300" b="0">
                <a:latin typeface="Cambria"/>
              </a:rPr>
              <a:t> zeros  -  which one do you compare?</a:t>
            </a:r>
          </a:p>
          <a:p>
            <a:pPr>
              <a:tabLst>
                <a:tab pos="548640" algn="l"/>
                <a:tab pos="1645920" algn="l"/>
              </a:tabLst>
            </a:pPr>
            <a:r>
              <a:rPr sz="2300" b="0">
                <a:latin typeface="Cambria"/>
              </a:rPr>
              <a:t>	the adder needs special cases</a:t>
            </a: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Biased  ( Excess-K )</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3631763"/>
          </a:xfrm>
          <a:prstGeom prst="rect">
            <a:avLst/>
          </a:prstGeom>
          <a:noFill/>
        </p:spPr>
        <p:txBody>
          <a:bodyPr wrap="square">
            <a:spAutoFit/>
          </a:bodyPr>
          <a:lstStyle/>
          <a:p>
            <a:pPr>
              <a:tabLst>
                <a:tab pos="548640" algn="l"/>
                <a:tab pos="1737360" algn="l"/>
              </a:tabLst>
            </a:pPr>
            <a:r>
              <a:rPr sz="2300" b="0" dirty="0">
                <a:latin typeface="Cambria"/>
              </a:rPr>
              <a:t>Read the pattern as </a:t>
            </a:r>
            <a:r>
              <a:rPr sz="2300" b="1" dirty="0" smtClean="0">
                <a:latin typeface="Cambria"/>
              </a:rPr>
              <a:t>unsigned</a:t>
            </a:r>
            <a:r>
              <a:rPr sz="2300" b="0" dirty="0" smtClean="0">
                <a:latin typeface="Cambria"/>
              </a:rPr>
              <a:t>,</a:t>
            </a:r>
            <a:r>
              <a:rPr lang="en-US" sz="2300" b="0" dirty="0" smtClean="0">
                <a:latin typeface="Cambria"/>
              </a:rPr>
              <a:t> </a:t>
            </a:r>
            <a:r>
              <a:rPr sz="2300" b="0" dirty="0" smtClean="0">
                <a:latin typeface="Cambria"/>
              </a:rPr>
              <a:t>then </a:t>
            </a:r>
            <a:r>
              <a:rPr sz="2300" b="0" dirty="0">
                <a:latin typeface="Cambria"/>
              </a:rPr>
              <a:t>subtract a fixed </a:t>
            </a:r>
            <a:r>
              <a:rPr sz="2300" b="1" dirty="0" smtClean="0">
                <a:latin typeface="Cambria"/>
              </a:rPr>
              <a:t>bias</a:t>
            </a:r>
            <a:r>
              <a:rPr sz="2300" b="0" dirty="0" smtClean="0">
                <a:latin typeface="Cambria"/>
              </a:rPr>
              <a:t> K</a:t>
            </a:r>
            <a:endParaRPr sz="2300" b="0" dirty="0">
              <a:latin typeface="Cambria"/>
            </a:endParaRPr>
          </a:p>
          <a:p>
            <a:pPr>
              <a:tabLst>
                <a:tab pos="548640" algn="l"/>
                <a:tab pos="1737360" algn="l"/>
              </a:tabLst>
            </a:pPr>
            <a:r>
              <a:rPr sz="2300" dirty="0">
                <a:latin typeface="Cambria"/>
              </a:rPr>
              <a:t> </a:t>
            </a:r>
            <a:endParaRPr lang="en-US" sz="2300" dirty="0" smtClean="0">
              <a:latin typeface="Cambria"/>
            </a:endParaRPr>
          </a:p>
          <a:p>
            <a:pPr>
              <a:tabLst>
                <a:tab pos="548640" algn="l"/>
                <a:tab pos="1737360" algn="l"/>
              </a:tabLst>
            </a:pPr>
            <a:r>
              <a:rPr lang="en-US" sz="2300" dirty="0" smtClean="0">
                <a:latin typeface="Cambria"/>
              </a:rPr>
              <a:t>K is usually 2</a:t>
            </a:r>
            <a:r>
              <a:rPr lang="en-US" sz="2300" baseline="30000" dirty="0" smtClean="0">
                <a:latin typeface="Cambria"/>
              </a:rPr>
              <a:t>n</a:t>
            </a:r>
            <a:r>
              <a:rPr lang="en-US" sz="2300" dirty="0" smtClean="0">
                <a:latin typeface="Cambria"/>
              </a:rPr>
              <a:t> / 2</a:t>
            </a:r>
          </a:p>
          <a:p>
            <a:pPr>
              <a:tabLst>
                <a:tab pos="548640" algn="l"/>
                <a:tab pos="1737360" algn="l"/>
              </a:tabLst>
            </a:pPr>
            <a:endParaRPr sz="2300" dirty="0">
              <a:latin typeface="Cambria"/>
            </a:endParaRPr>
          </a:p>
          <a:p>
            <a:pPr>
              <a:tabLst>
                <a:tab pos="548640" algn="l"/>
                <a:tab pos="1737360" algn="l"/>
              </a:tabLst>
            </a:pPr>
            <a:r>
              <a:rPr sz="2300" b="0" dirty="0">
                <a:latin typeface="Cambria"/>
              </a:rPr>
              <a:t>	value  =  pattern  −  K</a:t>
            </a:r>
          </a:p>
          <a:p>
            <a:pPr>
              <a:tabLst>
                <a:tab pos="548640" algn="l"/>
                <a:tab pos="1737360" algn="l"/>
              </a:tabLst>
            </a:pPr>
            <a:r>
              <a:rPr sz="2300" dirty="0">
                <a:latin typeface="Cambria"/>
              </a:rPr>
              <a:t> </a:t>
            </a:r>
          </a:p>
          <a:p>
            <a:pPr>
              <a:tabLst>
                <a:tab pos="548640" algn="l"/>
                <a:tab pos="1737360" algn="l"/>
              </a:tabLst>
            </a:pPr>
            <a:r>
              <a:rPr sz="2300" b="0" dirty="0">
                <a:latin typeface="Cambria"/>
              </a:rPr>
              <a:t>4 bits with  K = 8:</a:t>
            </a:r>
          </a:p>
          <a:p>
            <a:pPr>
              <a:tabLst>
                <a:tab pos="548640" algn="l"/>
                <a:tab pos="1737360" algn="l"/>
              </a:tabLst>
            </a:pPr>
            <a:r>
              <a:rPr sz="2300" b="0" dirty="0">
                <a:latin typeface="Cambria"/>
              </a:rPr>
              <a:t>	0000	=  −8</a:t>
            </a:r>
          </a:p>
          <a:p>
            <a:pPr>
              <a:tabLst>
                <a:tab pos="548640" algn="l"/>
                <a:tab pos="1737360" algn="l"/>
              </a:tabLst>
            </a:pPr>
            <a:r>
              <a:rPr sz="2300" b="0" dirty="0">
                <a:latin typeface="Cambria"/>
              </a:rPr>
              <a:t>	1000	=  0</a:t>
            </a:r>
          </a:p>
          <a:p>
            <a:pPr>
              <a:tabLst>
                <a:tab pos="548640" algn="l"/>
                <a:tab pos="1737360" algn="l"/>
              </a:tabLst>
            </a:pPr>
            <a:r>
              <a:rPr sz="2300" b="0" dirty="0">
                <a:latin typeface="Cambria"/>
              </a:rPr>
              <a:t>	1111	=  +7</a:t>
            </a: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Biased Representation</a:t>
            </a:r>
            <a:endParaRPr lang="en-US" sz="44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A61C1C"/>
                </a:solidFill>
                <a:latin typeface="Cambria"/>
              </a:rPr>
              <a:t>−8</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A61C1C"/>
                </a:solidFill>
                <a:latin typeface="Cambria"/>
              </a:rPr>
              <a:t>−7</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A61C1C"/>
                </a:solidFill>
                <a:latin typeface="Cambria"/>
              </a:rPr>
              <a:t>−6</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A61C1C"/>
                </a:solidFill>
                <a:latin typeface="Cambria"/>
              </a:rPr>
              <a:t>−5</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A61C1C"/>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A61C1C"/>
                </a:solidFill>
                <a:latin typeface="Cambria"/>
              </a:rPr>
              <a:t>−3</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A61C1C"/>
                </a:solidFill>
                <a:latin typeface="Cambria"/>
              </a:rPr>
              <a:t>−2</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A61C1C"/>
                </a:solidFill>
                <a:latin typeface="Cambria"/>
              </a:rPr>
              <a:t>−1</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biased  ( excess-8 )</a:t>
            </a:r>
          </a:p>
          <a:p>
            <a:pPr algn="ctr"/>
            <a:r>
              <a:rPr sz="1600">
                <a:solidFill>
                  <a:srgbClr val="000000"/>
                </a:solidFill>
                <a:latin typeface="Cambria"/>
              </a:rPr>
              <a:t>representation</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000" b="0" i="1">
                <a:solidFill>
                  <a:srgbClr val="000000"/>
                </a:solidFill>
                <a:latin typeface="Cambria"/>
              </a:rPr>
              <a:t>value  =  pattern  −  8   -   the patterns now run in </a:t>
            </a:r>
            <a:r>
              <a:rPr sz="2000" b="1" i="1">
                <a:solidFill>
                  <a:srgbClr val="000000"/>
                </a:solidFill>
                <a:latin typeface="Cambria"/>
              </a:rPr>
              <a:t>numeric order</a:t>
            </a: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Why Bias Is Useful</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Lst>
            </a:pPr>
            <a:r>
              <a:rPr sz="2200" b="0">
                <a:latin typeface="Cambria"/>
              </a:rPr>
              <a:t>The </a:t>
            </a:r>
            <a:r>
              <a:rPr sz="2200" b="1">
                <a:latin typeface="Cambria"/>
              </a:rPr>
              <a:t>unsigned order</a:t>
            </a:r>
            <a:r>
              <a:rPr sz="2200" b="0">
                <a:latin typeface="Cambria"/>
              </a:rPr>
              <a:t> is the </a:t>
            </a:r>
            <a:r>
              <a:rPr sz="2200" b="1">
                <a:latin typeface="Cambria"/>
              </a:rPr>
              <a:t>signed order</a:t>
            </a:r>
          </a:p>
          <a:p>
            <a:pPr>
              <a:tabLst>
                <a:tab pos="548640" algn="l"/>
              </a:tabLst>
            </a:pPr>
            <a:r>
              <a:rPr sz="2200">
                <a:latin typeface="Cambria"/>
              </a:rPr>
              <a:t> </a:t>
            </a:r>
          </a:p>
          <a:p>
            <a:pPr>
              <a:tabLst>
                <a:tab pos="548640" algn="l"/>
              </a:tabLst>
            </a:pPr>
            <a:r>
              <a:rPr sz="2200" b="0">
                <a:latin typeface="Cambria"/>
              </a:rPr>
              <a:t>	0000 &lt; 0001 &lt; ... &lt; 1111</a:t>
            </a:r>
          </a:p>
          <a:p>
            <a:pPr>
              <a:tabLst>
                <a:tab pos="548640" algn="l"/>
              </a:tabLst>
            </a:pPr>
            <a:r>
              <a:rPr sz="2200" b="0">
                <a:latin typeface="Cambria"/>
              </a:rPr>
              <a:t>	−8  &lt;  −7  &lt; ... &lt;  +7</a:t>
            </a:r>
          </a:p>
          <a:p>
            <a:pPr>
              <a:tabLst>
                <a:tab pos="548640" algn="l"/>
              </a:tabLst>
            </a:pPr>
            <a:r>
              <a:rPr sz="2200">
                <a:latin typeface="Cambria"/>
              </a:rPr>
              <a:t> </a:t>
            </a:r>
          </a:p>
          <a:p>
            <a:pPr>
              <a:tabLst>
                <a:tab pos="548640" algn="l"/>
              </a:tabLst>
            </a:pPr>
            <a:r>
              <a:rPr sz="2200" b="0">
                <a:latin typeface="Cambria"/>
              </a:rPr>
              <a:t>So an </a:t>
            </a:r>
            <a:r>
              <a:rPr sz="2200" b="1">
                <a:latin typeface="Cambria"/>
              </a:rPr>
              <a:t>unsigned compare</a:t>
            </a:r>
            <a:r>
              <a:rPr sz="2200" b="0">
                <a:latin typeface="Cambria"/>
              </a:rPr>
              <a:t> sorts signed values</a:t>
            </a:r>
          </a:p>
          <a:p>
            <a:pPr>
              <a:tabLst>
                <a:tab pos="548640" algn="l"/>
              </a:tabLst>
            </a:pPr>
            <a:r>
              <a:rPr sz="2200">
                <a:latin typeface="Cambria"/>
              </a:rPr>
              <a:t> </a:t>
            </a:r>
          </a:p>
          <a:p>
            <a:pPr>
              <a:tabLst>
                <a:tab pos="548640" algn="l"/>
              </a:tabLst>
            </a:pPr>
            <a:r>
              <a:rPr sz="2200" b="0">
                <a:latin typeface="Cambria"/>
              </a:rPr>
              <a:t>Used for the </a:t>
            </a:r>
            <a:r>
              <a:rPr sz="2200" b="1">
                <a:latin typeface="Cambria"/>
              </a:rPr>
              <a:t>exponent</a:t>
            </a:r>
            <a:r>
              <a:rPr sz="2200" b="0">
                <a:latin typeface="Cambria"/>
              </a:rPr>
              <a:t> of a floating point</a:t>
            </a:r>
          </a:p>
          <a:p>
            <a:pPr>
              <a:tabLst>
                <a:tab pos="548640" algn="l"/>
              </a:tabLst>
            </a:pPr>
            <a:r>
              <a:rPr sz="2200" b="0">
                <a:latin typeface="Cambria"/>
              </a:rPr>
              <a:t>number:  K = 127 for f32,  1023 for f64</a:t>
            </a: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The Range Is Not Symmetric</a:t>
            </a:r>
            <a:endParaRPr lang="en-US" sz="40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1371600" algn="l"/>
              </a:tabLst>
            </a:pPr>
            <a:r>
              <a:rPr sz="2200" b="0">
                <a:latin typeface="Cambria"/>
              </a:rPr>
              <a:t>n bits:	− 2^(n−1)   ..   + 2^(n−1) − 1</a:t>
            </a:r>
          </a:p>
          <a:p>
            <a:pPr>
              <a:tabLst>
                <a:tab pos="1371600" algn="l"/>
              </a:tabLst>
            </a:pPr>
            <a:r>
              <a:rPr sz="2200">
                <a:latin typeface="Cambria"/>
              </a:rPr>
              <a:t> </a:t>
            </a:r>
          </a:p>
          <a:p>
            <a:pPr>
              <a:tabLst>
                <a:tab pos="1371600" algn="l"/>
              </a:tabLst>
            </a:pPr>
            <a:r>
              <a:rPr sz="2200" b="0">
                <a:latin typeface="Cambria"/>
              </a:rPr>
              <a:t>4 bits:	−8  ..  +7</a:t>
            </a:r>
          </a:p>
          <a:p>
            <a:pPr>
              <a:tabLst>
                <a:tab pos="1371600" algn="l"/>
              </a:tabLst>
            </a:pPr>
            <a:r>
              <a:rPr sz="2200">
                <a:latin typeface="Cambria"/>
              </a:rPr>
              <a:t> </a:t>
            </a:r>
          </a:p>
          <a:p>
            <a:pPr>
              <a:tabLst>
                <a:tab pos="1371600" algn="l"/>
              </a:tabLst>
            </a:pPr>
            <a:r>
              <a:rPr sz="2200" b="0">
                <a:latin typeface="Cambria"/>
              </a:rPr>
              <a:t>There are eight negatives but only seven positives</a:t>
            </a:r>
          </a:p>
          <a:p>
            <a:pPr>
              <a:tabLst>
                <a:tab pos="1371600" algn="l"/>
              </a:tabLst>
            </a:pPr>
            <a:r>
              <a:rPr sz="2200" b="0">
                <a:latin typeface="Cambria"/>
              </a:rPr>
              <a:t>because  </a:t>
            </a:r>
            <a:r>
              <a:rPr sz="2200" b="1">
                <a:latin typeface="Cambria"/>
              </a:rPr>
              <a:t>0</a:t>
            </a:r>
            <a:r>
              <a:rPr sz="2200" b="0">
                <a:latin typeface="Cambria"/>
              </a:rPr>
              <a:t>  takes one of the positive patterns</a:t>
            </a:r>
          </a:p>
          <a:p>
            <a:pPr>
              <a:tabLst>
                <a:tab pos="1371600" algn="l"/>
              </a:tabLst>
            </a:pPr>
            <a:r>
              <a:rPr sz="2200">
                <a:latin typeface="Cambria"/>
              </a:rPr>
              <a:t> </a:t>
            </a:r>
          </a:p>
          <a:p>
            <a:pPr>
              <a:tabLst>
                <a:tab pos="1371600" algn="l"/>
              </a:tabLst>
            </a:pPr>
            <a:r>
              <a:rPr sz="2200" b="0">
                <a:latin typeface="Cambria"/>
              </a:rPr>
              <a:t>−8 has </a:t>
            </a:r>
            <a:r>
              <a:rPr sz="2200" b="1">
                <a:latin typeface="Cambria"/>
              </a:rPr>
              <a:t>no positive partner</a:t>
            </a:r>
            <a:r>
              <a:rPr sz="2200" b="0">
                <a:latin typeface="Cambria"/>
              </a:rPr>
              <a:t>:  negate 1000 and</a:t>
            </a:r>
          </a:p>
          <a:p>
            <a:pPr>
              <a:tabLst>
                <a:tab pos="1371600" algn="l"/>
              </a:tabLst>
            </a:pPr>
            <a:r>
              <a:rPr sz="2200" b="0">
                <a:latin typeface="Cambria"/>
              </a:rPr>
              <a:t>you get 1000 back</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One's Complement</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645920" algn="l"/>
              </a:tabLst>
            </a:pPr>
            <a:r>
              <a:rPr sz="2400" b="0">
                <a:latin typeface="Cambria"/>
              </a:rPr>
              <a:t>Negate by </a:t>
            </a:r>
            <a:r>
              <a:rPr sz="2400" b="1">
                <a:latin typeface="Cambria"/>
              </a:rPr>
              <a:t>flipping every bit</a:t>
            </a:r>
          </a:p>
          <a:p>
            <a:pPr>
              <a:tabLst>
                <a:tab pos="548640" algn="l"/>
                <a:tab pos="1645920" algn="l"/>
              </a:tabLst>
            </a:pPr>
            <a:r>
              <a:rPr sz="2400">
                <a:latin typeface="Cambria"/>
              </a:rPr>
              <a:t> </a:t>
            </a:r>
          </a:p>
          <a:p>
            <a:pPr>
              <a:tabLst>
                <a:tab pos="548640" algn="l"/>
                <a:tab pos="1645920" algn="l"/>
              </a:tabLst>
            </a:pPr>
            <a:r>
              <a:rPr sz="2400" b="0">
                <a:latin typeface="Cambria"/>
              </a:rPr>
              <a:t>	0011	=  +3</a:t>
            </a:r>
          </a:p>
          <a:p>
            <a:pPr>
              <a:tabLst>
                <a:tab pos="548640" algn="l"/>
                <a:tab pos="1645920" algn="l"/>
              </a:tabLst>
            </a:pPr>
            <a:r>
              <a:rPr sz="2400" b="0">
                <a:latin typeface="Cambria"/>
              </a:rPr>
              <a:t>	1100	=  −3</a:t>
            </a:r>
          </a:p>
          <a:p>
            <a:pPr>
              <a:tabLst>
                <a:tab pos="548640" algn="l"/>
                <a:tab pos="1645920" algn="l"/>
              </a:tabLst>
            </a:pPr>
            <a:r>
              <a:rPr sz="2400">
                <a:latin typeface="Cambria"/>
              </a:rPr>
              <a:t> </a:t>
            </a:r>
          </a:p>
          <a:p>
            <a:pPr>
              <a:tabLst>
                <a:tab pos="548640" algn="l"/>
                <a:tab pos="1645920" algn="l"/>
              </a:tabLst>
            </a:pPr>
            <a:r>
              <a:rPr sz="2400" b="0">
                <a:latin typeface="Cambria"/>
              </a:rPr>
              <a:t>Positive numbers are unchanged</a:t>
            </a:r>
          </a:p>
          <a:p>
            <a:pPr>
              <a:tabLst>
                <a:tab pos="548640" algn="l"/>
                <a:tab pos="1645920" algn="l"/>
              </a:tabLst>
            </a:pPr>
            <a:r>
              <a:rPr sz="2400">
                <a:latin typeface="Cambria"/>
              </a:rPr>
              <a:t> </a:t>
            </a:r>
          </a:p>
          <a:p>
            <a:pPr>
              <a:tabLst>
                <a:tab pos="548640" algn="l"/>
                <a:tab pos="1645920" algn="l"/>
              </a:tabLst>
            </a:pPr>
            <a:r>
              <a:rPr sz="2400" b="0">
                <a:latin typeface="Cambria"/>
              </a:rPr>
              <a:t>The top bit still tells you the sign</a:t>
            </a: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One's Complement Representation</a:t>
            </a:r>
            <a:endParaRPr lang="en-US" sz="36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A61C1C"/>
                </a:solidFill>
                <a:latin typeface="Cambria"/>
              </a:rPr>
              <a:t>−7</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A61C1C"/>
                </a:solidFill>
                <a:latin typeface="Cambria"/>
              </a:rPr>
              <a:t>−6</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A61C1C"/>
                </a:solidFill>
                <a:latin typeface="Cambria"/>
              </a:rPr>
              <a:t>−5</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A61C1C"/>
                </a:solidFill>
                <a:latin typeface="Cambria"/>
              </a:rPr>
              <a:t>−4</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A61C1C"/>
                </a:solidFill>
                <a:latin typeface="Cambria"/>
              </a:rPr>
              <a:t>−3</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A61C1C"/>
                </a:solidFill>
                <a:latin typeface="Cambria"/>
              </a:rPr>
              <a:t>−2</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A61C1C"/>
                </a:solidFill>
                <a:latin typeface="Cambria"/>
              </a:rPr>
              <a:t>−1</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A61C1C"/>
                </a:solidFill>
                <a:latin typeface="Cambria"/>
              </a:rPr>
              <a:t>−0</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one's complement</a:t>
            </a:r>
          </a:p>
          <a:p>
            <a:pPr algn="ctr"/>
            <a:r>
              <a:rPr sz="1600">
                <a:solidFill>
                  <a:srgbClr val="000000"/>
                </a:solidFill>
                <a:latin typeface="Cambria"/>
              </a:rPr>
              <a:t>representation</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000" b="0" i="1">
                <a:solidFill>
                  <a:srgbClr val="000000"/>
                </a:solidFill>
                <a:latin typeface="Cambria"/>
              </a:rPr>
              <a:t>Negate by flipping the bits  -  but  </a:t>
            </a:r>
            <a:r>
              <a:rPr sz="2000" b="1" i="1">
                <a:solidFill>
                  <a:srgbClr val="000000"/>
                </a:solidFill>
                <a:latin typeface="Cambria"/>
              </a:rPr>
              <a:t>0000</a:t>
            </a:r>
            <a:r>
              <a:rPr sz="2000" b="0" i="1">
                <a:solidFill>
                  <a:srgbClr val="000000"/>
                </a:solidFill>
                <a:latin typeface="Cambria"/>
              </a:rPr>
              <a:t>  and  </a:t>
            </a:r>
            <a:r>
              <a:rPr sz="2000" b="1" i="1">
                <a:solidFill>
                  <a:srgbClr val="000000"/>
                </a:solidFill>
                <a:latin typeface="Cambria"/>
              </a:rPr>
              <a:t>1111</a:t>
            </a:r>
            <a:r>
              <a:rPr sz="2000" b="0" i="1">
                <a:solidFill>
                  <a:srgbClr val="000000"/>
                </a:solidFill>
                <a:latin typeface="Cambria"/>
              </a:rPr>
              <a:t>  are both zero</a:t>
            </a: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One's Complement:  The Problems</a:t>
            </a:r>
            <a:endParaRPr lang="en-US" sz="3600" b="0" u="none" strike="noStrike" dirty="0">
              <a:solidFill>
                <a:srgbClr val="000000"/>
              </a:solidFill>
              <a:effectLst/>
              <a:uFillTx/>
              <a:latin typeface="Arial"/>
            </a:endParaRPr>
          </a:p>
        </p:txBody>
      </p:sp>
      <p:sp>
        <p:nvSpPr>
          <p:cNvPr id="388" name="TextBox 387"/>
          <p:cNvSpPr txBox="1"/>
          <p:nvPr/>
        </p:nvSpPr>
        <p:spPr>
          <a:xfrm>
            <a:off x="735357" y="1788467"/>
            <a:ext cx="8846825" cy="3631763"/>
          </a:xfrm>
          <a:prstGeom prst="rect">
            <a:avLst/>
          </a:prstGeom>
          <a:noFill/>
          <a:ln>
            <a:noFill/>
          </a:ln>
        </p:spPr>
        <p:txBody>
          <a:bodyPr wrap="square">
            <a:spAutoFit/>
          </a:bodyPr>
          <a:lstStyle/>
          <a:p>
            <a:pPr>
              <a:tabLst>
                <a:tab pos="548640" algn="l"/>
                <a:tab pos="2194560" algn="l"/>
              </a:tabLst>
            </a:pPr>
            <a:r>
              <a:rPr sz="2300" b="1" dirty="0">
                <a:latin typeface="Cambria"/>
              </a:rPr>
              <a:t>Two zeros</a:t>
            </a:r>
            <a:r>
              <a:rPr sz="2300" b="0" dirty="0">
                <a:latin typeface="Cambria"/>
              </a:rPr>
              <a:t>	0000  and  1111</a:t>
            </a:r>
          </a:p>
          <a:p>
            <a:pPr>
              <a:tabLst>
                <a:tab pos="548640" algn="l"/>
                <a:tab pos="2194560" algn="l"/>
              </a:tabLst>
            </a:pPr>
            <a:r>
              <a:rPr sz="2300" b="0" dirty="0">
                <a:latin typeface="Cambria"/>
              </a:rPr>
              <a:t>	a == 0  needs two tests</a:t>
            </a:r>
          </a:p>
          <a:p>
            <a:pPr>
              <a:tabLst>
                <a:tab pos="548640" algn="l"/>
                <a:tab pos="2194560" algn="l"/>
              </a:tabLst>
            </a:pPr>
            <a:r>
              <a:rPr sz="2300" dirty="0">
                <a:latin typeface="Cambria"/>
              </a:rPr>
              <a:t> </a:t>
            </a:r>
          </a:p>
          <a:p>
            <a:pPr>
              <a:tabLst>
                <a:tab pos="548640" algn="l"/>
                <a:tab pos="2194560" algn="l"/>
              </a:tabLst>
            </a:pPr>
            <a:r>
              <a:rPr sz="2300" b="1" dirty="0">
                <a:latin typeface="Cambria"/>
              </a:rPr>
              <a:t>End-around carry</a:t>
            </a:r>
          </a:p>
          <a:p>
            <a:pPr>
              <a:tabLst>
                <a:tab pos="548640" algn="l"/>
                <a:tab pos="2194560" algn="l"/>
              </a:tabLst>
            </a:pPr>
            <a:r>
              <a:rPr sz="2300" b="0" dirty="0">
                <a:latin typeface="Cambria"/>
              </a:rPr>
              <a:t>	a carry out of the top must be </a:t>
            </a:r>
            <a:r>
              <a:rPr sz="2300" b="0" dirty="0" smtClean="0">
                <a:latin typeface="Cambria"/>
              </a:rPr>
              <a:t>added</a:t>
            </a:r>
            <a:r>
              <a:rPr lang="en-US" sz="2300" b="0" dirty="0" smtClean="0">
                <a:latin typeface="Cambria"/>
              </a:rPr>
              <a:t> </a:t>
            </a:r>
            <a:r>
              <a:rPr sz="2300" b="0" dirty="0" smtClean="0">
                <a:latin typeface="Cambria"/>
              </a:rPr>
              <a:t>back </a:t>
            </a:r>
            <a:r>
              <a:rPr sz="2300" b="0" dirty="0">
                <a:latin typeface="Cambria"/>
              </a:rPr>
              <a:t>in at the </a:t>
            </a:r>
            <a:r>
              <a:rPr sz="2300" b="0" dirty="0" smtClean="0">
                <a:latin typeface="Cambria"/>
              </a:rPr>
              <a:t>bottom</a:t>
            </a:r>
            <a:endParaRPr lang="en-US" sz="2300" b="0" dirty="0" smtClean="0">
              <a:latin typeface="Cambria"/>
            </a:endParaRPr>
          </a:p>
          <a:p>
            <a:pPr>
              <a:tabLst>
                <a:tab pos="548640" algn="l"/>
                <a:tab pos="2194560" algn="l"/>
              </a:tabLst>
            </a:pPr>
            <a:endParaRPr lang="en-US" sz="2300" dirty="0">
              <a:latin typeface="Cambria"/>
            </a:endParaRPr>
          </a:p>
          <a:p>
            <a:pPr>
              <a:tabLst>
                <a:tab pos="548640" algn="l"/>
                <a:tab pos="2194560" algn="l"/>
              </a:tabLst>
            </a:pPr>
            <a:r>
              <a:rPr lang="en-US" sz="2300" b="0" dirty="0" smtClean="0">
                <a:latin typeface="Cambria"/>
              </a:rPr>
              <a:t>Example 5 – 2 =  5 + (-2) = 0101 + 1101 = 1 0 0 1 0 =&gt; 0 0 1 1</a:t>
            </a:r>
          </a:p>
          <a:p>
            <a:pPr>
              <a:tabLst>
                <a:tab pos="548640" algn="l"/>
                <a:tab pos="2194560" algn="l"/>
              </a:tabLst>
            </a:pPr>
            <a:endParaRPr sz="2300" b="0" dirty="0">
              <a:latin typeface="Cambria"/>
            </a:endParaRPr>
          </a:p>
          <a:p>
            <a:pPr>
              <a:tabLst>
                <a:tab pos="548640" algn="l"/>
                <a:tab pos="2194560" algn="l"/>
              </a:tabLst>
            </a:pPr>
            <a:r>
              <a:rPr sz="2300" dirty="0">
                <a:latin typeface="Cambria"/>
              </a:rPr>
              <a:t> </a:t>
            </a:r>
          </a:p>
          <a:p>
            <a:pPr>
              <a:tabLst>
                <a:tab pos="548640" algn="l"/>
                <a:tab pos="2194560" algn="l"/>
              </a:tabLst>
            </a:pPr>
            <a:r>
              <a:rPr sz="2300" b="0" dirty="0">
                <a:latin typeface="Cambria"/>
              </a:rPr>
              <a:t>Correct, but the hardware is </a:t>
            </a:r>
            <a:r>
              <a:rPr sz="2300" b="0" dirty="0" smtClean="0">
                <a:latin typeface="Cambria"/>
              </a:rPr>
              <a:t>awkward</a:t>
            </a:r>
            <a:r>
              <a:rPr lang="en-US" sz="2300" b="0" dirty="0" smtClean="0">
                <a:latin typeface="Cambria"/>
              </a:rPr>
              <a:t> and complex</a:t>
            </a:r>
            <a:endParaRPr sz="2300" b="0" dirty="0">
              <a:latin typeface="Cambria"/>
            </a:endParaRPr>
          </a:p>
        </p:txBody>
      </p:sp>
      <p:sp>
        <p:nvSpPr>
          <p:cNvPr id="8" name="Freeform 7"/>
          <p:cNvSpPr/>
          <p:nvPr/>
        </p:nvSpPr>
        <p:spPr>
          <a:xfrm>
            <a:off x="6158687" y="3669106"/>
            <a:ext cx="1818968" cy="71409"/>
          </a:xfrm>
          <a:custGeom>
            <a:avLst/>
            <a:gdLst>
              <a:gd name="connsiteX0" fmla="*/ 0 w 2206120"/>
              <a:gd name="connsiteY0" fmla="*/ 218893 h 290760"/>
              <a:gd name="connsiteX1" fmla="*/ 983226 w 2206120"/>
              <a:gd name="connsiteY1" fmla="*/ 22248 h 290760"/>
              <a:gd name="connsiteX2" fmla="*/ 1602658 w 2206120"/>
              <a:gd name="connsiteY2" fmla="*/ 32080 h 290760"/>
              <a:gd name="connsiteX3" fmla="*/ 2143432 w 2206120"/>
              <a:gd name="connsiteY3" fmla="*/ 268054 h 290760"/>
              <a:gd name="connsiteX4" fmla="*/ 2172929 w 2206120"/>
              <a:gd name="connsiteY4" fmla="*/ 268054 h 290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06120" h="290760">
                <a:moveTo>
                  <a:pt x="0" y="218893"/>
                </a:moveTo>
                <a:cubicBezTo>
                  <a:pt x="358058" y="136138"/>
                  <a:pt x="716116" y="53383"/>
                  <a:pt x="983226" y="22248"/>
                </a:cubicBezTo>
                <a:cubicBezTo>
                  <a:pt x="1250336" y="-8887"/>
                  <a:pt x="1409290" y="-8888"/>
                  <a:pt x="1602658" y="32080"/>
                </a:cubicBezTo>
                <a:cubicBezTo>
                  <a:pt x="1796026" y="73048"/>
                  <a:pt x="2048387" y="228725"/>
                  <a:pt x="2143432" y="268054"/>
                </a:cubicBezTo>
                <a:cubicBezTo>
                  <a:pt x="2238477" y="307383"/>
                  <a:pt x="2205703" y="287718"/>
                  <a:pt x="2172929" y="268054"/>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p:cNvCxnSpPr>
            <a:stCxn id="8" idx="3"/>
          </p:cNvCxnSpPr>
          <p:nvPr/>
        </p:nvCxnSpPr>
        <p:spPr>
          <a:xfrm>
            <a:off x="7925968" y="3734939"/>
            <a:ext cx="438839" cy="224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7977655" y="3746549"/>
            <a:ext cx="324465" cy="199228"/>
          </a:xfrm>
          <a:prstGeom prst="straightConnector1">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a:endCxn id="8" idx="0"/>
          </p:cNvCxnSpPr>
          <p:nvPr/>
        </p:nvCxnSpPr>
        <p:spPr>
          <a:xfrm flipV="1">
            <a:off x="6086168" y="3722865"/>
            <a:ext cx="72519" cy="222912"/>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Two's Complement</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371600" algn="l"/>
                <a:tab pos="2926080" algn="l"/>
              </a:tabLst>
            </a:pPr>
            <a:r>
              <a:rPr sz="2300" b="0" dirty="0">
                <a:latin typeface="Cambria"/>
              </a:rPr>
              <a:t>Negate by  </a:t>
            </a:r>
            <a:r>
              <a:rPr sz="2300" b="1" dirty="0">
                <a:latin typeface="Cambria"/>
              </a:rPr>
              <a:t>flip every bit, then add 1</a:t>
            </a:r>
          </a:p>
          <a:p>
            <a:pPr>
              <a:tabLst>
                <a:tab pos="548640" algn="l"/>
                <a:tab pos="1371600" algn="l"/>
                <a:tab pos="2926080" algn="l"/>
              </a:tabLst>
            </a:pPr>
            <a:r>
              <a:rPr sz="2300" dirty="0">
                <a:latin typeface="Cambria"/>
              </a:rPr>
              <a:t> </a:t>
            </a:r>
          </a:p>
          <a:p>
            <a:pPr>
              <a:tabLst>
                <a:tab pos="548640" algn="l"/>
                <a:tab pos="1371600" algn="l"/>
                <a:tab pos="2926080" algn="l"/>
              </a:tabLst>
            </a:pPr>
            <a:r>
              <a:rPr sz="2300" b="0" dirty="0">
                <a:latin typeface="Cambria"/>
              </a:rPr>
              <a:t>		0101	=  +5</a:t>
            </a:r>
          </a:p>
          <a:p>
            <a:pPr>
              <a:tabLst>
                <a:tab pos="548640" algn="l"/>
                <a:tab pos="1371600" algn="l"/>
                <a:tab pos="2926080" algn="l"/>
              </a:tabLst>
            </a:pPr>
            <a:r>
              <a:rPr sz="2300" b="0" dirty="0">
                <a:latin typeface="Cambria"/>
              </a:rPr>
              <a:t>	flip	1010</a:t>
            </a:r>
          </a:p>
          <a:p>
            <a:pPr>
              <a:tabLst>
                <a:tab pos="548640" algn="l"/>
                <a:tab pos="1371600" algn="l"/>
                <a:tab pos="2926080" algn="l"/>
              </a:tabLst>
            </a:pPr>
            <a:r>
              <a:rPr sz="2300" b="0" dirty="0">
                <a:latin typeface="Cambria"/>
              </a:rPr>
              <a:t>	add 1	1011	=  −5</a:t>
            </a:r>
          </a:p>
          <a:p>
            <a:pPr>
              <a:tabLst>
                <a:tab pos="548640" algn="l"/>
                <a:tab pos="1371600" algn="l"/>
                <a:tab pos="2926080" algn="l"/>
              </a:tabLst>
            </a:pPr>
            <a:r>
              <a:rPr sz="2300" dirty="0">
                <a:latin typeface="Cambria"/>
              </a:rPr>
              <a:t> </a:t>
            </a:r>
          </a:p>
          <a:p>
            <a:pPr>
              <a:tabLst>
                <a:tab pos="548640" algn="l"/>
                <a:tab pos="1371600" algn="l"/>
                <a:tab pos="2926080" algn="l"/>
              </a:tabLst>
            </a:pPr>
            <a:r>
              <a:rPr sz="2300" b="0" dirty="0">
                <a:latin typeface="Cambria"/>
              </a:rPr>
              <a:t>Do it again and you get  0101  back</a:t>
            </a:r>
          </a:p>
          <a:p>
            <a:pPr>
              <a:tabLst>
                <a:tab pos="548640" algn="l"/>
                <a:tab pos="1371600" algn="l"/>
                <a:tab pos="2926080" algn="l"/>
              </a:tabLst>
            </a:pPr>
            <a:r>
              <a:rPr sz="2300" dirty="0">
                <a:latin typeface="Cambria"/>
              </a:rPr>
              <a:t> </a:t>
            </a:r>
          </a:p>
          <a:p>
            <a:pPr>
              <a:tabLst>
                <a:tab pos="548640" algn="l"/>
                <a:tab pos="1371600" algn="l"/>
                <a:tab pos="2926080" algn="l"/>
              </a:tabLst>
            </a:pPr>
            <a:r>
              <a:rPr sz="2300" b="0" dirty="0">
                <a:latin typeface="Cambria"/>
              </a:rPr>
              <a:t>This is what every modern machine uses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Two's Complement Representation</a:t>
            </a:r>
            <a:endParaRPr lang="en-US" sz="36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A61C1C"/>
                </a:solidFill>
                <a:latin typeface="Cambria"/>
              </a:rPr>
              <a:t>−8</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A61C1C"/>
                </a:solidFill>
                <a:latin typeface="Cambria"/>
              </a:rPr>
              <a:t>−7</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A61C1C"/>
                </a:solidFill>
                <a:latin typeface="Cambria"/>
              </a:rPr>
              <a:t>−6</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A61C1C"/>
                </a:solidFill>
                <a:latin typeface="Cambria"/>
              </a:rPr>
              <a:t>−5</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A61C1C"/>
                </a:solidFill>
                <a:latin typeface="Cambria"/>
              </a:rPr>
              <a:t>−4</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A61C1C"/>
                </a:solidFill>
                <a:latin typeface="Cambria"/>
              </a:rPr>
              <a:t>−3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A61C1C"/>
                </a:solidFill>
                <a:latin typeface="Cambria"/>
              </a:rPr>
              <a:t>−2</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A61C1C"/>
                </a:solidFill>
                <a:latin typeface="Cambria"/>
              </a:rPr>
              <a:t>−1</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two's complement</a:t>
            </a:r>
          </a:p>
          <a:p>
            <a:pPr algn="ctr"/>
            <a:r>
              <a:rPr sz="1600">
                <a:solidFill>
                  <a:srgbClr val="000000"/>
                </a:solidFill>
                <a:latin typeface="Cambria"/>
              </a:rPr>
              <a:t>representation</a:t>
            </a:r>
          </a:p>
        </p:txBody>
      </p:sp>
      <p:sp>
        <p:nvSpPr>
          <p:cNvPr id="438" name="TextBox 437"/>
          <p:cNvSpPr txBox="1"/>
          <p:nvPr/>
        </p:nvSpPr>
        <p:spPr>
          <a:xfrm>
            <a:off x="822960" y="6931152"/>
            <a:ext cx="8412480" cy="615553"/>
          </a:xfrm>
          <a:prstGeom prst="rect">
            <a:avLst/>
          </a:prstGeom>
          <a:noFill/>
        </p:spPr>
        <p:txBody>
          <a:bodyPr wrap="square" lIns="0" tIns="0" rIns="0" bIns="0">
            <a:spAutoFit/>
          </a:bodyPr>
          <a:lstStyle/>
          <a:p>
            <a:pPr algn="ctr"/>
            <a:r>
              <a:rPr sz="2000" b="0" i="1" dirty="0">
                <a:solidFill>
                  <a:srgbClr val="000000"/>
                </a:solidFill>
                <a:latin typeface="Cambria"/>
              </a:rPr>
              <a:t>One zero,  and the top bit is 1 for exactly the </a:t>
            </a:r>
            <a:r>
              <a:rPr sz="2000" b="1" i="1" dirty="0">
                <a:solidFill>
                  <a:srgbClr val="000000"/>
                </a:solidFill>
                <a:latin typeface="Cambria"/>
              </a:rPr>
              <a:t>red</a:t>
            </a:r>
            <a:r>
              <a:rPr sz="2000" b="0" i="1" dirty="0">
                <a:solidFill>
                  <a:srgbClr val="000000"/>
                </a:solidFill>
                <a:latin typeface="Cambria"/>
              </a:rPr>
              <a:t> </a:t>
            </a:r>
            <a:r>
              <a:rPr sz="2000" b="0" i="1" dirty="0" smtClean="0">
                <a:solidFill>
                  <a:srgbClr val="000000"/>
                </a:solidFill>
                <a:latin typeface="Cambria"/>
              </a:rPr>
              <a:t>half</a:t>
            </a:r>
            <a:endParaRPr lang="en-US" sz="2000" b="0" i="1" dirty="0" smtClean="0">
              <a:solidFill>
                <a:srgbClr val="000000"/>
              </a:solidFill>
              <a:latin typeface="Cambria"/>
            </a:endParaRPr>
          </a:p>
          <a:p>
            <a:pPr algn="ctr"/>
            <a:r>
              <a:rPr lang="en-US" sz="2000" i="1" dirty="0" smtClean="0">
                <a:solidFill>
                  <a:srgbClr val="000000"/>
                </a:solidFill>
                <a:latin typeface="Cambria"/>
              </a:rPr>
              <a:t>The ambiguity is shifted to - / + 8</a:t>
            </a:r>
            <a:endParaRPr sz="2000" b="0" i="1" dirty="0">
              <a:solidFill>
                <a:srgbClr val="000000"/>
              </a:solidFill>
              <a:latin typeface="Cambria"/>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Why Two's Complement Wins</a:t>
            </a:r>
            <a:endParaRPr lang="en-US" sz="4000" b="0" u="none" strike="noStrike" dirty="0">
              <a:solidFill>
                <a:srgbClr val="000000"/>
              </a:solidFill>
              <a:effectLst/>
              <a:uFillTx/>
              <a:latin typeface="Arial"/>
            </a:endParaRPr>
          </a:p>
        </p:txBody>
      </p:sp>
      <p:sp>
        <p:nvSpPr>
          <p:cNvPr id="388" name="TextBox 387"/>
          <p:cNvSpPr txBox="1"/>
          <p:nvPr/>
        </p:nvSpPr>
        <p:spPr>
          <a:xfrm>
            <a:off x="707935" y="1788467"/>
            <a:ext cx="8846825" cy="5755333"/>
          </a:xfrm>
          <a:prstGeom prst="rect">
            <a:avLst/>
          </a:prstGeom>
          <a:noFill/>
        </p:spPr>
        <p:txBody>
          <a:bodyPr wrap="square">
            <a:spAutoFit/>
          </a:bodyPr>
          <a:lstStyle/>
          <a:p>
            <a:pPr>
              <a:tabLst>
                <a:tab pos="548640" algn="l"/>
                <a:tab pos="2743200" algn="l"/>
              </a:tabLst>
            </a:pPr>
            <a:r>
              <a:rPr sz="2300" b="1" dirty="0">
                <a:latin typeface="Cambria"/>
              </a:rPr>
              <a:t>One zero</a:t>
            </a:r>
            <a:r>
              <a:rPr sz="2300" b="0" dirty="0">
                <a:latin typeface="Cambria"/>
              </a:rPr>
              <a:t>	0000, and nothing else</a:t>
            </a:r>
          </a:p>
          <a:p>
            <a:pPr>
              <a:tabLst>
                <a:tab pos="548640" algn="l"/>
                <a:tab pos="2743200" algn="l"/>
              </a:tabLst>
            </a:pPr>
            <a:r>
              <a:rPr sz="2300" dirty="0">
                <a:latin typeface="Cambria"/>
              </a:rPr>
              <a:t> </a:t>
            </a:r>
          </a:p>
          <a:p>
            <a:pPr>
              <a:tabLst>
                <a:tab pos="548640" algn="l"/>
                <a:tab pos="2743200" algn="l"/>
              </a:tabLst>
            </a:pPr>
            <a:r>
              <a:rPr sz="2300" b="1" dirty="0">
                <a:latin typeface="Cambria"/>
              </a:rPr>
              <a:t>One adder</a:t>
            </a:r>
            <a:r>
              <a:rPr sz="2300" b="0" dirty="0">
                <a:latin typeface="Cambria"/>
              </a:rPr>
              <a:t>	the unsigned adder just works</a:t>
            </a:r>
          </a:p>
          <a:p>
            <a:pPr>
              <a:tabLst>
                <a:tab pos="548640" algn="l"/>
                <a:tab pos="2743200" algn="l"/>
              </a:tabLst>
            </a:pPr>
            <a:r>
              <a:rPr sz="2300" dirty="0">
                <a:latin typeface="Cambria"/>
              </a:rPr>
              <a:t> </a:t>
            </a:r>
          </a:p>
          <a:p>
            <a:pPr>
              <a:tabLst>
                <a:tab pos="548640" algn="l"/>
                <a:tab pos="2743200" algn="l"/>
              </a:tabLst>
            </a:pPr>
            <a:r>
              <a:rPr sz="2300" b="1" dirty="0">
                <a:latin typeface="Cambria"/>
              </a:rPr>
              <a:t>One sign test</a:t>
            </a:r>
            <a:r>
              <a:rPr sz="2300" b="0" dirty="0">
                <a:latin typeface="Cambria"/>
              </a:rPr>
              <a:t>	is the top bit 1?</a:t>
            </a:r>
          </a:p>
          <a:p>
            <a:pPr>
              <a:tabLst>
                <a:tab pos="548640" algn="l"/>
                <a:tab pos="2743200" algn="l"/>
              </a:tabLst>
            </a:pPr>
            <a:r>
              <a:rPr sz="2300" dirty="0">
                <a:latin typeface="Cambria"/>
              </a:rPr>
              <a:t> </a:t>
            </a:r>
          </a:p>
          <a:p>
            <a:pPr>
              <a:tabLst>
                <a:tab pos="548640" algn="l"/>
                <a:tab pos="2743200" algn="l"/>
              </a:tabLst>
            </a:pPr>
            <a:r>
              <a:rPr sz="2300" b="1" dirty="0">
                <a:latin typeface="Cambria"/>
              </a:rPr>
              <a:t>No carry fix-up</a:t>
            </a:r>
            <a:r>
              <a:rPr sz="2300" b="0" dirty="0">
                <a:latin typeface="Cambria"/>
              </a:rPr>
              <a:t>	discard the carry out</a:t>
            </a:r>
          </a:p>
          <a:p>
            <a:pPr>
              <a:tabLst>
                <a:tab pos="548640" algn="l"/>
                <a:tab pos="2743200" algn="l"/>
              </a:tabLst>
            </a:pPr>
            <a:r>
              <a:rPr sz="2300" dirty="0">
                <a:latin typeface="Cambria"/>
              </a:rPr>
              <a:t> </a:t>
            </a:r>
          </a:p>
          <a:p>
            <a:pPr>
              <a:tabLst>
                <a:tab pos="548640" algn="l"/>
                <a:tab pos="2743200" algn="l"/>
              </a:tabLst>
            </a:pPr>
            <a:r>
              <a:rPr sz="2300" b="0" dirty="0">
                <a:latin typeface="Cambria"/>
              </a:rPr>
              <a:t>Subtraction becomes  a + ( −b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Reading a Signed Number</a:t>
            </a:r>
            <a:endParaRPr lang="en-US" sz="4000" b="0" u="none" strike="noStrike" dirty="0">
              <a:solidFill>
                <a:srgbClr val="000000"/>
              </a:solidFill>
              <a:effectLst/>
              <a:uFillTx/>
              <a:latin typeface="Arial"/>
            </a:endParaRPr>
          </a:p>
        </p:txBody>
      </p:sp>
      <p:sp>
        <p:nvSpPr>
          <p:cNvPr id="388" name="TextBox 387"/>
          <p:cNvSpPr txBox="1"/>
          <p:nvPr/>
        </p:nvSpPr>
        <p:spPr>
          <a:xfrm>
            <a:off x="2651760" y="2130552"/>
            <a:ext cx="1188720" cy="310896"/>
          </a:xfrm>
          <a:prstGeom prst="rect">
            <a:avLst/>
          </a:prstGeom>
          <a:noFill/>
        </p:spPr>
        <p:txBody>
          <a:bodyPr wrap="square" lIns="0" tIns="0" rIns="0" bIns="0">
            <a:spAutoFit/>
          </a:bodyPr>
          <a:lstStyle/>
          <a:p>
            <a:pPr algn="ctr"/>
            <a:r>
              <a:rPr sz="2400" b="1" i="0">
                <a:solidFill>
                  <a:srgbClr val="A61C1C"/>
                </a:solidFill>
                <a:latin typeface="Cambria"/>
              </a:rPr>
              <a:t>− 8</a:t>
            </a:r>
          </a:p>
        </p:txBody>
      </p:sp>
      <p:sp>
        <p:nvSpPr>
          <p:cNvPr id="389" name="TextBox 388"/>
          <p:cNvSpPr txBox="1"/>
          <p:nvPr/>
        </p:nvSpPr>
        <p:spPr>
          <a:xfrm>
            <a:off x="3840480" y="2130552"/>
            <a:ext cx="1188720" cy="310896"/>
          </a:xfrm>
          <a:prstGeom prst="rect">
            <a:avLst/>
          </a:prstGeom>
          <a:noFill/>
        </p:spPr>
        <p:txBody>
          <a:bodyPr wrap="square" lIns="0" tIns="0" rIns="0" bIns="0">
            <a:spAutoFit/>
          </a:bodyPr>
          <a:lstStyle/>
          <a:p>
            <a:pPr algn="ctr"/>
            <a:r>
              <a:rPr sz="2400" b="1" i="0">
                <a:solidFill>
                  <a:srgbClr val="000000"/>
                </a:solidFill>
                <a:latin typeface="Cambria"/>
              </a:rPr>
              <a:t>+ 4</a:t>
            </a:r>
          </a:p>
        </p:txBody>
      </p:sp>
      <p:sp>
        <p:nvSpPr>
          <p:cNvPr id="390" name="TextBox 389"/>
          <p:cNvSpPr txBox="1"/>
          <p:nvPr/>
        </p:nvSpPr>
        <p:spPr>
          <a:xfrm>
            <a:off x="5029200" y="2130552"/>
            <a:ext cx="1188720" cy="310896"/>
          </a:xfrm>
          <a:prstGeom prst="rect">
            <a:avLst/>
          </a:prstGeom>
          <a:noFill/>
        </p:spPr>
        <p:txBody>
          <a:bodyPr wrap="square" lIns="0" tIns="0" rIns="0" bIns="0">
            <a:spAutoFit/>
          </a:bodyPr>
          <a:lstStyle/>
          <a:p>
            <a:pPr algn="ctr"/>
            <a:r>
              <a:rPr sz="2400" b="1" i="0">
                <a:solidFill>
                  <a:srgbClr val="000000"/>
                </a:solidFill>
                <a:latin typeface="Cambria"/>
              </a:rPr>
              <a:t>+ 2</a:t>
            </a:r>
          </a:p>
        </p:txBody>
      </p:sp>
      <p:sp>
        <p:nvSpPr>
          <p:cNvPr id="391" name="TextBox 390"/>
          <p:cNvSpPr txBox="1"/>
          <p:nvPr/>
        </p:nvSpPr>
        <p:spPr>
          <a:xfrm>
            <a:off x="6217920" y="2130552"/>
            <a:ext cx="1188720" cy="310896"/>
          </a:xfrm>
          <a:prstGeom prst="rect">
            <a:avLst/>
          </a:prstGeom>
          <a:noFill/>
        </p:spPr>
        <p:txBody>
          <a:bodyPr wrap="square" lIns="0" tIns="0" rIns="0" bIns="0">
            <a:spAutoFit/>
          </a:bodyPr>
          <a:lstStyle/>
          <a:p>
            <a:pPr algn="ctr"/>
            <a:r>
              <a:rPr sz="2400" b="1" i="0">
                <a:solidFill>
                  <a:srgbClr val="000000"/>
                </a:solidFill>
                <a:latin typeface="Cambria"/>
              </a:rPr>
              <a:t>+ 1</a:t>
            </a:r>
          </a:p>
        </p:txBody>
      </p:sp>
      <p:sp>
        <p:nvSpPr>
          <p:cNvPr id="392" name="Rectangle 391"/>
          <p:cNvSpPr/>
          <p:nvPr/>
        </p:nvSpPr>
        <p:spPr>
          <a:xfrm>
            <a:off x="265176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3" name="Rectangle 392"/>
          <p:cNvSpPr/>
          <p:nvPr/>
        </p:nvSpPr>
        <p:spPr>
          <a:xfrm>
            <a:off x="3840480" y="2606040"/>
            <a:ext cx="1188720" cy="8686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0</a:t>
            </a:r>
          </a:p>
        </p:txBody>
      </p:sp>
      <p:sp>
        <p:nvSpPr>
          <p:cNvPr id="394" name="Rectangle 393"/>
          <p:cNvSpPr/>
          <p:nvPr/>
        </p:nvSpPr>
        <p:spPr>
          <a:xfrm>
            <a:off x="502920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5" name="Rectangle 394"/>
          <p:cNvSpPr/>
          <p:nvPr/>
        </p:nvSpPr>
        <p:spPr>
          <a:xfrm>
            <a:off x="621792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6" name="TextBox 395"/>
          <p:cNvSpPr txBox="1"/>
          <p:nvPr/>
        </p:nvSpPr>
        <p:spPr>
          <a:xfrm>
            <a:off x="2651760" y="3977639"/>
            <a:ext cx="1188720" cy="310896"/>
          </a:xfrm>
          <a:prstGeom prst="rect">
            <a:avLst/>
          </a:prstGeom>
          <a:noFill/>
        </p:spPr>
        <p:txBody>
          <a:bodyPr wrap="square" lIns="0" tIns="0" rIns="0" bIns="0">
            <a:spAutoFit/>
          </a:bodyPr>
          <a:lstStyle/>
          <a:p>
            <a:pPr algn="ctr"/>
            <a:r>
              <a:rPr sz="2600" b="0" i="0">
                <a:solidFill>
                  <a:srgbClr val="A61C1C"/>
                </a:solidFill>
                <a:latin typeface="Cambria"/>
              </a:rPr>
              <a:t>− 8</a:t>
            </a:r>
          </a:p>
        </p:txBody>
      </p:sp>
      <p:sp>
        <p:nvSpPr>
          <p:cNvPr id="397" name="TextBox 396"/>
          <p:cNvSpPr txBox="1"/>
          <p:nvPr/>
        </p:nvSpPr>
        <p:spPr>
          <a:xfrm>
            <a:off x="3840480" y="3977639"/>
            <a:ext cx="1188720" cy="310896"/>
          </a:xfrm>
          <a:prstGeom prst="rect">
            <a:avLst/>
          </a:prstGeom>
          <a:noFill/>
        </p:spPr>
        <p:txBody>
          <a:bodyPr wrap="square" lIns="0" tIns="0" rIns="0" bIns="0">
            <a:spAutoFit/>
          </a:bodyPr>
          <a:lstStyle/>
          <a:p>
            <a:pPr algn="ctr"/>
            <a:r>
              <a:rPr sz="2600" b="0" i="0">
                <a:solidFill>
                  <a:srgbClr val="000000"/>
                </a:solidFill>
                <a:latin typeface="Cambria"/>
              </a:rPr>
              <a:t>0</a:t>
            </a:r>
          </a:p>
        </p:txBody>
      </p:sp>
      <p:sp>
        <p:nvSpPr>
          <p:cNvPr id="398" name="TextBox 397"/>
          <p:cNvSpPr txBox="1"/>
          <p:nvPr/>
        </p:nvSpPr>
        <p:spPr>
          <a:xfrm>
            <a:off x="5029200" y="3977639"/>
            <a:ext cx="1188720" cy="310896"/>
          </a:xfrm>
          <a:prstGeom prst="rect">
            <a:avLst/>
          </a:prstGeom>
          <a:noFill/>
        </p:spPr>
        <p:txBody>
          <a:bodyPr wrap="square" lIns="0" tIns="0" rIns="0" bIns="0">
            <a:spAutoFit/>
          </a:bodyPr>
          <a:lstStyle/>
          <a:p>
            <a:pPr algn="ctr"/>
            <a:r>
              <a:rPr sz="2600" b="0" i="0">
                <a:solidFill>
                  <a:srgbClr val="000000"/>
                </a:solidFill>
                <a:latin typeface="Cambria"/>
              </a:rPr>
              <a:t>+ 2</a:t>
            </a:r>
          </a:p>
        </p:txBody>
      </p:sp>
      <p:sp>
        <p:nvSpPr>
          <p:cNvPr id="399" name="TextBox 398"/>
          <p:cNvSpPr txBox="1"/>
          <p:nvPr/>
        </p:nvSpPr>
        <p:spPr>
          <a:xfrm>
            <a:off x="6217920" y="3977639"/>
            <a:ext cx="1188720" cy="310896"/>
          </a:xfrm>
          <a:prstGeom prst="rect">
            <a:avLst/>
          </a:prstGeom>
          <a:noFill/>
        </p:spPr>
        <p:txBody>
          <a:bodyPr wrap="square" lIns="0" tIns="0" rIns="0" bIns="0">
            <a:spAutoFit/>
          </a:bodyPr>
          <a:lstStyle/>
          <a:p>
            <a:pPr algn="ctr"/>
            <a:r>
              <a:rPr sz="2600" b="0" i="0">
                <a:solidFill>
                  <a:srgbClr val="000000"/>
                </a:solidFill>
                <a:latin typeface="Cambria"/>
              </a:rPr>
              <a:t>+ 1</a:t>
            </a:r>
          </a:p>
        </p:txBody>
      </p:sp>
      <p:sp>
        <p:nvSpPr>
          <p:cNvPr id="400" name="TextBox 399"/>
          <p:cNvSpPr txBox="1"/>
          <p:nvPr/>
        </p:nvSpPr>
        <p:spPr>
          <a:xfrm>
            <a:off x="822960" y="4754879"/>
            <a:ext cx="8412480" cy="310896"/>
          </a:xfrm>
          <a:prstGeom prst="rect">
            <a:avLst/>
          </a:prstGeom>
          <a:noFill/>
        </p:spPr>
        <p:txBody>
          <a:bodyPr wrap="square" lIns="0" tIns="0" rIns="0" bIns="0">
            <a:spAutoFit/>
          </a:bodyPr>
          <a:lstStyle/>
          <a:p>
            <a:pPr algn="ctr"/>
            <a:r>
              <a:rPr sz="3000" b="0" i="0">
                <a:solidFill>
                  <a:srgbClr val="000000"/>
                </a:solidFill>
                <a:latin typeface="Cambria"/>
              </a:rPr>
              <a:t>=   </a:t>
            </a:r>
            <a:r>
              <a:rPr sz="3000" b="1" i="0">
                <a:solidFill>
                  <a:srgbClr val="000000"/>
                </a:solidFill>
                <a:latin typeface="Cambria"/>
              </a:rPr>
              <a:t>−5</a:t>
            </a:r>
          </a:p>
        </p:txBody>
      </p:sp>
      <p:sp>
        <p:nvSpPr>
          <p:cNvPr id="401" name="TextBox 400"/>
          <p:cNvSpPr txBox="1"/>
          <p:nvPr/>
        </p:nvSpPr>
        <p:spPr>
          <a:xfrm>
            <a:off x="822960" y="5486400"/>
            <a:ext cx="8412480" cy="310896"/>
          </a:xfrm>
          <a:prstGeom prst="rect">
            <a:avLst/>
          </a:prstGeom>
          <a:noFill/>
        </p:spPr>
        <p:txBody>
          <a:bodyPr wrap="square" lIns="0" tIns="0" rIns="0" bIns="0">
            <a:spAutoFit/>
          </a:bodyPr>
          <a:lstStyle/>
          <a:p>
            <a:pPr algn="ctr"/>
            <a:r>
              <a:rPr sz="2200" b="0" i="1">
                <a:solidFill>
                  <a:srgbClr val="000000"/>
                </a:solidFill>
                <a:latin typeface="Cambria"/>
              </a:rPr>
              <a:t>Same rule as unsigned  -  only the </a:t>
            </a:r>
            <a:r>
              <a:rPr sz="2200" b="1" i="1">
                <a:solidFill>
                  <a:srgbClr val="000000"/>
                </a:solidFill>
                <a:latin typeface="Cambria"/>
              </a:rPr>
              <a:t>top weight is negative</a:t>
            </a: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Signed and Unsigned Ranges</a:t>
            </a:r>
            <a:endParaRPr lang="en-US" sz="4000" b="0" u="none" strike="noStrike" dirty="0">
              <a:solidFill>
                <a:srgbClr val="000000"/>
              </a:solidFill>
              <a:effectLst/>
              <a:uFillTx/>
              <a:latin typeface="Arial"/>
            </a:endParaRPr>
          </a:p>
        </p:txBody>
      </p:sp>
      <p:sp>
        <p:nvSpPr>
          <p:cNvPr id="388" name="Rectangle 387"/>
          <p:cNvSpPr/>
          <p:nvPr/>
        </p:nvSpPr>
        <p:spPr>
          <a:xfrm>
            <a:off x="777240" y="2377440"/>
            <a:ext cx="1188720" cy="74980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Bits</a:t>
            </a:r>
          </a:p>
        </p:txBody>
      </p:sp>
      <p:sp>
        <p:nvSpPr>
          <p:cNvPr id="389" name="Rectangle 388"/>
          <p:cNvSpPr/>
          <p:nvPr/>
        </p:nvSpPr>
        <p:spPr>
          <a:xfrm>
            <a:off x="1965960" y="2377440"/>
            <a:ext cx="2926080" cy="74980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Unsigned</a:t>
            </a:r>
          </a:p>
        </p:txBody>
      </p:sp>
      <p:sp>
        <p:nvSpPr>
          <p:cNvPr id="390" name="Rectangle 389"/>
          <p:cNvSpPr/>
          <p:nvPr/>
        </p:nvSpPr>
        <p:spPr>
          <a:xfrm>
            <a:off x="4892040" y="2377440"/>
            <a:ext cx="4389120" cy="74980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Two's complement</a:t>
            </a:r>
          </a:p>
        </p:txBody>
      </p:sp>
      <p:sp>
        <p:nvSpPr>
          <p:cNvPr id="391" name="Rectangle 390"/>
          <p:cNvSpPr/>
          <p:nvPr/>
        </p:nvSpPr>
        <p:spPr>
          <a:xfrm>
            <a:off x="777240" y="3127248"/>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8</a:t>
            </a:r>
          </a:p>
        </p:txBody>
      </p:sp>
      <p:sp>
        <p:nvSpPr>
          <p:cNvPr id="392" name="Rectangle 391"/>
          <p:cNvSpPr/>
          <p:nvPr/>
        </p:nvSpPr>
        <p:spPr>
          <a:xfrm>
            <a:off x="1965960" y="3127248"/>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0 .. 255</a:t>
            </a:r>
          </a:p>
        </p:txBody>
      </p:sp>
      <p:sp>
        <p:nvSpPr>
          <p:cNvPr id="393" name="Rectangle 392"/>
          <p:cNvSpPr/>
          <p:nvPr/>
        </p:nvSpPr>
        <p:spPr>
          <a:xfrm>
            <a:off x="4892040" y="3127248"/>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−128 .. +127</a:t>
            </a:r>
          </a:p>
        </p:txBody>
      </p:sp>
      <p:sp>
        <p:nvSpPr>
          <p:cNvPr id="394" name="Rectangle 393"/>
          <p:cNvSpPr/>
          <p:nvPr/>
        </p:nvSpPr>
        <p:spPr>
          <a:xfrm>
            <a:off x="777240" y="3877056"/>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16</a:t>
            </a:r>
          </a:p>
        </p:txBody>
      </p:sp>
      <p:sp>
        <p:nvSpPr>
          <p:cNvPr id="395" name="Rectangle 394"/>
          <p:cNvSpPr/>
          <p:nvPr/>
        </p:nvSpPr>
        <p:spPr>
          <a:xfrm>
            <a:off x="1965960" y="3877056"/>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0 .. 65,535</a:t>
            </a:r>
          </a:p>
        </p:txBody>
      </p:sp>
      <p:sp>
        <p:nvSpPr>
          <p:cNvPr id="396" name="Rectangle 395"/>
          <p:cNvSpPr/>
          <p:nvPr/>
        </p:nvSpPr>
        <p:spPr>
          <a:xfrm>
            <a:off x="4892040" y="3877056"/>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−32,768 .. +32,767</a:t>
            </a:r>
          </a:p>
        </p:txBody>
      </p:sp>
      <p:sp>
        <p:nvSpPr>
          <p:cNvPr id="397" name="Rectangle 396"/>
          <p:cNvSpPr/>
          <p:nvPr/>
        </p:nvSpPr>
        <p:spPr>
          <a:xfrm>
            <a:off x="777240" y="4626864"/>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32</a:t>
            </a:r>
          </a:p>
        </p:txBody>
      </p:sp>
      <p:sp>
        <p:nvSpPr>
          <p:cNvPr id="398" name="Rectangle 397"/>
          <p:cNvSpPr/>
          <p:nvPr/>
        </p:nvSpPr>
        <p:spPr>
          <a:xfrm>
            <a:off x="1965960" y="4626864"/>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4.29 × 10⁹</a:t>
            </a:r>
          </a:p>
        </p:txBody>
      </p:sp>
      <p:sp>
        <p:nvSpPr>
          <p:cNvPr id="399" name="Rectangle 398"/>
          <p:cNvSpPr/>
          <p:nvPr/>
        </p:nvSpPr>
        <p:spPr>
          <a:xfrm>
            <a:off x="4892040" y="4626864"/>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−2.15 × 10⁹ .. +2.15 × 10⁹</a:t>
            </a:r>
          </a:p>
        </p:txBody>
      </p:sp>
      <p:sp>
        <p:nvSpPr>
          <p:cNvPr id="400" name="Rectangle 399"/>
          <p:cNvSpPr/>
          <p:nvPr/>
        </p:nvSpPr>
        <p:spPr>
          <a:xfrm>
            <a:off x="777240" y="5376672"/>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64</a:t>
            </a:r>
          </a:p>
        </p:txBody>
      </p:sp>
      <p:sp>
        <p:nvSpPr>
          <p:cNvPr id="401" name="Rectangle 400"/>
          <p:cNvSpPr/>
          <p:nvPr/>
        </p:nvSpPr>
        <p:spPr>
          <a:xfrm>
            <a:off x="1965960" y="5376672"/>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1.8 × 10¹⁹</a:t>
            </a:r>
          </a:p>
        </p:txBody>
      </p:sp>
      <p:sp>
        <p:nvSpPr>
          <p:cNvPr id="402" name="Rectangle 401"/>
          <p:cNvSpPr/>
          <p:nvPr/>
        </p:nvSpPr>
        <p:spPr>
          <a:xfrm>
            <a:off x="4892040" y="5376672"/>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−9.2 × 10¹⁸ .. +9.2 × 10¹⁸</a:t>
            </a:r>
          </a:p>
        </p:txBody>
      </p:sp>
      <p:sp>
        <p:nvSpPr>
          <p:cNvPr id="403" name="TextBox 402"/>
          <p:cNvSpPr txBox="1"/>
          <p:nvPr/>
        </p:nvSpPr>
        <p:spPr>
          <a:xfrm>
            <a:off x="822960" y="6327648"/>
            <a:ext cx="8412480" cy="310896"/>
          </a:xfrm>
          <a:prstGeom prst="rect">
            <a:avLst/>
          </a:prstGeom>
          <a:noFill/>
        </p:spPr>
        <p:txBody>
          <a:bodyPr wrap="square" lIns="0" tIns="0" rIns="0" bIns="0">
            <a:spAutoFit/>
          </a:bodyPr>
          <a:lstStyle/>
          <a:p>
            <a:pPr algn="ctr"/>
            <a:r>
              <a:rPr sz="2100" b="0" i="1">
                <a:solidFill>
                  <a:srgbClr val="000000"/>
                </a:solidFill>
                <a:latin typeface="Cambria"/>
              </a:rPr>
              <a:t>Signed buys the low half by giving up the high half</a:t>
            </a: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The Same Bits, Two Meanings</a:t>
            </a:r>
            <a:endParaRPr lang="en-US" sz="4000" b="0" u="none" strike="noStrike" dirty="0">
              <a:solidFill>
                <a:srgbClr val="000000"/>
              </a:solidFill>
              <a:effectLst/>
              <a:uFillTx/>
              <a:latin typeface="Arial"/>
            </a:endParaRPr>
          </a:p>
        </p:txBody>
      </p:sp>
      <p:sp>
        <p:nvSpPr>
          <p:cNvPr id="388" name="Rectangle 387"/>
          <p:cNvSpPr/>
          <p:nvPr/>
        </p:nvSpPr>
        <p:spPr>
          <a:xfrm>
            <a:off x="1417320" y="2148840"/>
            <a:ext cx="2103120" cy="64008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Pattern</a:t>
            </a:r>
          </a:p>
        </p:txBody>
      </p:sp>
      <p:sp>
        <p:nvSpPr>
          <p:cNvPr id="389" name="Rectangle 388"/>
          <p:cNvSpPr/>
          <p:nvPr/>
        </p:nvSpPr>
        <p:spPr>
          <a:xfrm>
            <a:off x="3520439" y="2148840"/>
            <a:ext cx="2103120" cy="64008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Unsigned</a:t>
            </a:r>
          </a:p>
        </p:txBody>
      </p:sp>
      <p:sp>
        <p:nvSpPr>
          <p:cNvPr id="390" name="Rectangle 389"/>
          <p:cNvSpPr/>
          <p:nvPr/>
        </p:nvSpPr>
        <p:spPr>
          <a:xfrm>
            <a:off x="5623559" y="2148840"/>
            <a:ext cx="2834640" cy="64008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Two's complement</a:t>
            </a:r>
          </a:p>
        </p:txBody>
      </p:sp>
      <p:sp>
        <p:nvSpPr>
          <p:cNvPr id="391" name="Rectangle 390"/>
          <p:cNvSpPr/>
          <p:nvPr/>
        </p:nvSpPr>
        <p:spPr>
          <a:xfrm>
            <a:off x="1417320" y="278892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0000</a:t>
            </a:r>
          </a:p>
        </p:txBody>
      </p:sp>
      <p:sp>
        <p:nvSpPr>
          <p:cNvPr id="392" name="Rectangle 391"/>
          <p:cNvSpPr/>
          <p:nvPr/>
        </p:nvSpPr>
        <p:spPr>
          <a:xfrm>
            <a:off x="3520439" y="278892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a:t>
            </a:r>
          </a:p>
        </p:txBody>
      </p:sp>
      <p:sp>
        <p:nvSpPr>
          <p:cNvPr id="393" name="Rectangle 392"/>
          <p:cNvSpPr/>
          <p:nvPr/>
        </p:nvSpPr>
        <p:spPr>
          <a:xfrm>
            <a:off x="5623559" y="278892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a:t>
            </a:r>
          </a:p>
        </p:txBody>
      </p:sp>
      <p:sp>
        <p:nvSpPr>
          <p:cNvPr id="394" name="Rectangle 393"/>
          <p:cNvSpPr/>
          <p:nvPr/>
        </p:nvSpPr>
        <p:spPr>
          <a:xfrm>
            <a:off x="1417320" y="342900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0111</a:t>
            </a:r>
          </a:p>
        </p:txBody>
      </p:sp>
      <p:sp>
        <p:nvSpPr>
          <p:cNvPr id="395" name="Rectangle 394"/>
          <p:cNvSpPr/>
          <p:nvPr/>
        </p:nvSpPr>
        <p:spPr>
          <a:xfrm>
            <a:off x="3520439" y="342900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7</a:t>
            </a:r>
          </a:p>
        </p:txBody>
      </p:sp>
      <p:sp>
        <p:nvSpPr>
          <p:cNvPr id="396" name="Rectangle 395"/>
          <p:cNvSpPr/>
          <p:nvPr/>
        </p:nvSpPr>
        <p:spPr>
          <a:xfrm>
            <a:off x="5623559" y="342900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+7</a:t>
            </a:r>
          </a:p>
        </p:txBody>
      </p:sp>
      <p:sp>
        <p:nvSpPr>
          <p:cNvPr id="397" name="Rectangle 396"/>
          <p:cNvSpPr/>
          <p:nvPr/>
        </p:nvSpPr>
        <p:spPr>
          <a:xfrm>
            <a:off x="1417320" y="4069079"/>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1000</a:t>
            </a:r>
          </a:p>
        </p:txBody>
      </p:sp>
      <p:sp>
        <p:nvSpPr>
          <p:cNvPr id="398" name="Rectangle 397"/>
          <p:cNvSpPr/>
          <p:nvPr/>
        </p:nvSpPr>
        <p:spPr>
          <a:xfrm>
            <a:off x="3520439" y="4069079"/>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8</a:t>
            </a:r>
          </a:p>
        </p:txBody>
      </p:sp>
      <p:sp>
        <p:nvSpPr>
          <p:cNvPr id="399" name="Rectangle 398"/>
          <p:cNvSpPr/>
          <p:nvPr/>
        </p:nvSpPr>
        <p:spPr>
          <a:xfrm>
            <a:off x="5623559" y="4069079"/>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−8</a:t>
            </a:r>
          </a:p>
        </p:txBody>
      </p:sp>
      <p:sp>
        <p:nvSpPr>
          <p:cNvPr id="400" name="Rectangle 399"/>
          <p:cNvSpPr/>
          <p:nvPr/>
        </p:nvSpPr>
        <p:spPr>
          <a:xfrm>
            <a:off x="1417320" y="470916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1011</a:t>
            </a:r>
          </a:p>
        </p:txBody>
      </p:sp>
      <p:sp>
        <p:nvSpPr>
          <p:cNvPr id="401" name="Rectangle 400"/>
          <p:cNvSpPr/>
          <p:nvPr/>
        </p:nvSpPr>
        <p:spPr>
          <a:xfrm>
            <a:off x="3520439" y="470916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a:t>
            </a:r>
          </a:p>
        </p:txBody>
      </p:sp>
      <p:sp>
        <p:nvSpPr>
          <p:cNvPr id="402" name="Rectangle 401"/>
          <p:cNvSpPr/>
          <p:nvPr/>
        </p:nvSpPr>
        <p:spPr>
          <a:xfrm>
            <a:off x="5623559" y="470916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−5</a:t>
            </a:r>
          </a:p>
        </p:txBody>
      </p:sp>
      <p:sp>
        <p:nvSpPr>
          <p:cNvPr id="403" name="Rectangle 402"/>
          <p:cNvSpPr/>
          <p:nvPr/>
        </p:nvSpPr>
        <p:spPr>
          <a:xfrm>
            <a:off x="1417320" y="534924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1111</a:t>
            </a:r>
          </a:p>
        </p:txBody>
      </p:sp>
      <p:sp>
        <p:nvSpPr>
          <p:cNvPr id="404" name="Rectangle 403"/>
          <p:cNvSpPr/>
          <p:nvPr/>
        </p:nvSpPr>
        <p:spPr>
          <a:xfrm>
            <a:off x="3520439" y="534924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15</a:t>
            </a:r>
          </a:p>
        </p:txBody>
      </p:sp>
      <p:sp>
        <p:nvSpPr>
          <p:cNvPr id="405" name="Rectangle 404"/>
          <p:cNvSpPr/>
          <p:nvPr/>
        </p:nvSpPr>
        <p:spPr>
          <a:xfrm>
            <a:off x="5623559" y="534924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a:t>
            </a:r>
          </a:p>
        </p:txBody>
      </p:sp>
      <p:sp>
        <p:nvSpPr>
          <p:cNvPr id="406" name="TextBox 405"/>
          <p:cNvSpPr txBox="1"/>
          <p:nvPr/>
        </p:nvSpPr>
        <p:spPr>
          <a:xfrm>
            <a:off x="822960" y="6217920"/>
            <a:ext cx="8412480" cy="310896"/>
          </a:xfrm>
          <a:prstGeom prst="rect">
            <a:avLst/>
          </a:prstGeom>
          <a:noFill/>
        </p:spPr>
        <p:txBody>
          <a:bodyPr wrap="square" lIns="0" tIns="0" rIns="0" bIns="0">
            <a:spAutoFit/>
          </a:bodyPr>
          <a:lstStyle/>
          <a:p>
            <a:pPr algn="ctr"/>
            <a:r>
              <a:rPr sz="2200" b="0" i="0">
                <a:solidFill>
                  <a:srgbClr val="000000"/>
                </a:solidFill>
                <a:latin typeface="Cambria"/>
              </a:rPr>
              <a:t>The bits are identical.   Only the </a:t>
            </a:r>
            <a:r>
              <a:rPr sz="2200" b="1" i="0">
                <a:solidFill>
                  <a:srgbClr val="000000"/>
                </a:solidFill>
                <a:latin typeface="Cambria"/>
              </a:rPr>
              <a:t>declared type</a:t>
            </a:r>
            <a:r>
              <a:rPr sz="2200" b="0" i="0">
                <a:solidFill>
                  <a:srgbClr val="000000"/>
                </a:solidFill>
                <a:latin typeface="Cambria"/>
              </a:rPr>
              <a:t> differs.</a:t>
            </a: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Binary Is Hard to Read</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097280" algn="l"/>
                <a:tab pos="1645920" algn="l"/>
                <a:tab pos="2194560" algn="l"/>
              </a:tabLst>
            </a:pPr>
            <a:r>
              <a:rPr sz="2300" b="0" dirty="0">
                <a:latin typeface="Cambria"/>
              </a:rPr>
              <a:t>A 28-bit address in binary:</a:t>
            </a:r>
          </a:p>
          <a:p>
            <a:pPr>
              <a:tabLst>
                <a:tab pos="548640" algn="l"/>
                <a:tab pos="1097280" algn="l"/>
                <a:tab pos="1645920" algn="l"/>
                <a:tab pos="2194560" algn="l"/>
              </a:tabLst>
            </a:pPr>
            <a:r>
              <a:rPr sz="2300" dirty="0">
                <a:latin typeface="Cambria"/>
              </a:rPr>
              <a:t> </a:t>
            </a:r>
          </a:p>
          <a:p>
            <a:pPr>
              <a:tabLst>
                <a:tab pos="548640" algn="l"/>
                <a:tab pos="1097280" algn="l"/>
                <a:tab pos="1645920" algn="l"/>
                <a:tab pos="2194560" algn="l"/>
              </a:tabLst>
            </a:pPr>
            <a:r>
              <a:rPr sz="2300" b="0" dirty="0">
                <a:latin typeface="Cambria"/>
              </a:rPr>
              <a:t>	0001111110001001100110111100</a:t>
            </a:r>
          </a:p>
          <a:p>
            <a:pPr>
              <a:tabLst>
                <a:tab pos="548640" algn="l"/>
                <a:tab pos="1097280" algn="l"/>
                <a:tab pos="1645920" algn="l"/>
                <a:tab pos="2194560" algn="l"/>
              </a:tabLst>
            </a:pPr>
            <a:r>
              <a:rPr sz="2300" dirty="0">
                <a:latin typeface="Cambria"/>
              </a:rPr>
              <a:t> </a:t>
            </a:r>
          </a:p>
          <a:p>
            <a:pPr>
              <a:tabLst>
                <a:tab pos="548640" algn="l"/>
                <a:tab pos="1097280" algn="l"/>
                <a:tab pos="1645920" algn="l"/>
                <a:tab pos="2194560" algn="l"/>
              </a:tabLst>
            </a:pPr>
            <a:r>
              <a:rPr sz="2300" b="0" dirty="0">
                <a:latin typeface="Cambria"/>
              </a:rPr>
              <a:t>Count the bits.  Now find the error.</a:t>
            </a:r>
          </a:p>
          <a:p>
            <a:pPr>
              <a:tabLst>
                <a:tab pos="548640" algn="l"/>
                <a:tab pos="1097280" algn="l"/>
                <a:tab pos="1645920" algn="l"/>
                <a:tab pos="2194560" algn="l"/>
              </a:tabLst>
            </a:pPr>
            <a:r>
              <a:rPr sz="2300" dirty="0">
                <a:latin typeface="Cambria"/>
              </a:rPr>
              <a:t> </a:t>
            </a:r>
          </a:p>
          <a:p>
            <a:pPr>
              <a:tabLst>
                <a:tab pos="548640" algn="l"/>
                <a:tab pos="1097280" algn="l"/>
                <a:tab pos="1645920" algn="l"/>
                <a:tab pos="2194560" algn="l"/>
              </a:tabLst>
            </a:pPr>
            <a:r>
              <a:rPr sz="2300" b="0" dirty="0">
                <a:latin typeface="Cambria"/>
              </a:rPr>
              <a:t>We need a shorter way to write the </a:t>
            </a:r>
            <a:r>
              <a:rPr sz="2300" b="1" dirty="0">
                <a:latin typeface="Cambria"/>
              </a:rPr>
              <a:t>same</a:t>
            </a:r>
            <a:r>
              <a:rPr sz="2300" b="0" dirty="0">
                <a:latin typeface="Cambria"/>
              </a:rPr>
              <a:t> bits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Hexadecimal</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097280" algn="l"/>
                <a:tab pos="1645920" algn="l"/>
                <a:tab pos="2194560" algn="l"/>
              </a:tabLst>
            </a:pPr>
            <a:r>
              <a:rPr sz="2200" b="0" dirty="0">
                <a:latin typeface="Cambria"/>
              </a:rPr>
              <a:t>Base </a:t>
            </a:r>
            <a:r>
              <a:rPr sz="2200" b="1" dirty="0">
                <a:latin typeface="Cambria"/>
              </a:rPr>
              <a:t>16</a:t>
            </a:r>
            <a:r>
              <a:rPr sz="2200" b="0" dirty="0">
                <a:latin typeface="Cambria"/>
              </a:rPr>
              <a:t>  -  digits  0 1 2 3 4 5 6 7 8 9 A B C D E F</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One hex digit  =  </a:t>
            </a:r>
            <a:r>
              <a:rPr sz="2200" b="1" dirty="0">
                <a:latin typeface="Cambria"/>
              </a:rPr>
              <a:t>exactly 4 bits</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So converting is just </a:t>
            </a:r>
            <a:r>
              <a:rPr sz="2200" b="1" dirty="0">
                <a:latin typeface="Cambria"/>
              </a:rPr>
              <a:t>grouping</a:t>
            </a:r>
            <a:r>
              <a:rPr sz="2200" b="0" dirty="0">
                <a:latin typeface="Cambria"/>
              </a:rPr>
              <a:t>:</a:t>
            </a:r>
          </a:p>
          <a:p>
            <a:pPr>
              <a:tabLst>
                <a:tab pos="548640" algn="l"/>
                <a:tab pos="1097280" algn="l"/>
                <a:tab pos="1645920" algn="l"/>
                <a:tab pos="2194560" algn="l"/>
              </a:tabLst>
            </a:pPr>
            <a:r>
              <a:rPr sz="2200" b="0" dirty="0">
                <a:latin typeface="Cambria"/>
              </a:rPr>
              <a:t>	no arithmetic, no division</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Four bits is one </a:t>
            </a:r>
            <a:r>
              <a:rPr sz="2200" b="1" dirty="0">
                <a:latin typeface="Cambria"/>
              </a:rPr>
              <a:t>nibble</a:t>
            </a:r>
            <a:r>
              <a:rPr sz="2200" b="0" dirty="0">
                <a:latin typeface="Cambria"/>
              </a:rPr>
              <a:t>;  two nibbles are a </a:t>
            </a:r>
            <a:r>
              <a:rPr sz="2200" b="1" dirty="0">
                <a:latin typeface="Cambria"/>
              </a:rPr>
              <a:t>byte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Sixteen Digits</a:t>
            </a:r>
            <a:endParaRPr lang="en-US" sz="4400" b="0" u="none" strike="noStrike" dirty="0">
              <a:solidFill>
                <a:srgbClr val="000000"/>
              </a:solidFill>
              <a:effectLst/>
              <a:uFillTx/>
              <a:latin typeface="Arial"/>
            </a:endParaRPr>
          </a:p>
        </p:txBody>
      </p:sp>
      <p:sp>
        <p:nvSpPr>
          <p:cNvPr id="388" name="Rectangle 387"/>
          <p:cNvSpPr/>
          <p:nvPr/>
        </p:nvSpPr>
        <p:spPr>
          <a:xfrm>
            <a:off x="100584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Dec</a:t>
            </a:r>
          </a:p>
        </p:txBody>
      </p:sp>
      <p:sp>
        <p:nvSpPr>
          <p:cNvPr id="389" name="Rectangle 388"/>
          <p:cNvSpPr/>
          <p:nvPr/>
        </p:nvSpPr>
        <p:spPr>
          <a:xfrm>
            <a:off x="1920240" y="2057400"/>
            <a:ext cx="13716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Bits</a:t>
            </a:r>
          </a:p>
        </p:txBody>
      </p:sp>
      <p:sp>
        <p:nvSpPr>
          <p:cNvPr id="390" name="Rectangle 389"/>
          <p:cNvSpPr/>
          <p:nvPr/>
        </p:nvSpPr>
        <p:spPr>
          <a:xfrm>
            <a:off x="329184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Hex</a:t>
            </a:r>
          </a:p>
        </p:txBody>
      </p:sp>
      <p:sp>
        <p:nvSpPr>
          <p:cNvPr id="391" name="Rectangle 390"/>
          <p:cNvSpPr/>
          <p:nvPr/>
        </p:nvSpPr>
        <p:spPr>
          <a:xfrm>
            <a:off x="100584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a:t>
            </a:r>
          </a:p>
        </p:txBody>
      </p:sp>
      <p:sp>
        <p:nvSpPr>
          <p:cNvPr id="392" name="Rectangle 391"/>
          <p:cNvSpPr/>
          <p:nvPr/>
        </p:nvSpPr>
        <p:spPr>
          <a:xfrm>
            <a:off x="1920240" y="256946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0000</a:t>
            </a:r>
          </a:p>
        </p:txBody>
      </p:sp>
      <p:sp>
        <p:nvSpPr>
          <p:cNvPr id="393" name="Rectangle 392"/>
          <p:cNvSpPr/>
          <p:nvPr/>
        </p:nvSpPr>
        <p:spPr>
          <a:xfrm>
            <a:off x="329184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a:t>
            </a:r>
          </a:p>
        </p:txBody>
      </p:sp>
      <p:sp>
        <p:nvSpPr>
          <p:cNvPr id="394" name="Rectangle 393"/>
          <p:cNvSpPr/>
          <p:nvPr/>
        </p:nvSpPr>
        <p:spPr>
          <a:xfrm>
            <a:off x="100584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a:t>
            </a:r>
          </a:p>
        </p:txBody>
      </p:sp>
      <p:sp>
        <p:nvSpPr>
          <p:cNvPr id="395" name="Rectangle 394"/>
          <p:cNvSpPr/>
          <p:nvPr/>
        </p:nvSpPr>
        <p:spPr>
          <a:xfrm>
            <a:off x="1920240" y="308152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0001</a:t>
            </a:r>
          </a:p>
        </p:txBody>
      </p:sp>
      <p:sp>
        <p:nvSpPr>
          <p:cNvPr id="396" name="Rectangle 395"/>
          <p:cNvSpPr/>
          <p:nvPr/>
        </p:nvSpPr>
        <p:spPr>
          <a:xfrm>
            <a:off x="329184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a:t>
            </a:r>
          </a:p>
        </p:txBody>
      </p:sp>
      <p:sp>
        <p:nvSpPr>
          <p:cNvPr id="397" name="Rectangle 396"/>
          <p:cNvSpPr/>
          <p:nvPr/>
        </p:nvSpPr>
        <p:spPr>
          <a:xfrm>
            <a:off x="100584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2</a:t>
            </a:r>
          </a:p>
        </p:txBody>
      </p:sp>
      <p:sp>
        <p:nvSpPr>
          <p:cNvPr id="398" name="Rectangle 397"/>
          <p:cNvSpPr/>
          <p:nvPr/>
        </p:nvSpPr>
        <p:spPr>
          <a:xfrm>
            <a:off x="1920240" y="359359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0010</a:t>
            </a:r>
          </a:p>
        </p:txBody>
      </p:sp>
      <p:sp>
        <p:nvSpPr>
          <p:cNvPr id="399" name="Rectangle 398"/>
          <p:cNvSpPr/>
          <p:nvPr/>
        </p:nvSpPr>
        <p:spPr>
          <a:xfrm>
            <a:off x="329184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2</a:t>
            </a:r>
          </a:p>
        </p:txBody>
      </p:sp>
      <p:sp>
        <p:nvSpPr>
          <p:cNvPr id="400" name="Rectangle 399"/>
          <p:cNvSpPr/>
          <p:nvPr/>
        </p:nvSpPr>
        <p:spPr>
          <a:xfrm>
            <a:off x="100584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3</a:t>
            </a:r>
          </a:p>
        </p:txBody>
      </p:sp>
      <p:sp>
        <p:nvSpPr>
          <p:cNvPr id="401" name="Rectangle 400"/>
          <p:cNvSpPr/>
          <p:nvPr/>
        </p:nvSpPr>
        <p:spPr>
          <a:xfrm>
            <a:off x="1920240" y="4105656"/>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0011</a:t>
            </a:r>
          </a:p>
        </p:txBody>
      </p:sp>
      <p:sp>
        <p:nvSpPr>
          <p:cNvPr id="402" name="Rectangle 401"/>
          <p:cNvSpPr/>
          <p:nvPr/>
        </p:nvSpPr>
        <p:spPr>
          <a:xfrm>
            <a:off x="329184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3</a:t>
            </a:r>
          </a:p>
        </p:txBody>
      </p:sp>
      <p:sp>
        <p:nvSpPr>
          <p:cNvPr id="403" name="Rectangle 402"/>
          <p:cNvSpPr/>
          <p:nvPr/>
        </p:nvSpPr>
        <p:spPr>
          <a:xfrm>
            <a:off x="100584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4</a:t>
            </a:r>
          </a:p>
        </p:txBody>
      </p:sp>
      <p:sp>
        <p:nvSpPr>
          <p:cNvPr id="404" name="Rectangle 403"/>
          <p:cNvSpPr/>
          <p:nvPr/>
        </p:nvSpPr>
        <p:spPr>
          <a:xfrm>
            <a:off x="1920240" y="4617720"/>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0100</a:t>
            </a:r>
          </a:p>
        </p:txBody>
      </p:sp>
      <p:sp>
        <p:nvSpPr>
          <p:cNvPr id="405" name="Rectangle 404"/>
          <p:cNvSpPr/>
          <p:nvPr/>
        </p:nvSpPr>
        <p:spPr>
          <a:xfrm>
            <a:off x="329184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4</a:t>
            </a:r>
          </a:p>
        </p:txBody>
      </p:sp>
      <p:sp>
        <p:nvSpPr>
          <p:cNvPr id="406" name="Rectangle 405"/>
          <p:cNvSpPr/>
          <p:nvPr/>
        </p:nvSpPr>
        <p:spPr>
          <a:xfrm>
            <a:off x="100584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5</a:t>
            </a:r>
          </a:p>
        </p:txBody>
      </p:sp>
      <p:sp>
        <p:nvSpPr>
          <p:cNvPr id="407" name="Rectangle 406"/>
          <p:cNvSpPr/>
          <p:nvPr/>
        </p:nvSpPr>
        <p:spPr>
          <a:xfrm>
            <a:off x="1920240" y="512978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0101</a:t>
            </a:r>
          </a:p>
        </p:txBody>
      </p:sp>
      <p:sp>
        <p:nvSpPr>
          <p:cNvPr id="408" name="Rectangle 407"/>
          <p:cNvSpPr/>
          <p:nvPr/>
        </p:nvSpPr>
        <p:spPr>
          <a:xfrm>
            <a:off x="329184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5</a:t>
            </a:r>
          </a:p>
        </p:txBody>
      </p:sp>
      <p:sp>
        <p:nvSpPr>
          <p:cNvPr id="409" name="Rectangle 408"/>
          <p:cNvSpPr/>
          <p:nvPr/>
        </p:nvSpPr>
        <p:spPr>
          <a:xfrm>
            <a:off x="100584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6</a:t>
            </a:r>
          </a:p>
        </p:txBody>
      </p:sp>
      <p:sp>
        <p:nvSpPr>
          <p:cNvPr id="410" name="Rectangle 409"/>
          <p:cNvSpPr/>
          <p:nvPr/>
        </p:nvSpPr>
        <p:spPr>
          <a:xfrm>
            <a:off x="1920240" y="564184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0110</a:t>
            </a:r>
          </a:p>
        </p:txBody>
      </p:sp>
      <p:sp>
        <p:nvSpPr>
          <p:cNvPr id="411" name="Rectangle 410"/>
          <p:cNvSpPr/>
          <p:nvPr/>
        </p:nvSpPr>
        <p:spPr>
          <a:xfrm>
            <a:off x="329184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6</a:t>
            </a:r>
          </a:p>
        </p:txBody>
      </p:sp>
      <p:sp>
        <p:nvSpPr>
          <p:cNvPr id="412" name="Rectangle 411"/>
          <p:cNvSpPr/>
          <p:nvPr/>
        </p:nvSpPr>
        <p:spPr>
          <a:xfrm>
            <a:off x="100584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7</a:t>
            </a:r>
          </a:p>
        </p:txBody>
      </p:sp>
      <p:sp>
        <p:nvSpPr>
          <p:cNvPr id="413" name="Rectangle 412"/>
          <p:cNvSpPr/>
          <p:nvPr/>
        </p:nvSpPr>
        <p:spPr>
          <a:xfrm>
            <a:off x="1920240" y="615391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0111</a:t>
            </a:r>
          </a:p>
        </p:txBody>
      </p:sp>
      <p:sp>
        <p:nvSpPr>
          <p:cNvPr id="414" name="Rectangle 413"/>
          <p:cNvSpPr/>
          <p:nvPr/>
        </p:nvSpPr>
        <p:spPr>
          <a:xfrm>
            <a:off x="329184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7</a:t>
            </a:r>
          </a:p>
        </p:txBody>
      </p:sp>
      <p:sp>
        <p:nvSpPr>
          <p:cNvPr id="415" name="Rectangle 414"/>
          <p:cNvSpPr/>
          <p:nvPr/>
        </p:nvSpPr>
        <p:spPr>
          <a:xfrm>
            <a:off x="502920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Dec</a:t>
            </a:r>
          </a:p>
        </p:txBody>
      </p:sp>
      <p:sp>
        <p:nvSpPr>
          <p:cNvPr id="416" name="Rectangle 415"/>
          <p:cNvSpPr/>
          <p:nvPr/>
        </p:nvSpPr>
        <p:spPr>
          <a:xfrm>
            <a:off x="5943600" y="2057400"/>
            <a:ext cx="13716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Bits</a:t>
            </a:r>
          </a:p>
        </p:txBody>
      </p:sp>
      <p:sp>
        <p:nvSpPr>
          <p:cNvPr id="417" name="Rectangle 416"/>
          <p:cNvSpPr/>
          <p:nvPr/>
        </p:nvSpPr>
        <p:spPr>
          <a:xfrm>
            <a:off x="731520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Hex</a:t>
            </a:r>
          </a:p>
        </p:txBody>
      </p:sp>
      <p:sp>
        <p:nvSpPr>
          <p:cNvPr id="418" name="Rectangle 417"/>
          <p:cNvSpPr/>
          <p:nvPr/>
        </p:nvSpPr>
        <p:spPr>
          <a:xfrm>
            <a:off x="502920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8</a:t>
            </a:r>
          </a:p>
        </p:txBody>
      </p:sp>
      <p:sp>
        <p:nvSpPr>
          <p:cNvPr id="419" name="Rectangle 418"/>
          <p:cNvSpPr/>
          <p:nvPr/>
        </p:nvSpPr>
        <p:spPr>
          <a:xfrm>
            <a:off x="5943600" y="256946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1000</a:t>
            </a:r>
          </a:p>
        </p:txBody>
      </p:sp>
      <p:sp>
        <p:nvSpPr>
          <p:cNvPr id="420" name="Rectangle 419"/>
          <p:cNvSpPr/>
          <p:nvPr/>
        </p:nvSpPr>
        <p:spPr>
          <a:xfrm>
            <a:off x="731520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8</a:t>
            </a:r>
          </a:p>
        </p:txBody>
      </p:sp>
      <p:sp>
        <p:nvSpPr>
          <p:cNvPr id="421" name="Rectangle 420"/>
          <p:cNvSpPr/>
          <p:nvPr/>
        </p:nvSpPr>
        <p:spPr>
          <a:xfrm>
            <a:off x="502920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9</a:t>
            </a:r>
          </a:p>
        </p:txBody>
      </p:sp>
      <p:sp>
        <p:nvSpPr>
          <p:cNvPr id="422" name="Rectangle 421"/>
          <p:cNvSpPr/>
          <p:nvPr/>
        </p:nvSpPr>
        <p:spPr>
          <a:xfrm>
            <a:off x="5943600" y="308152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1001</a:t>
            </a:r>
          </a:p>
        </p:txBody>
      </p:sp>
      <p:sp>
        <p:nvSpPr>
          <p:cNvPr id="423" name="Rectangle 422"/>
          <p:cNvSpPr/>
          <p:nvPr/>
        </p:nvSpPr>
        <p:spPr>
          <a:xfrm>
            <a:off x="731520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9</a:t>
            </a:r>
          </a:p>
        </p:txBody>
      </p:sp>
      <p:sp>
        <p:nvSpPr>
          <p:cNvPr id="424" name="Rectangle 423"/>
          <p:cNvSpPr/>
          <p:nvPr/>
        </p:nvSpPr>
        <p:spPr>
          <a:xfrm>
            <a:off x="502920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a:t>
            </a:r>
          </a:p>
        </p:txBody>
      </p:sp>
      <p:sp>
        <p:nvSpPr>
          <p:cNvPr id="425" name="Rectangle 424"/>
          <p:cNvSpPr/>
          <p:nvPr/>
        </p:nvSpPr>
        <p:spPr>
          <a:xfrm>
            <a:off x="5943600" y="359359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1010</a:t>
            </a:r>
          </a:p>
        </p:txBody>
      </p:sp>
      <p:sp>
        <p:nvSpPr>
          <p:cNvPr id="426" name="Rectangle 425"/>
          <p:cNvSpPr/>
          <p:nvPr/>
        </p:nvSpPr>
        <p:spPr>
          <a:xfrm>
            <a:off x="731520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A</a:t>
            </a:r>
          </a:p>
        </p:txBody>
      </p:sp>
      <p:sp>
        <p:nvSpPr>
          <p:cNvPr id="427" name="Rectangle 426"/>
          <p:cNvSpPr/>
          <p:nvPr/>
        </p:nvSpPr>
        <p:spPr>
          <a:xfrm>
            <a:off x="502920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a:t>
            </a:r>
          </a:p>
        </p:txBody>
      </p:sp>
      <p:sp>
        <p:nvSpPr>
          <p:cNvPr id="428" name="Rectangle 427"/>
          <p:cNvSpPr/>
          <p:nvPr/>
        </p:nvSpPr>
        <p:spPr>
          <a:xfrm>
            <a:off x="5943600" y="4105656"/>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1011</a:t>
            </a:r>
          </a:p>
        </p:txBody>
      </p:sp>
      <p:sp>
        <p:nvSpPr>
          <p:cNvPr id="429" name="Rectangle 428"/>
          <p:cNvSpPr/>
          <p:nvPr/>
        </p:nvSpPr>
        <p:spPr>
          <a:xfrm>
            <a:off x="731520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B</a:t>
            </a:r>
          </a:p>
        </p:txBody>
      </p:sp>
      <p:sp>
        <p:nvSpPr>
          <p:cNvPr id="430" name="Rectangle 429"/>
          <p:cNvSpPr/>
          <p:nvPr/>
        </p:nvSpPr>
        <p:spPr>
          <a:xfrm>
            <a:off x="502920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12</a:t>
            </a:r>
          </a:p>
        </p:txBody>
      </p:sp>
      <p:sp>
        <p:nvSpPr>
          <p:cNvPr id="431" name="Rectangle 430"/>
          <p:cNvSpPr/>
          <p:nvPr/>
        </p:nvSpPr>
        <p:spPr>
          <a:xfrm>
            <a:off x="5943600" y="4617720"/>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1100</a:t>
            </a:r>
          </a:p>
        </p:txBody>
      </p:sp>
      <p:sp>
        <p:nvSpPr>
          <p:cNvPr id="432" name="Rectangle 431"/>
          <p:cNvSpPr/>
          <p:nvPr/>
        </p:nvSpPr>
        <p:spPr>
          <a:xfrm>
            <a:off x="731520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C</a:t>
            </a:r>
          </a:p>
        </p:txBody>
      </p:sp>
      <p:sp>
        <p:nvSpPr>
          <p:cNvPr id="433" name="Rectangle 432"/>
          <p:cNvSpPr/>
          <p:nvPr/>
        </p:nvSpPr>
        <p:spPr>
          <a:xfrm>
            <a:off x="502920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13</a:t>
            </a:r>
          </a:p>
        </p:txBody>
      </p:sp>
      <p:sp>
        <p:nvSpPr>
          <p:cNvPr id="434" name="Rectangle 433"/>
          <p:cNvSpPr/>
          <p:nvPr/>
        </p:nvSpPr>
        <p:spPr>
          <a:xfrm>
            <a:off x="5943600" y="512978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1101</a:t>
            </a:r>
          </a:p>
        </p:txBody>
      </p:sp>
      <p:sp>
        <p:nvSpPr>
          <p:cNvPr id="435" name="Rectangle 434"/>
          <p:cNvSpPr/>
          <p:nvPr/>
        </p:nvSpPr>
        <p:spPr>
          <a:xfrm>
            <a:off x="731520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D</a:t>
            </a:r>
          </a:p>
        </p:txBody>
      </p:sp>
      <p:sp>
        <p:nvSpPr>
          <p:cNvPr id="436" name="Rectangle 435"/>
          <p:cNvSpPr/>
          <p:nvPr/>
        </p:nvSpPr>
        <p:spPr>
          <a:xfrm>
            <a:off x="502920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14</a:t>
            </a:r>
          </a:p>
        </p:txBody>
      </p:sp>
      <p:sp>
        <p:nvSpPr>
          <p:cNvPr id="437" name="Rectangle 436"/>
          <p:cNvSpPr/>
          <p:nvPr/>
        </p:nvSpPr>
        <p:spPr>
          <a:xfrm>
            <a:off x="5943600" y="564184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1110</a:t>
            </a:r>
          </a:p>
        </p:txBody>
      </p:sp>
      <p:sp>
        <p:nvSpPr>
          <p:cNvPr id="438" name="Rectangle 437"/>
          <p:cNvSpPr/>
          <p:nvPr/>
        </p:nvSpPr>
        <p:spPr>
          <a:xfrm>
            <a:off x="731520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E</a:t>
            </a:r>
          </a:p>
        </p:txBody>
      </p:sp>
      <p:sp>
        <p:nvSpPr>
          <p:cNvPr id="439" name="Rectangle 438"/>
          <p:cNvSpPr/>
          <p:nvPr/>
        </p:nvSpPr>
        <p:spPr>
          <a:xfrm>
            <a:off x="502920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15</a:t>
            </a:r>
          </a:p>
        </p:txBody>
      </p:sp>
      <p:sp>
        <p:nvSpPr>
          <p:cNvPr id="440" name="Rectangle 439"/>
          <p:cNvSpPr/>
          <p:nvPr/>
        </p:nvSpPr>
        <p:spPr>
          <a:xfrm>
            <a:off x="5943600" y="615391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1111</a:t>
            </a:r>
          </a:p>
        </p:txBody>
      </p:sp>
      <p:sp>
        <p:nvSpPr>
          <p:cNvPr id="441" name="Rectangle 440"/>
          <p:cNvSpPr/>
          <p:nvPr/>
        </p:nvSpPr>
        <p:spPr>
          <a:xfrm>
            <a:off x="731520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F</a:t>
            </a:r>
          </a:p>
        </p:txBody>
      </p:sp>
      <p:sp>
        <p:nvSpPr>
          <p:cNvPr id="442" name="TextBox 441"/>
          <p:cNvSpPr txBox="1"/>
          <p:nvPr/>
        </p:nvSpPr>
        <p:spPr>
          <a:xfrm>
            <a:off x="822960" y="6812280"/>
            <a:ext cx="8412480" cy="310896"/>
          </a:xfrm>
          <a:prstGeom prst="rect">
            <a:avLst/>
          </a:prstGeom>
          <a:noFill/>
        </p:spPr>
        <p:txBody>
          <a:bodyPr wrap="square" lIns="0" tIns="0" rIns="0" bIns="0">
            <a:spAutoFit/>
          </a:bodyPr>
          <a:lstStyle/>
          <a:p>
            <a:pPr algn="ctr"/>
            <a:r>
              <a:rPr sz="2000" b="0" i="0">
                <a:solidFill>
                  <a:srgbClr val="000000"/>
                </a:solidFill>
                <a:latin typeface="Cambria"/>
              </a:rPr>
              <a:t>A  =  10,   B  =  11,   C  =  12,   D  =  13,   E  =  14,   F  =  15</a:t>
            </a: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Reading an Address in Hex</a:t>
            </a:r>
            <a:endParaRPr lang="en-US" sz="4000" b="0" u="none" strike="noStrike" dirty="0">
              <a:solidFill>
                <a:srgbClr val="000000"/>
              </a:solidFill>
              <a:effectLst/>
              <a:uFillTx/>
              <a:latin typeface="Arial"/>
            </a:endParaRPr>
          </a:p>
        </p:txBody>
      </p:sp>
      <p:sp>
        <p:nvSpPr>
          <p:cNvPr id="388" name="Rectangle 387"/>
          <p:cNvSpPr/>
          <p:nvPr/>
        </p:nvSpPr>
        <p:spPr>
          <a:xfrm>
            <a:off x="960120"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0001</a:t>
            </a:r>
          </a:p>
        </p:txBody>
      </p:sp>
      <p:sp>
        <p:nvSpPr>
          <p:cNvPr id="389" name="Rectangle 388"/>
          <p:cNvSpPr/>
          <p:nvPr/>
        </p:nvSpPr>
        <p:spPr>
          <a:xfrm>
            <a:off x="960120"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0" name="Rectangle 389"/>
          <p:cNvSpPr/>
          <p:nvPr/>
        </p:nvSpPr>
        <p:spPr>
          <a:xfrm>
            <a:off x="2075688"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1111</a:t>
            </a:r>
          </a:p>
        </p:txBody>
      </p:sp>
      <p:sp>
        <p:nvSpPr>
          <p:cNvPr id="391" name="Rectangle 390"/>
          <p:cNvSpPr/>
          <p:nvPr/>
        </p:nvSpPr>
        <p:spPr>
          <a:xfrm>
            <a:off x="2075688"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F</a:t>
            </a:r>
          </a:p>
        </p:txBody>
      </p:sp>
      <p:sp>
        <p:nvSpPr>
          <p:cNvPr id="392" name="Rectangle 391"/>
          <p:cNvSpPr/>
          <p:nvPr/>
        </p:nvSpPr>
        <p:spPr>
          <a:xfrm>
            <a:off x="3191256"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1000</a:t>
            </a:r>
          </a:p>
        </p:txBody>
      </p:sp>
      <p:sp>
        <p:nvSpPr>
          <p:cNvPr id="393" name="Rectangle 392"/>
          <p:cNvSpPr/>
          <p:nvPr/>
        </p:nvSpPr>
        <p:spPr>
          <a:xfrm>
            <a:off x="3191256"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8</a:t>
            </a:r>
          </a:p>
        </p:txBody>
      </p:sp>
      <p:sp>
        <p:nvSpPr>
          <p:cNvPr id="394" name="Rectangle 393"/>
          <p:cNvSpPr/>
          <p:nvPr/>
        </p:nvSpPr>
        <p:spPr>
          <a:xfrm>
            <a:off x="4306824"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1001</a:t>
            </a:r>
          </a:p>
        </p:txBody>
      </p:sp>
      <p:sp>
        <p:nvSpPr>
          <p:cNvPr id="395" name="Rectangle 394"/>
          <p:cNvSpPr/>
          <p:nvPr/>
        </p:nvSpPr>
        <p:spPr>
          <a:xfrm>
            <a:off x="4306824"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9</a:t>
            </a:r>
          </a:p>
        </p:txBody>
      </p:sp>
      <p:sp>
        <p:nvSpPr>
          <p:cNvPr id="396" name="Rectangle 395"/>
          <p:cNvSpPr/>
          <p:nvPr/>
        </p:nvSpPr>
        <p:spPr>
          <a:xfrm>
            <a:off x="5422392"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1001</a:t>
            </a:r>
          </a:p>
        </p:txBody>
      </p:sp>
      <p:sp>
        <p:nvSpPr>
          <p:cNvPr id="397" name="Rectangle 396"/>
          <p:cNvSpPr/>
          <p:nvPr/>
        </p:nvSpPr>
        <p:spPr>
          <a:xfrm>
            <a:off x="5422392"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9</a:t>
            </a:r>
          </a:p>
        </p:txBody>
      </p:sp>
      <p:sp>
        <p:nvSpPr>
          <p:cNvPr id="398" name="Rectangle 397"/>
          <p:cNvSpPr/>
          <p:nvPr/>
        </p:nvSpPr>
        <p:spPr>
          <a:xfrm>
            <a:off x="6537959"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1011</a:t>
            </a:r>
          </a:p>
        </p:txBody>
      </p:sp>
      <p:sp>
        <p:nvSpPr>
          <p:cNvPr id="399" name="Rectangle 398"/>
          <p:cNvSpPr/>
          <p:nvPr/>
        </p:nvSpPr>
        <p:spPr>
          <a:xfrm>
            <a:off x="6537959"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B</a:t>
            </a:r>
          </a:p>
        </p:txBody>
      </p:sp>
      <p:sp>
        <p:nvSpPr>
          <p:cNvPr id="400" name="Rectangle 399"/>
          <p:cNvSpPr/>
          <p:nvPr/>
        </p:nvSpPr>
        <p:spPr>
          <a:xfrm>
            <a:off x="7653528"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1100</a:t>
            </a:r>
          </a:p>
        </p:txBody>
      </p:sp>
      <p:sp>
        <p:nvSpPr>
          <p:cNvPr id="401" name="Rectangle 400"/>
          <p:cNvSpPr/>
          <p:nvPr/>
        </p:nvSpPr>
        <p:spPr>
          <a:xfrm>
            <a:off x="7653528"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C</a:t>
            </a:r>
          </a:p>
        </p:txBody>
      </p:sp>
      <p:sp>
        <p:nvSpPr>
          <p:cNvPr id="402" name="TextBox 401"/>
          <p:cNvSpPr txBox="1"/>
          <p:nvPr/>
        </p:nvSpPr>
        <p:spPr>
          <a:xfrm>
            <a:off x="822960" y="2331720"/>
            <a:ext cx="8412480" cy="310896"/>
          </a:xfrm>
          <a:prstGeom prst="rect">
            <a:avLst/>
          </a:prstGeom>
          <a:noFill/>
        </p:spPr>
        <p:txBody>
          <a:bodyPr wrap="square" lIns="0" tIns="0" rIns="0" bIns="0">
            <a:spAutoFit/>
          </a:bodyPr>
          <a:lstStyle/>
          <a:p>
            <a:pPr algn="ctr"/>
            <a:r>
              <a:rPr sz="2400" b="0" i="0">
                <a:solidFill>
                  <a:srgbClr val="000000"/>
                </a:solidFill>
                <a:latin typeface="Cambria"/>
              </a:rPr>
              <a:t>0001 1111 1000 1001 1001 1011 1100</a:t>
            </a:r>
          </a:p>
        </p:txBody>
      </p:sp>
      <p:sp>
        <p:nvSpPr>
          <p:cNvPr id="403" name="TextBox 402"/>
          <p:cNvSpPr txBox="1"/>
          <p:nvPr/>
        </p:nvSpPr>
        <p:spPr>
          <a:xfrm>
            <a:off x="822960" y="4572000"/>
            <a:ext cx="8412480" cy="310896"/>
          </a:xfrm>
          <a:prstGeom prst="rect">
            <a:avLst/>
          </a:prstGeom>
          <a:noFill/>
        </p:spPr>
        <p:txBody>
          <a:bodyPr wrap="square" lIns="0" tIns="0" rIns="0" bIns="0">
            <a:spAutoFit/>
          </a:bodyPr>
          <a:lstStyle/>
          <a:p>
            <a:pPr algn="ctr"/>
            <a:r>
              <a:rPr sz="2800" b="0" i="0">
                <a:solidFill>
                  <a:srgbClr val="000000"/>
                </a:solidFill>
                <a:latin typeface="Cambria"/>
              </a:rPr>
              <a:t>=    </a:t>
            </a:r>
            <a:r>
              <a:rPr sz="2800" b="1" i="0">
                <a:solidFill>
                  <a:srgbClr val="000000"/>
                </a:solidFill>
                <a:latin typeface="Cambria"/>
              </a:rPr>
              <a:t>0x1F899BC</a:t>
            </a:r>
          </a:p>
        </p:txBody>
      </p:sp>
      <p:sp>
        <p:nvSpPr>
          <p:cNvPr id="404" name="TextBox 403"/>
          <p:cNvSpPr txBox="1"/>
          <p:nvPr/>
        </p:nvSpPr>
        <p:spPr>
          <a:xfrm>
            <a:off x="822960" y="5166360"/>
            <a:ext cx="8412480" cy="310896"/>
          </a:xfrm>
          <a:prstGeom prst="rect">
            <a:avLst/>
          </a:prstGeom>
          <a:noFill/>
        </p:spPr>
        <p:txBody>
          <a:bodyPr wrap="square" lIns="0" tIns="0" rIns="0" bIns="0">
            <a:spAutoFit/>
          </a:bodyPr>
          <a:lstStyle/>
          <a:p>
            <a:pPr algn="ctr"/>
            <a:r>
              <a:rPr sz="2000" b="0" i="1">
                <a:solidFill>
                  <a:srgbClr val="000000"/>
                </a:solidFill>
                <a:latin typeface="Cambria"/>
              </a:rPr>
              <a:t>Group the bits by four </a:t>
            </a:r>
            <a:r>
              <a:rPr sz="2000" b="1" i="1">
                <a:solidFill>
                  <a:srgbClr val="000000"/>
                </a:solidFill>
                <a:latin typeface="Cambria"/>
              </a:rPr>
              <a:t>from the right</a:t>
            </a:r>
            <a:r>
              <a:rPr sz="2000" b="0" i="1">
                <a:solidFill>
                  <a:srgbClr val="000000"/>
                </a:solidFill>
                <a:latin typeface="Cambria"/>
              </a:rPr>
              <a:t>, then name each group</a:t>
            </a: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One Byte, Two Digits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737360" algn="l"/>
                <a:tab pos="3108960" algn="l"/>
              </a:tabLst>
            </a:pPr>
            <a:r>
              <a:rPr sz="2300" b="0">
                <a:latin typeface="Cambria"/>
              </a:rPr>
              <a:t>8 bits  =  2 hex digits</a:t>
            </a:r>
          </a:p>
          <a:p>
            <a:pPr>
              <a:tabLst>
                <a:tab pos="548640" algn="l"/>
                <a:tab pos="1737360" algn="l"/>
                <a:tab pos="3108960" algn="l"/>
              </a:tabLst>
            </a:pPr>
            <a:r>
              <a:rPr sz="2300">
                <a:latin typeface="Cambria"/>
              </a:rPr>
              <a:t> </a:t>
            </a:r>
          </a:p>
          <a:p>
            <a:pPr>
              <a:tabLst>
                <a:tab pos="548640" algn="l"/>
                <a:tab pos="1737360" algn="l"/>
                <a:tab pos="3108960" algn="l"/>
              </a:tabLst>
            </a:pPr>
            <a:r>
              <a:rPr sz="2300" b="0">
                <a:latin typeface="Cambria"/>
              </a:rPr>
              <a:t>	0x00	=  0</a:t>
            </a:r>
          </a:p>
          <a:p>
            <a:pPr>
              <a:tabLst>
                <a:tab pos="548640" algn="l"/>
                <a:tab pos="1737360" algn="l"/>
                <a:tab pos="3108960" algn="l"/>
              </a:tabLst>
            </a:pPr>
            <a:r>
              <a:rPr sz="2300" b="0">
                <a:latin typeface="Cambria"/>
              </a:rPr>
              <a:t>	0x0F	=  15</a:t>
            </a:r>
          </a:p>
          <a:p>
            <a:pPr>
              <a:tabLst>
                <a:tab pos="548640" algn="l"/>
                <a:tab pos="1737360" algn="l"/>
                <a:tab pos="3108960" algn="l"/>
              </a:tabLst>
            </a:pPr>
            <a:r>
              <a:rPr sz="2300" b="0">
                <a:latin typeface="Cambria"/>
              </a:rPr>
              <a:t>	0x80	=  128	( or −128 signed )</a:t>
            </a:r>
          </a:p>
          <a:p>
            <a:pPr>
              <a:tabLst>
                <a:tab pos="548640" algn="l"/>
                <a:tab pos="1737360" algn="l"/>
                <a:tab pos="3108960" algn="l"/>
              </a:tabLst>
            </a:pPr>
            <a:r>
              <a:rPr sz="2300" b="0">
                <a:latin typeface="Cambria"/>
              </a:rPr>
              <a:t>	0xFF	=  255	( or −1 signed )</a:t>
            </a:r>
          </a:p>
          <a:p>
            <a:pPr>
              <a:tabLst>
                <a:tab pos="548640" algn="l"/>
                <a:tab pos="1737360" algn="l"/>
                <a:tab pos="3108960" algn="l"/>
              </a:tabLst>
            </a:pPr>
            <a:r>
              <a:rPr sz="2300">
                <a:latin typeface="Cambria"/>
              </a:rPr>
              <a:t> </a:t>
            </a:r>
          </a:p>
          <a:p>
            <a:pPr>
              <a:tabLst>
                <a:tab pos="548640" algn="l"/>
                <a:tab pos="1737360" algn="l"/>
                <a:tab pos="3108960" algn="l"/>
              </a:tabLst>
            </a:pPr>
            <a:r>
              <a:rPr sz="2300" b="0">
                <a:latin typeface="Cambria"/>
              </a:rPr>
              <a:t>Memory dumps are written this way</a:t>
            </a: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Writing Numbers in Code</a:t>
            </a:r>
            <a:endParaRPr lang="en-US" sz="40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1645920" algn="l"/>
                <a:tab pos="4206240" algn="l"/>
              </a:tabLst>
            </a:pPr>
            <a:r>
              <a:rPr sz="2200" b="0">
                <a:latin typeface="Cambria"/>
              </a:rPr>
              <a:t>	</a:t>
            </a:r>
            <a:r>
              <a:rPr sz="2200" b="1">
                <a:latin typeface="Cambria"/>
              </a:rPr>
              <a:t>C / C++</a:t>
            </a:r>
            <a:r>
              <a:rPr sz="2200" b="0">
                <a:latin typeface="Cambria"/>
              </a:rPr>
              <a:t>	</a:t>
            </a:r>
            <a:r>
              <a:rPr sz="2200" b="1">
                <a:latin typeface="Cambria"/>
              </a:rPr>
              <a:t>Rust</a:t>
            </a:r>
          </a:p>
          <a:p>
            <a:pPr>
              <a:tabLst>
                <a:tab pos="1645920" algn="l"/>
                <a:tab pos="4206240" algn="l"/>
              </a:tabLst>
            </a:pPr>
            <a:r>
              <a:rPr sz="2200">
                <a:latin typeface="Cambria"/>
              </a:rPr>
              <a:t> </a:t>
            </a:r>
          </a:p>
          <a:p>
            <a:pPr>
              <a:tabLst>
                <a:tab pos="1645920" algn="l"/>
                <a:tab pos="4206240" algn="l"/>
              </a:tabLst>
            </a:pPr>
            <a:r>
              <a:rPr sz="2200" b="0">
                <a:latin typeface="Cambria"/>
              </a:rPr>
              <a:t>decimal	255	255</a:t>
            </a:r>
          </a:p>
          <a:p>
            <a:pPr>
              <a:tabLst>
                <a:tab pos="1645920" algn="l"/>
                <a:tab pos="4206240" algn="l"/>
              </a:tabLst>
            </a:pPr>
            <a:r>
              <a:rPr sz="2200" b="0">
                <a:latin typeface="Cambria"/>
              </a:rPr>
              <a:t>hex	0x1F	0x1F</a:t>
            </a:r>
          </a:p>
          <a:p>
            <a:pPr>
              <a:tabLst>
                <a:tab pos="1645920" algn="l"/>
                <a:tab pos="4206240" algn="l"/>
              </a:tabLst>
            </a:pPr>
            <a:r>
              <a:rPr sz="2200" b="0">
                <a:latin typeface="Cambria"/>
              </a:rPr>
              <a:t>binary	0b1011  ( C23 )	0b1011</a:t>
            </a:r>
          </a:p>
          <a:p>
            <a:pPr>
              <a:tabLst>
                <a:tab pos="1645920" algn="l"/>
                <a:tab pos="4206240" algn="l"/>
              </a:tabLst>
            </a:pPr>
            <a:r>
              <a:rPr sz="2200" b="0">
                <a:latin typeface="Cambria"/>
              </a:rPr>
              <a:t>octal	017	0o17</a:t>
            </a:r>
          </a:p>
          <a:p>
            <a:pPr>
              <a:tabLst>
                <a:tab pos="1645920" algn="l"/>
                <a:tab pos="4206240" algn="l"/>
              </a:tabLst>
            </a:pPr>
            <a:r>
              <a:rPr sz="2200" b="0">
                <a:latin typeface="Cambria"/>
              </a:rPr>
              <a:t>readable	1'000'000	1_000_000</a:t>
            </a:r>
          </a:p>
          <a:p>
            <a:pPr>
              <a:tabLst>
                <a:tab pos="1645920" algn="l"/>
                <a:tab pos="4206240" algn="l"/>
              </a:tabLst>
            </a:pPr>
            <a:r>
              <a:rPr sz="2200">
                <a:latin typeface="Cambria"/>
              </a:rPr>
              <a:t> </a:t>
            </a:r>
          </a:p>
          <a:p>
            <a:pPr>
              <a:tabLst>
                <a:tab pos="1645920" algn="l"/>
                <a:tab pos="4206240" algn="l"/>
              </a:tabLst>
            </a:pPr>
            <a:r>
              <a:rPr sz="2200" b="0">
                <a:latin typeface="Cambria"/>
              </a:rPr>
              <a:t>All of these are the </a:t>
            </a:r>
            <a:r>
              <a:rPr sz="2200" b="1">
                <a:latin typeface="Cambria"/>
              </a:rPr>
              <a:t>same bits</a:t>
            </a: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Printing in Hex</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777240" algn="l"/>
                <a:tab pos="4206240" algn="l"/>
              </a:tabLst>
            </a:pPr>
            <a:r>
              <a:rPr sz="2000" b="0">
                <a:latin typeface="Cambria"/>
              </a:rPr>
              <a:t>C:	printf ( "%x  %X  %#010x\n", v, v, v ) ;</a:t>
            </a:r>
          </a:p>
          <a:p>
            <a:pPr>
              <a:tabLst>
                <a:tab pos="777240" algn="l"/>
                <a:tab pos="4206240" algn="l"/>
              </a:tabLst>
            </a:pPr>
            <a:r>
              <a:rPr sz="2000">
                <a:latin typeface="Cambria"/>
              </a:rPr>
              <a:t> </a:t>
            </a:r>
          </a:p>
          <a:p>
            <a:pPr>
              <a:tabLst>
                <a:tab pos="777240" algn="l"/>
                <a:tab pos="4206240" algn="l"/>
              </a:tabLst>
            </a:pPr>
            <a:r>
              <a:rPr sz="2000" b="0">
                <a:latin typeface="Cambria"/>
              </a:rPr>
              <a:t>C++:	std::cout &lt;&lt; std::hex &lt;&lt; v ;</a:t>
            </a:r>
          </a:p>
          <a:p>
            <a:pPr>
              <a:tabLst>
                <a:tab pos="777240" algn="l"/>
                <a:tab pos="4206240" algn="l"/>
              </a:tabLst>
            </a:pPr>
            <a:r>
              <a:rPr sz="2000">
                <a:latin typeface="Cambria"/>
              </a:rPr>
              <a:t> </a:t>
            </a:r>
          </a:p>
          <a:p>
            <a:pPr>
              <a:tabLst>
                <a:tab pos="777240" algn="l"/>
                <a:tab pos="4206240" algn="l"/>
              </a:tabLst>
            </a:pPr>
            <a:r>
              <a:rPr sz="2000" b="0">
                <a:latin typeface="Cambria"/>
              </a:rPr>
              <a:t>Rust:	println! ( "{:x}  {:#06x}  {:#b}", v, v, v ) ;</a:t>
            </a:r>
          </a:p>
          <a:p>
            <a:pPr>
              <a:tabLst>
                <a:tab pos="777240" algn="l"/>
                <a:tab pos="4206240" algn="l"/>
              </a:tabLst>
            </a:pPr>
            <a:r>
              <a:rPr sz="2000">
                <a:latin typeface="Cambria"/>
              </a:rPr>
              <a:t> </a:t>
            </a:r>
          </a:p>
          <a:p>
            <a:pPr>
              <a:tabLst>
                <a:tab pos="777240" algn="l"/>
                <a:tab pos="4206240" algn="l"/>
              </a:tabLst>
            </a:pPr>
            <a:r>
              <a:rPr sz="2000" b="0">
                <a:latin typeface="Cambria"/>
              </a:rPr>
              <a:t>The debugger will show you hex too:</a:t>
            </a:r>
          </a:p>
          <a:p>
            <a:pPr>
              <a:tabLst>
                <a:tab pos="777240" algn="l"/>
                <a:tab pos="4206240" algn="l"/>
              </a:tabLst>
            </a:pPr>
            <a:r>
              <a:rPr sz="2000" b="0">
                <a:latin typeface="Cambria"/>
              </a:rPr>
              <a:t>	(gdb) p/x v	(gdb) x/16xb &amp;v</a:t>
            </a: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to Remember</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3108960" algn="l"/>
              </a:tabLst>
            </a:pPr>
            <a:r>
              <a:rPr sz="2300" b="0">
                <a:latin typeface="Cambria"/>
              </a:rPr>
              <a:t>Bits are </a:t>
            </a:r>
            <a:r>
              <a:rPr sz="2300" b="1">
                <a:latin typeface="Cambria"/>
              </a:rPr>
              <a:t>patterns</a:t>
            </a:r>
            <a:r>
              <a:rPr sz="2300" b="0">
                <a:latin typeface="Cambria"/>
              </a:rPr>
              <a:t>;  meaning is a </a:t>
            </a:r>
            <a:r>
              <a:rPr sz="2300" b="1">
                <a:latin typeface="Cambria"/>
              </a:rPr>
              <a:t>choice</a:t>
            </a:r>
          </a:p>
          <a:p>
            <a:pPr>
              <a:tabLst>
                <a:tab pos="3108960" algn="l"/>
              </a:tabLst>
            </a:pPr>
            <a:r>
              <a:rPr sz="2300">
                <a:latin typeface="Cambria"/>
              </a:rPr>
              <a:t> </a:t>
            </a:r>
          </a:p>
          <a:p>
            <a:pPr>
              <a:tabLst>
                <a:tab pos="3108960" algn="l"/>
              </a:tabLst>
            </a:pPr>
            <a:r>
              <a:rPr sz="2300" b="1">
                <a:latin typeface="Cambria"/>
              </a:rPr>
              <a:t>Unsigned</a:t>
            </a:r>
            <a:r>
              <a:rPr sz="2300" b="0">
                <a:latin typeface="Cambria"/>
              </a:rPr>
              <a:t>	positional powers of 2</a:t>
            </a:r>
          </a:p>
          <a:p>
            <a:pPr>
              <a:tabLst>
                <a:tab pos="3108960" algn="l"/>
              </a:tabLst>
            </a:pPr>
            <a:r>
              <a:rPr sz="2300">
                <a:latin typeface="Cambria"/>
              </a:rPr>
              <a:t> </a:t>
            </a:r>
          </a:p>
          <a:p>
            <a:pPr>
              <a:tabLst>
                <a:tab pos="3108960" algn="l"/>
              </a:tabLst>
            </a:pPr>
            <a:r>
              <a:rPr sz="2300" b="1">
                <a:latin typeface="Cambria"/>
              </a:rPr>
              <a:t>Two's complement</a:t>
            </a:r>
            <a:r>
              <a:rPr sz="2300" b="0">
                <a:latin typeface="Cambria"/>
              </a:rPr>
              <a:t>	flip and add 1</a:t>
            </a:r>
          </a:p>
          <a:p>
            <a:pPr>
              <a:tabLst>
                <a:tab pos="3108960" algn="l"/>
              </a:tabLst>
            </a:pPr>
            <a:r>
              <a:rPr sz="2300">
                <a:latin typeface="Cambria"/>
              </a:rPr>
              <a:t> </a:t>
            </a:r>
          </a:p>
          <a:p>
            <a:pPr>
              <a:tabLst>
                <a:tab pos="3108960" algn="l"/>
              </a:tabLst>
            </a:pPr>
            <a:r>
              <a:rPr sz="2300" b="1">
                <a:latin typeface="Cambria"/>
              </a:rPr>
              <a:t>Hex</a:t>
            </a:r>
            <a:r>
              <a:rPr sz="2300" b="0">
                <a:latin typeface="Cambria"/>
              </a:rPr>
              <a:t>	four bits per digit</a:t>
            </a:r>
          </a:p>
          <a:p>
            <a:pPr>
              <a:tabLst>
                <a:tab pos="3108960" algn="l"/>
              </a:tabLst>
            </a:pPr>
            <a:r>
              <a:rPr sz="2300">
                <a:latin typeface="Cambria"/>
              </a:rPr>
              <a:t> </a:t>
            </a:r>
          </a:p>
          <a:p>
            <a:pPr>
              <a:tabLst>
                <a:tab pos="3108960" algn="l"/>
              </a:tabLst>
            </a:pPr>
            <a:r>
              <a:rPr sz="2300" b="0">
                <a:latin typeface="Cambria"/>
              </a:rPr>
              <a:t>Now back to memory and addresses</a:t>
            </a: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Location of Storage</a:t>
            </a:r>
            <a:endParaRPr lang="en-US" sz="4400" b="0" u="none" strike="noStrike" dirty="0">
              <a:solidFill>
                <a:srgbClr val="000000"/>
              </a:solidFill>
              <a:effectLst/>
              <a:uFillTx/>
              <a:latin typeface="Arial"/>
            </a:endParaRPr>
          </a:p>
        </p:txBody>
      </p:sp>
      <p:grpSp>
        <p:nvGrpSpPr>
          <p:cNvPr id="4" name="Group 3"/>
          <p:cNvGrpSpPr/>
          <p:nvPr/>
        </p:nvGrpSpPr>
        <p:grpSpPr>
          <a:xfrm>
            <a:off x="3011321" y="4939610"/>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735357" y="1788467"/>
            <a:ext cx="8846825" cy="5262979"/>
          </a:xfrm>
          <a:prstGeom prst="rect">
            <a:avLst/>
          </a:prstGeom>
          <a:noFill/>
        </p:spPr>
        <p:txBody>
          <a:bodyPr wrap="square" rtlCol="0">
            <a:spAutoFit/>
          </a:bodyPr>
          <a:lstStyle/>
          <a:p>
            <a:r>
              <a:rPr lang="en-US" sz="2800" dirty="0" smtClean="0"/>
              <a:t>Address is the location of memory or symbol (variable)</a:t>
            </a:r>
          </a:p>
          <a:p>
            <a:endParaRPr lang="en-US" sz="2800" dirty="0"/>
          </a:p>
          <a:p>
            <a:r>
              <a:rPr lang="en-US" sz="2800" dirty="0" smtClean="0"/>
              <a:t>The computer knows them as unsigned integers</a:t>
            </a:r>
          </a:p>
          <a:p>
            <a:endParaRPr lang="en-US" sz="2800" dirty="0"/>
          </a:p>
          <a:p>
            <a:r>
              <a:rPr lang="en-US" sz="2800" dirty="0" smtClean="0"/>
              <a:t>Unsigned integers start at 0 and go to 2</a:t>
            </a:r>
            <a:r>
              <a:rPr lang="en-US" sz="2800" baseline="30000" dirty="0" smtClean="0"/>
              <a:t>numbits</a:t>
            </a:r>
            <a:r>
              <a:rPr lang="en-US" sz="2800" dirty="0" smtClean="0"/>
              <a:t> – 1 in binary</a:t>
            </a:r>
            <a:endParaRPr lang="en-US" sz="2800" dirty="0"/>
          </a:p>
          <a:p>
            <a:endParaRPr lang="en-US" sz="2800" dirty="0"/>
          </a:p>
          <a:p>
            <a:r>
              <a:rPr lang="en-US" sz="2800" dirty="0" smtClean="0"/>
              <a:t>Too difficult for humans to keep track of these numbers</a:t>
            </a:r>
          </a:p>
          <a:p>
            <a:endParaRPr lang="en-US" sz="2800" dirty="0"/>
          </a:p>
          <a:p>
            <a:r>
              <a:rPr lang="en-US" sz="2800" dirty="0"/>
              <a:t>                                                              </a:t>
            </a:r>
            <a:r>
              <a:rPr lang="en-US" sz="2800" dirty="0" smtClean="0"/>
              <a:t> </a:t>
            </a:r>
          </a:p>
          <a:p>
            <a:r>
              <a:rPr lang="en-US" sz="2800" dirty="0">
                <a:latin typeface="Arial" panose="020B0604020202020204" pitchFamily="34" charset="0"/>
                <a:cs typeface="Arial" panose="020B0604020202020204" pitchFamily="34" charset="0"/>
              </a:rPr>
              <a:t> </a:t>
            </a:r>
            <a:r>
              <a:rPr lang="en-US" sz="2800" dirty="0" smtClean="0">
                <a:latin typeface="Arial" panose="020B0604020202020204" pitchFamily="34" charset="0"/>
                <a:cs typeface="Arial" panose="020B0604020202020204" pitchFamily="34" charset="0"/>
              </a:rPr>
              <a:t>                                                  </a:t>
            </a:r>
          </a:p>
          <a:p>
            <a:r>
              <a:rPr lang="en-US" sz="2800" dirty="0">
                <a:latin typeface="Arial" panose="020B0604020202020204" pitchFamily="34" charset="0"/>
                <a:cs typeface="Arial" panose="020B0604020202020204" pitchFamily="34" charset="0"/>
              </a:rPr>
              <a:t> </a:t>
            </a:r>
            <a:r>
              <a:rPr lang="en-US" sz="2800" dirty="0" smtClean="0">
                <a:latin typeface="Arial" panose="020B0604020202020204" pitchFamily="34" charset="0"/>
                <a:cs typeface="Arial" panose="020B0604020202020204" pitchFamily="34" charset="0"/>
              </a:rPr>
              <a:t>                                                 </a:t>
            </a:r>
            <a:r>
              <a:rPr lang="en-US" sz="2400" dirty="0" smtClean="0">
                <a:latin typeface="Arial" panose="020B0604020202020204" pitchFamily="34" charset="0"/>
                <a:cs typeface="Arial" panose="020B0604020202020204" pitchFamily="34" charset="0"/>
              </a:rPr>
              <a:t>0x1F899BC</a:t>
            </a:r>
            <a:endParaRPr lang="en-US" sz="2400" dirty="0">
              <a:latin typeface="Arial" panose="020B0604020202020204" pitchFamily="34" charset="0"/>
              <a:cs typeface="Arial" panose="020B0604020202020204" pitchFamily="34" charset="0"/>
            </a:endParaRPr>
          </a:p>
          <a:p>
            <a:endParaRPr lang="en-US" sz="2800" dirty="0"/>
          </a:p>
        </p:txBody>
      </p:sp>
      <p:sp>
        <p:nvSpPr>
          <p:cNvPr id="7" name="TextBox 6"/>
          <p:cNvSpPr txBox="1"/>
          <p:nvPr/>
        </p:nvSpPr>
        <p:spPr>
          <a:xfrm>
            <a:off x="1370447" y="5787291"/>
            <a:ext cx="8211735" cy="1107996"/>
          </a:xfrm>
          <a:prstGeom prst="rect">
            <a:avLst/>
          </a:prstGeom>
          <a:noFill/>
        </p:spPr>
        <p:txBody>
          <a:bodyPr wrap="square" rtlCol="0">
            <a:spAutoFit/>
          </a:bodyPr>
          <a:lstStyle/>
          <a:p>
            <a:r>
              <a:rPr lang="en-US" sz="6600" i="1" strike="sngStrike" dirty="0" smtClean="0">
                <a:solidFill>
                  <a:srgbClr val="FF0000"/>
                </a:solidFill>
              </a:rPr>
              <a:t>Assembly language</a:t>
            </a:r>
            <a:endParaRPr lang="en-US" sz="6600" i="1" strike="sngStrike" dirty="0">
              <a:solidFill>
                <a:srgbClr val="FF0000"/>
              </a:solidFill>
            </a:endParaRPr>
          </a:p>
        </p:txBody>
      </p:sp>
    </p:spTree>
    <p:extLst>
      <p:ext uri="{BB962C8B-B14F-4D97-AF65-F5344CB8AC3E}">
        <p14:creationId xmlns:p14="http://schemas.microsoft.com/office/powerpoint/2010/main" val="34626823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Symbol</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407681" y="1816080"/>
            <a:ext cx="9650719" cy="2246769"/>
          </a:xfrm>
          <a:prstGeom prst="rect">
            <a:avLst/>
          </a:prstGeom>
          <a:noFill/>
        </p:spPr>
        <p:txBody>
          <a:bodyPr wrap="square" rtlCol="0">
            <a:spAutoFit/>
          </a:bodyPr>
          <a:lstStyle/>
          <a:p>
            <a:r>
              <a:rPr lang="en-US" sz="2800" dirty="0" smtClean="0"/>
              <a:t>To make it easier, we associate a symbolic name with the address</a:t>
            </a:r>
          </a:p>
          <a:p>
            <a:endParaRPr lang="en-US" sz="2800" dirty="0"/>
          </a:p>
          <a:p>
            <a:r>
              <a:rPr lang="en-US" sz="2800" dirty="0" smtClean="0"/>
              <a:t>This is known as a symbol</a:t>
            </a:r>
          </a:p>
          <a:p>
            <a:endParaRPr lang="en-US" sz="2800" dirty="0"/>
          </a:p>
          <a:p>
            <a:r>
              <a:rPr lang="en-US" sz="2800" dirty="0" smtClean="0"/>
              <a:t>Loosely called a variable</a:t>
            </a:r>
            <a:endParaRPr lang="en-US" sz="2800" dirty="0"/>
          </a:p>
        </p:txBody>
      </p:sp>
      <p:sp>
        <p:nvSpPr>
          <p:cNvPr id="6" name="TextBox 5"/>
          <p:cNvSpPr txBox="1"/>
          <p:nvPr/>
        </p:nvSpPr>
        <p:spPr>
          <a:xfrm>
            <a:off x="6223663" y="4539712"/>
            <a:ext cx="1405862" cy="369332"/>
          </a:xfrm>
          <a:prstGeom prst="rect">
            <a:avLst/>
          </a:prstGeom>
          <a:noFill/>
        </p:spPr>
        <p:txBody>
          <a:bodyPr wrap="square" rtlCol="0">
            <a:spAutoFit/>
          </a:bodyPr>
          <a:lstStyle/>
          <a:p>
            <a:r>
              <a:rPr lang="en-US" dirty="0" smtClean="0"/>
              <a:t>0x1F899BC</a:t>
            </a:r>
            <a:endParaRPr lang="en-US" dirty="0"/>
          </a:p>
        </p:txBody>
      </p:sp>
    </p:spTree>
    <p:extLst>
      <p:ext uri="{BB962C8B-B14F-4D97-AF65-F5344CB8AC3E}">
        <p14:creationId xmlns:p14="http://schemas.microsoft.com/office/powerpoint/2010/main" val="20784210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But not the value</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735357" y="1788467"/>
            <a:ext cx="5733364" cy="2246769"/>
          </a:xfrm>
          <a:prstGeom prst="rect">
            <a:avLst/>
          </a:prstGeom>
          <a:noFill/>
        </p:spPr>
        <p:txBody>
          <a:bodyPr wrap="none" rtlCol="0">
            <a:spAutoFit/>
          </a:bodyPr>
          <a:lstStyle/>
          <a:p>
            <a:r>
              <a:rPr lang="en-US" sz="2800" dirty="0" smtClean="0"/>
              <a:t>The symbol is not the computed value</a:t>
            </a:r>
          </a:p>
          <a:p>
            <a:r>
              <a:rPr lang="en-US" sz="2800" dirty="0" smtClean="0"/>
              <a:t>The address is a location</a:t>
            </a:r>
          </a:p>
          <a:p>
            <a:r>
              <a:rPr lang="en-US" sz="2800" dirty="0" smtClean="0"/>
              <a:t>We need the contents of the address</a:t>
            </a:r>
          </a:p>
          <a:p>
            <a:r>
              <a:rPr lang="en-US" sz="2800" dirty="0" smtClean="0"/>
              <a:t>The contents of sum is 55</a:t>
            </a:r>
          </a:p>
          <a:p>
            <a:r>
              <a:rPr lang="en-US" sz="2800" dirty="0" smtClean="0"/>
              <a:t>The address is 0x1F899BC</a:t>
            </a:r>
            <a:endParaRPr lang="en-US" sz="2800" dirty="0"/>
          </a:p>
        </p:txBody>
      </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10" name="TextBox 9"/>
          <p:cNvSpPr txBox="1"/>
          <p:nvPr/>
        </p:nvSpPr>
        <p:spPr>
          <a:xfrm>
            <a:off x="7888956" y="4726539"/>
            <a:ext cx="1798056" cy="369332"/>
          </a:xfrm>
          <a:prstGeom prst="rect">
            <a:avLst/>
          </a:prstGeom>
          <a:noFill/>
        </p:spPr>
        <p:txBody>
          <a:bodyPr wrap="none" rtlCol="0">
            <a:spAutoFit/>
          </a:bodyPr>
          <a:lstStyle/>
          <a:p>
            <a:r>
              <a:rPr lang="en-US" dirty="0" smtClean="0"/>
              <a:t>Location in space</a:t>
            </a:r>
            <a:endParaRPr lang="en-US"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60464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Making an association</a:t>
            </a:r>
            <a:endParaRPr lang="en-US" sz="4400" b="0" u="none" strike="noStrike" dirty="0">
              <a:solidFill>
                <a:srgbClr val="000000"/>
              </a:solidFill>
              <a:effectLst/>
              <a:uFillTx/>
              <a:latin typeface="Arial"/>
            </a:endParaRPr>
          </a:p>
        </p:txBody>
      </p:sp>
      <p:sp>
        <p:nvSpPr>
          <p:cNvPr id="3" name="TextBox 2"/>
          <p:cNvSpPr txBox="1"/>
          <p:nvPr/>
        </p:nvSpPr>
        <p:spPr>
          <a:xfrm>
            <a:off x="735357" y="1788467"/>
            <a:ext cx="8247129" cy="3108543"/>
          </a:xfrm>
          <a:prstGeom prst="rect">
            <a:avLst/>
          </a:prstGeom>
          <a:noFill/>
        </p:spPr>
        <p:txBody>
          <a:bodyPr wrap="none" rtlCol="0">
            <a:spAutoFit/>
          </a:bodyPr>
          <a:lstStyle/>
          <a:p>
            <a:r>
              <a:rPr lang="en-US" sz="2800" dirty="0" smtClean="0"/>
              <a:t>Symbolically make an association.   </a:t>
            </a:r>
          </a:p>
          <a:p>
            <a:r>
              <a:rPr lang="en-US" sz="2800" dirty="0" smtClean="0"/>
              <a:t>Let</a:t>
            </a:r>
          </a:p>
          <a:p>
            <a:r>
              <a:rPr lang="en-US" sz="2800" dirty="0" smtClean="0"/>
              <a:t>   sum   be the address or location of memory</a:t>
            </a:r>
            <a:endParaRPr lang="en-US" sz="2800" dirty="0"/>
          </a:p>
          <a:p>
            <a:r>
              <a:rPr lang="en-US" sz="2800" dirty="0" smtClean="0"/>
              <a:t>  $sum  be the contents of memory </a:t>
            </a:r>
          </a:p>
          <a:p>
            <a:endParaRPr lang="en-US" sz="2800" dirty="0"/>
          </a:p>
          <a:p>
            <a:r>
              <a:rPr lang="en-US" sz="2800" dirty="0" smtClean="0"/>
              <a:t>Very clean and exact </a:t>
            </a:r>
          </a:p>
          <a:p>
            <a:r>
              <a:rPr lang="en-US" sz="2800" dirty="0" smtClean="0"/>
              <a:t>Some languages do it this way!  But not C, C++, or Rust!</a:t>
            </a:r>
            <a:endParaRPr lang="en-US" sz="2800" dirty="0"/>
          </a:p>
        </p:txBody>
      </p:sp>
      <p:sp>
        <p:nvSpPr>
          <p:cNvPr id="10" name="TextBox 9"/>
          <p:cNvSpPr txBox="1"/>
          <p:nvPr/>
        </p:nvSpPr>
        <p:spPr>
          <a:xfrm>
            <a:off x="7669881" y="5495634"/>
            <a:ext cx="1798056" cy="369332"/>
          </a:xfrm>
          <a:prstGeom prst="rect">
            <a:avLst/>
          </a:prstGeom>
          <a:noFill/>
        </p:spPr>
        <p:txBody>
          <a:bodyPr wrap="none" rtlCol="0">
            <a:spAutoFit/>
          </a:bodyPr>
          <a:lstStyle/>
          <a:p>
            <a:r>
              <a:rPr lang="en-US" dirty="0" smtClean="0"/>
              <a:t>Location in space</a:t>
            </a:r>
            <a:endParaRPr lang="en-US" dirty="0"/>
          </a:p>
        </p:txBody>
      </p:sp>
      <p:grpSp>
        <p:nvGrpSpPr>
          <p:cNvPr id="12" name="Group 11"/>
          <p:cNvGrpSpPr/>
          <p:nvPr/>
        </p:nvGrpSpPr>
        <p:grpSpPr>
          <a:xfrm>
            <a:off x="2394338" y="5151477"/>
            <a:ext cx="6665122" cy="2620923"/>
            <a:chOff x="2889638" y="4332327"/>
            <a:chExt cx="6665122" cy="2620923"/>
          </a:xfrm>
        </p:grpSpPr>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4321730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Humans hate to type</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601364" y="1864217"/>
            <a:ext cx="8678530" cy="2246769"/>
          </a:xfrm>
          <a:prstGeom prst="rect">
            <a:avLst/>
          </a:prstGeom>
          <a:noFill/>
        </p:spPr>
        <p:txBody>
          <a:bodyPr wrap="none" rtlCol="0">
            <a:spAutoFit/>
          </a:bodyPr>
          <a:lstStyle/>
          <a:p>
            <a:r>
              <a:rPr lang="en-US" sz="2800" dirty="0" smtClean="0"/>
              <a:t>Most of the time we want to process data</a:t>
            </a:r>
          </a:p>
          <a:p>
            <a:r>
              <a:rPr lang="en-US" sz="2800" dirty="0" smtClean="0"/>
              <a:t>We really don’t want to care about the location</a:t>
            </a:r>
          </a:p>
          <a:p>
            <a:r>
              <a:rPr lang="en-US" sz="2800" dirty="0" smtClean="0"/>
              <a:t>We just want the answer</a:t>
            </a:r>
          </a:p>
          <a:p>
            <a:r>
              <a:rPr lang="en-US" sz="2800" dirty="0" smtClean="0"/>
              <a:t>So just drop the address from consideration</a:t>
            </a:r>
          </a:p>
          <a:p>
            <a:r>
              <a:rPr lang="en-US" sz="2800" dirty="0" smtClean="0"/>
              <a:t>The symbol represents the contents of a memory location</a:t>
            </a:r>
          </a:p>
        </p:txBody>
      </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10" name="TextBox 9"/>
          <p:cNvSpPr txBox="1"/>
          <p:nvPr/>
        </p:nvSpPr>
        <p:spPr>
          <a:xfrm>
            <a:off x="7888956" y="4726539"/>
            <a:ext cx="1798056" cy="369332"/>
          </a:xfrm>
          <a:prstGeom prst="rect">
            <a:avLst/>
          </a:prstGeom>
          <a:noFill/>
        </p:spPr>
        <p:txBody>
          <a:bodyPr wrap="none" rtlCol="0">
            <a:spAutoFit/>
          </a:bodyPr>
          <a:lstStyle/>
          <a:p>
            <a:r>
              <a:rPr lang="en-US" dirty="0" smtClean="0"/>
              <a:t>Location in space</a:t>
            </a:r>
            <a:endParaRPr lang="en-US"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920182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Humans hate to type</a:t>
            </a:r>
            <a:endParaRPr lang="en-US" sz="4400" b="0" u="none" strike="noStrike" dirty="0">
              <a:solidFill>
                <a:srgbClr val="000000"/>
              </a:solidFill>
              <a:effectLst/>
              <a:uFillTx/>
              <a:latin typeface="Arial"/>
            </a:endParaRPr>
          </a:p>
        </p:txBody>
      </p:sp>
      <p:sp>
        <p:nvSpPr>
          <p:cNvPr id="3" name="TextBox 2"/>
          <p:cNvSpPr txBox="1"/>
          <p:nvPr/>
        </p:nvSpPr>
        <p:spPr>
          <a:xfrm>
            <a:off x="684365" y="1643155"/>
            <a:ext cx="8646406" cy="3108543"/>
          </a:xfrm>
          <a:prstGeom prst="rect">
            <a:avLst/>
          </a:prstGeom>
          <a:noFill/>
        </p:spPr>
        <p:txBody>
          <a:bodyPr wrap="none" rtlCol="0">
            <a:spAutoFit/>
          </a:bodyPr>
          <a:lstStyle/>
          <a:p>
            <a:r>
              <a:rPr lang="en-US" sz="2800" dirty="0" smtClean="0"/>
              <a:t>If we want the address, we will use the &amp; address operator</a:t>
            </a:r>
          </a:p>
          <a:p>
            <a:endParaRPr lang="en-US" sz="2800" dirty="0"/>
          </a:p>
          <a:p>
            <a:r>
              <a:rPr lang="en-US" sz="2800" dirty="0" smtClean="0"/>
              <a:t>&amp;sum is 0x1F899BC</a:t>
            </a:r>
          </a:p>
          <a:p>
            <a:endParaRPr lang="en-US" sz="2800" dirty="0"/>
          </a:p>
          <a:p>
            <a:r>
              <a:rPr lang="en-US" sz="2800" dirty="0" smtClean="0"/>
              <a:t>sum is 11011 in binary or 55</a:t>
            </a:r>
          </a:p>
          <a:p>
            <a:endParaRPr lang="en-US" sz="2800" dirty="0"/>
          </a:p>
          <a:p>
            <a:r>
              <a:rPr lang="en-US" sz="2800" dirty="0" smtClean="0"/>
              <a:t>C, C++, and Rust all do it this way</a:t>
            </a:r>
          </a:p>
        </p:txBody>
      </p:sp>
      <p:grpSp>
        <p:nvGrpSpPr>
          <p:cNvPr id="12" name="Group 11"/>
          <p:cNvGrpSpPr/>
          <p:nvPr/>
        </p:nvGrpSpPr>
        <p:grpSpPr>
          <a:xfrm>
            <a:off x="2480063" y="4989552"/>
            <a:ext cx="6797374" cy="2620923"/>
            <a:chOff x="2889638" y="4332327"/>
            <a:chExt cx="6797374" cy="2620923"/>
          </a:xfrm>
        </p:grpSpPr>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10" name="TextBox 9"/>
            <p:cNvSpPr txBox="1"/>
            <p:nvPr/>
          </p:nvSpPr>
          <p:spPr>
            <a:xfrm>
              <a:off x="7888956" y="4726539"/>
              <a:ext cx="1798056" cy="369332"/>
            </a:xfrm>
            <a:prstGeom prst="rect">
              <a:avLst/>
            </a:prstGeom>
            <a:noFill/>
          </p:spPr>
          <p:txBody>
            <a:bodyPr wrap="none" rtlCol="0">
              <a:spAutoFit/>
            </a:bodyPr>
            <a:lstStyle/>
            <a:p>
              <a:r>
                <a:rPr lang="en-US" dirty="0" smtClean="0"/>
                <a:t>Location in space</a:t>
              </a:r>
              <a:endParaRPr lang="en-US"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334340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Machine Size</a:t>
            </a:r>
            <a:endParaRPr lang="en-US" sz="4400" b="0" u="none" strike="noStrike" dirty="0">
              <a:solidFill>
                <a:srgbClr val="000000"/>
              </a:solidFill>
              <a:effectLst/>
              <a:uFillTx/>
              <a:latin typeface="Arial"/>
            </a:endParaRPr>
          </a:p>
        </p:txBody>
      </p:sp>
      <p:sp>
        <p:nvSpPr>
          <p:cNvPr id="3" name="TextBox 2"/>
          <p:cNvSpPr txBox="1"/>
          <p:nvPr/>
        </p:nvSpPr>
        <p:spPr>
          <a:xfrm>
            <a:off x="601364" y="1864217"/>
            <a:ext cx="8999195" cy="4401205"/>
          </a:xfrm>
          <a:prstGeom prst="rect">
            <a:avLst/>
          </a:prstGeom>
          <a:noFill/>
        </p:spPr>
        <p:txBody>
          <a:bodyPr wrap="none" rtlCol="0">
            <a:spAutoFit/>
          </a:bodyPr>
          <a:lstStyle/>
          <a:p>
            <a:r>
              <a:rPr lang="en-US" sz="2800" dirty="0" smtClean="0"/>
              <a:t>The implemented number of bits of the computer’s data bus</a:t>
            </a:r>
          </a:p>
          <a:p>
            <a:endParaRPr lang="en-US" sz="2800" dirty="0" smtClean="0"/>
          </a:p>
          <a:p>
            <a:r>
              <a:rPr lang="en-US" sz="2800" dirty="0" smtClean="0"/>
              <a:t>The natural size of the computer</a:t>
            </a:r>
          </a:p>
          <a:p>
            <a:endParaRPr lang="en-US" sz="2800" dirty="0"/>
          </a:p>
          <a:p>
            <a:r>
              <a:rPr lang="en-US" sz="2800" dirty="0" smtClean="0"/>
              <a:t>Arithmetic Logic Unit works on this many bits at one time</a:t>
            </a:r>
          </a:p>
          <a:p>
            <a:endParaRPr lang="en-US" sz="2800" dirty="0" smtClean="0"/>
          </a:p>
          <a:p>
            <a:r>
              <a:rPr lang="en-US" sz="2800" dirty="0" smtClean="0"/>
              <a:t>Computer is most efficient with this data size</a:t>
            </a:r>
          </a:p>
          <a:p>
            <a:endParaRPr lang="en-US" sz="2800" dirty="0" smtClean="0"/>
          </a:p>
          <a:p>
            <a:r>
              <a:rPr lang="en-US" sz="2800" dirty="0" smtClean="0"/>
              <a:t>Smaller is usually just as fast but bigger takes more time</a:t>
            </a:r>
          </a:p>
          <a:p>
            <a:endParaRPr lang="en-US" sz="2800" dirty="0" smtClean="0"/>
          </a:p>
        </p:txBody>
      </p:sp>
    </p:spTree>
    <p:extLst>
      <p:ext uri="{BB962C8B-B14F-4D97-AF65-F5344CB8AC3E}">
        <p14:creationId xmlns:p14="http://schemas.microsoft.com/office/powerpoint/2010/main" val="148297838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Address Space</a:t>
            </a:r>
            <a:endParaRPr lang="en-US" sz="4400" b="0" u="none" strike="noStrike" dirty="0">
              <a:solidFill>
                <a:srgbClr val="000000"/>
              </a:solidFill>
              <a:effectLst/>
              <a:uFillTx/>
              <a:latin typeface="Arial"/>
            </a:endParaRPr>
          </a:p>
        </p:txBody>
      </p:sp>
      <p:sp>
        <p:nvSpPr>
          <p:cNvPr id="3" name="TextBox 2"/>
          <p:cNvSpPr txBox="1"/>
          <p:nvPr/>
        </p:nvSpPr>
        <p:spPr>
          <a:xfrm>
            <a:off x="447683" y="1854692"/>
            <a:ext cx="9248768" cy="7417415"/>
          </a:xfrm>
          <a:prstGeom prst="rect">
            <a:avLst/>
          </a:prstGeom>
          <a:noFill/>
        </p:spPr>
        <p:txBody>
          <a:bodyPr wrap="square" rtlCol="0">
            <a:spAutoFit/>
          </a:bodyPr>
          <a:lstStyle/>
          <a:p>
            <a:r>
              <a:rPr lang="en-US" sz="2800" dirty="0" smtClean="0"/>
              <a:t>Since the data bus (</a:t>
            </a:r>
            <a:r>
              <a:rPr lang="en-US" sz="2800" dirty="0" err="1" smtClean="0"/>
              <a:t>num_databus_bits</a:t>
            </a:r>
            <a:r>
              <a:rPr lang="en-US" sz="2800" dirty="0" smtClean="0"/>
              <a:t>) is used to compute addresses</a:t>
            </a:r>
          </a:p>
          <a:p>
            <a:r>
              <a:rPr lang="en-US" sz="2800" dirty="0"/>
              <a:t>	</a:t>
            </a:r>
            <a:r>
              <a:rPr lang="en-US" sz="2800" dirty="0" smtClean="0"/>
              <a:t>address size : [ 0 ... 2</a:t>
            </a:r>
            <a:r>
              <a:rPr lang="en-US" sz="2800" baseline="30000" dirty="0" smtClean="0"/>
              <a:t>num_databus_bits</a:t>
            </a:r>
            <a:r>
              <a:rPr lang="en-US" sz="2800" dirty="0" smtClean="0"/>
              <a:t> – 1]</a:t>
            </a:r>
          </a:p>
          <a:p>
            <a:endParaRPr lang="en-US" sz="2800" dirty="0"/>
          </a:p>
          <a:p>
            <a:r>
              <a:rPr lang="en-US" sz="2800" dirty="0" smtClean="0"/>
              <a:t>The universe of addresses representable is called the</a:t>
            </a:r>
          </a:p>
          <a:p>
            <a:r>
              <a:rPr lang="en-US" sz="2800" dirty="0"/>
              <a:t>	</a:t>
            </a:r>
            <a:r>
              <a:rPr lang="en-US" sz="2800" dirty="0" smtClean="0"/>
              <a:t> </a:t>
            </a:r>
            <a:r>
              <a:rPr lang="en-US" sz="2800" b="1" dirty="0" smtClean="0"/>
              <a:t>address space</a:t>
            </a:r>
          </a:p>
          <a:p>
            <a:endParaRPr lang="en-US" sz="2800" dirty="0"/>
          </a:p>
          <a:p>
            <a:r>
              <a:rPr lang="en-US" sz="2800" dirty="0" smtClean="0"/>
              <a:t>For 32 bits </a:t>
            </a:r>
          </a:p>
          <a:p>
            <a:r>
              <a:rPr lang="en-US" sz="2800" dirty="0"/>
              <a:t>	</a:t>
            </a:r>
            <a:r>
              <a:rPr lang="en-US" sz="2800" dirty="0" smtClean="0"/>
              <a:t>address space : [0 … 2</a:t>
            </a:r>
            <a:r>
              <a:rPr lang="en-US" sz="2800" baseline="30000" dirty="0" smtClean="0"/>
              <a:t>32</a:t>
            </a:r>
            <a:r>
              <a:rPr lang="en-US" sz="2800" dirty="0" smtClean="0"/>
              <a:t> – 1] = 4,294,967,295 = 4 </a:t>
            </a:r>
            <a:r>
              <a:rPr lang="en-US" sz="2800" dirty="0" err="1" smtClean="0"/>
              <a:t>GBytes</a:t>
            </a:r>
            <a:endParaRPr lang="en-US" sz="2800" dirty="0" smtClean="0"/>
          </a:p>
          <a:p>
            <a:endParaRPr lang="en-US" sz="2800" dirty="0"/>
          </a:p>
          <a:p>
            <a:r>
              <a:rPr lang="en-US" sz="2800" dirty="0" smtClean="0"/>
              <a:t>For 64 bits</a:t>
            </a:r>
          </a:p>
          <a:p>
            <a:r>
              <a:rPr lang="en-US" sz="2800" dirty="0" smtClean="0"/>
              <a:t>	address </a:t>
            </a:r>
            <a:r>
              <a:rPr lang="en-US" sz="2800" dirty="0"/>
              <a:t>space : [0 … </a:t>
            </a:r>
            <a:r>
              <a:rPr lang="en-US" sz="2800" dirty="0" smtClean="0"/>
              <a:t>2</a:t>
            </a:r>
            <a:r>
              <a:rPr lang="en-US" sz="2800" baseline="30000" dirty="0" smtClean="0"/>
              <a:t>64</a:t>
            </a:r>
            <a:r>
              <a:rPr lang="en-US" sz="2800" dirty="0" smtClean="0"/>
              <a:t> </a:t>
            </a:r>
            <a:r>
              <a:rPr lang="en-US" sz="2800" dirty="0"/>
              <a:t>– 1] </a:t>
            </a:r>
            <a:r>
              <a:rPr lang="en-US" sz="2800" dirty="0" smtClean="0"/>
              <a:t>=</a:t>
            </a:r>
          </a:p>
          <a:p>
            <a:r>
              <a:rPr lang="en-US" sz="2800" dirty="0"/>
              <a:t>	</a:t>
            </a:r>
            <a:r>
              <a:rPr lang="en-US" sz="2800" dirty="0" smtClean="0"/>
              <a:t>	18,446,744,073,709,551,615 = 18.45 </a:t>
            </a:r>
            <a:r>
              <a:rPr lang="en-US" sz="2800" dirty="0" err="1" smtClean="0"/>
              <a:t>ExaBytes</a:t>
            </a:r>
            <a:endParaRPr lang="en-US" sz="2800" dirty="0" smtClean="0"/>
          </a:p>
          <a:p>
            <a:endParaRPr lang="en-US" sz="2800" dirty="0"/>
          </a:p>
          <a:p>
            <a:r>
              <a:rPr lang="en-US" sz="2800" dirty="0" smtClean="0"/>
              <a:t> </a:t>
            </a:r>
          </a:p>
          <a:p>
            <a:endParaRPr lang="en-US" sz="2800" dirty="0" smtClean="0"/>
          </a:p>
          <a:p>
            <a:endParaRPr lang="en-US" sz="2800" dirty="0" smtClean="0"/>
          </a:p>
        </p:txBody>
      </p:sp>
    </p:spTree>
    <p:extLst>
      <p:ext uri="{BB962C8B-B14F-4D97-AF65-F5344CB8AC3E}">
        <p14:creationId xmlns:p14="http://schemas.microsoft.com/office/powerpoint/2010/main" val="4947574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Implementing Address Space</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6986528"/>
          </a:xfrm>
          <a:prstGeom prst="rect">
            <a:avLst/>
          </a:prstGeom>
          <a:noFill/>
        </p:spPr>
        <p:txBody>
          <a:bodyPr wrap="square" rtlCol="0">
            <a:spAutoFit/>
          </a:bodyPr>
          <a:lstStyle/>
          <a:p>
            <a:r>
              <a:rPr lang="en-US" sz="2800" dirty="0" smtClean="0"/>
              <a:t>Computer does not have to implement the entire address space</a:t>
            </a:r>
          </a:p>
          <a:p>
            <a:endParaRPr lang="en-US" sz="2800" dirty="0"/>
          </a:p>
          <a:p>
            <a:r>
              <a:rPr lang="en-US" sz="2800" dirty="0" smtClean="0"/>
              <a:t>The physical address space may be smaller than the full address space</a:t>
            </a:r>
          </a:p>
          <a:p>
            <a:endParaRPr lang="en-US" sz="2800" dirty="0"/>
          </a:p>
          <a:p>
            <a:r>
              <a:rPr lang="en-US" sz="2800" dirty="0" smtClean="0"/>
              <a:t>Embedded Systems which utilize 32 bit MCUs do not usually implement all of the possible 4 G Byte address space</a:t>
            </a:r>
          </a:p>
          <a:p>
            <a:endParaRPr lang="en-US" sz="2800" dirty="0"/>
          </a:p>
          <a:p>
            <a:r>
              <a:rPr lang="en-US" sz="2800" dirty="0" smtClean="0"/>
              <a:t>Desktops, Laptops, and Notebooks do not implement all 18 </a:t>
            </a:r>
            <a:r>
              <a:rPr lang="en-US" sz="2800" dirty="0" err="1" smtClean="0"/>
              <a:t>Exa</a:t>
            </a:r>
            <a:r>
              <a:rPr lang="en-US" sz="2800" dirty="0" smtClean="0"/>
              <a:t> Bytes</a:t>
            </a:r>
          </a:p>
          <a:p>
            <a:endParaRPr lang="en-US" sz="2800" dirty="0" smtClean="0"/>
          </a:p>
          <a:p>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218937531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Virtual Memory</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5693866"/>
          </a:xfrm>
          <a:prstGeom prst="rect">
            <a:avLst/>
          </a:prstGeom>
          <a:noFill/>
        </p:spPr>
        <p:txBody>
          <a:bodyPr wrap="square" rtlCol="0">
            <a:spAutoFit/>
          </a:bodyPr>
          <a:lstStyle/>
          <a:p>
            <a:r>
              <a:rPr lang="en-US" sz="2800" dirty="0" smtClean="0"/>
              <a:t>Every access to memory ultimately needs a physical address</a:t>
            </a:r>
          </a:p>
          <a:p>
            <a:endParaRPr lang="en-US" sz="2800" dirty="0"/>
          </a:p>
          <a:p>
            <a:r>
              <a:rPr lang="en-US" sz="2800" dirty="0" smtClean="0"/>
              <a:t>To make things easier for the programmer, present the allusion that memory is just one large contiguous set of addresses</a:t>
            </a:r>
          </a:p>
          <a:p>
            <a:endParaRPr lang="en-US" sz="2800" dirty="0"/>
          </a:p>
          <a:p>
            <a:r>
              <a:rPr lang="en-US" sz="2800" dirty="0" smtClean="0"/>
              <a:t>This allusion is called </a:t>
            </a:r>
            <a:r>
              <a:rPr lang="en-US" sz="2800" b="1" dirty="0" smtClean="0"/>
              <a:t>virtual memory</a:t>
            </a:r>
          </a:p>
          <a:p>
            <a:endParaRPr lang="en-US" sz="2800" dirty="0"/>
          </a:p>
          <a:p>
            <a:endParaRPr lang="en-US" sz="2800" dirty="0" smtClean="0"/>
          </a:p>
          <a:p>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324865440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Memory Mapping</a:t>
            </a:r>
            <a:endParaRPr lang="en-US" sz="4400" b="0" u="none" strike="noStrike" dirty="0">
              <a:solidFill>
                <a:srgbClr val="000000"/>
              </a:solidFill>
              <a:effectLst/>
              <a:uFillTx/>
              <a:latin typeface="Arial"/>
            </a:endParaRPr>
          </a:p>
        </p:txBody>
      </p:sp>
      <p:sp>
        <p:nvSpPr>
          <p:cNvPr id="3" name="TextBox 2"/>
          <p:cNvSpPr txBox="1"/>
          <p:nvPr/>
        </p:nvSpPr>
        <p:spPr>
          <a:xfrm>
            <a:off x="636862" y="1340280"/>
            <a:ext cx="8783955" cy="9140964"/>
          </a:xfrm>
          <a:prstGeom prst="rect">
            <a:avLst/>
          </a:prstGeom>
          <a:noFill/>
        </p:spPr>
        <p:txBody>
          <a:bodyPr wrap="square" rtlCol="0">
            <a:spAutoFit/>
          </a:bodyPr>
          <a:lstStyle/>
          <a:p>
            <a:r>
              <a:rPr lang="en-US" sz="2800" dirty="0" smtClean="0"/>
              <a:t>This requires a translation:</a:t>
            </a:r>
          </a:p>
          <a:p>
            <a:r>
              <a:rPr lang="en-US" sz="2800" dirty="0"/>
              <a:t>	</a:t>
            </a:r>
            <a:r>
              <a:rPr lang="en-US" sz="2800" dirty="0" smtClean="0"/>
              <a:t>virtual address </a:t>
            </a:r>
            <a:r>
              <a:rPr lang="en-US" sz="2800" dirty="0" smtClean="0">
                <a:sym typeface="Wingdings" panose="05000000000000000000" pitchFamily="2" charset="2"/>
              </a:rPr>
              <a:t>  physical address</a:t>
            </a:r>
            <a:endParaRPr lang="en-US" sz="2800" dirty="0"/>
          </a:p>
          <a:p>
            <a:r>
              <a:rPr lang="en-US" sz="2800" dirty="0" smtClean="0"/>
              <a:t>A computer needs to perform the translation and check to see if the physical address exists</a:t>
            </a:r>
          </a:p>
          <a:p>
            <a:endParaRPr lang="en-US" sz="2400" dirty="0"/>
          </a:p>
          <a:p>
            <a:r>
              <a:rPr lang="en-US" sz="2800" dirty="0" smtClean="0"/>
              <a:t>Modern computers have hardware to do this efficiently</a:t>
            </a:r>
          </a:p>
          <a:p>
            <a:endParaRPr lang="en-US" sz="2400" dirty="0"/>
          </a:p>
          <a:p>
            <a:r>
              <a:rPr lang="en-US" sz="2800" dirty="0" smtClean="0"/>
              <a:t>Users see one large space; physical space can be segmented</a:t>
            </a:r>
          </a:p>
          <a:p>
            <a:endParaRPr lang="en-US" sz="2400" dirty="0" smtClean="0"/>
          </a:p>
          <a:p>
            <a:r>
              <a:rPr lang="en-US" sz="2800" dirty="0" smtClean="0"/>
              <a:t>Allows </a:t>
            </a:r>
            <a:r>
              <a:rPr lang="en-US" sz="2800" dirty="0"/>
              <a:t>computer architect to optimize variable placement</a:t>
            </a:r>
          </a:p>
          <a:p>
            <a:endParaRPr lang="en-US" sz="2000" dirty="0" smtClean="0"/>
          </a:p>
          <a:p>
            <a:r>
              <a:rPr lang="en-US" sz="2800" dirty="0" smtClean="0"/>
              <a:t>Aside: Hardware is named the memory mapper and may use special memory used to speed the process called the TLB or translation look aside buffer.</a:t>
            </a:r>
          </a:p>
          <a:p>
            <a:endParaRPr lang="en-US" sz="2800" b="1" dirty="0" smtClean="0"/>
          </a:p>
          <a:p>
            <a:endParaRPr lang="en-US" sz="2800" dirty="0"/>
          </a:p>
          <a:p>
            <a:endParaRPr lang="en-US" sz="2800" dirty="0" smtClean="0"/>
          </a:p>
          <a:p>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41916054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Linux Memory Mapping</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2677656"/>
          </a:xfrm>
          <a:prstGeom prst="rect">
            <a:avLst/>
          </a:prstGeom>
          <a:noFill/>
        </p:spPr>
        <p:txBody>
          <a:bodyPr wrap="square" rtlCol="0">
            <a:spAutoFit/>
          </a:bodyPr>
          <a:lstStyle/>
          <a:p>
            <a:endParaRPr lang="en-US" sz="2800" b="1" dirty="0" smtClean="0"/>
          </a:p>
          <a:p>
            <a:endParaRPr lang="en-US" sz="2800" dirty="0"/>
          </a:p>
          <a:p>
            <a:endParaRPr lang="en-US" sz="2800" dirty="0" smtClean="0"/>
          </a:p>
          <a:p>
            <a:endParaRPr lang="en-US" sz="2800" dirty="0"/>
          </a:p>
          <a:p>
            <a:endParaRPr lang="en-US" sz="2800" dirty="0" smtClean="0"/>
          </a:p>
          <a:p>
            <a:endParaRPr lang="en-US" sz="2800" dirty="0" smtClean="0"/>
          </a:p>
        </p:txBody>
      </p:sp>
      <p:pic>
        <p:nvPicPr>
          <p:cNvPr id="4" name="Content Placeholder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8217" y="2198996"/>
            <a:ext cx="6715316" cy="5499614"/>
          </a:xfrm>
          <a:prstGeom prst="rect">
            <a:avLst/>
          </a:prstGeom>
        </p:spPr>
      </p:pic>
      <p:sp>
        <p:nvSpPr>
          <p:cNvPr id="5" name="Title 1"/>
          <p:cNvSpPr>
            <a:spLocks noGrp="1"/>
          </p:cNvSpPr>
          <p:nvPr>
            <p:ph type="title"/>
          </p:nvPr>
        </p:nvSpPr>
        <p:spPr>
          <a:xfrm>
            <a:off x="1646896" y="1688195"/>
            <a:ext cx="7907864" cy="480600"/>
          </a:xfrm>
        </p:spPr>
        <p:txBody>
          <a:bodyPr/>
          <a:lstStyle/>
          <a:p>
            <a:r>
              <a:rPr lang="en-US" sz="3600" dirty="0" smtClean="0"/>
              <a:t>Memory map of Linux 32 bit OS</a:t>
            </a:r>
            <a:endParaRPr lang="en-US" sz="3600" dirty="0"/>
          </a:p>
        </p:txBody>
      </p:sp>
    </p:spTree>
    <p:extLst>
      <p:ext uri="{BB962C8B-B14F-4D97-AF65-F5344CB8AC3E}">
        <p14:creationId xmlns:p14="http://schemas.microsoft.com/office/powerpoint/2010/main" val="41943942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Addresses are Unsigned Integers</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4832092"/>
          </a:xfrm>
          <a:prstGeom prst="rect">
            <a:avLst/>
          </a:prstGeom>
          <a:noFill/>
        </p:spPr>
        <p:txBody>
          <a:bodyPr wrap="square" rtlCol="0">
            <a:spAutoFit/>
          </a:bodyPr>
          <a:lstStyle/>
          <a:p>
            <a:r>
              <a:rPr lang="en-US" sz="2800" dirty="0" smtClean="0"/>
              <a:t>Every memory access needs to be checked</a:t>
            </a:r>
          </a:p>
          <a:p>
            <a:endParaRPr lang="en-US" sz="2800" dirty="0"/>
          </a:p>
          <a:p>
            <a:r>
              <a:rPr lang="en-US" sz="2800" dirty="0" smtClean="0"/>
              <a:t>Unsigned integers need only one check : limit of address space</a:t>
            </a:r>
          </a:p>
          <a:p>
            <a:endParaRPr lang="en-US" sz="2800" dirty="0"/>
          </a:p>
          <a:p>
            <a:r>
              <a:rPr lang="en-US" sz="2800" dirty="0" smtClean="0"/>
              <a:t>Integers would require two checks!  One for positive limit and one for negative limit</a:t>
            </a:r>
          </a:p>
          <a:p>
            <a:endParaRPr lang="en-US" sz="2800" dirty="0"/>
          </a:p>
          <a:p>
            <a:r>
              <a:rPr lang="en-US" sz="2800" dirty="0" smtClean="0"/>
              <a:t>Speed rules!</a:t>
            </a:r>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16680302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Common Machine Sizes</a:t>
            </a:r>
            <a:endParaRPr lang="en-US" sz="4400" b="0" u="none" strike="noStrike" dirty="0">
              <a:solidFill>
                <a:srgbClr val="000000"/>
              </a:solidFill>
              <a:effectLst/>
              <a:uFillTx/>
              <a:latin typeface="Arial"/>
            </a:endParaRPr>
          </a:p>
        </p:txBody>
      </p:sp>
      <p:sp>
        <p:nvSpPr>
          <p:cNvPr id="3" name="TextBox 2"/>
          <p:cNvSpPr txBox="1"/>
          <p:nvPr/>
        </p:nvSpPr>
        <p:spPr>
          <a:xfrm>
            <a:off x="341916" y="1949942"/>
            <a:ext cx="9364059" cy="4401205"/>
          </a:xfrm>
          <a:prstGeom prst="rect">
            <a:avLst/>
          </a:prstGeom>
          <a:noFill/>
        </p:spPr>
        <p:txBody>
          <a:bodyPr wrap="square" rtlCol="0">
            <a:spAutoFit/>
          </a:bodyPr>
          <a:lstStyle/>
          <a:p>
            <a:r>
              <a:rPr lang="en-US" sz="2800" dirty="0" smtClean="0"/>
              <a:t>Most new desktop, laptop, and notebook computers are 64 bits</a:t>
            </a:r>
          </a:p>
          <a:p>
            <a:endParaRPr lang="en-US" sz="2800" dirty="0" smtClean="0"/>
          </a:p>
          <a:p>
            <a:r>
              <a:rPr lang="en-US" sz="2800" dirty="0" smtClean="0"/>
              <a:t>Most embedded computers have a 32 bit data and address space</a:t>
            </a:r>
          </a:p>
          <a:p>
            <a:endParaRPr lang="en-US" sz="2800" dirty="0"/>
          </a:p>
          <a:p>
            <a:r>
              <a:rPr lang="en-US" sz="2800" dirty="0" smtClean="0"/>
              <a:t>It is best to use the machine word size because it is efficient</a:t>
            </a:r>
            <a:endParaRPr lang="en-US" sz="2800" dirty="0"/>
          </a:p>
          <a:p>
            <a:endParaRPr lang="en-US" sz="2800" dirty="0" smtClean="0"/>
          </a:p>
          <a:p>
            <a:r>
              <a:rPr lang="en-US" sz="2800" dirty="0" smtClean="0"/>
              <a:t>While addresses are unsigned integers, our program data can be either signed or unsigned</a:t>
            </a:r>
          </a:p>
        </p:txBody>
      </p:sp>
    </p:spTree>
    <p:extLst>
      <p:ext uri="{BB962C8B-B14F-4D97-AF65-F5344CB8AC3E}">
        <p14:creationId xmlns:p14="http://schemas.microsoft.com/office/powerpoint/2010/main" val="17320921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Natural Size on 64 Bit Machines</a:t>
            </a:r>
            <a:endParaRPr lang="en-US" sz="4400" b="0" u="none" strike="noStrike" dirty="0">
              <a:solidFill>
                <a:srgbClr val="000000"/>
              </a:solidFill>
              <a:effectLst/>
              <a:uFillTx/>
              <a:latin typeface="Arial"/>
            </a:endParaRPr>
          </a:p>
        </p:txBody>
      </p:sp>
      <p:sp>
        <p:nvSpPr>
          <p:cNvPr id="3" name="TextBox 2"/>
          <p:cNvSpPr txBox="1"/>
          <p:nvPr/>
        </p:nvSpPr>
        <p:spPr>
          <a:xfrm>
            <a:off x="341915" y="1949942"/>
            <a:ext cx="9325959" cy="4401205"/>
          </a:xfrm>
          <a:prstGeom prst="rect">
            <a:avLst/>
          </a:prstGeom>
          <a:noFill/>
        </p:spPr>
        <p:txBody>
          <a:bodyPr wrap="square" rtlCol="0">
            <a:spAutoFit/>
          </a:bodyPr>
          <a:lstStyle/>
          <a:p>
            <a:r>
              <a:rPr lang="en-US" sz="2800" dirty="0" smtClean="0"/>
              <a:t>Rust : </a:t>
            </a:r>
          </a:p>
          <a:p>
            <a:r>
              <a:rPr lang="en-US" sz="2800" dirty="0"/>
              <a:t>	</a:t>
            </a:r>
            <a:r>
              <a:rPr lang="en-US" sz="2800" b="1" dirty="0" smtClean="0"/>
              <a:t>i64</a:t>
            </a:r>
            <a:r>
              <a:rPr lang="en-US" sz="2800" dirty="0" smtClean="0"/>
              <a:t> : </a:t>
            </a:r>
            <a:r>
              <a:rPr lang="en-US" sz="2800" dirty="0"/>
              <a:t>signed integer </a:t>
            </a:r>
            <a:r>
              <a:rPr lang="en-US" sz="2800" dirty="0" smtClean="0"/>
              <a:t> [-</a:t>
            </a:r>
            <a:r>
              <a:rPr lang="en-US" sz="2800" dirty="0"/>
              <a:t>2⁶³ </a:t>
            </a:r>
            <a:r>
              <a:rPr lang="en-US" sz="2800" dirty="0" smtClean="0"/>
              <a:t>… 2</a:t>
            </a:r>
            <a:r>
              <a:rPr lang="en-US" sz="2800" dirty="0"/>
              <a:t>⁶³ - </a:t>
            </a:r>
            <a:r>
              <a:rPr lang="en-US" sz="2800" dirty="0" smtClean="0"/>
              <a:t>1]</a:t>
            </a:r>
          </a:p>
          <a:p>
            <a:r>
              <a:rPr lang="en-US" sz="2800" dirty="0"/>
              <a:t>	</a:t>
            </a:r>
            <a:r>
              <a:rPr lang="en-US" sz="2800" b="1" dirty="0" smtClean="0"/>
              <a:t>u64</a:t>
            </a:r>
            <a:r>
              <a:rPr lang="en-US" sz="2800" dirty="0" smtClean="0"/>
              <a:t> : unsigned integer [0 … </a:t>
            </a:r>
            <a:r>
              <a:rPr lang="en-US" sz="2800" dirty="0"/>
              <a:t>, </a:t>
            </a:r>
            <a:r>
              <a:rPr lang="en-US" sz="2800" dirty="0" smtClean="0"/>
              <a:t> </a:t>
            </a:r>
            <a:r>
              <a:rPr lang="en-US" sz="2800" dirty="0"/>
              <a:t>2⁶⁴ - </a:t>
            </a:r>
            <a:r>
              <a:rPr lang="en-US" sz="2800" dirty="0" smtClean="0"/>
              <a:t>1]</a:t>
            </a:r>
          </a:p>
          <a:p>
            <a:endParaRPr lang="en-US" sz="2800" dirty="0" smtClean="0"/>
          </a:p>
          <a:p>
            <a:r>
              <a:rPr lang="en-US" sz="2800" dirty="0" smtClean="0"/>
              <a:t>C, C++:</a:t>
            </a:r>
          </a:p>
          <a:p>
            <a:r>
              <a:rPr lang="en-US" sz="2800" dirty="0"/>
              <a:t>	</a:t>
            </a:r>
            <a:r>
              <a:rPr lang="en-US" sz="2800" b="1" dirty="0" smtClean="0"/>
              <a:t>long </a:t>
            </a:r>
            <a:r>
              <a:rPr lang="en-US" sz="2800" b="1" dirty="0" err="1" smtClean="0"/>
              <a:t>long</a:t>
            </a:r>
            <a:r>
              <a:rPr lang="en-US" sz="2800" b="1" dirty="0" smtClean="0"/>
              <a:t> </a:t>
            </a:r>
            <a:r>
              <a:rPr lang="en-US" sz="2800" dirty="0"/>
              <a:t>: signed integer  [-2⁶³ … 2⁶³ - 1]</a:t>
            </a:r>
          </a:p>
          <a:p>
            <a:r>
              <a:rPr lang="en-US" sz="2800" dirty="0" smtClean="0"/>
              <a:t>	</a:t>
            </a:r>
            <a:r>
              <a:rPr lang="en-US" sz="2800" b="1" dirty="0" smtClean="0"/>
              <a:t>unsigned long </a:t>
            </a:r>
            <a:r>
              <a:rPr lang="en-US" sz="2800" b="1" dirty="0" err="1" smtClean="0"/>
              <a:t>long</a:t>
            </a:r>
            <a:r>
              <a:rPr lang="en-US" sz="2800" b="1" dirty="0" smtClean="0"/>
              <a:t> </a:t>
            </a:r>
            <a:r>
              <a:rPr lang="en-US" sz="2800" dirty="0" smtClean="0"/>
              <a:t>: unsigned integer </a:t>
            </a:r>
            <a:r>
              <a:rPr lang="en-US" sz="2800" dirty="0"/>
              <a:t>[0 … ,  2⁶⁴ - 1</a:t>
            </a:r>
            <a:r>
              <a:rPr lang="en-US" sz="2800" dirty="0" smtClean="0"/>
              <a:t>]</a:t>
            </a:r>
          </a:p>
          <a:p>
            <a:endParaRPr lang="en-US" sz="2800" dirty="0"/>
          </a:p>
          <a:p>
            <a:r>
              <a:rPr lang="en-US" sz="2800" dirty="0" smtClean="0"/>
              <a:t>Problematic!  These languages existed before 64 bit machines</a:t>
            </a:r>
            <a:endParaRPr lang="en-US" sz="2800" dirty="0"/>
          </a:p>
          <a:p>
            <a:endParaRPr lang="en-US" sz="2800" dirty="0" smtClean="0"/>
          </a:p>
        </p:txBody>
      </p:sp>
    </p:spTree>
    <p:extLst>
      <p:ext uri="{BB962C8B-B14F-4D97-AF65-F5344CB8AC3E}">
        <p14:creationId xmlns:p14="http://schemas.microsoft.com/office/powerpoint/2010/main" val="5265392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Use </a:t>
            </a:r>
            <a:r>
              <a:rPr lang="en-US" sz="4400" b="1" dirty="0">
                <a:solidFill>
                  <a:schemeClr val="lt1"/>
                </a:solidFill>
                <a:latin typeface="Arial"/>
              </a:rPr>
              <a:t>the C, C</a:t>
            </a:r>
            <a:r>
              <a:rPr lang="en-US" sz="4400" b="1" dirty="0" smtClean="0">
                <a:solidFill>
                  <a:schemeClr val="lt1"/>
                </a:solidFill>
                <a:latin typeface="Arial"/>
              </a:rPr>
              <a:t>++</a:t>
            </a:r>
            <a:r>
              <a:rPr lang="en-US" sz="4400" dirty="0" smtClean="0">
                <a:solidFill>
                  <a:srgbClr val="000000"/>
                </a:solidFill>
                <a:latin typeface="Arial"/>
              </a:rPr>
              <a:t> </a:t>
            </a:r>
            <a:r>
              <a:rPr lang="en-US" sz="4400" b="1" dirty="0" smtClean="0">
                <a:solidFill>
                  <a:schemeClr val="lt1"/>
                </a:solidFill>
                <a:latin typeface="Arial"/>
              </a:rPr>
              <a:t>Preprocessor</a:t>
            </a:r>
            <a:endParaRPr lang="en-US" sz="4400" b="0" u="none" strike="noStrike" dirty="0">
              <a:solidFill>
                <a:srgbClr val="000000"/>
              </a:solidFill>
              <a:effectLst/>
              <a:uFillTx/>
              <a:latin typeface="Arial"/>
            </a:endParaRPr>
          </a:p>
        </p:txBody>
      </p:sp>
      <p:sp>
        <p:nvSpPr>
          <p:cNvPr id="3" name="TextBox 2"/>
          <p:cNvSpPr txBox="1"/>
          <p:nvPr/>
        </p:nvSpPr>
        <p:spPr>
          <a:xfrm>
            <a:off x="341915" y="1949942"/>
            <a:ext cx="9325959" cy="4832092"/>
          </a:xfrm>
          <a:prstGeom prst="rect">
            <a:avLst/>
          </a:prstGeom>
          <a:noFill/>
        </p:spPr>
        <p:txBody>
          <a:bodyPr wrap="square" rtlCol="0">
            <a:spAutoFit/>
          </a:bodyPr>
          <a:lstStyle/>
          <a:p>
            <a:r>
              <a:rPr lang="en-US" sz="2800" dirty="0" smtClean="0"/>
              <a:t>The C and C++ languages use a preprocessor before they compile your code</a:t>
            </a:r>
          </a:p>
          <a:p>
            <a:endParaRPr lang="en-US" sz="2800" dirty="0"/>
          </a:p>
          <a:p>
            <a:r>
              <a:rPr lang="en-US" sz="2800" dirty="0" smtClean="0"/>
              <a:t>The preprocessor is sensitive to lines that begin with </a:t>
            </a:r>
            <a:r>
              <a:rPr lang="en-US" sz="2800" b="1" dirty="0" smtClean="0"/>
              <a:t>#</a:t>
            </a:r>
          </a:p>
          <a:p>
            <a:endParaRPr lang="en-US" sz="2800" dirty="0"/>
          </a:p>
          <a:p>
            <a:r>
              <a:rPr lang="en-US" sz="2800" dirty="0" smtClean="0"/>
              <a:t>Lines beginning with </a:t>
            </a:r>
            <a:r>
              <a:rPr lang="en-US" sz="2800" b="1" dirty="0" smtClean="0"/>
              <a:t># </a:t>
            </a:r>
            <a:r>
              <a:rPr lang="en-US" sz="2800" dirty="0" smtClean="0"/>
              <a:t>are preprocessor directives</a:t>
            </a:r>
            <a:endParaRPr lang="en-US" sz="2800" dirty="0"/>
          </a:p>
          <a:p>
            <a:endParaRPr lang="en-US" sz="2800" dirty="0" smtClean="0"/>
          </a:p>
          <a:p>
            <a:r>
              <a:rPr lang="en-US" sz="2800" dirty="0" smtClean="0"/>
              <a:t>Meta language that controls how things are presented to the real compiler</a:t>
            </a:r>
          </a:p>
          <a:p>
            <a:endParaRPr lang="en-US" sz="2800" dirty="0"/>
          </a:p>
          <a:p>
            <a:r>
              <a:rPr lang="en-US" sz="2800" dirty="0" smtClean="0"/>
              <a:t>Allows text to be substituted, deleted, and included</a:t>
            </a:r>
          </a:p>
        </p:txBody>
      </p:sp>
    </p:spTree>
    <p:extLst>
      <p:ext uri="{BB962C8B-B14F-4D97-AF65-F5344CB8AC3E}">
        <p14:creationId xmlns:p14="http://schemas.microsoft.com/office/powerpoint/2010/main" val="26388572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Use </a:t>
            </a:r>
            <a:r>
              <a:rPr lang="en-US" sz="4400" b="1" dirty="0">
                <a:solidFill>
                  <a:schemeClr val="lt1"/>
                </a:solidFill>
                <a:latin typeface="Arial"/>
              </a:rPr>
              <a:t>the C, C</a:t>
            </a:r>
            <a:r>
              <a:rPr lang="en-US" sz="4400" b="1" dirty="0" smtClean="0">
                <a:solidFill>
                  <a:schemeClr val="lt1"/>
                </a:solidFill>
                <a:latin typeface="Arial"/>
              </a:rPr>
              <a:t>++</a:t>
            </a:r>
            <a:r>
              <a:rPr lang="en-US" sz="4400" dirty="0" smtClean="0">
                <a:solidFill>
                  <a:srgbClr val="000000"/>
                </a:solidFill>
                <a:latin typeface="Arial"/>
              </a:rPr>
              <a:t> </a:t>
            </a:r>
            <a:r>
              <a:rPr lang="en-US" sz="4400" b="1" dirty="0" smtClean="0">
                <a:solidFill>
                  <a:schemeClr val="lt1"/>
                </a:solidFill>
                <a:latin typeface="Arial"/>
              </a:rPr>
              <a:t>Preprocessor</a:t>
            </a:r>
            <a:endParaRPr lang="en-US" sz="4400" b="0" u="none" strike="noStrike" dirty="0">
              <a:solidFill>
                <a:srgbClr val="000000"/>
              </a:solidFill>
              <a:effectLst/>
              <a:uFillTx/>
              <a:latin typeface="Arial"/>
            </a:endParaRPr>
          </a:p>
        </p:txBody>
      </p:sp>
      <p:sp>
        <p:nvSpPr>
          <p:cNvPr id="3" name="TextBox 2"/>
          <p:cNvSpPr txBox="1"/>
          <p:nvPr/>
        </p:nvSpPr>
        <p:spPr>
          <a:xfrm>
            <a:off x="365860" y="2732038"/>
            <a:ext cx="9325959" cy="2677656"/>
          </a:xfrm>
          <a:prstGeom prst="rect">
            <a:avLst/>
          </a:prstGeom>
          <a:noFill/>
        </p:spPr>
        <p:txBody>
          <a:bodyPr wrap="square" rtlCol="0">
            <a:spAutoFit/>
          </a:bodyPr>
          <a:lstStyle/>
          <a:p>
            <a:r>
              <a:rPr lang="en-US" sz="2800" dirty="0" smtClean="0"/>
              <a:t>The preprocessor allows different code to be compiled based on computer model differences</a:t>
            </a:r>
          </a:p>
          <a:p>
            <a:endParaRPr lang="en-US" sz="2800" dirty="0"/>
          </a:p>
          <a:p>
            <a:r>
              <a:rPr lang="en-US" sz="2800" dirty="0" smtClean="0"/>
              <a:t>The preprocessor allows macro and variable definitions</a:t>
            </a:r>
            <a:endParaRPr lang="en-US" sz="2800" b="1" dirty="0" smtClean="0"/>
          </a:p>
          <a:p>
            <a:endParaRPr lang="en-US" sz="2800" dirty="0"/>
          </a:p>
          <a:p>
            <a:endParaRPr lang="en-US" sz="2800" dirty="0" smtClean="0"/>
          </a:p>
        </p:txBody>
      </p:sp>
    </p:spTree>
    <p:extLst>
      <p:ext uri="{BB962C8B-B14F-4D97-AF65-F5344CB8AC3E}">
        <p14:creationId xmlns:p14="http://schemas.microsoft.com/office/powerpoint/2010/main" val="9653080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Preprocessor Directives</a:t>
            </a:r>
            <a:endParaRPr lang="en-US" sz="4400" b="0" u="none" strike="noStrike" dirty="0">
              <a:solidFill>
                <a:srgbClr val="000000"/>
              </a:solidFill>
              <a:effectLst/>
              <a:uFillTx/>
              <a:latin typeface="Arial"/>
            </a:endParaRPr>
          </a:p>
        </p:txBody>
      </p:sp>
      <p:sp>
        <p:nvSpPr>
          <p:cNvPr id="3" name="TextBox 2"/>
          <p:cNvSpPr txBox="1"/>
          <p:nvPr/>
        </p:nvSpPr>
        <p:spPr>
          <a:xfrm>
            <a:off x="365860" y="2132270"/>
            <a:ext cx="9325959" cy="3908762"/>
          </a:xfrm>
          <a:prstGeom prst="rect">
            <a:avLst/>
          </a:prstGeom>
          <a:noFill/>
        </p:spPr>
        <p:txBody>
          <a:bodyPr wrap="square" rtlCol="0">
            <a:spAutoFit/>
          </a:bodyPr>
          <a:lstStyle/>
          <a:p>
            <a:r>
              <a:rPr lang="en-US" sz="3200" dirty="0" smtClean="0"/>
              <a:t>The preprocessor has the following directive categories</a:t>
            </a:r>
          </a:p>
          <a:p>
            <a:r>
              <a:rPr lang="en-US" sz="3200" dirty="0" smtClean="0"/>
              <a:t>	Macro Substitution</a:t>
            </a:r>
          </a:p>
          <a:p>
            <a:r>
              <a:rPr lang="en-US" sz="3200" dirty="0" smtClean="0"/>
              <a:t>	File Inclusion</a:t>
            </a:r>
          </a:p>
          <a:p>
            <a:r>
              <a:rPr lang="en-US" sz="3200" dirty="0" smtClean="0"/>
              <a:t>	Conditional Compilation</a:t>
            </a:r>
          </a:p>
          <a:p>
            <a:r>
              <a:rPr lang="en-US" sz="3200" dirty="0" smtClean="0"/>
              <a:t>	Error </a:t>
            </a:r>
            <a:r>
              <a:rPr lang="en-US" sz="3200" dirty="0"/>
              <a:t>Handling &amp; </a:t>
            </a:r>
            <a:r>
              <a:rPr lang="en-US" sz="3200" dirty="0" smtClean="0"/>
              <a:t>Diagnostics</a:t>
            </a:r>
          </a:p>
          <a:p>
            <a:r>
              <a:rPr lang="en-US" sz="3200" dirty="0" smtClean="0"/>
              <a:t>	Miscellaneous </a:t>
            </a:r>
            <a:r>
              <a:rPr lang="en-US" sz="3200" dirty="0"/>
              <a:t>Directives</a:t>
            </a:r>
            <a:endParaRPr lang="en-US" sz="3200" dirty="0" smtClean="0"/>
          </a:p>
          <a:p>
            <a:endParaRPr lang="en-US" sz="2800" dirty="0"/>
          </a:p>
          <a:p>
            <a:endParaRPr lang="en-US" sz="2800" dirty="0" smtClean="0"/>
          </a:p>
        </p:txBody>
      </p:sp>
    </p:spTree>
    <p:extLst>
      <p:ext uri="{BB962C8B-B14F-4D97-AF65-F5344CB8AC3E}">
        <p14:creationId xmlns:p14="http://schemas.microsoft.com/office/powerpoint/2010/main" val="346976420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Macro Substitution Directives</a:t>
            </a:r>
            <a:endParaRPr lang="en-US" sz="4400" b="0" u="none" strike="noStrike" dirty="0">
              <a:solidFill>
                <a:srgbClr val="000000"/>
              </a:solidFill>
              <a:effectLst/>
              <a:uFillTx/>
              <a:latin typeface="Arial"/>
            </a:endParaRPr>
          </a:p>
        </p:txBody>
      </p:sp>
      <p:sp>
        <p:nvSpPr>
          <p:cNvPr id="3" name="TextBox 2"/>
          <p:cNvSpPr txBox="1"/>
          <p:nvPr/>
        </p:nvSpPr>
        <p:spPr>
          <a:xfrm>
            <a:off x="502920" y="1789063"/>
            <a:ext cx="9437493" cy="4832092"/>
          </a:xfrm>
          <a:prstGeom prst="rect">
            <a:avLst/>
          </a:prstGeom>
          <a:noFill/>
        </p:spPr>
        <p:txBody>
          <a:bodyPr wrap="square" rtlCol="0">
            <a:spAutoFit/>
          </a:bodyPr>
          <a:lstStyle/>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smtClean="0">
                <a:latin typeface="Cambria" panose="02040503050406030204" pitchFamily="18" charset="0"/>
                <a:ea typeface="Cambria" panose="02040503050406030204" pitchFamily="18" charset="0"/>
                <a:cs typeface="Courier New" panose="02070309020205020404" pitchFamily="49" charset="0"/>
              </a:rPr>
              <a:t>define </a:t>
            </a:r>
            <a:r>
              <a:rPr lang="en-US" sz="2800" dirty="0" smtClean="0">
                <a:latin typeface="Courier New" panose="02070309020205020404" pitchFamily="49" charset="0"/>
                <a:ea typeface="Cambria" panose="02040503050406030204" pitchFamily="18" charset="0"/>
                <a:cs typeface="Courier New" panose="02070309020205020404" pitchFamily="49" charset="0"/>
              </a:rPr>
              <a:t>&lt;</a:t>
            </a:r>
            <a:r>
              <a:rPr lang="en-US" sz="2800" dirty="0" err="1" smtClean="0">
                <a:latin typeface="Courier New" panose="02070309020205020404" pitchFamily="49" charset="0"/>
                <a:ea typeface="Cambria" panose="02040503050406030204" pitchFamily="18" charset="0"/>
                <a:cs typeface="Courier New" panose="02070309020205020404" pitchFamily="49" charset="0"/>
              </a:rPr>
              <a:t>macro_symbol</a:t>
            </a:r>
            <a:r>
              <a:rPr lang="en-US" sz="2800" dirty="0" smtClean="0">
                <a:latin typeface="Courier New" panose="02070309020205020404" pitchFamily="49" charset="0"/>
                <a:ea typeface="Cambria" panose="02040503050406030204" pitchFamily="18" charset="0"/>
                <a:cs typeface="Courier New" panose="02070309020205020404" pitchFamily="49" charset="0"/>
              </a:rPr>
              <a:t>[s]&gt; &lt;</a:t>
            </a:r>
            <a:r>
              <a:rPr lang="en-US" sz="2800" dirty="0" err="1" smtClean="0">
                <a:latin typeface="Courier New" panose="02070309020205020404" pitchFamily="49" charset="0"/>
                <a:ea typeface="Cambria" panose="02040503050406030204" pitchFamily="18" charset="0"/>
                <a:cs typeface="Courier New" panose="02070309020205020404" pitchFamily="49" charset="0"/>
              </a:rPr>
              <a:t>macro_definition</a:t>
            </a:r>
            <a:r>
              <a:rPr lang="en-US" sz="2800" dirty="0" smtClean="0">
                <a:latin typeface="Courier New" panose="02070309020205020404" pitchFamily="49" charset="0"/>
                <a:ea typeface="Cambria" panose="02040503050406030204" pitchFamily="18" charset="0"/>
                <a:cs typeface="Courier New" panose="02070309020205020404" pitchFamily="49" charset="0"/>
              </a:rPr>
              <a:t>&gt;  </a:t>
            </a:r>
          </a:p>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Creates </a:t>
            </a:r>
            <a:r>
              <a:rPr lang="en-US" sz="2800" dirty="0">
                <a:latin typeface="Cambria" panose="02040503050406030204" pitchFamily="18" charset="0"/>
                <a:ea typeface="Cambria" panose="02040503050406030204" pitchFamily="18" charset="0"/>
              </a:rPr>
              <a:t>a </a:t>
            </a:r>
            <a:r>
              <a:rPr lang="en-US" sz="2800" dirty="0" smtClean="0">
                <a:latin typeface="Cambria" panose="02040503050406030204" pitchFamily="18" charset="0"/>
                <a:ea typeface="Cambria" panose="02040503050406030204" pitchFamily="18" charset="0"/>
              </a:rPr>
              <a:t>macro</a:t>
            </a: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	Symbolic </a:t>
            </a:r>
            <a:r>
              <a:rPr lang="en-US" sz="2800" dirty="0">
                <a:latin typeface="Cambria" panose="02040503050406030204" pitchFamily="18" charset="0"/>
                <a:ea typeface="Cambria" panose="02040503050406030204" pitchFamily="18" charset="0"/>
              </a:rPr>
              <a:t>constant or a function-like </a:t>
            </a:r>
            <a:r>
              <a:rPr lang="en-US" sz="2800" dirty="0" smtClean="0">
                <a:latin typeface="Cambria" panose="02040503050406030204" pitchFamily="18" charset="0"/>
                <a:ea typeface="Cambria" panose="02040503050406030204" pitchFamily="18" charset="0"/>
              </a:rPr>
              <a:t>block</a:t>
            </a:r>
          </a:p>
          <a:p>
            <a:pPr marL="855663" lvl="0" indent="-855663" eaLnBrk="0" fontAlgn="base" hangingPunct="0">
              <a:spcBef>
                <a:spcPct val="0"/>
              </a:spcBef>
              <a:spcAft>
                <a:spcPct val="0"/>
              </a:spcAft>
            </a:pPr>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The </a:t>
            </a:r>
            <a:r>
              <a:rPr lang="en-US" sz="2800" dirty="0">
                <a:latin typeface="Cambria" panose="02040503050406030204" pitchFamily="18" charset="0"/>
                <a:ea typeface="Cambria" panose="02040503050406030204" pitchFamily="18" charset="0"/>
              </a:rPr>
              <a:t>preprocessor replaces every occurrence of the macro name with the defined </a:t>
            </a:r>
            <a:r>
              <a:rPr lang="en-US" sz="2800" dirty="0" smtClean="0">
                <a:latin typeface="Cambria" panose="02040503050406030204" pitchFamily="18" charset="0"/>
                <a:ea typeface="Cambria" panose="02040503050406030204" pitchFamily="18" charset="0"/>
              </a:rPr>
              <a:t>text </a:t>
            </a: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Example: (written text code)</a:t>
            </a: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#define int64_t   long </a:t>
            </a:r>
            <a:r>
              <a:rPr lang="en-US" sz="2800" dirty="0" err="1" smtClean="0">
                <a:latin typeface="Cambria" panose="02040503050406030204" pitchFamily="18" charset="0"/>
                <a:ea typeface="Cambria" panose="02040503050406030204" pitchFamily="18" charset="0"/>
              </a:rPr>
              <a:t>long</a:t>
            </a:r>
            <a:endParaRPr lang="en-US" sz="2800" dirty="0" smtClean="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int64_t </a:t>
            </a:r>
            <a:r>
              <a:rPr lang="en-US" sz="2800" dirty="0" err="1" smtClean="0">
                <a:latin typeface="Cambria" panose="02040503050406030204" pitchFamily="18" charset="0"/>
                <a:ea typeface="Cambria" panose="02040503050406030204" pitchFamily="18" charset="0"/>
              </a:rPr>
              <a:t>my_variable</a:t>
            </a:r>
            <a:r>
              <a:rPr lang="en-US" sz="2800" dirty="0" smtClean="0">
                <a:latin typeface="Cambria" panose="02040503050406030204" pitchFamily="18" charset="0"/>
                <a:ea typeface="Cambria" panose="02040503050406030204" pitchFamily="18" charset="0"/>
              </a:rPr>
              <a:t> ;</a:t>
            </a: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473448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Macro Substitution Directives</a:t>
            </a:r>
            <a:endParaRPr lang="en-US" sz="4400" b="0" u="none" strike="noStrike" dirty="0">
              <a:solidFill>
                <a:srgbClr val="000000"/>
              </a:solidFill>
              <a:effectLst/>
              <a:uFillTx/>
              <a:latin typeface="Arial"/>
            </a:endParaRPr>
          </a:p>
        </p:txBody>
      </p:sp>
      <p:sp>
        <p:nvSpPr>
          <p:cNvPr id="3" name="TextBox 2"/>
          <p:cNvSpPr txBox="1"/>
          <p:nvPr/>
        </p:nvSpPr>
        <p:spPr>
          <a:xfrm>
            <a:off x="994534" y="2005374"/>
            <a:ext cx="7038422" cy="2554545"/>
          </a:xfrm>
          <a:prstGeom prst="rect">
            <a:avLst/>
          </a:prstGeom>
          <a:noFill/>
        </p:spPr>
        <p:txBody>
          <a:bodyPr wrap="square" rtlCol="0">
            <a:spAutoFit/>
          </a:bodyPr>
          <a:lstStyle/>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4400" dirty="0" smtClean="0">
                <a:latin typeface="Cambria" panose="02040503050406030204" pitchFamily="18" charset="0"/>
                <a:ea typeface="Cambria" panose="02040503050406030204" pitchFamily="18" charset="0"/>
              </a:rPr>
              <a:t>Example: (compiler sees)</a:t>
            </a:r>
          </a:p>
          <a:p>
            <a:pPr marL="855663" lvl="0" indent="-855663" eaLnBrk="0" fontAlgn="base" hangingPunct="0">
              <a:spcBef>
                <a:spcPct val="0"/>
              </a:spcBef>
              <a:spcAft>
                <a:spcPct val="0"/>
              </a:spcAft>
            </a:pPr>
            <a:endParaRPr lang="en-US" sz="44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4400" dirty="0">
                <a:latin typeface="Cambria" panose="02040503050406030204" pitchFamily="18" charset="0"/>
                <a:ea typeface="Cambria" panose="02040503050406030204" pitchFamily="18" charset="0"/>
              </a:rPr>
              <a:t>l</a:t>
            </a:r>
            <a:r>
              <a:rPr lang="en-US" sz="4400" dirty="0" smtClean="0">
                <a:latin typeface="Cambria" panose="02040503050406030204" pitchFamily="18" charset="0"/>
                <a:ea typeface="Cambria" panose="02040503050406030204" pitchFamily="18" charset="0"/>
              </a:rPr>
              <a:t>ong long </a:t>
            </a:r>
            <a:r>
              <a:rPr lang="en-US" sz="4400" dirty="0" err="1" smtClean="0">
                <a:latin typeface="Cambria" panose="02040503050406030204" pitchFamily="18" charset="0"/>
                <a:ea typeface="Cambria" panose="02040503050406030204" pitchFamily="18" charset="0"/>
              </a:rPr>
              <a:t>my_variable</a:t>
            </a:r>
            <a:r>
              <a:rPr lang="en-US" sz="4400" dirty="0" smtClean="0">
                <a:latin typeface="Cambria" panose="02040503050406030204" pitchFamily="18" charset="0"/>
                <a:ea typeface="Cambria" panose="02040503050406030204" pitchFamily="18" charset="0"/>
              </a:rPr>
              <a:t> ;</a:t>
            </a:r>
            <a:endParaRPr lang="en-US" sz="44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997368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Macro Substitution Directives</a:t>
            </a:r>
            <a:endParaRPr lang="en-US" sz="4400" b="0" u="none" strike="noStrike" dirty="0">
              <a:solidFill>
                <a:srgbClr val="000000"/>
              </a:solidFill>
              <a:effectLst/>
              <a:uFillTx/>
              <a:latin typeface="Arial"/>
            </a:endParaRPr>
          </a:p>
        </p:txBody>
      </p:sp>
      <p:sp>
        <p:nvSpPr>
          <p:cNvPr id="3" name="TextBox 2"/>
          <p:cNvSpPr txBox="1"/>
          <p:nvPr/>
        </p:nvSpPr>
        <p:spPr>
          <a:xfrm>
            <a:off x="691209" y="1966045"/>
            <a:ext cx="7038422" cy="5693866"/>
          </a:xfrm>
          <a:prstGeom prst="rect">
            <a:avLst/>
          </a:prstGeom>
          <a:noFill/>
        </p:spPr>
        <p:txBody>
          <a:bodyPr wrap="square" rtlCol="0">
            <a:spAutoFit/>
          </a:bodyPr>
          <a:lstStyle/>
          <a:p>
            <a:pPr marL="855663" indent="-855663"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undef</a:t>
            </a:r>
            <a:r>
              <a:rPr lang="en-US" sz="2800" b="1" dirty="0" smtClean="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cs typeface="Courier New" panose="02070309020205020404" pitchFamily="49" charset="0"/>
              </a:rPr>
              <a:t>&lt;</a:t>
            </a:r>
            <a:r>
              <a:rPr lang="en-US" sz="2800" dirty="0" err="1" smtClean="0">
                <a:latin typeface="Cambria" panose="02040503050406030204" pitchFamily="18" charset="0"/>
                <a:ea typeface="Cambria" panose="02040503050406030204" pitchFamily="18" charset="0"/>
                <a:cs typeface="Courier New" panose="02070309020205020404" pitchFamily="49" charset="0"/>
              </a:rPr>
              <a:t>macro_symbol</a:t>
            </a:r>
            <a:r>
              <a:rPr lang="en-US" sz="2800" dirty="0" smtClean="0">
                <a:latin typeface="Cambria" panose="02040503050406030204" pitchFamily="18" charset="0"/>
                <a:ea typeface="Cambria" panose="02040503050406030204" pitchFamily="18" charset="0"/>
                <a:cs typeface="Courier New" panose="02070309020205020404" pitchFamily="49" charset="0"/>
              </a:rPr>
              <a:t>&gt; </a:t>
            </a:r>
          </a:p>
          <a:p>
            <a:pPr marL="855663" indent="-855663" eaLnBrk="0" fontAlgn="base" hangingPunct="0">
              <a:spcBef>
                <a:spcPct val="0"/>
              </a:spcBef>
              <a:spcAft>
                <a:spcPct val="0"/>
              </a:spcAft>
            </a:pPr>
            <a:r>
              <a:rPr lang="en-US" sz="2800" dirty="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rPr>
              <a:t>Cancels </a:t>
            </a:r>
            <a:r>
              <a:rPr lang="en-US" sz="2800" dirty="0">
                <a:latin typeface="Cambria" panose="02040503050406030204" pitchFamily="18" charset="0"/>
                <a:ea typeface="Cambria" panose="02040503050406030204" pitchFamily="18" charset="0"/>
              </a:rPr>
              <a:t>a previously defined </a:t>
            </a:r>
            <a:r>
              <a:rPr lang="en-US" sz="2800" dirty="0" smtClean="0">
                <a:latin typeface="Cambria" panose="02040503050406030204" pitchFamily="18" charset="0"/>
                <a:ea typeface="Cambria" panose="02040503050406030204" pitchFamily="18" charset="0"/>
              </a:rPr>
              <a:t>macro Stops replacement</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Example:</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a:t>
            </a:r>
            <a:r>
              <a:rPr lang="en-US" sz="2800" b="1" dirty="0" err="1" smtClean="0">
                <a:latin typeface="Cambria" panose="02040503050406030204" pitchFamily="18" charset="0"/>
                <a:ea typeface="Cambria" panose="02040503050406030204" pitchFamily="18" charset="0"/>
              </a:rPr>
              <a:t>undef</a:t>
            </a: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int64_t</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After this statement, there is no further substitution</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4941063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File Inclusion Directives</a:t>
            </a:r>
            <a:endParaRPr lang="en-US" sz="4400" b="0" u="none" strike="noStrike" dirty="0">
              <a:solidFill>
                <a:srgbClr val="000000"/>
              </a:solidFill>
              <a:effectLst/>
              <a:uFillTx/>
              <a:latin typeface="Arial"/>
            </a:endParaRPr>
          </a:p>
        </p:txBody>
      </p:sp>
      <p:sp>
        <p:nvSpPr>
          <p:cNvPr id="3" name="TextBox 2"/>
          <p:cNvSpPr txBox="1"/>
          <p:nvPr/>
        </p:nvSpPr>
        <p:spPr>
          <a:xfrm>
            <a:off x="691208" y="1966045"/>
            <a:ext cx="9367191" cy="6124754"/>
          </a:xfrm>
          <a:prstGeom prst="rect">
            <a:avLst/>
          </a:prstGeom>
          <a:noFill/>
        </p:spPr>
        <p:txBody>
          <a:bodyPr wrap="square" rtlCol="0">
            <a:spAutoFit/>
          </a:bodyPr>
          <a:lstStyle/>
          <a:p>
            <a:pPr marL="855663" indent="-855663" eaLnBrk="0" fontAlgn="base" hangingPunct="0">
              <a:spcBef>
                <a:spcPct val="0"/>
              </a:spcBef>
              <a:spcAft>
                <a:spcPct val="0"/>
              </a:spcAft>
            </a:pPr>
            <a:r>
              <a:rPr lang="en-US" sz="2800" b="1" dirty="0" smtClean="0"/>
              <a:t>#include </a:t>
            </a:r>
            <a:r>
              <a:rPr lang="en-US" sz="2800" dirty="0" smtClean="0"/>
              <a:t>“filename”</a:t>
            </a:r>
          </a:p>
          <a:p>
            <a:pPr marL="855663" indent="-855663" eaLnBrk="0" fontAlgn="base" hangingPunct="0">
              <a:spcBef>
                <a:spcPct val="0"/>
              </a:spcBef>
              <a:spcAft>
                <a:spcPct val="0"/>
              </a:spcAft>
            </a:pPr>
            <a:r>
              <a:rPr lang="en-US" sz="2800" b="1" dirty="0"/>
              <a:t>#include </a:t>
            </a:r>
            <a:r>
              <a:rPr lang="en-US" sz="2800" dirty="0" smtClean="0"/>
              <a:t>&lt;filename</a:t>
            </a:r>
            <a:r>
              <a:rPr lang="en-US" sz="2800" dirty="0"/>
              <a:t>&gt;</a:t>
            </a:r>
          </a:p>
          <a:p>
            <a:pPr marL="855663" indent="-855663" eaLnBrk="0" fontAlgn="base" hangingPunct="0">
              <a:spcBef>
                <a:spcPct val="0"/>
              </a:spcBef>
              <a:spcAft>
                <a:spcPct val="0"/>
              </a:spcAft>
            </a:pPr>
            <a:r>
              <a:rPr lang="en-US" sz="2800" dirty="0"/>
              <a:t>	</a:t>
            </a:r>
            <a:r>
              <a:rPr lang="en-US" sz="2800" dirty="0" smtClean="0"/>
              <a:t>Includes </a:t>
            </a:r>
            <a:r>
              <a:rPr lang="en-US" sz="2800" dirty="0"/>
              <a:t>the contents of a </a:t>
            </a:r>
            <a:r>
              <a:rPr lang="en-US" sz="2800" dirty="0" smtClean="0"/>
              <a:t>file</a:t>
            </a:r>
          </a:p>
          <a:p>
            <a:pPr marL="855663" indent="-855663" eaLnBrk="0" fontAlgn="base" hangingPunct="0">
              <a:spcBef>
                <a:spcPct val="0"/>
              </a:spcBef>
              <a:spcAft>
                <a:spcPct val="0"/>
              </a:spcAft>
            </a:pPr>
            <a:r>
              <a:rPr lang="en-US" sz="2800" dirty="0"/>
              <a:t>	</a:t>
            </a:r>
            <a:r>
              <a:rPr lang="en-US" sz="2800" dirty="0" smtClean="0"/>
              <a:t>First form searches current directory</a:t>
            </a:r>
          </a:p>
          <a:p>
            <a:pPr marL="855663" indent="-855663" eaLnBrk="0" fontAlgn="base" hangingPunct="0">
              <a:spcBef>
                <a:spcPct val="0"/>
              </a:spcBef>
              <a:spcAft>
                <a:spcPct val="0"/>
              </a:spcAft>
            </a:pPr>
            <a:r>
              <a:rPr lang="en-US" sz="2800" dirty="0"/>
              <a:t>	</a:t>
            </a:r>
            <a:r>
              <a:rPr lang="en-US" sz="2800" dirty="0" smtClean="0"/>
              <a:t>Second form searches a list of directories specified on command line as well as a default set of directories</a:t>
            </a: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Example:</a:t>
            </a: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#include &lt;</a:t>
            </a:r>
            <a:r>
              <a:rPr lang="en-US" sz="2800" b="1" dirty="0" err="1" smtClean="0">
                <a:latin typeface="Cambria" panose="02040503050406030204" pitchFamily="18" charset="0"/>
                <a:ea typeface="Cambria" panose="02040503050406030204" pitchFamily="18" charset="0"/>
              </a:rPr>
              <a:t>stdio.h</a:t>
            </a:r>
            <a:r>
              <a:rPr lang="en-US" sz="2800" b="1" dirty="0" smtClean="0">
                <a:latin typeface="Cambria" panose="02040503050406030204" pitchFamily="18" charset="0"/>
                <a:ea typeface="Cambria" panose="02040503050406030204" pitchFamily="18" charset="0"/>
              </a:rPr>
              <a:t>&gt;</a:t>
            </a:r>
            <a:endParaRPr lang="en-US" sz="2800" dirty="0" smtClean="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Search in all default directories for a file called </a:t>
            </a:r>
            <a:r>
              <a:rPr lang="en-US" sz="2800" dirty="0" err="1" smtClean="0">
                <a:latin typeface="Cambria" panose="02040503050406030204" pitchFamily="18" charset="0"/>
                <a:ea typeface="Cambria" panose="02040503050406030204" pitchFamily="18" charset="0"/>
              </a:rPr>
              <a:t>stdio.h</a:t>
            </a:r>
            <a:r>
              <a:rPr lang="en-US" sz="2800" dirty="0" smtClean="0">
                <a:latin typeface="Cambria" panose="02040503050406030204" pitchFamily="18" charset="0"/>
                <a:ea typeface="Cambria" panose="02040503050406030204" pitchFamily="18" charset="0"/>
              </a:rPr>
              <a:t> and include it</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0497032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Conditional Compile Directives</a:t>
            </a:r>
            <a:endParaRPr lang="en-US" sz="4400" b="0" u="none" strike="noStrike" dirty="0">
              <a:solidFill>
                <a:srgbClr val="000000"/>
              </a:solidFill>
              <a:effectLst/>
              <a:uFillTx/>
              <a:latin typeface="Arial"/>
            </a:endParaRPr>
          </a:p>
        </p:txBody>
      </p:sp>
      <p:sp>
        <p:nvSpPr>
          <p:cNvPr id="3" name="TextBox 2"/>
          <p:cNvSpPr txBox="1"/>
          <p:nvPr/>
        </p:nvSpPr>
        <p:spPr>
          <a:xfrm>
            <a:off x="502920" y="1710406"/>
            <a:ext cx="9367191" cy="6924973"/>
          </a:xfrm>
          <a:prstGeom prst="rect">
            <a:avLst/>
          </a:prstGeom>
          <a:noFill/>
        </p:spPr>
        <p:txBody>
          <a:bodyPr wrap="square" rtlCol="0">
            <a:spAutoFit/>
          </a:bodyPr>
          <a:lstStyle/>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#if </a:t>
            </a:r>
            <a:r>
              <a:rPr lang="en-US" sz="2800" dirty="0" smtClean="0">
                <a:latin typeface="Cambria" panose="02040503050406030204" pitchFamily="18" charset="0"/>
                <a:ea typeface="Cambria" panose="02040503050406030204" pitchFamily="18" charset="0"/>
                <a:cs typeface="Courier New" panose="02070309020205020404" pitchFamily="49" charset="0"/>
              </a:rPr>
              <a:t>&lt;</a:t>
            </a:r>
            <a:r>
              <a:rPr lang="en-US" sz="2800" dirty="0" err="1" smtClean="0">
                <a:latin typeface="Cambria" panose="02040503050406030204" pitchFamily="18" charset="0"/>
                <a:ea typeface="Cambria" panose="02040503050406030204" pitchFamily="18" charset="0"/>
                <a:cs typeface="Courier New" panose="02070309020205020404" pitchFamily="49" charset="0"/>
              </a:rPr>
              <a:t>condition_statement</a:t>
            </a:r>
            <a:r>
              <a:rPr lang="en-US" sz="2800" dirty="0" smtClean="0">
                <a:latin typeface="Cambria" panose="02040503050406030204" pitchFamily="18" charset="0"/>
                <a:ea typeface="Cambria" panose="02040503050406030204" pitchFamily="18" charset="0"/>
                <a:cs typeface="Courier New" panose="02070309020205020404" pitchFamily="49"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Checks </a:t>
            </a:r>
            <a:r>
              <a:rPr lang="en-US" sz="2000" dirty="0">
                <a:latin typeface="Cambria" panose="02040503050406030204" pitchFamily="18" charset="0"/>
                <a:ea typeface="Cambria" panose="02040503050406030204" pitchFamily="18" charset="0"/>
              </a:rPr>
              <a:t>a condition; compiles the following block if the condition evaluates to true</a:t>
            </a:r>
            <a:r>
              <a:rPr lang="en-US" sz="2800" dirty="0">
                <a:latin typeface="Cambria" panose="02040503050406030204" pitchFamily="18" charset="0"/>
                <a:ea typeface="Cambria" panose="02040503050406030204" pitchFamily="18" charset="0"/>
              </a:rPr>
              <a:t>.</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elif</a:t>
            </a:r>
            <a:r>
              <a:rPr lang="en-US" sz="2800" b="1" dirty="0" smtClean="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cs typeface="Courier New" panose="02070309020205020404" pitchFamily="49" charset="0"/>
              </a:rPr>
              <a:t>&lt;</a:t>
            </a:r>
            <a:r>
              <a:rPr lang="en-US" sz="2800" dirty="0" err="1" smtClean="0">
                <a:latin typeface="Cambria" panose="02040503050406030204" pitchFamily="18" charset="0"/>
                <a:ea typeface="Cambria" panose="02040503050406030204" pitchFamily="18" charset="0"/>
                <a:cs typeface="Courier New" panose="02070309020205020404" pitchFamily="49" charset="0"/>
              </a:rPr>
              <a:t>condition_statement</a:t>
            </a:r>
            <a:r>
              <a:rPr lang="en-US" sz="2800" dirty="0" smtClean="0">
                <a:latin typeface="Cambria" panose="02040503050406030204" pitchFamily="18" charset="0"/>
                <a:ea typeface="Cambria" panose="02040503050406030204" pitchFamily="18" charset="0"/>
                <a:cs typeface="Courier New" panose="02070309020205020404" pitchFamily="49"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Acts </a:t>
            </a:r>
            <a:r>
              <a:rPr lang="en-US" sz="2000" dirty="0">
                <a:latin typeface="Cambria" panose="02040503050406030204" pitchFamily="18" charset="0"/>
                <a:ea typeface="Cambria" panose="02040503050406030204" pitchFamily="18" charset="0"/>
              </a:rPr>
              <a:t>as "else if" to check an alternate condition if the previous </a:t>
            </a:r>
            <a:r>
              <a:rPr lang="en-US" sz="2000" dirty="0">
                <a:latin typeface="Cambria" panose="02040503050406030204" pitchFamily="18" charset="0"/>
                <a:ea typeface="Cambria" panose="02040503050406030204" pitchFamily="18" charset="0"/>
                <a:cs typeface="Courier New" panose="02070309020205020404" pitchFamily="49" charset="0"/>
              </a:rPr>
              <a:t>#if</a:t>
            </a:r>
            <a:r>
              <a:rPr lang="en-US" sz="2000" dirty="0">
                <a:latin typeface="Cambria" panose="02040503050406030204" pitchFamily="18" charset="0"/>
                <a:ea typeface="Cambria" panose="02040503050406030204" pitchFamily="18" charset="0"/>
              </a:rPr>
              <a:t> failed.</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smtClean="0">
                <a:latin typeface="Cambria" panose="02040503050406030204" pitchFamily="18" charset="0"/>
                <a:ea typeface="Cambria" panose="02040503050406030204" pitchFamily="18" charset="0"/>
                <a:cs typeface="Courier New" panose="02070309020205020404" pitchFamily="49" charset="0"/>
              </a:rPr>
              <a:t>else</a:t>
            </a:r>
            <a:r>
              <a:rPr lang="en-US" sz="2800" b="1"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&lt;</a:t>
            </a:r>
            <a:r>
              <a:rPr lang="en-US" sz="2800" dirty="0" err="1" smtClean="0">
                <a:latin typeface="Cambria" panose="02040503050406030204" pitchFamily="18" charset="0"/>
                <a:ea typeface="Cambria" panose="02040503050406030204" pitchFamily="18" charset="0"/>
              </a:rPr>
              <a:t>condition_statement</a:t>
            </a:r>
            <a:r>
              <a:rPr lang="en-US" sz="2800" dirty="0" smtClean="0">
                <a:latin typeface="Cambria" panose="02040503050406030204" pitchFamily="18" charset="0"/>
                <a:ea typeface="Cambria" panose="02040503050406030204" pitchFamily="18"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Provides </a:t>
            </a:r>
            <a:r>
              <a:rPr lang="en-US" sz="2000" dirty="0">
                <a:latin typeface="Cambria" panose="02040503050406030204" pitchFamily="18" charset="0"/>
                <a:ea typeface="Cambria" panose="02040503050406030204" pitchFamily="18" charset="0"/>
              </a:rPr>
              <a:t>a fallback block that compiles if all preceding conditions fail.</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endif</a:t>
            </a:r>
            <a:endParaRPr lang="en-US" sz="2800" b="1" dirty="0" smtClean="0">
              <a:latin typeface="Cambria" panose="02040503050406030204" pitchFamily="18" charset="0"/>
              <a:ea typeface="Cambria" panose="02040503050406030204" pitchFamily="18" charset="0"/>
            </a:endParaRP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Marks </a:t>
            </a:r>
            <a:r>
              <a:rPr lang="en-US" sz="2000" dirty="0">
                <a:latin typeface="Cambria" panose="02040503050406030204" pitchFamily="18" charset="0"/>
                <a:ea typeface="Cambria" panose="02040503050406030204" pitchFamily="18" charset="0"/>
              </a:rPr>
              <a:t>the end of a conditional compilation block (</a:t>
            </a:r>
            <a:r>
              <a:rPr lang="en-US" sz="2000" dirty="0">
                <a:latin typeface="Cambria" panose="02040503050406030204" pitchFamily="18" charset="0"/>
                <a:ea typeface="Cambria" panose="02040503050406030204" pitchFamily="18" charset="0"/>
                <a:cs typeface="Courier New" panose="02070309020205020404" pitchFamily="49" charset="0"/>
              </a:rPr>
              <a:t>#if</a:t>
            </a:r>
            <a:r>
              <a:rPr lang="en-US" sz="2000" dirty="0">
                <a:latin typeface="Cambria" panose="02040503050406030204" pitchFamily="18" charset="0"/>
                <a:ea typeface="Cambria" panose="02040503050406030204" pitchFamily="18" charset="0"/>
              </a:rPr>
              <a:t>, </a:t>
            </a:r>
            <a:r>
              <a:rPr lang="en-US" sz="2000" dirty="0">
                <a:latin typeface="Cambria" panose="02040503050406030204" pitchFamily="18" charset="0"/>
                <a:ea typeface="Cambria" panose="02040503050406030204" pitchFamily="18" charset="0"/>
                <a:cs typeface="Courier New" panose="02070309020205020404" pitchFamily="49" charset="0"/>
              </a:rPr>
              <a:t>#</a:t>
            </a:r>
            <a:r>
              <a:rPr lang="en-US" sz="2000" dirty="0" err="1">
                <a:latin typeface="Cambria" panose="02040503050406030204" pitchFamily="18" charset="0"/>
                <a:ea typeface="Cambria" panose="02040503050406030204" pitchFamily="18" charset="0"/>
                <a:cs typeface="Courier New" panose="02070309020205020404" pitchFamily="49" charset="0"/>
              </a:rPr>
              <a:t>ifdef</a:t>
            </a:r>
            <a:r>
              <a:rPr lang="en-US" sz="2000" dirty="0">
                <a:latin typeface="Cambria" panose="02040503050406030204" pitchFamily="18" charset="0"/>
                <a:ea typeface="Cambria" panose="02040503050406030204" pitchFamily="18" charset="0"/>
              </a:rPr>
              <a:t>, or </a:t>
            </a:r>
            <a:r>
              <a:rPr lang="en-US" sz="2000" dirty="0">
                <a:latin typeface="Cambria" panose="02040503050406030204" pitchFamily="18" charset="0"/>
                <a:ea typeface="Cambria" panose="02040503050406030204" pitchFamily="18" charset="0"/>
                <a:cs typeface="Courier New" panose="02070309020205020404" pitchFamily="49" charset="0"/>
              </a:rPr>
              <a:t>#</a:t>
            </a:r>
            <a:r>
              <a:rPr lang="en-US" sz="2000" dirty="0" err="1">
                <a:latin typeface="Cambria" panose="02040503050406030204" pitchFamily="18" charset="0"/>
                <a:ea typeface="Cambria" panose="02040503050406030204" pitchFamily="18" charset="0"/>
                <a:cs typeface="Courier New" panose="02070309020205020404" pitchFamily="49" charset="0"/>
              </a:rPr>
              <a:t>ifndef</a:t>
            </a:r>
            <a:r>
              <a:rPr lang="en-US" sz="2000" dirty="0">
                <a:latin typeface="Cambria" panose="02040503050406030204" pitchFamily="18" charset="0"/>
                <a:ea typeface="Cambria" panose="02040503050406030204" pitchFamily="18" charset="0"/>
              </a:rPr>
              <a:t>).</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ifdef</a:t>
            </a:r>
            <a:r>
              <a:rPr lang="en-US" sz="2800" b="1"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&lt;</a:t>
            </a:r>
            <a:r>
              <a:rPr lang="en-US" sz="2800" dirty="0" err="1" smtClean="0">
                <a:latin typeface="Cambria" panose="02040503050406030204" pitchFamily="18" charset="0"/>
                <a:ea typeface="Cambria" panose="02040503050406030204" pitchFamily="18" charset="0"/>
              </a:rPr>
              <a:t>condition_statement</a:t>
            </a:r>
            <a:r>
              <a:rPr lang="en-US" sz="2800" dirty="0" smtClean="0">
                <a:latin typeface="Cambria" panose="02040503050406030204" pitchFamily="18" charset="0"/>
                <a:ea typeface="Cambria" panose="02040503050406030204" pitchFamily="18"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Checks </a:t>
            </a:r>
            <a:r>
              <a:rPr lang="en-US" sz="2000" dirty="0">
                <a:latin typeface="Cambria" panose="02040503050406030204" pitchFamily="18" charset="0"/>
                <a:ea typeface="Cambria" panose="02040503050406030204" pitchFamily="18" charset="0"/>
              </a:rPr>
              <a:t>if a macro is defined, compiling the block only if it exists.</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ifndef</a:t>
            </a:r>
            <a:r>
              <a:rPr lang="en-US" sz="2800" b="1"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&lt;</a:t>
            </a:r>
            <a:r>
              <a:rPr lang="en-US" sz="2800" dirty="0" err="1" smtClean="0">
                <a:latin typeface="Cambria" panose="02040503050406030204" pitchFamily="18" charset="0"/>
                <a:ea typeface="Cambria" panose="02040503050406030204" pitchFamily="18" charset="0"/>
              </a:rPr>
              <a:t>condition_statement</a:t>
            </a:r>
            <a:r>
              <a:rPr lang="en-US" sz="2800" dirty="0" smtClean="0">
                <a:latin typeface="Cambria" panose="02040503050406030204" pitchFamily="18" charset="0"/>
                <a:ea typeface="Cambria" panose="02040503050406030204" pitchFamily="18" charset="0"/>
              </a:rPr>
              <a:t>&gt; </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Checks </a:t>
            </a:r>
            <a:r>
              <a:rPr lang="en-US" sz="2000" dirty="0">
                <a:latin typeface="Cambria" panose="02040503050406030204" pitchFamily="18" charset="0"/>
                <a:ea typeface="Cambria" panose="02040503050406030204" pitchFamily="18" charset="0"/>
              </a:rPr>
              <a:t>if a macro is not defined, commonly used as a header guard to prevent duplicate inclusions.</a:t>
            </a:r>
          </a:p>
          <a:p>
            <a:pPr marL="855663" indent="-855663" eaLnBrk="0" fontAlgn="base" hangingPunct="0">
              <a:spcBef>
                <a:spcPct val="0"/>
              </a:spcBef>
              <a:spcAft>
                <a:spcPct val="0"/>
              </a:spcAft>
            </a:pPr>
            <a:endParaRPr lang="en-US" sz="2800" dirty="0" smtClean="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5289313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Include Only Once Directives</a:t>
            </a:r>
            <a:endParaRPr lang="en-US" sz="4400" b="0" u="none" strike="noStrike" dirty="0">
              <a:solidFill>
                <a:srgbClr val="000000"/>
              </a:solidFill>
              <a:effectLst/>
              <a:uFillTx/>
              <a:latin typeface="Arial"/>
            </a:endParaRPr>
          </a:p>
        </p:txBody>
      </p:sp>
      <p:sp>
        <p:nvSpPr>
          <p:cNvPr id="3" name="TextBox 2"/>
          <p:cNvSpPr txBox="1"/>
          <p:nvPr/>
        </p:nvSpPr>
        <p:spPr>
          <a:xfrm>
            <a:off x="502920" y="1671077"/>
            <a:ext cx="9367191" cy="3970318"/>
          </a:xfrm>
          <a:prstGeom prst="rect">
            <a:avLst/>
          </a:prstGeom>
          <a:noFill/>
        </p:spPr>
        <p:txBody>
          <a:bodyPr wrap="square" rtlCol="0">
            <a:spAutoFit/>
          </a:bodyPr>
          <a:lstStyle/>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Example: In the file </a:t>
            </a:r>
            <a:r>
              <a:rPr lang="en-US" sz="2800" dirty="0" err="1" smtClean="0">
                <a:latin typeface="Cambria" panose="02040503050406030204" pitchFamily="18" charset="0"/>
                <a:ea typeface="Cambria" panose="02040503050406030204" pitchFamily="18" charset="0"/>
                <a:cs typeface="Courier New" panose="02070309020205020404" pitchFamily="49" charset="0"/>
              </a:rPr>
              <a:t>my_include.h</a:t>
            </a: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ifndef</a:t>
            </a:r>
            <a:r>
              <a:rPr lang="en-US" sz="2800" b="1" dirty="0" smtClean="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cs typeface="Courier New" panose="02070309020205020404" pitchFamily="49" charset="0"/>
              </a:rPr>
              <a:t>MY_INCLUDE_FILE_H</a:t>
            </a:r>
          </a:p>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#define </a:t>
            </a:r>
            <a:r>
              <a:rPr lang="en-US" sz="2800" dirty="0" smtClean="0">
                <a:latin typeface="Cambria" panose="02040503050406030204" pitchFamily="18" charset="0"/>
                <a:ea typeface="Cambria" panose="02040503050406030204" pitchFamily="18" charset="0"/>
                <a:cs typeface="Courier New" panose="02070309020205020404" pitchFamily="49" charset="0"/>
              </a:rPr>
              <a:t>MY_INCLUDE_FILE_H</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a:t>
            </a:r>
            <a:r>
              <a:rPr lang="en-US" sz="2800" b="1" dirty="0">
                <a:latin typeface="Cambria" panose="02040503050406030204" pitchFamily="18" charset="0"/>
                <a:ea typeface="Cambria" panose="02040503050406030204" pitchFamily="18" charset="0"/>
              </a:rPr>
              <a:t>define </a:t>
            </a:r>
            <a:r>
              <a:rPr lang="en-US" sz="2800" dirty="0">
                <a:latin typeface="Cambria" panose="02040503050406030204" pitchFamily="18" charset="0"/>
                <a:ea typeface="Cambria" panose="02040503050406030204" pitchFamily="18" charset="0"/>
              </a:rPr>
              <a:t>int64_t   long </a:t>
            </a:r>
            <a:r>
              <a:rPr lang="en-US" sz="2800" dirty="0" err="1">
                <a:latin typeface="Cambria" panose="02040503050406030204" pitchFamily="18" charset="0"/>
                <a:ea typeface="Cambria" panose="02040503050406030204" pitchFamily="18" charset="0"/>
              </a:rPr>
              <a:t>long</a:t>
            </a:r>
            <a:endParaRPr lang="en-US" sz="2800" dirty="0">
              <a:latin typeface="Cambria" panose="02040503050406030204" pitchFamily="18" charset="0"/>
              <a:ea typeface="Cambria" panose="02040503050406030204" pitchFamily="18" charset="0"/>
            </a:endParaRPr>
          </a:p>
          <a:p>
            <a:pPr lvl="0" eaLnBrk="0" fontAlgn="base" hangingPunct="0">
              <a:spcBef>
                <a:spcPct val="0"/>
              </a:spcBef>
              <a:spcAft>
                <a:spcPct val="0"/>
              </a:spcAft>
            </a:pP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a:t>
            </a:r>
            <a:r>
              <a:rPr lang="en-US" sz="2800" dirty="0" err="1" smtClean="0">
                <a:latin typeface="Cambria" panose="02040503050406030204" pitchFamily="18" charset="0"/>
                <a:ea typeface="Cambria" panose="02040503050406030204" pitchFamily="18" charset="0"/>
                <a:cs typeface="Courier New" panose="02070309020205020404" pitchFamily="49" charset="0"/>
              </a:rPr>
              <a:t>endif</a:t>
            </a: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96455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Include Only Once Directives</a:t>
            </a:r>
            <a:endParaRPr lang="en-US" sz="4400" b="0" u="none" strike="noStrike" dirty="0">
              <a:solidFill>
                <a:srgbClr val="000000"/>
              </a:solidFill>
              <a:effectLst/>
              <a:uFillTx/>
              <a:latin typeface="Arial"/>
            </a:endParaRPr>
          </a:p>
        </p:txBody>
      </p:sp>
      <p:sp>
        <p:nvSpPr>
          <p:cNvPr id="3" name="TextBox 2"/>
          <p:cNvSpPr txBox="1"/>
          <p:nvPr/>
        </p:nvSpPr>
        <p:spPr>
          <a:xfrm>
            <a:off x="502920" y="1671077"/>
            <a:ext cx="9367191" cy="5262979"/>
          </a:xfrm>
          <a:prstGeom prst="rect">
            <a:avLst/>
          </a:prstGeom>
          <a:noFill/>
        </p:spPr>
        <p:txBody>
          <a:bodyPr wrap="square" rtlCol="0">
            <a:spAutoFit/>
          </a:bodyPr>
          <a:lstStyle/>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Example: In the file code </a:t>
            </a:r>
            <a:r>
              <a:rPr lang="en-US" sz="2800" dirty="0" err="1" smtClean="0">
                <a:latin typeface="Cambria" panose="02040503050406030204" pitchFamily="18" charset="0"/>
                <a:ea typeface="Cambria" panose="02040503050406030204" pitchFamily="18" charset="0"/>
                <a:cs typeface="Courier New" panose="02070309020205020404" pitchFamily="49" charset="0"/>
              </a:rPr>
              <a:t>main.c</a:t>
            </a: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#include “</a:t>
            </a:r>
            <a:r>
              <a:rPr lang="en-US" sz="2800" dirty="0" err="1" smtClean="0">
                <a:latin typeface="Cambria" panose="02040503050406030204" pitchFamily="18" charset="0"/>
                <a:ea typeface="Cambria" panose="02040503050406030204" pitchFamily="18" charset="0"/>
                <a:cs typeface="Courier New" panose="02070309020205020404" pitchFamily="49" charset="0"/>
              </a:rPr>
              <a:t>my_include.h</a:t>
            </a:r>
            <a:r>
              <a:rPr lang="en-US" sz="2800" dirty="0" smtClean="0">
                <a:latin typeface="Cambria" panose="02040503050406030204" pitchFamily="18" charset="0"/>
                <a:ea typeface="Cambria" panose="02040503050406030204" pitchFamily="18" charset="0"/>
                <a:cs typeface="Courier New" panose="02070309020205020404" pitchFamily="49" charset="0"/>
              </a:rPr>
              <a:t>”</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#include “</a:t>
            </a:r>
            <a:r>
              <a:rPr lang="en-US" sz="2800" dirty="0" err="1" smtClean="0">
                <a:latin typeface="Cambria" panose="02040503050406030204" pitchFamily="18" charset="0"/>
                <a:ea typeface="Cambria" panose="02040503050406030204" pitchFamily="18" charset="0"/>
                <a:cs typeface="Courier New" panose="02070309020205020404" pitchFamily="49" charset="0"/>
              </a:rPr>
              <a:t>my_include.h</a:t>
            </a:r>
            <a:r>
              <a:rPr lang="en-US" sz="2800" dirty="0" smtClean="0">
                <a:latin typeface="Cambria" panose="02040503050406030204" pitchFamily="18" charset="0"/>
                <a:ea typeface="Cambria" panose="02040503050406030204" pitchFamily="18" charset="0"/>
                <a:cs typeface="Courier New" panose="02070309020205020404" pitchFamily="49" charset="0"/>
              </a:rPr>
              <a:t>”</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Will only have one definition of int64_t as first include will define MY_INCLUDE_FILE_H</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Necessary because multiple include files can have references to the same include file.    Must have only one definition!</a:t>
            </a:r>
            <a:endParaRPr lang="en-US" sz="2800" dirty="0" smtClean="0">
              <a:latin typeface="Cambria" panose="02040503050406030204" pitchFamily="18" charset="0"/>
              <a:ea typeface="Cambria" panose="02040503050406030204" pitchFamily="18" charset="0"/>
              <a:cs typeface="Courier New" panose="02070309020205020404" pitchFamily="49" charset="0"/>
            </a:endParaRPr>
          </a:p>
        </p:txBody>
      </p:sp>
    </p:spTree>
    <p:extLst>
      <p:ext uri="{BB962C8B-B14F-4D97-AF65-F5344CB8AC3E}">
        <p14:creationId xmlns:p14="http://schemas.microsoft.com/office/powerpoint/2010/main" val="175136116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Error Handling Directives</a:t>
            </a:r>
            <a:endParaRPr lang="en-US" sz="4400" b="0" u="none" strike="noStrike" dirty="0">
              <a:solidFill>
                <a:srgbClr val="000000"/>
              </a:solidFill>
              <a:effectLst/>
              <a:uFillTx/>
              <a:latin typeface="Arial"/>
            </a:endParaRPr>
          </a:p>
        </p:txBody>
      </p:sp>
      <p:sp>
        <p:nvSpPr>
          <p:cNvPr id="3" name="TextBox 2"/>
          <p:cNvSpPr txBox="1"/>
          <p:nvPr/>
        </p:nvSpPr>
        <p:spPr>
          <a:xfrm>
            <a:off x="691209" y="1907052"/>
            <a:ext cx="9367191" cy="7294305"/>
          </a:xfrm>
          <a:prstGeom prst="rect">
            <a:avLst/>
          </a:prstGeom>
          <a:noFill/>
        </p:spPr>
        <p:txBody>
          <a:bodyPr wrap="square" rtlCol="0">
            <a:spAutoFit/>
          </a:bodyPr>
          <a:lstStyle/>
          <a:p>
            <a:pPr lvl="0" eaLnBrk="0" fontAlgn="base" hangingPunct="0">
              <a:spcBef>
                <a:spcPct val="0"/>
              </a:spcBef>
              <a:spcAft>
                <a:spcPct val="0"/>
              </a:spcAft>
            </a:pPr>
            <a:r>
              <a:rPr lang="en-US" sz="2800" dirty="0" smtClean="0">
                <a:latin typeface="Google Sans"/>
              </a:rPr>
              <a:t>These </a:t>
            </a:r>
            <a:r>
              <a:rPr lang="en-US" sz="2800" dirty="0">
                <a:latin typeface="Google Sans"/>
              </a:rPr>
              <a:t>help generate compiler messages or force failures during build </a:t>
            </a:r>
            <a:r>
              <a:rPr lang="en-US" sz="2800" dirty="0" smtClean="0">
                <a:latin typeface="Google Sans"/>
              </a:rPr>
              <a:t>time</a:t>
            </a:r>
          </a:p>
          <a:p>
            <a:pPr lvl="0" eaLnBrk="0" fontAlgn="base" hangingPunct="0">
              <a:spcBef>
                <a:spcPct val="0"/>
              </a:spcBef>
              <a:spcAft>
                <a:spcPct val="0"/>
              </a:spcAft>
            </a:pPr>
            <a:endParaRPr lang="en-US" sz="800" dirty="0"/>
          </a:p>
          <a:p>
            <a:pPr lvl="0" eaLnBrk="0" fontAlgn="base" hangingPunct="0">
              <a:spcBef>
                <a:spcPct val="0"/>
              </a:spcBef>
              <a:spcAft>
                <a:spcPct val="0"/>
              </a:spcAft>
            </a:pPr>
            <a:r>
              <a:rPr lang="en-US" sz="2800" b="1" dirty="0">
                <a:latin typeface="Courier New" panose="02070309020205020404" pitchFamily="49" charset="0"/>
                <a:cs typeface="Courier New" panose="02070309020205020404" pitchFamily="49" charset="0"/>
              </a:rPr>
              <a:t>#</a:t>
            </a:r>
            <a:r>
              <a:rPr lang="en-US" sz="2800" b="1" dirty="0" smtClean="0">
                <a:latin typeface="Courier New" panose="02070309020205020404" pitchFamily="49" charset="0"/>
                <a:cs typeface="Courier New" panose="02070309020205020404" pitchFamily="49" charset="0"/>
              </a:rPr>
              <a:t>error </a:t>
            </a:r>
            <a:r>
              <a:rPr lang="en-US" sz="2800" dirty="0" smtClean="0">
                <a:latin typeface="Courier New" panose="02070309020205020404" pitchFamily="49" charset="0"/>
                <a:cs typeface="Courier New" panose="02070309020205020404" pitchFamily="49" charset="0"/>
              </a:rPr>
              <a:t>&lt;</a:t>
            </a:r>
            <a:r>
              <a:rPr lang="en-US" sz="2800" dirty="0" err="1" smtClean="0">
                <a:latin typeface="Courier New" panose="02070309020205020404" pitchFamily="49" charset="0"/>
                <a:cs typeface="Courier New" panose="02070309020205020404" pitchFamily="49" charset="0"/>
              </a:rPr>
              <a:t>output_message</a:t>
            </a:r>
            <a:r>
              <a:rPr lang="en-US" sz="2800" dirty="0" smtClean="0">
                <a:latin typeface="Courier New" panose="02070309020205020404" pitchFamily="49" charset="0"/>
                <a:cs typeface="Courier New" panose="02070309020205020404" pitchFamily="49" charset="0"/>
              </a:rPr>
              <a:t>&gt;</a:t>
            </a:r>
            <a:endParaRPr lang="en-US" sz="2800" dirty="0">
              <a:latin typeface="Google Sans"/>
            </a:endParaRPr>
          </a:p>
          <a:p>
            <a:pPr lvl="0" eaLnBrk="0" fontAlgn="base" hangingPunct="0">
              <a:spcBef>
                <a:spcPct val="0"/>
              </a:spcBef>
              <a:spcAft>
                <a:spcPct val="0"/>
              </a:spcAft>
            </a:pPr>
            <a:r>
              <a:rPr lang="en-US" sz="2800" dirty="0" smtClean="0">
                <a:latin typeface="Google Sans"/>
              </a:rPr>
              <a:t>	Outputs error</a:t>
            </a:r>
          </a:p>
          <a:p>
            <a:pPr lvl="0" eaLnBrk="0" fontAlgn="base" hangingPunct="0">
              <a:spcBef>
                <a:spcPct val="0"/>
              </a:spcBef>
              <a:spcAft>
                <a:spcPct val="0"/>
              </a:spcAft>
            </a:pPr>
            <a:r>
              <a:rPr lang="en-US" sz="2800" dirty="0" smtClean="0">
                <a:latin typeface="Google Sans"/>
              </a:rPr>
              <a:t>	Stops </a:t>
            </a:r>
            <a:r>
              <a:rPr lang="en-US" sz="2800" dirty="0">
                <a:latin typeface="Google Sans"/>
              </a:rPr>
              <a:t>the </a:t>
            </a:r>
            <a:r>
              <a:rPr lang="en-US" sz="2800" dirty="0" smtClean="0">
                <a:latin typeface="Google Sans"/>
              </a:rPr>
              <a:t>build</a:t>
            </a:r>
            <a:endParaRPr lang="en-US" sz="2800" dirty="0">
              <a:latin typeface="Google Sans"/>
            </a:endParaRPr>
          </a:p>
          <a:p>
            <a:pPr lvl="0" eaLnBrk="0" fontAlgn="base" hangingPunct="0">
              <a:spcBef>
                <a:spcPct val="0"/>
              </a:spcBef>
              <a:spcAft>
                <a:spcPct val="0"/>
              </a:spcAft>
            </a:pPr>
            <a:r>
              <a:rPr lang="en-US" sz="2800" b="1" dirty="0">
                <a:latin typeface="Courier New" panose="02070309020205020404" pitchFamily="49" charset="0"/>
                <a:cs typeface="Courier New" panose="02070309020205020404" pitchFamily="49" charset="0"/>
              </a:rPr>
              <a:t>#</a:t>
            </a:r>
            <a:r>
              <a:rPr lang="en-US" sz="2800" b="1" dirty="0" smtClean="0">
                <a:latin typeface="Courier New" panose="02070309020205020404" pitchFamily="49" charset="0"/>
                <a:cs typeface="Courier New" panose="02070309020205020404" pitchFamily="49" charset="0"/>
              </a:rPr>
              <a:t>warning</a:t>
            </a:r>
            <a:r>
              <a:rPr lang="en-US" sz="2800" b="1" dirty="0">
                <a:latin typeface="Google Sans"/>
              </a:rPr>
              <a:t> </a:t>
            </a:r>
            <a:r>
              <a:rPr lang="en-US" sz="2800" dirty="0" smtClean="0">
                <a:latin typeface="Courier New" panose="02070309020205020404" pitchFamily="49" charset="0"/>
                <a:cs typeface="Courier New" panose="02070309020205020404" pitchFamily="49" charset="0"/>
              </a:rPr>
              <a:t>&lt;</a:t>
            </a:r>
            <a:r>
              <a:rPr lang="en-US" sz="2800" dirty="0" err="1" smtClean="0">
                <a:latin typeface="Courier New" panose="02070309020205020404" pitchFamily="49" charset="0"/>
                <a:cs typeface="Courier New" panose="02070309020205020404" pitchFamily="49" charset="0"/>
              </a:rPr>
              <a:t>output_message</a:t>
            </a:r>
            <a:r>
              <a:rPr lang="en-US" sz="2800" dirty="0" smtClean="0">
                <a:latin typeface="Courier New" panose="02070309020205020404" pitchFamily="49" charset="0"/>
                <a:cs typeface="Courier New" panose="02070309020205020404" pitchFamily="49" charset="0"/>
              </a:rPr>
              <a:t>&gt; </a:t>
            </a:r>
          </a:p>
          <a:p>
            <a:pPr lvl="0" eaLnBrk="0" fontAlgn="base" hangingPunct="0">
              <a:spcBef>
                <a:spcPct val="0"/>
              </a:spcBef>
              <a:spcAft>
                <a:spcPct val="0"/>
              </a:spcAft>
            </a:pPr>
            <a:r>
              <a:rPr lang="en-US" sz="2800" b="1" dirty="0" smtClean="0">
                <a:latin typeface="Google Sans"/>
              </a:rPr>
              <a:t>	</a:t>
            </a:r>
            <a:r>
              <a:rPr lang="en-US" sz="2800" dirty="0" smtClean="0">
                <a:latin typeface="Google Sans"/>
              </a:rPr>
              <a:t>Generates warning message</a:t>
            </a:r>
          </a:p>
          <a:p>
            <a:pPr lvl="0" eaLnBrk="0" fontAlgn="base" hangingPunct="0">
              <a:spcBef>
                <a:spcPct val="0"/>
              </a:spcBef>
              <a:spcAft>
                <a:spcPct val="0"/>
              </a:spcAft>
            </a:pPr>
            <a:r>
              <a:rPr lang="en-US" sz="2800" dirty="0">
                <a:latin typeface="Google Sans"/>
              </a:rPr>
              <a:t>	</a:t>
            </a:r>
            <a:r>
              <a:rPr lang="en-US" sz="2800" dirty="0" smtClean="0">
                <a:latin typeface="Google Sans"/>
              </a:rPr>
              <a:t>Does no halt </a:t>
            </a:r>
            <a:r>
              <a:rPr lang="en-US" sz="2800" dirty="0">
                <a:latin typeface="Google Sans"/>
              </a:rPr>
              <a:t>the compilation </a:t>
            </a:r>
            <a:r>
              <a:rPr lang="en-US" sz="2800" dirty="0" smtClean="0">
                <a:latin typeface="Google Sans"/>
              </a:rPr>
              <a:t>process</a:t>
            </a:r>
          </a:p>
          <a:p>
            <a:pPr lvl="0" eaLnBrk="0" fontAlgn="base" hangingPunct="0">
              <a:spcBef>
                <a:spcPct val="0"/>
              </a:spcBef>
              <a:spcAft>
                <a:spcPct val="0"/>
              </a:spcAft>
            </a:pPr>
            <a:endParaRPr lang="en-US" sz="2800" dirty="0">
              <a:latin typeface="Google Sans"/>
            </a:endParaRPr>
          </a:p>
          <a:p>
            <a:pPr lvl="0" eaLnBrk="0" fontAlgn="base" hangingPunct="0">
              <a:spcBef>
                <a:spcPct val="0"/>
              </a:spcBef>
              <a:spcAft>
                <a:spcPct val="0"/>
              </a:spcAft>
            </a:pPr>
            <a:r>
              <a:rPr lang="en-US" sz="2800" dirty="0" smtClean="0">
                <a:latin typeface="Google Sans"/>
              </a:rPr>
              <a:t>Example:</a:t>
            </a:r>
          </a:p>
          <a:p>
            <a:pPr lvl="0" eaLnBrk="0" fontAlgn="base" hangingPunct="0">
              <a:spcBef>
                <a:spcPct val="0"/>
              </a:spcBef>
              <a:spcAft>
                <a:spcPct val="0"/>
              </a:spcAft>
            </a:pPr>
            <a:r>
              <a:rPr lang="en-US" sz="2800" dirty="0" smtClean="0">
                <a:latin typeface="Google Sans"/>
              </a:rPr>
              <a:t># error “Please fix &lt;bits/</a:t>
            </a:r>
            <a:r>
              <a:rPr lang="en-US" sz="2800" dirty="0" err="1" smtClean="0">
                <a:latin typeface="Google Sans"/>
              </a:rPr>
              <a:t>endian.h</a:t>
            </a:r>
            <a:r>
              <a:rPr lang="en-US" sz="2800" dirty="0" smtClean="0">
                <a:latin typeface="Google Sans"/>
              </a:rPr>
              <a:t>&gt;”</a:t>
            </a:r>
            <a:endParaRPr lang="en-US" sz="2800" dirty="0">
              <a:latin typeface="Google Sans"/>
            </a:endParaRPr>
          </a:p>
          <a:p>
            <a:pPr lvl="0" eaLnBrk="0" fontAlgn="base" hangingPunct="0">
              <a:spcBef>
                <a:spcPct val="0"/>
              </a:spcBef>
              <a:spcAft>
                <a:spcPct val="0"/>
              </a:spcAft>
            </a:pPr>
            <a:endParaRPr lang="en-US" sz="4000" dirty="0">
              <a:latin typeface="Arial" panose="020B0604020202020204" pitchFamily="34" charset="0"/>
            </a:endParaRPr>
          </a:p>
          <a:p>
            <a:pPr marL="855663" indent="-855663" eaLnBrk="0" fontAlgn="base" hangingPunct="0">
              <a:spcBef>
                <a:spcPct val="0"/>
              </a:spcBef>
              <a:spcAft>
                <a:spcPct val="0"/>
              </a:spcAft>
            </a:pPr>
            <a:endParaRPr lang="en-US" sz="2800" dirty="0"/>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3319717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Miscellaneous Directives</a:t>
            </a:r>
            <a:endParaRPr lang="en-US" sz="4400" b="0" u="none" strike="noStrike" dirty="0">
              <a:solidFill>
                <a:srgbClr val="000000"/>
              </a:solidFill>
              <a:effectLst/>
              <a:uFillTx/>
              <a:latin typeface="Arial"/>
            </a:endParaRPr>
          </a:p>
        </p:txBody>
      </p:sp>
      <p:sp>
        <p:nvSpPr>
          <p:cNvPr id="3" name="TextBox 2"/>
          <p:cNvSpPr txBox="1"/>
          <p:nvPr/>
        </p:nvSpPr>
        <p:spPr>
          <a:xfrm>
            <a:off x="691209" y="1907052"/>
            <a:ext cx="9367191" cy="6432530"/>
          </a:xfrm>
          <a:prstGeom prst="rect">
            <a:avLst/>
          </a:prstGeom>
          <a:noFill/>
        </p:spPr>
        <p:txBody>
          <a:bodyPr wrap="square" rtlCol="0">
            <a:spAutoFit/>
          </a:bodyPr>
          <a:lstStyle/>
          <a:p>
            <a:pPr lvl="0" eaLnBrk="0" fontAlgn="base" hangingPunct="0">
              <a:spcBef>
                <a:spcPct val="0"/>
              </a:spcBef>
              <a:spcAft>
                <a:spcPct val="0"/>
              </a:spcAft>
            </a:pPr>
            <a:endParaRPr lang="en-US" sz="800" dirty="0"/>
          </a:p>
          <a:p>
            <a:pPr lvl="0" eaLnBrk="0" fontAlgn="base" hangingPunct="0">
              <a:spcBef>
                <a:spcPct val="0"/>
              </a:spcBef>
              <a:spcAft>
                <a:spcPct val="0"/>
              </a:spcAft>
            </a:pPr>
            <a:r>
              <a:rPr lang="en-US" sz="2800" b="1" dirty="0" smtClean="0">
                <a:latin typeface="Courier New" panose="02070309020205020404" pitchFamily="49" charset="0"/>
                <a:cs typeface="Courier New" panose="02070309020205020404" pitchFamily="49" charset="0"/>
              </a:rPr>
              <a:t>#pragma </a:t>
            </a:r>
            <a:r>
              <a:rPr lang="en-US" sz="2800" dirty="0" smtClean="0">
                <a:latin typeface="Courier New" panose="02070309020205020404" pitchFamily="49" charset="0"/>
                <a:cs typeface="Courier New" panose="02070309020205020404" pitchFamily="49" charset="0"/>
              </a:rPr>
              <a:t>&lt;</a:t>
            </a:r>
            <a:r>
              <a:rPr lang="en-US" sz="2800" dirty="0">
                <a:latin typeface="Courier New" panose="02070309020205020404" pitchFamily="49" charset="0"/>
                <a:cs typeface="Courier New" panose="02070309020205020404" pitchFamily="49" charset="0"/>
              </a:rPr>
              <a:t>c</a:t>
            </a:r>
            <a:r>
              <a:rPr lang="en-US" sz="2800" dirty="0" smtClean="0">
                <a:latin typeface="Courier New" panose="02070309020205020404" pitchFamily="49" charset="0"/>
                <a:cs typeface="Courier New" panose="02070309020205020404" pitchFamily="49" charset="0"/>
              </a:rPr>
              <a:t>ompiler directive&gt;</a:t>
            </a:r>
            <a:endParaRPr lang="en-US" sz="2800" dirty="0">
              <a:latin typeface="Google Sans"/>
            </a:endParaRPr>
          </a:p>
          <a:p>
            <a:pPr lvl="0" eaLnBrk="0" fontAlgn="base" hangingPunct="0">
              <a:spcBef>
                <a:spcPct val="0"/>
              </a:spcBef>
              <a:spcAft>
                <a:spcPct val="0"/>
              </a:spcAft>
            </a:pPr>
            <a:r>
              <a:rPr lang="en-US" sz="2800" dirty="0" smtClean="0">
                <a:latin typeface="Google Sans"/>
              </a:rPr>
              <a:t>	Compiler specific directive (parallel commands)</a:t>
            </a:r>
          </a:p>
          <a:p>
            <a:pPr lvl="0" eaLnBrk="0" fontAlgn="base" hangingPunct="0">
              <a:spcBef>
                <a:spcPct val="0"/>
              </a:spcBef>
              <a:spcAft>
                <a:spcPct val="0"/>
              </a:spcAft>
            </a:pPr>
            <a:r>
              <a:rPr lang="en-US" sz="2800" b="1" dirty="0" smtClean="0">
                <a:latin typeface="Courier New" panose="02070309020205020404" pitchFamily="49" charset="0"/>
                <a:cs typeface="Courier New" panose="02070309020205020404" pitchFamily="49" charset="0"/>
              </a:rPr>
              <a:t>#line </a:t>
            </a:r>
            <a:r>
              <a:rPr lang="en-US" sz="2800" dirty="0" smtClean="0">
                <a:latin typeface="Courier New" panose="02070309020205020404" pitchFamily="49" charset="0"/>
                <a:cs typeface="Courier New" panose="02070309020205020404" pitchFamily="49" charset="0"/>
              </a:rPr>
              <a:t>&lt;file and line number&gt; </a:t>
            </a:r>
          </a:p>
          <a:p>
            <a:pPr lvl="0" eaLnBrk="0" fontAlgn="base" hangingPunct="0">
              <a:spcBef>
                <a:spcPct val="0"/>
              </a:spcBef>
              <a:spcAft>
                <a:spcPct val="0"/>
              </a:spcAft>
            </a:pPr>
            <a:r>
              <a:rPr lang="en-US" sz="2800" b="1" dirty="0" smtClean="0">
                <a:latin typeface="Google Sans"/>
              </a:rPr>
              <a:t>	</a:t>
            </a:r>
            <a:r>
              <a:rPr lang="en-US" sz="2800" dirty="0" smtClean="0">
                <a:latin typeface="Google Sans"/>
              </a:rPr>
              <a:t>Changes file and line number reported by real</a:t>
            </a:r>
          </a:p>
          <a:p>
            <a:pPr lvl="0" eaLnBrk="0" fontAlgn="base" hangingPunct="0">
              <a:spcBef>
                <a:spcPct val="0"/>
              </a:spcBef>
              <a:spcAft>
                <a:spcPct val="0"/>
              </a:spcAft>
            </a:pPr>
            <a:r>
              <a:rPr lang="en-US" sz="2800" dirty="0">
                <a:latin typeface="Google Sans"/>
              </a:rPr>
              <a:t>	</a:t>
            </a:r>
            <a:r>
              <a:rPr lang="en-US" sz="2800" dirty="0" smtClean="0">
                <a:latin typeface="Google Sans"/>
              </a:rPr>
              <a:t>compiler</a:t>
            </a:r>
          </a:p>
          <a:p>
            <a:pPr lvl="0" eaLnBrk="0" fontAlgn="base" hangingPunct="0">
              <a:spcBef>
                <a:spcPct val="0"/>
              </a:spcBef>
              <a:spcAft>
                <a:spcPct val="0"/>
              </a:spcAft>
            </a:pPr>
            <a:r>
              <a:rPr lang="en-US" sz="2800" dirty="0">
                <a:latin typeface="Google Sans"/>
              </a:rPr>
              <a:t>	</a:t>
            </a:r>
            <a:r>
              <a:rPr lang="en-US" sz="2800" dirty="0" smtClean="0">
                <a:latin typeface="Google Sans"/>
              </a:rPr>
              <a:t>Used for debugging purposes</a:t>
            </a:r>
          </a:p>
          <a:p>
            <a:pPr lvl="0" eaLnBrk="0" fontAlgn="base" hangingPunct="0">
              <a:spcBef>
                <a:spcPct val="0"/>
              </a:spcBef>
              <a:spcAft>
                <a:spcPct val="0"/>
              </a:spcAft>
            </a:pPr>
            <a:endParaRPr lang="en-US" sz="2800" dirty="0">
              <a:latin typeface="Google Sans"/>
            </a:endParaRPr>
          </a:p>
          <a:p>
            <a:pPr lvl="0" eaLnBrk="0" fontAlgn="base" hangingPunct="0">
              <a:spcBef>
                <a:spcPct val="0"/>
              </a:spcBef>
              <a:spcAft>
                <a:spcPct val="0"/>
              </a:spcAft>
            </a:pPr>
            <a:r>
              <a:rPr lang="en-US" sz="2800" dirty="0" smtClean="0">
                <a:latin typeface="Google Sans"/>
              </a:rPr>
              <a:t>Example:</a:t>
            </a:r>
          </a:p>
          <a:p>
            <a:pPr lvl="0" eaLnBrk="0" fontAlgn="base" hangingPunct="0">
              <a:spcBef>
                <a:spcPct val="0"/>
              </a:spcBef>
              <a:spcAft>
                <a:spcPct val="0"/>
              </a:spcAft>
            </a:pPr>
            <a:r>
              <a:rPr lang="en-US" sz="2800" dirty="0" smtClean="0">
                <a:latin typeface="Google Sans"/>
              </a:rPr>
              <a:t># error “Please fix &lt;bits/</a:t>
            </a:r>
            <a:r>
              <a:rPr lang="en-US" sz="2800" dirty="0" err="1" smtClean="0">
                <a:latin typeface="Google Sans"/>
              </a:rPr>
              <a:t>endian.h</a:t>
            </a:r>
            <a:r>
              <a:rPr lang="en-US" sz="2800" dirty="0" smtClean="0">
                <a:latin typeface="Google Sans"/>
              </a:rPr>
              <a:t>&gt;”</a:t>
            </a:r>
            <a:endParaRPr lang="en-US" sz="2800" dirty="0">
              <a:latin typeface="Google Sans"/>
            </a:endParaRPr>
          </a:p>
          <a:p>
            <a:pPr lvl="0" eaLnBrk="0" fontAlgn="base" hangingPunct="0">
              <a:spcBef>
                <a:spcPct val="0"/>
              </a:spcBef>
              <a:spcAft>
                <a:spcPct val="0"/>
              </a:spcAft>
            </a:pPr>
            <a:endParaRPr lang="en-US" sz="4000" dirty="0">
              <a:latin typeface="Arial" panose="020B0604020202020204" pitchFamily="34" charset="0"/>
            </a:endParaRPr>
          </a:p>
          <a:p>
            <a:pPr marL="855663" indent="-855663" eaLnBrk="0" fontAlgn="base" hangingPunct="0">
              <a:spcBef>
                <a:spcPct val="0"/>
              </a:spcBef>
              <a:spcAft>
                <a:spcPct val="0"/>
              </a:spcAft>
            </a:pPr>
            <a:endParaRPr lang="en-US" sz="2800" dirty="0"/>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890314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Natural Size on 64 Bit Machines</a:t>
            </a:r>
            <a:endParaRPr lang="en-US" sz="4400" b="0" u="none" strike="noStrike" dirty="0">
              <a:solidFill>
                <a:srgbClr val="000000"/>
              </a:solidFill>
              <a:effectLst/>
              <a:uFillTx/>
              <a:latin typeface="Arial"/>
            </a:endParaRPr>
          </a:p>
        </p:txBody>
      </p:sp>
      <p:sp>
        <p:nvSpPr>
          <p:cNvPr id="3" name="TextBox 2"/>
          <p:cNvSpPr txBox="1"/>
          <p:nvPr/>
        </p:nvSpPr>
        <p:spPr>
          <a:xfrm>
            <a:off x="341915" y="1949942"/>
            <a:ext cx="9325959" cy="5262979"/>
          </a:xfrm>
          <a:prstGeom prst="rect">
            <a:avLst/>
          </a:prstGeom>
          <a:noFill/>
        </p:spPr>
        <p:txBody>
          <a:bodyPr wrap="square" rtlCol="0">
            <a:spAutoFit/>
          </a:bodyPr>
          <a:lstStyle/>
          <a:p>
            <a:r>
              <a:rPr lang="en-US" sz="2800" dirty="0" smtClean="0"/>
              <a:t>Rust : </a:t>
            </a:r>
          </a:p>
          <a:p>
            <a:r>
              <a:rPr lang="en-US" sz="2800" dirty="0"/>
              <a:t>	</a:t>
            </a:r>
            <a:r>
              <a:rPr lang="en-US" sz="2800" b="1" dirty="0" smtClean="0"/>
              <a:t>i64</a:t>
            </a:r>
            <a:r>
              <a:rPr lang="en-US" sz="2800" dirty="0" smtClean="0"/>
              <a:t> : </a:t>
            </a:r>
            <a:r>
              <a:rPr lang="en-US" sz="2800" dirty="0"/>
              <a:t>signed integer </a:t>
            </a:r>
            <a:r>
              <a:rPr lang="en-US" sz="2800" dirty="0" smtClean="0"/>
              <a:t> [-</a:t>
            </a:r>
            <a:r>
              <a:rPr lang="en-US" sz="2800" dirty="0"/>
              <a:t>2⁶³ </a:t>
            </a:r>
            <a:r>
              <a:rPr lang="en-US" sz="2800" dirty="0" smtClean="0"/>
              <a:t>… 2</a:t>
            </a:r>
            <a:r>
              <a:rPr lang="en-US" sz="2800" dirty="0"/>
              <a:t>⁶³ - </a:t>
            </a:r>
            <a:r>
              <a:rPr lang="en-US" sz="2800" dirty="0" smtClean="0"/>
              <a:t>1]</a:t>
            </a:r>
          </a:p>
          <a:p>
            <a:r>
              <a:rPr lang="en-US" sz="2800" dirty="0"/>
              <a:t>	</a:t>
            </a:r>
            <a:r>
              <a:rPr lang="en-US" sz="2800" b="1" dirty="0" smtClean="0"/>
              <a:t>u64</a:t>
            </a:r>
            <a:r>
              <a:rPr lang="en-US" sz="2800" dirty="0" smtClean="0"/>
              <a:t> : unsigned integer [0 … </a:t>
            </a:r>
            <a:r>
              <a:rPr lang="en-US" sz="2800" dirty="0"/>
              <a:t>, </a:t>
            </a:r>
            <a:r>
              <a:rPr lang="en-US" sz="2800" dirty="0" smtClean="0"/>
              <a:t> </a:t>
            </a:r>
            <a:r>
              <a:rPr lang="en-US" sz="2800" dirty="0"/>
              <a:t>2⁶⁴ - </a:t>
            </a:r>
            <a:r>
              <a:rPr lang="en-US" sz="2800" dirty="0" smtClean="0"/>
              <a:t>1]</a:t>
            </a:r>
          </a:p>
          <a:p>
            <a:endParaRPr lang="en-US" sz="2800" dirty="0" smtClean="0"/>
          </a:p>
          <a:p>
            <a:r>
              <a:rPr lang="en-US" sz="2800" dirty="0" smtClean="0"/>
              <a:t>C, C++:</a:t>
            </a:r>
          </a:p>
          <a:p>
            <a:r>
              <a:rPr lang="en-US" sz="2800" dirty="0"/>
              <a:t>	</a:t>
            </a:r>
            <a:r>
              <a:rPr lang="en-US" sz="2800" b="1" dirty="0" smtClean="0"/>
              <a:t>long </a:t>
            </a:r>
            <a:r>
              <a:rPr lang="en-US" sz="2800" b="1" dirty="0" err="1" smtClean="0"/>
              <a:t>long</a:t>
            </a:r>
            <a:r>
              <a:rPr lang="en-US" sz="2800" b="1" dirty="0" smtClean="0"/>
              <a:t> </a:t>
            </a:r>
            <a:r>
              <a:rPr lang="en-US" sz="2800" dirty="0"/>
              <a:t>: signed integer  [-2⁶³ … 2⁶³ - 1]</a:t>
            </a:r>
          </a:p>
          <a:p>
            <a:r>
              <a:rPr lang="en-US" sz="2800" dirty="0" smtClean="0"/>
              <a:t>	</a:t>
            </a:r>
            <a:r>
              <a:rPr lang="en-US" sz="2800" b="1" dirty="0" smtClean="0"/>
              <a:t>unsigned long </a:t>
            </a:r>
            <a:r>
              <a:rPr lang="en-US" sz="2800" b="1" dirty="0" err="1" smtClean="0"/>
              <a:t>long</a:t>
            </a:r>
            <a:r>
              <a:rPr lang="en-US" sz="2800" b="1" dirty="0" smtClean="0"/>
              <a:t> </a:t>
            </a:r>
            <a:r>
              <a:rPr lang="en-US" sz="2800" dirty="0" smtClean="0"/>
              <a:t>: unsigned integer </a:t>
            </a:r>
            <a:r>
              <a:rPr lang="en-US" sz="2800" dirty="0"/>
              <a:t>[0 … ,  2⁶⁴ - 1</a:t>
            </a:r>
            <a:r>
              <a:rPr lang="en-US" sz="2800" dirty="0" smtClean="0"/>
              <a:t>]</a:t>
            </a:r>
          </a:p>
          <a:p>
            <a:endParaRPr lang="en-US" sz="2800" dirty="0"/>
          </a:p>
          <a:p>
            <a:r>
              <a:rPr lang="en-US" sz="2800" dirty="0" smtClean="0"/>
              <a:t>Problematic!  These languages existed before 64 bit machines</a:t>
            </a:r>
          </a:p>
          <a:p>
            <a:endParaRPr lang="en-US" sz="2800" dirty="0"/>
          </a:p>
          <a:p>
            <a:r>
              <a:rPr lang="en-US" sz="2800" dirty="0" smtClean="0">
                <a:solidFill>
                  <a:srgbClr val="FF0000"/>
                </a:solidFill>
              </a:rPr>
              <a:t>How can we use the </a:t>
            </a:r>
            <a:r>
              <a:rPr lang="en-US" sz="2800" dirty="0" err="1" smtClean="0">
                <a:solidFill>
                  <a:srgbClr val="FF0000"/>
                </a:solidFill>
              </a:rPr>
              <a:t>preproceesor</a:t>
            </a:r>
            <a:r>
              <a:rPr lang="en-US" sz="2800" dirty="0" smtClean="0">
                <a:solidFill>
                  <a:srgbClr val="FF0000"/>
                </a:solidFill>
              </a:rPr>
              <a:t> to fix C and C++?</a:t>
            </a:r>
            <a:endParaRPr lang="en-US" sz="2800" dirty="0">
              <a:solidFill>
                <a:srgbClr val="FF0000"/>
              </a:solidFill>
            </a:endParaRPr>
          </a:p>
          <a:p>
            <a:endParaRPr lang="en-US" sz="2800" dirty="0" smtClean="0"/>
          </a:p>
        </p:txBody>
      </p:sp>
    </p:spTree>
    <p:extLst>
      <p:ext uri="{BB962C8B-B14F-4D97-AF65-F5344CB8AC3E}">
        <p14:creationId xmlns:p14="http://schemas.microsoft.com/office/powerpoint/2010/main" val="340933725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New way for C</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3108543"/>
          </a:xfrm>
          <a:prstGeom prst="rect">
            <a:avLst/>
          </a:prstGeom>
          <a:noFill/>
        </p:spPr>
        <p:txBody>
          <a:bodyPr wrap="square" rtlCol="0">
            <a:spAutoFit/>
          </a:bodyPr>
          <a:lstStyle/>
          <a:p>
            <a:pPr lvl="0" eaLnBrk="0" fontAlgn="base" hangingPunct="0">
              <a:spcBef>
                <a:spcPct val="0"/>
              </a:spcBef>
              <a:spcAft>
                <a:spcPct val="0"/>
              </a:spcAft>
            </a:pPr>
            <a:r>
              <a:rPr lang="en-US" sz="2800" dirty="0">
                <a:latin typeface="Cambria" panose="02040503050406030204" pitchFamily="18" charset="0"/>
                <a:ea typeface="Cambria" panose="02040503050406030204" pitchFamily="18" charset="0"/>
              </a:rPr>
              <a:t>#</a:t>
            </a:r>
            <a:r>
              <a:rPr lang="en-US" sz="2800" dirty="0" smtClean="0">
                <a:latin typeface="Cambria" panose="02040503050406030204" pitchFamily="18" charset="0"/>
                <a:ea typeface="Cambria" panose="02040503050406030204" pitchFamily="18" charset="0"/>
              </a:rPr>
              <a:t>include </a:t>
            </a:r>
            <a:r>
              <a:rPr lang="en-US" sz="2800" dirty="0">
                <a:latin typeface="Cambria" panose="02040503050406030204" pitchFamily="18" charset="0"/>
                <a:ea typeface="Cambria" panose="02040503050406030204" pitchFamily="18" charset="0"/>
                <a:cs typeface="Courier New" panose="02070309020205020404" pitchFamily="49" charset="0"/>
              </a:rPr>
              <a:t>&lt;</a:t>
            </a:r>
            <a:r>
              <a:rPr lang="en-US" sz="2800" dirty="0" err="1">
                <a:latin typeface="Cambria" panose="02040503050406030204" pitchFamily="18" charset="0"/>
                <a:ea typeface="Cambria" panose="02040503050406030204" pitchFamily="18" charset="0"/>
                <a:cs typeface="Courier New" panose="02070309020205020404" pitchFamily="49" charset="0"/>
              </a:rPr>
              <a:t>stdint.h</a:t>
            </a:r>
            <a:r>
              <a:rPr lang="en-US" sz="2800" dirty="0">
                <a:latin typeface="Cambria" panose="02040503050406030204" pitchFamily="18" charset="0"/>
                <a:ea typeface="Cambria" panose="02040503050406030204" pitchFamily="18" charset="0"/>
                <a:cs typeface="Courier New" panose="02070309020205020404" pitchFamily="49" charset="0"/>
              </a:rPr>
              <a:t>&gt;</a:t>
            </a:r>
            <a:r>
              <a:rPr lang="en-US" sz="2800" dirty="0">
                <a:latin typeface="Cambria" panose="02040503050406030204" pitchFamily="18" charset="0"/>
                <a:ea typeface="Cambria" panose="02040503050406030204" pitchFamily="18" charset="0"/>
              </a:rPr>
              <a:t> </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a:t>
            </a:r>
            <a:r>
              <a:rPr lang="en-US" sz="2800" b="1" dirty="0" smtClean="0"/>
              <a:t>int64_t</a:t>
            </a:r>
            <a:r>
              <a:rPr lang="en-US" sz="2800" dirty="0" smtClean="0"/>
              <a:t>: </a:t>
            </a:r>
            <a:r>
              <a:rPr lang="en-US" sz="2800" dirty="0"/>
              <a:t>signed integer  [-2⁶³ … 2⁶³ - 1]</a:t>
            </a:r>
          </a:p>
          <a:p>
            <a:r>
              <a:rPr lang="en-US" sz="2800" dirty="0" smtClean="0"/>
              <a:t>	</a:t>
            </a:r>
            <a:r>
              <a:rPr lang="en-US" sz="2800" b="1" dirty="0" smtClean="0"/>
              <a:t>uint64_t</a:t>
            </a:r>
            <a:r>
              <a:rPr lang="en-US" sz="2800" dirty="0" smtClean="0"/>
              <a:t>: unsigned integer [0 </a:t>
            </a:r>
            <a:r>
              <a:rPr lang="en-US" sz="2800" dirty="0"/>
              <a:t>… ,  2⁶⁴ - 1</a:t>
            </a:r>
            <a:r>
              <a:rPr lang="en-US" sz="2800" dirty="0" smtClean="0"/>
              <a:t>]</a:t>
            </a:r>
          </a:p>
          <a:p>
            <a:endParaRPr lang="en-US" sz="2800" dirty="0"/>
          </a:p>
          <a:p>
            <a:endParaRPr lang="en-US" sz="2800" dirty="0" smtClean="0"/>
          </a:p>
        </p:txBody>
      </p:sp>
    </p:spTree>
    <p:extLst>
      <p:ext uri="{BB962C8B-B14F-4D97-AF65-F5344CB8AC3E}">
        <p14:creationId xmlns:p14="http://schemas.microsoft.com/office/powerpoint/2010/main" val="20909933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New way for C++</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3108543"/>
          </a:xfrm>
          <a:prstGeom prst="rect">
            <a:avLst/>
          </a:prstGeom>
          <a:noFill/>
        </p:spPr>
        <p:txBody>
          <a:bodyPr wrap="square" rtlCol="0">
            <a:spAutoFit/>
          </a:bodyPr>
          <a:lstStyle/>
          <a:p>
            <a:pPr lvl="0" eaLnBrk="0" fontAlgn="base" hangingPunct="0">
              <a:spcBef>
                <a:spcPct val="0"/>
              </a:spcBef>
              <a:spcAft>
                <a:spcPct val="0"/>
              </a:spcAft>
            </a:pPr>
            <a:r>
              <a:rPr lang="en-US" sz="2800" dirty="0" smtClean="0"/>
              <a:t>#</a:t>
            </a:r>
            <a:r>
              <a:rPr lang="en-US" sz="2800" dirty="0"/>
              <a:t>include &lt;</a:t>
            </a:r>
            <a:r>
              <a:rPr lang="en-US" sz="2800" dirty="0" err="1"/>
              <a:t>cstdint</a:t>
            </a:r>
            <a:r>
              <a:rPr lang="en-US" sz="2800" dirty="0"/>
              <a:t>&gt;</a:t>
            </a:r>
            <a:endParaRPr lang="en-US" sz="2800" dirty="0">
              <a:latin typeface="Cambria" panose="02040503050406030204" pitchFamily="18" charset="0"/>
              <a:ea typeface="Cambria" panose="02040503050406030204" pitchFamily="18" charset="0"/>
            </a:endParaRP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a:t>
            </a:r>
            <a:r>
              <a:rPr lang="en-US" sz="2800" b="1" dirty="0" smtClean="0"/>
              <a:t>int64_t</a:t>
            </a:r>
            <a:r>
              <a:rPr lang="en-US" sz="2800" dirty="0" smtClean="0"/>
              <a:t>: </a:t>
            </a:r>
            <a:r>
              <a:rPr lang="en-US" sz="2800" dirty="0"/>
              <a:t>signed integer  [-2⁶³ … 2⁶³ - 1]</a:t>
            </a:r>
          </a:p>
          <a:p>
            <a:r>
              <a:rPr lang="en-US" sz="2800" dirty="0" smtClean="0"/>
              <a:t>	</a:t>
            </a:r>
            <a:r>
              <a:rPr lang="en-US" sz="2800" b="1" dirty="0" smtClean="0"/>
              <a:t>uint64_t</a:t>
            </a:r>
            <a:r>
              <a:rPr lang="en-US" sz="2800" dirty="0" smtClean="0"/>
              <a:t>: unsigned integer [0 </a:t>
            </a:r>
            <a:r>
              <a:rPr lang="en-US" sz="2800" dirty="0"/>
              <a:t>… ,  2⁶⁴ - 1</a:t>
            </a:r>
            <a:r>
              <a:rPr lang="en-US" sz="2800" dirty="0" smtClean="0"/>
              <a:t>]</a:t>
            </a:r>
          </a:p>
          <a:p>
            <a:endParaRPr lang="en-US" sz="2800" dirty="0"/>
          </a:p>
          <a:p>
            <a:endParaRPr lang="en-US" sz="2800" dirty="0" smtClean="0"/>
          </a:p>
        </p:txBody>
      </p:sp>
    </p:spTree>
    <p:extLst>
      <p:ext uri="{BB962C8B-B14F-4D97-AF65-F5344CB8AC3E}">
        <p14:creationId xmlns:p14="http://schemas.microsoft.com/office/powerpoint/2010/main" val="7122027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Defining variables</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6555641"/>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Assume the variable name is </a:t>
            </a:r>
            <a:r>
              <a:rPr lang="en-US" sz="2800" b="1" dirty="0" err="1" smtClean="0">
                <a:latin typeface="Cambria" panose="02040503050406030204" pitchFamily="18" charset="0"/>
                <a:ea typeface="Cambria" panose="02040503050406030204" pitchFamily="18" charset="0"/>
              </a:rPr>
              <a:t>my_integer</a:t>
            </a: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and the machine size is 64 bits with no initial state</a:t>
            </a: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let </a:t>
            </a:r>
            <a:r>
              <a:rPr lang="en-US" sz="2800" dirty="0" err="1" smtClean="0">
                <a:latin typeface="Cambria" panose="02040503050406030204" pitchFamily="18" charset="0"/>
                <a:ea typeface="Cambria" panose="02040503050406030204" pitchFamily="18" charset="0"/>
              </a:rPr>
              <a:t>my_integer</a:t>
            </a:r>
            <a:r>
              <a:rPr lang="en-US" sz="2800" dirty="0" smtClean="0">
                <a:latin typeface="Cambria" panose="02040503050406030204" pitchFamily="18" charset="0"/>
                <a:ea typeface="Cambria" panose="02040503050406030204" pitchFamily="18" charset="0"/>
              </a:rPr>
              <a:t> : i64 ;</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b="1" dirty="0" smtClean="0"/>
              <a:t>int64_t</a:t>
            </a:r>
            <a:r>
              <a:rPr lang="en-US" sz="2800" dirty="0" smtClean="0"/>
              <a:t> </a:t>
            </a:r>
            <a:r>
              <a:rPr lang="en-US" sz="2800" dirty="0" err="1" smtClean="0"/>
              <a:t>my_integer</a:t>
            </a:r>
            <a:r>
              <a:rPr lang="en-US" sz="2800" dirty="0" smtClean="0"/>
              <a:t> ;</a:t>
            </a:r>
          </a:p>
          <a:p>
            <a:endParaRPr lang="en-US" sz="2800" dirty="0" smtClean="0"/>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a:t>
            </a:r>
            <a:r>
              <a:rPr lang="en-US" sz="2800" b="1" dirty="0"/>
              <a:t>int64_t</a:t>
            </a:r>
            <a:r>
              <a:rPr lang="en-US" sz="2800" dirty="0"/>
              <a:t> </a:t>
            </a:r>
            <a:r>
              <a:rPr lang="en-US" sz="2800" dirty="0" err="1"/>
              <a:t>my_integer</a:t>
            </a:r>
            <a:r>
              <a:rPr lang="en-US" sz="2800" dirty="0"/>
              <a:t> ;</a:t>
            </a:r>
          </a:p>
          <a:p>
            <a:endParaRPr lang="en-US" sz="2800" dirty="0" smtClean="0"/>
          </a:p>
          <a:p>
            <a:endParaRPr lang="en-US" sz="2800" dirty="0" smtClean="0"/>
          </a:p>
        </p:txBody>
      </p:sp>
    </p:spTree>
    <p:extLst>
      <p:ext uri="{BB962C8B-B14F-4D97-AF65-F5344CB8AC3E}">
        <p14:creationId xmlns:p14="http://schemas.microsoft.com/office/powerpoint/2010/main" val="312936790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a:solidFill>
                  <a:schemeClr val="lt1"/>
                </a:solidFill>
                <a:latin typeface="Arial"/>
              </a:rPr>
              <a:t>V</a:t>
            </a:r>
            <a:r>
              <a:rPr lang="en-US" sz="4400" b="1" dirty="0" smtClean="0">
                <a:solidFill>
                  <a:schemeClr val="lt1"/>
                </a:solidFill>
                <a:latin typeface="Arial"/>
              </a:rPr>
              <a:t>ariables with initial state</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5693866"/>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Assume the variable name is </a:t>
            </a:r>
            <a:r>
              <a:rPr lang="en-US" sz="2800" b="1" dirty="0" err="1" smtClean="0">
                <a:latin typeface="Cambria" panose="02040503050406030204" pitchFamily="18" charset="0"/>
                <a:ea typeface="Cambria" panose="02040503050406030204" pitchFamily="18" charset="0"/>
              </a:rPr>
              <a:t>my_integer</a:t>
            </a: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and the machine size is 64 bits with initial state equal to 7</a:t>
            </a: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let </a:t>
            </a:r>
            <a:r>
              <a:rPr lang="en-US" sz="2800" dirty="0" err="1" smtClean="0">
                <a:latin typeface="Cambria" panose="02040503050406030204" pitchFamily="18" charset="0"/>
                <a:ea typeface="Cambria" panose="02040503050406030204" pitchFamily="18" charset="0"/>
              </a:rPr>
              <a:t>my_integer</a:t>
            </a:r>
            <a:r>
              <a:rPr lang="en-US" sz="2800" dirty="0" smtClean="0">
                <a:latin typeface="Cambria" panose="02040503050406030204" pitchFamily="18" charset="0"/>
                <a:ea typeface="Cambria" panose="02040503050406030204" pitchFamily="18" charset="0"/>
              </a:rPr>
              <a:t> : i64 = 7 ;</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b="1" dirty="0" smtClean="0"/>
              <a:t>int64_t</a:t>
            </a:r>
            <a:r>
              <a:rPr lang="en-US" sz="2800" dirty="0" smtClean="0"/>
              <a:t> </a:t>
            </a:r>
            <a:r>
              <a:rPr lang="en-US" sz="2800" dirty="0" err="1" smtClean="0"/>
              <a:t>my_integer</a:t>
            </a:r>
            <a:r>
              <a:rPr lang="en-US" sz="2800" dirty="0" smtClean="0"/>
              <a:t> = 7 ;</a:t>
            </a:r>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a:t>
            </a:r>
            <a:r>
              <a:rPr lang="en-US" sz="2800" b="1" dirty="0"/>
              <a:t>int64_t</a:t>
            </a:r>
            <a:r>
              <a:rPr lang="en-US" sz="2800" dirty="0"/>
              <a:t> </a:t>
            </a:r>
            <a:r>
              <a:rPr lang="en-US" sz="2800" dirty="0" err="1" smtClean="0"/>
              <a:t>my_integer</a:t>
            </a:r>
            <a:r>
              <a:rPr lang="en-US" sz="2800" dirty="0" smtClean="0"/>
              <a:t> = 7 </a:t>
            </a:r>
            <a:r>
              <a:rPr lang="en-US" sz="2800" dirty="0"/>
              <a:t>;</a:t>
            </a:r>
          </a:p>
          <a:p>
            <a:endParaRPr lang="en-US" sz="2800" dirty="0" smtClean="0"/>
          </a:p>
          <a:p>
            <a:endParaRPr lang="en-US" sz="2800" dirty="0" smtClean="0"/>
          </a:p>
        </p:txBody>
      </p:sp>
    </p:spTree>
    <p:extLst>
      <p:ext uri="{BB962C8B-B14F-4D97-AF65-F5344CB8AC3E}">
        <p14:creationId xmlns:p14="http://schemas.microsoft.com/office/powerpoint/2010/main" val="25805198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Basic Variable Type</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693866"/>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These type of variables are treated as </a:t>
            </a:r>
            <a:r>
              <a:rPr lang="en-US" sz="2800" b="1" dirty="0" smtClean="0">
                <a:latin typeface="Cambria" panose="02040503050406030204" pitchFamily="18" charset="0"/>
                <a:ea typeface="Cambria" panose="02040503050406030204" pitchFamily="18" charset="0"/>
              </a:rPr>
              <a:t>atomic</a:t>
            </a:r>
            <a:r>
              <a:rPr lang="en-US" sz="2800" dirty="0" smtClean="0">
                <a:latin typeface="Cambria" panose="02040503050406030204" pitchFamily="18" charset="0"/>
                <a:ea typeface="Cambria" panose="02040503050406030204" pitchFamily="18" charset="0"/>
              </a:rPr>
              <a:t> or indivisible.    </a:t>
            </a:r>
          </a:p>
          <a:p>
            <a:r>
              <a:rPr lang="en-US" sz="2800" dirty="0" smtClean="0">
                <a:latin typeface="Cambria" panose="02040503050406030204" pitchFamily="18" charset="0"/>
                <a:ea typeface="Cambria" panose="02040503050406030204" pitchFamily="18" charset="0"/>
              </a:rPr>
              <a:t>Signed Integer types</a:t>
            </a:r>
            <a:endParaRPr lang="en-US" sz="28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i8, i16, i32, i64 </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dirty="0" smtClean="0"/>
              <a:t>int8_t, int16_t, int32_t, int64_t</a:t>
            </a:r>
          </a:p>
          <a:p>
            <a:r>
              <a:rPr lang="en-US" sz="2800" dirty="0"/>
              <a:t>	</a:t>
            </a:r>
            <a:r>
              <a:rPr lang="en-US" sz="2800" dirty="0" smtClean="0"/>
              <a:t>signed char (equal to int8_t but deprecated)</a:t>
            </a:r>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int8_t, int16_t, int32_t, </a:t>
            </a:r>
            <a:r>
              <a:rPr lang="en-US" sz="2800" dirty="0" smtClean="0"/>
              <a:t>int64_t, signed char</a:t>
            </a:r>
          </a:p>
          <a:p>
            <a:endParaRPr lang="en-US" sz="2800" dirty="0" smtClean="0"/>
          </a:p>
        </p:txBody>
      </p:sp>
    </p:spTree>
    <p:extLst>
      <p:ext uri="{BB962C8B-B14F-4D97-AF65-F5344CB8AC3E}">
        <p14:creationId xmlns:p14="http://schemas.microsoft.com/office/powerpoint/2010/main" val="20608557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Basic Variable Type</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693866"/>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These type of variables are treated as </a:t>
            </a:r>
            <a:r>
              <a:rPr lang="en-US" sz="2800" b="1" dirty="0" smtClean="0">
                <a:latin typeface="Cambria" panose="02040503050406030204" pitchFamily="18" charset="0"/>
                <a:ea typeface="Cambria" panose="02040503050406030204" pitchFamily="18" charset="0"/>
              </a:rPr>
              <a:t>atomic</a:t>
            </a:r>
            <a:r>
              <a:rPr lang="en-US" sz="2800" dirty="0" smtClean="0">
                <a:latin typeface="Cambria" panose="02040503050406030204" pitchFamily="18" charset="0"/>
                <a:ea typeface="Cambria" panose="02040503050406030204" pitchFamily="18" charset="0"/>
              </a:rPr>
              <a:t> or indivisible.    </a:t>
            </a:r>
          </a:p>
          <a:p>
            <a:r>
              <a:rPr lang="en-US" sz="2800" dirty="0" smtClean="0">
                <a:latin typeface="Cambria" panose="02040503050406030204" pitchFamily="18" charset="0"/>
                <a:ea typeface="Cambria" panose="02040503050406030204" pitchFamily="18" charset="0"/>
              </a:rPr>
              <a:t>Unsigned Integer types</a:t>
            </a:r>
            <a:endParaRPr lang="en-US" sz="28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u</a:t>
            </a:r>
            <a:r>
              <a:rPr lang="en-US" sz="2800" dirty="0" smtClean="0">
                <a:latin typeface="Cambria" panose="02040503050406030204" pitchFamily="18" charset="0"/>
                <a:ea typeface="Cambria" panose="02040503050406030204" pitchFamily="18" charset="0"/>
              </a:rPr>
              <a:t>8, u16, u32, u64 </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dirty="0" smtClean="0"/>
              <a:t>uint8_t, uint16_t, uint32_t, uint64_t</a:t>
            </a:r>
          </a:p>
          <a:p>
            <a:r>
              <a:rPr lang="en-US" sz="2800" dirty="0" smtClean="0"/>
              <a:t>	unsigned </a:t>
            </a:r>
            <a:r>
              <a:rPr lang="en-US" sz="2800" dirty="0"/>
              <a:t>char (equal to </a:t>
            </a:r>
            <a:r>
              <a:rPr lang="en-US" sz="2800" dirty="0" smtClean="0"/>
              <a:t>uint8_t </a:t>
            </a:r>
            <a:r>
              <a:rPr lang="en-US" sz="2800" dirty="0"/>
              <a:t>but deprecated)</a:t>
            </a:r>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a:t>
            </a:r>
            <a:r>
              <a:rPr lang="en-US" sz="2800" dirty="0" smtClean="0"/>
              <a:t>uint8_t</a:t>
            </a:r>
            <a:r>
              <a:rPr lang="en-US" sz="2800" dirty="0"/>
              <a:t>, u</a:t>
            </a:r>
            <a:r>
              <a:rPr lang="en-US" sz="2800" dirty="0" smtClean="0"/>
              <a:t>int16_t</a:t>
            </a:r>
            <a:r>
              <a:rPr lang="en-US" sz="2800" dirty="0"/>
              <a:t>, </a:t>
            </a:r>
            <a:r>
              <a:rPr lang="en-US" sz="2800" dirty="0" smtClean="0"/>
              <a:t>uint32_t</a:t>
            </a:r>
            <a:r>
              <a:rPr lang="en-US" sz="2800" dirty="0"/>
              <a:t>, </a:t>
            </a:r>
            <a:r>
              <a:rPr lang="en-US" sz="2800" dirty="0" smtClean="0"/>
              <a:t>uint64_t, unsigned char</a:t>
            </a:r>
          </a:p>
          <a:p>
            <a:endParaRPr lang="en-US" sz="2800" dirty="0" smtClean="0"/>
          </a:p>
        </p:txBody>
      </p:sp>
    </p:spTree>
    <p:extLst>
      <p:ext uri="{BB962C8B-B14F-4D97-AF65-F5344CB8AC3E}">
        <p14:creationId xmlns:p14="http://schemas.microsoft.com/office/powerpoint/2010/main" val="32107830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Floating Point Variables</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4832092"/>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Floating point numbers are numbers with a decimal point</a:t>
            </a:r>
          </a:p>
          <a:p>
            <a:r>
              <a:rPr lang="en-US" sz="2800" dirty="0" smtClean="0">
                <a:latin typeface="Cambria" panose="02040503050406030204" pitchFamily="18" charset="0"/>
                <a:ea typeface="Cambria" panose="02040503050406030204" pitchFamily="18" charset="0"/>
              </a:rPr>
              <a:t>Can be represented as mantissa x base </a:t>
            </a:r>
            <a:r>
              <a:rPr lang="en-US" sz="2800" baseline="30000" dirty="0" smtClean="0">
                <a:latin typeface="Cambria" panose="02040503050406030204" pitchFamily="18" charset="0"/>
                <a:ea typeface="Cambria" panose="02040503050406030204" pitchFamily="18" charset="0"/>
              </a:rPr>
              <a:t>exponent</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b="1" dirty="0" smtClean="0">
                <a:latin typeface="Cambria" panose="02040503050406030204" pitchFamily="18" charset="0"/>
                <a:ea typeface="Cambria" panose="02040503050406030204" pitchFamily="18" charset="0"/>
              </a:rPr>
              <a:t>f32</a:t>
            </a:r>
            <a:r>
              <a:rPr lang="en-US" sz="2800" dirty="0" smtClean="0">
                <a:latin typeface="Cambria" panose="02040503050406030204" pitchFamily="18" charset="0"/>
                <a:ea typeface="Cambria" panose="02040503050406030204" pitchFamily="18" charset="0"/>
              </a:rPr>
              <a:t> : single precision using 4 bytes</a:t>
            </a:r>
          </a:p>
          <a:p>
            <a:r>
              <a:rPr lang="en-US" sz="2800" dirty="0">
                <a:latin typeface="Cambria" panose="02040503050406030204" pitchFamily="18" charset="0"/>
                <a:ea typeface="Cambria" panose="02040503050406030204" pitchFamily="18" charset="0"/>
              </a:rPr>
              <a:t>	</a:t>
            </a:r>
            <a:r>
              <a:rPr lang="en-US" sz="2800" b="1" dirty="0" smtClean="0">
                <a:latin typeface="Cambria" panose="02040503050406030204" pitchFamily="18" charset="0"/>
                <a:ea typeface="Cambria" panose="02040503050406030204" pitchFamily="18" charset="0"/>
              </a:rPr>
              <a:t>f64</a:t>
            </a:r>
            <a:r>
              <a:rPr lang="en-US" sz="2800" dirty="0" smtClean="0">
                <a:latin typeface="Cambria" panose="02040503050406030204" pitchFamily="18" charset="0"/>
                <a:ea typeface="Cambria" panose="02040503050406030204" pitchFamily="18" charset="0"/>
              </a:rPr>
              <a:t> : double precision using 8 bytes</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 C++:</a:t>
            </a:r>
          </a:p>
          <a:p>
            <a:pPr lvl="1"/>
            <a:r>
              <a:rPr lang="en-US" sz="2800" dirty="0" smtClean="0"/>
              <a:t>	</a:t>
            </a:r>
            <a:r>
              <a:rPr lang="en-US" sz="2800" b="1" dirty="0" smtClean="0"/>
              <a:t>float </a:t>
            </a:r>
            <a:r>
              <a:rPr lang="en-US" sz="2800" dirty="0" smtClean="0"/>
              <a:t>: single precision using 4 bytes</a:t>
            </a:r>
          </a:p>
          <a:p>
            <a:pPr lvl="1"/>
            <a:r>
              <a:rPr lang="en-US" sz="2800" dirty="0"/>
              <a:t>	</a:t>
            </a:r>
            <a:r>
              <a:rPr lang="en-US" sz="2800" b="1" dirty="0" smtClean="0"/>
              <a:t>double</a:t>
            </a:r>
            <a:r>
              <a:rPr lang="en-US" sz="2800" dirty="0" smtClean="0"/>
              <a:t> : double precision using 8 bytes</a:t>
            </a:r>
          </a:p>
          <a:p>
            <a:pPr lvl="1"/>
            <a:r>
              <a:rPr lang="en-US" sz="2800" dirty="0"/>
              <a:t>	</a:t>
            </a:r>
            <a:r>
              <a:rPr lang="en-US" sz="2800" b="1" dirty="0" smtClean="0"/>
              <a:t>long double </a:t>
            </a:r>
            <a:r>
              <a:rPr lang="en-US" sz="2800" dirty="0" smtClean="0"/>
              <a:t>: may be 80 or 128 bits (compiler dependent)</a:t>
            </a:r>
          </a:p>
          <a:p>
            <a:endParaRPr lang="en-US" sz="2800" dirty="0" smtClean="0"/>
          </a:p>
        </p:txBody>
      </p:sp>
    </p:spTree>
    <p:extLst>
      <p:ext uri="{BB962C8B-B14F-4D97-AF65-F5344CB8AC3E}">
        <p14:creationId xmlns:p14="http://schemas.microsoft.com/office/powerpoint/2010/main" val="67477724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Boolean Variables</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262979"/>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Variable may either true or false</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err="1" smtClean="0">
                <a:latin typeface="Cambria" panose="02040503050406030204" pitchFamily="18" charset="0"/>
                <a:ea typeface="Cambria" panose="02040503050406030204" pitchFamily="18" charset="0"/>
              </a:rPr>
              <a:t>bool</a:t>
            </a:r>
            <a:r>
              <a:rPr lang="en-US" sz="2800" dirty="0" smtClean="0">
                <a:latin typeface="Cambria" panose="02040503050406030204" pitchFamily="18" charset="0"/>
                <a:ea typeface="Cambria" panose="02040503050406030204" pitchFamily="18" charset="0"/>
              </a:rPr>
              <a:t> : 1 byte storage</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#include &lt;</a:t>
            </a:r>
            <a:r>
              <a:rPr lang="en-US" sz="2800" dirty="0" err="1"/>
              <a:t>stdbool.h</a:t>
            </a:r>
            <a:r>
              <a:rPr lang="en-US" sz="2800" dirty="0" smtClean="0"/>
              <a:t>&gt;</a:t>
            </a:r>
          </a:p>
          <a:p>
            <a:r>
              <a:rPr lang="en-US" sz="2800" dirty="0"/>
              <a:t>	</a:t>
            </a:r>
            <a:r>
              <a:rPr lang="en-US" sz="2800" dirty="0" err="1" smtClean="0"/>
              <a:t>bool</a:t>
            </a:r>
            <a:r>
              <a:rPr lang="en-US" sz="2800" dirty="0" smtClean="0"/>
              <a:t> :  1 byte storage</a:t>
            </a:r>
          </a:p>
          <a:p>
            <a:endParaRPr lang="en-US" sz="2800" dirty="0"/>
          </a:p>
          <a:p>
            <a:r>
              <a:rPr lang="en-US" sz="2800" dirty="0" smtClean="0"/>
              <a:t>C++:                                                 No include necessary</a:t>
            </a:r>
          </a:p>
          <a:p>
            <a:pPr lvl="1"/>
            <a:r>
              <a:rPr lang="en-US" sz="2800" dirty="0" smtClean="0"/>
              <a:t>	</a:t>
            </a:r>
            <a:r>
              <a:rPr lang="en-US" sz="2800" dirty="0" err="1" smtClean="0"/>
              <a:t>bool</a:t>
            </a:r>
            <a:r>
              <a:rPr lang="en-US" sz="2800" dirty="0" smtClean="0"/>
              <a:t> : 1 byte storage</a:t>
            </a:r>
          </a:p>
          <a:p>
            <a:endParaRPr lang="en-US" sz="2800" dirty="0" smtClean="0"/>
          </a:p>
        </p:txBody>
      </p:sp>
    </p:spTree>
    <p:extLst>
      <p:ext uri="{BB962C8B-B14F-4D97-AF65-F5344CB8AC3E}">
        <p14:creationId xmlns:p14="http://schemas.microsoft.com/office/powerpoint/2010/main" val="80566558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Boolean Usage</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262979"/>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All languages use </a:t>
            </a:r>
            <a:r>
              <a:rPr lang="en-US" sz="2800" b="1" dirty="0" smtClean="0">
                <a:latin typeface="Cambria" panose="02040503050406030204" pitchFamily="18" charset="0"/>
                <a:ea typeface="Cambria" panose="02040503050406030204" pitchFamily="18" charset="0"/>
              </a:rPr>
              <a:t>true</a:t>
            </a:r>
            <a:r>
              <a:rPr lang="en-US" sz="2800" dirty="0" smtClean="0">
                <a:latin typeface="Cambria" panose="02040503050406030204" pitchFamily="18" charset="0"/>
                <a:ea typeface="Cambria" panose="02040503050406030204" pitchFamily="18" charset="0"/>
              </a:rPr>
              <a:t> and </a:t>
            </a:r>
            <a:r>
              <a:rPr lang="en-US" sz="2800" b="1" dirty="0" smtClean="0">
                <a:latin typeface="Cambria" panose="02040503050406030204" pitchFamily="18" charset="0"/>
                <a:ea typeface="Cambria" panose="02040503050406030204" pitchFamily="18" charset="0"/>
              </a:rPr>
              <a:t>false</a:t>
            </a:r>
            <a:r>
              <a:rPr lang="en-US" sz="2800" dirty="0" smtClean="0">
                <a:latin typeface="Cambria" panose="02040503050406030204" pitchFamily="18" charset="0"/>
                <a:ea typeface="Cambria" panose="02040503050406030204" pitchFamily="18" charset="0"/>
              </a:rPr>
              <a:t> keywords in lower case</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let </a:t>
            </a:r>
            <a:r>
              <a:rPr lang="en-US" sz="2800" dirty="0" err="1" smtClean="0">
                <a:latin typeface="Cambria" panose="02040503050406030204" pitchFamily="18" charset="0"/>
                <a:ea typeface="Cambria" panose="02040503050406030204" pitchFamily="18" charset="0"/>
              </a:rPr>
              <a:t>my_bool</a:t>
            </a:r>
            <a:r>
              <a:rPr lang="en-US" sz="2800" dirty="0" smtClean="0">
                <a:latin typeface="Cambria" panose="02040503050406030204" pitchFamily="18" charset="0"/>
                <a:ea typeface="Cambria" panose="02040503050406030204" pitchFamily="18" charset="0"/>
              </a:rPr>
              <a:t> : </a:t>
            </a:r>
            <a:r>
              <a:rPr lang="en-US" sz="2800" dirty="0" err="1" smtClean="0">
                <a:latin typeface="Cambria" panose="02040503050406030204" pitchFamily="18" charset="0"/>
                <a:ea typeface="Cambria" panose="02040503050406030204" pitchFamily="18" charset="0"/>
              </a:rPr>
              <a:t>bool</a:t>
            </a:r>
            <a:r>
              <a:rPr lang="en-US" sz="2800" dirty="0" smtClean="0">
                <a:latin typeface="Cambria" panose="02040503050406030204" pitchFamily="18" charset="0"/>
                <a:ea typeface="Cambria" panose="02040503050406030204" pitchFamily="18" charset="0"/>
              </a:rPr>
              <a:t> = true ;   </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#include &lt;</a:t>
            </a:r>
            <a:r>
              <a:rPr lang="en-US" sz="2800" dirty="0" err="1"/>
              <a:t>stdbool.h</a:t>
            </a:r>
            <a:r>
              <a:rPr lang="en-US" sz="2800" dirty="0" smtClean="0"/>
              <a:t>&gt;</a:t>
            </a:r>
          </a:p>
          <a:p>
            <a:r>
              <a:rPr lang="en-US" sz="2800" dirty="0"/>
              <a:t>	</a:t>
            </a:r>
            <a:r>
              <a:rPr lang="en-US" sz="2800" dirty="0" err="1" smtClean="0"/>
              <a:t>bool</a:t>
            </a:r>
            <a:r>
              <a:rPr lang="en-US" sz="2800" dirty="0" smtClean="0"/>
              <a:t>  </a:t>
            </a:r>
            <a:r>
              <a:rPr lang="en-US" sz="2800" dirty="0" err="1" smtClean="0"/>
              <a:t>my_bool</a:t>
            </a:r>
            <a:r>
              <a:rPr lang="en-US" sz="2800" dirty="0" smtClean="0"/>
              <a:t> = true ;</a:t>
            </a:r>
          </a:p>
          <a:p>
            <a:endParaRPr lang="en-US" sz="2800" dirty="0"/>
          </a:p>
          <a:p>
            <a:r>
              <a:rPr lang="en-US" sz="2800" dirty="0" smtClean="0"/>
              <a:t>C++:</a:t>
            </a:r>
          </a:p>
          <a:p>
            <a:pPr lvl="1"/>
            <a:r>
              <a:rPr lang="en-US" sz="2800" dirty="0" smtClean="0"/>
              <a:t>	</a:t>
            </a:r>
            <a:r>
              <a:rPr lang="en-US" sz="2800" dirty="0" err="1" smtClean="0"/>
              <a:t>bool</a:t>
            </a:r>
            <a:r>
              <a:rPr lang="en-US" sz="2800" dirty="0" smtClean="0"/>
              <a:t> </a:t>
            </a:r>
            <a:r>
              <a:rPr lang="en-US" sz="2800" dirty="0" err="1" smtClean="0"/>
              <a:t>my_bool</a:t>
            </a:r>
            <a:r>
              <a:rPr lang="en-US" sz="2800" dirty="0" smtClean="0"/>
              <a:t> = false ;</a:t>
            </a:r>
          </a:p>
          <a:p>
            <a:endParaRPr lang="en-US" sz="2800" dirty="0" smtClean="0"/>
          </a:p>
        </p:txBody>
      </p:sp>
    </p:spTree>
    <p:extLst>
      <p:ext uri="{BB962C8B-B14F-4D97-AF65-F5344CB8AC3E}">
        <p14:creationId xmlns:p14="http://schemas.microsoft.com/office/powerpoint/2010/main" val="31146875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Character Variables</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3539430"/>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Used as a single character in a “string” of characters</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char : storage space 4 bytes</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 C++:</a:t>
            </a:r>
          </a:p>
          <a:p>
            <a:r>
              <a:rPr lang="en-US" sz="2800" dirty="0"/>
              <a:t>	</a:t>
            </a:r>
            <a:r>
              <a:rPr lang="en-US" sz="2800" dirty="0" smtClean="0"/>
              <a:t>char : storage space 1 byte</a:t>
            </a:r>
          </a:p>
          <a:p>
            <a:r>
              <a:rPr lang="en-US" sz="2800" dirty="0"/>
              <a:t>	</a:t>
            </a:r>
            <a:endParaRPr lang="en-US" sz="2800" dirty="0" smtClean="0"/>
          </a:p>
        </p:txBody>
      </p:sp>
    </p:spTree>
    <p:extLst>
      <p:ext uri="{BB962C8B-B14F-4D97-AF65-F5344CB8AC3E}">
        <p14:creationId xmlns:p14="http://schemas.microsoft.com/office/powerpoint/2010/main" val="32814821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a:solidFill>
                  <a:schemeClr val="lt1"/>
                </a:solidFill>
                <a:effectLst/>
                <a:uFillTx/>
                <a:latin typeface="Arial"/>
              </a:rPr>
              <a:t> </a:t>
            </a:r>
            <a:r>
              <a:rPr lang="en-US" sz="4400" b="1" dirty="0" smtClean="0">
                <a:solidFill>
                  <a:schemeClr val="lt1"/>
                </a:solidFill>
                <a:latin typeface="Arial"/>
              </a:rPr>
              <a:t>Let’s review memory</a:t>
            </a:r>
            <a:endParaRPr lang="en-US" sz="4400" b="0" u="none" strike="noStrike" dirty="0">
              <a:solidFill>
                <a:srgbClr val="000000"/>
              </a:solidFill>
              <a:effectLst/>
              <a:uFillTx/>
              <a:latin typeface="Arial"/>
            </a:endParaRPr>
          </a:p>
        </p:txBody>
      </p:sp>
      <p:sp>
        <p:nvSpPr>
          <p:cNvPr id="3" name="TextBox 2"/>
          <p:cNvSpPr txBox="1"/>
          <p:nvPr/>
        </p:nvSpPr>
        <p:spPr>
          <a:xfrm>
            <a:off x="1685315" y="1990428"/>
            <a:ext cx="6852132" cy="769441"/>
          </a:xfrm>
          <a:prstGeom prst="rect">
            <a:avLst/>
          </a:prstGeom>
          <a:noFill/>
        </p:spPr>
        <p:txBody>
          <a:bodyPr wrap="none" rtlCol="0">
            <a:spAutoFit/>
          </a:bodyPr>
          <a:lstStyle/>
          <a:p>
            <a:r>
              <a:rPr lang="en-US" sz="4400" dirty="0" smtClean="0"/>
              <a:t>Exercise:  Using </a:t>
            </a:r>
            <a:r>
              <a:rPr lang="en-US" sz="4400" dirty="0" err="1" smtClean="0"/>
              <a:t>mempractice</a:t>
            </a:r>
            <a:endParaRPr lang="en-US" sz="4400" dirty="0"/>
          </a:p>
        </p:txBody>
      </p:sp>
      <p:cxnSp>
        <p:nvCxnSpPr>
          <p:cNvPr id="7" name="Elbow Connector 6"/>
          <p:cNvCxnSpPr/>
          <p:nvPr/>
        </p:nvCxnSpPr>
        <p:spPr>
          <a:xfrm>
            <a:off x="4937454" y="7038975"/>
            <a:ext cx="914400" cy="91440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Freeform 8"/>
          <p:cNvSpPr/>
          <p:nvPr/>
        </p:nvSpPr>
        <p:spPr>
          <a:xfrm>
            <a:off x="4914900" y="4533900"/>
            <a:ext cx="0" cy="66675"/>
          </a:xfrm>
          <a:custGeom>
            <a:avLst/>
            <a:gdLst>
              <a:gd name="connsiteX0" fmla="*/ 0 w 0"/>
              <a:gd name="connsiteY0" fmla="*/ 0 h 66675"/>
              <a:gd name="connsiteX1" fmla="*/ 0 w 0"/>
              <a:gd name="connsiteY1" fmla="*/ 66675 h 66675"/>
            </a:gdLst>
            <a:ahLst/>
            <a:cxnLst>
              <a:cxn ang="0">
                <a:pos x="connsiteX0" y="connsiteY0"/>
              </a:cxn>
              <a:cxn ang="0">
                <a:pos x="connsiteX1" y="connsiteY1"/>
              </a:cxn>
            </a:cxnLst>
            <a:rect l="l" t="t" r="r" b="b"/>
            <a:pathLst>
              <a:path h="66675">
                <a:moveTo>
                  <a:pt x="0" y="0"/>
                </a:moveTo>
                <a:lnTo>
                  <a:pt x="0" y="66675"/>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69923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1_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57885</TotalTime>
  <Words>3875</Words>
  <Application>Microsoft Office PowerPoint</Application>
  <PresentationFormat>Custom</PresentationFormat>
  <Paragraphs>1223</Paragraphs>
  <Slides>77</Slides>
  <Notes>77</Notes>
  <HiddenSlides>0</HiddenSlides>
  <MMClips>0</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77</vt:i4>
      </vt:variant>
    </vt:vector>
  </HeadingPairs>
  <TitlesOfParts>
    <vt:vector size="92" baseType="lpstr">
      <vt:lpstr>ＭＳ Ｐゴシック</vt:lpstr>
      <vt:lpstr>Arial</vt:lpstr>
      <vt:lpstr>Calibri</vt:lpstr>
      <vt:lpstr>Cambria</vt:lpstr>
      <vt:lpstr>Courier New</vt:lpstr>
      <vt:lpstr>DejaVu Sans</vt:lpstr>
      <vt:lpstr>Google Sans</vt:lpstr>
      <vt:lpstr>OpenSymbol</vt:lpstr>
      <vt:lpstr>Osaka</vt:lpstr>
      <vt:lpstr>Symbol</vt:lpstr>
      <vt:lpstr>Times New Roman</vt:lpstr>
      <vt:lpstr>Wingdings</vt:lpstr>
      <vt:lpstr>Office Theme</vt:lpstr>
      <vt:lpstr>Theme1</vt:lpstr>
      <vt:lpstr>1_Theme1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Memory map of Linux 32 bit 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dc:title>
  <dc:subject/>
  <dc:creator>Bill Swartz</dc:creator>
  <dc:description/>
  <cp:lastModifiedBy>Bill Swartz</cp:lastModifiedBy>
  <cp:revision>553</cp:revision>
  <dcterms:created xsi:type="dcterms:W3CDTF">2013-08-28T11:36:20Z</dcterms:created>
  <dcterms:modified xsi:type="dcterms:W3CDTF">2026-09-23T04:56:46Z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2012-08-29T00:00:00Z</vt:filetime>
  </property>
  <property fmtid="{D5CDD505-2E9C-101B-9397-08002B2CF9AE}" pid="3" name="LastSaved">
    <vt:filetime>2013-08-28T00:00:00Z</vt:filetime>
  </property>
  <property fmtid="{D5CDD505-2E9C-101B-9397-08002B2CF9AE}" pid="4" name="Notes">
    <vt:i4>8</vt:i4>
  </property>
  <property fmtid="{D5CDD505-2E9C-101B-9397-08002B2CF9AE}" pid="5" name="PresentationFormat">
    <vt:lpwstr>Custom</vt:lpwstr>
  </property>
  <property fmtid="{D5CDD505-2E9C-101B-9397-08002B2CF9AE}" pid="6" name="Slides">
    <vt:i4>8</vt:i4>
  </property>
</Properties>
</file>