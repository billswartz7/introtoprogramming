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68" r:id="rId3"/>
  </p:sldMasterIdLst>
  <p:notesMasterIdLst>
    <p:notesMasterId r:id="rId6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314" r:id="rId11"/>
    <p:sldId id="310" r:id="rId12"/>
    <p:sldId id="263" r:id="rId13"/>
    <p:sldId id="264" r:id="rId14"/>
    <p:sldId id="311" r:id="rId15"/>
    <p:sldId id="313" r:id="rId16"/>
    <p:sldId id="312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315" r:id="rId27"/>
    <p:sldId id="274" r:id="rId28"/>
    <p:sldId id="317" r:id="rId29"/>
    <p:sldId id="316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92" userDrawn="1">
          <p15:clr>
            <a:srgbClr val="A4A3A4"/>
          </p15:clr>
        </p15:guide>
        <p15:guide id="2" pos="33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4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2148" y="78"/>
      </p:cViewPr>
      <p:guideLst>
        <p:guide orient="horz" pos="4392"/>
        <p:guide pos="3312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3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38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8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BBEA29-00E4-49AD-9593-1714797B79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331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Title slide. This lecture extends the single-variable model from the last lecture to grouped data, then shows students how to see all of it in a debugger.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757715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Quick review. Ask the class: what is &amp;sum and what is sum? Re-establish the address-versus-contents distinction, because structs and arrays are built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196198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Use a concrete example the students can picture - a sensor reading. The point is that the three values have no relationship as far as the compiler is concerned.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903026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Let this look as tedious as it is. Ask what happens when a fourth field is added, or when you need a hundred readings.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95579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Definition slide. Stress "new type": after this definition the language has a type it did not have before, and you may declare as many variables of it as you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708320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Emphasize the semicolon after the closing brace - a classic C error. And stress that no storage exists yet; this is a blueprint.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995349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where storage is actually created. Connect back to lecture one: my_sample now has an address, and its contents are the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817440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where storage is actually created. Connect back to lecture one: my_sample now has an address, and its contents are the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750576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where storage is actually created. Connect back to lecture one: my_sample now has an address, and its contents are the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361148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Keep the class discussion to one line here - it is a forward reference to object-oriented programming, not the subject of this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5725834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Point out the three syntactic differences: commas not semicolons, name-colon-type order, and no trailing semicolon. Naming convention is enforced by a compiler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024104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Point out the three syntactic differences: commas not semicolons, name-colon-type order, and no trailing semicolon. Naming convention is enforced by a compiler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51074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Point out the three syntactic differences: commas not semicolons, name-colon-type order, and no trailing semicolon. Naming convention is enforced by a compiler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016773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Designated initializers are C99 and C++20. They are worth the extra typing because they survive someone reordering the struct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6026717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Designated initializers are C99 and C++20. They are worth the extra typing because they survive someone reordering the struct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346953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a real safety difference: in C an uninitialized member is whatever was in memory; in Rust the program will not compile.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151617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Reassure them: one operator, three languages. The dot is how a member name is turned into an offset from the base address - which is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284873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key idea of the whole struct section. Member access is free at run time - it compiles to a load from a known offset, exactly like a plain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2759025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Encourage them to write a five line program that prints sizeof and every offsetof. It makes the next two slides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474189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Tie this to the machine-size discussion from the last lecture. Misaligned access is slow on x86 and a fault on many embedded 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4113944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Have them compute sizeof before you show the answer. On a microcontroller with 320 KB of RAM, a 24 byte struct in an array of 1000 is a real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59404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Same three members, same order of declaration reversed, 8 bytes saved. Have them check it with sizeof in their own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1879306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Needed whenever the bytes must match something outside your program: a hardware register block, a file format, a network packet, or another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08241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arrow is just sugar for dereference-then-dot. Rust removes the distinction with automatic dereferencing, which is one less thing to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6584024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arrow is just sugar for dereference-then-dot. Rust removes the distinction with automatic dereferencing, which is one less thing to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9125532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50107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arrow is just sugar for dereference-then-dot. Rust removes the distinction with automatic dereferencing, which is one less thing to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7540834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Nesting does not add indirection - the inner struct is stored in place, not pointed to. That differs from Java or Python, where it would be a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0167314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Ownership is a forward reference; one sentence is enough. The practical rule: pass big structs by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7107562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Transition slide into arrays. Same rhetorical move as the start of the struct section: show the painful version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742861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Contrast with the struct: a struct is different types at different offsets; an array is one type repeated. Both are one block of memory with one base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9129503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= { 0.0f } zero-fills the whole array, a useful C idiom. std::array knows its own length and can be passed to functions without decaying to a pointer.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0601515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Because length is part of the type, a [u32; 100] and a [u32; 50] are different types. That is how Rust can check bounds so cheaply.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2935263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answers the question every first-year student asks. The answer is addresses, not tradition - which is why we did addresses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112645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Have them compute &amp;counts[7] on the board from the base address. This is the same arithmetic the compiler emits.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7963793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C idiom works only where the real array is visible. Once it has been passed to a function it has decayed to a pointer and sizeof gives the pointer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06068163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Worth dwelling on. A buffer overrun in C is the single most common security vulnerability in the history of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9692219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0..100 is exclusive of 100, which matches the C loop exactly. Mention that idiomatic Rust would iterate over the values rather than the indices.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016034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the data structure they will actually use for a sensor log. Point out that the padding from earlier is now multiplied by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436118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Row major matters for performance: walking along a row is cache friendly, walking down a column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1486631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forward reference only. The distinction to plant now: an array has a fixed size known at compile time; a vector grows at run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1874898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Section transition. Acknowledge that printf debugging works; the argument is about efficiency, not purity.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35349062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fourth line is the payoff of lecture one: the debugger is doing the same name-to-address mapping the compiler did, only in reverse.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6357762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Explain why -O0 matters: with optimization on, variables live in registers, lines are reordered, and the debugger will report "value optimized out".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092806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Tell students which one your lab machines use so they install the right thing. On macOS, gdb needs code signing; lldb is the path of least resistance.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5028640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Do this live. The moment the prompt returns with the program paused is when the idea lands for most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277789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Six commands run a whole debugging session. The only subtle pair is next versus step - over the call or into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488364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Point out that every command has a short form, and that pressing Enter on a blank line repeats the last one - which is how you step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7032738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Explicitly connect print x to "contents" and print &amp;x to "address". The debugger is the first place students see both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06468714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One command prints the entire structure with its member names. Contrast with printf, where you would have to write a format string for every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5481284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Ask the class where the debugger learned the member names. Answer: the -g debug information the compiler placed in the executable.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49122383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Note how gdb collapses runs of identical values. Students often think the array is truncated - it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06764315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the answer to "I have a pointer, not an array". It is the single most useful gdb trick for embedded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68792385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Nice callback to the padding slide: dump the struct and count the wasted bytes. Students believe padding once they have seen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09873959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Watchpoints are the closer for the gdb section. They find memory corruption bugs that no amount of reading will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63451234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If students run plain gdb on a Rust binary it still works, but the output is much harder to read. The wrapper is the whole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56974648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Give this to the macOS students. frame variable is the lldb equivalent of info locals, and it is the command they will use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67331668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Most students will live here rather than at the gdb prompt. That is fine - but they should know what it is driving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2831305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Demonstrate expanding an array of structs. This is the moment students see that a struct really is a labeled block of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27557452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Debugging is a discipline, not a tool. The habit to teach: state what you believe is true, then let the debugger check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5451375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Summary. The through line for the whole course: everything is memory, and a name is how we avoid typing an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373871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Lab exercise, mirroring the mempractice exercise from the previous lecture. Have them set a breakpoint, print a struct, print an array of structs, and dump raw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858459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54560" y="2409480"/>
            <a:ext cx="8548920" cy="163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2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7F920929-0F69-4400-B58F-F0F9AC4A6A2D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905184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4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5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5BC29054-6F74-4644-9529-D93E886B0EF0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8004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7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dt" idx="8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4839A86E-239E-4764-956E-22B529859FEB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k object 16"/>
          <p:cNvSpPr/>
          <p:nvPr/>
        </p:nvSpPr>
        <p:spPr>
          <a:xfrm>
            <a:off x="2341800" y="638280"/>
            <a:ext cx="360" cy="5485680"/>
          </a:xfrm>
          <a:custGeom>
            <a:avLst/>
            <a:gdLst>
              <a:gd name="textAreaLeft" fmla="*/ 0 w 360"/>
              <a:gd name="textAreaRight" fmla="*/ 1440 w 360"/>
              <a:gd name="textAreaTop" fmla="*/ 0 h 5485680"/>
              <a:gd name="textAreaBottom" fmla="*/ 5486400 h 5485680"/>
            </a:gdLst>
            <a:ahLst/>
            <a:cxnLst/>
            <a:rect l="textAreaLeft" t="textAreaTop" r="textAreaRight" b="textAreaBottom"/>
            <a:pathLst>
              <a:path h="5486398">
                <a:moveTo>
                  <a:pt x="0" y="0"/>
                </a:moveTo>
                <a:lnTo>
                  <a:pt x="0" y="5486398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bk object 17"/>
          <p:cNvSpPr/>
          <p:nvPr/>
        </p:nvSpPr>
        <p:spPr>
          <a:xfrm>
            <a:off x="2296080" y="60789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bk object 18"/>
          <p:cNvSpPr/>
          <p:nvPr/>
        </p:nvSpPr>
        <p:spPr>
          <a:xfrm>
            <a:off x="2296080" y="55396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bk object 19"/>
          <p:cNvSpPr/>
          <p:nvPr/>
        </p:nvSpPr>
        <p:spPr>
          <a:xfrm>
            <a:off x="2296080" y="50000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bk object 20"/>
          <p:cNvSpPr/>
          <p:nvPr/>
        </p:nvSpPr>
        <p:spPr>
          <a:xfrm>
            <a:off x="2296080" y="44604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bk object 21"/>
          <p:cNvSpPr/>
          <p:nvPr/>
        </p:nvSpPr>
        <p:spPr>
          <a:xfrm>
            <a:off x="2296080" y="39211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bk object 22"/>
          <p:cNvSpPr/>
          <p:nvPr/>
        </p:nvSpPr>
        <p:spPr>
          <a:xfrm>
            <a:off x="2296080" y="33814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bk object 23"/>
          <p:cNvSpPr/>
          <p:nvPr/>
        </p:nvSpPr>
        <p:spPr>
          <a:xfrm>
            <a:off x="2296080" y="28418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bk object 24"/>
          <p:cNvSpPr/>
          <p:nvPr/>
        </p:nvSpPr>
        <p:spPr>
          <a:xfrm>
            <a:off x="2296080" y="23025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bk object 25"/>
          <p:cNvSpPr/>
          <p:nvPr/>
        </p:nvSpPr>
        <p:spPr>
          <a:xfrm>
            <a:off x="2296080" y="17629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bk object 26"/>
          <p:cNvSpPr/>
          <p:nvPr/>
        </p:nvSpPr>
        <p:spPr>
          <a:xfrm>
            <a:off x="2296080" y="12236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bk object 27"/>
          <p:cNvSpPr/>
          <p:nvPr/>
        </p:nvSpPr>
        <p:spPr>
          <a:xfrm>
            <a:off x="2296080" y="6840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bk object 28"/>
          <p:cNvSpPr/>
          <p:nvPr/>
        </p:nvSpPr>
        <p:spPr>
          <a:xfrm>
            <a:off x="2107080" y="5949000"/>
            <a:ext cx="134640" cy="20448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254" h="205371">
                <a:moveTo>
                  <a:pt x="81533" y="0"/>
                </a:moveTo>
                <a:lnTo>
                  <a:pt x="54101" y="0"/>
                </a:lnTo>
                <a:lnTo>
                  <a:pt x="30098" y="11823"/>
                </a:lnTo>
                <a:lnTo>
                  <a:pt x="18033" y="20840"/>
                </a:lnTo>
                <a:lnTo>
                  <a:pt x="6095" y="44970"/>
                </a:lnTo>
                <a:lnTo>
                  <a:pt x="3175" y="53975"/>
                </a:lnTo>
                <a:lnTo>
                  <a:pt x="253" y="75196"/>
                </a:lnTo>
                <a:lnTo>
                  <a:pt x="253" y="102628"/>
                </a:lnTo>
                <a:lnTo>
                  <a:pt x="0" y="102628"/>
                </a:lnTo>
                <a:lnTo>
                  <a:pt x="0" y="130060"/>
                </a:lnTo>
                <a:lnTo>
                  <a:pt x="2920" y="151269"/>
                </a:lnTo>
                <a:lnTo>
                  <a:pt x="11937" y="169430"/>
                </a:lnTo>
                <a:lnTo>
                  <a:pt x="17906" y="184543"/>
                </a:lnTo>
                <a:lnTo>
                  <a:pt x="29971" y="193560"/>
                </a:lnTo>
                <a:lnTo>
                  <a:pt x="42036" y="199529"/>
                </a:lnTo>
                <a:lnTo>
                  <a:pt x="66166" y="205371"/>
                </a:lnTo>
                <a:lnTo>
                  <a:pt x="81279" y="202450"/>
                </a:lnTo>
                <a:lnTo>
                  <a:pt x="93344" y="199529"/>
                </a:lnTo>
                <a:lnTo>
                  <a:pt x="105409" y="193560"/>
                </a:lnTo>
                <a:lnTo>
                  <a:pt x="114426" y="184543"/>
                </a:lnTo>
                <a:lnTo>
                  <a:pt x="116397" y="181241"/>
                </a:lnTo>
                <a:lnTo>
                  <a:pt x="57276" y="181241"/>
                </a:lnTo>
                <a:lnTo>
                  <a:pt x="54356" y="178320"/>
                </a:lnTo>
                <a:lnTo>
                  <a:pt x="51434" y="178320"/>
                </a:lnTo>
                <a:lnTo>
                  <a:pt x="39623" y="166509"/>
                </a:lnTo>
                <a:lnTo>
                  <a:pt x="33654" y="157492"/>
                </a:lnTo>
                <a:lnTo>
                  <a:pt x="30709" y="139204"/>
                </a:lnTo>
                <a:lnTo>
                  <a:pt x="27812" y="124218"/>
                </a:lnTo>
                <a:lnTo>
                  <a:pt x="27812" y="103009"/>
                </a:lnTo>
                <a:lnTo>
                  <a:pt x="27558" y="102628"/>
                </a:lnTo>
                <a:lnTo>
                  <a:pt x="27558" y="78371"/>
                </a:lnTo>
                <a:lnTo>
                  <a:pt x="30479" y="66306"/>
                </a:lnTo>
                <a:lnTo>
                  <a:pt x="33400" y="48145"/>
                </a:lnTo>
                <a:lnTo>
                  <a:pt x="39369" y="39128"/>
                </a:lnTo>
                <a:lnTo>
                  <a:pt x="51181" y="27317"/>
                </a:lnTo>
                <a:lnTo>
                  <a:pt x="57150" y="24396"/>
                </a:lnTo>
                <a:lnTo>
                  <a:pt x="116294" y="24396"/>
                </a:lnTo>
                <a:lnTo>
                  <a:pt x="114553" y="20840"/>
                </a:lnTo>
                <a:lnTo>
                  <a:pt x="105536" y="11823"/>
                </a:lnTo>
                <a:lnTo>
                  <a:pt x="81533" y="0"/>
                </a:lnTo>
                <a:close/>
              </a:path>
              <a:path w="135254" h="205371">
                <a:moveTo>
                  <a:pt x="116294" y="24396"/>
                </a:moveTo>
                <a:lnTo>
                  <a:pt x="75310" y="24396"/>
                </a:lnTo>
                <a:lnTo>
                  <a:pt x="84327" y="27317"/>
                </a:lnTo>
                <a:lnTo>
                  <a:pt x="96265" y="39255"/>
                </a:lnTo>
                <a:lnTo>
                  <a:pt x="102234" y="48272"/>
                </a:lnTo>
                <a:lnTo>
                  <a:pt x="105156" y="66433"/>
                </a:lnTo>
                <a:lnTo>
                  <a:pt x="108076" y="81546"/>
                </a:lnTo>
                <a:lnTo>
                  <a:pt x="108052" y="124218"/>
                </a:lnTo>
                <a:lnTo>
                  <a:pt x="105135" y="139331"/>
                </a:lnTo>
                <a:lnTo>
                  <a:pt x="102234" y="157365"/>
                </a:lnTo>
                <a:lnTo>
                  <a:pt x="96265" y="166382"/>
                </a:lnTo>
                <a:lnTo>
                  <a:pt x="84327" y="178320"/>
                </a:lnTo>
                <a:lnTo>
                  <a:pt x="78358" y="178320"/>
                </a:lnTo>
                <a:lnTo>
                  <a:pt x="75437" y="181241"/>
                </a:lnTo>
                <a:lnTo>
                  <a:pt x="116397" y="181241"/>
                </a:lnTo>
                <a:lnTo>
                  <a:pt x="123443" y="169430"/>
                </a:lnTo>
                <a:lnTo>
                  <a:pt x="129412" y="151269"/>
                </a:lnTo>
                <a:lnTo>
                  <a:pt x="132333" y="130060"/>
                </a:lnTo>
                <a:lnTo>
                  <a:pt x="135254" y="102628"/>
                </a:lnTo>
                <a:lnTo>
                  <a:pt x="132333" y="75196"/>
                </a:lnTo>
                <a:lnTo>
                  <a:pt x="129412" y="53975"/>
                </a:lnTo>
                <a:lnTo>
                  <a:pt x="123443" y="32778"/>
                </a:lnTo>
                <a:lnTo>
                  <a:pt x="117475" y="26809"/>
                </a:lnTo>
                <a:lnTo>
                  <a:pt x="116294" y="2439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bk object 29"/>
          <p:cNvSpPr/>
          <p:nvPr/>
        </p:nvSpPr>
        <p:spPr>
          <a:xfrm>
            <a:off x="2147040" y="5409720"/>
            <a:ext cx="68400" cy="200160"/>
          </a:xfrm>
          <a:custGeom>
            <a:avLst/>
            <a:gdLst>
              <a:gd name="textAreaLeft" fmla="*/ 0 w 68400"/>
              <a:gd name="textAreaRight" fmla="*/ 69120 w 6840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69087" h="201041">
                <a:moveTo>
                  <a:pt x="69087" y="0"/>
                </a:moveTo>
                <a:lnTo>
                  <a:pt x="50927" y="0"/>
                </a:lnTo>
                <a:lnTo>
                  <a:pt x="48006" y="9004"/>
                </a:lnTo>
                <a:lnTo>
                  <a:pt x="48006" y="14986"/>
                </a:lnTo>
                <a:lnTo>
                  <a:pt x="36195" y="26797"/>
                </a:lnTo>
                <a:lnTo>
                  <a:pt x="27178" y="32766"/>
                </a:lnTo>
                <a:lnTo>
                  <a:pt x="18161" y="35687"/>
                </a:lnTo>
                <a:lnTo>
                  <a:pt x="0" y="35687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5"/>
                </a:lnTo>
                <a:lnTo>
                  <a:pt x="44831" y="201041"/>
                </a:lnTo>
                <a:lnTo>
                  <a:pt x="69087" y="201041"/>
                </a:lnTo>
                <a:lnTo>
                  <a:pt x="690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bk object 30"/>
          <p:cNvSpPr/>
          <p:nvPr/>
        </p:nvSpPr>
        <p:spPr>
          <a:xfrm>
            <a:off x="2104200" y="4871880"/>
            <a:ext cx="136800" cy="194400"/>
          </a:xfrm>
          <a:custGeom>
            <a:avLst/>
            <a:gdLst>
              <a:gd name="textAreaLeft" fmla="*/ 0 w 136800"/>
              <a:gd name="textAreaRight" fmla="*/ 137520 w 136800"/>
              <a:gd name="textAreaTop" fmla="*/ 0 h 194400"/>
              <a:gd name="textAreaBottom" fmla="*/ 195120 h 194400"/>
            </a:gdLst>
            <a:ahLst/>
            <a:cxnLst/>
            <a:rect l="textAreaLeft" t="textAreaTop" r="textAreaRight" b="textAreaBottom"/>
            <a:pathLst>
              <a:path w="137541" h="195199">
                <a:moveTo>
                  <a:pt x="123952" y="21463"/>
                </a:moveTo>
                <a:lnTo>
                  <a:pt x="77978" y="21463"/>
                </a:lnTo>
                <a:lnTo>
                  <a:pt x="95885" y="30226"/>
                </a:lnTo>
                <a:lnTo>
                  <a:pt x="101854" y="36195"/>
                </a:lnTo>
                <a:lnTo>
                  <a:pt x="107633" y="48006"/>
                </a:lnTo>
                <a:lnTo>
                  <a:pt x="107696" y="66294"/>
                </a:lnTo>
                <a:lnTo>
                  <a:pt x="104775" y="72263"/>
                </a:lnTo>
                <a:lnTo>
                  <a:pt x="101854" y="81280"/>
                </a:lnTo>
                <a:lnTo>
                  <a:pt x="90043" y="93091"/>
                </a:lnTo>
                <a:lnTo>
                  <a:pt x="81025" y="99047"/>
                </a:lnTo>
                <a:lnTo>
                  <a:pt x="62865" y="108077"/>
                </a:lnTo>
                <a:lnTo>
                  <a:pt x="53848" y="114046"/>
                </a:lnTo>
                <a:lnTo>
                  <a:pt x="14731" y="144018"/>
                </a:lnTo>
                <a:lnTo>
                  <a:pt x="2921" y="180213"/>
                </a:lnTo>
                <a:lnTo>
                  <a:pt x="0" y="186182"/>
                </a:lnTo>
                <a:lnTo>
                  <a:pt x="0" y="195199"/>
                </a:lnTo>
                <a:lnTo>
                  <a:pt x="507" y="194818"/>
                </a:lnTo>
                <a:lnTo>
                  <a:pt x="137541" y="194818"/>
                </a:lnTo>
                <a:lnTo>
                  <a:pt x="137541" y="170561"/>
                </a:lnTo>
                <a:lnTo>
                  <a:pt x="30861" y="170561"/>
                </a:lnTo>
                <a:lnTo>
                  <a:pt x="30861" y="164592"/>
                </a:lnTo>
                <a:lnTo>
                  <a:pt x="36703" y="158750"/>
                </a:lnTo>
                <a:lnTo>
                  <a:pt x="39624" y="152781"/>
                </a:lnTo>
                <a:lnTo>
                  <a:pt x="48513" y="143891"/>
                </a:lnTo>
                <a:lnTo>
                  <a:pt x="54482" y="140970"/>
                </a:lnTo>
                <a:lnTo>
                  <a:pt x="72517" y="129032"/>
                </a:lnTo>
                <a:lnTo>
                  <a:pt x="75437" y="126111"/>
                </a:lnTo>
                <a:lnTo>
                  <a:pt x="93599" y="120142"/>
                </a:lnTo>
                <a:lnTo>
                  <a:pt x="96519" y="117221"/>
                </a:lnTo>
                <a:lnTo>
                  <a:pt x="102488" y="114300"/>
                </a:lnTo>
                <a:lnTo>
                  <a:pt x="111506" y="105283"/>
                </a:lnTo>
                <a:lnTo>
                  <a:pt x="120523" y="99314"/>
                </a:lnTo>
                <a:lnTo>
                  <a:pt x="126492" y="90297"/>
                </a:lnTo>
                <a:lnTo>
                  <a:pt x="129412" y="87376"/>
                </a:lnTo>
                <a:lnTo>
                  <a:pt x="132334" y="81407"/>
                </a:lnTo>
                <a:lnTo>
                  <a:pt x="135255" y="72390"/>
                </a:lnTo>
                <a:lnTo>
                  <a:pt x="135255" y="44958"/>
                </a:lnTo>
                <a:lnTo>
                  <a:pt x="132334" y="32893"/>
                </a:lnTo>
                <a:lnTo>
                  <a:pt x="126365" y="23876"/>
                </a:lnTo>
                <a:lnTo>
                  <a:pt x="123952" y="21463"/>
                </a:lnTo>
                <a:close/>
              </a:path>
              <a:path w="137541" h="195199">
                <a:moveTo>
                  <a:pt x="84200" y="0"/>
                </a:moveTo>
                <a:lnTo>
                  <a:pt x="53848" y="0"/>
                </a:lnTo>
                <a:lnTo>
                  <a:pt x="47879" y="2921"/>
                </a:lnTo>
                <a:lnTo>
                  <a:pt x="41910" y="2921"/>
                </a:lnTo>
                <a:lnTo>
                  <a:pt x="8890" y="38989"/>
                </a:lnTo>
                <a:lnTo>
                  <a:pt x="5968" y="48006"/>
                </a:lnTo>
                <a:lnTo>
                  <a:pt x="5968" y="69215"/>
                </a:lnTo>
                <a:lnTo>
                  <a:pt x="30225" y="69215"/>
                </a:lnTo>
                <a:lnTo>
                  <a:pt x="30225" y="60198"/>
                </a:lnTo>
                <a:lnTo>
                  <a:pt x="33147" y="54229"/>
                </a:lnTo>
                <a:lnTo>
                  <a:pt x="33225" y="48006"/>
                </a:lnTo>
                <a:lnTo>
                  <a:pt x="36068" y="39243"/>
                </a:lnTo>
                <a:lnTo>
                  <a:pt x="42037" y="33274"/>
                </a:lnTo>
                <a:lnTo>
                  <a:pt x="48006" y="30353"/>
                </a:lnTo>
                <a:lnTo>
                  <a:pt x="53975" y="24384"/>
                </a:lnTo>
                <a:lnTo>
                  <a:pt x="59943" y="24384"/>
                </a:lnTo>
                <a:lnTo>
                  <a:pt x="68961" y="21463"/>
                </a:lnTo>
                <a:lnTo>
                  <a:pt x="123952" y="21463"/>
                </a:lnTo>
                <a:lnTo>
                  <a:pt x="117348" y="14859"/>
                </a:lnTo>
                <a:lnTo>
                  <a:pt x="108331" y="8890"/>
                </a:lnTo>
                <a:lnTo>
                  <a:pt x="96266" y="2921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bk object 31"/>
          <p:cNvSpPr/>
          <p:nvPr/>
        </p:nvSpPr>
        <p:spPr>
          <a:xfrm>
            <a:off x="2104200" y="4331880"/>
            <a:ext cx="134280" cy="2034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3400"/>
              <a:gd name="textAreaBottom" fmla="*/ 204120 h 203400"/>
            </a:gdLst>
            <a:ahLst/>
            <a:cxnLst/>
            <a:rect l="textAreaLeft" t="textAreaTop" r="textAreaRight" b="textAreaBottom"/>
            <a:pathLst>
              <a:path w="135128" h="203949">
                <a:moveTo>
                  <a:pt x="24256" y="134620"/>
                </a:moveTo>
                <a:lnTo>
                  <a:pt x="0" y="134620"/>
                </a:lnTo>
                <a:lnTo>
                  <a:pt x="127" y="135128"/>
                </a:lnTo>
                <a:lnTo>
                  <a:pt x="127" y="159385"/>
                </a:lnTo>
                <a:lnTo>
                  <a:pt x="3048" y="162306"/>
                </a:lnTo>
                <a:lnTo>
                  <a:pt x="3048" y="165227"/>
                </a:lnTo>
                <a:lnTo>
                  <a:pt x="9017" y="177292"/>
                </a:lnTo>
                <a:lnTo>
                  <a:pt x="26924" y="195199"/>
                </a:lnTo>
                <a:lnTo>
                  <a:pt x="38988" y="198120"/>
                </a:lnTo>
                <a:lnTo>
                  <a:pt x="57023" y="203949"/>
                </a:lnTo>
                <a:lnTo>
                  <a:pt x="72136" y="203949"/>
                </a:lnTo>
                <a:lnTo>
                  <a:pt x="78105" y="201041"/>
                </a:lnTo>
                <a:lnTo>
                  <a:pt x="90169" y="201041"/>
                </a:lnTo>
                <a:lnTo>
                  <a:pt x="114300" y="189103"/>
                </a:lnTo>
                <a:lnTo>
                  <a:pt x="117221" y="183134"/>
                </a:lnTo>
                <a:lnTo>
                  <a:pt x="123190" y="180212"/>
                </a:lnTo>
                <a:lnTo>
                  <a:pt x="123566" y="179450"/>
                </a:lnTo>
                <a:lnTo>
                  <a:pt x="66040" y="179450"/>
                </a:lnTo>
                <a:lnTo>
                  <a:pt x="53975" y="176530"/>
                </a:lnTo>
                <a:lnTo>
                  <a:pt x="48006" y="176530"/>
                </a:lnTo>
                <a:lnTo>
                  <a:pt x="38988" y="170561"/>
                </a:lnTo>
                <a:lnTo>
                  <a:pt x="33019" y="164592"/>
                </a:lnTo>
                <a:lnTo>
                  <a:pt x="24256" y="146685"/>
                </a:lnTo>
                <a:lnTo>
                  <a:pt x="24256" y="134620"/>
                </a:lnTo>
                <a:close/>
              </a:path>
              <a:path w="135128" h="203949">
                <a:moveTo>
                  <a:pt x="121424" y="105029"/>
                </a:moveTo>
                <a:lnTo>
                  <a:pt x="74930" y="105029"/>
                </a:lnTo>
                <a:lnTo>
                  <a:pt x="77850" y="107950"/>
                </a:lnTo>
                <a:lnTo>
                  <a:pt x="83819" y="107950"/>
                </a:lnTo>
                <a:lnTo>
                  <a:pt x="86741" y="110871"/>
                </a:lnTo>
                <a:lnTo>
                  <a:pt x="98679" y="116712"/>
                </a:lnTo>
                <a:lnTo>
                  <a:pt x="104648" y="125730"/>
                </a:lnTo>
                <a:lnTo>
                  <a:pt x="107568" y="131699"/>
                </a:lnTo>
                <a:lnTo>
                  <a:pt x="107568" y="149860"/>
                </a:lnTo>
                <a:lnTo>
                  <a:pt x="104648" y="155829"/>
                </a:lnTo>
                <a:lnTo>
                  <a:pt x="101727" y="164846"/>
                </a:lnTo>
                <a:lnTo>
                  <a:pt x="95885" y="170687"/>
                </a:lnTo>
                <a:lnTo>
                  <a:pt x="89916" y="173609"/>
                </a:lnTo>
                <a:lnTo>
                  <a:pt x="80899" y="176530"/>
                </a:lnTo>
                <a:lnTo>
                  <a:pt x="77978" y="176530"/>
                </a:lnTo>
                <a:lnTo>
                  <a:pt x="75056" y="179450"/>
                </a:lnTo>
                <a:lnTo>
                  <a:pt x="123566" y="179450"/>
                </a:lnTo>
                <a:lnTo>
                  <a:pt x="135128" y="156083"/>
                </a:lnTo>
                <a:lnTo>
                  <a:pt x="135128" y="125730"/>
                </a:lnTo>
                <a:lnTo>
                  <a:pt x="129159" y="113665"/>
                </a:lnTo>
                <a:lnTo>
                  <a:pt x="123190" y="107696"/>
                </a:lnTo>
                <a:lnTo>
                  <a:pt x="121424" y="105029"/>
                </a:lnTo>
                <a:close/>
              </a:path>
              <a:path w="135128" h="203949">
                <a:moveTo>
                  <a:pt x="120425" y="24257"/>
                </a:moveTo>
                <a:lnTo>
                  <a:pt x="78359" y="24257"/>
                </a:lnTo>
                <a:lnTo>
                  <a:pt x="90297" y="30099"/>
                </a:lnTo>
                <a:lnTo>
                  <a:pt x="99187" y="38989"/>
                </a:lnTo>
                <a:lnTo>
                  <a:pt x="99187" y="44958"/>
                </a:lnTo>
                <a:lnTo>
                  <a:pt x="102107" y="53975"/>
                </a:lnTo>
                <a:lnTo>
                  <a:pt x="99249" y="59817"/>
                </a:lnTo>
                <a:lnTo>
                  <a:pt x="99187" y="68961"/>
                </a:lnTo>
                <a:lnTo>
                  <a:pt x="90297" y="77850"/>
                </a:lnTo>
                <a:lnTo>
                  <a:pt x="78359" y="83693"/>
                </a:lnTo>
                <a:lnTo>
                  <a:pt x="50927" y="83693"/>
                </a:lnTo>
                <a:lnTo>
                  <a:pt x="50927" y="107950"/>
                </a:lnTo>
                <a:lnTo>
                  <a:pt x="56896" y="107950"/>
                </a:lnTo>
                <a:lnTo>
                  <a:pt x="62865" y="105029"/>
                </a:lnTo>
                <a:lnTo>
                  <a:pt x="121424" y="105029"/>
                </a:lnTo>
                <a:lnTo>
                  <a:pt x="117221" y="98679"/>
                </a:lnTo>
                <a:lnTo>
                  <a:pt x="114300" y="95758"/>
                </a:lnTo>
                <a:lnTo>
                  <a:pt x="108331" y="92824"/>
                </a:lnTo>
                <a:lnTo>
                  <a:pt x="102362" y="92824"/>
                </a:lnTo>
                <a:lnTo>
                  <a:pt x="111379" y="89916"/>
                </a:lnTo>
                <a:lnTo>
                  <a:pt x="120268" y="81025"/>
                </a:lnTo>
                <a:lnTo>
                  <a:pt x="123190" y="75057"/>
                </a:lnTo>
                <a:lnTo>
                  <a:pt x="126111" y="66040"/>
                </a:lnTo>
                <a:lnTo>
                  <a:pt x="129031" y="53975"/>
                </a:lnTo>
                <a:lnTo>
                  <a:pt x="126111" y="38849"/>
                </a:lnTo>
                <a:lnTo>
                  <a:pt x="123190" y="29845"/>
                </a:lnTo>
                <a:lnTo>
                  <a:pt x="120425" y="24257"/>
                </a:lnTo>
                <a:close/>
              </a:path>
              <a:path w="135128" h="203949">
                <a:moveTo>
                  <a:pt x="78105" y="0"/>
                </a:moveTo>
                <a:lnTo>
                  <a:pt x="66040" y="0"/>
                </a:lnTo>
                <a:lnTo>
                  <a:pt x="50927" y="2921"/>
                </a:lnTo>
                <a:lnTo>
                  <a:pt x="41910" y="2921"/>
                </a:lnTo>
                <a:lnTo>
                  <a:pt x="29972" y="8762"/>
                </a:lnTo>
                <a:lnTo>
                  <a:pt x="20955" y="14732"/>
                </a:lnTo>
                <a:lnTo>
                  <a:pt x="18034" y="20700"/>
                </a:lnTo>
                <a:lnTo>
                  <a:pt x="15112" y="23622"/>
                </a:lnTo>
                <a:lnTo>
                  <a:pt x="9143" y="35674"/>
                </a:lnTo>
                <a:lnTo>
                  <a:pt x="3302" y="53721"/>
                </a:lnTo>
                <a:lnTo>
                  <a:pt x="3302" y="65786"/>
                </a:lnTo>
                <a:lnTo>
                  <a:pt x="27559" y="65786"/>
                </a:lnTo>
                <a:lnTo>
                  <a:pt x="30417" y="59944"/>
                </a:lnTo>
                <a:lnTo>
                  <a:pt x="30480" y="50800"/>
                </a:lnTo>
                <a:lnTo>
                  <a:pt x="33338" y="44958"/>
                </a:lnTo>
                <a:lnTo>
                  <a:pt x="33400" y="41910"/>
                </a:lnTo>
                <a:lnTo>
                  <a:pt x="36322" y="38989"/>
                </a:lnTo>
                <a:lnTo>
                  <a:pt x="39243" y="33020"/>
                </a:lnTo>
                <a:lnTo>
                  <a:pt x="57150" y="24257"/>
                </a:lnTo>
                <a:lnTo>
                  <a:pt x="120425" y="24257"/>
                </a:lnTo>
                <a:lnTo>
                  <a:pt x="117221" y="17780"/>
                </a:lnTo>
                <a:lnTo>
                  <a:pt x="99187" y="5842"/>
                </a:lnTo>
                <a:lnTo>
                  <a:pt x="87122" y="2921"/>
                </a:lnTo>
                <a:lnTo>
                  <a:pt x="7810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bk object 32"/>
          <p:cNvSpPr/>
          <p:nvPr/>
        </p:nvSpPr>
        <p:spPr>
          <a:xfrm>
            <a:off x="2104200" y="379620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8" h="194817">
                <a:moveTo>
                  <a:pt x="112648" y="143001"/>
                </a:moveTo>
                <a:lnTo>
                  <a:pt x="85216" y="143001"/>
                </a:lnTo>
                <a:lnTo>
                  <a:pt x="85216" y="194817"/>
                </a:lnTo>
                <a:lnTo>
                  <a:pt x="112648" y="194817"/>
                </a:lnTo>
                <a:lnTo>
                  <a:pt x="112648" y="143001"/>
                </a:lnTo>
                <a:close/>
              </a:path>
              <a:path w="112648" h="194817">
                <a:moveTo>
                  <a:pt x="112648" y="0"/>
                </a:moveTo>
                <a:lnTo>
                  <a:pt x="85216" y="0"/>
                </a:lnTo>
                <a:lnTo>
                  <a:pt x="0" y="118744"/>
                </a:lnTo>
                <a:lnTo>
                  <a:pt x="0" y="143001"/>
                </a:lnTo>
                <a:lnTo>
                  <a:pt x="140080" y="143001"/>
                </a:lnTo>
                <a:lnTo>
                  <a:pt x="140080" y="121792"/>
                </a:lnTo>
                <a:lnTo>
                  <a:pt x="112648" y="121792"/>
                </a:lnTo>
                <a:lnTo>
                  <a:pt x="24383" y="121665"/>
                </a:lnTo>
                <a:lnTo>
                  <a:pt x="85216" y="33400"/>
                </a:lnTo>
                <a:lnTo>
                  <a:pt x="112648" y="33400"/>
                </a:lnTo>
                <a:lnTo>
                  <a:pt x="112648" y="0"/>
                </a:lnTo>
                <a:close/>
              </a:path>
              <a:path w="112648" h="194817">
                <a:moveTo>
                  <a:pt x="112648" y="33400"/>
                </a:moveTo>
                <a:lnTo>
                  <a:pt x="85216" y="33400"/>
                </a:lnTo>
                <a:lnTo>
                  <a:pt x="85216" y="121665"/>
                </a:lnTo>
                <a:lnTo>
                  <a:pt x="112648" y="121665"/>
                </a:lnTo>
                <a:lnTo>
                  <a:pt x="112648" y="3340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bk object 33"/>
          <p:cNvSpPr/>
          <p:nvPr/>
        </p:nvSpPr>
        <p:spPr>
          <a:xfrm>
            <a:off x="2104200" y="3253680"/>
            <a:ext cx="135000" cy="198720"/>
          </a:xfrm>
          <a:custGeom>
            <a:avLst/>
            <a:gdLst>
              <a:gd name="textAreaLeft" fmla="*/ 0 w 135000"/>
              <a:gd name="textAreaRight" fmla="*/ 135720 w 135000"/>
              <a:gd name="textAreaTop" fmla="*/ 0 h 198720"/>
              <a:gd name="textAreaBottom" fmla="*/ 199440 h 198720"/>
            </a:gdLst>
            <a:ahLst/>
            <a:cxnLst/>
            <a:rect l="textAreaLeft" t="textAreaTop" r="textAreaRight" b="textAreaBottom"/>
            <a:pathLst>
              <a:path w="135762" h="199389">
                <a:moveTo>
                  <a:pt x="27431" y="143001"/>
                </a:moveTo>
                <a:lnTo>
                  <a:pt x="635" y="143001"/>
                </a:lnTo>
                <a:lnTo>
                  <a:pt x="635" y="151637"/>
                </a:lnTo>
                <a:lnTo>
                  <a:pt x="21336" y="184530"/>
                </a:lnTo>
                <a:lnTo>
                  <a:pt x="51435" y="199389"/>
                </a:lnTo>
                <a:lnTo>
                  <a:pt x="81787" y="199389"/>
                </a:lnTo>
                <a:lnTo>
                  <a:pt x="93853" y="196469"/>
                </a:lnTo>
                <a:lnTo>
                  <a:pt x="105918" y="190500"/>
                </a:lnTo>
                <a:lnTo>
                  <a:pt x="120650" y="175767"/>
                </a:lnTo>
                <a:lnTo>
                  <a:pt x="57277" y="175767"/>
                </a:lnTo>
                <a:lnTo>
                  <a:pt x="48260" y="172847"/>
                </a:lnTo>
                <a:lnTo>
                  <a:pt x="42291" y="169925"/>
                </a:lnTo>
                <a:lnTo>
                  <a:pt x="27431" y="155066"/>
                </a:lnTo>
                <a:lnTo>
                  <a:pt x="27431" y="143001"/>
                </a:lnTo>
                <a:close/>
              </a:path>
              <a:path w="135762" h="199389">
                <a:moveTo>
                  <a:pt x="121920" y="89026"/>
                </a:moveTo>
                <a:lnTo>
                  <a:pt x="75437" y="89026"/>
                </a:lnTo>
                <a:lnTo>
                  <a:pt x="81406" y="91948"/>
                </a:lnTo>
                <a:lnTo>
                  <a:pt x="90424" y="94869"/>
                </a:lnTo>
                <a:lnTo>
                  <a:pt x="102362" y="106807"/>
                </a:lnTo>
                <a:lnTo>
                  <a:pt x="105282" y="115824"/>
                </a:lnTo>
                <a:lnTo>
                  <a:pt x="108204" y="118745"/>
                </a:lnTo>
                <a:lnTo>
                  <a:pt x="108204" y="143001"/>
                </a:lnTo>
                <a:lnTo>
                  <a:pt x="105282" y="148971"/>
                </a:lnTo>
                <a:lnTo>
                  <a:pt x="102362" y="157987"/>
                </a:lnTo>
                <a:lnTo>
                  <a:pt x="90424" y="169925"/>
                </a:lnTo>
                <a:lnTo>
                  <a:pt x="84455" y="172847"/>
                </a:lnTo>
                <a:lnTo>
                  <a:pt x="75437" y="175767"/>
                </a:lnTo>
                <a:lnTo>
                  <a:pt x="120650" y="175767"/>
                </a:lnTo>
                <a:lnTo>
                  <a:pt x="123952" y="172465"/>
                </a:lnTo>
                <a:lnTo>
                  <a:pt x="129793" y="160527"/>
                </a:lnTo>
                <a:lnTo>
                  <a:pt x="135762" y="148462"/>
                </a:lnTo>
                <a:lnTo>
                  <a:pt x="135762" y="118110"/>
                </a:lnTo>
                <a:lnTo>
                  <a:pt x="132842" y="106045"/>
                </a:lnTo>
                <a:lnTo>
                  <a:pt x="126873" y="93979"/>
                </a:lnTo>
                <a:lnTo>
                  <a:pt x="121920" y="89026"/>
                </a:lnTo>
                <a:close/>
              </a:path>
              <a:path w="135762" h="199389">
                <a:moveTo>
                  <a:pt x="635" y="142621"/>
                </a:moveTo>
                <a:lnTo>
                  <a:pt x="0" y="143001"/>
                </a:lnTo>
                <a:lnTo>
                  <a:pt x="635" y="143001"/>
                </a:lnTo>
                <a:lnTo>
                  <a:pt x="635" y="142621"/>
                </a:lnTo>
                <a:close/>
              </a:path>
              <a:path w="135762" h="199389">
                <a:moveTo>
                  <a:pt x="128016" y="0"/>
                </a:moveTo>
                <a:lnTo>
                  <a:pt x="21336" y="0"/>
                </a:lnTo>
                <a:lnTo>
                  <a:pt x="6223" y="106679"/>
                </a:lnTo>
                <a:lnTo>
                  <a:pt x="27431" y="106679"/>
                </a:lnTo>
                <a:lnTo>
                  <a:pt x="36322" y="97789"/>
                </a:lnTo>
                <a:lnTo>
                  <a:pt x="48260" y="91948"/>
                </a:lnTo>
                <a:lnTo>
                  <a:pt x="57277" y="89026"/>
                </a:lnTo>
                <a:lnTo>
                  <a:pt x="121920" y="89026"/>
                </a:lnTo>
                <a:lnTo>
                  <a:pt x="117856" y="84962"/>
                </a:lnTo>
                <a:lnTo>
                  <a:pt x="114997" y="79121"/>
                </a:lnTo>
                <a:lnTo>
                  <a:pt x="33781" y="79121"/>
                </a:lnTo>
                <a:lnTo>
                  <a:pt x="39750" y="24257"/>
                </a:lnTo>
                <a:lnTo>
                  <a:pt x="128016" y="24257"/>
                </a:lnTo>
                <a:lnTo>
                  <a:pt x="128016" y="0"/>
                </a:lnTo>
                <a:close/>
              </a:path>
              <a:path w="135762" h="199389">
                <a:moveTo>
                  <a:pt x="84962" y="67310"/>
                </a:moveTo>
                <a:lnTo>
                  <a:pt x="60706" y="67310"/>
                </a:lnTo>
                <a:lnTo>
                  <a:pt x="48641" y="70230"/>
                </a:lnTo>
                <a:lnTo>
                  <a:pt x="42672" y="70230"/>
                </a:lnTo>
                <a:lnTo>
                  <a:pt x="33781" y="79121"/>
                </a:lnTo>
                <a:lnTo>
                  <a:pt x="114997" y="79121"/>
                </a:lnTo>
                <a:lnTo>
                  <a:pt x="97028" y="70230"/>
                </a:lnTo>
                <a:lnTo>
                  <a:pt x="84962" y="673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bk object 34"/>
          <p:cNvSpPr/>
          <p:nvPr/>
        </p:nvSpPr>
        <p:spPr>
          <a:xfrm>
            <a:off x="2109600" y="2711520"/>
            <a:ext cx="134280" cy="204480"/>
          </a:xfrm>
          <a:custGeom>
            <a:avLst/>
            <a:gdLst>
              <a:gd name="textAreaLeft" fmla="*/ 0 w 134280"/>
              <a:gd name="textAreaRight" fmla="*/ 135000 w 13428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000" h="205104">
                <a:moveTo>
                  <a:pt x="84200" y="202184"/>
                </a:moveTo>
                <a:lnTo>
                  <a:pt x="53975" y="202184"/>
                </a:lnTo>
                <a:lnTo>
                  <a:pt x="69087" y="205104"/>
                </a:lnTo>
                <a:lnTo>
                  <a:pt x="84200" y="202184"/>
                </a:lnTo>
                <a:close/>
              </a:path>
              <a:path w="135000" h="205104">
                <a:moveTo>
                  <a:pt x="72008" y="0"/>
                </a:moveTo>
                <a:lnTo>
                  <a:pt x="56895" y="2920"/>
                </a:lnTo>
                <a:lnTo>
                  <a:pt x="44831" y="5841"/>
                </a:lnTo>
                <a:lnTo>
                  <a:pt x="38862" y="8762"/>
                </a:lnTo>
                <a:lnTo>
                  <a:pt x="32893" y="14731"/>
                </a:lnTo>
                <a:lnTo>
                  <a:pt x="20827" y="23749"/>
                </a:lnTo>
                <a:lnTo>
                  <a:pt x="17906" y="29717"/>
                </a:lnTo>
                <a:lnTo>
                  <a:pt x="11937" y="38735"/>
                </a:lnTo>
                <a:lnTo>
                  <a:pt x="0" y="81152"/>
                </a:lnTo>
                <a:lnTo>
                  <a:pt x="0" y="141986"/>
                </a:lnTo>
                <a:lnTo>
                  <a:pt x="2920" y="151002"/>
                </a:lnTo>
                <a:lnTo>
                  <a:pt x="11937" y="172212"/>
                </a:lnTo>
                <a:lnTo>
                  <a:pt x="20955" y="184276"/>
                </a:lnTo>
                <a:lnTo>
                  <a:pt x="29971" y="193293"/>
                </a:lnTo>
                <a:lnTo>
                  <a:pt x="45085" y="199262"/>
                </a:lnTo>
                <a:lnTo>
                  <a:pt x="48006" y="202184"/>
                </a:lnTo>
                <a:lnTo>
                  <a:pt x="90169" y="202184"/>
                </a:lnTo>
                <a:lnTo>
                  <a:pt x="96138" y="199262"/>
                </a:lnTo>
                <a:lnTo>
                  <a:pt x="102107" y="199262"/>
                </a:lnTo>
                <a:lnTo>
                  <a:pt x="108076" y="196341"/>
                </a:lnTo>
                <a:lnTo>
                  <a:pt x="117093" y="187325"/>
                </a:lnTo>
                <a:lnTo>
                  <a:pt x="121460" y="181482"/>
                </a:lnTo>
                <a:lnTo>
                  <a:pt x="53212" y="181482"/>
                </a:lnTo>
                <a:lnTo>
                  <a:pt x="50292" y="178562"/>
                </a:lnTo>
                <a:lnTo>
                  <a:pt x="44323" y="175640"/>
                </a:lnTo>
                <a:lnTo>
                  <a:pt x="32512" y="163829"/>
                </a:lnTo>
                <a:lnTo>
                  <a:pt x="32512" y="160909"/>
                </a:lnTo>
                <a:lnTo>
                  <a:pt x="29591" y="154939"/>
                </a:lnTo>
                <a:lnTo>
                  <a:pt x="38354" y="109727"/>
                </a:lnTo>
                <a:lnTo>
                  <a:pt x="62356" y="97916"/>
                </a:lnTo>
                <a:lnTo>
                  <a:pt x="122916" y="97916"/>
                </a:lnTo>
                <a:lnTo>
                  <a:pt x="121991" y="96519"/>
                </a:lnTo>
                <a:lnTo>
                  <a:pt x="26924" y="96519"/>
                </a:lnTo>
                <a:lnTo>
                  <a:pt x="26924" y="78359"/>
                </a:lnTo>
                <a:lnTo>
                  <a:pt x="29844" y="66293"/>
                </a:lnTo>
                <a:lnTo>
                  <a:pt x="32766" y="57276"/>
                </a:lnTo>
                <a:lnTo>
                  <a:pt x="38735" y="45212"/>
                </a:lnTo>
                <a:lnTo>
                  <a:pt x="41656" y="39242"/>
                </a:lnTo>
                <a:lnTo>
                  <a:pt x="50545" y="30352"/>
                </a:lnTo>
                <a:lnTo>
                  <a:pt x="62483" y="24511"/>
                </a:lnTo>
                <a:lnTo>
                  <a:pt x="124681" y="24511"/>
                </a:lnTo>
                <a:lnTo>
                  <a:pt x="120142" y="17652"/>
                </a:lnTo>
                <a:lnTo>
                  <a:pt x="114300" y="11811"/>
                </a:lnTo>
                <a:lnTo>
                  <a:pt x="102235" y="5841"/>
                </a:lnTo>
                <a:lnTo>
                  <a:pt x="72008" y="0"/>
                </a:lnTo>
                <a:close/>
              </a:path>
              <a:path w="135000" h="205104">
                <a:moveTo>
                  <a:pt x="122916" y="97916"/>
                </a:moveTo>
                <a:lnTo>
                  <a:pt x="77469" y="97916"/>
                </a:lnTo>
                <a:lnTo>
                  <a:pt x="86487" y="100837"/>
                </a:lnTo>
                <a:lnTo>
                  <a:pt x="92456" y="103759"/>
                </a:lnTo>
                <a:lnTo>
                  <a:pt x="98298" y="109600"/>
                </a:lnTo>
                <a:lnTo>
                  <a:pt x="101218" y="115569"/>
                </a:lnTo>
                <a:lnTo>
                  <a:pt x="104139" y="124587"/>
                </a:lnTo>
                <a:lnTo>
                  <a:pt x="107061" y="130555"/>
                </a:lnTo>
                <a:lnTo>
                  <a:pt x="107061" y="139573"/>
                </a:lnTo>
                <a:lnTo>
                  <a:pt x="107314" y="139700"/>
                </a:lnTo>
                <a:lnTo>
                  <a:pt x="107314" y="148716"/>
                </a:lnTo>
                <a:lnTo>
                  <a:pt x="104393" y="154686"/>
                </a:lnTo>
                <a:lnTo>
                  <a:pt x="101473" y="163702"/>
                </a:lnTo>
                <a:lnTo>
                  <a:pt x="98551" y="169672"/>
                </a:lnTo>
                <a:lnTo>
                  <a:pt x="92582" y="175640"/>
                </a:lnTo>
                <a:lnTo>
                  <a:pt x="80644" y="181482"/>
                </a:lnTo>
                <a:lnTo>
                  <a:pt x="121460" y="181482"/>
                </a:lnTo>
                <a:lnTo>
                  <a:pt x="126111" y="175260"/>
                </a:lnTo>
                <a:lnTo>
                  <a:pt x="132080" y="163194"/>
                </a:lnTo>
                <a:lnTo>
                  <a:pt x="132080" y="157225"/>
                </a:lnTo>
                <a:lnTo>
                  <a:pt x="135000" y="154304"/>
                </a:lnTo>
                <a:lnTo>
                  <a:pt x="135000" y="126873"/>
                </a:lnTo>
                <a:lnTo>
                  <a:pt x="132080" y="114807"/>
                </a:lnTo>
                <a:lnTo>
                  <a:pt x="126111" y="102742"/>
                </a:lnTo>
                <a:lnTo>
                  <a:pt x="122916" y="97916"/>
                </a:lnTo>
                <a:close/>
              </a:path>
              <a:path w="135000" h="205104">
                <a:moveTo>
                  <a:pt x="68833" y="72898"/>
                </a:moveTo>
                <a:lnTo>
                  <a:pt x="59817" y="75818"/>
                </a:lnTo>
                <a:lnTo>
                  <a:pt x="47751" y="78739"/>
                </a:lnTo>
                <a:lnTo>
                  <a:pt x="38735" y="81661"/>
                </a:lnTo>
                <a:lnTo>
                  <a:pt x="29844" y="90550"/>
                </a:lnTo>
                <a:lnTo>
                  <a:pt x="26924" y="96519"/>
                </a:lnTo>
                <a:lnTo>
                  <a:pt x="121991" y="96519"/>
                </a:lnTo>
                <a:lnTo>
                  <a:pt x="120142" y="93725"/>
                </a:lnTo>
                <a:lnTo>
                  <a:pt x="108076" y="84709"/>
                </a:lnTo>
                <a:lnTo>
                  <a:pt x="96012" y="78739"/>
                </a:lnTo>
                <a:lnTo>
                  <a:pt x="83946" y="75818"/>
                </a:lnTo>
                <a:lnTo>
                  <a:pt x="68833" y="72898"/>
                </a:lnTo>
                <a:close/>
              </a:path>
              <a:path w="135000" h="205104">
                <a:moveTo>
                  <a:pt x="124681" y="24511"/>
                </a:moveTo>
                <a:lnTo>
                  <a:pt x="80644" y="24511"/>
                </a:lnTo>
                <a:lnTo>
                  <a:pt x="86613" y="27431"/>
                </a:lnTo>
                <a:lnTo>
                  <a:pt x="95631" y="30352"/>
                </a:lnTo>
                <a:lnTo>
                  <a:pt x="98551" y="33274"/>
                </a:lnTo>
                <a:lnTo>
                  <a:pt x="101473" y="33274"/>
                </a:lnTo>
                <a:lnTo>
                  <a:pt x="107314" y="45212"/>
                </a:lnTo>
                <a:lnTo>
                  <a:pt x="107314" y="54228"/>
                </a:lnTo>
                <a:lnTo>
                  <a:pt x="134746" y="54228"/>
                </a:lnTo>
                <a:lnTo>
                  <a:pt x="134874" y="53593"/>
                </a:lnTo>
                <a:lnTo>
                  <a:pt x="134874" y="47625"/>
                </a:lnTo>
                <a:lnTo>
                  <a:pt x="129031" y="35687"/>
                </a:lnTo>
                <a:lnTo>
                  <a:pt x="126111" y="26669"/>
                </a:lnTo>
                <a:lnTo>
                  <a:pt x="124681" y="2451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bk object 35"/>
          <p:cNvSpPr/>
          <p:nvPr/>
        </p:nvSpPr>
        <p:spPr>
          <a:xfrm>
            <a:off x="2106000" y="2179080"/>
            <a:ext cx="28080" cy="192960"/>
          </a:xfrm>
          <a:custGeom>
            <a:avLst/>
            <a:gdLst>
              <a:gd name="textAreaLeft" fmla="*/ 0 w 28080"/>
              <a:gd name="textAreaRight" fmla="*/ 28800 w 2808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28722" h="193675">
                <a:moveTo>
                  <a:pt x="28722" y="193548"/>
                </a:moveTo>
              </a:path>
              <a:path w="28722" h="193675">
                <a:moveTo>
                  <a:pt x="137032" y="0"/>
                </a:moveTo>
                <a:lnTo>
                  <a:pt x="0" y="0"/>
                </a:lnTo>
                <a:lnTo>
                  <a:pt x="0" y="24256"/>
                </a:lnTo>
                <a:lnTo>
                  <a:pt x="109727" y="24256"/>
                </a:lnTo>
                <a:lnTo>
                  <a:pt x="97662" y="39370"/>
                </a:lnTo>
                <a:lnTo>
                  <a:pt x="91693" y="45338"/>
                </a:lnTo>
                <a:lnTo>
                  <a:pt x="79628" y="63500"/>
                </a:lnTo>
                <a:lnTo>
                  <a:pt x="67563" y="78612"/>
                </a:lnTo>
                <a:lnTo>
                  <a:pt x="55499" y="102870"/>
                </a:lnTo>
                <a:lnTo>
                  <a:pt x="46481" y="124078"/>
                </a:lnTo>
                <a:lnTo>
                  <a:pt x="40512" y="145287"/>
                </a:lnTo>
                <a:lnTo>
                  <a:pt x="34543" y="169545"/>
                </a:lnTo>
                <a:lnTo>
                  <a:pt x="31622" y="175513"/>
                </a:lnTo>
                <a:lnTo>
                  <a:pt x="28722" y="193548"/>
                </a:lnTo>
                <a:lnTo>
                  <a:pt x="59054" y="193548"/>
                </a:lnTo>
                <a:lnTo>
                  <a:pt x="61975" y="172338"/>
                </a:lnTo>
                <a:lnTo>
                  <a:pt x="61975" y="163322"/>
                </a:lnTo>
                <a:lnTo>
                  <a:pt x="67944" y="142112"/>
                </a:lnTo>
                <a:lnTo>
                  <a:pt x="70865" y="133096"/>
                </a:lnTo>
                <a:lnTo>
                  <a:pt x="73787" y="121030"/>
                </a:lnTo>
                <a:lnTo>
                  <a:pt x="82803" y="102870"/>
                </a:lnTo>
                <a:lnTo>
                  <a:pt x="94868" y="81661"/>
                </a:lnTo>
                <a:lnTo>
                  <a:pt x="103885" y="63500"/>
                </a:lnTo>
                <a:lnTo>
                  <a:pt x="115950" y="48387"/>
                </a:lnTo>
                <a:lnTo>
                  <a:pt x="121919" y="39370"/>
                </a:lnTo>
                <a:lnTo>
                  <a:pt x="137032" y="24256"/>
                </a:lnTo>
                <a:lnTo>
                  <a:pt x="13703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bk object 36"/>
          <p:cNvSpPr/>
          <p:nvPr/>
        </p:nvSpPr>
        <p:spPr>
          <a:xfrm>
            <a:off x="2107800" y="1636560"/>
            <a:ext cx="134640" cy="2001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135509" h="200913">
                <a:moveTo>
                  <a:pt x="32584" y="89815"/>
                </a:moveTo>
                <a:lnTo>
                  <a:pt x="26670" y="92709"/>
                </a:lnTo>
                <a:lnTo>
                  <a:pt x="23749" y="92709"/>
                </a:lnTo>
                <a:lnTo>
                  <a:pt x="17780" y="98678"/>
                </a:lnTo>
                <a:lnTo>
                  <a:pt x="11811" y="101600"/>
                </a:lnTo>
                <a:lnTo>
                  <a:pt x="5842" y="110616"/>
                </a:lnTo>
                <a:lnTo>
                  <a:pt x="0" y="128650"/>
                </a:lnTo>
                <a:lnTo>
                  <a:pt x="0" y="152907"/>
                </a:lnTo>
                <a:lnTo>
                  <a:pt x="2921" y="164972"/>
                </a:lnTo>
                <a:lnTo>
                  <a:pt x="11938" y="177037"/>
                </a:lnTo>
                <a:lnTo>
                  <a:pt x="29972" y="195071"/>
                </a:lnTo>
                <a:lnTo>
                  <a:pt x="54102" y="200913"/>
                </a:lnTo>
                <a:lnTo>
                  <a:pt x="81534" y="200913"/>
                </a:lnTo>
                <a:lnTo>
                  <a:pt x="90551" y="197992"/>
                </a:lnTo>
                <a:lnTo>
                  <a:pt x="105664" y="195071"/>
                </a:lnTo>
                <a:lnTo>
                  <a:pt x="123444" y="177291"/>
                </a:lnTo>
                <a:lnTo>
                  <a:pt x="53213" y="177291"/>
                </a:lnTo>
                <a:lnTo>
                  <a:pt x="47244" y="174370"/>
                </a:lnTo>
                <a:lnTo>
                  <a:pt x="44323" y="174370"/>
                </a:lnTo>
                <a:lnTo>
                  <a:pt x="32385" y="162432"/>
                </a:lnTo>
                <a:lnTo>
                  <a:pt x="29464" y="156463"/>
                </a:lnTo>
                <a:lnTo>
                  <a:pt x="26543" y="147446"/>
                </a:lnTo>
                <a:lnTo>
                  <a:pt x="26543" y="138429"/>
                </a:lnTo>
                <a:lnTo>
                  <a:pt x="26797" y="138429"/>
                </a:lnTo>
                <a:lnTo>
                  <a:pt x="26859" y="129412"/>
                </a:lnTo>
                <a:lnTo>
                  <a:pt x="32639" y="117601"/>
                </a:lnTo>
                <a:lnTo>
                  <a:pt x="38608" y="111632"/>
                </a:lnTo>
                <a:lnTo>
                  <a:pt x="44577" y="108712"/>
                </a:lnTo>
                <a:lnTo>
                  <a:pt x="53594" y="105790"/>
                </a:lnTo>
                <a:lnTo>
                  <a:pt x="59563" y="102869"/>
                </a:lnTo>
                <a:lnTo>
                  <a:pt x="121406" y="102869"/>
                </a:lnTo>
                <a:lnTo>
                  <a:pt x="120650" y="101726"/>
                </a:lnTo>
                <a:lnTo>
                  <a:pt x="114681" y="98805"/>
                </a:lnTo>
                <a:lnTo>
                  <a:pt x="108712" y="92837"/>
                </a:lnTo>
                <a:lnTo>
                  <a:pt x="102743" y="89915"/>
                </a:lnTo>
                <a:lnTo>
                  <a:pt x="32893" y="89915"/>
                </a:lnTo>
                <a:lnTo>
                  <a:pt x="32584" y="89815"/>
                </a:lnTo>
                <a:close/>
              </a:path>
              <a:path w="135509" h="200913">
                <a:moveTo>
                  <a:pt x="121406" y="102869"/>
                </a:moveTo>
                <a:lnTo>
                  <a:pt x="74676" y="102869"/>
                </a:lnTo>
                <a:lnTo>
                  <a:pt x="92583" y="111632"/>
                </a:lnTo>
                <a:lnTo>
                  <a:pt x="101473" y="120522"/>
                </a:lnTo>
                <a:lnTo>
                  <a:pt x="101473" y="123443"/>
                </a:lnTo>
                <a:lnTo>
                  <a:pt x="104394" y="129412"/>
                </a:lnTo>
                <a:lnTo>
                  <a:pt x="107315" y="138429"/>
                </a:lnTo>
                <a:lnTo>
                  <a:pt x="104394" y="147446"/>
                </a:lnTo>
                <a:lnTo>
                  <a:pt x="104394" y="156463"/>
                </a:lnTo>
                <a:lnTo>
                  <a:pt x="98425" y="162432"/>
                </a:lnTo>
                <a:lnTo>
                  <a:pt x="95504" y="168401"/>
                </a:lnTo>
                <a:lnTo>
                  <a:pt x="89535" y="174370"/>
                </a:lnTo>
                <a:lnTo>
                  <a:pt x="83566" y="174370"/>
                </a:lnTo>
                <a:lnTo>
                  <a:pt x="80645" y="177291"/>
                </a:lnTo>
                <a:lnTo>
                  <a:pt x="123444" y="177291"/>
                </a:lnTo>
                <a:lnTo>
                  <a:pt x="123698" y="177037"/>
                </a:lnTo>
                <a:lnTo>
                  <a:pt x="129667" y="164972"/>
                </a:lnTo>
                <a:lnTo>
                  <a:pt x="135509" y="140842"/>
                </a:lnTo>
                <a:lnTo>
                  <a:pt x="132588" y="128777"/>
                </a:lnTo>
                <a:lnTo>
                  <a:pt x="132588" y="119760"/>
                </a:lnTo>
                <a:lnTo>
                  <a:pt x="121406" y="102869"/>
                </a:lnTo>
                <a:close/>
              </a:path>
              <a:path w="135509" h="200913">
                <a:moveTo>
                  <a:pt x="26797" y="138429"/>
                </a:moveTo>
                <a:lnTo>
                  <a:pt x="26543" y="138429"/>
                </a:lnTo>
                <a:lnTo>
                  <a:pt x="26797" y="138556"/>
                </a:lnTo>
                <a:close/>
              </a:path>
              <a:path w="135509" h="200913">
                <a:moveTo>
                  <a:pt x="103002" y="89788"/>
                </a:moveTo>
                <a:lnTo>
                  <a:pt x="32639" y="89788"/>
                </a:lnTo>
                <a:lnTo>
                  <a:pt x="32893" y="89915"/>
                </a:lnTo>
                <a:lnTo>
                  <a:pt x="102743" y="89915"/>
                </a:lnTo>
                <a:lnTo>
                  <a:pt x="103002" y="89788"/>
                </a:lnTo>
                <a:close/>
              </a:path>
              <a:path w="135509" h="200913">
                <a:moveTo>
                  <a:pt x="87503" y="0"/>
                </a:moveTo>
                <a:lnTo>
                  <a:pt x="44958" y="0"/>
                </a:lnTo>
                <a:lnTo>
                  <a:pt x="32893" y="5968"/>
                </a:lnTo>
                <a:lnTo>
                  <a:pt x="23876" y="11937"/>
                </a:lnTo>
                <a:lnTo>
                  <a:pt x="17907" y="17906"/>
                </a:lnTo>
                <a:lnTo>
                  <a:pt x="11938" y="26923"/>
                </a:lnTo>
                <a:lnTo>
                  <a:pt x="6096" y="38862"/>
                </a:lnTo>
                <a:lnTo>
                  <a:pt x="6096" y="60070"/>
                </a:lnTo>
                <a:lnTo>
                  <a:pt x="9017" y="69087"/>
                </a:lnTo>
                <a:lnTo>
                  <a:pt x="14986" y="78104"/>
                </a:lnTo>
                <a:lnTo>
                  <a:pt x="23876" y="86994"/>
                </a:lnTo>
                <a:lnTo>
                  <a:pt x="32584" y="89815"/>
                </a:lnTo>
                <a:lnTo>
                  <a:pt x="103002" y="89788"/>
                </a:lnTo>
                <a:lnTo>
                  <a:pt x="114681" y="84073"/>
                </a:lnTo>
                <a:lnTo>
                  <a:pt x="115823" y="82930"/>
                </a:lnTo>
                <a:lnTo>
                  <a:pt x="65659" y="82930"/>
                </a:lnTo>
                <a:lnTo>
                  <a:pt x="59690" y="80009"/>
                </a:lnTo>
                <a:lnTo>
                  <a:pt x="53721" y="80009"/>
                </a:lnTo>
                <a:lnTo>
                  <a:pt x="41783" y="74167"/>
                </a:lnTo>
                <a:lnTo>
                  <a:pt x="38862" y="71246"/>
                </a:lnTo>
                <a:lnTo>
                  <a:pt x="33020" y="59308"/>
                </a:lnTo>
                <a:lnTo>
                  <a:pt x="33020" y="50291"/>
                </a:lnTo>
                <a:lnTo>
                  <a:pt x="32893" y="50291"/>
                </a:lnTo>
                <a:lnTo>
                  <a:pt x="32893" y="44322"/>
                </a:lnTo>
                <a:lnTo>
                  <a:pt x="41656" y="26415"/>
                </a:lnTo>
                <a:lnTo>
                  <a:pt x="47625" y="23494"/>
                </a:lnTo>
                <a:lnTo>
                  <a:pt x="53594" y="23494"/>
                </a:lnTo>
                <a:lnTo>
                  <a:pt x="56515" y="20573"/>
                </a:lnTo>
                <a:lnTo>
                  <a:pt x="119367" y="20573"/>
                </a:lnTo>
                <a:lnTo>
                  <a:pt x="117602" y="17906"/>
                </a:lnTo>
                <a:lnTo>
                  <a:pt x="99568" y="5968"/>
                </a:lnTo>
                <a:lnTo>
                  <a:pt x="87503" y="0"/>
                </a:lnTo>
                <a:close/>
              </a:path>
              <a:path w="135509" h="200913">
                <a:moveTo>
                  <a:pt x="119367" y="20573"/>
                </a:moveTo>
                <a:lnTo>
                  <a:pt x="74676" y="20573"/>
                </a:lnTo>
                <a:lnTo>
                  <a:pt x="77597" y="23494"/>
                </a:lnTo>
                <a:lnTo>
                  <a:pt x="83566" y="23494"/>
                </a:lnTo>
                <a:lnTo>
                  <a:pt x="89535" y="26415"/>
                </a:lnTo>
                <a:lnTo>
                  <a:pt x="95504" y="32384"/>
                </a:lnTo>
                <a:lnTo>
                  <a:pt x="98425" y="38353"/>
                </a:lnTo>
                <a:lnTo>
                  <a:pt x="98425" y="44322"/>
                </a:lnTo>
                <a:lnTo>
                  <a:pt x="101346" y="50291"/>
                </a:lnTo>
                <a:lnTo>
                  <a:pt x="98425" y="59308"/>
                </a:lnTo>
                <a:lnTo>
                  <a:pt x="98425" y="65277"/>
                </a:lnTo>
                <a:lnTo>
                  <a:pt x="95504" y="71246"/>
                </a:lnTo>
                <a:lnTo>
                  <a:pt x="77597" y="80009"/>
                </a:lnTo>
                <a:lnTo>
                  <a:pt x="71628" y="80009"/>
                </a:lnTo>
                <a:lnTo>
                  <a:pt x="65659" y="82930"/>
                </a:lnTo>
                <a:lnTo>
                  <a:pt x="115823" y="82930"/>
                </a:lnTo>
                <a:lnTo>
                  <a:pt x="120650" y="78104"/>
                </a:lnTo>
                <a:lnTo>
                  <a:pt x="126492" y="60070"/>
                </a:lnTo>
                <a:lnTo>
                  <a:pt x="129413" y="48005"/>
                </a:lnTo>
                <a:lnTo>
                  <a:pt x="126461" y="38862"/>
                </a:lnTo>
                <a:lnTo>
                  <a:pt x="123571" y="26923"/>
                </a:lnTo>
                <a:lnTo>
                  <a:pt x="119367" y="205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bk object 37"/>
          <p:cNvSpPr/>
          <p:nvPr/>
        </p:nvSpPr>
        <p:spPr>
          <a:xfrm>
            <a:off x="2104200" y="1094040"/>
            <a:ext cx="137160" cy="204480"/>
          </a:xfrm>
          <a:custGeom>
            <a:avLst/>
            <a:gdLst>
              <a:gd name="textAreaLeft" fmla="*/ 0 w 137160"/>
              <a:gd name="textAreaRight" fmla="*/ 137880 w 13716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7922" h="205104">
                <a:moveTo>
                  <a:pt x="27431" y="150749"/>
                </a:moveTo>
                <a:lnTo>
                  <a:pt x="3175" y="150749"/>
                </a:lnTo>
                <a:lnTo>
                  <a:pt x="2667" y="151129"/>
                </a:lnTo>
                <a:lnTo>
                  <a:pt x="2667" y="169290"/>
                </a:lnTo>
                <a:lnTo>
                  <a:pt x="8636" y="178307"/>
                </a:lnTo>
                <a:lnTo>
                  <a:pt x="23622" y="193293"/>
                </a:lnTo>
                <a:lnTo>
                  <a:pt x="47625" y="205104"/>
                </a:lnTo>
                <a:lnTo>
                  <a:pt x="62737" y="205104"/>
                </a:lnTo>
                <a:lnTo>
                  <a:pt x="105029" y="193293"/>
                </a:lnTo>
                <a:lnTo>
                  <a:pt x="114576" y="180339"/>
                </a:lnTo>
                <a:lnTo>
                  <a:pt x="54102" y="180339"/>
                </a:lnTo>
                <a:lnTo>
                  <a:pt x="36194" y="171576"/>
                </a:lnTo>
                <a:lnTo>
                  <a:pt x="30353" y="159638"/>
                </a:lnTo>
                <a:lnTo>
                  <a:pt x="30353" y="156717"/>
                </a:lnTo>
                <a:lnTo>
                  <a:pt x="27431" y="150749"/>
                </a:lnTo>
                <a:close/>
              </a:path>
              <a:path w="137922" h="205104">
                <a:moveTo>
                  <a:pt x="136650" y="111378"/>
                </a:moveTo>
                <a:lnTo>
                  <a:pt x="110871" y="111378"/>
                </a:lnTo>
                <a:lnTo>
                  <a:pt x="107950" y="120395"/>
                </a:lnTo>
                <a:lnTo>
                  <a:pt x="107950" y="132460"/>
                </a:lnTo>
                <a:lnTo>
                  <a:pt x="105029" y="138429"/>
                </a:lnTo>
                <a:lnTo>
                  <a:pt x="87249" y="174498"/>
                </a:lnTo>
                <a:lnTo>
                  <a:pt x="78231" y="177418"/>
                </a:lnTo>
                <a:lnTo>
                  <a:pt x="72262" y="180339"/>
                </a:lnTo>
                <a:lnTo>
                  <a:pt x="114576" y="180339"/>
                </a:lnTo>
                <a:lnTo>
                  <a:pt x="123062" y="166115"/>
                </a:lnTo>
                <a:lnTo>
                  <a:pt x="132080" y="144906"/>
                </a:lnTo>
                <a:lnTo>
                  <a:pt x="135000" y="135889"/>
                </a:lnTo>
                <a:lnTo>
                  <a:pt x="135109" y="125856"/>
                </a:lnTo>
                <a:lnTo>
                  <a:pt x="136650" y="111378"/>
                </a:lnTo>
                <a:close/>
              </a:path>
              <a:path w="137922" h="205104">
                <a:moveTo>
                  <a:pt x="65912" y="0"/>
                </a:moveTo>
                <a:lnTo>
                  <a:pt x="41782" y="5841"/>
                </a:lnTo>
                <a:lnTo>
                  <a:pt x="17653" y="17779"/>
                </a:lnTo>
                <a:lnTo>
                  <a:pt x="11811" y="29717"/>
                </a:lnTo>
                <a:lnTo>
                  <a:pt x="5842" y="35686"/>
                </a:lnTo>
                <a:lnTo>
                  <a:pt x="5842" y="41655"/>
                </a:lnTo>
                <a:lnTo>
                  <a:pt x="123" y="65276"/>
                </a:lnTo>
                <a:lnTo>
                  <a:pt x="0" y="80899"/>
                </a:lnTo>
                <a:lnTo>
                  <a:pt x="20828" y="116966"/>
                </a:lnTo>
                <a:lnTo>
                  <a:pt x="53975" y="131825"/>
                </a:lnTo>
                <a:lnTo>
                  <a:pt x="72136" y="131825"/>
                </a:lnTo>
                <a:lnTo>
                  <a:pt x="78105" y="128904"/>
                </a:lnTo>
                <a:lnTo>
                  <a:pt x="96138" y="123062"/>
                </a:lnTo>
                <a:lnTo>
                  <a:pt x="104902" y="114300"/>
                </a:lnTo>
                <a:lnTo>
                  <a:pt x="110871" y="111378"/>
                </a:lnTo>
                <a:lnTo>
                  <a:pt x="136650" y="111378"/>
                </a:lnTo>
                <a:lnTo>
                  <a:pt x="137097" y="107187"/>
                </a:lnTo>
                <a:lnTo>
                  <a:pt x="57150" y="107187"/>
                </a:lnTo>
                <a:lnTo>
                  <a:pt x="54229" y="104266"/>
                </a:lnTo>
                <a:lnTo>
                  <a:pt x="51307" y="104266"/>
                </a:lnTo>
                <a:lnTo>
                  <a:pt x="42291" y="101345"/>
                </a:lnTo>
                <a:lnTo>
                  <a:pt x="39369" y="95376"/>
                </a:lnTo>
                <a:lnTo>
                  <a:pt x="33400" y="89407"/>
                </a:lnTo>
                <a:lnTo>
                  <a:pt x="30480" y="83438"/>
                </a:lnTo>
                <a:lnTo>
                  <a:pt x="27559" y="74421"/>
                </a:lnTo>
                <a:lnTo>
                  <a:pt x="27559" y="65404"/>
                </a:lnTo>
                <a:lnTo>
                  <a:pt x="27431" y="65276"/>
                </a:lnTo>
                <a:lnTo>
                  <a:pt x="27431" y="56260"/>
                </a:lnTo>
                <a:lnTo>
                  <a:pt x="33274" y="44323"/>
                </a:lnTo>
                <a:lnTo>
                  <a:pt x="33274" y="41401"/>
                </a:lnTo>
                <a:lnTo>
                  <a:pt x="39243" y="35432"/>
                </a:lnTo>
                <a:lnTo>
                  <a:pt x="42163" y="29463"/>
                </a:lnTo>
                <a:lnTo>
                  <a:pt x="51181" y="26542"/>
                </a:lnTo>
                <a:lnTo>
                  <a:pt x="57150" y="23621"/>
                </a:lnTo>
                <a:lnTo>
                  <a:pt x="118523" y="23621"/>
                </a:lnTo>
                <a:lnTo>
                  <a:pt x="117093" y="20700"/>
                </a:lnTo>
                <a:lnTo>
                  <a:pt x="105029" y="11683"/>
                </a:lnTo>
                <a:lnTo>
                  <a:pt x="93091" y="5841"/>
                </a:lnTo>
                <a:lnTo>
                  <a:pt x="81025" y="2920"/>
                </a:lnTo>
                <a:lnTo>
                  <a:pt x="65912" y="0"/>
                </a:lnTo>
                <a:close/>
              </a:path>
              <a:path w="137922" h="205104">
                <a:moveTo>
                  <a:pt x="118523" y="23621"/>
                </a:moveTo>
                <a:lnTo>
                  <a:pt x="78359" y="23621"/>
                </a:lnTo>
                <a:lnTo>
                  <a:pt x="84328" y="26542"/>
                </a:lnTo>
                <a:lnTo>
                  <a:pt x="93344" y="29463"/>
                </a:lnTo>
                <a:lnTo>
                  <a:pt x="99313" y="35432"/>
                </a:lnTo>
                <a:lnTo>
                  <a:pt x="102235" y="41401"/>
                </a:lnTo>
                <a:lnTo>
                  <a:pt x="105156" y="50418"/>
                </a:lnTo>
                <a:lnTo>
                  <a:pt x="108014" y="56260"/>
                </a:lnTo>
                <a:lnTo>
                  <a:pt x="107984" y="65785"/>
                </a:lnTo>
                <a:lnTo>
                  <a:pt x="105156" y="77469"/>
                </a:lnTo>
                <a:lnTo>
                  <a:pt x="105156" y="83438"/>
                </a:lnTo>
                <a:lnTo>
                  <a:pt x="102235" y="89407"/>
                </a:lnTo>
                <a:lnTo>
                  <a:pt x="90297" y="101345"/>
                </a:lnTo>
                <a:lnTo>
                  <a:pt x="81280" y="104266"/>
                </a:lnTo>
                <a:lnTo>
                  <a:pt x="75311" y="107187"/>
                </a:lnTo>
                <a:lnTo>
                  <a:pt x="137097" y="107187"/>
                </a:lnTo>
                <a:lnTo>
                  <a:pt x="137922" y="99440"/>
                </a:lnTo>
                <a:lnTo>
                  <a:pt x="137922" y="72008"/>
                </a:lnTo>
                <a:lnTo>
                  <a:pt x="131953" y="53848"/>
                </a:lnTo>
                <a:lnTo>
                  <a:pt x="125984" y="32638"/>
                </a:lnTo>
                <a:lnTo>
                  <a:pt x="120015" y="26669"/>
                </a:lnTo>
                <a:lnTo>
                  <a:pt x="118523" y="236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bk object 38"/>
          <p:cNvSpPr/>
          <p:nvPr/>
        </p:nvSpPr>
        <p:spPr>
          <a:xfrm>
            <a:off x="1991520" y="55440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1881" h="201040">
                <a:moveTo>
                  <a:pt x="71881" y="0"/>
                </a:moveTo>
                <a:lnTo>
                  <a:pt x="53721" y="0"/>
                </a:lnTo>
                <a:lnTo>
                  <a:pt x="50800" y="9016"/>
                </a:lnTo>
                <a:lnTo>
                  <a:pt x="47879" y="14985"/>
                </a:lnTo>
                <a:lnTo>
                  <a:pt x="44958" y="24002"/>
                </a:lnTo>
                <a:lnTo>
                  <a:pt x="42037" y="26923"/>
                </a:lnTo>
                <a:lnTo>
                  <a:pt x="24130" y="35686"/>
                </a:lnTo>
                <a:lnTo>
                  <a:pt x="15112" y="35686"/>
                </a:lnTo>
                <a:lnTo>
                  <a:pt x="0" y="38607"/>
                </a:lnTo>
                <a:lnTo>
                  <a:pt x="0" y="56768"/>
                </a:lnTo>
                <a:lnTo>
                  <a:pt x="45593" y="56768"/>
                </a:lnTo>
                <a:lnTo>
                  <a:pt x="45593" y="199897"/>
                </a:lnTo>
                <a:lnTo>
                  <a:pt x="44450" y="201040"/>
                </a:lnTo>
                <a:lnTo>
                  <a:pt x="71881" y="201040"/>
                </a:lnTo>
                <a:lnTo>
                  <a:pt x="718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bk object 39"/>
          <p:cNvSpPr/>
          <p:nvPr/>
        </p:nvSpPr>
        <p:spPr>
          <a:xfrm>
            <a:off x="2107080" y="553680"/>
            <a:ext cx="134640" cy="2048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840"/>
              <a:gd name="textAreaBottom" fmla="*/ 205560 h 204840"/>
            </a:gdLst>
            <a:ahLst/>
            <a:cxnLst/>
            <a:rect l="textAreaLeft" t="textAreaTop" r="textAreaRight" b="textAreaBottom"/>
            <a:pathLst>
              <a:path w="135509" h="205611">
                <a:moveTo>
                  <a:pt x="81534" y="0"/>
                </a:moveTo>
                <a:lnTo>
                  <a:pt x="54102" y="0"/>
                </a:lnTo>
                <a:lnTo>
                  <a:pt x="29972" y="11938"/>
                </a:lnTo>
                <a:lnTo>
                  <a:pt x="17906" y="20954"/>
                </a:lnTo>
                <a:lnTo>
                  <a:pt x="11937" y="33020"/>
                </a:lnTo>
                <a:lnTo>
                  <a:pt x="2921" y="54228"/>
                </a:lnTo>
                <a:lnTo>
                  <a:pt x="0" y="75438"/>
                </a:lnTo>
                <a:lnTo>
                  <a:pt x="0" y="102870"/>
                </a:lnTo>
                <a:lnTo>
                  <a:pt x="254" y="102870"/>
                </a:lnTo>
                <a:lnTo>
                  <a:pt x="254" y="130301"/>
                </a:lnTo>
                <a:lnTo>
                  <a:pt x="3175" y="151511"/>
                </a:lnTo>
                <a:lnTo>
                  <a:pt x="12192" y="169672"/>
                </a:lnTo>
                <a:lnTo>
                  <a:pt x="18161" y="184785"/>
                </a:lnTo>
                <a:lnTo>
                  <a:pt x="30225" y="193801"/>
                </a:lnTo>
                <a:lnTo>
                  <a:pt x="42291" y="199771"/>
                </a:lnTo>
                <a:lnTo>
                  <a:pt x="66421" y="205611"/>
                </a:lnTo>
                <a:lnTo>
                  <a:pt x="81534" y="202692"/>
                </a:lnTo>
                <a:lnTo>
                  <a:pt x="93599" y="199771"/>
                </a:lnTo>
                <a:lnTo>
                  <a:pt x="105663" y="193801"/>
                </a:lnTo>
                <a:lnTo>
                  <a:pt x="114681" y="184785"/>
                </a:lnTo>
                <a:lnTo>
                  <a:pt x="116726" y="181355"/>
                </a:lnTo>
                <a:lnTo>
                  <a:pt x="57023" y="181355"/>
                </a:lnTo>
                <a:lnTo>
                  <a:pt x="51054" y="178435"/>
                </a:lnTo>
                <a:lnTo>
                  <a:pt x="39243" y="166624"/>
                </a:lnTo>
                <a:lnTo>
                  <a:pt x="33274" y="157606"/>
                </a:lnTo>
                <a:lnTo>
                  <a:pt x="30353" y="139446"/>
                </a:lnTo>
                <a:lnTo>
                  <a:pt x="27431" y="124333"/>
                </a:lnTo>
                <a:lnTo>
                  <a:pt x="27305" y="78611"/>
                </a:lnTo>
                <a:lnTo>
                  <a:pt x="30225" y="66548"/>
                </a:lnTo>
                <a:lnTo>
                  <a:pt x="33147" y="48387"/>
                </a:lnTo>
                <a:lnTo>
                  <a:pt x="39116" y="39370"/>
                </a:lnTo>
                <a:lnTo>
                  <a:pt x="50927" y="27559"/>
                </a:lnTo>
                <a:lnTo>
                  <a:pt x="56896" y="24638"/>
                </a:lnTo>
                <a:lnTo>
                  <a:pt x="117433" y="24638"/>
                </a:lnTo>
                <a:lnTo>
                  <a:pt x="114681" y="20954"/>
                </a:lnTo>
                <a:lnTo>
                  <a:pt x="105663" y="11938"/>
                </a:lnTo>
                <a:lnTo>
                  <a:pt x="81534" y="0"/>
                </a:lnTo>
                <a:close/>
              </a:path>
              <a:path w="135509" h="205611">
                <a:moveTo>
                  <a:pt x="117433" y="24638"/>
                </a:moveTo>
                <a:lnTo>
                  <a:pt x="75056" y="24638"/>
                </a:lnTo>
                <a:lnTo>
                  <a:pt x="84074" y="27559"/>
                </a:lnTo>
                <a:lnTo>
                  <a:pt x="96012" y="39497"/>
                </a:lnTo>
                <a:lnTo>
                  <a:pt x="101981" y="48514"/>
                </a:lnTo>
                <a:lnTo>
                  <a:pt x="104902" y="66675"/>
                </a:lnTo>
                <a:lnTo>
                  <a:pt x="107823" y="81788"/>
                </a:lnTo>
                <a:lnTo>
                  <a:pt x="107823" y="124333"/>
                </a:lnTo>
                <a:lnTo>
                  <a:pt x="104902" y="139446"/>
                </a:lnTo>
                <a:lnTo>
                  <a:pt x="101981" y="157606"/>
                </a:lnTo>
                <a:lnTo>
                  <a:pt x="96012" y="166624"/>
                </a:lnTo>
                <a:lnTo>
                  <a:pt x="84200" y="178435"/>
                </a:lnTo>
                <a:lnTo>
                  <a:pt x="75184" y="181355"/>
                </a:lnTo>
                <a:lnTo>
                  <a:pt x="116726" y="181355"/>
                </a:lnTo>
                <a:lnTo>
                  <a:pt x="123698" y="169672"/>
                </a:lnTo>
                <a:lnTo>
                  <a:pt x="129667" y="151511"/>
                </a:lnTo>
                <a:lnTo>
                  <a:pt x="132587" y="130301"/>
                </a:lnTo>
                <a:lnTo>
                  <a:pt x="135509" y="102870"/>
                </a:lnTo>
                <a:lnTo>
                  <a:pt x="132587" y="75438"/>
                </a:lnTo>
                <a:lnTo>
                  <a:pt x="129667" y="54228"/>
                </a:lnTo>
                <a:lnTo>
                  <a:pt x="123698" y="33020"/>
                </a:lnTo>
                <a:lnTo>
                  <a:pt x="117433" y="2463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bk object 40"/>
          <p:cNvSpPr/>
          <p:nvPr/>
        </p:nvSpPr>
        <p:spPr>
          <a:xfrm>
            <a:off x="2341800" y="6124680"/>
            <a:ext cx="6009840" cy="360"/>
          </a:xfrm>
          <a:custGeom>
            <a:avLst/>
            <a:gdLst>
              <a:gd name="textAreaLeft" fmla="*/ 0 w 6009840"/>
              <a:gd name="textAreaRight" fmla="*/ 6010560 w 600984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6010529">
                <a:moveTo>
                  <a:pt x="6010529" y="0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bk object 41"/>
          <p:cNvSpPr/>
          <p:nvPr/>
        </p:nvSpPr>
        <p:spPr>
          <a:xfrm>
            <a:off x="2387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bk object 42"/>
          <p:cNvSpPr/>
          <p:nvPr/>
        </p:nvSpPr>
        <p:spPr>
          <a:xfrm>
            <a:off x="29818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bk object 43"/>
          <p:cNvSpPr/>
          <p:nvPr/>
        </p:nvSpPr>
        <p:spPr>
          <a:xfrm>
            <a:off x="35733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bk object 44"/>
          <p:cNvSpPr/>
          <p:nvPr/>
        </p:nvSpPr>
        <p:spPr>
          <a:xfrm>
            <a:off x="41644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bk object 45"/>
          <p:cNvSpPr/>
          <p:nvPr/>
        </p:nvSpPr>
        <p:spPr>
          <a:xfrm>
            <a:off x="47559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bk object 46"/>
          <p:cNvSpPr/>
          <p:nvPr/>
        </p:nvSpPr>
        <p:spPr>
          <a:xfrm>
            <a:off x="53470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bk object 47"/>
          <p:cNvSpPr/>
          <p:nvPr/>
        </p:nvSpPr>
        <p:spPr>
          <a:xfrm>
            <a:off x="59385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bk object 48"/>
          <p:cNvSpPr/>
          <p:nvPr/>
        </p:nvSpPr>
        <p:spPr>
          <a:xfrm>
            <a:off x="65329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bk object 49"/>
          <p:cNvSpPr/>
          <p:nvPr/>
        </p:nvSpPr>
        <p:spPr>
          <a:xfrm>
            <a:off x="71240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bk object 50"/>
          <p:cNvSpPr/>
          <p:nvPr/>
        </p:nvSpPr>
        <p:spPr>
          <a:xfrm>
            <a:off x="7715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bk object 51"/>
          <p:cNvSpPr/>
          <p:nvPr/>
        </p:nvSpPr>
        <p:spPr>
          <a:xfrm>
            <a:off x="83066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bk object 52"/>
          <p:cNvSpPr/>
          <p:nvPr/>
        </p:nvSpPr>
        <p:spPr>
          <a:xfrm>
            <a:off x="220428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7" y="26924"/>
                </a:lnTo>
                <a:lnTo>
                  <a:pt x="12318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29845" y="193675"/>
                </a:lnTo>
                <a:lnTo>
                  <a:pt x="53975" y="202565"/>
                </a:lnTo>
                <a:lnTo>
                  <a:pt x="81406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7602" y="181610"/>
                </a:lnTo>
                <a:lnTo>
                  <a:pt x="69850" y="181483"/>
                </a:lnTo>
                <a:lnTo>
                  <a:pt x="60833" y="178562"/>
                </a:lnTo>
                <a:lnTo>
                  <a:pt x="54864" y="178562"/>
                </a:lnTo>
                <a:lnTo>
                  <a:pt x="45847" y="172593"/>
                </a:lnTo>
                <a:lnTo>
                  <a:pt x="39878" y="166624"/>
                </a:lnTo>
                <a:lnTo>
                  <a:pt x="36956" y="154559"/>
                </a:lnTo>
                <a:lnTo>
                  <a:pt x="30987" y="139446"/>
                </a:lnTo>
                <a:lnTo>
                  <a:pt x="30987" y="124333"/>
                </a:lnTo>
                <a:lnTo>
                  <a:pt x="28067" y="103124"/>
                </a:lnTo>
                <a:lnTo>
                  <a:pt x="27940" y="102616"/>
                </a:lnTo>
                <a:lnTo>
                  <a:pt x="30861" y="78359"/>
                </a:lnTo>
                <a:lnTo>
                  <a:pt x="30861" y="63246"/>
                </a:lnTo>
                <a:lnTo>
                  <a:pt x="36830" y="48133"/>
                </a:lnTo>
                <a:lnTo>
                  <a:pt x="39751" y="39116"/>
                </a:lnTo>
                <a:lnTo>
                  <a:pt x="45720" y="30099"/>
                </a:lnTo>
                <a:lnTo>
                  <a:pt x="54737" y="27178"/>
                </a:lnTo>
                <a:lnTo>
                  <a:pt x="60706" y="24257"/>
                </a:lnTo>
                <a:lnTo>
                  <a:pt x="119344" y="24257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509" h="202564">
                <a:moveTo>
                  <a:pt x="119344" y="24257"/>
                </a:moveTo>
                <a:lnTo>
                  <a:pt x="78867" y="24257"/>
                </a:lnTo>
                <a:lnTo>
                  <a:pt x="90805" y="30099"/>
                </a:lnTo>
                <a:lnTo>
                  <a:pt x="102743" y="48133"/>
                </a:lnTo>
                <a:lnTo>
                  <a:pt x="108712" y="63246"/>
                </a:lnTo>
                <a:lnTo>
                  <a:pt x="108712" y="139446"/>
                </a:lnTo>
                <a:lnTo>
                  <a:pt x="102743" y="154559"/>
                </a:lnTo>
                <a:lnTo>
                  <a:pt x="96774" y="166624"/>
                </a:lnTo>
                <a:lnTo>
                  <a:pt x="84836" y="178562"/>
                </a:lnTo>
                <a:lnTo>
                  <a:pt x="78867" y="178562"/>
                </a:lnTo>
                <a:lnTo>
                  <a:pt x="69850" y="181483"/>
                </a:lnTo>
                <a:lnTo>
                  <a:pt x="117664" y="181483"/>
                </a:lnTo>
                <a:lnTo>
                  <a:pt x="123571" y="169545"/>
                </a:lnTo>
                <a:lnTo>
                  <a:pt x="132587" y="148336"/>
                </a:lnTo>
                <a:lnTo>
                  <a:pt x="135509" y="130175"/>
                </a:lnTo>
                <a:lnTo>
                  <a:pt x="135491" y="75184"/>
                </a:lnTo>
                <a:lnTo>
                  <a:pt x="132587" y="54102"/>
                </a:lnTo>
                <a:lnTo>
                  <a:pt x="123571" y="32893"/>
                </a:lnTo>
                <a:lnTo>
                  <a:pt x="119344" y="24257"/>
                </a:lnTo>
                <a:close/>
              </a:path>
              <a:path w="135509" h="202564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bk object 53"/>
          <p:cNvSpPr/>
          <p:nvPr/>
        </p:nvSpPr>
        <p:spPr>
          <a:xfrm>
            <a:off x="237240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2" h="33401">
                <a:moveTo>
                  <a:pt x="0" y="16700"/>
                </a:moveTo>
                <a:lnTo>
                  <a:pt x="3035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bk object 54"/>
          <p:cNvSpPr/>
          <p:nvPr/>
        </p:nvSpPr>
        <p:spPr>
          <a:xfrm>
            <a:off x="243252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361" h="202564">
                <a:moveTo>
                  <a:pt x="93472" y="2920"/>
                </a:moveTo>
                <a:lnTo>
                  <a:pt x="42163" y="2920"/>
                </a:lnTo>
                <a:lnTo>
                  <a:pt x="36194" y="5841"/>
                </a:lnTo>
                <a:lnTo>
                  <a:pt x="21208" y="20827"/>
                </a:lnTo>
                <a:lnTo>
                  <a:pt x="18287" y="26796"/>
                </a:lnTo>
                <a:lnTo>
                  <a:pt x="12318" y="32765"/>
                </a:lnTo>
                <a:lnTo>
                  <a:pt x="9398" y="41782"/>
                </a:lnTo>
                <a:lnTo>
                  <a:pt x="6476" y="53847"/>
                </a:lnTo>
                <a:lnTo>
                  <a:pt x="3528" y="75310"/>
                </a:lnTo>
                <a:lnTo>
                  <a:pt x="635" y="102488"/>
                </a:lnTo>
                <a:lnTo>
                  <a:pt x="0" y="102869"/>
                </a:lnTo>
                <a:lnTo>
                  <a:pt x="5842" y="148462"/>
                </a:lnTo>
                <a:lnTo>
                  <a:pt x="29844" y="193801"/>
                </a:lnTo>
                <a:lnTo>
                  <a:pt x="53848" y="202564"/>
                </a:lnTo>
                <a:lnTo>
                  <a:pt x="81280" y="202564"/>
                </a:lnTo>
                <a:lnTo>
                  <a:pt x="93344" y="199643"/>
                </a:lnTo>
                <a:lnTo>
                  <a:pt x="105410" y="193674"/>
                </a:lnTo>
                <a:lnTo>
                  <a:pt x="117475" y="181609"/>
                </a:lnTo>
                <a:lnTo>
                  <a:pt x="117537" y="181482"/>
                </a:lnTo>
                <a:lnTo>
                  <a:pt x="69976" y="181482"/>
                </a:lnTo>
                <a:lnTo>
                  <a:pt x="60960" y="178561"/>
                </a:lnTo>
                <a:lnTo>
                  <a:pt x="54991" y="178561"/>
                </a:lnTo>
                <a:lnTo>
                  <a:pt x="45974" y="172592"/>
                </a:lnTo>
                <a:lnTo>
                  <a:pt x="40005" y="166611"/>
                </a:lnTo>
                <a:lnTo>
                  <a:pt x="37083" y="160654"/>
                </a:lnTo>
                <a:lnTo>
                  <a:pt x="37033" y="154558"/>
                </a:lnTo>
                <a:lnTo>
                  <a:pt x="31114" y="139572"/>
                </a:lnTo>
                <a:lnTo>
                  <a:pt x="31114" y="124459"/>
                </a:lnTo>
                <a:lnTo>
                  <a:pt x="28193" y="103250"/>
                </a:lnTo>
                <a:lnTo>
                  <a:pt x="28067" y="102488"/>
                </a:lnTo>
                <a:lnTo>
                  <a:pt x="30987" y="78231"/>
                </a:lnTo>
                <a:lnTo>
                  <a:pt x="30987" y="63118"/>
                </a:lnTo>
                <a:lnTo>
                  <a:pt x="36906" y="48132"/>
                </a:lnTo>
                <a:lnTo>
                  <a:pt x="36956" y="42036"/>
                </a:lnTo>
                <a:lnTo>
                  <a:pt x="39878" y="39115"/>
                </a:lnTo>
                <a:lnTo>
                  <a:pt x="45847" y="30086"/>
                </a:lnTo>
                <a:lnTo>
                  <a:pt x="54863" y="27177"/>
                </a:lnTo>
                <a:lnTo>
                  <a:pt x="60832" y="24256"/>
                </a:lnTo>
                <a:lnTo>
                  <a:pt x="119217" y="24256"/>
                </a:lnTo>
                <a:lnTo>
                  <a:pt x="117601" y="20954"/>
                </a:lnTo>
                <a:lnTo>
                  <a:pt x="93472" y="2920"/>
                </a:lnTo>
                <a:close/>
              </a:path>
              <a:path w="135361" h="202564">
                <a:moveTo>
                  <a:pt x="119217" y="24256"/>
                </a:moveTo>
                <a:lnTo>
                  <a:pt x="78993" y="24256"/>
                </a:lnTo>
                <a:lnTo>
                  <a:pt x="90931" y="30086"/>
                </a:lnTo>
                <a:lnTo>
                  <a:pt x="102869" y="48132"/>
                </a:lnTo>
                <a:lnTo>
                  <a:pt x="108788" y="63118"/>
                </a:lnTo>
                <a:lnTo>
                  <a:pt x="108788" y="139572"/>
                </a:lnTo>
                <a:lnTo>
                  <a:pt x="102807" y="154685"/>
                </a:lnTo>
                <a:lnTo>
                  <a:pt x="96900" y="166611"/>
                </a:lnTo>
                <a:lnTo>
                  <a:pt x="84962" y="178561"/>
                </a:lnTo>
                <a:lnTo>
                  <a:pt x="78993" y="178561"/>
                </a:lnTo>
                <a:lnTo>
                  <a:pt x="69976" y="181482"/>
                </a:lnTo>
                <a:lnTo>
                  <a:pt x="117537" y="181482"/>
                </a:lnTo>
                <a:lnTo>
                  <a:pt x="123443" y="169544"/>
                </a:lnTo>
                <a:lnTo>
                  <a:pt x="132461" y="148335"/>
                </a:lnTo>
                <a:lnTo>
                  <a:pt x="135361" y="130301"/>
                </a:lnTo>
                <a:lnTo>
                  <a:pt x="135347" y="75056"/>
                </a:lnTo>
                <a:lnTo>
                  <a:pt x="132461" y="54101"/>
                </a:lnTo>
                <a:lnTo>
                  <a:pt x="123381" y="32765"/>
                </a:lnTo>
                <a:lnTo>
                  <a:pt x="119217" y="24256"/>
                </a:lnTo>
                <a:close/>
              </a:path>
              <a:path w="135361" h="202564">
                <a:moveTo>
                  <a:pt x="81533" y="0"/>
                </a:moveTo>
                <a:lnTo>
                  <a:pt x="54101" y="0"/>
                </a:lnTo>
                <a:lnTo>
                  <a:pt x="48132" y="2920"/>
                </a:lnTo>
                <a:lnTo>
                  <a:pt x="87503" y="2920"/>
                </a:lnTo>
                <a:lnTo>
                  <a:pt x="8153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bk object 55"/>
          <p:cNvSpPr/>
          <p:nvPr/>
        </p:nvSpPr>
        <p:spPr>
          <a:xfrm>
            <a:off x="2816640" y="6293160"/>
            <a:ext cx="137520" cy="20196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8289" h="202564">
                <a:moveTo>
                  <a:pt x="96519" y="2921"/>
                </a:moveTo>
                <a:lnTo>
                  <a:pt x="45338" y="2921"/>
                </a:lnTo>
                <a:lnTo>
                  <a:pt x="21208" y="20955"/>
                </a:lnTo>
                <a:lnTo>
                  <a:pt x="15367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32893" y="193675"/>
                </a:lnTo>
                <a:lnTo>
                  <a:pt x="53975" y="202565"/>
                </a:lnTo>
                <a:lnTo>
                  <a:pt x="84328" y="202565"/>
                </a:lnTo>
                <a:lnTo>
                  <a:pt x="96393" y="199644"/>
                </a:lnTo>
                <a:lnTo>
                  <a:pt x="105410" y="193675"/>
                </a:lnTo>
                <a:lnTo>
                  <a:pt x="117475" y="181610"/>
                </a:lnTo>
                <a:lnTo>
                  <a:pt x="117854" y="181102"/>
                </a:lnTo>
                <a:lnTo>
                  <a:pt x="69976" y="181102"/>
                </a:lnTo>
                <a:lnTo>
                  <a:pt x="60960" y="178181"/>
                </a:lnTo>
                <a:lnTo>
                  <a:pt x="54991" y="178181"/>
                </a:lnTo>
                <a:lnTo>
                  <a:pt x="45974" y="172212"/>
                </a:lnTo>
                <a:lnTo>
                  <a:pt x="40005" y="166243"/>
                </a:lnTo>
                <a:lnTo>
                  <a:pt x="37083" y="160274"/>
                </a:lnTo>
                <a:lnTo>
                  <a:pt x="37033" y="154178"/>
                </a:lnTo>
                <a:lnTo>
                  <a:pt x="31114" y="139192"/>
                </a:lnTo>
                <a:lnTo>
                  <a:pt x="31097" y="123952"/>
                </a:lnTo>
                <a:lnTo>
                  <a:pt x="28193" y="102870"/>
                </a:lnTo>
                <a:lnTo>
                  <a:pt x="28067" y="102616"/>
                </a:lnTo>
                <a:lnTo>
                  <a:pt x="30972" y="78486"/>
                </a:lnTo>
                <a:lnTo>
                  <a:pt x="30987" y="63246"/>
                </a:lnTo>
                <a:lnTo>
                  <a:pt x="36906" y="48260"/>
                </a:lnTo>
                <a:lnTo>
                  <a:pt x="36956" y="42164"/>
                </a:lnTo>
                <a:lnTo>
                  <a:pt x="39878" y="39243"/>
                </a:lnTo>
                <a:lnTo>
                  <a:pt x="45847" y="30213"/>
                </a:lnTo>
                <a:lnTo>
                  <a:pt x="54863" y="27305"/>
                </a:lnTo>
                <a:lnTo>
                  <a:pt x="60832" y="24384"/>
                </a:lnTo>
                <a:lnTo>
                  <a:pt x="119280" y="24384"/>
                </a:lnTo>
                <a:lnTo>
                  <a:pt x="117601" y="20955"/>
                </a:lnTo>
                <a:lnTo>
                  <a:pt x="105537" y="11938"/>
                </a:lnTo>
                <a:lnTo>
                  <a:pt x="96519" y="2921"/>
                </a:lnTo>
                <a:close/>
              </a:path>
              <a:path w="138289" h="202564">
                <a:moveTo>
                  <a:pt x="119280" y="24384"/>
                </a:moveTo>
                <a:lnTo>
                  <a:pt x="78993" y="24384"/>
                </a:lnTo>
                <a:lnTo>
                  <a:pt x="84962" y="27305"/>
                </a:lnTo>
                <a:lnTo>
                  <a:pt x="93980" y="30213"/>
                </a:lnTo>
                <a:lnTo>
                  <a:pt x="99949" y="39243"/>
                </a:lnTo>
                <a:lnTo>
                  <a:pt x="102869" y="48260"/>
                </a:lnTo>
                <a:lnTo>
                  <a:pt x="108788" y="63246"/>
                </a:lnTo>
                <a:lnTo>
                  <a:pt x="108838" y="78486"/>
                </a:lnTo>
                <a:lnTo>
                  <a:pt x="111744" y="102616"/>
                </a:lnTo>
                <a:lnTo>
                  <a:pt x="111742" y="102870"/>
                </a:lnTo>
                <a:lnTo>
                  <a:pt x="108838" y="123952"/>
                </a:lnTo>
                <a:lnTo>
                  <a:pt x="108788" y="139192"/>
                </a:lnTo>
                <a:lnTo>
                  <a:pt x="102869" y="154178"/>
                </a:lnTo>
                <a:lnTo>
                  <a:pt x="99949" y="166243"/>
                </a:lnTo>
                <a:lnTo>
                  <a:pt x="93980" y="172212"/>
                </a:lnTo>
                <a:lnTo>
                  <a:pt x="84962" y="178181"/>
                </a:lnTo>
                <a:lnTo>
                  <a:pt x="78993" y="178181"/>
                </a:lnTo>
                <a:lnTo>
                  <a:pt x="69976" y="181102"/>
                </a:lnTo>
                <a:lnTo>
                  <a:pt x="117854" y="181102"/>
                </a:lnTo>
                <a:lnTo>
                  <a:pt x="126492" y="169545"/>
                </a:lnTo>
                <a:lnTo>
                  <a:pt x="132461" y="148336"/>
                </a:lnTo>
                <a:lnTo>
                  <a:pt x="135381" y="130175"/>
                </a:lnTo>
                <a:lnTo>
                  <a:pt x="138289" y="102870"/>
                </a:lnTo>
                <a:lnTo>
                  <a:pt x="138289" y="102616"/>
                </a:lnTo>
                <a:lnTo>
                  <a:pt x="135364" y="75184"/>
                </a:lnTo>
                <a:lnTo>
                  <a:pt x="132461" y="54102"/>
                </a:lnTo>
                <a:lnTo>
                  <a:pt x="126492" y="32893"/>
                </a:lnTo>
                <a:lnTo>
                  <a:pt x="120523" y="26924"/>
                </a:lnTo>
                <a:lnTo>
                  <a:pt x="119280" y="24384"/>
                </a:lnTo>
                <a:close/>
              </a:path>
              <a:path w="138289" h="202564">
                <a:moveTo>
                  <a:pt x="8458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90550" y="2921"/>
                </a:lnTo>
                <a:lnTo>
                  <a:pt x="845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bk object 56"/>
          <p:cNvSpPr/>
          <p:nvPr/>
        </p:nvSpPr>
        <p:spPr>
          <a:xfrm>
            <a:off x="298800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bk object 57"/>
          <p:cNvSpPr/>
          <p:nvPr/>
        </p:nvSpPr>
        <p:spPr>
          <a:xfrm>
            <a:off x="30430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6" h="201040">
                <a:moveTo>
                  <a:pt x="72136" y="0"/>
                </a:moveTo>
                <a:lnTo>
                  <a:pt x="53975" y="0"/>
                </a:lnTo>
                <a:lnTo>
                  <a:pt x="51054" y="9016"/>
                </a:lnTo>
                <a:lnTo>
                  <a:pt x="45212" y="20954"/>
                </a:lnTo>
                <a:lnTo>
                  <a:pt x="36194" y="26911"/>
                </a:lnTo>
                <a:lnTo>
                  <a:pt x="30225" y="32892"/>
                </a:lnTo>
                <a:lnTo>
                  <a:pt x="21208" y="35813"/>
                </a:lnTo>
                <a:lnTo>
                  <a:pt x="0" y="35813"/>
                </a:lnTo>
                <a:lnTo>
                  <a:pt x="0" y="57022"/>
                </a:lnTo>
                <a:lnTo>
                  <a:pt x="45593" y="57022"/>
                </a:lnTo>
                <a:lnTo>
                  <a:pt x="45593" y="200151"/>
                </a:lnTo>
                <a:lnTo>
                  <a:pt x="44704" y="201040"/>
                </a:lnTo>
                <a:lnTo>
                  <a:pt x="72136" y="201040"/>
                </a:lnTo>
                <a:lnTo>
                  <a:pt x="7213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bk object 58"/>
          <p:cNvSpPr/>
          <p:nvPr/>
        </p:nvSpPr>
        <p:spPr>
          <a:xfrm>
            <a:off x="3386520" y="6293520"/>
            <a:ext cx="137160" cy="201600"/>
          </a:xfrm>
          <a:custGeom>
            <a:avLst/>
            <a:gdLst>
              <a:gd name="textAreaLeft" fmla="*/ 0 w 137160"/>
              <a:gd name="textAreaRight" fmla="*/ 137880 w 13716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049" h="202311">
                <a:moveTo>
                  <a:pt x="96393" y="2920"/>
                </a:moveTo>
                <a:lnTo>
                  <a:pt x="45212" y="2920"/>
                </a:lnTo>
                <a:lnTo>
                  <a:pt x="33147" y="11937"/>
                </a:lnTo>
                <a:lnTo>
                  <a:pt x="27178" y="14858"/>
                </a:lnTo>
                <a:lnTo>
                  <a:pt x="21209" y="20827"/>
                </a:lnTo>
                <a:lnTo>
                  <a:pt x="15367" y="32765"/>
                </a:lnTo>
                <a:lnTo>
                  <a:pt x="9398" y="41782"/>
                </a:lnTo>
                <a:lnTo>
                  <a:pt x="6477" y="53847"/>
                </a:lnTo>
                <a:lnTo>
                  <a:pt x="3542" y="75183"/>
                </a:lnTo>
                <a:lnTo>
                  <a:pt x="635" y="102488"/>
                </a:lnTo>
                <a:lnTo>
                  <a:pt x="0" y="102615"/>
                </a:lnTo>
                <a:lnTo>
                  <a:pt x="5842" y="148208"/>
                </a:lnTo>
                <a:lnTo>
                  <a:pt x="32766" y="193420"/>
                </a:lnTo>
                <a:lnTo>
                  <a:pt x="53848" y="202310"/>
                </a:lnTo>
                <a:lnTo>
                  <a:pt x="84201" y="202310"/>
                </a:lnTo>
                <a:lnTo>
                  <a:pt x="96266" y="199389"/>
                </a:lnTo>
                <a:lnTo>
                  <a:pt x="105283" y="193420"/>
                </a:lnTo>
                <a:lnTo>
                  <a:pt x="117221" y="181482"/>
                </a:lnTo>
                <a:lnTo>
                  <a:pt x="118075" y="180339"/>
                </a:lnTo>
                <a:lnTo>
                  <a:pt x="70231" y="180339"/>
                </a:lnTo>
                <a:lnTo>
                  <a:pt x="61214" y="177418"/>
                </a:lnTo>
                <a:lnTo>
                  <a:pt x="55245" y="177418"/>
                </a:lnTo>
                <a:lnTo>
                  <a:pt x="49276" y="171449"/>
                </a:lnTo>
                <a:lnTo>
                  <a:pt x="40259" y="165480"/>
                </a:lnTo>
                <a:lnTo>
                  <a:pt x="37337" y="153415"/>
                </a:lnTo>
                <a:lnTo>
                  <a:pt x="31419" y="138429"/>
                </a:lnTo>
                <a:lnTo>
                  <a:pt x="31369" y="102488"/>
                </a:lnTo>
                <a:lnTo>
                  <a:pt x="31292" y="62737"/>
                </a:lnTo>
                <a:lnTo>
                  <a:pt x="37252" y="47624"/>
                </a:lnTo>
                <a:lnTo>
                  <a:pt x="40132" y="38734"/>
                </a:lnTo>
                <a:lnTo>
                  <a:pt x="49149" y="29717"/>
                </a:lnTo>
                <a:lnTo>
                  <a:pt x="61087" y="23875"/>
                </a:lnTo>
                <a:lnTo>
                  <a:pt x="118839" y="23875"/>
                </a:lnTo>
                <a:lnTo>
                  <a:pt x="117348" y="20827"/>
                </a:lnTo>
                <a:lnTo>
                  <a:pt x="111379" y="14858"/>
                </a:lnTo>
                <a:lnTo>
                  <a:pt x="105410" y="11937"/>
                </a:lnTo>
                <a:lnTo>
                  <a:pt x="96393" y="2920"/>
                </a:lnTo>
                <a:close/>
              </a:path>
              <a:path w="138049" h="202311">
                <a:moveTo>
                  <a:pt x="118839" y="23875"/>
                </a:moveTo>
                <a:lnTo>
                  <a:pt x="79248" y="23875"/>
                </a:lnTo>
                <a:lnTo>
                  <a:pt x="85217" y="26796"/>
                </a:lnTo>
                <a:lnTo>
                  <a:pt x="94234" y="29717"/>
                </a:lnTo>
                <a:lnTo>
                  <a:pt x="100203" y="38734"/>
                </a:lnTo>
                <a:lnTo>
                  <a:pt x="103124" y="41655"/>
                </a:lnTo>
                <a:lnTo>
                  <a:pt x="103174" y="47751"/>
                </a:lnTo>
                <a:lnTo>
                  <a:pt x="109093" y="62737"/>
                </a:lnTo>
                <a:lnTo>
                  <a:pt x="109093" y="77850"/>
                </a:lnTo>
                <a:lnTo>
                  <a:pt x="111983" y="101853"/>
                </a:lnTo>
                <a:lnTo>
                  <a:pt x="111944" y="102615"/>
                </a:lnTo>
                <a:lnTo>
                  <a:pt x="109093" y="123316"/>
                </a:lnTo>
                <a:lnTo>
                  <a:pt x="109093" y="138429"/>
                </a:lnTo>
                <a:lnTo>
                  <a:pt x="103174" y="153415"/>
                </a:lnTo>
                <a:lnTo>
                  <a:pt x="103124" y="159511"/>
                </a:lnTo>
                <a:lnTo>
                  <a:pt x="100203" y="165480"/>
                </a:lnTo>
                <a:lnTo>
                  <a:pt x="94234" y="171449"/>
                </a:lnTo>
                <a:lnTo>
                  <a:pt x="85217" y="177418"/>
                </a:lnTo>
                <a:lnTo>
                  <a:pt x="79248" y="177418"/>
                </a:lnTo>
                <a:lnTo>
                  <a:pt x="70231" y="180339"/>
                </a:lnTo>
                <a:lnTo>
                  <a:pt x="118075" y="180339"/>
                </a:lnTo>
                <a:lnTo>
                  <a:pt x="126237" y="169417"/>
                </a:lnTo>
                <a:lnTo>
                  <a:pt x="132207" y="148208"/>
                </a:lnTo>
                <a:lnTo>
                  <a:pt x="135128" y="130047"/>
                </a:lnTo>
                <a:lnTo>
                  <a:pt x="138049" y="102615"/>
                </a:lnTo>
                <a:lnTo>
                  <a:pt x="135110" y="75056"/>
                </a:lnTo>
                <a:lnTo>
                  <a:pt x="132207" y="53974"/>
                </a:lnTo>
                <a:lnTo>
                  <a:pt x="126237" y="32765"/>
                </a:lnTo>
                <a:lnTo>
                  <a:pt x="120269" y="26796"/>
                </a:lnTo>
                <a:lnTo>
                  <a:pt x="118839" y="23875"/>
                </a:lnTo>
                <a:close/>
              </a:path>
              <a:path w="138049" h="202311">
                <a:moveTo>
                  <a:pt x="31369" y="101853"/>
                </a:moveTo>
                <a:lnTo>
                  <a:pt x="31242" y="102488"/>
                </a:lnTo>
                <a:lnTo>
                  <a:pt x="31369" y="101853"/>
                </a:lnTo>
                <a:close/>
              </a:path>
              <a:path w="138049" h="202311">
                <a:moveTo>
                  <a:pt x="84455" y="0"/>
                </a:moveTo>
                <a:lnTo>
                  <a:pt x="54102" y="0"/>
                </a:lnTo>
                <a:lnTo>
                  <a:pt x="51181" y="2920"/>
                </a:lnTo>
                <a:lnTo>
                  <a:pt x="90424" y="2920"/>
                </a:lnTo>
                <a:lnTo>
                  <a:pt x="8445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bk object 59"/>
          <p:cNvSpPr/>
          <p:nvPr/>
        </p:nvSpPr>
        <p:spPr>
          <a:xfrm>
            <a:off x="355788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bk object 60"/>
          <p:cNvSpPr/>
          <p:nvPr/>
        </p:nvSpPr>
        <p:spPr>
          <a:xfrm>
            <a:off x="3615840" y="6294960"/>
            <a:ext cx="136440" cy="197640"/>
          </a:xfrm>
          <a:custGeom>
            <a:avLst/>
            <a:gdLst>
              <a:gd name="textAreaLeft" fmla="*/ 0 w 136440"/>
              <a:gd name="textAreaRight" fmla="*/ 137160 w 136440"/>
              <a:gd name="textAreaTop" fmla="*/ 0 h 197640"/>
              <a:gd name="textAreaBottom" fmla="*/ 198360 h 197640"/>
            </a:gdLst>
            <a:ahLst/>
            <a:cxnLst/>
            <a:rect l="textAreaLeft" t="textAreaTop" r="textAreaRight" b="textAreaBottom"/>
            <a:pathLst>
              <a:path w="137287" h="198500">
                <a:moveTo>
                  <a:pt x="126675" y="24510"/>
                </a:moveTo>
                <a:lnTo>
                  <a:pt x="84200" y="24510"/>
                </a:lnTo>
                <a:lnTo>
                  <a:pt x="96138" y="30352"/>
                </a:lnTo>
                <a:lnTo>
                  <a:pt x="102108" y="36321"/>
                </a:lnTo>
                <a:lnTo>
                  <a:pt x="104966" y="42163"/>
                </a:lnTo>
                <a:lnTo>
                  <a:pt x="105029" y="45211"/>
                </a:lnTo>
                <a:lnTo>
                  <a:pt x="107823" y="48005"/>
                </a:lnTo>
                <a:lnTo>
                  <a:pt x="90170" y="93217"/>
                </a:lnTo>
                <a:lnTo>
                  <a:pt x="62992" y="108203"/>
                </a:lnTo>
                <a:lnTo>
                  <a:pt x="44958" y="120141"/>
                </a:lnTo>
                <a:lnTo>
                  <a:pt x="32893" y="126110"/>
                </a:lnTo>
                <a:lnTo>
                  <a:pt x="14859" y="144144"/>
                </a:lnTo>
                <a:lnTo>
                  <a:pt x="2921" y="168274"/>
                </a:lnTo>
                <a:lnTo>
                  <a:pt x="0" y="183387"/>
                </a:lnTo>
                <a:lnTo>
                  <a:pt x="0" y="198500"/>
                </a:lnTo>
                <a:lnTo>
                  <a:pt x="254" y="197992"/>
                </a:lnTo>
                <a:lnTo>
                  <a:pt x="137287" y="197992"/>
                </a:lnTo>
                <a:lnTo>
                  <a:pt x="137287" y="170560"/>
                </a:lnTo>
                <a:lnTo>
                  <a:pt x="30607" y="170560"/>
                </a:lnTo>
                <a:lnTo>
                  <a:pt x="30607" y="167639"/>
                </a:lnTo>
                <a:lnTo>
                  <a:pt x="33527" y="164718"/>
                </a:lnTo>
                <a:lnTo>
                  <a:pt x="39370" y="152780"/>
                </a:lnTo>
                <a:lnTo>
                  <a:pt x="45338" y="149859"/>
                </a:lnTo>
                <a:lnTo>
                  <a:pt x="48260" y="143890"/>
                </a:lnTo>
                <a:lnTo>
                  <a:pt x="54229" y="140969"/>
                </a:lnTo>
                <a:lnTo>
                  <a:pt x="63246" y="135000"/>
                </a:lnTo>
                <a:lnTo>
                  <a:pt x="72262" y="132079"/>
                </a:lnTo>
                <a:lnTo>
                  <a:pt x="75184" y="129158"/>
                </a:lnTo>
                <a:lnTo>
                  <a:pt x="93345" y="120141"/>
                </a:lnTo>
                <a:lnTo>
                  <a:pt x="96266" y="117220"/>
                </a:lnTo>
                <a:lnTo>
                  <a:pt x="102235" y="114299"/>
                </a:lnTo>
                <a:lnTo>
                  <a:pt x="111251" y="108330"/>
                </a:lnTo>
                <a:lnTo>
                  <a:pt x="126237" y="93344"/>
                </a:lnTo>
                <a:lnTo>
                  <a:pt x="129159" y="84327"/>
                </a:lnTo>
                <a:lnTo>
                  <a:pt x="135127" y="72262"/>
                </a:lnTo>
                <a:lnTo>
                  <a:pt x="135127" y="44830"/>
                </a:lnTo>
                <a:lnTo>
                  <a:pt x="132207" y="35813"/>
                </a:lnTo>
                <a:lnTo>
                  <a:pt x="126675" y="24510"/>
                </a:lnTo>
                <a:close/>
              </a:path>
              <a:path w="137287" h="198500">
                <a:moveTo>
                  <a:pt x="84200" y="0"/>
                </a:moveTo>
                <a:lnTo>
                  <a:pt x="53848" y="0"/>
                </a:lnTo>
                <a:lnTo>
                  <a:pt x="29845" y="11810"/>
                </a:lnTo>
                <a:lnTo>
                  <a:pt x="17907" y="23748"/>
                </a:lnTo>
                <a:lnTo>
                  <a:pt x="14986" y="29717"/>
                </a:lnTo>
                <a:lnTo>
                  <a:pt x="9017" y="38734"/>
                </a:lnTo>
                <a:lnTo>
                  <a:pt x="6096" y="47751"/>
                </a:lnTo>
                <a:lnTo>
                  <a:pt x="6096" y="68960"/>
                </a:lnTo>
                <a:lnTo>
                  <a:pt x="30352" y="68960"/>
                </a:lnTo>
                <a:lnTo>
                  <a:pt x="30352" y="59943"/>
                </a:lnTo>
                <a:lnTo>
                  <a:pt x="33274" y="53974"/>
                </a:lnTo>
                <a:lnTo>
                  <a:pt x="33274" y="48005"/>
                </a:lnTo>
                <a:lnTo>
                  <a:pt x="36068" y="45211"/>
                </a:lnTo>
                <a:lnTo>
                  <a:pt x="36195" y="42163"/>
                </a:lnTo>
                <a:lnTo>
                  <a:pt x="48006" y="30352"/>
                </a:lnTo>
                <a:lnTo>
                  <a:pt x="59944" y="24510"/>
                </a:lnTo>
                <a:lnTo>
                  <a:pt x="126675" y="24510"/>
                </a:lnTo>
                <a:lnTo>
                  <a:pt x="126364" y="23875"/>
                </a:lnTo>
                <a:lnTo>
                  <a:pt x="117348" y="14858"/>
                </a:lnTo>
                <a:lnTo>
                  <a:pt x="108331" y="8889"/>
                </a:lnTo>
                <a:lnTo>
                  <a:pt x="96266" y="2920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61"/>
          <p:cNvSpPr/>
          <p:nvPr/>
        </p:nvSpPr>
        <p:spPr>
          <a:xfrm>
            <a:off x="3980880" y="6293160"/>
            <a:ext cx="134640" cy="20160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509" h="202437">
                <a:moveTo>
                  <a:pt x="28448" y="102616"/>
                </a:moveTo>
                <a:lnTo>
                  <a:pt x="0" y="102616"/>
                </a:lnTo>
                <a:lnTo>
                  <a:pt x="0" y="130048"/>
                </a:lnTo>
                <a:lnTo>
                  <a:pt x="11937" y="169418"/>
                </a:lnTo>
                <a:lnTo>
                  <a:pt x="42037" y="199517"/>
                </a:lnTo>
                <a:lnTo>
                  <a:pt x="54101" y="202438"/>
                </a:lnTo>
                <a:lnTo>
                  <a:pt x="81534" y="202438"/>
                </a:lnTo>
                <a:lnTo>
                  <a:pt x="93599" y="199517"/>
                </a:lnTo>
                <a:lnTo>
                  <a:pt x="105663" y="193548"/>
                </a:lnTo>
                <a:lnTo>
                  <a:pt x="115155" y="180848"/>
                </a:lnTo>
                <a:lnTo>
                  <a:pt x="67183" y="180848"/>
                </a:lnTo>
                <a:lnTo>
                  <a:pt x="58165" y="177927"/>
                </a:lnTo>
                <a:lnTo>
                  <a:pt x="52197" y="177927"/>
                </a:lnTo>
                <a:lnTo>
                  <a:pt x="40259" y="165989"/>
                </a:lnTo>
                <a:lnTo>
                  <a:pt x="34289" y="153924"/>
                </a:lnTo>
                <a:lnTo>
                  <a:pt x="28472" y="123825"/>
                </a:lnTo>
                <a:lnTo>
                  <a:pt x="28448" y="102616"/>
                </a:lnTo>
                <a:close/>
              </a:path>
              <a:path w="135509" h="202437">
                <a:moveTo>
                  <a:pt x="116486" y="24257"/>
                </a:moveTo>
                <a:lnTo>
                  <a:pt x="76200" y="24257"/>
                </a:lnTo>
                <a:lnTo>
                  <a:pt x="85216" y="27178"/>
                </a:lnTo>
                <a:lnTo>
                  <a:pt x="91186" y="30099"/>
                </a:lnTo>
                <a:lnTo>
                  <a:pt x="97154" y="39116"/>
                </a:lnTo>
                <a:lnTo>
                  <a:pt x="100075" y="42037"/>
                </a:lnTo>
                <a:lnTo>
                  <a:pt x="102997" y="48006"/>
                </a:lnTo>
                <a:lnTo>
                  <a:pt x="108838" y="78232"/>
                </a:lnTo>
                <a:lnTo>
                  <a:pt x="108838" y="123825"/>
                </a:lnTo>
                <a:lnTo>
                  <a:pt x="102997" y="154038"/>
                </a:lnTo>
                <a:lnTo>
                  <a:pt x="97154" y="165989"/>
                </a:lnTo>
                <a:lnTo>
                  <a:pt x="85216" y="177927"/>
                </a:lnTo>
                <a:lnTo>
                  <a:pt x="76200" y="177927"/>
                </a:lnTo>
                <a:lnTo>
                  <a:pt x="67183" y="180848"/>
                </a:lnTo>
                <a:lnTo>
                  <a:pt x="115155" y="180848"/>
                </a:lnTo>
                <a:lnTo>
                  <a:pt x="123698" y="169418"/>
                </a:lnTo>
                <a:lnTo>
                  <a:pt x="129666" y="148209"/>
                </a:lnTo>
                <a:lnTo>
                  <a:pt x="132587" y="130048"/>
                </a:lnTo>
                <a:lnTo>
                  <a:pt x="135509" y="102616"/>
                </a:lnTo>
                <a:lnTo>
                  <a:pt x="132587" y="75184"/>
                </a:lnTo>
                <a:lnTo>
                  <a:pt x="129666" y="53975"/>
                </a:lnTo>
                <a:lnTo>
                  <a:pt x="123698" y="32766"/>
                </a:lnTo>
                <a:lnTo>
                  <a:pt x="117728" y="26797"/>
                </a:lnTo>
                <a:lnTo>
                  <a:pt x="116486" y="24257"/>
                </a:lnTo>
                <a:close/>
              </a:path>
              <a:path w="135509" h="202437">
                <a:moveTo>
                  <a:pt x="93852" y="2921"/>
                </a:moveTo>
                <a:lnTo>
                  <a:pt x="42545" y="2921"/>
                </a:lnTo>
                <a:lnTo>
                  <a:pt x="18414" y="20955"/>
                </a:lnTo>
                <a:lnTo>
                  <a:pt x="12573" y="32893"/>
                </a:lnTo>
                <a:lnTo>
                  <a:pt x="6603" y="41910"/>
                </a:lnTo>
                <a:lnTo>
                  <a:pt x="3683" y="53975"/>
                </a:lnTo>
                <a:lnTo>
                  <a:pt x="762" y="75184"/>
                </a:lnTo>
                <a:lnTo>
                  <a:pt x="762" y="102616"/>
                </a:lnTo>
                <a:lnTo>
                  <a:pt x="28321" y="102616"/>
                </a:lnTo>
                <a:lnTo>
                  <a:pt x="28345" y="78232"/>
                </a:lnTo>
                <a:lnTo>
                  <a:pt x="34162" y="48133"/>
                </a:lnTo>
                <a:lnTo>
                  <a:pt x="46100" y="30099"/>
                </a:lnTo>
                <a:lnTo>
                  <a:pt x="58038" y="24257"/>
                </a:lnTo>
                <a:lnTo>
                  <a:pt x="116486" y="24257"/>
                </a:lnTo>
                <a:lnTo>
                  <a:pt x="114808" y="20828"/>
                </a:lnTo>
                <a:lnTo>
                  <a:pt x="99822" y="5842"/>
                </a:lnTo>
                <a:lnTo>
                  <a:pt x="93852" y="2921"/>
                </a:lnTo>
                <a:close/>
              </a:path>
              <a:path w="135509" h="202437">
                <a:moveTo>
                  <a:pt x="28448" y="102489"/>
                </a:moveTo>
              </a:path>
              <a:path w="135509" h="202437">
                <a:moveTo>
                  <a:pt x="81914" y="0"/>
                </a:moveTo>
                <a:lnTo>
                  <a:pt x="54483" y="0"/>
                </a:lnTo>
                <a:lnTo>
                  <a:pt x="48513" y="2921"/>
                </a:lnTo>
                <a:lnTo>
                  <a:pt x="87884" y="2921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bk object 62"/>
          <p:cNvSpPr/>
          <p:nvPr/>
        </p:nvSpPr>
        <p:spPr>
          <a:xfrm>
            <a:off x="414936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bk object 63"/>
          <p:cNvSpPr/>
          <p:nvPr/>
        </p:nvSpPr>
        <p:spPr>
          <a:xfrm>
            <a:off x="4207320" y="6294600"/>
            <a:ext cx="134640" cy="20052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520"/>
              <a:gd name="textAreaBottom" fmla="*/ 201240 h 200520"/>
            </a:gdLst>
            <a:ahLst/>
            <a:cxnLst/>
            <a:rect l="textAreaLeft" t="textAreaTop" r="textAreaRight" b="textAreaBottom"/>
            <a:pathLst>
              <a:path w="135509" h="201167">
                <a:moveTo>
                  <a:pt x="24257" y="135000"/>
                </a:moveTo>
                <a:lnTo>
                  <a:pt x="0" y="135000"/>
                </a:lnTo>
                <a:lnTo>
                  <a:pt x="0" y="156209"/>
                </a:lnTo>
                <a:lnTo>
                  <a:pt x="26924" y="192278"/>
                </a:lnTo>
                <a:lnTo>
                  <a:pt x="48006" y="201167"/>
                </a:lnTo>
                <a:lnTo>
                  <a:pt x="78359" y="201167"/>
                </a:lnTo>
                <a:lnTo>
                  <a:pt x="102488" y="195325"/>
                </a:lnTo>
                <a:lnTo>
                  <a:pt x="114554" y="186308"/>
                </a:lnTo>
                <a:lnTo>
                  <a:pt x="123571" y="177291"/>
                </a:lnTo>
                <a:lnTo>
                  <a:pt x="123907" y="176783"/>
                </a:lnTo>
                <a:lnTo>
                  <a:pt x="53975" y="176783"/>
                </a:lnTo>
                <a:lnTo>
                  <a:pt x="48006" y="173862"/>
                </a:lnTo>
                <a:lnTo>
                  <a:pt x="38988" y="170941"/>
                </a:lnTo>
                <a:lnTo>
                  <a:pt x="33020" y="164972"/>
                </a:lnTo>
                <a:lnTo>
                  <a:pt x="30099" y="159003"/>
                </a:lnTo>
                <a:lnTo>
                  <a:pt x="27178" y="149986"/>
                </a:lnTo>
                <a:lnTo>
                  <a:pt x="24257" y="147065"/>
                </a:lnTo>
                <a:lnTo>
                  <a:pt x="24257" y="135000"/>
                </a:lnTo>
                <a:close/>
              </a:path>
              <a:path w="135509" h="201167">
                <a:moveTo>
                  <a:pt x="119998" y="21335"/>
                </a:moveTo>
                <a:lnTo>
                  <a:pt x="66294" y="21335"/>
                </a:lnTo>
                <a:lnTo>
                  <a:pt x="72262" y="24256"/>
                </a:lnTo>
                <a:lnTo>
                  <a:pt x="84328" y="24256"/>
                </a:lnTo>
                <a:lnTo>
                  <a:pt x="87249" y="27178"/>
                </a:lnTo>
                <a:lnTo>
                  <a:pt x="90170" y="27178"/>
                </a:lnTo>
                <a:lnTo>
                  <a:pt x="93091" y="33146"/>
                </a:lnTo>
                <a:lnTo>
                  <a:pt x="98933" y="38988"/>
                </a:lnTo>
                <a:lnTo>
                  <a:pt x="99060" y="45084"/>
                </a:lnTo>
                <a:lnTo>
                  <a:pt x="101981" y="51053"/>
                </a:lnTo>
                <a:lnTo>
                  <a:pt x="99060" y="60070"/>
                </a:lnTo>
                <a:lnTo>
                  <a:pt x="99060" y="66039"/>
                </a:lnTo>
                <a:lnTo>
                  <a:pt x="96138" y="72008"/>
                </a:lnTo>
                <a:lnTo>
                  <a:pt x="90170" y="77978"/>
                </a:lnTo>
                <a:lnTo>
                  <a:pt x="87249" y="77978"/>
                </a:lnTo>
                <a:lnTo>
                  <a:pt x="84328" y="80898"/>
                </a:lnTo>
                <a:lnTo>
                  <a:pt x="78359" y="83819"/>
                </a:lnTo>
                <a:lnTo>
                  <a:pt x="50927" y="83819"/>
                </a:lnTo>
                <a:lnTo>
                  <a:pt x="50927" y="105028"/>
                </a:lnTo>
                <a:lnTo>
                  <a:pt x="78359" y="105028"/>
                </a:lnTo>
                <a:lnTo>
                  <a:pt x="87375" y="107950"/>
                </a:lnTo>
                <a:lnTo>
                  <a:pt x="93345" y="110870"/>
                </a:lnTo>
                <a:lnTo>
                  <a:pt x="105283" y="122808"/>
                </a:lnTo>
                <a:lnTo>
                  <a:pt x="108204" y="131825"/>
                </a:lnTo>
                <a:lnTo>
                  <a:pt x="108204" y="153034"/>
                </a:lnTo>
                <a:lnTo>
                  <a:pt x="105283" y="155943"/>
                </a:lnTo>
                <a:lnTo>
                  <a:pt x="102362" y="161925"/>
                </a:lnTo>
                <a:lnTo>
                  <a:pt x="90424" y="173862"/>
                </a:lnTo>
                <a:lnTo>
                  <a:pt x="81407" y="176783"/>
                </a:lnTo>
                <a:lnTo>
                  <a:pt x="123907" y="176783"/>
                </a:lnTo>
                <a:lnTo>
                  <a:pt x="129540" y="168275"/>
                </a:lnTo>
                <a:lnTo>
                  <a:pt x="135509" y="153161"/>
                </a:lnTo>
                <a:lnTo>
                  <a:pt x="135509" y="125729"/>
                </a:lnTo>
                <a:lnTo>
                  <a:pt x="129540" y="113664"/>
                </a:lnTo>
                <a:lnTo>
                  <a:pt x="123571" y="104647"/>
                </a:lnTo>
                <a:lnTo>
                  <a:pt x="114681" y="95757"/>
                </a:lnTo>
                <a:lnTo>
                  <a:pt x="108712" y="92836"/>
                </a:lnTo>
                <a:lnTo>
                  <a:pt x="105791" y="92836"/>
                </a:lnTo>
                <a:lnTo>
                  <a:pt x="102870" y="89915"/>
                </a:lnTo>
                <a:lnTo>
                  <a:pt x="111887" y="86994"/>
                </a:lnTo>
                <a:lnTo>
                  <a:pt x="114808" y="86994"/>
                </a:lnTo>
                <a:lnTo>
                  <a:pt x="120777" y="81025"/>
                </a:lnTo>
                <a:lnTo>
                  <a:pt x="126619" y="62991"/>
                </a:lnTo>
                <a:lnTo>
                  <a:pt x="129509" y="51053"/>
                </a:lnTo>
                <a:lnTo>
                  <a:pt x="129540" y="44957"/>
                </a:lnTo>
                <a:lnTo>
                  <a:pt x="126619" y="38988"/>
                </a:lnTo>
                <a:lnTo>
                  <a:pt x="123698" y="26923"/>
                </a:lnTo>
                <a:lnTo>
                  <a:pt x="119998" y="21335"/>
                </a:lnTo>
                <a:close/>
              </a:path>
              <a:path w="135509" h="201167">
                <a:moveTo>
                  <a:pt x="87757" y="0"/>
                </a:moveTo>
                <a:lnTo>
                  <a:pt x="51308" y="0"/>
                </a:lnTo>
                <a:lnTo>
                  <a:pt x="42291" y="2920"/>
                </a:lnTo>
                <a:lnTo>
                  <a:pt x="9271" y="35940"/>
                </a:lnTo>
                <a:lnTo>
                  <a:pt x="3429" y="53975"/>
                </a:lnTo>
                <a:lnTo>
                  <a:pt x="3429" y="62991"/>
                </a:lnTo>
                <a:lnTo>
                  <a:pt x="27686" y="62991"/>
                </a:lnTo>
                <a:lnTo>
                  <a:pt x="30607" y="60070"/>
                </a:lnTo>
                <a:lnTo>
                  <a:pt x="30607" y="47993"/>
                </a:lnTo>
                <a:lnTo>
                  <a:pt x="36449" y="36067"/>
                </a:lnTo>
                <a:lnTo>
                  <a:pt x="45338" y="27178"/>
                </a:lnTo>
                <a:lnTo>
                  <a:pt x="51308" y="24256"/>
                </a:lnTo>
                <a:lnTo>
                  <a:pt x="57277" y="24256"/>
                </a:lnTo>
                <a:lnTo>
                  <a:pt x="66294" y="21335"/>
                </a:lnTo>
                <a:lnTo>
                  <a:pt x="119998" y="21335"/>
                </a:lnTo>
                <a:lnTo>
                  <a:pt x="117729" y="17906"/>
                </a:lnTo>
                <a:lnTo>
                  <a:pt x="108712" y="8889"/>
                </a:lnTo>
                <a:lnTo>
                  <a:pt x="102743" y="5968"/>
                </a:lnTo>
                <a:lnTo>
                  <a:pt x="99822" y="5968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bk object 64"/>
          <p:cNvSpPr/>
          <p:nvPr/>
        </p:nvSpPr>
        <p:spPr>
          <a:xfrm>
            <a:off x="457236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725" y="2921"/>
                </a:moveTo>
                <a:lnTo>
                  <a:pt x="42418" y="2921"/>
                </a:lnTo>
                <a:lnTo>
                  <a:pt x="30352" y="11938"/>
                </a:lnTo>
                <a:lnTo>
                  <a:pt x="15367" y="26924"/>
                </a:lnTo>
                <a:lnTo>
                  <a:pt x="12446" y="32893"/>
                </a:lnTo>
                <a:lnTo>
                  <a:pt x="9525" y="41910"/>
                </a:lnTo>
                <a:lnTo>
                  <a:pt x="3556" y="53975"/>
                </a:lnTo>
                <a:lnTo>
                  <a:pt x="635" y="75184"/>
                </a:lnTo>
                <a:lnTo>
                  <a:pt x="635" y="102616"/>
                </a:lnTo>
                <a:lnTo>
                  <a:pt x="0" y="102743"/>
                </a:lnTo>
                <a:lnTo>
                  <a:pt x="0" y="130175"/>
                </a:lnTo>
                <a:lnTo>
                  <a:pt x="2921" y="148336"/>
                </a:lnTo>
                <a:lnTo>
                  <a:pt x="11937" y="169545"/>
                </a:lnTo>
                <a:lnTo>
                  <a:pt x="29972" y="193675"/>
                </a:lnTo>
                <a:lnTo>
                  <a:pt x="42037" y="199644"/>
                </a:lnTo>
                <a:lnTo>
                  <a:pt x="54101" y="202565"/>
                </a:lnTo>
                <a:lnTo>
                  <a:pt x="81534" y="202565"/>
                </a:lnTo>
                <a:lnTo>
                  <a:pt x="93599" y="199644"/>
                </a:lnTo>
                <a:lnTo>
                  <a:pt x="105663" y="193675"/>
                </a:lnTo>
                <a:lnTo>
                  <a:pt x="115440" y="180594"/>
                </a:lnTo>
                <a:lnTo>
                  <a:pt x="66929" y="180594"/>
                </a:lnTo>
                <a:lnTo>
                  <a:pt x="57912" y="177673"/>
                </a:lnTo>
                <a:lnTo>
                  <a:pt x="51943" y="177673"/>
                </a:lnTo>
                <a:lnTo>
                  <a:pt x="40005" y="165735"/>
                </a:lnTo>
                <a:lnTo>
                  <a:pt x="34036" y="153670"/>
                </a:lnTo>
                <a:lnTo>
                  <a:pt x="28243" y="123698"/>
                </a:lnTo>
                <a:lnTo>
                  <a:pt x="28194" y="102616"/>
                </a:lnTo>
                <a:lnTo>
                  <a:pt x="28116" y="78105"/>
                </a:lnTo>
                <a:lnTo>
                  <a:pt x="33909" y="48133"/>
                </a:lnTo>
                <a:lnTo>
                  <a:pt x="45847" y="30099"/>
                </a:lnTo>
                <a:lnTo>
                  <a:pt x="57785" y="24257"/>
                </a:lnTo>
                <a:lnTo>
                  <a:pt x="118109" y="24257"/>
                </a:lnTo>
                <a:lnTo>
                  <a:pt x="105790" y="11938"/>
                </a:lnTo>
                <a:lnTo>
                  <a:pt x="93725" y="2921"/>
                </a:lnTo>
                <a:close/>
              </a:path>
              <a:path w="135509" h="202564">
                <a:moveTo>
                  <a:pt x="118109" y="24257"/>
                </a:moveTo>
                <a:lnTo>
                  <a:pt x="75946" y="24257"/>
                </a:lnTo>
                <a:lnTo>
                  <a:pt x="84962" y="27178"/>
                </a:lnTo>
                <a:lnTo>
                  <a:pt x="90932" y="30099"/>
                </a:lnTo>
                <a:lnTo>
                  <a:pt x="93852" y="33020"/>
                </a:lnTo>
                <a:lnTo>
                  <a:pt x="96774" y="38989"/>
                </a:lnTo>
                <a:lnTo>
                  <a:pt x="102743" y="48006"/>
                </a:lnTo>
                <a:lnTo>
                  <a:pt x="105663" y="63119"/>
                </a:lnTo>
                <a:lnTo>
                  <a:pt x="105663" y="72136"/>
                </a:lnTo>
                <a:lnTo>
                  <a:pt x="108585" y="78105"/>
                </a:lnTo>
                <a:lnTo>
                  <a:pt x="108585" y="123698"/>
                </a:lnTo>
                <a:lnTo>
                  <a:pt x="105663" y="129667"/>
                </a:lnTo>
                <a:lnTo>
                  <a:pt x="105663" y="138684"/>
                </a:lnTo>
                <a:lnTo>
                  <a:pt x="102743" y="153797"/>
                </a:lnTo>
                <a:lnTo>
                  <a:pt x="96774" y="165862"/>
                </a:lnTo>
                <a:lnTo>
                  <a:pt x="84962" y="177673"/>
                </a:lnTo>
                <a:lnTo>
                  <a:pt x="75946" y="177673"/>
                </a:lnTo>
                <a:lnTo>
                  <a:pt x="66929" y="180594"/>
                </a:lnTo>
                <a:lnTo>
                  <a:pt x="115440" y="180594"/>
                </a:lnTo>
                <a:lnTo>
                  <a:pt x="123698" y="169545"/>
                </a:lnTo>
                <a:lnTo>
                  <a:pt x="129667" y="148336"/>
                </a:lnTo>
                <a:lnTo>
                  <a:pt x="132587" y="130175"/>
                </a:lnTo>
                <a:lnTo>
                  <a:pt x="135509" y="102743"/>
                </a:lnTo>
                <a:lnTo>
                  <a:pt x="132570" y="75184"/>
                </a:lnTo>
                <a:lnTo>
                  <a:pt x="129667" y="54102"/>
                </a:lnTo>
                <a:lnTo>
                  <a:pt x="123698" y="32893"/>
                </a:lnTo>
                <a:lnTo>
                  <a:pt x="120776" y="26924"/>
                </a:lnTo>
                <a:lnTo>
                  <a:pt x="118109" y="24257"/>
                </a:lnTo>
                <a:close/>
              </a:path>
              <a:path w="135509" h="202564">
                <a:moveTo>
                  <a:pt x="28194" y="102235"/>
                </a:moveTo>
                <a:lnTo>
                  <a:pt x="28067" y="102616"/>
                </a:lnTo>
                <a:lnTo>
                  <a:pt x="28194" y="102235"/>
                </a:lnTo>
                <a:close/>
              </a:path>
              <a:path w="135509" h="202564">
                <a:moveTo>
                  <a:pt x="81787" y="0"/>
                </a:moveTo>
                <a:lnTo>
                  <a:pt x="54356" y="0"/>
                </a:lnTo>
                <a:lnTo>
                  <a:pt x="48387" y="2921"/>
                </a:lnTo>
                <a:lnTo>
                  <a:pt x="87757" y="2921"/>
                </a:lnTo>
                <a:lnTo>
                  <a:pt x="817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bk object 65"/>
          <p:cNvSpPr/>
          <p:nvPr/>
        </p:nvSpPr>
        <p:spPr>
          <a:xfrm>
            <a:off x="474084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bk object 66"/>
          <p:cNvSpPr/>
          <p:nvPr/>
        </p:nvSpPr>
        <p:spPr>
          <a:xfrm>
            <a:off x="4798800" y="629856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9" h="194817">
                <a:moveTo>
                  <a:pt x="112649" y="143002"/>
                </a:moveTo>
                <a:lnTo>
                  <a:pt x="85217" y="143002"/>
                </a:lnTo>
                <a:lnTo>
                  <a:pt x="85217" y="194818"/>
                </a:lnTo>
                <a:lnTo>
                  <a:pt x="112649" y="194818"/>
                </a:lnTo>
                <a:lnTo>
                  <a:pt x="112649" y="143002"/>
                </a:lnTo>
                <a:close/>
              </a:path>
              <a:path w="112649" h="194817">
                <a:moveTo>
                  <a:pt x="112649" y="0"/>
                </a:moveTo>
                <a:lnTo>
                  <a:pt x="85217" y="0"/>
                </a:lnTo>
                <a:lnTo>
                  <a:pt x="0" y="118745"/>
                </a:lnTo>
                <a:lnTo>
                  <a:pt x="0" y="143002"/>
                </a:lnTo>
                <a:lnTo>
                  <a:pt x="140081" y="143002"/>
                </a:lnTo>
                <a:lnTo>
                  <a:pt x="140081" y="121793"/>
                </a:lnTo>
                <a:lnTo>
                  <a:pt x="112649" y="121793"/>
                </a:lnTo>
                <a:lnTo>
                  <a:pt x="24130" y="121666"/>
                </a:lnTo>
                <a:lnTo>
                  <a:pt x="84963" y="33401"/>
                </a:lnTo>
                <a:lnTo>
                  <a:pt x="112649" y="33401"/>
                </a:lnTo>
                <a:lnTo>
                  <a:pt x="112649" y="0"/>
                </a:lnTo>
                <a:close/>
              </a:path>
              <a:path w="112649" h="194817">
                <a:moveTo>
                  <a:pt x="112649" y="33401"/>
                </a:moveTo>
                <a:lnTo>
                  <a:pt x="84963" y="33401"/>
                </a:lnTo>
                <a:lnTo>
                  <a:pt x="84963" y="121666"/>
                </a:lnTo>
                <a:lnTo>
                  <a:pt x="112649" y="121666"/>
                </a:lnTo>
                <a:lnTo>
                  <a:pt x="112649" y="3340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bk object 67"/>
          <p:cNvSpPr/>
          <p:nvPr/>
        </p:nvSpPr>
        <p:spPr>
          <a:xfrm>
            <a:off x="5163480" y="6293520"/>
            <a:ext cx="135000" cy="201600"/>
          </a:xfrm>
          <a:custGeom>
            <a:avLst/>
            <a:gdLst>
              <a:gd name="textAreaLeft" fmla="*/ 0 w 135000"/>
              <a:gd name="textAreaRight" fmla="*/ 135720 w 13500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636" h="202437">
                <a:moveTo>
                  <a:pt x="93852" y="2920"/>
                </a:moveTo>
                <a:lnTo>
                  <a:pt x="42545" y="2920"/>
                </a:lnTo>
                <a:lnTo>
                  <a:pt x="30479" y="11937"/>
                </a:lnTo>
                <a:lnTo>
                  <a:pt x="15494" y="26911"/>
                </a:lnTo>
                <a:lnTo>
                  <a:pt x="15367" y="29971"/>
                </a:lnTo>
                <a:lnTo>
                  <a:pt x="12573" y="32765"/>
                </a:lnTo>
                <a:lnTo>
                  <a:pt x="9651" y="41782"/>
                </a:lnTo>
                <a:lnTo>
                  <a:pt x="6730" y="53847"/>
                </a:lnTo>
                <a:lnTo>
                  <a:pt x="762" y="75056"/>
                </a:lnTo>
                <a:lnTo>
                  <a:pt x="762" y="102488"/>
                </a:lnTo>
                <a:lnTo>
                  <a:pt x="0" y="102615"/>
                </a:lnTo>
                <a:lnTo>
                  <a:pt x="0" y="130047"/>
                </a:lnTo>
                <a:lnTo>
                  <a:pt x="5969" y="148208"/>
                </a:lnTo>
                <a:lnTo>
                  <a:pt x="11937" y="169417"/>
                </a:lnTo>
                <a:lnTo>
                  <a:pt x="29972" y="193547"/>
                </a:lnTo>
                <a:lnTo>
                  <a:pt x="42037" y="199516"/>
                </a:lnTo>
                <a:lnTo>
                  <a:pt x="54101" y="202437"/>
                </a:lnTo>
                <a:lnTo>
                  <a:pt x="81534" y="202437"/>
                </a:lnTo>
                <a:lnTo>
                  <a:pt x="93599" y="199516"/>
                </a:lnTo>
                <a:lnTo>
                  <a:pt x="105663" y="193547"/>
                </a:lnTo>
                <a:lnTo>
                  <a:pt x="115250" y="180720"/>
                </a:lnTo>
                <a:lnTo>
                  <a:pt x="67183" y="180720"/>
                </a:lnTo>
                <a:lnTo>
                  <a:pt x="61213" y="177799"/>
                </a:lnTo>
                <a:lnTo>
                  <a:pt x="52197" y="177799"/>
                </a:lnTo>
                <a:lnTo>
                  <a:pt x="40259" y="165861"/>
                </a:lnTo>
                <a:lnTo>
                  <a:pt x="34289" y="153796"/>
                </a:lnTo>
                <a:lnTo>
                  <a:pt x="28472" y="123697"/>
                </a:lnTo>
                <a:lnTo>
                  <a:pt x="28448" y="102488"/>
                </a:lnTo>
                <a:lnTo>
                  <a:pt x="34162" y="48005"/>
                </a:lnTo>
                <a:lnTo>
                  <a:pt x="61087" y="24129"/>
                </a:lnTo>
                <a:lnTo>
                  <a:pt x="118109" y="24129"/>
                </a:lnTo>
                <a:lnTo>
                  <a:pt x="105917" y="11937"/>
                </a:lnTo>
                <a:lnTo>
                  <a:pt x="93852" y="2920"/>
                </a:lnTo>
                <a:close/>
              </a:path>
              <a:path w="135636" h="202437">
                <a:moveTo>
                  <a:pt x="118109" y="24129"/>
                </a:moveTo>
                <a:lnTo>
                  <a:pt x="76200" y="24129"/>
                </a:lnTo>
                <a:lnTo>
                  <a:pt x="85216" y="27050"/>
                </a:lnTo>
                <a:lnTo>
                  <a:pt x="91186" y="29971"/>
                </a:lnTo>
                <a:lnTo>
                  <a:pt x="103124" y="48005"/>
                </a:lnTo>
                <a:lnTo>
                  <a:pt x="106045" y="57022"/>
                </a:lnTo>
                <a:lnTo>
                  <a:pt x="106045" y="62991"/>
                </a:lnTo>
                <a:lnTo>
                  <a:pt x="108965" y="78104"/>
                </a:lnTo>
                <a:lnTo>
                  <a:pt x="108965" y="123697"/>
                </a:lnTo>
                <a:lnTo>
                  <a:pt x="106045" y="138810"/>
                </a:lnTo>
                <a:lnTo>
                  <a:pt x="106045" y="147827"/>
                </a:lnTo>
                <a:lnTo>
                  <a:pt x="103124" y="153796"/>
                </a:lnTo>
                <a:lnTo>
                  <a:pt x="97154" y="165861"/>
                </a:lnTo>
                <a:lnTo>
                  <a:pt x="85216" y="177799"/>
                </a:lnTo>
                <a:lnTo>
                  <a:pt x="76200" y="177799"/>
                </a:lnTo>
                <a:lnTo>
                  <a:pt x="67183" y="180720"/>
                </a:lnTo>
                <a:lnTo>
                  <a:pt x="115250" y="180720"/>
                </a:lnTo>
                <a:lnTo>
                  <a:pt x="123698" y="169417"/>
                </a:lnTo>
                <a:lnTo>
                  <a:pt x="129666" y="148208"/>
                </a:lnTo>
                <a:lnTo>
                  <a:pt x="135636" y="130047"/>
                </a:lnTo>
                <a:lnTo>
                  <a:pt x="135600" y="75056"/>
                </a:lnTo>
                <a:lnTo>
                  <a:pt x="123698" y="32765"/>
                </a:lnTo>
                <a:lnTo>
                  <a:pt x="120776" y="26796"/>
                </a:lnTo>
                <a:lnTo>
                  <a:pt x="118109" y="24129"/>
                </a:lnTo>
                <a:close/>
              </a:path>
              <a:path w="135636" h="202437">
                <a:moveTo>
                  <a:pt x="28448" y="102361"/>
                </a:moveTo>
              </a:path>
              <a:path w="135636" h="202437">
                <a:moveTo>
                  <a:pt x="81914" y="0"/>
                </a:moveTo>
                <a:lnTo>
                  <a:pt x="54483" y="0"/>
                </a:lnTo>
                <a:lnTo>
                  <a:pt x="48513" y="2920"/>
                </a:lnTo>
                <a:lnTo>
                  <a:pt x="87884" y="2920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bk object 68"/>
          <p:cNvSpPr/>
          <p:nvPr/>
        </p:nvSpPr>
        <p:spPr>
          <a:xfrm>
            <a:off x="533196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bk object 69"/>
          <p:cNvSpPr/>
          <p:nvPr/>
        </p:nvSpPr>
        <p:spPr>
          <a:xfrm>
            <a:off x="5389920" y="6298560"/>
            <a:ext cx="138240" cy="195480"/>
          </a:xfrm>
          <a:custGeom>
            <a:avLst/>
            <a:gdLst>
              <a:gd name="textAreaLeft" fmla="*/ 0 w 138240"/>
              <a:gd name="textAreaRight" fmla="*/ 138960 w 138240"/>
              <a:gd name="textAreaTop" fmla="*/ 0 h 195480"/>
              <a:gd name="textAreaBottom" fmla="*/ 196200 h 195480"/>
            </a:gdLst>
            <a:ahLst/>
            <a:cxnLst/>
            <a:rect l="textAreaLeft" t="textAreaTop" r="textAreaRight" b="textAreaBottom"/>
            <a:pathLst>
              <a:path w="139064" h="196341">
                <a:moveTo>
                  <a:pt x="27432" y="142875"/>
                </a:moveTo>
                <a:lnTo>
                  <a:pt x="1270" y="142875"/>
                </a:lnTo>
                <a:lnTo>
                  <a:pt x="1311" y="148844"/>
                </a:lnTo>
                <a:lnTo>
                  <a:pt x="21971" y="181610"/>
                </a:lnTo>
                <a:lnTo>
                  <a:pt x="51955" y="196342"/>
                </a:lnTo>
                <a:lnTo>
                  <a:pt x="82296" y="196342"/>
                </a:lnTo>
                <a:lnTo>
                  <a:pt x="121412" y="175514"/>
                </a:lnTo>
                <a:lnTo>
                  <a:pt x="122903" y="172466"/>
                </a:lnTo>
                <a:lnTo>
                  <a:pt x="57023" y="172466"/>
                </a:lnTo>
                <a:lnTo>
                  <a:pt x="48006" y="169545"/>
                </a:lnTo>
                <a:lnTo>
                  <a:pt x="45085" y="169545"/>
                </a:lnTo>
                <a:lnTo>
                  <a:pt x="33274" y="157734"/>
                </a:lnTo>
                <a:lnTo>
                  <a:pt x="30352" y="151752"/>
                </a:lnTo>
                <a:lnTo>
                  <a:pt x="27432" y="148844"/>
                </a:lnTo>
                <a:lnTo>
                  <a:pt x="27432" y="142875"/>
                </a:lnTo>
                <a:close/>
              </a:path>
              <a:path w="139064" h="196341">
                <a:moveTo>
                  <a:pt x="123638" y="85852"/>
                </a:moveTo>
                <a:lnTo>
                  <a:pt x="75311" y="85852"/>
                </a:lnTo>
                <a:lnTo>
                  <a:pt x="78232" y="88773"/>
                </a:lnTo>
                <a:lnTo>
                  <a:pt x="84200" y="88773"/>
                </a:lnTo>
                <a:lnTo>
                  <a:pt x="90170" y="91694"/>
                </a:lnTo>
                <a:lnTo>
                  <a:pt x="102108" y="103632"/>
                </a:lnTo>
                <a:lnTo>
                  <a:pt x="108076" y="112649"/>
                </a:lnTo>
                <a:lnTo>
                  <a:pt x="108076" y="124714"/>
                </a:lnTo>
                <a:lnTo>
                  <a:pt x="110998" y="130683"/>
                </a:lnTo>
                <a:lnTo>
                  <a:pt x="108076" y="133604"/>
                </a:lnTo>
                <a:lnTo>
                  <a:pt x="107950" y="148844"/>
                </a:lnTo>
                <a:lnTo>
                  <a:pt x="90170" y="166624"/>
                </a:lnTo>
                <a:lnTo>
                  <a:pt x="84200" y="169545"/>
                </a:lnTo>
                <a:lnTo>
                  <a:pt x="75184" y="172466"/>
                </a:lnTo>
                <a:lnTo>
                  <a:pt x="122903" y="172466"/>
                </a:lnTo>
                <a:lnTo>
                  <a:pt x="124333" y="169545"/>
                </a:lnTo>
                <a:lnTo>
                  <a:pt x="133223" y="160655"/>
                </a:lnTo>
                <a:lnTo>
                  <a:pt x="133223" y="151638"/>
                </a:lnTo>
                <a:lnTo>
                  <a:pt x="136144" y="145669"/>
                </a:lnTo>
                <a:lnTo>
                  <a:pt x="139064" y="130556"/>
                </a:lnTo>
                <a:lnTo>
                  <a:pt x="136144" y="115443"/>
                </a:lnTo>
                <a:lnTo>
                  <a:pt x="133223" y="103378"/>
                </a:lnTo>
                <a:lnTo>
                  <a:pt x="127253" y="91313"/>
                </a:lnTo>
                <a:lnTo>
                  <a:pt x="123638" y="85852"/>
                </a:lnTo>
                <a:close/>
              </a:path>
              <a:path w="139064" h="196341">
                <a:moveTo>
                  <a:pt x="1270" y="142748"/>
                </a:moveTo>
                <a:lnTo>
                  <a:pt x="0" y="142875"/>
                </a:lnTo>
                <a:lnTo>
                  <a:pt x="1270" y="142875"/>
                </a:lnTo>
                <a:lnTo>
                  <a:pt x="1270" y="142748"/>
                </a:lnTo>
                <a:close/>
              </a:path>
              <a:path w="139064" h="196341">
                <a:moveTo>
                  <a:pt x="128155" y="0"/>
                </a:moveTo>
                <a:lnTo>
                  <a:pt x="21462" y="0"/>
                </a:lnTo>
                <a:lnTo>
                  <a:pt x="6350" y="103632"/>
                </a:lnTo>
                <a:lnTo>
                  <a:pt x="30607" y="103632"/>
                </a:lnTo>
                <a:lnTo>
                  <a:pt x="33527" y="97663"/>
                </a:lnTo>
                <a:lnTo>
                  <a:pt x="36449" y="97663"/>
                </a:lnTo>
                <a:lnTo>
                  <a:pt x="42430" y="91694"/>
                </a:lnTo>
                <a:lnTo>
                  <a:pt x="45338" y="91694"/>
                </a:lnTo>
                <a:lnTo>
                  <a:pt x="51308" y="88773"/>
                </a:lnTo>
                <a:lnTo>
                  <a:pt x="57276" y="88773"/>
                </a:lnTo>
                <a:lnTo>
                  <a:pt x="66294" y="85852"/>
                </a:lnTo>
                <a:lnTo>
                  <a:pt x="123638" y="85852"/>
                </a:lnTo>
                <a:lnTo>
                  <a:pt x="121285" y="82296"/>
                </a:lnTo>
                <a:lnTo>
                  <a:pt x="112958" y="76073"/>
                </a:lnTo>
                <a:lnTo>
                  <a:pt x="33909" y="76073"/>
                </a:lnTo>
                <a:lnTo>
                  <a:pt x="39877" y="21209"/>
                </a:lnTo>
                <a:lnTo>
                  <a:pt x="128155" y="21209"/>
                </a:lnTo>
                <a:lnTo>
                  <a:pt x="128155" y="0"/>
                </a:lnTo>
                <a:close/>
              </a:path>
              <a:path w="139064" h="196341">
                <a:moveTo>
                  <a:pt x="85089" y="64389"/>
                </a:moveTo>
                <a:lnTo>
                  <a:pt x="60833" y="64389"/>
                </a:lnTo>
                <a:lnTo>
                  <a:pt x="42799" y="70231"/>
                </a:lnTo>
                <a:lnTo>
                  <a:pt x="36830" y="73152"/>
                </a:lnTo>
                <a:lnTo>
                  <a:pt x="33909" y="76073"/>
                </a:lnTo>
                <a:lnTo>
                  <a:pt x="112958" y="76073"/>
                </a:lnTo>
                <a:lnTo>
                  <a:pt x="109220" y="73279"/>
                </a:lnTo>
                <a:lnTo>
                  <a:pt x="97155" y="67310"/>
                </a:lnTo>
                <a:lnTo>
                  <a:pt x="85089" y="6438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bk object 70"/>
          <p:cNvSpPr/>
          <p:nvPr/>
        </p:nvSpPr>
        <p:spPr>
          <a:xfrm>
            <a:off x="575820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473" h="202564">
                <a:moveTo>
                  <a:pt x="93599" y="2921"/>
                </a:moveTo>
                <a:lnTo>
                  <a:pt x="42290" y="2921"/>
                </a:lnTo>
                <a:lnTo>
                  <a:pt x="30225" y="11938"/>
                </a:lnTo>
                <a:lnTo>
                  <a:pt x="15239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508" y="75184"/>
                </a:lnTo>
                <a:lnTo>
                  <a:pt x="508" y="102616"/>
                </a:lnTo>
                <a:lnTo>
                  <a:pt x="0" y="102870"/>
                </a:lnTo>
                <a:lnTo>
                  <a:pt x="0" y="130302"/>
                </a:lnTo>
                <a:lnTo>
                  <a:pt x="5969" y="148463"/>
                </a:lnTo>
                <a:lnTo>
                  <a:pt x="8889" y="160528"/>
                </a:lnTo>
                <a:lnTo>
                  <a:pt x="11811" y="169545"/>
                </a:lnTo>
                <a:lnTo>
                  <a:pt x="29845" y="193675"/>
                </a:lnTo>
                <a:lnTo>
                  <a:pt x="41910" y="199644"/>
                </a:lnTo>
                <a:lnTo>
                  <a:pt x="53975" y="202565"/>
                </a:lnTo>
                <a:lnTo>
                  <a:pt x="81407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5123" y="180848"/>
                </a:lnTo>
                <a:lnTo>
                  <a:pt x="66675" y="180848"/>
                </a:lnTo>
                <a:lnTo>
                  <a:pt x="60706" y="177927"/>
                </a:lnTo>
                <a:lnTo>
                  <a:pt x="51688" y="177927"/>
                </a:lnTo>
                <a:lnTo>
                  <a:pt x="39877" y="166116"/>
                </a:lnTo>
                <a:lnTo>
                  <a:pt x="33909" y="154038"/>
                </a:lnTo>
                <a:lnTo>
                  <a:pt x="28066" y="123825"/>
                </a:lnTo>
                <a:lnTo>
                  <a:pt x="27939" y="102616"/>
                </a:lnTo>
                <a:lnTo>
                  <a:pt x="27964" y="78232"/>
                </a:lnTo>
                <a:lnTo>
                  <a:pt x="33782" y="48133"/>
                </a:lnTo>
                <a:lnTo>
                  <a:pt x="45720" y="30099"/>
                </a:lnTo>
                <a:lnTo>
                  <a:pt x="48640" y="27178"/>
                </a:lnTo>
                <a:lnTo>
                  <a:pt x="51562" y="27178"/>
                </a:lnTo>
                <a:lnTo>
                  <a:pt x="60578" y="24257"/>
                </a:lnTo>
                <a:lnTo>
                  <a:pt x="117982" y="24257"/>
                </a:lnTo>
                <a:lnTo>
                  <a:pt x="105663" y="11938"/>
                </a:lnTo>
                <a:lnTo>
                  <a:pt x="93599" y="2921"/>
                </a:lnTo>
                <a:close/>
              </a:path>
              <a:path w="135473" h="202564">
                <a:moveTo>
                  <a:pt x="117982" y="24257"/>
                </a:moveTo>
                <a:lnTo>
                  <a:pt x="75691" y="24257"/>
                </a:lnTo>
                <a:lnTo>
                  <a:pt x="84709" y="27178"/>
                </a:lnTo>
                <a:lnTo>
                  <a:pt x="90677" y="30099"/>
                </a:lnTo>
                <a:lnTo>
                  <a:pt x="102615" y="48133"/>
                </a:lnTo>
                <a:lnTo>
                  <a:pt x="105537" y="57150"/>
                </a:lnTo>
                <a:lnTo>
                  <a:pt x="105537" y="63119"/>
                </a:lnTo>
                <a:lnTo>
                  <a:pt x="108458" y="78232"/>
                </a:lnTo>
                <a:lnTo>
                  <a:pt x="108458" y="123825"/>
                </a:lnTo>
                <a:lnTo>
                  <a:pt x="105537" y="138938"/>
                </a:lnTo>
                <a:lnTo>
                  <a:pt x="105537" y="147955"/>
                </a:lnTo>
                <a:lnTo>
                  <a:pt x="102559" y="154038"/>
                </a:lnTo>
                <a:lnTo>
                  <a:pt x="96647" y="165989"/>
                </a:lnTo>
                <a:lnTo>
                  <a:pt x="84709" y="177927"/>
                </a:lnTo>
                <a:lnTo>
                  <a:pt x="75691" y="177927"/>
                </a:lnTo>
                <a:lnTo>
                  <a:pt x="66675" y="180848"/>
                </a:lnTo>
                <a:lnTo>
                  <a:pt x="115123" y="180848"/>
                </a:lnTo>
                <a:lnTo>
                  <a:pt x="123571" y="169545"/>
                </a:lnTo>
                <a:lnTo>
                  <a:pt x="129539" y="148336"/>
                </a:lnTo>
                <a:lnTo>
                  <a:pt x="135467" y="130302"/>
                </a:lnTo>
                <a:lnTo>
                  <a:pt x="135473" y="75184"/>
                </a:lnTo>
                <a:lnTo>
                  <a:pt x="123571" y="32893"/>
                </a:lnTo>
                <a:lnTo>
                  <a:pt x="120650" y="26924"/>
                </a:lnTo>
                <a:lnTo>
                  <a:pt x="117982" y="24257"/>
                </a:lnTo>
                <a:close/>
              </a:path>
              <a:path w="135473" h="202564">
                <a:moveTo>
                  <a:pt x="81661" y="0"/>
                </a:moveTo>
                <a:lnTo>
                  <a:pt x="54228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bk object 71"/>
          <p:cNvSpPr/>
          <p:nvPr/>
        </p:nvSpPr>
        <p:spPr>
          <a:xfrm>
            <a:off x="59263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bk object 72"/>
          <p:cNvSpPr/>
          <p:nvPr/>
        </p:nvSpPr>
        <p:spPr>
          <a:xfrm>
            <a:off x="5986800" y="6292440"/>
            <a:ext cx="137520" cy="20160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303" h="202311">
                <a:moveTo>
                  <a:pt x="90424" y="0"/>
                </a:moveTo>
                <a:lnTo>
                  <a:pt x="60071" y="0"/>
                </a:lnTo>
                <a:lnTo>
                  <a:pt x="48006" y="5969"/>
                </a:lnTo>
                <a:lnTo>
                  <a:pt x="32893" y="11925"/>
                </a:lnTo>
                <a:lnTo>
                  <a:pt x="14859" y="36068"/>
                </a:lnTo>
                <a:lnTo>
                  <a:pt x="5842" y="57277"/>
                </a:lnTo>
                <a:lnTo>
                  <a:pt x="2921" y="78486"/>
                </a:lnTo>
                <a:lnTo>
                  <a:pt x="0" y="90551"/>
                </a:lnTo>
                <a:lnTo>
                  <a:pt x="87" y="130810"/>
                </a:lnTo>
                <a:lnTo>
                  <a:pt x="2921" y="151384"/>
                </a:lnTo>
                <a:lnTo>
                  <a:pt x="11937" y="169545"/>
                </a:lnTo>
                <a:lnTo>
                  <a:pt x="14859" y="178562"/>
                </a:lnTo>
                <a:lnTo>
                  <a:pt x="20700" y="184404"/>
                </a:lnTo>
                <a:lnTo>
                  <a:pt x="32766" y="193421"/>
                </a:lnTo>
                <a:lnTo>
                  <a:pt x="44831" y="199390"/>
                </a:lnTo>
                <a:lnTo>
                  <a:pt x="56896" y="202311"/>
                </a:lnTo>
                <a:lnTo>
                  <a:pt x="84328" y="202311"/>
                </a:lnTo>
                <a:lnTo>
                  <a:pt x="96393" y="199390"/>
                </a:lnTo>
                <a:lnTo>
                  <a:pt x="108458" y="193421"/>
                </a:lnTo>
                <a:lnTo>
                  <a:pt x="120142" y="181737"/>
                </a:lnTo>
                <a:lnTo>
                  <a:pt x="59182" y="181737"/>
                </a:lnTo>
                <a:lnTo>
                  <a:pt x="50164" y="178816"/>
                </a:lnTo>
                <a:lnTo>
                  <a:pt x="44196" y="172847"/>
                </a:lnTo>
                <a:lnTo>
                  <a:pt x="38226" y="169926"/>
                </a:lnTo>
                <a:lnTo>
                  <a:pt x="38226" y="167005"/>
                </a:lnTo>
                <a:lnTo>
                  <a:pt x="32385" y="155067"/>
                </a:lnTo>
                <a:lnTo>
                  <a:pt x="29463" y="146050"/>
                </a:lnTo>
                <a:lnTo>
                  <a:pt x="29463" y="127889"/>
                </a:lnTo>
                <a:lnTo>
                  <a:pt x="32385" y="121920"/>
                </a:lnTo>
                <a:lnTo>
                  <a:pt x="35306" y="112903"/>
                </a:lnTo>
                <a:lnTo>
                  <a:pt x="41275" y="106934"/>
                </a:lnTo>
                <a:lnTo>
                  <a:pt x="47244" y="104000"/>
                </a:lnTo>
                <a:lnTo>
                  <a:pt x="53212" y="98044"/>
                </a:lnTo>
                <a:lnTo>
                  <a:pt x="127508" y="98044"/>
                </a:lnTo>
                <a:lnTo>
                  <a:pt x="123444" y="93980"/>
                </a:lnTo>
                <a:lnTo>
                  <a:pt x="27050" y="93980"/>
                </a:lnTo>
                <a:lnTo>
                  <a:pt x="29972" y="81915"/>
                </a:lnTo>
                <a:lnTo>
                  <a:pt x="29972" y="66802"/>
                </a:lnTo>
                <a:lnTo>
                  <a:pt x="32893" y="54737"/>
                </a:lnTo>
                <a:lnTo>
                  <a:pt x="38862" y="42672"/>
                </a:lnTo>
                <a:lnTo>
                  <a:pt x="53721" y="27800"/>
                </a:lnTo>
                <a:lnTo>
                  <a:pt x="59689" y="24892"/>
                </a:lnTo>
                <a:lnTo>
                  <a:pt x="65659" y="24892"/>
                </a:lnTo>
                <a:lnTo>
                  <a:pt x="74675" y="21971"/>
                </a:lnTo>
                <a:lnTo>
                  <a:pt x="125432" y="21971"/>
                </a:lnTo>
                <a:lnTo>
                  <a:pt x="123444" y="17907"/>
                </a:lnTo>
                <a:lnTo>
                  <a:pt x="114426" y="8890"/>
                </a:lnTo>
                <a:lnTo>
                  <a:pt x="102362" y="2921"/>
                </a:lnTo>
                <a:lnTo>
                  <a:pt x="96393" y="2921"/>
                </a:lnTo>
                <a:lnTo>
                  <a:pt x="90424" y="0"/>
                </a:lnTo>
                <a:close/>
              </a:path>
              <a:path w="138303" h="202311">
                <a:moveTo>
                  <a:pt x="127508" y="98044"/>
                </a:moveTo>
                <a:lnTo>
                  <a:pt x="80645" y="98044"/>
                </a:lnTo>
                <a:lnTo>
                  <a:pt x="92583" y="103886"/>
                </a:lnTo>
                <a:lnTo>
                  <a:pt x="104521" y="115824"/>
                </a:lnTo>
                <a:lnTo>
                  <a:pt x="107442" y="121793"/>
                </a:lnTo>
                <a:lnTo>
                  <a:pt x="107442" y="130810"/>
                </a:lnTo>
                <a:lnTo>
                  <a:pt x="110362" y="139827"/>
                </a:lnTo>
                <a:lnTo>
                  <a:pt x="110109" y="139954"/>
                </a:lnTo>
                <a:lnTo>
                  <a:pt x="107187" y="145923"/>
                </a:lnTo>
                <a:lnTo>
                  <a:pt x="107146" y="155067"/>
                </a:lnTo>
                <a:lnTo>
                  <a:pt x="104267" y="163957"/>
                </a:lnTo>
                <a:lnTo>
                  <a:pt x="98298" y="169926"/>
                </a:lnTo>
                <a:lnTo>
                  <a:pt x="92329" y="172847"/>
                </a:lnTo>
                <a:lnTo>
                  <a:pt x="86360" y="178816"/>
                </a:lnTo>
                <a:lnTo>
                  <a:pt x="80391" y="181737"/>
                </a:lnTo>
                <a:lnTo>
                  <a:pt x="120142" y="181737"/>
                </a:lnTo>
                <a:lnTo>
                  <a:pt x="126492" y="175387"/>
                </a:lnTo>
                <a:lnTo>
                  <a:pt x="132461" y="163322"/>
                </a:lnTo>
                <a:lnTo>
                  <a:pt x="138303" y="139192"/>
                </a:lnTo>
                <a:lnTo>
                  <a:pt x="135382" y="124079"/>
                </a:lnTo>
                <a:lnTo>
                  <a:pt x="135382" y="115062"/>
                </a:lnTo>
                <a:lnTo>
                  <a:pt x="129412" y="99949"/>
                </a:lnTo>
                <a:lnTo>
                  <a:pt x="127508" y="98044"/>
                </a:lnTo>
                <a:close/>
              </a:path>
              <a:path w="138303" h="202311">
                <a:moveTo>
                  <a:pt x="84328" y="73152"/>
                </a:moveTo>
                <a:lnTo>
                  <a:pt x="60071" y="73152"/>
                </a:lnTo>
                <a:lnTo>
                  <a:pt x="51054" y="76073"/>
                </a:lnTo>
                <a:lnTo>
                  <a:pt x="33020" y="88011"/>
                </a:lnTo>
                <a:lnTo>
                  <a:pt x="27050" y="93980"/>
                </a:lnTo>
                <a:lnTo>
                  <a:pt x="123444" y="93980"/>
                </a:lnTo>
                <a:lnTo>
                  <a:pt x="111379" y="81915"/>
                </a:lnTo>
                <a:lnTo>
                  <a:pt x="99441" y="76073"/>
                </a:lnTo>
                <a:lnTo>
                  <a:pt x="84328" y="73152"/>
                </a:lnTo>
                <a:close/>
              </a:path>
              <a:path w="138303" h="202311">
                <a:moveTo>
                  <a:pt x="125432" y="21971"/>
                </a:moveTo>
                <a:lnTo>
                  <a:pt x="74675" y="21971"/>
                </a:lnTo>
                <a:lnTo>
                  <a:pt x="83693" y="24892"/>
                </a:lnTo>
                <a:lnTo>
                  <a:pt x="89662" y="24892"/>
                </a:lnTo>
                <a:lnTo>
                  <a:pt x="95631" y="27800"/>
                </a:lnTo>
                <a:lnTo>
                  <a:pt x="101600" y="33782"/>
                </a:lnTo>
                <a:lnTo>
                  <a:pt x="107442" y="45720"/>
                </a:lnTo>
                <a:lnTo>
                  <a:pt x="107442" y="51689"/>
                </a:lnTo>
                <a:lnTo>
                  <a:pt x="110362" y="54610"/>
                </a:lnTo>
                <a:lnTo>
                  <a:pt x="134620" y="54610"/>
                </a:lnTo>
                <a:lnTo>
                  <a:pt x="135255" y="53848"/>
                </a:lnTo>
                <a:lnTo>
                  <a:pt x="135255" y="44831"/>
                </a:lnTo>
                <a:lnTo>
                  <a:pt x="132334" y="38862"/>
                </a:lnTo>
                <a:lnTo>
                  <a:pt x="132334" y="32893"/>
                </a:lnTo>
                <a:lnTo>
                  <a:pt x="126364" y="23876"/>
                </a:lnTo>
                <a:lnTo>
                  <a:pt x="125432" y="2197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bk object 73"/>
          <p:cNvSpPr/>
          <p:nvPr/>
        </p:nvSpPr>
        <p:spPr>
          <a:xfrm>
            <a:off x="6350040" y="6293520"/>
            <a:ext cx="134280" cy="2016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4929" h="202437">
                <a:moveTo>
                  <a:pt x="93090" y="2920"/>
                </a:moveTo>
                <a:lnTo>
                  <a:pt x="41782" y="2920"/>
                </a:lnTo>
                <a:lnTo>
                  <a:pt x="29717" y="11937"/>
                </a:lnTo>
                <a:lnTo>
                  <a:pt x="14731" y="26911"/>
                </a:lnTo>
                <a:lnTo>
                  <a:pt x="11811" y="32892"/>
                </a:lnTo>
                <a:lnTo>
                  <a:pt x="8889" y="41909"/>
                </a:lnTo>
                <a:lnTo>
                  <a:pt x="5968" y="53974"/>
                </a:lnTo>
                <a:lnTo>
                  <a:pt x="3048" y="62991"/>
                </a:lnTo>
                <a:lnTo>
                  <a:pt x="126" y="75056"/>
                </a:lnTo>
                <a:lnTo>
                  <a:pt x="0" y="130428"/>
                </a:lnTo>
                <a:lnTo>
                  <a:pt x="5841" y="148462"/>
                </a:lnTo>
                <a:lnTo>
                  <a:pt x="8762" y="160527"/>
                </a:lnTo>
                <a:lnTo>
                  <a:pt x="11683" y="169544"/>
                </a:lnTo>
                <a:lnTo>
                  <a:pt x="14604" y="175513"/>
                </a:lnTo>
                <a:lnTo>
                  <a:pt x="20574" y="181482"/>
                </a:lnTo>
                <a:lnTo>
                  <a:pt x="29590" y="193547"/>
                </a:lnTo>
                <a:lnTo>
                  <a:pt x="47625" y="202437"/>
                </a:lnTo>
                <a:lnTo>
                  <a:pt x="81025" y="202437"/>
                </a:lnTo>
                <a:lnTo>
                  <a:pt x="93090" y="199516"/>
                </a:lnTo>
                <a:lnTo>
                  <a:pt x="105155" y="193547"/>
                </a:lnTo>
                <a:lnTo>
                  <a:pt x="114185" y="181482"/>
                </a:lnTo>
                <a:lnTo>
                  <a:pt x="114692" y="180974"/>
                </a:lnTo>
                <a:lnTo>
                  <a:pt x="69341" y="180974"/>
                </a:lnTo>
                <a:lnTo>
                  <a:pt x="60325" y="178053"/>
                </a:lnTo>
                <a:lnTo>
                  <a:pt x="51307" y="178053"/>
                </a:lnTo>
                <a:lnTo>
                  <a:pt x="39369" y="166115"/>
                </a:lnTo>
                <a:lnTo>
                  <a:pt x="33400" y="154050"/>
                </a:lnTo>
                <a:lnTo>
                  <a:pt x="27558" y="123824"/>
                </a:lnTo>
                <a:lnTo>
                  <a:pt x="27431" y="78231"/>
                </a:lnTo>
                <a:lnTo>
                  <a:pt x="33274" y="48005"/>
                </a:lnTo>
                <a:lnTo>
                  <a:pt x="45212" y="29971"/>
                </a:lnTo>
                <a:lnTo>
                  <a:pt x="51180" y="27050"/>
                </a:lnTo>
                <a:lnTo>
                  <a:pt x="60198" y="24129"/>
                </a:lnTo>
                <a:lnTo>
                  <a:pt x="117358" y="24129"/>
                </a:lnTo>
                <a:lnTo>
                  <a:pt x="105155" y="11937"/>
                </a:lnTo>
                <a:lnTo>
                  <a:pt x="93090" y="2920"/>
                </a:lnTo>
                <a:close/>
              </a:path>
              <a:path w="134929" h="202437">
                <a:moveTo>
                  <a:pt x="117358" y="24129"/>
                </a:moveTo>
                <a:lnTo>
                  <a:pt x="75311" y="24129"/>
                </a:lnTo>
                <a:lnTo>
                  <a:pt x="84327" y="27050"/>
                </a:lnTo>
                <a:lnTo>
                  <a:pt x="90296" y="29971"/>
                </a:lnTo>
                <a:lnTo>
                  <a:pt x="102235" y="48005"/>
                </a:lnTo>
                <a:lnTo>
                  <a:pt x="108076" y="78231"/>
                </a:lnTo>
                <a:lnTo>
                  <a:pt x="108076" y="123824"/>
                </a:lnTo>
                <a:lnTo>
                  <a:pt x="102235" y="154050"/>
                </a:lnTo>
                <a:lnTo>
                  <a:pt x="96265" y="166115"/>
                </a:lnTo>
                <a:lnTo>
                  <a:pt x="84327" y="178053"/>
                </a:lnTo>
                <a:lnTo>
                  <a:pt x="75311" y="178053"/>
                </a:lnTo>
                <a:lnTo>
                  <a:pt x="69341" y="180974"/>
                </a:lnTo>
                <a:lnTo>
                  <a:pt x="114692" y="180974"/>
                </a:lnTo>
                <a:lnTo>
                  <a:pt x="120141" y="175513"/>
                </a:lnTo>
                <a:lnTo>
                  <a:pt x="123062" y="169544"/>
                </a:lnTo>
                <a:lnTo>
                  <a:pt x="129031" y="148335"/>
                </a:lnTo>
                <a:lnTo>
                  <a:pt x="134917" y="130428"/>
                </a:lnTo>
                <a:lnTo>
                  <a:pt x="134929" y="75056"/>
                </a:lnTo>
                <a:lnTo>
                  <a:pt x="123062" y="32892"/>
                </a:lnTo>
                <a:lnTo>
                  <a:pt x="120141" y="26911"/>
                </a:lnTo>
                <a:lnTo>
                  <a:pt x="117358" y="24129"/>
                </a:lnTo>
                <a:close/>
              </a:path>
              <a:path w="134929" h="202437">
                <a:moveTo>
                  <a:pt x="81152" y="0"/>
                </a:moveTo>
                <a:lnTo>
                  <a:pt x="53720" y="0"/>
                </a:lnTo>
                <a:lnTo>
                  <a:pt x="47751" y="2920"/>
                </a:lnTo>
                <a:lnTo>
                  <a:pt x="87121" y="2920"/>
                </a:lnTo>
                <a:lnTo>
                  <a:pt x="8115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bk object 74"/>
          <p:cNvSpPr/>
          <p:nvPr/>
        </p:nvSpPr>
        <p:spPr>
          <a:xfrm>
            <a:off x="65174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bk object 75"/>
          <p:cNvSpPr/>
          <p:nvPr/>
        </p:nvSpPr>
        <p:spPr>
          <a:xfrm>
            <a:off x="6577200" y="6300000"/>
            <a:ext cx="133200" cy="192960"/>
          </a:xfrm>
          <a:custGeom>
            <a:avLst/>
            <a:gdLst>
              <a:gd name="textAreaLeft" fmla="*/ 0 w 133200"/>
              <a:gd name="textAreaRight" fmla="*/ 133920 w 13320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133984" h="193675">
                <a:moveTo>
                  <a:pt x="133984" y="0"/>
                </a:moveTo>
                <a:lnTo>
                  <a:pt x="0" y="0"/>
                </a:lnTo>
                <a:lnTo>
                  <a:pt x="0" y="24256"/>
                </a:lnTo>
                <a:lnTo>
                  <a:pt x="106679" y="24256"/>
                </a:lnTo>
                <a:lnTo>
                  <a:pt x="94615" y="39369"/>
                </a:lnTo>
                <a:lnTo>
                  <a:pt x="91694" y="45338"/>
                </a:lnTo>
                <a:lnTo>
                  <a:pt x="76580" y="60451"/>
                </a:lnTo>
                <a:lnTo>
                  <a:pt x="70611" y="69468"/>
                </a:lnTo>
                <a:lnTo>
                  <a:pt x="67691" y="78485"/>
                </a:lnTo>
                <a:lnTo>
                  <a:pt x="55625" y="102730"/>
                </a:lnTo>
                <a:lnTo>
                  <a:pt x="43687" y="120776"/>
                </a:lnTo>
                <a:lnTo>
                  <a:pt x="37656" y="142240"/>
                </a:lnTo>
                <a:lnTo>
                  <a:pt x="31750" y="166230"/>
                </a:lnTo>
                <a:lnTo>
                  <a:pt x="31750" y="175259"/>
                </a:lnTo>
                <a:lnTo>
                  <a:pt x="28828" y="193420"/>
                </a:lnTo>
                <a:lnTo>
                  <a:pt x="28575" y="193675"/>
                </a:lnTo>
                <a:lnTo>
                  <a:pt x="56006" y="193675"/>
                </a:lnTo>
                <a:lnTo>
                  <a:pt x="58927" y="172465"/>
                </a:lnTo>
                <a:lnTo>
                  <a:pt x="61849" y="160400"/>
                </a:lnTo>
                <a:lnTo>
                  <a:pt x="67889" y="141985"/>
                </a:lnTo>
                <a:lnTo>
                  <a:pt x="73786" y="121031"/>
                </a:lnTo>
                <a:lnTo>
                  <a:pt x="82803" y="99822"/>
                </a:lnTo>
                <a:lnTo>
                  <a:pt x="91821" y="81660"/>
                </a:lnTo>
                <a:lnTo>
                  <a:pt x="103885" y="63500"/>
                </a:lnTo>
                <a:lnTo>
                  <a:pt x="112902" y="48387"/>
                </a:lnTo>
                <a:lnTo>
                  <a:pt x="121920" y="39369"/>
                </a:lnTo>
                <a:lnTo>
                  <a:pt x="133984" y="21209"/>
                </a:lnTo>
                <a:lnTo>
                  <a:pt x="13398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bk object 76"/>
          <p:cNvSpPr/>
          <p:nvPr/>
        </p:nvSpPr>
        <p:spPr>
          <a:xfrm>
            <a:off x="6941160" y="6293160"/>
            <a:ext cx="134280" cy="20124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127" h="201929">
                <a:moveTo>
                  <a:pt x="93345" y="2921"/>
                </a:moveTo>
                <a:lnTo>
                  <a:pt x="42037" y="2921"/>
                </a:lnTo>
                <a:lnTo>
                  <a:pt x="29972" y="11938"/>
                </a:lnTo>
                <a:lnTo>
                  <a:pt x="6223" y="53975"/>
                </a:lnTo>
                <a:lnTo>
                  <a:pt x="380" y="102616"/>
                </a:lnTo>
                <a:lnTo>
                  <a:pt x="40" y="102616"/>
                </a:lnTo>
                <a:lnTo>
                  <a:pt x="5842" y="147828"/>
                </a:lnTo>
                <a:lnTo>
                  <a:pt x="20700" y="180975"/>
                </a:lnTo>
                <a:lnTo>
                  <a:pt x="29718" y="193040"/>
                </a:lnTo>
                <a:lnTo>
                  <a:pt x="41782" y="199009"/>
                </a:lnTo>
                <a:lnTo>
                  <a:pt x="53848" y="201930"/>
                </a:lnTo>
                <a:lnTo>
                  <a:pt x="81279" y="201930"/>
                </a:lnTo>
                <a:lnTo>
                  <a:pt x="93345" y="199009"/>
                </a:lnTo>
                <a:lnTo>
                  <a:pt x="105410" y="193040"/>
                </a:lnTo>
                <a:lnTo>
                  <a:pt x="114332" y="181102"/>
                </a:lnTo>
                <a:lnTo>
                  <a:pt x="69596" y="181102"/>
                </a:lnTo>
                <a:lnTo>
                  <a:pt x="60578" y="178181"/>
                </a:lnTo>
                <a:lnTo>
                  <a:pt x="51562" y="178181"/>
                </a:lnTo>
                <a:lnTo>
                  <a:pt x="39624" y="166243"/>
                </a:lnTo>
                <a:lnTo>
                  <a:pt x="33654" y="154178"/>
                </a:lnTo>
                <a:lnTo>
                  <a:pt x="27813" y="123952"/>
                </a:lnTo>
                <a:lnTo>
                  <a:pt x="27686" y="102616"/>
                </a:lnTo>
                <a:lnTo>
                  <a:pt x="380" y="102616"/>
                </a:lnTo>
                <a:lnTo>
                  <a:pt x="0" y="102235"/>
                </a:lnTo>
                <a:lnTo>
                  <a:pt x="27686" y="102235"/>
                </a:lnTo>
                <a:lnTo>
                  <a:pt x="27686" y="78359"/>
                </a:lnTo>
                <a:lnTo>
                  <a:pt x="33527" y="48133"/>
                </a:lnTo>
                <a:lnTo>
                  <a:pt x="45466" y="30099"/>
                </a:lnTo>
                <a:lnTo>
                  <a:pt x="51435" y="27178"/>
                </a:lnTo>
                <a:lnTo>
                  <a:pt x="60451" y="24257"/>
                </a:lnTo>
                <a:lnTo>
                  <a:pt x="117728" y="24257"/>
                </a:lnTo>
                <a:lnTo>
                  <a:pt x="105410" y="11938"/>
                </a:lnTo>
                <a:lnTo>
                  <a:pt x="93345" y="2921"/>
                </a:lnTo>
                <a:close/>
              </a:path>
              <a:path w="135127" h="201929">
                <a:moveTo>
                  <a:pt x="117728" y="24257"/>
                </a:moveTo>
                <a:lnTo>
                  <a:pt x="78613" y="24257"/>
                </a:lnTo>
                <a:lnTo>
                  <a:pt x="90550" y="30099"/>
                </a:lnTo>
                <a:lnTo>
                  <a:pt x="102489" y="48133"/>
                </a:lnTo>
                <a:lnTo>
                  <a:pt x="108330" y="78359"/>
                </a:lnTo>
                <a:lnTo>
                  <a:pt x="108330" y="123952"/>
                </a:lnTo>
                <a:lnTo>
                  <a:pt x="102489" y="154178"/>
                </a:lnTo>
                <a:lnTo>
                  <a:pt x="96520" y="166243"/>
                </a:lnTo>
                <a:lnTo>
                  <a:pt x="84581" y="178181"/>
                </a:lnTo>
                <a:lnTo>
                  <a:pt x="78613" y="178181"/>
                </a:lnTo>
                <a:lnTo>
                  <a:pt x="69596" y="181102"/>
                </a:lnTo>
                <a:lnTo>
                  <a:pt x="114332" y="181102"/>
                </a:lnTo>
                <a:lnTo>
                  <a:pt x="114426" y="180975"/>
                </a:lnTo>
                <a:lnTo>
                  <a:pt x="120396" y="175006"/>
                </a:lnTo>
                <a:lnTo>
                  <a:pt x="123317" y="169037"/>
                </a:lnTo>
                <a:lnTo>
                  <a:pt x="129286" y="160020"/>
                </a:lnTo>
                <a:lnTo>
                  <a:pt x="132206" y="147955"/>
                </a:lnTo>
                <a:lnTo>
                  <a:pt x="132206" y="138938"/>
                </a:lnTo>
                <a:lnTo>
                  <a:pt x="135127" y="129921"/>
                </a:lnTo>
                <a:lnTo>
                  <a:pt x="135127" y="75057"/>
                </a:lnTo>
                <a:lnTo>
                  <a:pt x="132206" y="62992"/>
                </a:lnTo>
                <a:lnTo>
                  <a:pt x="132206" y="53975"/>
                </a:lnTo>
                <a:lnTo>
                  <a:pt x="129286" y="41910"/>
                </a:lnTo>
                <a:lnTo>
                  <a:pt x="123317" y="32893"/>
                </a:lnTo>
                <a:lnTo>
                  <a:pt x="120396" y="26924"/>
                </a:lnTo>
                <a:lnTo>
                  <a:pt x="117728" y="24257"/>
                </a:lnTo>
                <a:close/>
              </a:path>
              <a:path w="135127" h="201929">
                <a:moveTo>
                  <a:pt x="81406" y="0"/>
                </a:moveTo>
                <a:lnTo>
                  <a:pt x="53975" y="0"/>
                </a:lnTo>
                <a:lnTo>
                  <a:pt x="48005" y="2921"/>
                </a:lnTo>
                <a:lnTo>
                  <a:pt x="87375" y="2921"/>
                </a:lnTo>
                <a:lnTo>
                  <a:pt x="8140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bk object 77"/>
          <p:cNvSpPr/>
          <p:nvPr/>
        </p:nvSpPr>
        <p:spPr>
          <a:xfrm>
            <a:off x="71089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bk object 78"/>
          <p:cNvSpPr/>
          <p:nvPr/>
        </p:nvSpPr>
        <p:spPr>
          <a:xfrm>
            <a:off x="7170480" y="6293880"/>
            <a:ext cx="134640" cy="199800"/>
          </a:xfrm>
          <a:custGeom>
            <a:avLst/>
            <a:gdLst>
              <a:gd name="textAreaLeft" fmla="*/ 0 w 134640"/>
              <a:gd name="textAreaRight" fmla="*/ 135360 w 134640"/>
              <a:gd name="textAreaTop" fmla="*/ 0 h 199800"/>
              <a:gd name="textAreaBottom" fmla="*/ 200520 h 199800"/>
            </a:gdLst>
            <a:ahLst/>
            <a:cxnLst/>
            <a:rect l="textAreaLeft" t="textAreaTop" r="textAreaRight" b="textAreaBottom"/>
            <a:pathLst>
              <a:path w="135254" h="200405">
                <a:moveTo>
                  <a:pt x="32493" y="89606"/>
                </a:moveTo>
                <a:lnTo>
                  <a:pt x="26669" y="92456"/>
                </a:lnTo>
                <a:lnTo>
                  <a:pt x="23749" y="95377"/>
                </a:lnTo>
                <a:lnTo>
                  <a:pt x="17779" y="98298"/>
                </a:lnTo>
                <a:lnTo>
                  <a:pt x="14858" y="101219"/>
                </a:lnTo>
                <a:lnTo>
                  <a:pt x="2920" y="119253"/>
                </a:lnTo>
                <a:lnTo>
                  <a:pt x="0" y="128270"/>
                </a:lnTo>
                <a:lnTo>
                  <a:pt x="0" y="140335"/>
                </a:lnTo>
                <a:lnTo>
                  <a:pt x="20827" y="188595"/>
                </a:lnTo>
                <a:lnTo>
                  <a:pt x="44957" y="197485"/>
                </a:lnTo>
                <a:lnTo>
                  <a:pt x="53975" y="200406"/>
                </a:lnTo>
                <a:lnTo>
                  <a:pt x="81406" y="200406"/>
                </a:lnTo>
                <a:lnTo>
                  <a:pt x="105536" y="194551"/>
                </a:lnTo>
                <a:lnTo>
                  <a:pt x="114553" y="188595"/>
                </a:lnTo>
                <a:lnTo>
                  <a:pt x="120523" y="182626"/>
                </a:lnTo>
                <a:lnTo>
                  <a:pt x="123071" y="177419"/>
                </a:lnTo>
                <a:lnTo>
                  <a:pt x="53593" y="177419"/>
                </a:lnTo>
                <a:lnTo>
                  <a:pt x="44576" y="174498"/>
                </a:lnTo>
                <a:lnTo>
                  <a:pt x="38734" y="168656"/>
                </a:lnTo>
                <a:lnTo>
                  <a:pt x="35813" y="162687"/>
                </a:lnTo>
                <a:lnTo>
                  <a:pt x="29844" y="156718"/>
                </a:lnTo>
                <a:lnTo>
                  <a:pt x="29844" y="150749"/>
                </a:lnTo>
                <a:lnTo>
                  <a:pt x="26924" y="141732"/>
                </a:lnTo>
                <a:lnTo>
                  <a:pt x="29844" y="132588"/>
                </a:lnTo>
                <a:lnTo>
                  <a:pt x="29844" y="123571"/>
                </a:lnTo>
                <a:lnTo>
                  <a:pt x="41655" y="111760"/>
                </a:lnTo>
                <a:lnTo>
                  <a:pt x="53593" y="105918"/>
                </a:lnTo>
                <a:lnTo>
                  <a:pt x="126386" y="105918"/>
                </a:lnTo>
                <a:lnTo>
                  <a:pt x="123443" y="101473"/>
                </a:lnTo>
                <a:lnTo>
                  <a:pt x="111505" y="95631"/>
                </a:lnTo>
                <a:lnTo>
                  <a:pt x="108584" y="92710"/>
                </a:lnTo>
                <a:lnTo>
                  <a:pt x="102615" y="89776"/>
                </a:lnTo>
                <a:lnTo>
                  <a:pt x="33019" y="89776"/>
                </a:lnTo>
                <a:lnTo>
                  <a:pt x="32493" y="89606"/>
                </a:lnTo>
                <a:close/>
              </a:path>
              <a:path w="135254" h="200405">
                <a:moveTo>
                  <a:pt x="126386" y="105918"/>
                </a:moveTo>
                <a:lnTo>
                  <a:pt x="81025" y="105918"/>
                </a:lnTo>
                <a:lnTo>
                  <a:pt x="90042" y="108826"/>
                </a:lnTo>
                <a:lnTo>
                  <a:pt x="96011" y="111760"/>
                </a:lnTo>
                <a:lnTo>
                  <a:pt x="101980" y="117729"/>
                </a:lnTo>
                <a:lnTo>
                  <a:pt x="104839" y="123571"/>
                </a:lnTo>
                <a:lnTo>
                  <a:pt x="104901" y="126619"/>
                </a:lnTo>
                <a:lnTo>
                  <a:pt x="107823" y="132588"/>
                </a:lnTo>
                <a:lnTo>
                  <a:pt x="107823" y="150749"/>
                </a:lnTo>
                <a:lnTo>
                  <a:pt x="104901" y="156718"/>
                </a:lnTo>
                <a:lnTo>
                  <a:pt x="104901" y="159626"/>
                </a:lnTo>
                <a:lnTo>
                  <a:pt x="90042" y="174498"/>
                </a:lnTo>
                <a:lnTo>
                  <a:pt x="81025" y="177419"/>
                </a:lnTo>
                <a:lnTo>
                  <a:pt x="123071" y="177419"/>
                </a:lnTo>
                <a:lnTo>
                  <a:pt x="126364" y="170688"/>
                </a:lnTo>
                <a:lnTo>
                  <a:pt x="132333" y="164719"/>
                </a:lnTo>
                <a:lnTo>
                  <a:pt x="132333" y="158750"/>
                </a:lnTo>
                <a:lnTo>
                  <a:pt x="135254" y="152781"/>
                </a:lnTo>
                <a:lnTo>
                  <a:pt x="135172" y="128270"/>
                </a:lnTo>
                <a:lnTo>
                  <a:pt x="129412" y="110490"/>
                </a:lnTo>
                <a:lnTo>
                  <a:pt x="126386" y="105918"/>
                </a:lnTo>
                <a:close/>
              </a:path>
              <a:path w="135254" h="200405">
                <a:moveTo>
                  <a:pt x="103364" y="89535"/>
                </a:moveTo>
                <a:lnTo>
                  <a:pt x="32638" y="89535"/>
                </a:lnTo>
                <a:lnTo>
                  <a:pt x="33019" y="89776"/>
                </a:lnTo>
                <a:lnTo>
                  <a:pt x="102615" y="89776"/>
                </a:lnTo>
                <a:lnTo>
                  <a:pt x="103364" y="89535"/>
                </a:lnTo>
                <a:close/>
              </a:path>
              <a:path w="135254" h="200405">
                <a:moveTo>
                  <a:pt x="78485" y="0"/>
                </a:moveTo>
                <a:lnTo>
                  <a:pt x="57276" y="0"/>
                </a:lnTo>
                <a:lnTo>
                  <a:pt x="48259" y="2921"/>
                </a:lnTo>
                <a:lnTo>
                  <a:pt x="36194" y="5842"/>
                </a:lnTo>
                <a:lnTo>
                  <a:pt x="18160" y="17780"/>
                </a:lnTo>
                <a:lnTo>
                  <a:pt x="12191" y="26797"/>
                </a:lnTo>
                <a:lnTo>
                  <a:pt x="6350" y="50927"/>
                </a:lnTo>
                <a:lnTo>
                  <a:pt x="15112" y="77978"/>
                </a:lnTo>
                <a:lnTo>
                  <a:pt x="24002" y="86868"/>
                </a:lnTo>
                <a:lnTo>
                  <a:pt x="32493" y="89606"/>
                </a:lnTo>
                <a:lnTo>
                  <a:pt x="32638" y="89535"/>
                </a:lnTo>
                <a:lnTo>
                  <a:pt x="103364" y="89535"/>
                </a:lnTo>
                <a:lnTo>
                  <a:pt x="111632" y="86868"/>
                </a:lnTo>
                <a:lnTo>
                  <a:pt x="115570" y="82931"/>
                </a:lnTo>
                <a:lnTo>
                  <a:pt x="59689" y="82931"/>
                </a:lnTo>
                <a:lnTo>
                  <a:pt x="59689" y="80010"/>
                </a:lnTo>
                <a:lnTo>
                  <a:pt x="56768" y="80010"/>
                </a:lnTo>
                <a:lnTo>
                  <a:pt x="38861" y="71247"/>
                </a:lnTo>
                <a:lnTo>
                  <a:pt x="35940" y="65278"/>
                </a:lnTo>
                <a:lnTo>
                  <a:pt x="35940" y="59309"/>
                </a:lnTo>
                <a:lnTo>
                  <a:pt x="33019" y="50292"/>
                </a:lnTo>
                <a:lnTo>
                  <a:pt x="35940" y="44196"/>
                </a:lnTo>
                <a:lnTo>
                  <a:pt x="35940" y="38227"/>
                </a:lnTo>
                <a:lnTo>
                  <a:pt x="38861" y="32258"/>
                </a:lnTo>
                <a:lnTo>
                  <a:pt x="44830" y="29337"/>
                </a:lnTo>
                <a:lnTo>
                  <a:pt x="50800" y="23368"/>
                </a:lnTo>
                <a:lnTo>
                  <a:pt x="56768" y="23368"/>
                </a:lnTo>
                <a:lnTo>
                  <a:pt x="59689" y="20447"/>
                </a:lnTo>
                <a:lnTo>
                  <a:pt x="119367" y="20447"/>
                </a:lnTo>
                <a:lnTo>
                  <a:pt x="117601" y="17780"/>
                </a:lnTo>
                <a:lnTo>
                  <a:pt x="111632" y="11811"/>
                </a:lnTo>
                <a:lnTo>
                  <a:pt x="102615" y="5842"/>
                </a:lnTo>
                <a:lnTo>
                  <a:pt x="78485" y="0"/>
                </a:lnTo>
                <a:close/>
              </a:path>
              <a:path w="135254" h="200405">
                <a:moveTo>
                  <a:pt x="119367" y="20447"/>
                </a:moveTo>
                <a:lnTo>
                  <a:pt x="74815" y="20447"/>
                </a:lnTo>
                <a:lnTo>
                  <a:pt x="80772" y="23368"/>
                </a:lnTo>
                <a:lnTo>
                  <a:pt x="86740" y="23368"/>
                </a:lnTo>
                <a:lnTo>
                  <a:pt x="89661" y="29337"/>
                </a:lnTo>
                <a:lnTo>
                  <a:pt x="95630" y="32258"/>
                </a:lnTo>
                <a:lnTo>
                  <a:pt x="101473" y="44196"/>
                </a:lnTo>
                <a:lnTo>
                  <a:pt x="101473" y="59309"/>
                </a:lnTo>
                <a:lnTo>
                  <a:pt x="95630" y="71247"/>
                </a:lnTo>
                <a:lnTo>
                  <a:pt x="92709" y="74168"/>
                </a:lnTo>
                <a:lnTo>
                  <a:pt x="74815" y="82931"/>
                </a:lnTo>
                <a:lnTo>
                  <a:pt x="115570" y="82931"/>
                </a:lnTo>
                <a:lnTo>
                  <a:pt x="120523" y="77978"/>
                </a:lnTo>
                <a:lnTo>
                  <a:pt x="126491" y="68961"/>
                </a:lnTo>
                <a:lnTo>
                  <a:pt x="129412" y="59944"/>
                </a:lnTo>
                <a:lnTo>
                  <a:pt x="129412" y="50927"/>
                </a:lnTo>
                <a:lnTo>
                  <a:pt x="123570" y="26797"/>
                </a:lnTo>
                <a:lnTo>
                  <a:pt x="119367" y="20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bk object 79"/>
          <p:cNvSpPr/>
          <p:nvPr/>
        </p:nvSpPr>
        <p:spPr>
          <a:xfrm>
            <a:off x="7531920" y="6293160"/>
            <a:ext cx="134640" cy="2012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394" h="202056">
                <a:moveTo>
                  <a:pt x="0" y="102235"/>
                </a:moveTo>
                <a:lnTo>
                  <a:pt x="5842" y="147828"/>
                </a:lnTo>
                <a:lnTo>
                  <a:pt x="29845" y="193167"/>
                </a:lnTo>
                <a:lnTo>
                  <a:pt x="53975" y="202057"/>
                </a:lnTo>
                <a:lnTo>
                  <a:pt x="81407" y="202057"/>
                </a:lnTo>
                <a:lnTo>
                  <a:pt x="93472" y="199136"/>
                </a:lnTo>
                <a:lnTo>
                  <a:pt x="105537" y="193167"/>
                </a:lnTo>
                <a:lnTo>
                  <a:pt x="117221" y="181483"/>
                </a:lnTo>
                <a:lnTo>
                  <a:pt x="69723" y="181483"/>
                </a:lnTo>
                <a:lnTo>
                  <a:pt x="60706" y="178562"/>
                </a:lnTo>
                <a:lnTo>
                  <a:pt x="51689" y="178562"/>
                </a:lnTo>
                <a:lnTo>
                  <a:pt x="39751" y="166624"/>
                </a:lnTo>
                <a:lnTo>
                  <a:pt x="36830" y="154559"/>
                </a:lnTo>
                <a:lnTo>
                  <a:pt x="33909" y="148590"/>
                </a:lnTo>
                <a:lnTo>
                  <a:pt x="30988" y="139573"/>
                </a:lnTo>
                <a:lnTo>
                  <a:pt x="30988" y="124460"/>
                </a:lnTo>
                <a:lnTo>
                  <a:pt x="28067" y="103238"/>
                </a:lnTo>
                <a:lnTo>
                  <a:pt x="27927" y="102616"/>
                </a:lnTo>
                <a:lnTo>
                  <a:pt x="635" y="102616"/>
                </a:lnTo>
                <a:lnTo>
                  <a:pt x="0" y="102235"/>
                </a:lnTo>
                <a:close/>
              </a:path>
              <a:path w="135394" h="202056">
                <a:moveTo>
                  <a:pt x="119407" y="24384"/>
                </a:moveTo>
                <a:lnTo>
                  <a:pt x="78740" y="24384"/>
                </a:lnTo>
                <a:lnTo>
                  <a:pt x="84709" y="27305"/>
                </a:lnTo>
                <a:lnTo>
                  <a:pt x="87630" y="27305"/>
                </a:lnTo>
                <a:lnTo>
                  <a:pt x="90551" y="30213"/>
                </a:lnTo>
                <a:lnTo>
                  <a:pt x="102489" y="48260"/>
                </a:lnTo>
                <a:lnTo>
                  <a:pt x="108407" y="63246"/>
                </a:lnTo>
                <a:lnTo>
                  <a:pt x="108458" y="139573"/>
                </a:lnTo>
                <a:lnTo>
                  <a:pt x="102489" y="154686"/>
                </a:lnTo>
                <a:lnTo>
                  <a:pt x="96520" y="166738"/>
                </a:lnTo>
                <a:lnTo>
                  <a:pt x="84709" y="178562"/>
                </a:lnTo>
                <a:lnTo>
                  <a:pt x="78740" y="178562"/>
                </a:lnTo>
                <a:lnTo>
                  <a:pt x="69723" y="181483"/>
                </a:lnTo>
                <a:lnTo>
                  <a:pt x="117221" y="181483"/>
                </a:lnTo>
                <a:lnTo>
                  <a:pt x="117602" y="181102"/>
                </a:lnTo>
                <a:lnTo>
                  <a:pt x="123571" y="169037"/>
                </a:lnTo>
                <a:lnTo>
                  <a:pt x="129540" y="160020"/>
                </a:lnTo>
                <a:lnTo>
                  <a:pt x="132461" y="147955"/>
                </a:lnTo>
                <a:lnTo>
                  <a:pt x="132461" y="138938"/>
                </a:lnTo>
                <a:lnTo>
                  <a:pt x="135394" y="129921"/>
                </a:lnTo>
                <a:lnTo>
                  <a:pt x="135394" y="75057"/>
                </a:lnTo>
                <a:lnTo>
                  <a:pt x="132553" y="63373"/>
                </a:lnTo>
                <a:lnTo>
                  <a:pt x="132461" y="53975"/>
                </a:lnTo>
                <a:lnTo>
                  <a:pt x="129540" y="41910"/>
                </a:lnTo>
                <a:lnTo>
                  <a:pt x="123571" y="32893"/>
                </a:lnTo>
                <a:lnTo>
                  <a:pt x="119407" y="24384"/>
                </a:lnTo>
                <a:close/>
              </a:path>
              <a:path w="135394" h="202056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8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56" y="75184"/>
                </a:lnTo>
                <a:lnTo>
                  <a:pt x="635" y="102616"/>
                </a:lnTo>
                <a:lnTo>
                  <a:pt x="27927" y="102616"/>
                </a:lnTo>
                <a:lnTo>
                  <a:pt x="30861" y="78359"/>
                </a:lnTo>
                <a:lnTo>
                  <a:pt x="30985" y="62992"/>
                </a:lnTo>
                <a:lnTo>
                  <a:pt x="33782" y="57277"/>
                </a:lnTo>
                <a:lnTo>
                  <a:pt x="39624" y="39243"/>
                </a:lnTo>
                <a:lnTo>
                  <a:pt x="45593" y="30213"/>
                </a:lnTo>
                <a:lnTo>
                  <a:pt x="51562" y="27305"/>
                </a:lnTo>
                <a:lnTo>
                  <a:pt x="60579" y="24384"/>
                </a:lnTo>
                <a:lnTo>
                  <a:pt x="119407" y="24384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394" h="202056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bk object 80"/>
          <p:cNvSpPr/>
          <p:nvPr/>
        </p:nvSpPr>
        <p:spPr>
          <a:xfrm>
            <a:off x="77000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65" h="33401">
                <a:moveTo>
                  <a:pt x="0" y="16700"/>
                </a:moveTo>
                <a:lnTo>
                  <a:pt x="30365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bk object 81"/>
          <p:cNvSpPr/>
          <p:nvPr/>
        </p:nvSpPr>
        <p:spPr>
          <a:xfrm>
            <a:off x="7761240" y="6293520"/>
            <a:ext cx="137880" cy="201240"/>
          </a:xfrm>
          <a:custGeom>
            <a:avLst/>
            <a:gdLst>
              <a:gd name="textAreaLeft" fmla="*/ 0 w 137880"/>
              <a:gd name="textAreaRight" fmla="*/ 138600 w 1378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8429" h="202056">
                <a:moveTo>
                  <a:pt x="27558" y="147954"/>
                </a:moveTo>
                <a:lnTo>
                  <a:pt x="126" y="147954"/>
                </a:lnTo>
                <a:lnTo>
                  <a:pt x="0" y="157225"/>
                </a:lnTo>
                <a:lnTo>
                  <a:pt x="2802" y="162940"/>
                </a:lnTo>
                <a:lnTo>
                  <a:pt x="2921" y="166115"/>
                </a:lnTo>
                <a:lnTo>
                  <a:pt x="32893" y="199135"/>
                </a:lnTo>
                <a:lnTo>
                  <a:pt x="44957" y="202056"/>
                </a:lnTo>
                <a:lnTo>
                  <a:pt x="78358" y="202056"/>
                </a:lnTo>
                <a:lnTo>
                  <a:pt x="90436" y="199135"/>
                </a:lnTo>
                <a:lnTo>
                  <a:pt x="114553" y="181101"/>
                </a:lnTo>
                <a:lnTo>
                  <a:pt x="114781" y="180720"/>
                </a:lnTo>
                <a:lnTo>
                  <a:pt x="54355" y="180720"/>
                </a:lnTo>
                <a:lnTo>
                  <a:pt x="48386" y="177799"/>
                </a:lnTo>
                <a:lnTo>
                  <a:pt x="39370" y="174878"/>
                </a:lnTo>
                <a:lnTo>
                  <a:pt x="33400" y="168909"/>
                </a:lnTo>
                <a:lnTo>
                  <a:pt x="30479" y="162940"/>
                </a:lnTo>
                <a:lnTo>
                  <a:pt x="27558" y="160007"/>
                </a:lnTo>
                <a:lnTo>
                  <a:pt x="27558" y="147954"/>
                </a:lnTo>
                <a:close/>
              </a:path>
              <a:path w="138429" h="202056">
                <a:moveTo>
                  <a:pt x="136073" y="108584"/>
                </a:moveTo>
                <a:lnTo>
                  <a:pt x="108203" y="108584"/>
                </a:lnTo>
                <a:lnTo>
                  <a:pt x="108203" y="126745"/>
                </a:lnTo>
                <a:lnTo>
                  <a:pt x="105282" y="138810"/>
                </a:lnTo>
                <a:lnTo>
                  <a:pt x="102361" y="147827"/>
                </a:lnTo>
                <a:lnTo>
                  <a:pt x="96393" y="159892"/>
                </a:lnTo>
                <a:lnTo>
                  <a:pt x="93472" y="168909"/>
                </a:lnTo>
                <a:lnTo>
                  <a:pt x="84454" y="174878"/>
                </a:lnTo>
                <a:lnTo>
                  <a:pt x="72516" y="180720"/>
                </a:lnTo>
                <a:lnTo>
                  <a:pt x="114781" y="180720"/>
                </a:lnTo>
                <a:lnTo>
                  <a:pt x="123571" y="165988"/>
                </a:lnTo>
                <a:lnTo>
                  <a:pt x="135508" y="123570"/>
                </a:lnTo>
                <a:lnTo>
                  <a:pt x="135533" y="111378"/>
                </a:lnTo>
                <a:lnTo>
                  <a:pt x="136073" y="108584"/>
                </a:lnTo>
                <a:close/>
              </a:path>
              <a:path w="138429" h="202056">
                <a:moveTo>
                  <a:pt x="81533" y="0"/>
                </a:moveTo>
                <a:lnTo>
                  <a:pt x="51180" y="0"/>
                </a:lnTo>
                <a:lnTo>
                  <a:pt x="39115" y="2920"/>
                </a:lnTo>
                <a:lnTo>
                  <a:pt x="27050" y="8889"/>
                </a:lnTo>
                <a:lnTo>
                  <a:pt x="9144" y="26796"/>
                </a:lnTo>
                <a:lnTo>
                  <a:pt x="3175" y="38861"/>
                </a:lnTo>
                <a:lnTo>
                  <a:pt x="253" y="50926"/>
                </a:lnTo>
                <a:lnTo>
                  <a:pt x="253" y="78358"/>
                </a:lnTo>
                <a:lnTo>
                  <a:pt x="27050" y="120395"/>
                </a:lnTo>
                <a:lnTo>
                  <a:pt x="45084" y="129285"/>
                </a:lnTo>
                <a:lnTo>
                  <a:pt x="78485" y="129285"/>
                </a:lnTo>
                <a:lnTo>
                  <a:pt x="87502" y="126364"/>
                </a:lnTo>
                <a:lnTo>
                  <a:pt x="96520" y="120395"/>
                </a:lnTo>
                <a:lnTo>
                  <a:pt x="99440" y="117474"/>
                </a:lnTo>
                <a:lnTo>
                  <a:pt x="102361" y="117474"/>
                </a:lnTo>
                <a:lnTo>
                  <a:pt x="105282" y="114553"/>
                </a:lnTo>
                <a:lnTo>
                  <a:pt x="108203" y="108584"/>
                </a:lnTo>
                <a:lnTo>
                  <a:pt x="136073" y="108584"/>
                </a:lnTo>
                <a:lnTo>
                  <a:pt x="136196" y="107949"/>
                </a:lnTo>
                <a:lnTo>
                  <a:pt x="66166" y="107949"/>
                </a:lnTo>
                <a:lnTo>
                  <a:pt x="48132" y="102107"/>
                </a:lnTo>
                <a:lnTo>
                  <a:pt x="36195" y="96265"/>
                </a:lnTo>
                <a:lnTo>
                  <a:pt x="33286" y="90296"/>
                </a:lnTo>
                <a:lnTo>
                  <a:pt x="30352" y="81279"/>
                </a:lnTo>
                <a:lnTo>
                  <a:pt x="27419" y="75310"/>
                </a:lnTo>
                <a:lnTo>
                  <a:pt x="27419" y="56768"/>
                </a:lnTo>
                <a:lnTo>
                  <a:pt x="30352" y="47751"/>
                </a:lnTo>
                <a:lnTo>
                  <a:pt x="33161" y="42036"/>
                </a:lnTo>
                <a:lnTo>
                  <a:pt x="33286" y="38861"/>
                </a:lnTo>
                <a:lnTo>
                  <a:pt x="48005" y="24129"/>
                </a:lnTo>
                <a:lnTo>
                  <a:pt x="57023" y="24129"/>
                </a:lnTo>
                <a:lnTo>
                  <a:pt x="66039" y="21208"/>
                </a:lnTo>
                <a:lnTo>
                  <a:pt x="117982" y="21208"/>
                </a:lnTo>
                <a:lnTo>
                  <a:pt x="105663" y="8889"/>
                </a:lnTo>
                <a:lnTo>
                  <a:pt x="93611" y="2920"/>
                </a:lnTo>
                <a:lnTo>
                  <a:pt x="81533" y="0"/>
                </a:lnTo>
                <a:close/>
              </a:path>
              <a:path w="138429" h="202056">
                <a:moveTo>
                  <a:pt x="117982" y="21208"/>
                </a:moveTo>
                <a:lnTo>
                  <a:pt x="66039" y="21208"/>
                </a:lnTo>
                <a:lnTo>
                  <a:pt x="75044" y="24129"/>
                </a:lnTo>
                <a:lnTo>
                  <a:pt x="84086" y="24129"/>
                </a:lnTo>
                <a:lnTo>
                  <a:pt x="101980" y="42036"/>
                </a:lnTo>
                <a:lnTo>
                  <a:pt x="104777" y="47751"/>
                </a:lnTo>
                <a:lnTo>
                  <a:pt x="104901" y="78358"/>
                </a:lnTo>
                <a:lnTo>
                  <a:pt x="101980" y="81279"/>
                </a:lnTo>
                <a:lnTo>
                  <a:pt x="99059" y="90296"/>
                </a:lnTo>
                <a:lnTo>
                  <a:pt x="99059" y="93217"/>
                </a:lnTo>
                <a:lnTo>
                  <a:pt x="96138" y="96138"/>
                </a:lnTo>
                <a:lnTo>
                  <a:pt x="90170" y="99059"/>
                </a:lnTo>
                <a:lnTo>
                  <a:pt x="81152" y="105028"/>
                </a:lnTo>
                <a:lnTo>
                  <a:pt x="75183" y="105028"/>
                </a:lnTo>
                <a:lnTo>
                  <a:pt x="66166" y="107949"/>
                </a:lnTo>
                <a:lnTo>
                  <a:pt x="136196" y="107949"/>
                </a:lnTo>
                <a:lnTo>
                  <a:pt x="138429" y="96392"/>
                </a:lnTo>
                <a:lnTo>
                  <a:pt x="135508" y="72135"/>
                </a:lnTo>
                <a:lnTo>
                  <a:pt x="132587" y="50926"/>
                </a:lnTo>
                <a:lnTo>
                  <a:pt x="123571" y="32765"/>
                </a:lnTo>
                <a:lnTo>
                  <a:pt x="123571" y="29832"/>
                </a:lnTo>
                <a:lnTo>
                  <a:pt x="120650" y="23875"/>
                </a:lnTo>
                <a:lnTo>
                  <a:pt x="117982" y="2120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bk object 82"/>
          <p:cNvSpPr/>
          <p:nvPr/>
        </p:nvSpPr>
        <p:spPr>
          <a:xfrm>
            <a:off x="81424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5" h="201041">
                <a:moveTo>
                  <a:pt x="72135" y="0"/>
                </a:moveTo>
                <a:lnTo>
                  <a:pt x="53975" y="0"/>
                </a:lnTo>
                <a:lnTo>
                  <a:pt x="51053" y="2920"/>
                </a:lnTo>
                <a:lnTo>
                  <a:pt x="51053" y="8889"/>
                </a:lnTo>
                <a:lnTo>
                  <a:pt x="45211" y="20827"/>
                </a:lnTo>
                <a:lnTo>
                  <a:pt x="36207" y="26784"/>
                </a:lnTo>
                <a:lnTo>
                  <a:pt x="30225" y="32765"/>
                </a:lnTo>
                <a:lnTo>
                  <a:pt x="21208" y="35686"/>
                </a:lnTo>
                <a:lnTo>
                  <a:pt x="0" y="35686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4"/>
                </a:lnTo>
                <a:lnTo>
                  <a:pt x="44703" y="201040"/>
                </a:lnTo>
                <a:lnTo>
                  <a:pt x="72135" y="201040"/>
                </a:lnTo>
                <a:lnTo>
                  <a:pt x="7213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bk object 83"/>
          <p:cNvSpPr/>
          <p:nvPr/>
        </p:nvSpPr>
        <p:spPr>
          <a:xfrm>
            <a:off x="827028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bk object 84"/>
          <p:cNvSpPr/>
          <p:nvPr/>
        </p:nvSpPr>
        <p:spPr>
          <a:xfrm>
            <a:off x="833076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8" h="202564">
                <a:moveTo>
                  <a:pt x="93598" y="2920"/>
                </a:moveTo>
                <a:lnTo>
                  <a:pt x="42290" y="2920"/>
                </a:lnTo>
                <a:lnTo>
                  <a:pt x="30225" y="11937"/>
                </a:lnTo>
                <a:lnTo>
                  <a:pt x="18287" y="23875"/>
                </a:lnTo>
                <a:lnTo>
                  <a:pt x="18287" y="26784"/>
                </a:lnTo>
                <a:lnTo>
                  <a:pt x="12318" y="32765"/>
                </a:lnTo>
                <a:lnTo>
                  <a:pt x="12318" y="38734"/>
                </a:lnTo>
                <a:lnTo>
                  <a:pt x="9397" y="41655"/>
                </a:lnTo>
                <a:lnTo>
                  <a:pt x="6476" y="53720"/>
                </a:lnTo>
                <a:lnTo>
                  <a:pt x="3527" y="75310"/>
                </a:lnTo>
                <a:lnTo>
                  <a:pt x="634" y="102361"/>
                </a:lnTo>
                <a:lnTo>
                  <a:pt x="0" y="102742"/>
                </a:lnTo>
                <a:lnTo>
                  <a:pt x="5841" y="148335"/>
                </a:lnTo>
                <a:lnTo>
                  <a:pt x="29844" y="193674"/>
                </a:lnTo>
                <a:lnTo>
                  <a:pt x="53975" y="202564"/>
                </a:lnTo>
                <a:lnTo>
                  <a:pt x="81406" y="202564"/>
                </a:lnTo>
                <a:lnTo>
                  <a:pt x="93471" y="199643"/>
                </a:lnTo>
                <a:lnTo>
                  <a:pt x="105536" y="193674"/>
                </a:lnTo>
                <a:lnTo>
                  <a:pt x="117601" y="181609"/>
                </a:lnTo>
                <a:lnTo>
                  <a:pt x="117727" y="181355"/>
                </a:lnTo>
                <a:lnTo>
                  <a:pt x="69722" y="181355"/>
                </a:lnTo>
                <a:lnTo>
                  <a:pt x="60718" y="178434"/>
                </a:lnTo>
                <a:lnTo>
                  <a:pt x="54736" y="178434"/>
                </a:lnTo>
                <a:lnTo>
                  <a:pt x="45719" y="172465"/>
                </a:lnTo>
                <a:lnTo>
                  <a:pt x="39750" y="166484"/>
                </a:lnTo>
                <a:lnTo>
                  <a:pt x="36829" y="154431"/>
                </a:lnTo>
                <a:lnTo>
                  <a:pt x="33908" y="148462"/>
                </a:lnTo>
                <a:lnTo>
                  <a:pt x="30987" y="139445"/>
                </a:lnTo>
                <a:lnTo>
                  <a:pt x="30987" y="124332"/>
                </a:lnTo>
                <a:lnTo>
                  <a:pt x="28066" y="103123"/>
                </a:lnTo>
                <a:lnTo>
                  <a:pt x="27939" y="102361"/>
                </a:lnTo>
                <a:lnTo>
                  <a:pt x="30860" y="78104"/>
                </a:lnTo>
                <a:lnTo>
                  <a:pt x="30860" y="62991"/>
                </a:lnTo>
                <a:lnTo>
                  <a:pt x="33781" y="57022"/>
                </a:lnTo>
                <a:lnTo>
                  <a:pt x="39623" y="38988"/>
                </a:lnTo>
                <a:lnTo>
                  <a:pt x="45592" y="29959"/>
                </a:lnTo>
                <a:lnTo>
                  <a:pt x="54609" y="27050"/>
                </a:lnTo>
                <a:lnTo>
                  <a:pt x="60578" y="24129"/>
                </a:lnTo>
                <a:lnTo>
                  <a:pt x="119282" y="24129"/>
                </a:lnTo>
                <a:lnTo>
                  <a:pt x="117728" y="20954"/>
                </a:lnTo>
                <a:lnTo>
                  <a:pt x="93598" y="2920"/>
                </a:lnTo>
                <a:close/>
              </a:path>
              <a:path w="135508" h="202564">
                <a:moveTo>
                  <a:pt x="119282" y="24129"/>
                </a:moveTo>
                <a:lnTo>
                  <a:pt x="78739" y="24129"/>
                </a:lnTo>
                <a:lnTo>
                  <a:pt x="90677" y="29959"/>
                </a:lnTo>
                <a:lnTo>
                  <a:pt x="102615" y="48005"/>
                </a:lnTo>
                <a:lnTo>
                  <a:pt x="108534" y="62991"/>
                </a:lnTo>
                <a:lnTo>
                  <a:pt x="108534" y="139445"/>
                </a:lnTo>
                <a:lnTo>
                  <a:pt x="102615" y="154431"/>
                </a:lnTo>
                <a:lnTo>
                  <a:pt x="96646" y="166484"/>
                </a:lnTo>
                <a:lnTo>
                  <a:pt x="84708" y="178434"/>
                </a:lnTo>
                <a:lnTo>
                  <a:pt x="78739" y="178434"/>
                </a:lnTo>
                <a:lnTo>
                  <a:pt x="69722" y="181355"/>
                </a:lnTo>
                <a:lnTo>
                  <a:pt x="117727" y="181355"/>
                </a:lnTo>
                <a:lnTo>
                  <a:pt x="123570" y="169544"/>
                </a:lnTo>
                <a:lnTo>
                  <a:pt x="132587" y="148335"/>
                </a:lnTo>
                <a:lnTo>
                  <a:pt x="135508" y="130174"/>
                </a:lnTo>
                <a:lnTo>
                  <a:pt x="135456" y="74929"/>
                </a:lnTo>
                <a:lnTo>
                  <a:pt x="132587" y="54101"/>
                </a:lnTo>
                <a:lnTo>
                  <a:pt x="123508" y="32765"/>
                </a:lnTo>
                <a:lnTo>
                  <a:pt x="119282" y="24129"/>
                </a:lnTo>
                <a:close/>
              </a:path>
              <a:path w="135508" h="202564">
                <a:moveTo>
                  <a:pt x="81660" y="0"/>
                </a:moveTo>
                <a:lnTo>
                  <a:pt x="54228" y="0"/>
                </a:lnTo>
                <a:lnTo>
                  <a:pt x="48259" y="2920"/>
                </a:lnTo>
                <a:lnTo>
                  <a:pt x="87629" y="2920"/>
                </a:lnTo>
                <a:lnTo>
                  <a:pt x="8166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bk object 85"/>
          <p:cNvSpPr/>
          <p:nvPr/>
        </p:nvSpPr>
        <p:spPr>
          <a:xfrm>
            <a:off x="2387520" y="5539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bk object 86"/>
          <p:cNvSpPr/>
          <p:nvPr/>
        </p:nvSpPr>
        <p:spPr>
          <a:xfrm>
            <a:off x="2448360" y="5533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bk object 87"/>
          <p:cNvSpPr/>
          <p:nvPr/>
        </p:nvSpPr>
        <p:spPr>
          <a:xfrm>
            <a:off x="2506320" y="552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bk object 88"/>
          <p:cNvSpPr/>
          <p:nvPr/>
        </p:nvSpPr>
        <p:spPr>
          <a:xfrm>
            <a:off x="2567520" y="5524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bk object 89"/>
          <p:cNvSpPr/>
          <p:nvPr/>
        </p:nvSpPr>
        <p:spPr>
          <a:xfrm>
            <a:off x="2625120" y="551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bk object 90"/>
          <p:cNvSpPr/>
          <p:nvPr/>
        </p:nvSpPr>
        <p:spPr>
          <a:xfrm>
            <a:off x="2683440" y="5511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bk object 91"/>
          <p:cNvSpPr/>
          <p:nvPr/>
        </p:nvSpPr>
        <p:spPr>
          <a:xfrm>
            <a:off x="2744280" y="5505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bk object 92"/>
          <p:cNvSpPr/>
          <p:nvPr/>
        </p:nvSpPr>
        <p:spPr>
          <a:xfrm>
            <a:off x="2802240" y="5502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bk object 93"/>
          <p:cNvSpPr/>
          <p:nvPr/>
        </p:nvSpPr>
        <p:spPr>
          <a:xfrm>
            <a:off x="2863080" y="5496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bk object 94"/>
          <p:cNvSpPr/>
          <p:nvPr/>
        </p:nvSpPr>
        <p:spPr>
          <a:xfrm>
            <a:off x="2921040" y="5490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bk object 95"/>
          <p:cNvSpPr/>
          <p:nvPr/>
        </p:nvSpPr>
        <p:spPr>
          <a:xfrm>
            <a:off x="2981880" y="5484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bk object 96"/>
          <p:cNvSpPr/>
          <p:nvPr/>
        </p:nvSpPr>
        <p:spPr>
          <a:xfrm>
            <a:off x="3039840" y="5478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bk object 97"/>
          <p:cNvSpPr/>
          <p:nvPr/>
        </p:nvSpPr>
        <p:spPr>
          <a:xfrm>
            <a:off x="3097800" y="5472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bk object 98"/>
          <p:cNvSpPr/>
          <p:nvPr/>
        </p:nvSpPr>
        <p:spPr>
          <a:xfrm>
            <a:off x="3158640" y="5466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bk object 99"/>
          <p:cNvSpPr/>
          <p:nvPr/>
        </p:nvSpPr>
        <p:spPr>
          <a:xfrm>
            <a:off x="3216600" y="5460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bk object 100"/>
          <p:cNvSpPr/>
          <p:nvPr/>
        </p:nvSpPr>
        <p:spPr>
          <a:xfrm>
            <a:off x="3277440" y="545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bk object 101"/>
          <p:cNvSpPr/>
          <p:nvPr/>
        </p:nvSpPr>
        <p:spPr>
          <a:xfrm>
            <a:off x="3335400" y="544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bk object 102"/>
          <p:cNvSpPr/>
          <p:nvPr/>
        </p:nvSpPr>
        <p:spPr>
          <a:xfrm>
            <a:off x="3393360" y="5441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bk object 103"/>
          <p:cNvSpPr/>
          <p:nvPr/>
        </p:nvSpPr>
        <p:spPr>
          <a:xfrm>
            <a:off x="3454560" y="5432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bk object 104"/>
          <p:cNvSpPr/>
          <p:nvPr/>
        </p:nvSpPr>
        <p:spPr>
          <a:xfrm>
            <a:off x="3512520" y="5426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bk object 105"/>
          <p:cNvSpPr/>
          <p:nvPr/>
        </p:nvSpPr>
        <p:spPr>
          <a:xfrm>
            <a:off x="3573360" y="5420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bk object 106"/>
          <p:cNvSpPr/>
          <p:nvPr/>
        </p:nvSpPr>
        <p:spPr>
          <a:xfrm>
            <a:off x="3630960" y="5411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bk object 107"/>
          <p:cNvSpPr/>
          <p:nvPr/>
        </p:nvSpPr>
        <p:spPr>
          <a:xfrm>
            <a:off x="3692160" y="5405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bk object 108"/>
          <p:cNvSpPr/>
          <p:nvPr/>
        </p:nvSpPr>
        <p:spPr>
          <a:xfrm>
            <a:off x="3750120" y="539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bk object 109"/>
          <p:cNvSpPr/>
          <p:nvPr/>
        </p:nvSpPr>
        <p:spPr>
          <a:xfrm>
            <a:off x="3808080" y="539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bk object 110"/>
          <p:cNvSpPr/>
          <p:nvPr/>
        </p:nvSpPr>
        <p:spPr>
          <a:xfrm>
            <a:off x="3868920" y="5380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bk object 111"/>
          <p:cNvSpPr/>
          <p:nvPr/>
        </p:nvSpPr>
        <p:spPr>
          <a:xfrm>
            <a:off x="3926880" y="5374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bk object 112"/>
          <p:cNvSpPr/>
          <p:nvPr/>
        </p:nvSpPr>
        <p:spPr>
          <a:xfrm>
            <a:off x="3987720" y="536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bk object 113"/>
          <p:cNvSpPr/>
          <p:nvPr/>
        </p:nvSpPr>
        <p:spPr>
          <a:xfrm>
            <a:off x="4045680" y="5356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bk object 114"/>
          <p:cNvSpPr/>
          <p:nvPr/>
        </p:nvSpPr>
        <p:spPr>
          <a:xfrm>
            <a:off x="4103640" y="534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bk object 115"/>
          <p:cNvSpPr/>
          <p:nvPr/>
        </p:nvSpPr>
        <p:spPr>
          <a:xfrm>
            <a:off x="4164480" y="533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bk object 116"/>
          <p:cNvSpPr/>
          <p:nvPr/>
        </p:nvSpPr>
        <p:spPr>
          <a:xfrm>
            <a:off x="4222440" y="5329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bk object 117"/>
          <p:cNvSpPr/>
          <p:nvPr/>
        </p:nvSpPr>
        <p:spPr>
          <a:xfrm>
            <a:off x="4283640" y="5320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bk object 118"/>
          <p:cNvSpPr/>
          <p:nvPr/>
        </p:nvSpPr>
        <p:spPr>
          <a:xfrm>
            <a:off x="4341600" y="5311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bk object 119"/>
          <p:cNvSpPr/>
          <p:nvPr/>
        </p:nvSpPr>
        <p:spPr>
          <a:xfrm>
            <a:off x="4402080" y="530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bk object 120"/>
          <p:cNvSpPr/>
          <p:nvPr/>
        </p:nvSpPr>
        <p:spPr>
          <a:xfrm>
            <a:off x="4460040" y="5289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bk object 121"/>
          <p:cNvSpPr/>
          <p:nvPr/>
        </p:nvSpPr>
        <p:spPr>
          <a:xfrm>
            <a:off x="4518000" y="5280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bk object 122"/>
          <p:cNvSpPr/>
          <p:nvPr/>
        </p:nvSpPr>
        <p:spPr>
          <a:xfrm>
            <a:off x="4579200" y="526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bk object 123"/>
          <p:cNvSpPr/>
          <p:nvPr/>
        </p:nvSpPr>
        <p:spPr>
          <a:xfrm>
            <a:off x="4637160" y="525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bk object 124"/>
          <p:cNvSpPr/>
          <p:nvPr/>
        </p:nvSpPr>
        <p:spPr>
          <a:xfrm>
            <a:off x="4698000" y="5247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bk object 125"/>
          <p:cNvSpPr/>
          <p:nvPr/>
        </p:nvSpPr>
        <p:spPr>
          <a:xfrm>
            <a:off x="4755960" y="5234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bk object 126"/>
          <p:cNvSpPr/>
          <p:nvPr/>
        </p:nvSpPr>
        <p:spPr>
          <a:xfrm>
            <a:off x="4816800" y="522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bk object 127"/>
          <p:cNvSpPr/>
          <p:nvPr/>
        </p:nvSpPr>
        <p:spPr>
          <a:xfrm>
            <a:off x="4874760" y="521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bk object 128"/>
          <p:cNvSpPr/>
          <p:nvPr/>
        </p:nvSpPr>
        <p:spPr>
          <a:xfrm>
            <a:off x="4932720" y="5198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bk object 129"/>
          <p:cNvSpPr/>
          <p:nvPr/>
        </p:nvSpPr>
        <p:spPr>
          <a:xfrm>
            <a:off x="4993560" y="518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bk object 130"/>
          <p:cNvSpPr/>
          <p:nvPr/>
        </p:nvSpPr>
        <p:spPr>
          <a:xfrm>
            <a:off x="5051520" y="517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bk object 131"/>
          <p:cNvSpPr/>
          <p:nvPr/>
        </p:nvSpPr>
        <p:spPr>
          <a:xfrm>
            <a:off x="5112720" y="5158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bk object 132"/>
          <p:cNvSpPr/>
          <p:nvPr/>
        </p:nvSpPr>
        <p:spPr>
          <a:xfrm>
            <a:off x="5170320" y="51433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bk object 133"/>
          <p:cNvSpPr/>
          <p:nvPr/>
        </p:nvSpPr>
        <p:spPr>
          <a:xfrm>
            <a:off x="5228280" y="5127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bk object 134"/>
          <p:cNvSpPr/>
          <p:nvPr/>
        </p:nvSpPr>
        <p:spPr>
          <a:xfrm>
            <a:off x="5289120" y="5112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bk object 135"/>
          <p:cNvSpPr/>
          <p:nvPr/>
        </p:nvSpPr>
        <p:spPr>
          <a:xfrm>
            <a:off x="5347080" y="5097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bk object 136"/>
          <p:cNvSpPr/>
          <p:nvPr/>
        </p:nvSpPr>
        <p:spPr>
          <a:xfrm>
            <a:off x="5407920" y="507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bk object 137"/>
          <p:cNvSpPr/>
          <p:nvPr/>
        </p:nvSpPr>
        <p:spPr>
          <a:xfrm>
            <a:off x="5465880" y="5064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bk object 138"/>
          <p:cNvSpPr/>
          <p:nvPr/>
        </p:nvSpPr>
        <p:spPr>
          <a:xfrm>
            <a:off x="5527080" y="5045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bk object 139"/>
          <p:cNvSpPr/>
          <p:nvPr/>
        </p:nvSpPr>
        <p:spPr>
          <a:xfrm>
            <a:off x="5585040" y="5027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bk object 140"/>
          <p:cNvSpPr/>
          <p:nvPr/>
        </p:nvSpPr>
        <p:spPr>
          <a:xfrm>
            <a:off x="5642640" y="5009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bk object 141"/>
          <p:cNvSpPr/>
          <p:nvPr/>
        </p:nvSpPr>
        <p:spPr>
          <a:xfrm>
            <a:off x="5703840" y="4991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bk object 142"/>
          <p:cNvSpPr/>
          <p:nvPr/>
        </p:nvSpPr>
        <p:spPr>
          <a:xfrm>
            <a:off x="5761800" y="4969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bk object 143"/>
          <p:cNvSpPr/>
          <p:nvPr/>
        </p:nvSpPr>
        <p:spPr>
          <a:xfrm>
            <a:off x="5822640" y="494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bk object 144"/>
          <p:cNvSpPr/>
          <p:nvPr/>
        </p:nvSpPr>
        <p:spPr>
          <a:xfrm>
            <a:off x="5880600" y="492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bk object 145"/>
          <p:cNvSpPr/>
          <p:nvPr/>
        </p:nvSpPr>
        <p:spPr>
          <a:xfrm>
            <a:off x="5938560" y="4905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bk object 146"/>
          <p:cNvSpPr/>
          <p:nvPr/>
        </p:nvSpPr>
        <p:spPr>
          <a:xfrm>
            <a:off x="5999400" y="4880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bk object 147"/>
          <p:cNvSpPr/>
          <p:nvPr/>
        </p:nvSpPr>
        <p:spPr>
          <a:xfrm>
            <a:off x="6057360" y="4856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bk object 148"/>
          <p:cNvSpPr/>
          <p:nvPr/>
        </p:nvSpPr>
        <p:spPr>
          <a:xfrm>
            <a:off x="6118200" y="4832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bk object 149"/>
          <p:cNvSpPr/>
          <p:nvPr/>
        </p:nvSpPr>
        <p:spPr>
          <a:xfrm>
            <a:off x="6176160" y="4804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bk object 150"/>
          <p:cNvSpPr/>
          <p:nvPr/>
        </p:nvSpPr>
        <p:spPr>
          <a:xfrm>
            <a:off x="6237360" y="4777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bk object 151"/>
          <p:cNvSpPr/>
          <p:nvPr/>
        </p:nvSpPr>
        <p:spPr>
          <a:xfrm>
            <a:off x="6295320" y="4750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bk object 152"/>
          <p:cNvSpPr/>
          <p:nvPr/>
        </p:nvSpPr>
        <p:spPr>
          <a:xfrm>
            <a:off x="6353280" y="4719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bk object 153"/>
          <p:cNvSpPr/>
          <p:nvPr/>
        </p:nvSpPr>
        <p:spPr>
          <a:xfrm>
            <a:off x="6413760" y="468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bk object 154"/>
          <p:cNvSpPr/>
          <p:nvPr/>
        </p:nvSpPr>
        <p:spPr>
          <a:xfrm>
            <a:off x="6471720" y="4655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bk object 155"/>
          <p:cNvSpPr/>
          <p:nvPr/>
        </p:nvSpPr>
        <p:spPr>
          <a:xfrm>
            <a:off x="6532920" y="4619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bk object 156"/>
          <p:cNvSpPr/>
          <p:nvPr/>
        </p:nvSpPr>
        <p:spPr>
          <a:xfrm>
            <a:off x="6590880" y="4582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bk object 157"/>
          <p:cNvSpPr/>
          <p:nvPr/>
        </p:nvSpPr>
        <p:spPr>
          <a:xfrm>
            <a:off x="6651720" y="4545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bk object 158"/>
          <p:cNvSpPr/>
          <p:nvPr/>
        </p:nvSpPr>
        <p:spPr>
          <a:xfrm>
            <a:off x="6709680" y="450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bk object 159"/>
          <p:cNvSpPr/>
          <p:nvPr/>
        </p:nvSpPr>
        <p:spPr>
          <a:xfrm>
            <a:off x="6767640" y="4463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bk object 160"/>
          <p:cNvSpPr/>
          <p:nvPr/>
        </p:nvSpPr>
        <p:spPr>
          <a:xfrm>
            <a:off x="6828480" y="4417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bk object 161"/>
          <p:cNvSpPr/>
          <p:nvPr/>
        </p:nvSpPr>
        <p:spPr>
          <a:xfrm>
            <a:off x="6886440" y="4372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bk object 162"/>
          <p:cNvSpPr/>
          <p:nvPr/>
        </p:nvSpPr>
        <p:spPr>
          <a:xfrm>
            <a:off x="6947280" y="4320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bk object 163"/>
          <p:cNvSpPr/>
          <p:nvPr/>
        </p:nvSpPr>
        <p:spPr>
          <a:xfrm>
            <a:off x="7005240" y="426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bk object 164"/>
          <p:cNvSpPr/>
          <p:nvPr/>
        </p:nvSpPr>
        <p:spPr>
          <a:xfrm>
            <a:off x="7063200" y="4210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bk object 165"/>
          <p:cNvSpPr/>
          <p:nvPr/>
        </p:nvSpPr>
        <p:spPr>
          <a:xfrm>
            <a:off x="7124040" y="4152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bk object 166"/>
          <p:cNvSpPr/>
          <p:nvPr/>
        </p:nvSpPr>
        <p:spPr>
          <a:xfrm>
            <a:off x="7182000" y="408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bk object 167"/>
          <p:cNvSpPr/>
          <p:nvPr/>
        </p:nvSpPr>
        <p:spPr>
          <a:xfrm>
            <a:off x="7242840" y="4018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bk object 168"/>
          <p:cNvSpPr/>
          <p:nvPr/>
        </p:nvSpPr>
        <p:spPr>
          <a:xfrm>
            <a:off x="7300800" y="3945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bk object 169"/>
          <p:cNvSpPr/>
          <p:nvPr/>
        </p:nvSpPr>
        <p:spPr>
          <a:xfrm>
            <a:off x="7362000" y="386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bk object 170"/>
          <p:cNvSpPr/>
          <p:nvPr/>
        </p:nvSpPr>
        <p:spPr>
          <a:xfrm>
            <a:off x="7419960" y="3783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bk object 171"/>
          <p:cNvSpPr/>
          <p:nvPr/>
        </p:nvSpPr>
        <p:spPr>
          <a:xfrm>
            <a:off x="7477560" y="369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bk object 172"/>
          <p:cNvSpPr/>
          <p:nvPr/>
        </p:nvSpPr>
        <p:spPr>
          <a:xfrm>
            <a:off x="7538760" y="359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bk object 173"/>
          <p:cNvSpPr/>
          <p:nvPr/>
        </p:nvSpPr>
        <p:spPr>
          <a:xfrm>
            <a:off x="7596720" y="3485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bk object 174"/>
          <p:cNvSpPr/>
          <p:nvPr/>
        </p:nvSpPr>
        <p:spPr>
          <a:xfrm>
            <a:off x="7657560" y="3366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bk object 175"/>
          <p:cNvSpPr/>
          <p:nvPr/>
        </p:nvSpPr>
        <p:spPr>
          <a:xfrm>
            <a:off x="7715520" y="323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bk object 176"/>
          <p:cNvSpPr/>
          <p:nvPr/>
        </p:nvSpPr>
        <p:spPr>
          <a:xfrm>
            <a:off x="7773480" y="3098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bk object 177"/>
          <p:cNvSpPr/>
          <p:nvPr/>
        </p:nvSpPr>
        <p:spPr>
          <a:xfrm>
            <a:off x="7834320" y="2942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bk object 178"/>
          <p:cNvSpPr/>
          <p:nvPr/>
        </p:nvSpPr>
        <p:spPr>
          <a:xfrm>
            <a:off x="7892280" y="2768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bk object 179"/>
          <p:cNvSpPr/>
          <p:nvPr/>
        </p:nvSpPr>
        <p:spPr>
          <a:xfrm>
            <a:off x="7953480" y="2576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bk object 180"/>
          <p:cNvSpPr/>
          <p:nvPr/>
        </p:nvSpPr>
        <p:spPr>
          <a:xfrm>
            <a:off x="8011080" y="2357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08">
                <a:moveTo>
                  <a:pt x="0" y="0"/>
                </a:moveTo>
                <a:lnTo>
                  <a:pt x="2908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bk object 181"/>
          <p:cNvSpPr/>
          <p:nvPr/>
        </p:nvSpPr>
        <p:spPr>
          <a:xfrm>
            <a:off x="8071920" y="211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bk object 182"/>
          <p:cNvSpPr/>
          <p:nvPr/>
        </p:nvSpPr>
        <p:spPr>
          <a:xfrm>
            <a:off x="8129880" y="1830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bk object 183"/>
          <p:cNvSpPr/>
          <p:nvPr/>
        </p:nvSpPr>
        <p:spPr>
          <a:xfrm>
            <a:off x="8187840" y="150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bk object 184"/>
          <p:cNvSpPr/>
          <p:nvPr/>
        </p:nvSpPr>
        <p:spPr>
          <a:xfrm>
            <a:off x="8248680" y="1128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bk object 185"/>
          <p:cNvSpPr/>
          <p:nvPr/>
        </p:nvSpPr>
        <p:spPr>
          <a:xfrm>
            <a:off x="8306640" y="68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bk object 186"/>
          <p:cNvSpPr/>
          <p:nvPr/>
        </p:nvSpPr>
        <p:spPr>
          <a:xfrm>
            <a:off x="2387520" y="695160"/>
            <a:ext cx="5905800" cy="4843440"/>
          </a:xfrm>
          <a:custGeom>
            <a:avLst/>
            <a:gdLst>
              <a:gd name="textAreaLeft" fmla="*/ 0 w 5905800"/>
              <a:gd name="textAreaRight" fmla="*/ 5906520 w 5905800"/>
              <a:gd name="textAreaTop" fmla="*/ 0 h 4843440"/>
              <a:gd name="textAreaBottom" fmla="*/ 4844160 h 4843440"/>
            </a:gdLst>
            <a:ahLst/>
            <a:cxnLst/>
            <a:rect l="textAreaLeft" t="textAreaTop" r="textAreaRight" b="textAreaBottom"/>
            <a:pathLst>
              <a:path w="5906515" h="4844288">
                <a:moveTo>
                  <a:pt x="0" y="4844288"/>
                </a:moveTo>
                <a:lnTo>
                  <a:pt x="60832" y="4838319"/>
                </a:lnTo>
                <a:lnTo>
                  <a:pt x="118617" y="4832350"/>
                </a:lnTo>
                <a:lnTo>
                  <a:pt x="179450" y="4829429"/>
                </a:lnTo>
                <a:lnTo>
                  <a:pt x="237235" y="4823459"/>
                </a:lnTo>
                <a:lnTo>
                  <a:pt x="295020" y="4817491"/>
                </a:lnTo>
                <a:lnTo>
                  <a:pt x="355853" y="4811521"/>
                </a:lnTo>
                <a:lnTo>
                  <a:pt x="413638" y="4808601"/>
                </a:lnTo>
                <a:lnTo>
                  <a:pt x="474471" y="4802632"/>
                </a:lnTo>
                <a:lnTo>
                  <a:pt x="532256" y="4796663"/>
                </a:lnTo>
                <a:lnTo>
                  <a:pt x="593089" y="4790694"/>
                </a:lnTo>
                <a:lnTo>
                  <a:pt x="650874" y="4784725"/>
                </a:lnTo>
                <a:lnTo>
                  <a:pt x="708659" y="4778756"/>
                </a:lnTo>
                <a:lnTo>
                  <a:pt x="769492" y="4772786"/>
                </a:lnTo>
                <a:lnTo>
                  <a:pt x="827277" y="4766818"/>
                </a:lnTo>
                <a:lnTo>
                  <a:pt x="888110" y="4760849"/>
                </a:lnTo>
                <a:lnTo>
                  <a:pt x="1003680" y="4748910"/>
                </a:lnTo>
                <a:lnTo>
                  <a:pt x="1064513" y="4739894"/>
                </a:lnTo>
                <a:lnTo>
                  <a:pt x="1122298" y="4733925"/>
                </a:lnTo>
                <a:lnTo>
                  <a:pt x="1183131" y="4727956"/>
                </a:lnTo>
                <a:lnTo>
                  <a:pt x="1240916" y="4718938"/>
                </a:lnTo>
                <a:lnTo>
                  <a:pt x="1301749" y="4712970"/>
                </a:lnTo>
                <a:lnTo>
                  <a:pt x="1359534" y="4703953"/>
                </a:lnTo>
                <a:lnTo>
                  <a:pt x="1417319" y="4697983"/>
                </a:lnTo>
                <a:lnTo>
                  <a:pt x="1478152" y="4688967"/>
                </a:lnTo>
                <a:lnTo>
                  <a:pt x="1535937" y="4682998"/>
                </a:lnTo>
                <a:lnTo>
                  <a:pt x="1596770" y="4673981"/>
                </a:lnTo>
                <a:lnTo>
                  <a:pt x="1654555" y="4664963"/>
                </a:lnTo>
                <a:lnTo>
                  <a:pt x="1712340" y="4655947"/>
                </a:lnTo>
                <a:lnTo>
                  <a:pt x="1773173" y="4646930"/>
                </a:lnTo>
                <a:lnTo>
                  <a:pt x="1830958" y="4637912"/>
                </a:lnTo>
                <a:lnTo>
                  <a:pt x="1891791" y="4628896"/>
                </a:lnTo>
                <a:lnTo>
                  <a:pt x="1949576" y="4619879"/>
                </a:lnTo>
                <a:lnTo>
                  <a:pt x="2010409" y="4610861"/>
                </a:lnTo>
                <a:lnTo>
                  <a:pt x="2068194" y="4598797"/>
                </a:lnTo>
                <a:lnTo>
                  <a:pt x="2125979" y="4589780"/>
                </a:lnTo>
                <a:lnTo>
                  <a:pt x="2186812" y="4577715"/>
                </a:lnTo>
                <a:lnTo>
                  <a:pt x="2244597" y="4568698"/>
                </a:lnTo>
                <a:lnTo>
                  <a:pt x="2305430" y="4556633"/>
                </a:lnTo>
                <a:lnTo>
                  <a:pt x="2363215" y="4544568"/>
                </a:lnTo>
                <a:lnTo>
                  <a:pt x="2424048" y="4532503"/>
                </a:lnTo>
                <a:lnTo>
                  <a:pt x="2481833" y="4520437"/>
                </a:lnTo>
                <a:lnTo>
                  <a:pt x="2539618" y="4508373"/>
                </a:lnTo>
                <a:lnTo>
                  <a:pt x="2600451" y="4496308"/>
                </a:lnTo>
                <a:lnTo>
                  <a:pt x="2658236" y="4481195"/>
                </a:lnTo>
                <a:lnTo>
                  <a:pt x="2719069" y="4469130"/>
                </a:lnTo>
                <a:lnTo>
                  <a:pt x="2776854" y="4454017"/>
                </a:lnTo>
                <a:lnTo>
                  <a:pt x="2834639" y="4438904"/>
                </a:lnTo>
                <a:lnTo>
                  <a:pt x="2895472" y="4423791"/>
                </a:lnTo>
                <a:lnTo>
                  <a:pt x="2953257" y="4408678"/>
                </a:lnTo>
                <a:lnTo>
                  <a:pt x="3014090" y="4390517"/>
                </a:lnTo>
                <a:lnTo>
                  <a:pt x="3071875" y="4375404"/>
                </a:lnTo>
                <a:lnTo>
                  <a:pt x="3132708" y="4357243"/>
                </a:lnTo>
                <a:lnTo>
                  <a:pt x="3190493" y="4339082"/>
                </a:lnTo>
                <a:lnTo>
                  <a:pt x="3248278" y="4320921"/>
                </a:lnTo>
                <a:lnTo>
                  <a:pt x="3309111" y="4302759"/>
                </a:lnTo>
                <a:lnTo>
                  <a:pt x="3366896" y="4281551"/>
                </a:lnTo>
                <a:lnTo>
                  <a:pt x="3427729" y="4260342"/>
                </a:lnTo>
                <a:lnTo>
                  <a:pt x="3543299" y="4217924"/>
                </a:lnTo>
                <a:lnTo>
                  <a:pt x="3604132" y="4193666"/>
                </a:lnTo>
                <a:lnTo>
                  <a:pt x="3661917" y="4169409"/>
                </a:lnTo>
                <a:lnTo>
                  <a:pt x="3722750" y="4145153"/>
                </a:lnTo>
                <a:lnTo>
                  <a:pt x="3780535" y="4117721"/>
                </a:lnTo>
                <a:lnTo>
                  <a:pt x="3841368" y="4090288"/>
                </a:lnTo>
                <a:lnTo>
                  <a:pt x="3899153" y="4062856"/>
                </a:lnTo>
                <a:lnTo>
                  <a:pt x="3956938" y="4032504"/>
                </a:lnTo>
                <a:lnTo>
                  <a:pt x="4017771" y="3999103"/>
                </a:lnTo>
                <a:lnTo>
                  <a:pt x="4075556" y="3968750"/>
                </a:lnTo>
                <a:lnTo>
                  <a:pt x="4136389" y="3932301"/>
                </a:lnTo>
                <a:lnTo>
                  <a:pt x="4194174" y="3895852"/>
                </a:lnTo>
                <a:lnTo>
                  <a:pt x="4255007" y="3859403"/>
                </a:lnTo>
                <a:lnTo>
                  <a:pt x="4312792" y="3819779"/>
                </a:lnTo>
                <a:lnTo>
                  <a:pt x="4370577" y="3777221"/>
                </a:lnTo>
                <a:lnTo>
                  <a:pt x="4431410" y="3731641"/>
                </a:lnTo>
                <a:lnTo>
                  <a:pt x="4489195" y="3686048"/>
                </a:lnTo>
                <a:lnTo>
                  <a:pt x="4550028" y="3634231"/>
                </a:lnTo>
                <a:lnTo>
                  <a:pt x="4607812" y="3582416"/>
                </a:lnTo>
                <a:lnTo>
                  <a:pt x="4665598" y="3524630"/>
                </a:lnTo>
                <a:lnTo>
                  <a:pt x="4726431" y="3466846"/>
                </a:lnTo>
                <a:lnTo>
                  <a:pt x="4784216" y="3402837"/>
                </a:lnTo>
                <a:lnTo>
                  <a:pt x="4845049" y="3332860"/>
                </a:lnTo>
                <a:lnTo>
                  <a:pt x="4902834" y="3259835"/>
                </a:lnTo>
                <a:lnTo>
                  <a:pt x="4963667" y="3180587"/>
                </a:lnTo>
                <a:lnTo>
                  <a:pt x="5021452" y="3098418"/>
                </a:lnTo>
                <a:lnTo>
                  <a:pt x="5079237" y="3007105"/>
                </a:lnTo>
                <a:lnTo>
                  <a:pt x="5140070" y="2906649"/>
                </a:lnTo>
                <a:lnTo>
                  <a:pt x="5197855" y="2799968"/>
                </a:lnTo>
                <a:lnTo>
                  <a:pt x="5258687" y="2681224"/>
                </a:lnTo>
                <a:lnTo>
                  <a:pt x="5316473" y="2553207"/>
                </a:lnTo>
                <a:lnTo>
                  <a:pt x="5374258" y="2413127"/>
                </a:lnTo>
                <a:lnTo>
                  <a:pt x="5435091" y="2257679"/>
                </a:lnTo>
                <a:lnTo>
                  <a:pt x="5492875" y="2084069"/>
                </a:lnTo>
                <a:lnTo>
                  <a:pt x="5553709" y="1892172"/>
                </a:lnTo>
                <a:lnTo>
                  <a:pt x="5611494" y="1672716"/>
                </a:lnTo>
                <a:lnTo>
                  <a:pt x="5672327" y="1425955"/>
                </a:lnTo>
                <a:lnTo>
                  <a:pt x="5730112" y="1145666"/>
                </a:lnTo>
                <a:lnTo>
                  <a:pt x="5787897" y="822705"/>
                </a:lnTo>
                <a:lnTo>
                  <a:pt x="5848730" y="444880"/>
                </a:lnTo>
                <a:lnTo>
                  <a:pt x="5906515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bk object 187"/>
          <p:cNvSpPr/>
          <p:nvPr/>
        </p:nvSpPr>
        <p:spPr>
          <a:xfrm>
            <a:off x="3711600" y="1895040"/>
            <a:ext cx="2564640" cy="659520"/>
          </a:xfrm>
          <a:custGeom>
            <a:avLst/>
            <a:gdLst>
              <a:gd name="textAreaLeft" fmla="*/ 0 w 2564640"/>
              <a:gd name="textAreaRight" fmla="*/ 2565360 w 2564640"/>
              <a:gd name="textAreaTop" fmla="*/ 0 h 659520"/>
              <a:gd name="textAreaBottom" fmla="*/ 660240 h 659520"/>
            </a:gdLst>
            <a:ahLst/>
            <a:cxnLst/>
            <a:rect l="textAreaLeft" t="textAreaTop" r="textAreaRight" b="textAreaBottom"/>
            <a:pathLst>
              <a:path w="2565400" h="660400">
                <a:moveTo>
                  <a:pt x="0" y="660400"/>
                </a:moveTo>
                <a:lnTo>
                  <a:pt x="2565400" y="660400"/>
                </a:lnTo>
                <a:lnTo>
                  <a:pt x="2565400" y="0"/>
                </a:lnTo>
                <a:lnTo>
                  <a:pt x="0" y="0"/>
                </a:lnTo>
                <a:lnTo>
                  <a:pt x="0" y="6604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ftr" idx="10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9" name="PlaceHolder 3"/>
          <p:cNvSpPr>
            <a:spLocks noGrp="1"/>
          </p:cNvSpPr>
          <p:nvPr>
            <p:ph type="dt" idx="11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sldNum" idx="12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61F9705-5889-4F40-9C66-F2C11886F55A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ftr" idx="13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2" name="PlaceHolder 2"/>
          <p:cNvSpPr>
            <a:spLocks noGrp="1"/>
          </p:cNvSpPr>
          <p:nvPr>
            <p:ph type="dt" idx="14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5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EBD7EAC-8FD1-4434-9C95-79BE485A3A12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1840" cy="129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502920" y="1818720"/>
            <a:ext cx="9051840" cy="450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9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1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3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5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7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9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1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2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3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4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5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6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9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1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9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1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3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5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1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3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4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5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6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7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8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1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3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8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efault 9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0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st-lang/api-guidelines/issues/29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rust-lang.github.io/api-guidelines/naming.html#c-feature" TargetMode="External"/><Relationship Id="rId4" Type="http://schemas.openxmlformats.org/officeDocument/2006/relationships/hyperlink" Target="https://github.com/rust-lang/api-guidelines/issues/101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Structs and Arrays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Where We Left Off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mbria"/>
              </a:rPr>
              <a:t>A variable is a </a:t>
            </a:r>
            <a:r>
              <a:rPr sz="2800" b="1" dirty="0">
                <a:latin typeface="Cambria"/>
              </a:rPr>
              <a:t>symbolic name</a:t>
            </a:r>
            <a:r>
              <a:rPr sz="2800" b="0" dirty="0">
                <a:latin typeface="Cambria"/>
              </a:rPr>
              <a:t> for an address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The </a:t>
            </a:r>
            <a:r>
              <a:rPr sz="2800" b="1" dirty="0">
                <a:latin typeface="Cambria"/>
              </a:rPr>
              <a:t>contents</a:t>
            </a:r>
            <a:r>
              <a:rPr sz="2800" b="0" dirty="0">
                <a:latin typeface="Cambria"/>
              </a:rPr>
              <a:t> of that address is the value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We used atomic types:</a:t>
            </a:r>
          </a:p>
          <a:p>
            <a:r>
              <a:rPr sz="2800" b="0" dirty="0">
                <a:latin typeface="Cambria"/>
              </a:rPr>
              <a:t>	i32, u8, f64, </a:t>
            </a:r>
            <a:r>
              <a:rPr sz="2800" b="0" dirty="0" err="1">
                <a:latin typeface="Cambria"/>
              </a:rPr>
              <a:t>bool</a:t>
            </a:r>
            <a:r>
              <a:rPr sz="2800" b="0" dirty="0">
                <a:latin typeface="Cambria"/>
              </a:rPr>
              <a:t>, char</a:t>
            </a:r>
          </a:p>
          <a:p>
            <a:r>
              <a:rPr sz="2800" b="0" dirty="0">
                <a:latin typeface="Cambria"/>
              </a:rPr>
              <a:t>	int32_t, uint8_t, double, </a:t>
            </a:r>
            <a:r>
              <a:rPr sz="2800" b="0" dirty="0" err="1">
                <a:latin typeface="Cambria"/>
              </a:rPr>
              <a:t>bool</a:t>
            </a:r>
            <a:r>
              <a:rPr sz="2800" b="0" dirty="0">
                <a:latin typeface="Cambria"/>
              </a:rPr>
              <a:t>, char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One name, one value, one location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Real Data Comes in Groups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mbria"/>
              </a:rPr>
              <a:t>A single pressure reading is really </a:t>
            </a:r>
            <a:r>
              <a:rPr sz="2800" b="1" dirty="0">
                <a:latin typeface="Cambria"/>
              </a:rPr>
              <a:t>three</a:t>
            </a:r>
            <a:r>
              <a:rPr sz="2800" b="0" dirty="0">
                <a:latin typeface="Cambria"/>
              </a:rPr>
              <a:t> numbers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	the raw ADC count from the sensor</a:t>
            </a:r>
          </a:p>
          <a:p>
            <a:r>
              <a:rPr sz="2800" b="0" dirty="0">
                <a:latin typeface="Cambria"/>
              </a:rPr>
              <a:t>	the pressure in psi we computed</a:t>
            </a:r>
          </a:p>
          <a:p>
            <a:r>
              <a:rPr sz="2800" b="0" dirty="0">
                <a:latin typeface="Cambria"/>
              </a:rPr>
              <a:t>	the time the sample was taken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They are three variables that belong together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The language should let </a:t>
            </a:r>
            <a:r>
              <a:rPr lang="en-US" sz="2800" b="0" dirty="0" smtClean="0">
                <a:latin typeface="Cambria"/>
              </a:rPr>
              <a:t>allow to group them efficiently</a:t>
            </a:r>
            <a:endParaRPr sz="2800" b="0" dirty="0">
              <a:latin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Loose Variables Do Not Scale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554480" algn="l"/>
              </a:tabLst>
            </a:pPr>
            <a:r>
              <a:rPr sz="2800" b="0">
                <a:latin typeface="Cambria"/>
              </a:rPr>
              <a:t>uint32_t	adc_counts_1 ;</a:t>
            </a:r>
          </a:p>
          <a:p>
            <a:pPr>
              <a:tabLst>
                <a:tab pos="1554480" algn="l"/>
              </a:tabLst>
            </a:pPr>
            <a:r>
              <a:rPr sz="2800" b="0">
                <a:latin typeface="Cambria"/>
              </a:rPr>
              <a:t>float	psi_1 ;</a:t>
            </a:r>
          </a:p>
          <a:p>
            <a:pPr>
              <a:tabLst>
                <a:tab pos="1554480" algn="l"/>
              </a:tabLst>
            </a:pPr>
            <a:r>
              <a:rPr sz="2800" b="0">
                <a:latin typeface="Cambria"/>
              </a:rPr>
              <a:t>uint64_t	timestamp_1 ;</a:t>
            </a:r>
          </a:p>
          <a:p>
            <a:pPr>
              <a:tabLst>
                <a:tab pos="155448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1554480" algn="l"/>
              </a:tabLst>
            </a:pPr>
            <a:r>
              <a:rPr sz="2800" b="0">
                <a:latin typeface="Cambria"/>
              </a:rPr>
              <a:t>uint32_t	adc_counts_2 ;</a:t>
            </a:r>
          </a:p>
          <a:p>
            <a:pPr>
              <a:tabLst>
                <a:tab pos="1554480" algn="l"/>
              </a:tabLst>
            </a:pPr>
            <a:r>
              <a:rPr sz="2800" b="0">
                <a:latin typeface="Cambria"/>
              </a:rPr>
              <a:t>float	psi_2 ;</a:t>
            </a:r>
          </a:p>
          <a:p>
            <a:pPr>
              <a:tabLst>
                <a:tab pos="1554480" algn="l"/>
              </a:tabLst>
            </a:pPr>
            <a:r>
              <a:rPr sz="2800" b="0">
                <a:latin typeface="Cambria"/>
              </a:rPr>
              <a:t>uint64_t	timestamp_2 ;</a:t>
            </a:r>
          </a:p>
          <a:p>
            <a:pPr>
              <a:tabLst>
                <a:tab pos="155448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1554480" algn="l"/>
              </a:tabLst>
            </a:pPr>
            <a:r>
              <a:rPr sz="2800" b="0">
                <a:latin typeface="Cambria"/>
              </a:rPr>
              <a:t>Nothing ties them together</a:t>
            </a:r>
          </a:p>
          <a:p>
            <a:pPr>
              <a:tabLst>
                <a:tab pos="1554480" algn="l"/>
              </a:tabLst>
            </a:pPr>
            <a:r>
              <a:rPr sz="2800" b="0">
                <a:latin typeface="Cambria"/>
              </a:rPr>
              <a:t>The compiler cannot help you keep them straight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Struct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mbria"/>
              </a:rPr>
              <a:t>A </a:t>
            </a:r>
            <a:r>
              <a:rPr sz="2800" b="1" dirty="0" err="1">
                <a:latin typeface="Cambria"/>
              </a:rPr>
              <a:t>struct</a:t>
            </a:r>
            <a:r>
              <a:rPr sz="2800" b="0" dirty="0">
                <a:latin typeface="Cambria"/>
              </a:rPr>
              <a:t> groups variables into a </a:t>
            </a:r>
            <a:r>
              <a:rPr sz="2800" b="1" dirty="0">
                <a:latin typeface="Cambria"/>
              </a:rPr>
              <a:t>new </a:t>
            </a:r>
            <a:r>
              <a:rPr sz="2800" b="1" dirty="0" smtClean="0">
                <a:latin typeface="Cambria"/>
              </a:rPr>
              <a:t>type</a:t>
            </a:r>
            <a:r>
              <a:rPr lang="en-US" sz="2800" b="1" dirty="0" smtClean="0">
                <a:latin typeface="Cambria"/>
              </a:rPr>
              <a:t>  &lt;T&gt;</a:t>
            </a:r>
            <a:endParaRPr sz="2800" b="1" dirty="0">
              <a:latin typeface="Cambria"/>
            </a:endParaRP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The grouped variables are called </a:t>
            </a:r>
            <a:r>
              <a:rPr sz="2800" b="1" dirty="0">
                <a:latin typeface="Cambria"/>
              </a:rPr>
              <a:t>members</a:t>
            </a:r>
            <a:r>
              <a:rPr sz="2800" b="0" dirty="0">
                <a:latin typeface="Cambria"/>
              </a:rPr>
              <a:t> or </a:t>
            </a:r>
            <a:r>
              <a:rPr sz="2800" b="1" dirty="0">
                <a:latin typeface="Cambria"/>
              </a:rPr>
              <a:t>fields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They are stored in one </a:t>
            </a:r>
            <a:r>
              <a:rPr sz="2800" b="1" dirty="0">
                <a:latin typeface="Cambria"/>
              </a:rPr>
              <a:t>consecutive block</a:t>
            </a:r>
            <a:r>
              <a:rPr sz="2800" b="0" dirty="0">
                <a:latin typeface="Cambria"/>
              </a:rPr>
              <a:t> of memory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One address locates the whole group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Same idea in C, C++, and </a:t>
            </a:r>
            <a:r>
              <a:rPr sz="2800" b="0" dirty="0" smtClean="0">
                <a:latin typeface="Cambria"/>
              </a:rPr>
              <a:t>Rust</a:t>
            </a:r>
            <a:endParaRPr lang="en-US" sz="2800" dirty="0">
              <a:latin typeface="Cambria"/>
            </a:endParaRPr>
          </a:p>
          <a:p>
            <a:endParaRPr lang="en-US" sz="2800" b="0" dirty="0" smtClean="0">
              <a:latin typeface="Cambria"/>
            </a:endParaRPr>
          </a:p>
          <a:p>
            <a:r>
              <a:rPr lang="en-US" sz="2800" dirty="0" smtClean="0">
                <a:latin typeface="Cambria"/>
              </a:rPr>
              <a:t>Also known as a record</a:t>
            </a:r>
            <a:endParaRPr sz="2800" b="0" dirty="0">
              <a:latin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Defining a struct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286000" algn="l"/>
              </a:tabLst>
            </a:pPr>
            <a:r>
              <a:rPr sz="2800" b="1" dirty="0" err="1">
                <a:latin typeface="Cambria"/>
              </a:rPr>
              <a:t>struct</a:t>
            </a:r>
            <a:r>
              <a:rPr sz="2800" b="0" dirty="0">
                <a:latin typeface="Cambria"/>
              </a:rPr>
              <a:t> sample {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800" b="0" dirty="0">
                <a:latin typeface="Cambria"/>
              </a:rPr>
              <a:t>	uint32_t	</a:t>
            </a:r>
            <a:r>
              <a:rPr sz="2800" b="0" dirty="0" err="1">
                <a:latin typeface="Cambria"/>
              </a:rPr>
              <a:t>adc_counts</a:t>
            </a:r>
            <a:r>
              <a:rPr sz="2800" b="0" dirty="0">
                <a:latin typeface="Cambria"/>
              </a:rPr>
              <a:t>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800" b="0" dirty="0">
                <a:latin typeface="Cambria"/>
              </a:rPr>
              <a:t>	float	psi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800" b="0" dirty="0">
                <a:latin typeface="Cambria"/>
              </a:rPr>
              <a:t>	uint64_t	</a:t>
            </a:r>
            <a:r>
              <a:rPr sz="2800" b="0" dirty="0" err="1">
                <a:latin typeface="Cambria"/>
              </a:rPr>
              <a:t>timestamp_ms</a:t>
            </a:r>
            <a:r>
              <a:rPr sz="2800" b="0" dirty="0">
                <a:latin typeface="Cambria"/>
              </a:rPr>
              <a:t>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800" b="0" dirty="0">
                <a:latin typeface="Cambria"/>
              </a:rPr>
              <a:t>}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8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800" b="0" dirty="0">
                <a:latin typeface="Cambria"/>
              </a:rPr>
              <a:t>This defines a </a:t>
            </a:r>
            <a:r>
              <a:rPr sz="2800" b="1" dirty="0">
                <a:latin typeface="Cambria"/>
              </a:rPr>
              <a:t>type</a:t>
            </a:r>
            <a:r>
              <a:rPr sz="2800" b="0" dirty="0">
                <a:latin typeface="Cambria"/>
              </a:rPr>
              <a:t>, not a variable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8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800" b="0" dirty="0">
                <a:latin typeface="Cambria"/>
              </a:rPr>
              <a:t>No memory is allocated yet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Declaring the variable in C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latin typeface="Cambria"/>
              </a:rPr>
              <a:t>struct</a:t>
            </a:r>
            <a:r>
              <a:rPr sz="2800" b="0" dirty="0">
                <a:latin typeface="Cambria"/>
              </a:rPr>
              <a:t> sample </a:t>
            </a:r>
            <a:r>
              <a:rPr sz="2800" b="0" dirty="0" err="1">
                <a:latin typeface="Cambria"/>
              </a:rPr>
              <a:t>my_sample</a:t>
            </a:r>
            <a:r>
              <a:rPr sz="2800" b="0" dirty="0">
                <a:latin typeface="Cambria"/>
              </a:rPr>
              <a:t> ;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The keyword </a:t>
            </a:r>
            <a:r>
              <a:rPr sz="2800" b="0" dirty="0" err="1">
                <a:latin typeface="Cambria"/>
              </a:rPr>
              <a:t>struct</a:t>
            </a:r>
            <a:r>
              <a:rPr sz="2800" b="0" dirty="0">
                <a:latin typeface="Cambria"/>
              </a:rPr>
              <a:t> is </a:t>
            </a:r>
            <a:r>
              <a:rPr sz="2800" b="1" dirty="0">
                <a:latin typeface="Cambria"/>
              </a:rPr>
              <a:t>required</a:t>
            </a:r>
            <a:r>
              <a:rPr sz="2800" b="0" dirty="0">
                <a:latin typeface="Cambria"/>
              </a:rPr>
              <a:t> in C</a:t>
            </a:r>
          </a:p>
          <a:p>
            <a:r>
              <a:rPr sz="2800" dirty="0">
                <a:latin typeface="Cambria"/>
              </a:rPr>
              <a:t> </a:t>
            </a:r>
            <a:endParaRPr lang="en-US" sz="2800" dirty="0" smtClean="0">
              <a:latin typeface="Cambria"/>
            </a:endParaRPr>
          </a:p>
          <a:p>
            <a:r>
              <a:rPr lang="en-US" sz="2800" dirty="0" smtClean="0">
                <a:latin typeface="Cambria"/>
              </a:rPr>
              <a:t>This is an instance of type </a:t>
            </a:r>
            <a:r>
              <a:rPr lang="en-US" sz="2800" b="1" dirty="0" err="1" smtClean="0">
                <a:latin typeface="Cambria"/>
              </a:rPr>
              <a:t>struct</a:t>
            </a:r>
            <a:r>
              <a:rPr lang="en-US" sz="2800" dirty="0" smtClean="0">
                <a:latin typeface="Cambria"/>
              </a:rPr>
              <a:t> sample</a:t>
            </a:r>
          </a:p>
          <a:p>
            <a:endParaRPr lang="en-US" sz="2800" dirty="0">
              <a:latin typeface="Cambria"/>
            </a:endParaRPr>
          </a:p>
          <a:p>
            <a:r>
              <a:rPr lang="en-US" sz="2800" dirty="0" smtClean="0">
                <a:latin typeface="Cambria"/>
              </a:rPr>
              <a:t>&lt;T&gt; is &lt;</a:t>
            </a:r>
            <a:r>
              <a:rPr lang="en-US" sz="2800" dirty="0" err="1" smtClean="0">
                <a:latin typeface="Cambria"/>
              </a:rPr>
              <a:t>struct</a:t>
            </a:r>
            <a:r>
              <a:rPr lang="en-US" sz="2800" dirty="0" smtClean="0">
                <a:latin typeface="Cambria"/>
              </a:rPr>
              <a:t> sample&gt;</a:t>
            </a:r>
          </a:p>
          <a:p>
            <a:endParaRPr lang="en-US" sz="2800" dirty="0">
              <a:latin typeface="Cambria"/>
            </a:endParaRPr>
          </a:p>
          <a:p>
            <a:r>
              <a:rPr lang="en-US" sz="2800" dirty="0" err="1">
                <a:latin typeface="Cambria"/>
              </a:rPr>
              <a:t>s</a:t>
            </a:r>
            <a:r>
              <a:rPr lang="en-US" sz="2800" dirty="0" err="1" smtClean="0">
                <a:latin typeface="Cambria"/>
              </a:rPr>
              <a:t>truct</a:t>
            </a:r>
            <a:r>
              <a:rPr lang="en-US" sz="2800" dirty="0" smtClean="0">
                <a:latin typeface="Cambria"/>
              </a:rPr>
              <a:t> sample sample2 ;</a:t>
            </a:r>
          </a:p>
          <a:p>
            <a:endParaRPr lang="en-US" sz="2800" dirty="0">
              <a:latin typeface="Cambria"/>
            </a:endParaRPr>
          </a:p>
          <a:p>
            <a:r>
              <a:rPr lang="en-US" sz="2800" dirty="0">
                <a:latin typeface="Cambria"/>
              </a:rPr>
              <a:t>s</a:t>
            </a:r>
            <a:r>
              <a:rPr lang="en-US" sz="2800" dirty="0" smtClean="0">
                <a:latin typeface="Cambria"/>
              </a:rPr>
              <a:t>ample2 is a second instance of the same new type</a:t>
            </a:r>
            <a:endParaRPr sz="2800" dirty="0">
              <a:latin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err="1" smtClean="0">
                <a:solidFill>
                  <a:schemeClr val="lt1"/>
                </a:solidFill>
                <a:latin typeface="Arial"/>
              </a:rPr>
              <a:t>Typedefs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286000" algn="l"/>
              </a:tabLst>
            </a:pPr>
            <a:r>
              <a:rPr lang="en-US" sz="2800" b="1" dirty="0" err="1">
                <a:latin typeface="Cambria"/>
              </a:rPr>
              <a:t>struct</a:t>
            </a:r>
            <a:r>
              <a:rPr lang="en-US" sz="2800" dirty="0">
                <a:latin typeface="Cambria"/>
              </a:rPr>
              <a:t> sample {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lang="en-US" sz="2800" dirty="0">
                <a:latin typeface="Cambria"/>
              </a:rPr>
              <a:t>	uint32_t	</a:t>
            </a:r>
            <a:r>
              <a:rPr lang="en-US" sz="2800" dirty="0" err="1">
                <a:latin typeface="Cambria"/>
              </a:rPr>
              <a:t>adc_counts</a:t>
            </a:r>
            <a:r>
              <a:rPr lang="en-US" sz="2800" dirty="0">
                <a:latin typeface="Cambria"/>
              </a:rPr>
              <a:t>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lang="en-US" sz="2800" dirty="0">
                <a:latin typeface="Cambria"/>
              </a:rPr>
              <a:t>	float	psi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lang="en-US" sz="2800" dirty="0">
                <a:latin typeface="Cambria"/>
              </a:rPr>
              <a:t>	uint64_t	</a:t>
            </a:r>
            <a:r>
              <a:rPr lang="en-US" sz="2800" dirty="0" err="1">
                <a:latin typeface="Cambria"/>
              </a:rPr>
              <a:t>timestamp_ms</a:t>
            </a:r>
            <a:r>
              <a:rPr lang="en-US" sz="2800" dirty="0">
                <a:latin typeface="Cambria"/>
              </a:rPr>
              <a:t>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lang="en-US" sz="2800" dirty="0">
                <a:latin typeface="Cambria"/>
              </a:rPr>
              <a:t>}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lang="en-US" sz="28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800" b="0" dirty="0" err="1" smtClean="0">
                <a:latin typeface="Cambria"/>
              </a:rPr>
              <a:t>typedef</a:t>
            </a:r>
            <a:r>
              <a:rPr sz="2800" b="0" dirty="0" smtClean="0">
                <a:latin typeface="Cambria"/>
              </a:rPr>
              <a:t> </a:t>
            </a:r>
            <a:r>
              <a:rPr sz="2800" b="0" dirty="0" err="1">
                <a:latin typeface="Cambria"/>
              </a:rPr>
              <a:t>struct</a:t>
            </a:r>
            <a:r>
              <a:rPr sz="2800" b="0" dirty="0">
                <a:latin typeface="Cambria"/>
              </a:rPr>
              <a:t> sample </a:t>
            </a:r>
            <a:r>
              <a:rPr sz="2800" b="0" dirty="0" err="1">
                <a:latin typeface="Cambria"/>
              </a:rPr>
              <a:t>sample_t</a:t>
            </a:r>
            <a:r>
              <a:rPr sz="2800" b="0" dirty="0">
                <a:latin typeface="Cambria"/>
              </a:rPr>
              <a:t> </a:t>
            </a:r>
            <a:r>
              <a:rPr sz="2800" b="0" dirty="0" smtClean="0">
                <a:latin typeface="Cambria"/>
              </a:rPr>
              <a:t>;</a:t>
            </a:r>
            <a:endParaRPr lang="en-US" sz="2800" b="0" dirty="0" smtClean="0">
              <a:latin typeface="Cambria"/>
            </a:endParaRPr>
          </a:p>
          <a:p>
            <a:pPr>
              <a:tabLst>
                <a:tab pos="548640" algn="l"/>
                <a:tab pos="2286000" algn="l"/>
              </a:tabLst>
            </a:pPr>
            <a:r>
              <a:rPr sz="2800" b="0" dirty="0" err="1" smtClean="0">
                <a:latin typeface="Cambria"/>
              </a:rPr>
              <a:t>sample_t</a:t>
            </a:r>
            <a:r>
              <a:rPr sz="2800" b="0" dirty="0" smtClean="0">
                <a:latin typeface="Cambria"/>
              </a:rPr>
              <a:t> </a:t>
            </a:r>
            <a:r>
              <a:rPr sz="2800" b="0" dirty="0" err="1">
                <a:latin typeface="Cambria"/>
              </a:rPr>
              <a:t>my_sample</a:t>
            </a:r>
            <a:r>
              <a:rPr sz="2800" b="0" dirty="0">
                <a:latin typeface="Cambria"/>
              </a:rPr>
              <a:t> ;</a:t>
            </a:r>
          </a:p>
          <a:p>
            <a:r>
              <a:rPr lang="en-US" sz="2800" dirty="0" err="1">
                <a:latin typeface="Cambria"/>
              </a:rPr>
              <a:t>s</a:t>
            </a:r>
            <a:r>
              <a:rPr lang="en-US" sz="2800" dirty="0" err="1" smtClean="0">
                <a:latin typeface="Cambria"/>
              </a:rPr>
              <a:t>ample_t</a:t>
            </a:r>
            <a:r>
              <a:rPr lang="en-US" sz="2800" dirty="0" smtClean="0">
                <a:latin typeface="Cambria"/>
              </a:rPr>
              <a:t> sample2 ;</a:t>
            </a:r>
            <a:r>
              <a:rPr sz="2800" dirty="0" smtClean="0">
                <a:latin typeface="Cambria"/>
              </a:rPr>
              <a:t> </a:t>
            </a:r>
            <a:endParaRPr lang="en-US" sz="2800" dirty="0" smtClean="0">
              <a:latin typeface="Cambria"/>
            </a:endParaRPr>
          </a:p>
          <a:p>
            <a:endParaRPr sz="2800" dirty="0">
              <a:latin typeface="Cambria"/>
            </a:endParaRPr>
          </a:p>
          <a:p>
            <a:r>
              <a:rPr sz="2800" b="0" dirty="0">
                <a:latin typeface="Cambria"/>
              </a:rPr>
              <a:t>Now memory exists: </a:t>
            </a:r>
            <a:r>
              <a:rPr sz="2800" b="0" dirty="0" err="1">
                <a:latin typeface="Cambria"/>
              </a:rPr>
              <a:t>sizeof</a:t>
            </a:r>
            <a:r>
              <a:rPr sz="2800" b="0" dirty="0">
                <a:latin typeface="Cambria"/>
              </a:rPr>
              <a:t>(</a:t>
            </a:r>
            <a:r>
              <a:rPr sz="2800" b="0" dirty="0" err="1">
                <a:latin typeface="Cambria"/>
              </a:rPr>
              <a:t>struct</a:t>
            </a:r>
            <a:r>
              <a:rPr sz="2800" b="0" dirty="0">
                <a:latin typeface="Cambria"/>
              </a:rPr>
              <a:t> sample) bytes</a:t>
            </a:r>
          </a:p>
        </p:txBody>
      </p:sp>
    </p:spTree>
    <p:extLst>
      <p:ext uri="{BB962C8B-B14F-4D97-AF65-F5344CB8AC3E}">
        <p14:creationId xmlns:p14="http://schemas.microsoft.com/office/powerpoint/2010/main" val="268020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Better </a:t>
            </a:r>
            <a:r>
              <a:rPr lang="en-US" sz="4000" b="1" dirty="0" err="1" smtClean="0">
                <a:solidFill>
                  <a:schemeClr val="lt1"/>
                </a:solidFill>
                <a:latin typeface="Arial"/>
              </a:rPr>
              <a:t>typedef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Cambria"/>
              </a:rPr>
              <a:t>Even better: </a:t>
            </a:r>
            <a:r>
              <a:rPr sz="2800" b="0" dirty="0" smtClean="0">
                <a:latin typeface="Cambria"/>
              </a:rPr>
              <a:t>  </a:t>
            </a:r>
            <a:r>
              <a:rPr lang="en-US" sz="2800" dirty="0">
                <a:latin typeface="Cambria"/>
              </a:rPr>
              <a:t>u</a:t>
            </a:r>
            <a:r>
              <a:rPr sz="2800" b="0" dirty="0" smtClean="0">
                <a:latin typeface="Cambria"/>
              </a:rPr>
              <a:t>se </a:t>
            </a:r>
            <a:r>
              <a:rPr sz="2800" b="1" dirty="0" err="1" smtClean="0">
                <a:latin typeface="Cambria"/>
              </a:rPr>
              <a:t>typedef</a:t>
            </a:r>
            <a:r>
              <a:rPr lang="en-US" sz="2800" b="0" dirty="0" smtClean="0">
                <a:latin typeface="Cambria"/>
              </a:rPr>
              <a:t> with the </a:t>
            </a:r>
            <a:r>
              <a:rPr lang="en-US" sz="2800" b="1" dirty="0" err="1" smtClean="0">
                <a:latin typeface="Cambria"/>
              </a:rPr>
              <a:t>struct</a:t>
            </a:r>
            <a:r>
              <a:rPr lang="en-US" sz="2800" b="0" dirty="0" smtClean="0">
                <a:latin typeface="Cambria"/>
              </a:rPr>
              <a:t> definition</a:t>
            </a:r>
            <a:r>
              <a:rPr sz="2800" b="0" dirty="0" smtClean="0">
                <a:latin typeface="Cambria"/>
              </a:rPr>
              <a:t>:</a:t>
            </a:r>
            <a:endParaRPr sz="2800" b="0" dirty="0">
              <a:latin typeface="Cambria"/>
            </a:endParaRP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lang="en-US" sz="2800" b="1" dirty="0" err="1" smtClean="0">
                <a:latin typeface="Cambria"/>
              </a:rPr>
              <a:t>typedef</a:t>
            </a:r>
            <a:r>
              <a:rPr lang="en-US" sz="2800" b="1" dirty="0" smtClean="0">
                <a:latin typeface="Cambria"/>
              </a:rPr>
              <a:t> </a:t>
            </a:r>
            <a:r>
              <a:rPr lang="en-US" sz="2800" b="1" dirty="0" err="1" smtClean="0">
                <a:latin typeface="Cambria"/>
              </a:rPr>
              <a:t>struct</a:t>
            </a:r>
            <a:r>
              <a:rPr lang="en-US" sz="2800" dirty="0" smtClean="0">
                <a:latin typeface="Cambria"/>
              </a:rPr>
              <a:t> </a:t>
            </a:r>
            <a:r>
              <a:rPr lang="en-US" sz="2800" dirty="0">
                <a:latin typeface="Cambria"/>
              </a:rPr>
              <a:t>sample {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lang="en-US" sz="2800" dirty="0">
                <a:latin typeface="Cambria"/>
              </a:rPr>
              <a:t>	uint32_t	</a:t>
            </a:r>
            <a:r>
              <a:rPr lang="en-US" sz="2800" dirty="0" err="1">
                <a:latin typeface="Cambria"/>
              </a:rPr>
              <a:t>adc_counts</a:t>
            </a:r>
            <a:r>
              <a:rPr lang="en-US" sz="2800" dirty="0">
                <a:latin typeface="Cambria"/>
              </a:rPr>
              <a:t>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lang="en-US" sz="2800" dirty="0">
                <a:latin typeface="Cambria"/>
              </a:rPr>
              <a:t>	float	psi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lang="en-US" sz="2800" dirty="0">
                <a:latin typeface="Cambria"/>
              </a:rPr>
              <a:t>	uint64_t	</a:t>
            </a:r>
            <a:r>
              <a:rPr lang="en-US" sz="2800" dirty="0" err="1">
                <a:latin typeface="Cambria"/>
              </a:rPr>
              <a:t>timestamp_ms</a:t>
            </a:r>
            <a:r>
              <a:rPr lang="en-US" sz="2800" dirty="0">
                <a:latin typeface="Cambria"/>
              </a:rPr>
              <a:t>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lang="en-US" sz="2800" dirty="0">
                <a:latin typeface="Cambria"/>
              </a:rPr>
              <a:t>} </a:t>
            </a:r>
            <a:r>
              <a:rPr lang="en-US" sz="2800" dirty="0" err="1" smtClean="0">
                <a:latin typeface="Cambria"/>
              </a:rPr>
              <a:t>sample_t</a:t>
            </a:r>
            <a:r>
              <a:rPr lang="en-US" sz="2800" dirty="0" smtClean="0">
                <a:latin typeface="Cambria"/>
              </a:rPr>
              <a:t> ;</a:t>
            </a:r>
            <a:endParaRPr lang="en-US" sz="2800" dirty="0">
              <a:latin typeface="Cambria"/>
            </a:endParaRPr>
          </a:p>
          <a:p>
            <a:pPr>
              <a:tabLst>
                <a:tab pos="548640" algn="l"/>
                <a:tab pos="2286000" algn="l"/>
              </a:tabLst>
            </a:pPr>
            <a:r>
              <a:rPr lang="en-US" sz="2800" dirty="0">
                <a:latin typeface="Cambria"/>
              </a:rPr>
              <a:t> </a:t>
            </a:r>
          </a:p>
          <a:p>
            <a:r>
              <a:rPr lang="en-US" sz="2800" b="0" dirty="0" smtClean="0">
                <a:latin typeface="Cambria"/>
              </a:rPr>
              <a:t>Variable definitions again are:</a:t>
            </a:r>
            <a:endParaRPr lang="en-US" sz="2800" dirty="0" smtClean="0">
              <a:latin typeface="Cambria"/>
            </a:endParaRPr>
          </a:p>
          <a:p>
            <a:r>
              <a:rPr sz="2800" b="0" dirty="0" err="1" smtClean="0">
                <a:latin typeface="Cambria"/>
              </a:rPr>
              <a:t>sample_t</a:t>
            </a:r>
            <a:r>
              <a:rPr sz="2800" b="0" dirty="0" smtClean="0">
                <a:latin typeface="Cambria"/>
              </a:rPr>
              <a:t> </a:t>
            </a:r>
            <a:r>
              <a:rPr sz="2800" b="0" dirty="0" err="1">
                <a:latin typeface="Cambria"/>
              </a:rPr>
              <a:t>my_sample</a:t>
            </a:r>
            <a:r>
              <a:rPr sz="2800" b="0" dirty="0">
                <a:latin typeface="Cambria"/>
              </a:rPr>
              <a:t> </a:t>
            </a:r>
            <a:r>
              <a:rPr sz="2800" b="0" dirty="0" smtClean="0">
                <a:latin typeface="Cambria"/>
              </a:rPr>
              <a:t>;</a:t>
            </a:r>
            <a:endParaRPr lang="en-US" sz="2800" b="0" dirty="0" smtClean="0">
              <a:latin typeface="Cambria"/>
            </a:endParaRPr>
          </a:p>
          <a:p>
            <a:r>
              <a:rPr lang="en-US" sz="2800" dirty="0" err="1">
                <a:latin typeface="Cambria"/>
              </a:rPr>
              <a:t>s</a:t>
            </a:r>
            <a:r>
              <a:rPr lang="en-US" sz="2800" dirty="0" err="1" smtClean="0">
                <a:latin typeface="Cambria"/>
              </a:rPr>
              <a:t>ample_t</a:t>
            </a:r>
            <a:r>
              <a:rPr lang="en-US" sz="2800" dirty="0" smtClean="0">
                <a:latin typeface="Cambria"/>
              </a:rPr>
              <a:t> sample2 ;</a:t>
            </a:r>
            <a:r>
              <a:rPr sz="2800" dirty="0" smtClean="0">
                <a:latin typeface="Cambria"/>
              </a:rPr>
              <a:t> </a:t>
            </a:r>
            <a:endParaRPr sz="2800" dirty="0">
              <a:latin typeface="Cambria"/>
            </a:endParaRPr>
          </a:p>
          <a:p>
            <a:r>
              <a:rPr sz="2800" b="0" dirty="0">
                <a:latin typeface="Cambria"/>
              </a:rPr>
              <a:t>Now memory exists: </a:t>
            </a:r>
            <a:r>
              <a:rPr sz="2800" b="0" dirty="0" err="1" smtClean="0">
                <a:latin typeface="Cambria"/>
              </a:rPr>
              <a:t>sizeof</a:t>
            </a:r>
            <a:r>
              <a:rPr sz="2800" b="0" dirty="0" smtClean="0">
                <a:latin typeface="Cambria"/>
              </a:rPr>
              <a:t>(s</a:t>
            </a:r>
            <a:r>
              <a:rPr lang="en-US" sz="2800" b="0" dirty="0" smtClean="0">
                <a:latin typeface="Cambria"/>
              </a:rPr>
              <a:t>ample</a:t>
            </a:r>
            <a:r>
              <a:rPr sz="2800" b="0" dirty="0" smtClean="0">
                <a:latin typeface="Cambria"/>
              </a:rPr>
              <a:t>) </a:t>
            </a:r>
            <a:r>
              <a:rPr sz="2800" b="0" dirty="0">
                <a:latin typeface="Cambria"/>
              </a:rPr>
              <a:t>bytes</a:t>
            </a:r>
          </a:p>
        </p:txBody>
      </p:sp>
    </p:spTree>
    <p:extLst>
      <p:ext uri="{BB962C8B-B14F-4D97-AF65-F5344CB8AC3E}">
        <p14:creationId xmlns:p14="http://schemas.microsoft.com/office/powerpoint/2010/main" val="331854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Defining a struct in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0" y="1949942"/>
            <a:ext cx="897471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mbria"/>
              </a:rPr>
              <a:t>Same syntax as C:</a:t>
            </a:r>
          </a:p>
          <a:p>
            <a:r>
              <a:rPr sz="2800" dirty="0">
                <a:latin typeface="Cambria"/>
              </a:rPr>
              <a:t> </a:t>
            </a:r>
            <a:r>
              <a:rPr lang="en-US" sz="2800" dirty="0" smtClean="0">
                <a:latin typeface="Cambria"/>
              </a:rPr>
              <a:t>	</a:t>
            </a:r>
            <a:r>
              <a:rPr sz="2800" b="0" dirty="0" err="1" smtClean="0">
                <a:latin typeface="Cambria"/>
              </a:rPr>
              <a:t>struct</a:t>
            </a:r>
            <a:r>
              <a:rPr sz="2800" b="0" dirty="0" smtClean="0">
                <a:latin typeface="Cambria"/>
              </a:rPr>
              <a:t> </a:t>
            </a:r>
            <a:r>
              <a:rPr sz="2800" b="0" dirty="0">
                <a:latin typeface="Cambria"/>
              </a:rPr>
              <a:t>sample { ... } ;</a:t>
            </a:r>
          </a:p>
          <a:p>
            <a:r>
              <a:rPr sz="2800" b="0" dirty="0">
                <a:latin typeface="Cambria"/>
              </a:rPr>
              <a:t>	</a:t>
            </a:r>
            <a:r>
              <a:rPr lang="en-US" sz="2800" b="0" strike="sngStrike" dirty="0" err="1" smtClean="0">
                <a:latin typeface="Cambria"/>
              </a:rPr>
              <a:t>struct</a:t>
            </a:r>
            <a:r>
              <a:rPr lang="en-US" sz="2800" b="0" dirty="0" smtClean="0">
                <a:latin typeface="Cambria"/>
              </a:rPr>
              <a:t> </a:t>
            </a:r>
            <a:r>
              <a:rPr sz="2800" b="0" dirty="0" smtClean="0">
                <a:latin typeface="Cambria"/>
              </a:rPr>
              <a:t>sample </a:t>
            </a:r>
            <a:r>
              <a:rPr sz="2800" b="0" dirty="0" err="1">
                <a:latin typeface="Cambria"/>
              </a:rPr>
              <a:t>my_sample</a:t>
            </a:r>
            <a:r>
              <a:rPr sz="2800" b="0" dirty="0">
                <a:latin typeface="Cambria"/>
              </a:rPr>
              <a:t> ;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The </a:t>
            </a:r>
            <a:r>
              <a:rPr sz="2800" b="0" dirty="0" err="1">
                <a:latin typeface="Cambria"/>
              </a:rPr>
              <a:t>struct</a:t>
            </a:r>
            <a:r>
              <a:rPr sz="2800" b="0" dirty="0">
                <a:latin typeface="Cambria"/>
              </a:rPr>
              <a:t> keyword is </a:t>
            </a:r>
            <a:r>
              <a:rPr sz="2800" b="1" dirty="0">
                <a:latin typeface="Cambria"/>
              </a:rPr>
              <a:t>not required</a:t>
            </a:r>
            <a:r>
              <a:rPr sz="2800" b="0" dirty="0">
                <a:latin typeface="Cambria"/>
              </a:rPr>
              <a:t> when declaring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C++ also has </a:t>
            </a:r>
            <a:r>
              <a:rPr sz="2800" b="1" dirty="0">
                <a:latin typeface="Cambria"/>
              </a:rPr>
              <a:t>class</a:t>
            </a:r>
          </a:p>
          <a:p>
            <a:r>
              <a:rPr sz="2800" b="0" dirty="0">
                <a:latin typeface="Cambria"/>
              </a:rPr>
              <a:t>	</a:t>
            </a:r>
            <a:r>
              <a:rPr sz="2800" b="0" dirty="0" err="1">
                <a:latin typeface="Cambria"/>
              </a:rPr>
              <a:t>struct</a:t>
            </a:r>
            <a:r>
              <a:rPr sz="2800" b="0" dirty="0">
                <a:latin typeface="Cambria"/>
              </a:rPr>
              <a:t> members are </a:t>
            </a:r>
            <a:r>
              <a:rPr sz="2800" b="1" dirty="0">
                <a:latin typeface="Cambria"/>
              </a:rPr>
              <a:t>public</a:t>
            </a:r>
            <a:r>
              <a:rPr sz="2800" b="0" dirty="0">
                <a:latin typeface="Cambria"/>
              </a:rPr>
              <a:t> by default</a:t>
            </a:r>
          </a:p>
          <a:p>
            <a:r>
              <a:rPr sz="2800" b="0" dirty="0">
                <a:latin typeface="Cambria"/>
              </a:rPr>
              <a:t>	class members are </a:t>
            </a:r>
            <a:r>
              <a:rPr sz="2800" b="1" dirty="0">
                <a:latin typeface="Cambria"/>
              </a:rPr>
              <a:t>private</a:t>
            </a:r>
            <a:r>
              <a:rPr sz="2800" b="0" dirty="0">
                <a:latin typeface="Cambria"/>
              </a:rPr>
              <a:t> by </a:t>
            </a:r>
            <a:r>
              <a:rPr sz="2800" b="0" dirty="0" smtClean="0">
                <a:latin typeface="Cambria"/>
              </a:rPr>
              <a:t>default</a:t>
            </a:r>
            <a:endParaRPr lang="en-US" sz="2800" b="0" dirty="0" smtClean="0">
              <a:latin typeface="Cambria"/>
            </a:endParaRPr>
          </a:p>
          <a:p>
            <a:r>
              <a:rPr lang="en-US" sz="2800" dirty="0" smtClean="0">
                <a:latin typeface="Cambria"/>
              </a:rPr>
              <a:t>Otherwise functionally equivalent</a:t>
            </a:r>
            <a:endParaRPr sz="2800" b="0" dirty="0">
              <a:latin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Defining a struct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latin typeface="Cambria"/>
              </a:rPr>
              <a:t>struct</a:t>
            </a:r>
            <a:r>
              <a:rPr sz="2800" b="0" dirty="0">
                <a:latin typeface="Cambria"/>
              </a:rPr>
              <a:t> Sample {</a:t>
            </a:r>
          </a:p>
          <a:p>
            <a:r>
              <a:rPr sz="2800" b="0" dirty="0">
                <a:latin typeface="Cambria"/>
              </a:rPr>
              <a:t>	</a:t>
            </a:r>
            <a:r>
              <a:rPr sz="2800" b="0" dirty="0" err="1">
                <a:latin typeface="Cambria"/>
              </a:rPr>
              <a:t>adc_counts</a:t>
            </a:r>
            <a:r>
              <a:rPr sz="2800" b="0" dirty="0">
                <a:latin typeface="Cambria"/>
              </a:rPr>
              <a:t> : u32,</a:t>
            </a:r>
          </a:p>
          <a:p>
            <a:r>
              <a:rPr sz="2800" b="0" dirty="0">
                <a:latin typeface="Cambria"/>
              </a:rPr>
              <a:t>	psi : f32,</a:t>
            </a:r>
          </a:p>
          <a:p>
            <a:r>
              <a:rPr sz="2800" b="0" dirty="0">
                <a:latin typeface="Cambria"/>
              </a:rPr>
              <a:t>	</a:t>
            </a:r>
            <a:r>
              <a:rPr sz="2800" b="0" dirty="0" err="1">
                <a:latin typeface="Cambria"/>
              </a:rPr>
              <a:t>timestamp_ms</a:t>
            </a:r>
            <a:r>
              <a:rPr sz="2800" b="0" dirty="0">
                <a:latin typeface="Cambria"/>
              </a:rPr>
              <a:t> : u64,</a:t>
            </a:r>
          </a:p>
          <a:p>
            <a:r>
              <a:rPr sz="2800" b="0" dirty="0">
                <a:latin typeface="Cambria"/>
              </a:rPr>
              <a:t>}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 smtClean="0">
                <a:latin typeface="Cambria"/>
              </a:rPr>
              <a:t>Fields </a:t>
            </a:r>
            <a:r>
              <a:rPr sz="2800" b="0" dirty="0">
                <a:latin typeface="Cambria"/>
              </a:rPr>
              <a:t>are separated by </a:t>
            </a:r>
            <a:r>
              <a:rPr sz="2800" b="1" dirty="0">
                <a:latin typeface="Cambria"/>
              </a:rPr>
              <a:t>commas</a:t>
            </a:r>
          </a:p>
          <a:p>
            <a:r>
              <a:rPr sz="2800" b="0" dirty="0">
                <a:latin typeface="Cambria"/>
              </a:rPr>
              <a:t>No semicolon after the closing </a:t>
            </a:r>
            <a:r>
              <a:rPr sz="2800" b="0" dirty="0" smtClean="0">
                <a:latin typeface="Cambria"/>
              </a:rPr>
              <a:t>brace</a:t>
            </a:r>
            <a:endParaRPr lang="en-US" sz="2800" b="0" dirty="0" smtClean="0">
              <a:latin typeface="Cambria"/>
            </a:endParaRPr>
          </a:p>
          <a:p>
            <a:r>
              <a:rPr lang="en-US" sz="2800" dirty="0">
                <a:latin typeface="Cambria"/>
              </a:rPr>
              <a:t>Type names are </a:t>
            </a:r>
            <a:r>
              <a:rPr lang="en-US" sz="2800" b="1" dirty="0" err="1">
                <a:latin typeface="Cambria"/>
              </a:rPr>
              <a:t>CamelCase</a:t>
            </a:r>
            <a:r>
              <a:rPr lang="en-US" sz="2800" dirty="0">
                <a:latin typeface="Cambria"/>
              </a:rPr>
              <a:t>, fields are </a:t>
            </a:r>
            <a:r>
              <a:rPr lang="en-US" sz="2800" b="1" dirty="0" err="1">
                <a:latin typeface="Cambria"/>
              </a:rPr>
              <a:t>snake_case</a:t>
            </a:r>
            <a:endParaRPr lang="en-US" sz="2800" b="1" dirty="0">
              <a:latin typeface="Cambria"/>
            </a:endParaRPr>
          </a:p>
          <a:p>
            <a:endParaRPr sz="2800" b="0" dirty="0">
              <a:latin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Programming Case Styles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251099" y="1893987"/>
            <a:ext cx="955548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Cambria"/>
              </a:rPr>
              <a:t>Case Style	Format /Rule		Example		Common Use</a:t>
            </a:r>
          </a:p>
          <a:p>
            <a:r>
              <a:rPr lang="en-US" sz="1600" b="1" dirty="0" smtClean="0">
                <a:latin typeface="Cambria"/>
              </a:rPr>
              <a:t>Camel </a:t>
            </a:r>
            <a:r>
              <a:rPr lang="en-US" sz="1600" b="1" dirty="0">
                <a:latin typeface="Cambria"/>
              </a:rPr>
              <a:t>Case </a:t>
            </a:r>
            <a:r>
              <a:rPr lang="en-US" sz="1600" dirty="0" smtClean="0">
                <a:latin typeface="Cambria"/>
              </a:rPr>
              <a:t>	</a:t>
            </a:r>
            <a:r>
              <a:rPr lang="en-US" sz="1600" dirty="0">
                <a:latin typeface="Cambria"/>
              </a:rPr>
              <a:t>First letter lowercase, next </a:t>
            </a:r>
            <a:r>
              <a:rPr lang="en-US" sz="1600" dirty="0" smtClean="0">
                <a:latin typeface="Cambria"/>
              </a:rPr>
              <a:t>	</a:t>
            </a:r>
            <a:r>
              <a:rPr lang="en-US" sz="1600" b="1" dirty="0">
                <a:latin typeface="Cambria"/>
              </a:rPr>
              <a:t> </a:t>
            </a:r>
            <a:r>
              <a:rPr lang="en-US" sz="1600" b="1" dirty="0" err="1">
                <a:latin typeface="Cambria"/>
              </a:rPr>
              <a:t>userId</a:t>
            </a:r>
            <a:r>
              <a:rPr lang="en-US" sz="1600" b="1" dirty="0">
                <a:latin typeface="Cambria"/>
              </a:rPr>
              <a:t> </a:t>
            </a:r>
            <a:r>
              <a:rPr lang="en-US" sz="1600" dirty="0" smtClean="0">
                <a:latin typeface="Cambria"/>
              </a:rPr>
              <a:t>			Variables </a:t>
            </a:r>
            <a:r>
              <a:rPr lang="en-US" sz="1600" dirty="0">
                <a:latin typeface="Cambria"/>
              </a:rPr>
              <a:t>and functions</a:t>
            </a:r>
            <a:endParaRPr lang="en-US" sz="1600" dirty="0" smtClean="0">
              <a:latin typeface="Cambria"/>
            </a:endParaRPr>
          </a:p>
          <a:p>
            <a:r>
              <a:rPr lang="en-US" sz="1600" dirty="0" smtClean="0">
                <a:latin typeface="Cambria"/>
              </a:rPr>
              <a:t>(</a:t>
            </a:r>
            <a:r>
              <a:rPr lang="en-US" sz="1600" dirty="0" err="1">
                <a:latin typeface="Cambria"/>
              </a:rPr>
              <a:t>camelCase</a:t>
            </a:r>
            <a:r>
              <a:rPr lang="en-US" sz="1600" dirty="0" smtClean="0">
                <a:latin typeface="Cambria"/>
              </a:rPr>
              <a:t>)	 words </a:t>
            </a:r>
            <a:r>
              <a:rPr lang="en-US" sz="1600" dirty="0">
                <a:latin typeface="Cambria"/>
              </a:rPr>
              <a:t>capitalized, no </a:t>
            </a:r>
            <a:r>
              <a:rPr lang="en-US" sz="1600" dirty="0" smtClean="0">
                <a:latin typeface="Cambria"/>
              </a:rPr>
              <a:t>spaces 				in </a:t>
            </a:r>
            <a:r>
              <a:rPr lang="en-US" sz="1600" dirty="0">
                <a:latin typeface="Cambria"/>
              </a:rPr>
              <a:t>JavaScript, Java, C</a:t>
            </a:r>
            <a:r>
              <a:rPr lang="en-US" sz="1600" dirty="0" smtClean="0">
                <a:latin typeface="Cambria"/>
              </a:rPr>
              <a:t>#</a:t>
            </a:r>
          </a:p>
          <a:p>
            <a:endParaRPr lang="en-US" sz="1600" b="1" dirty="0">
              <a:latin typeface="Cambria"/>
            </a:endParaRPr>
          </a:p>
          <a:p>
            <a:r>
              <a:rPr lang="en-US" sz="1600" b="1" dirty="0" smtClean="0">
                <a:latin typeface="Cambria"/>
              </a:rPr>
              <a:t>Upper Camel </a:t>
            </a:r>
            <a:r>
              <a:rPr lang="en-US" sz="1600" b="1" dirty="0">
                <a:latin typeface="Cambria"/>
              </a:rPr>
              <a:t>Case </a:t>
            </a:r>
            <a:r>
              <a:rPr lang="en-US" sz="1600" dirty="0">
                <a:latin typeface="Cambria"/>
              </a:rPr>
              <a:t>	</a:t>
            </a:r>
            <a:r>
              <a:rPr lang="en-US" sz="1600" dirty="0" smtClean="0">
                <a:latin typeface="Cambria"/>
              </a:rPr>
              <a:t>Every word capitalized</a:t>
            </a:r>
            <a:r>
              <a:rPr lang="en-US" sz="1600" dirty="0">
                <a:latin typeface="Cambria"/>
              </a:rPr>
              <a:t>	 </a:t>
            </a:r>
            <a:r>
              <a:rPr lang="en-US" sz="1600" b="1" dirty="0" err="1" smtClean="0">
                <a:latin typeface="Cambria"/>
              </a:rPr>
              <a:t>UserId</a:t>
            </a:r>
            <a:r>
              <a:rPr lang="en-US" sz="1600" dirty="0" smtClean="0">
                <a:latin typeface="Cambria"/>
              </a:rPr>
              <a:t> </a:t>
            </a:r>
            <a:r>
              <a:rPr lang="en-US" sz="1600" dirty="0">
                <a:latin typeface="Cambria"/>
              </a:rPr>
              <a:t>			</a:t>
            </a:r>
            <a:r>
              <a:rPr lang="en-US" sz="1600" dirty="0" smtClean="0">
                <a:latin typeface="Cambria"/>
              </a:rPr>
              <a:t>Types in Rust</a:t>
            </a:r>
            <a:endParaRPr lang="en-US" sz="1600" dirty="0">
              <a:latin typeface="Cambria"/>
            </a:endParaRPr>
          </a:p>
          <a:p>
            <a:r>
              <a:rPr lang="en-US" sz="1600" dirty="0" smtClean="0">
                <a:latin typeface="Cambria"/>
              </a:rPr>
              <a:t>(</a:t>
            </a:r>
            <a:r>
              <a:rPr lang="en-US" sz="1600" dirty="0" err="1" smtClean="0">
                <a:latin typeface="Cambria"/>
              </a:rPr>
              <a:t>UpperCamelCase</a:t>
            </a:r>
            <a:r>
              <a:rPr lang="en-US" sz="1600" dirty="0">
                <a:latin typeface="Cambria"/>
              </a:rPr>
              <a:t>)	 </a:t>
            </a:r>
            <a:r>
              <a:rPr lang="en-US" sz="1600" dirty="0" smtClean="0">
                <a:latin typeface="Cambria"/>
              </a:rPr>
              <a:t>no </a:t>
            </a:r>
            <a:r>
              <a:rPr lang="en-US" sz="1600" dirty="0">
                <a:latin typeface="Cambria"/>
              </a:rPr>
              <a:t>spaces 				</a:t>
            </a:r>
          </a:p>
          <a:p>
            <a:endParaRPr lang="en-US" sz="1600" dirty="0" smtClean="0">
              <a:latin typeface="Cambria"/>
            </a:endParaRPr>
          </a:p>
          <a:p>
            <a:r>
              <a:rPr lang="en-US" sz="1600" b="1" dirty="0" smtClean="0">
                <a:latin typeface="Cambria"/>
              </a:rPr>
              <a:t>Pascal Case</a:t>
            </a:r>
            <a:r>
              <a:rPr lang="en-US" sz="1600" dirty="0" smtClean="0">
                <a:latin typeface="Cambria"/>
              </a:rPr>
              <a:t>	</a:t>
            </a:r>
            <a:r>
              <a:rPr lang="en-US" sz="1600" dirty="0">
                <a:latin typeface="Cambria"/>
              </a:rPr>
              <a:t> Every word starts with a </a:t>
            </a:r>
            <a:r>
              <a:rPr lang="en-US" sz="1600" dirty="0" smtClean="0">
                <a:latin typeface="Cambria"/>
              </a:rPr>
              <a:t>	</a:t>
            </a:r>
            <a:r>
              <a:rPr lang="en-US" sz="1600" dirty="0">
                <a:latin typeface="Cambria"/>
              </a:rPr>
              <a:t> </a:t>
            </a:r>
            <a:r>
              <a:rPr lang="en-US" sz="1600" b="1" dirty="0" err="1" smtClean="0">
                <a:latin typeface="Cambria"/>
              </a:rPr>
              <a:t>UserId</a:t>
            </a:r>
            <a:r>
              <a:rPr lang="en-US" sz="1600" dirty="0" smtClean="0">
                <a:latin typeface="Cambria"/>
              </a:rPr>
              <a:t>			Classes and </a:t>
            </a:r>
            <a:r>
              <a:rPr lang="en-US" sz="1600" dirty="0">
                <a:latin typeface="Cambria"/>
              </a:rPr>
              <a:t>types in C</a:t>
            </a:r>
            <a:r>
              <a:rPr lang="en-US" sz="1600" dirty="0" smtClean="0">
                <a:latin typeface="Cambria"/>
              </a:rPr>
              <a:t>#,</a:t>
            </a:r>
          </a:p>
          <a:p>
            <a:r>
              <a:rPr lang="en-US" sz="1600" dirty="0" smtClean="0">
                <a:latin typeface="Cambria"/>
              </a:rPr>
              <a:t>(</a:t>
            </a:r>
            <a:r>
              <a:rPr lang="en-US" sz="1600" dirty="0" err="1">
                <a:latin typeface="Cambria"/>
              </a:rPr>
              <a:t>PascalCase</a:t>
            </a:r>
            <a:r>
              <a:rPr lang="en-US" sz="1600" dirty="0" smtClean="0">
                <a:latin typeface="Cambria"/>
              </a:rPr>
              <a:t>)</a:t>
            </a:r>
            <a:r>
              <a:rPr lang="en-US" sz="1600" dirty="0">
                <a:latin typeface="Cambria"/>
              </a:rPr>
              <a:t> </a:t>
            </a:r>
            <a:r>
              <a:rPr lang="en-US" sz="1600" dirty="0" smtClean="0">
                <a:latin typeface="Cambria"/>
              </a:rPr>
              <a:t>	capital </a:t>
            </a:r>
            <a:r>
              <a:rPr lang="en-US" sz="1600" dirty="0">
                <a:latin typeface="Cambria"/>
              </a:rPr>
              <a:t>letter, no </a:t>
            </a:r>
            <a:r>
              <a:rPr lang="en-US" sz="1600" dirty="0" smtClean="0">
                <a:latin typeface="Cambria"/>
              </a:rPr>
              <a:t>spaces				Java</a:t>
            </a:r>
            <a:r>
              <a:rPr lang="en-US" sz="1600" dirty="0">
                <a:latin typeface="Cambria"/>
              </a:rPr>
              <a:t>, </a:t>
            </a:r>
            <a:r>
              <a:rPr lang="en-US" sz="1600" dirty="0" err="1">
                <a:latin typeface="Cambria"/>
              </a:rPr>
              <a:t>TypeScript</a:t>
            </a:r>
            <a:endParaRPr lang="en-US" sz="1600" dirty="0">
              <a:latin typeface="Cambria"/>
            </a:endParaRPr>
          </a:p>
          <a:p>
            <a:endParaRPr lang="en-US" sz="1600" dirty="0" smtClean="0">
              <a:latin typeface="Cambria"/>
            </a:endParaRPr>
          </a:p>
          <a:p>
            <a:r>
              <a:rPr lang="en-US" sz="1600" b="1" dirty="0" smtClean="0">
                <a:latin typeface="Cambria"/>
              </a:rPr>
              <a:t>Snake Case</a:t>
            </a:r>
            <a:r>
              <a:rPr lang="en-US" sz="1600" dirty="0" smtClean="0">
                <a:latin typeface="Cambria"/>
              </a:rPr>
              <a:t>	All </a:t>
            </a:r>
            <a:r>
              <a:rPr lang="en-US" sz="1600" dirty="0">
                <a:latin typeface="Cambria"/>
              </a:rPr>
              <a:t>lowercase, words </a:t>
            </a:r>
            <a:r>
              <a:rPr lang="en-US" sz="1600" dirty="0" smtClean="0">
                <a:latin typeface="Cambria"/>
              </a:rPr>
              <a:t>		</a:t>
            </a:r>
            <a:r>
              <a:rPr lang="en-US" sz="1600" dirty="0">
                <a:latin typeface="Cambria"/>
              </a:rPr>
              <a:t> </a:t>
            </a:r>
            <a:r>
              <a:rPr lang="en-US" sz="1600" b="1" dirty="0" err="1" smtClean="0">
                <a:latin typeface="Cambria"/>
              </a:rPr>
              <a:t>user_id</a:t>
            </a:r>
            <a:r>
              <a:rPr lang="en-US" sz="1600" dirty="0" smtClean="0">
                <a:latin typeface="Cambria"/>
              </a:rPr>
              <a:t>			Variables </a:t>
            </a:r>
            <a:r>
              <a:rPr lang="en-US" sz="1600" dirty="0">
                <a:latin typeface="Cambria"/>
              </a:rPr>
              <a:t>and functions </a:t>
            </a:r>
            <a:r>
              <a:rPr lang="en-US" sz="1600" dirty="0" smtClean="0">
                <a:latin typeface="Cambria"/>
              </a:rPr>
              <a:t>(</a:t>
            </a:r>
            <a:r>
              <a:rPr lang="en-US" sz="1600" dirty="0" err="1" smtClean="0">
                <a:latin typeface="Cambria"/>
              </a:rPr>
              <a:t>snake_case</a:t>
            </a:r>
            <a:r>
              <a:rPr lang="en-US" sz="1600" dirty="0" smtClean="0">
                <a:latin typeface="Cambria"/>
              </a:rPr>
              <a:t>) 	separated </a:t>
            </a:r>
            <a:r>
              <a:rPr lang="en-US" sz="1600" dirty="0">
                <a:latin typeface="Cambria"/>
              </a:rPr>
              <a:t>by underscores </a:t>
            </a:r>
            <a:r>
              <a:rPr lang="en-US" sz="1600" dirty="0" smtClean="0">
                <a:latin typeface="Cambria"/>
              </a:rPr>
              <a:t>(_)				</a:t>
            </a:r>
            <a:r>
              <a:rPr lang="en-US" sz="1600" dirty="0">
                <a:latin typeface="Cambria"/>
              </a:rPr>
              <a:t>in Python, Ruby</a:t>
            </a:r>
          </a:p>
          <a:p>
            <a:endParaRPr lang="en-US" sz="1600" dirty="0" smtClean="0">
              <a:latin typeface="Cambria"/>
            </a:endParaRPr>
          </a:p>
          <a:p>
            <a:r>
              <a:rPr lang="en-US" sz="1600" b="1" dirty="0" smtClean="0">
                <a:latin typeface="Cambria"/>
              </a:rPr>
              <a:t>Screaming </a:t>
            </a:r>
            <a:r>
              <a:rPr lang="en-US" sz="1600" b="1" dirty="0">
                <a:latin typeface="Cambria"/>
              </a:rPr>
              <a:t>Snake </a:t>
            </a:r>
            <a:r>
              <a:rPr lang="en-US" sz="1600" b="1" dirty="0" smtClean="0">
                <a:latin typeface="Cambria"/>
              </a:rPr>
              <a:t>	</a:t>
            </a:r>
            <a:r>
              <a:rPr lang="en-US" sz="1600" dirty="0" smtClean="0">
                <a:latin typeface="Cambria"/>
              </a:rPr>
              <a:t>All </a:t>
            </a:r>
            <a:r>
              <a:rPr lang="en-US" sz="1600" dirty="0">
                <a:latin typeface="Cambria"/>
              </a:rPr>
              <a:t>uppercase, </a:t>
            </a:r>
            <a:r>
              <a:rPr lang="en-US" sz="1600" dirty="0" smtClean="0">
                <a:latin typeface="Cambria"/>
              </a:rPr>
              <a:t>words		</a:t>
            </a:r>
            <a:r>
              <a:rPr lang="en-US" sz="1600" b="1" dirty="0" smtClean="0">
                <a:latin typeface="Cambria"/>
              </a:rPr>
              <a:t>USER_ID</a:t>
            </a:r>
            <a:r>
              <a:rPr lang="en-US" sz="1600" dirty="0" smtClean="0">
                <a:latin typeface="Cambria"/>
              </a:rPr>
              <a:t>			Constants </a:t>
            </a:r>
            <a:r>
              <a:rPr lang="en-US" sz="1600" dirty="0">
                <a:latin typeface="Cambria"/>
              </a:rPr>
              <a:t>in Python, </a:t>
            </a:r>
            <a:endParaRPr lang="en-US" sz="1600" dirty="0" smtClean="0">
              <a:latin typeface="Cambria"/>
            </a:endParaRPr>
          </a:p>
          <a:p>
            <a:r>
              <a:rPr lang="en-US" sz="1600" dirty="0" smtClean="0">
                <a:latin typeface="Cambria"/>
              </a:rPr>
              <a:t>(</a:t>
            </a:r>
            <a:r>
              <a:rPr lang="en-US" sz="1600" dirty="0">
                <a:latin typeface="Cambria"/>
              </a:rPr>
              <a:t>SCREAMING_SNAKE</a:t>
            </a:r>
            <a:r>
              <a:rPr lang="en-US" sz="1600" dirty="0" smtClean="0">
                <a:latin typeface="Cambria"/>
              </a:rPr>
              <a:t>) separated </a:t>
            </a:r>
            <a:r>
              <a:rPr lang="en-US" sz="1600" dirty="0">
                <a:latin typeface="Cambria"/>
              </a:rPr>
              <a:t>by underscores </a:t>
            </a:r>
            <a:r>
              <a:rPr lang="en-US" sz="1600" dirty="0" smtClean="0">
                <a:latin typeface="Cambria"/>
              </a:rPr>
              <a:t>(_)</a:t>
            </a:r>
            <a:r>
              <a:rPr lang="en-US" sz="1600" dirty="0">
                <a:latin typeface="Cambria"/>
              </a:rPr>
              <a:t>	</a:t>
            </a:r>
            <a:r>
              <a:rPr lang="en-US" sz="1600" dirty="0" smtClean="0">
                <a:latin typeface="Cambria"/>
              </a:rPr>
              <a:t>			Java, macros C, C++</a:t>
            </a:r>
            <a:r>
              <a:rPr lang="en-US" sz="1600" dirty="0">
                <a:latin typeface="Cambria"/>
              </a:rPr>
              <a:t>	</a:t>
            </a:r>
            <a:endParaRPr lang="en-US" sz="1600" b="1" dirty="0">
              <a:latin typeface="Cambria"/>
            </a:endParaRPr>
          </a:p>
          <a:p>
            <a:r>
              <a:rPr lang="en-US" sz="1600" dirty="0" smtClean="0">
                <a:latin typeface="Cambria"/>
              </a:rPr>
              <a:t>	</a:t>
            </a:r>
          </a:p>
          <a:p>
            <a:r>
              <a:rPr lang="en-US" sz="1600" b="1" dirty="0" smtClean="0">
                <a:latin typeface="Cambria"/>
              </a:rPr>
              <a:t>Kebab Case	</a:t>
            </a:r>
            <a:r>
              <a:rPr lang="en-US" sz="1600" dirty="0" smtClean="0">
                <a:latin typeface="Cambria"/>
              </a:rPr>
              <a:t>All </a:t>
            </a:r>
            <a:r>
              <a:rPr lang="en-US" sz="1600" dirty="0">
                <a:latin typeface="Cambria"/>
              </a:rPr>
              <a:t>lowercase, </a:t>
            </a:r>
            <a:r>
              <a:rPr lang="en-US" sz="1600" dirty="0" smtClean="0">
                <a:latin typeface="Cambria"/>
              </a:rPr>
              <a:t>words		</a:t>
            </a:r>
            <a:r>
              <a:rPr lang="en-US" sz="1600" b="1" dirty="0" smtClean="0">
                <a:latin typeface="Cambria"/>
              </a:rPr>
              <a:t>user-id</a:t>
            </a:r>
            <a:r>
              <a:rPr lang="en-US" sz="1600" dirty="0" smtClean="0">
                <a:latin typeface="Cambria"/>
              </a:rPr>
              <a:t> 			URLs</a:t>
            </a:r>
            <a:r>
              <a:rPr lang="en-US" sz="1600" dirty="0">
                <a:latin typeface="Cambria"/>
              </a:rPr>
              <a:t>, CSS classes</a:t>
            </a:r>
            <a:r>
              <a:rPr lang="en-US" sz="1600" dirty="0" smtClean="0">
                <a:latin typeface="Cambria"/>
              </a:rPr>
              <a:t>,</a:t>
            </a:r>
            <a:endParaRPr lang="en-US" sz="1600" b="1" dirty="0" smtClean="0">
              <a:latin typeface="Cambria"/>
            </a:endParaRPr>
          </a:p>
          <a:p>
            <a:r>
              <a:rPr lang="en-US" sz="1600" dirty="0" smtClean="0">
                <a:latin typeface="Cambria"/>
              </a:rPr>
              <a:t>(</a:t>
            </a:r>
            <a:r>
              <a:rPr lang="en-US" sz="1600" dirty="0">
                <a:latin typeface="Cambria"/>
              </a:rPr>
              <a:t>kebab-case</a:t>
            </a:r>
            <a:r>
              <a:rPr lang="en-US" sz="1600" dirty="0" smtClean="0">
                <a:latin typeface="Cambria"/>
              </a:rPr>
              <a:t>) 	separated </a:t>
            </a:r>
            <a:r>
              <a:rPr lang="en-US" sz="1600" dirty="0">
                <a:latin typeface="Cambria"/>
              </a:rPr>
              <a:t>by hyphens </a:t>
            </a:r>
            <a:r>
              <a:rPr lang="en-US" sz="1600" dirty="0" smtClean="0">
                <a:latin typeface="Cambria"/>
              </a:rPr>
              <a:t>(-)				HTML elements</a:t>
            </a:r>
            <a:endParaRPr sz="2400" dirty="0">
              <a:latin typeface="Cambria"/>
            </a:endParaRPr>
          </a:p>
          <a:p>
            <a:endParaRPr sz="2800" b="0" dirty="0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05930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Defining a struct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610186" y="1909748"/>
            <a:ext cx="813533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latin typeface="Cambria"/>
              </a:rPr>
              <a:t>struct</a:t>
            </a:r>
            <a:r>
              <a:rPr b="0" dirty="0">
                <a:latin typeface="Cambria"/>
              </a:rPr>
              <a:t> Sample {</a:t>
            </a:r>
          </a:p>
          <a:p>
            <a:r>
              <a:rPr b="0" dirty="0">
                <a:latin typeface="Cambria"/>
              </a:rPr>
              <a:t>	</a:t>
            </a:r>
            <a:r>
              <a:rPr b="0" dirty="0" err="1">
                <a:latin typeface="Cambria"/>
              </a:rPr>
              <a:t>adc_counts</a:t>
            </a:r>
            <a:r>
              <a:rPr b="0" dirty="0">
                <a:latin typeface="Cambria"/>
              </a:rPr>
              <a:t> : u32,</a:t>
            </a:r>
          </a:p>
          <a:p>
            <a:r>
              <a:rPr b="0" dirty="0">
                <a:latin typeface="Cambria"/>
              </a:rPr>
              <a:t>	psi : f32,</a:t>
            </a:r>
          </a:p>
          <a:p>
            <a:r>
              <a:rPr b="0" dirty="0">
                <a:latin typeface="Cambria"/>
              </a:rPr>
              <a:t>	</a:t>
            </a:r>
            <a:r>
              <a:rPr b="0" dirty="0" err="1">
                <a:latin typeface="Cambria"/>
              </a:rPr>
              <a:t>timestamp_ms</a:t>
            </a:r>
            <a:r>
              <a:rPr b="0" dirty="0">
                <a:latin typeface="Cambria"/>
              </a:rPr>
              <a:t> : u64,</a:t>
            </a:r>
          </a:p>
          <a:p>
            <a:r>
              <a:rPr b="0" dirty="0" smtClean="0">
                <a:latin typeface="Cambria"/>
              </a:rPr>
              <a:t>}</a:t>
            </a:r>
            <a:endParaRPr dirty="0">
              <a:latin typeface="Cambria"/>
            </a:endParaRPr>
          </a:p>
          <a:p>
            <a:r>
              <a:rPr b="0" dirty="0" smtClean="0">
                <a:latin typeface="Cambria"/>
              </a:rPr>
              <a:t>Fields </a:t>
            </a:r>
            <a:r>
              <a:rPr b="0" dirty="0">
                <a:latin typeface="Cambria"/>
              </a:rPr>
              <a:t>are separated by </a:t>
            </a:r>
            <a:r>
              <a:rPr b="1" dirty="0">
                <a:latin typeface="Cambria"/>
              </a:rPr>
              <a:t>commas</a:t>
            </a:r>
          </a:p>
          <a:p>
            <a:r>
              <a:rPr b="0" dirty="0">
                <a:latin typeface="Cambria"/>
              </a:rPr>
              <a:t>No semicolon after the closing </a:t>
            </a:r>
            <a:r>
              <a:rPr b="0" dirty="0" smtClean="0">
                <a:latin typeface="Cambria"/>
              </a:rPr>
              <a:t>brace</a:t>
            </a:r>
            <a:endParaRPr lang="en-US" b="0" dirty="0" smtClean="0">
              <a:latin typeface="Cambria"/>
            </a:endParaRPr>
          </a:p>
          <a:p>
            <a:r>
              <a:rPr lang="en-US" dirty="0">
                <a:latin typeface="Cambria"/>
              </a:rPr>
              <a:t>Type names are </a:t>
            </a:r>
            <a:r>
              <a:rPr lang="en-US" b="1" dirty="0" err="1">
                <a:latin typeface="Cambria"/>
              </a:rPr>
              <a:t>CamelCase</a:t>
            </a:r>
            <a:r>
              <a:rPr lang="en-US" dirty="0">
                <a:latin typeface="Cambria"/>
              </a:rPr>
              <a:t>, fields are </a:t>
            </a:r>
            <a:r>
              <a:rPr lang="en-US" b="1" dirty="0" err="1" smtClean="0">
                <a:latin typeface="Cambria"/>
              </a:rPr>
              <a:t>snake_case</a:t>
            </a:r>
            <a:endParaRPr lang="en-US" b="1" dirty="0" smtClean="0">
              <a:latin typeface="Cambria"/>
            </a:endParaRPr>
          </a:p>
          <a:p>
            <a:endParaRPr lang="en-US" sz="2800" b="1" dirty="0">
              <a:latin typeface="Cambria"/>
            </a:endParaRPr>
          </a:p>
          <a:p>
            <a:r>
              <a:rPr lang="en-US" sz="2800" dirty="0" smtClean="0">
                <a:latin typeface="Cambria"/>
              </a:rPr>
              <a:t>You can turn if off for a specific </a:t>
            </a:r>
            <a:r>
              <a:rPr lang="en-US" sz="2800" dirty="0" err="1" smtClean="0">
                <a:latin typeface="Cambria"/>
              </a:rPr>
              <a:t>struct</a:t>
            </a:r>
            <a:r>
              <a:rPr lang="en-US" sz="2800" dirty="0" smtClean="0">
                <a:latin typeface="Cambria"/>
              </a:rPr>
              <a:t> by using </a:t>
            </a:r>
            <a:r>
              <a:rPr lang="en-US" sz="2800" b="1" dirty="0" smtClean="0">
                <a:latin typeface="Cambria"/>
              </a:rPr>
              <a:t>#[allow(</a:t>
            </a:r>
            <a:r>
              <a:rPr lang="en-US" sz="2800" b="1" dirty="0" err="1" smtClean="0">
                <a:latin typeface="Cambria"/>
              </a:rPr>
              <a:t>non_camel_case_types</a:t>
            </a:r>
            <a:r>
              <a:rPr lang="en-US" sz="2800" b="1" dirty="0" smtClean="0">
                <a:latin typeface="Cambria"/>
              </a:rPr>
              <a:t>)] </a:t>
            </a:r>
          </a:p>
          <a:p>
            <a:endParaRPr lang="en-US" sz="2800" b="1" dirty="0" smtClean="0">
              <a:latin typeface="Cambria"/>
            </a:endParaRPr>
          </a:p>
          <a:p>
            <a:r>
              <a:rPr lang="en-US" sz="2800" dirty="0" smtClean="0">
                <a:latin typeface="Cambria"/>
              </a:rPr>
              <a:t>Not recommended to turn off the standard</a:t>
            </a:r>
          </a:p>
          <a:p>
            <a:r>
              <a:rPr lang="en-US" sz="2800" dirty="0">
                <a:latin typeface="Cambria"/>
              </a:rPr>
              <a:t>M</a:t>
            </a:r>
            <a:r>
              <a:rPr lang="en-US" sz="2800" dirty="0" smtClean="0">
                <a:latin typeface="Cambria"/>
              </a:rPr>
              <a:t>akes it easier to read others code</a:t>
            </a:r>
            <a:endParaRPr lang="en-US" sz="2800" dirty="0">
              <a:latin typeface="Cambria"/>
            </a:endParaRPr>
          </a:p>
          <a:p>
            <a:endParaRPr sz="2800" b="0" dirty="0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44956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Rust Programming Guidelines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047386"/>
              </p:ext>
            </p:extLst>
          </p:nvPr>
        </p:nvGraphicFramePr>
        <p:xfrm>
          <a:off x="1680972" y="2609288"/>
          <a:ext cx="7754430" cy="4932360"/>
        </p:xfrm>
        <a:graphic>
          <a:graphicData uri="http://schemas.openxmlformats.org/drawingml/2006/table">
            <a:tbl>
              <a:tblPr/>
              <a:tblGrid>
                <a:gridCol w="3877215"/>
                <a:gridCol w="3877215"/>
              </a:tblGrid>
              <a:tr h="266614">
                <a:tc>
                  <a:txBody>
                    <a:bodyPr/>
                    <a:lstStyle/>
                    <a:p>
                      <a:r>
                        <a:rPr lang="en-US" sz="1300" dirty="0"/>
                        <a:t>Item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Convention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6614">
                <a:tc>
                  <a:txBody>
                    <a:bodyPr/>
                    <a:lstStyle/>
                    <a:p>
                      <a:r>
                        <a:rPr lang="en-US" sz="1300"/>
                        <a:t>Crates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3"/>
                        </a:rPr>
                        <a:t>unclear</a:t>
                      </a:r>
                      <a:endParaRPr lang="en-US" sz="1300"/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6614">
                <a:tc>
                  <a:txBody>
                    <a:bodyPr/>
                    <a:lstStyle/>
                    <a:p>
                      <a:r>
                        <a:rPr lang="en-US" sz="1300" dirty="0"/>
                        <a:t>Modules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snake_case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6614">
                <a:tc>
                  <a:txBody>
                    <a:bodyPr/>
                    <a:lstStyle/>
                    <a:p>
                      <a:r>
                        <a:rPr lang="en-US" sz="1300"/>
                        <a:t>Types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UpperCamelCase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6614">
                <a:tc>
                  <a:txBody>
                    <a:bodyPr/>
                    <a:lstStyle/>
                    <a:p>
                      <a:r>
                        <a:rPr lang="en-US" sz="1300"/>
                        <a:t>Traits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UpperCamelCase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6614">
                <a:tc>
                  <a:txBody>
                    <a:bodyPr/>
                    <a:lstStyle/>
                    <a:p>
                      <a:r>
                        <a:rPr lang="en-US" sz="1300"/>
                        <a:t>Enum variants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UpperCamelCase</a:t>
                      </a:r>
                      <a:endParaRPr lang="en-US" sz="1300" dirty="0"/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6614">
                <a:tc>
                  <a:txBody>
                    <a:bodyPr/>
                    <a:lstStyle/>
                    <a:p>
                      <a:r>
                        <a:rPr lang="en-US" sz="1300"/>
                        <a:t>Functions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snake_case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6614">
                <a:tc>
                  <a:txBody>
                    <a:bodyPr/>
                    <a:lstStyle/>
                    <a:p>
                      <a:r>
                        <a:rPr lang="en-US" sz="1300"/>
                        <a:t>Methods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snake_case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6614">
                <a:tc>
                  <a:txBody>
                    <a:bodyPr/>
                    <a:lstStyle/>
                    <a:p>
                      <a:r>
                        <a:rPr lang="en-US" sz="1300"/>
                        <a:t>General constructors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new or </a:t>
                      </a:r>
                      <a:r>
                        <a:rPr lang="en-US" sz="1300" dirty="0" err="1"/>
                        <a:t>with_more_details</a:t>
                      </a:r>
                      <a:endParaRPr lang="en-US" sz="1300" dirty="0"/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6614">
                <a:tc>
                  <a:txBody>
                    <a:bodyPr/>
                    <a:lstStyle/>
                    <a:p>
                      <a:r>
                        <a:rPr lang="en-US" sz="1300"/>
                        <a:t>Conversion constructors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from_some_other_type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6614">
                <a:tc>
                  <a:txBody>
                    <a:bodyPr/>
                    <a:lstStyle/>
                    <a:p>
                      <a:r>
                        <a:rPr lang="en-US" sz="1300"/>
                        <a:t>Macros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snake_case!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6614">
                <a:tc>
                  <a:txBody>
                    <a:bodyPr/>
                    <a:lstStyle/>
                    <a:p>
                      <a:r>
                        <a:rPr lang="en-US" sz="1300"/>
                        <a:t>Local variables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snake_case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6614">
                <a:tc>
                  <a:txBody>
                    <a:bodyPr/>
                    <a:lstStyle/>
                    <a:p>
                      <a:r>
                        <a:rPr lang="en-US" sz="1300"/>
                        <a:t>Statics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SCREAMING_SNAKE_CASE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6614">
                <a:tc>
                  <a:txBody>
                    <a:bodyPr/>
                    <a:lstStyle/>
                    <a:p>
                      <a:r>
                        <a:rPr lang="en-US" sz="1300"/>
                        <a:t>Constants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SCREAMING_SNAKE_CASE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6575">
                <a:tc>
                  <a:txBody>
                    <a:bodyPr/>
                    <a:lstStyle/>
                    <a:p>
                      <a:r>
                        <a:rPr lang="en-US" sz="1300"/>
                        <a:t>Type parameters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concise UpperCamelCase, usually single uppercase letter: T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6575">
                <a:tc>
                  <a:txBody>
                    <a:bodyPr/>
                    <a:lstStyle/>
                    <a:p>
                      <a:r>
                        <a:rPr lang="en-US" sz="1300"/>
                        <a:t>Lifetimes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short lowercase, usually a single letter: 'a, 'de, 'src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6614">
                <a:tc>
                  <a:txBody>
                    <a:bodyPr/>
                    <a:lstStyle/>
                    <a:p>
                      <a:r>
                        <a:rPr lang="en-US" sz="1300"/>
                        <a:t>Features</a:t>
                      </a:r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hlinkClick r:id="rId4"/>
                        </a:rPr>
                        <a:t>unclear</a:t>
                      </a:r>
                      <a:r>
                        <a:rPr lang="en-US" sz="1300" dirty="0"/>
                        <a:t> but see </a:t>
                      </a:r>
                      <a:r>
                        <a:rPr lang="en-US" sz="1300" dirty="0">
                          <a:hlinkClick r:id="rId5"/>
                        </a:rPr>
                        <a:t>C-FEATURE</a:t>
                      </a:r>
                      <a:endParaRPr lang="en-US" sz="1300" dirty="0"/>
                    </a:p>
                  </a:txBody>
                  <a:tcPr marL="66654" marR="66654" marT="33327" marB="333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02920" y="1714320"/>
            <a:ext cx="919373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general, Rust tends to use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UpperCamelCase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 "type-level" constructs (types and traits) and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snake_case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 "value-level" constructs. More precisely</a:t>
            </a:r>
            <a:r>
              <a:rPr kumimoji="0" lang="en-US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45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Giving it a value: C and C++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0" y="1949942"/>
            <a:ext cx="8974719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926080" algn="l"/>
              </a:tabLst>
            </a:pPr>
            <a:r>
              <a:rPr sz="2600" b="0" dirty="0" err="1">
                <a:latin typeface="Cambria"/>
              </a:rPr>
              <a:t>struct</a:t>
            </a:r>
            <a:r>
              <a:rPr sz="2600" b="0" dirty="0">
                <a:latin typeface="Cambria"/>
              </a:rPr>
              <a:t> sample </a:t>
            </a:r>
            <a:r>
              <a:rPr sz="2600" b="0" dirty="0" err="1">
                <a:latin typeface="Cambria"/>
              </a:rPr>
              <a:t>my_sample</a:t>
            </a:r>
            <a:r>
              <a:rPr sz="2600" b="0" dirty="0">
                <a:latin typeface="Cambria"/>
              </a:rPr>
              <a:t> = { 1456, 50.0f, 12345 } ;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6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600" b="0" dirty="0">
                <a:latin typeface="Cambria"/>
              </a:rPr>
              <a:t>Order matters!  Better, name the members: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6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600" b="0" dirty="0" err="1">
                <a:latin typeface="Cambria"/>
              </a:rPr>
              <a:t>struct</a:t>
            </a:r>
            <a:r>
              <a:rPr sz="2600" b="0" dirty="0">
                <a:latin typeface="Cambria"/>
              </a:rPr>
              <a:t> sample </a:t>
            </a:r>
            <a:r>
              <a:rPr sz="2600" b="0" dirty="0" err="1">
                <a:latin typeface="Cambria"/>
              </a:rPr>
              <a:t>my_sample</a:t>
            </a:r>
            <a:r>
              <a:rPr sz="2600" b="0" dirty="0">
                <a:latin typeface="Cambria"/>
              </a:rPr>
              <a:t> = {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600" b="0" dirty="0">
                <a:latin typeface="Cambria"/>
              </a:rPr>
              <a:t>	.</a:t>
            </a:r>
            <a:r>
              <a:rPr sz="2600" b="0" dirty="0" err="1">
                <a:latin typeface="Cambria"/>
              </a:rPr>
              <a:t>adc_counts</a:t>
            </a:r>
            <a:r>
              <a:rPr sz="2600" b="0" dirty="0">
                <a:latin typeface="Cambria"/>
              </a:rPr>
              <a:t>	= 1456,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600" b="0" dirty="0">
                <a:latin typeface="Cambria"/>
              </a:rPr>
              <a:t>	.psi	= 50.0f,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600" b="0" dirty="0">
                <a:latin typeface="Cambria"/>
              </a:rPr>
              <a:t>	.</a:t>
            </a:r>
            <a:r>
              <a:rPr sz="2600" b="0" dirty="0" err="1">
                <a:latin typeface="Cambria"/>
              </a:rPr>
              <a:t>timestamp_ms</a:t>
            </a:r>
            <a:r>
              <a:rPr sz="2600" b="0" dirty="0">
                <a:latin typeface="Cambria"/>
              </a:rPr>
              <a:t>	= 12345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600" b="0" dirty="0">
                <a:latin typeface="Cambria"/>
              </a:rPr>
              <a:t>} </a:t>
            </a:r>
            <a:r>
              <a:rPr sz="2600" b="0" dirty="0" smtClean="0">
                <a:latin typeface="Cambria"/>
              </a:rPr>
              <a:t>;</a:t>
            </a:r>
            <a:endParaRPr lang="en-US" sz="2600" dirty="0">
              <a:latin typeface="Cambria"/>
            </a:endParaRPr>
          </a:p>
          <a:p>
            <a:pPr>
              <a:tabLst>
                <a:tab pos="548640" algn="l"/>
                <a:tab pos="2926080" algn="l"/>
              </a:tabLst>
            </a:pPr>
            <a:endParaRPr lang="en-US" sz="2600" dirty="0" smtClean="0">
              <a:latin typeface="Cambria"/>
            </a:endParaRPr>
          </a:p>
          <a:p>
            <a:pPr>
              <a:tabLst>
                <a:tab pos="548640" algn="l"/>
                <a:tab pos="2926080" algn="l"/>
              </a:tabLst>
            </a:pPr>
            <a:r>
              <a:rPr lang="en-US" sz="2600" dirty="0" smtClean="0">
                <a:latin typeface="Cambria"/>
              </a:rPr>
              <a:t>But we still need this definition for the type to precede it:</a:t>
            </a:r>
            <a:endParaRPr lang="en-US" sz="2600" dirty="0">
              <a:latin typeface="Cambria"/>
            </a:endParaRPr>
          </a:p>
          <a:p>
            <a:r>
              <a:rPr lang="en-US" sz="1600" b="1" dirty="0" err="1">
                <a:latin typeface="Cambria"/>
              </a:rPr>
              <a:t>typedef</a:t>
            </a:r>
            <a:r>
              <a:rPr lang="en-US" sz="1600" b="1" dirty="0">
                <a:latin typeface="Cambria"/>
              </a:rPr>
              <a:t> </a:t>
            </a:r>
            <a:r>
              <a:rPr lang="en-US" sz="1600" b="1" dirty="0" err="1">
                <a:latin typeface="Cambria"/>
              </a:rPr>
              <a:t>struct</a:t>
            </a:r>
            <a:r>
              <a:rPr lang="en-US" sz="1600" dirty="0">
                <a:latin typeface="Cambria"/>
              </a:rPr>
              <a:t> sample {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lang="en-US" sz="1600" dirty="0">
                <a:latin typeface="Cambria"/>
              </a:rPr>
              <a:t>	uint32_t	</a:t>
            </a:r>
            <a:r>
              <a:rPr lang="en-US" sz="1600" dirty="0" err="1">
                <a:latin typeface="Cambria"/>
              </a:rPr>
              <a:t>adc_counts</a:t>
            </a:r>
            <a:r>
              <a:rPr lang="en-US" sz="1600" dirty="0">
                <a:latin typeface="Cambria"/>
              </a:rPr>
              <a:t>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lang="en-US" sz="1600" dirty="0">
                <a:latin typeface="Cambria"/>
              </a:rPr>
              <a:t>	float	psi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lang="en-US" sz="1600" dirty="0">
                <a:latin typeface="Cambria"/>
              </a:rPr>
              <a:t>	uint64_t	</a:t>
            </a:r>
            <a:r>
              <a:rPr lang="en-US" sz="1600" dirty="0" err="1">
                <a:latin typeface="Cambria"/>
              </a:rPr>
              <a:t>timestamp_ms</a:t>
            </a:r>
            <a:r>
              <a:rPr lang="en-US" sz="1600" dirty="0">
                <a:latin typeface="Cambria"/>
              </a:rPr>
              <a:t>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lang="en-US" sz="1600" dirty="0">
                <a:latin typeface="Cambria"/>
              </a:rPr>
              <a:t>} </a:t>
            </a:r>
            <a:r>
              <a:rPr lang="en-US" sz="1600" dirty="0" err="1">
                <a:latin typeface="Cambria"/>
              </a:rPr>
              <a:t>sample_t</a:t>
            </a:r>
            <a:r>
              <a:rPr lang="en-US" sz="1600" dirty="0">
                <a:latin typeface="Cambria"/>
              </a:rPr>
              <a:t> ;</a:t>
            </a:r>
          </a:p>
          <a:p>
            <a:pPr>
              <a:tabLst>
                <a:tab pos="548640" algn="l"/>
                <a:tab pos="2926080" algn="l"/>
              </a:tabLst>
            </a:pPr>
            <a:endParaRPr sz="2600" b="0" dirty="0">
              <a:latin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Giving it a value: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926080" algn="l"/>
              </a:tabLst>
            </a:pPr>
            <a:r>
              <a:rPr sz="2800" b="0">
                <a:latin typeface="Cambria"/>
              </a:rPr>
              <a:t>let my_sample = Sample {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800" b="0">
                <a:latin typeface="Cambria"/>
              </a:rPr>
              <a:t>	adc_counts	: 1456,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800" b="0">
                <a:latin typeface="Cambria"/>
              </a:rPr>
              <a:t>	psi	: 50.0,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800" b="0">
                <a:latin typeface="Cambria"/>
              </a:rPr>
              <a:t>	timestamp_ms	: 12345,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800" b="0">
                <a:latin typeface="Cambria"/>
              </a:rPr>
              <a:t>} ;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800" b="1">
                <a:latin typeface="Cambria"/>
              </a:rPr>
              <a:t>Every</a:t>
            </a:r>
            <a:r>
              <a:rPr sz="2800" b="0">
                <a:latin typeface="Cambria"/>
              </a:rPr>
              <a:t> field must be given a value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800" b="0">
                <a:latin typeface="Cambria"/>
              </a:rPr>
              <a:t>The compiler will not let you forget one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800" b="0">
                <a:latin typeface="Cambria"/>
              </a:rPr>
              <a:t>Use </a:t>
            </a:r>
            <a:r>
              <a:rPr sz="2800" b="1">
                <a:latin typeface="Cambria"/>
              </a:rPr>
              <a:t>let mut</a:t>
            </a:r>
            <a:r>
              <a:rPr sz="2800" b="0">
                <a:latin typeface="Cambria"/>
              </a:rPr>
              <a:t> if you intend to change it later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Reaching a Member: the dot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Cambria"/>
              </a:rPr>
              <a:t>C and C++:</a:t>
            </a:r>
          </a:p>
          <a:p>
            <a:r>
              <a:rPr sz="2800" b="0">
                <a:latin typeface="Cambria"/>
              </a:rPr>
              <a:t>	my_sample.psi = 50.0f ;</a:t>
            </a:r>
          </a:p>
          <a:p>
            <a:r>
              <a:rPr sz="2800" b="0">
                <a:latin typeface="Cambria"/>
              </a:rPr>
              <a:t>	printf("%f\n", my_sample.psi) ;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Rust:</a:t>
            </a:r>
          </a:p>
          <a:p>
            <a:r>
              <a:rPr sz="2800" b="0">
                <a:latin typeface="Cambria"/>
              </a:rPr>
              <a:t>	my_sample.psi = 50.0 ;</a:t>
            </a:r>
          </a:p>
          <a:p>
            <a:r>
              <a:rPr sz="2800" b="0">
                <a:latin typeface="Cambria"/>
              </a:rPr>
              <a:t>	println!("{}", my_sample.psi) ;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The </a:t>
            </a:r>
            <a:r>
              <a:rPr sz="2800" b="1">
                <a:latin typeface="Cambria"/>
              </a:rPr>
              <a:t>dot operator</a:t>
            </a:r>
            <a:r>
              <a:rPr sz="2800" b="0">
                <a:latin typeface="Cambria"/>
              </a:rPr>
              <a:t> is the same in all three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 struct in Memory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The struct has </a:t>
            </a:r>
            <a:r>
              <a:rPr sz="2600" b="1">
                <a:latin typeface="Cambria"/>
              </a:rPr>
              <a:t>one base address</a:t>
            </a:r>
            <a:r>
              <a:rPr sz="2600" b="0">
                <a:latin typeface="Cambria"/>
              </a:rPr>
              <a:t> :   &amp;my_sample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Each member sits at a fixed </a:t>
            </a:r>
            <a:r>
              <a:rPr sz="2600" b="1">
                <a:latin typeface="Cambria"/>
              </a:rPr>
              <a:t>offset</a:t>
            </a:r>
            <a:r>
              <a:rPr sz="2600" b="0">
                <a:latin typeface="Cambria"/>
              </a:rPr>
              <a:t> from that base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	address of member = base address + offset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1005840" y="5074920"/>
            <a:ext cx="1828800" cy="841248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Cambria"/>
              </a:rPr>
              <a:t>adc_counts</a:t>
            </a:r>
          </a:p>
          <a:p>
            <a:pPr algn="ctr"/>
            <a:r>
              <a:rPr sz="1100" i="1">
                <a:solidFill>
                  <a:srgbClr val="000000"/>
                </a:solidFill>
                <a:latin typeface="Cambria"/>
              </a:rPr>
              <a:t>4 bytes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594360" y="598932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Cambria"/>
              </a:rPr>
              <a:t>offset 0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2834640" y="5074920"/>
            <a:ext cx="1828800" cy="841248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Cambria"/>
              </a:rPr>
              <a:t>psi</a:t>
            </a:r>
          </a:p>
          <a:p>
            <a:pPr algn="ctr"/>
            <a:r>
              <a:rPr sz="1100" i="1">
                <a:solidFill>
                  <a:srgbClr val="000000"/>
                </a:solidFill>
                <a:latin typeface="Cambria"/>
              </a:rPr>
              <a:t>4 bytes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2423160" y="598932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Cambria"/>
              </a:rPr>
              <a:t>offset 4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4663440" y="5074920"/>
            <a:ext cx="3657600" cy="841248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Cambria"/>
              </a:rPr>
              <a:t>timestamp_ms</a:t>
            </a:r>
          </a:p>
          <a:p>
            <a:pPr algn="ctr"/>
            <a:r>
              <a:rPr sz="1100" i="1">
                <a:solidFill>
                  <a:srgbClr val="000000"/>
                </a:solidFill>
                <a:latin typeface="Cambria"/>
              </a:rPr>
              <a:t>8 bytes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4251960" y="598932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Cambria"/>
              </a:rPr>
              <a:t>offset 8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7909560" y="598932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Cambria"/>
              </a:rPr>
              <a:t>offset 16</a:t>
            </a:r>
          </a:p>
        </p:txBody>
      </p:sp>
      <p:sp>
        <p:nvSpPr>
          <p:cNvPr id="396" name="Up Arrow 395"/>
          <p:cNvSpPr/>
          <p:nvPr/>
        </p:nvSpPr>
        <p:spPr>
          <a:xfrm>
            <a:off x="923544" y="6355080"/>
            <a:ext cx="164592" cy="274320"/>
          </a:xfrm>
          <a:prstGeom prst="upArrow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TextBox 396"/>
          <p:cNvSpPr txBox="1"/>
          <p:nvPr/>
        </p:nvSpPr>
        <p:spPr>
          <a:xfrm>
            <a:off x="1188720" y="637336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mbria"/>
              </a:rPr>
              <a:t>&amp;my_sample   (base address)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Size and Offset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Cambria"/>
              </a:rPr>
              <a:t>The compiler knows every offset at </a:t>
            </a:r>
            <a:r>
              <a:rPr sz="2800" b="1">
                <a:latin typeface="Cambria"/>
              </a:rPr>
              <a:t>compile time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C and C++:</a:t>
            </a:r>
          </a:p>
          <a:p>
            <a:r>
              <a:rPr sz="2800" b="0">
                <a:latin typeface="Cambria"/>
              </a:rPr>
              <a:t>	sizeof(struct sample)</a:t>
            </a:r>
          </a:p>
          <a:p>
            <a:r>
              <a:rPr sz="2800" b="0">
                <a:latin typeface="Cambria"/>
              </a:rPr>
              <a:t>	#include &lt;stddef.h&gt;</a:t>
            </a:r>
          </a:p>
          <a:p>
            <a:r>
              <a:rPr sz="2800" b="0">
                <a:latin typeface="Cambria"/>
              </a:rPr>
              <a:t>	offsetof(struct sample, psi)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Rust:</a:t>
            </a:r>
          </a:p>
          <a:p>
            <a:r>
              <a:rPr sz="2800" b="0">
                <a:latin typeface="Cambria"/>
              </a:rPr>
              <a:t>	std::mem::size_of::&lt;Sample&gt;()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Print these in your own program - do not guess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Padding and Alignment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dirty="0">
                <a:latin typeface="Cambria"/>
              </a:rPr>
              <a:t>Hardware reads memory fastest on </a:t>
            </a:r>
            <a:r>
              <a:rPr sz="2600" b="1" dirty="0">
                <a:latin typeface="Cambria"/>
              </a:rPr>
              <a:t>natural boundaries</a:t>
            </a:r>
          </a:p>
          <a:p>
            <a:r>
              <a:rPr sz="2600" dirty="0">
                <a:latin typeface="Cambria"/>
              </a:rPr>
              <a:t> </a:t>
            </a:r>
          </a:p>
          <a:p>
            <a:r>
              <a:rPr sz="2600" b="0" dirty="0">
                <a:latin typeface="Cambria"/>
              </a:rPr>
              <a:t>	a 4 byte value wants an address divisible by 4</a:t>
            </a:r>
          </a:p>
          <a:p>
            <a:r>
              <a:rPr sz="2600" b="0" dirty="0">
                <a:latin typeface="Cambria"/>
              </a:rPr>
              <a:t>	an 8 byte value wants an address divisible by 8</a:t>
            </a:r>
          </a:p>
          <a:p>
            <a:r>
              <a:rPr sz="2600" dirty="0">
                <a:latin typeface="Cambria"/>
              </a:rPr>
              <a:t> </a:t>
            </a:r>
          </a:p>
          <a:p>
            <a:r>
              <a:rPr sz="2600" b="0" dirty="0">
                <a:latin typeface="Cambria"/>
              </a:rPr>
              <a:t>The compiler inserts </a:t>
            </a:r>
            <a:r>
              <a:rPr sz="2600" b="1" dirty="0">
                <a:latin typeface="Cambria"/>
              </a:rPr>
              <a:t>padding bytes</a:t>
            </a:r>
            <a:r>
              <a:rPr sz="2600" b="0" dirty="0">
                <a:latin typeface="Cambria"/>
              </a:rPr>
              <a:t> to make this true</a:t>
            </a:r>
          </a:p>
          <a:p>
            <a:r>
              <a:rPr sz="2600" dirty="0">
                <a:latin typeface="Cambria"/>
              </a:rPr>
              <a:t> </a:t>
            </a:r>
          </a:p>
          <a:p>
            <a:r>
              <a:rPr sz="2600" b="0" dirty="0">
                <a:latin typeface="Cambria"/>
              </a:rPr>
              <a:t>So </a:t>
            </a:r>
            <a:r>
              <a:rPr sz="2600" b="0" dirty="0" err="1">
                <a:latin typeface="Cambria"/>
              </a:rPr>
              <a:t>sizeof</a:t>
            </a:r>
            <a:r>
              <a:rPr sz="2600" b="0" dirty="0">
                <a:latin typeface="Cambria"/>
              </a:rPr>
              <a:t>(</a:t>
            </a:r>
            <a:r>
              <a:rPr sz="2600" b="0" dirty="0" err="1">
                <a:latin typeface="Cambria"/>
              </a:rPr>
              <a:t>struct</a:t>
            </a:r>
            <a:r>
              <a:rPr sz="2600" b="0" dirty="0">
                <a:latin typeface="Cambria"/>
              </a:rPr>
              <a:t>) can be </a:t>
            </a:r>
            <a:r>
              <a:rPr sz="2600" b="1" dirty="0">
                <a:latin typeface="Cambria"/>
              </a:rPr>
              <a:t>larger</a:t>
            </a:r>
            <a:r>
              <a:rPr sz="2600" b="0" dirty="0">
                <a:latin typeface="Cambria"/>
              </a:rPr>
              <a:t> than the sum of its </a:t>
            </a:r>
            <a:r>
              <a:rPr sz="2600" b="0" dirty="0" smtClean="0">
                <a:latin typeface="Cambria"/>
              </a:rPr>
              <a:t>parts</a:t>
            </a:r>
            <a:endParaRPr lang="en-US" sz="2600" b="0" dirty="0" smtClean="0">
              <a:latin typeface="Cambria"/>
            </a:endParaRPr>
          </a:p>
          <a:p>
            <a:endParaRPr lang="en-US" sz="2600" dirty="0">
              <a:latin typeface="Cambria"/>
            </a:endParaRPr>
          </a:p>
          <a:p>
            <a:r>
              <a:rPr lang="en-US" sz="2600" b="0" dirty="0" smtClean="0">
                <a:latin typeface="Cambria"/>
              </a:rPr>
              <a:t>Let’s look at </a:t>
            </a:r>
            <a:r>
              <a:rPr lang="en-US" sz="2600" b="0" dirty="0" err="1" smtClean="0">
                <a:latin typeface="Cambria"/>
              </a:rPr>
              <a:t>mempractice</a:t>
            </a:r>
            <a:r>
              <a:rPr lang="en-US" sz="2600" b="0" dirty="0" smtClean="0">
                <a:latin typeface="Cambria"/>
              </a:rPr>
              <a:t> again</a:t>
            </a:r>
            <a:endParaRPr sz="2600" b="0" dirty="0">
              <a:latin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Padding Costs Real Memory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286000" algn="l"/>
              </a:tabLst>
            </a:pPr>
            <a:r>
              <a:rPr sz="2600" b="0">
                <a:latin typeface="Cambria"/>
              </a:rPr>
              <a:t>struct bad {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600" b="0">
                <a:latin typeface="Cambria"/>
              </a:rPr>
              <a:t>	uint8_t	flag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600" b="0">
                <a:latin typeface="Cambria"/>
              </a:rPr>
              <a:t>	uint64_t	stamp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600" b="0">
                <a:latin typeface="Cambria"/>
              </a:rPr>
              <a:t>	uint8_t	id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600" b="0">
                <a:latin typeface="Cambria"/>
              </a:rPr>
              <a:t>} ;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1005840" y="4892040"/>
            <a:ext cx="329184" cy="64008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mbria"/>
              </a:rPr>
              <a:t>flag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594360" y="560527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Cambria"/>
              </a:rPr>
              <a:t>offset 0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1335024" y="4892040"/>
            <a:ext cx="2304288" cy="640080"/>
          </a:xfrm>
          <a:prstGeom prst="rect">
            <a:avLst/>
          </a:prstGeom>
          <a:solidFill>
            <a:srgbClr val="D9D9D9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mbria"/>
              </a:rPr>
              <a:t>pad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3639312" y="4892040"/>
            <a:ext cx="2633472" cy="64008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mbria"/>
              </a:rPr>
              <a:t>stamp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3227832" y="560527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Cambria"/>
              </a:rPr>
              <a:t>offset 8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6272784" y="4892040"/>
            <a:ext cx="329184" cy="64008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mbria"/>
              </a:rPr>
              <a:t>id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5861304" y="560527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Cambria"/>
              </a:rPr>
              <a:t>offset 16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6601968" y="4892040"/>
            <a:ext cx="2304288" cy="640080"/>
          </a:xfrm>
          <a:prstGeom prst="rect">
            <a:avLst/>
          </a:prstGeom>
          <a:solidFill>
            <a:srgbClr val="D9D9D9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mbria"/>
              </a:rPr>
              <a:t>pad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1005840" y="600760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Cambria"/>
              </a:rPr>
              <a:t>sizeof is 24 bytes:  10 of data,  14 of padding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Order Your Members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1111438" y="1965451"/>
            <a:ext cx="1191630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286000" algn="l"/>
              </a:tabLst>
            </a:pPr>
            <a:r>
              <a:rPr sz="2600" b="0">
                <a:latin typeface="Cambria"/>
              </a:rPr>
              <a:t>Rule of thumb: declare members </a:t>
            </a:r>
            <a:r>
              <a:rPr sz="2600" b="1">
                <a:latin typeface="Cambria"/>
              </a:rPr>
              <a:t>largest to smallest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600" b="0">
                <a:latin typeface="Cambria"/>
              </a:rPr>
              <a:t>struct good {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600" b="0">
                <a:latin typeface="Cambria"/>
              </a:rPr>
              <a:t>	uint64_t	stamp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600" b="0">
                <a:latin typeface="Cambria"/>
              </a:rPr>
              <a:t>	uint8_t	flag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600" b="0">
                <a:latin typeface="Cambria"/>
              </a:rPr>
              <a:t>	uint8_t	id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600" b="0">
                <a:latin typeface="Cambria"/>
              </a:rPr>
              <a:t>} ;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2286000" algn="l"/>
              </a:tabLst>
            </a:pPr>
            <a:r>
              <a:rPr sz="2600" b="0">
                <a:latin typeface="Cambria"/>
              </a:rPr>
              <a:t>sizeof is now </a:t>
            </a:r>
            <a:r>
              <a:rPr sz="2600" b="1">
                <a:latin typeface="Cambria"/>
              </a:rPr>
              <a:t>16</a:t>
            </a:r>
            <a:r>
              <a:rPr sz="2600" b="0">
                <a:latin typeface="Cambria"/>
              </a:rPr>
              <a:t> bytes, not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4910" y="6165072"/>
            <a:ext cx="329184" cy="64008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200" b="0" dirty="0">
                <a:solidFill>
                  <a:srgbClr val="000000"/>
                </a:solidFill>
                <a:latin typeface="Cambria"/>
              </a:rPr>
              <a:t>flag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1438" y="6165072"/>
            <a:ext cx="2633472" cy="64008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200" b="0" dirty="0">
                <a:solidFill>
                  <a:srgbClr val="000000"/>
                </a:solidFill>
                <a:latin typeface="Cambria"/>
              </a:rPr>
              <a:t>stamp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74094" y="6165072"/>
            <a:ext cx="329184" cy="64008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200" b="0" dirty="0">
                <a:solidFill>
                  <a:srgbClr val="000000"/>
                </a:solidFill>
                <a:latin typeface="Cambria"/>
              </a:rP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3430" y="6924368"/>
            <a:ext cx="740664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 dirty="0">
                <a:solidFill>
                  <a:srgbClr val="000000"/>
                </a:solidFill>
                <a:latin typeface="Cambria"/>
              </a:rPr>
              <a:t>offset </a:t>
            </a:r>
            <a:endParaRPr lang="en-US" sz="1100" b="0" i="0" dirty="0" smtClean="0">
              <a:solidFill>
                <a:srgbClr val="000000"/>
              </a:solidFill>
              <a:latin typeface="Cambria"/>
            </a:endParaRPr>
          </a:p>
          <a:p>
            <a:pPr algn="ctr"/>
            <a:r>
              <a:rPr lang="en-US" sz="1100" dirty="0">
                <a:solidFill>
                  <a:srgbClr val="000000"/>
                </a:solidFill>
                <a:latin typeface="Cambria"/>
              </a:rPr>
              <a:t>8</a:t>
            </a:r>
            <a:endParaRPr sz="1100" b="0" i="0" dirty="0">
              <a:solidFill>
                <a:srgbClr val="000000"/>
              </a:solidFill>
              <a:latin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Controlling the Layout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C and C++ (compiler specific):</a:t>
            </a:r>
          </a:p>
          <a:p>
            <a:r>
              <a:rPr sz="2600" b="0">
                <a:latin typeface="Cambria"/>
              </a:rPr>
              <a:t>	#pragma pack(1)</a:t>
            </a:r>
          </a:p>
          <a:p>
            <a:r>
              <a:rPr sz="2600" b="0">
                <a:latin typeface="Cambria"/>
              </a:rPr>
              <a:t>	__attribute__((packed))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Rust:</a:t>
            </a:r>
          </a:p>
          <a:p>
            <a:r>
              <a:rPr sz="2600" b="0">
                <a:latin typeface="Cambria"/>
              </a:rPr>
              <a:t>	#[repr(C)]</a:t>
            </a:r>
          </a:p>
          <a:p>
            <a:r>
              <a:rPr sz="2600" b="0">
                <a:latin typeface="Cambria"/>
              </a:rPr>
              <a:t>	struct Sample { ... }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Rust may </a:t>
            </a:r>
            <a:r>
              <a:rPr sz="2600" b="1">
                <a:latin typeface="Cambria"/>
              </a:rPr>
              <a:t>reorder</a:t>
            </a:r>
            <a:r>
              <a:rPr sz="2600" b="0">
                <a:latin typeface="Cambria"/>
              </a:rPr>
              <a:t> fields unless you say #[repr(C)]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Pointers to structs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02920" algn="l"/>
                <a:tab pos="3931920" algn="l"/>
              </a:tabLst>
            </a:pPr>
            <a:r>
              <a:rPr sz="2400" b="0">
                <a:latin typeface="Cambria"/>
              </a:rPr>
              <a:t>C and C++:</a:t>
            </a:r>
          </a:p>
          <a:p>
            <a:pPr>
              <a:tabLst>
                <a:tab pos="502920" algn="l"/>
                <a:tab pos="3931920" algn="l"/>
              </a:tabLst>
            </a:pPr>
            <a:r>
              <a:rPr sz="2400" b="0">
                <a:latin typeface="Cambria"/>
              </a:rPr>
              <a:t>	struct sample *p = &amp;my_sample ;</a:t>
            </a:r>
          </a:p>
          <a:p>
            <a:pPr>
              <a:tabLst>
                <a:tab pos="502920" algn="l"/>
                <a:tab pos="3931920" algn="l"/>
              </a:tabLst>
            </a:pPr>
            <a:r>
              <a:rPr sz="2400" b="0">
                <a:latin typeface="Cambria"/>
              </a:rPr>
              <a:t>	p-&gt;psi = 50.0f ;	same as (*p).psi</a:t>
            </a:r>
          </a:p>
          <a:p>
            <a:pPr>
              <a:tabLst>
                <a:tab pos="502920" algn="l"/>
                <a:tab pos="39319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02920" algn="l"/>
                <a:tab pos="3931920" algn="l"/>
              </a:tabLst>
            </a:pPr>
            <a:r>
              <a:rPr sz="2400" b="0">
                <a:latin typeface="Cambria"/>
              </a:rPr>
              <a:t>Rust:</a:t>
            </a:r>
          </a:p>
          <a:p>
            <a:pPr>
              <a:tabLst>
                <a:tab pos="502920" algn="l"/>
                <a:tab pos="3931920" algn="l"/>
              </a:tabLst>
            </a:pPr>
            <a:r>
              <a:rPr sz="2400" b="0">
                <a:latin typeface="Cambria"/>
              </a:rPr>
              <a:t>	let p = &amp;my_sample ;</a:t>
            </a:r>
          </a:p>
          <a:p>
            <a:pPr>
              <a:tabLst>
                <a:tab pos="502920" algn="l"/>
                <a:tab pos="3931920" algn="l"/>
              </a:tabLst>
            </a:pPr>
            <a:r>
              <a:rPr sz="2400" b="0">
                <a:latin typeface="Cambria"/>
              </a:rPr>
              <a:t>	p.psi	Rust dereferences for you</a:t>
            </a:r>
          </a:p>
          <a:p>
            <a:pPr>
              <a:tabLst>
                <a:tab pos="502920" algn="l"/>
                <a:tab pos="39319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02920" algn="l"/>
                <a:tab pos="3931920" algn="l"/>
              </a:tabLst>
            </a:pPr>
            <a:r>
              <a:rPr sz="2400" b="0">
                <a:latin typeface="Cambria"/>
              </a:rPr>
              <a:t>There is </a:t>
            </a:r>
            <a:r>
              <a:rPr sz="2400" b="1">
                <a:latin typeface="Cambria"/>
              </a:rPr>
              <a:t>no -&gt; operator</a:t>
            </a:r>
            <a:r>
              <a:rPr sz="2400" b="0">
                <a:latin typeface="Cambria"/>
              </a:rPr>
              <a:t> in Rust</a:t>
            </a:r>
          </a:p>
        </p:txBody>
      </p:sp>
    </p:spTree>
    <p:extLst>
      <p:ext uri="{BB962C8B-B14F-4D97-AF65-F5344CB8AC3E}">
        <p14:creationId xmlns:p14="http://schemas.microsoft.com/office/powerpoint/2010/main" val="219621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Pointers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02920" y="1650240"/>
            <a:ext cx="929000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02920" algn="l"/>
                <a:tab pos="3931920" algn="l"/>
              </a:tabLst>
            </a:pPr>
            <a:r>
              <a:rPr lang="en-US" sz="2400" dirty="0" smtClean="0">
                <a:latin typeface="Cambria"/>
              </a:rPr>
              <a:t>Pointers are variables that are interpreted as addresses</a:t>
            </a:r>
          </a:p>
          <a:p>
            <a:pPr>
              <a:tabLst>
                <a:tab pos="502920" algn="l"/>
                <a:tab pos="3931920" algn="l"/>
              </a:tabLst>
            </a:pPr>
            <a:endParaRPr lang="en-US" sz="2400" b="0" dirty="0">
              <a:latin typeface="Cambria"/>
            </a:endParaRPr>
          </a:p>
          <a:p>
            <a:pPr>
              <a:tabLst>
                <a:tab pos="502920" algn="l"/>
                <a:tab pos="3931920" algn="l"/>
              </a:tabLst>
            </a:pPr>
            <a:r>
              <a:rPr lang="en-US" sz="2400" dirty="0" smtClean="0">
                <a:latin typeface="Cambria"/>
              </a:rPr>
              <a:t>It is an indirection to the memory of interest</a:t>
            </a:r>
          </a:p>
          <a:p>
            <a:pPr>
              <a:tabLst>
                <a:tab pos="502920" algn="l"/>
                <a:tab pos="3931920" algn="l"/>
              </a:tabLst>
            </a:pPr>
            <a:endParaRPr lang="en-US" sz="2400" dirty="0">
              <a:latin typeface="Cambria"/>
            </a:endParaRPr>
          </a:p>
          <a:p>
            <a:pPr>
              <a:tabLst>
                <a:tab pos="502920" algn="l"/>
                <a:tab pos="3931920" algn="l"/>
              </a:tabLst>
            </a:pPr>
            <a:r>
              <a:rPr lang="en-US" sz="2400" dirty="0" smtClean="0">
                <a:latin typeface="Cambria"/>
              </a:rPr>
              <a:t>We use </a:t>
            </a:r>
            <a:r>
              <a:rPr lang="en-US" sz="2400" dirty="0" smtClean="0">
                <a:latin typeface="Cambria"/>
              </a:rPr>
              <a:t>the notation ( </a:t>
            </a:r>
            <a:r>
              <a:rPr lang="en-US" sz="2400" dirty="0" smtClean="0">
                <a:latin typeface="Cambria"/>
              </a:rPr>
              <a:t>variable ) to denote the contents of an address</a:t>
            </a:r>
          </a:p>
          <a:p>
            <a:pPr>
              <a:tabLst>
                <a:tab pos="502920" algn="l"/>
                <a:tab pos="3931920" algn="l"/>
              </a:tabLst>
            </a:pPr>
            <a:endParaRPr lang="en-US" sz="2400" dirty="0">
              <a:latin typeface="Cambria"/>
            </a:endParaRPr>
          </a:p>
          <a:p>
            <a:pPr>
              <a:tabLst>
                <a:tab pos="502920" algn="l"/>
                <a:tab pos="3931920" algn="l"/>
              </a:tabLst>
            </a:pPr>
            <a:r>
              <a:rPr lang="en-US" sz="2400" dirty="0" smtClean="0">
                <a:latin typeface="Cambria"/>
              </a:rPr>
              <a:t>A pointer is the address of the contents</a:t>
            </a:r>
          </a:p>
          <a:p>
            <a:pPr>
              <a:tabLst>
                <a:tab pos="502920" algn="l"/>
                <a:tab pos="3931920" algn="l"/>
              </a:tabLst>
            </a:pPr>
            <a:endParaRPr lang="en-US" sz="2400" dirty="0">
              <a:latin typeface="Cambria"/>
            </a:endParaRPr>
          </a:p>
          <a:p>
            <a:pPr>
              <a:tabLst>
                <a:tab pos="502920" algn="l"/>
                <a:tab pos="3931920" algn="l"/>
              </a:tabLst>
            </a:pPr>
            <a:r>
              <a:rPr lang="en-US" sz="2400" dirty="0" smtClean="0">
                <a:latin typeface="Cambria"/>
              </a:rPr>
              <a:t>pointer to a variable &lt;= &amp; ( variable)</a:t>
            </a:r>
          </a:p>
          <a:p>
            <a:pPr>
              <a:tabLst>
                <a:tab pos="502920" algn="l"/>
                <a:tab pos="3931920" algn="l"/>
              </a:tabLst>
            </a:pPr>
            <a:endParaRPr lang="en-US" sz="2400" dirty="0">
              <a:latin typeface="Cambria"/>
            </a:endParaRPr>
          </a:p>
          <a:p>
            <a:pPr>
              <a:tabLst>
                <a:tab pos="502920" algn="l"/>
                <a:tab pos="3931920" algn="l"/>
              </a:tabLst>
            </a:pPr>
            <a:r>
              <a:rPr lang="en-US" sz="2400" dirty="0" smtClean="0">
                <a:latin typeface="Cambria"/>
              </a:rPr>
              <a:t>If we wish to get the contents pointed by the pointer, we dereference the pointer</a:t>
            </a:r>
          </a:p>
          <a:p>
            <a:pPr>
              <a:tabLst>
                <a:tab pos="502920" algn="l"/>
                <a:tab pos="3931920" algn="l"/>
              </a:tabLst>
            </a:pPr>
            <a:endParaRPr lang="en-US" sz="2400" dirty="0">
              <a:latin typeface="Cambria"/>
            </a:endParaRPr>
          </a:p>
          <a:p>
            <a:pPr>
              <a:tabLst>
                <a:tab pos="502920" algn="l"/>
                <a:tab pos="3931920" algn="l"/>
              </a:tabLst>
            </a:pPr>
            <a:r>
              <a:rPr lang="en-US" sz="2400" dirty="0" smtClean="0">
                <a:latin typeface="Cambria"/>
              </a:rPr>
              <a:t>We </a:t>
            </a:r>
            <a:r>
              <a:rPr lang="en-US" sz="2400" dirty="0">
                <a:latin typeface="Cambria"/>
              </a:rPr>
              <a:t>dereference using the * operator</a:t>
            </a:r>
          </a:p>
          <a:p>
            <a:pPr>
              <a:tabLst>
                <a:tab pos="502920" algn="l"/>
                <a:tab pos="3931920" algn="l"/>
              </a:tabLst>
            </a:pPr>
            <a:endParaRPr lang="en-US" sz="2400" dirty="0" smtClean="0">
              <a:latin typeface="Cambria"/>
            </a:endParaRPr>
          </a:p>
          <a:p>
            <a:pPr>
              <a:tabLst>
                <a:tab pos="502920" algn="l"/>
                <a:tab pos="3931920" algn="l"/>
              </a:tabLst>
            </a:pPr>
            <a:r>
              <a:rPr lang="en-US" sz="2400" dirty="0" err="1" smtClean="0">
                <a:latin typeface="Cambria"/>
              </a:rPr>
              <a:t>contents_pointed_to</a:t>
            </a:r>
            <a:r>
              <a:rPr lang="en-US" sz="2400" dirty="0" smtClean="0">
                <a:latin typeface="Cambria"/>
              </a:rPr>
              <a:t> </a:t>
            </a:r>
            <a:r>
              <a:rPr lang="en-US" sz="2400" dirty="0" smtClean="0">
                <a:latin typeface="Cambria"/>
              </a:rPr>
              <a:t>&lt;= ((pointer))  </a:t>
            </a:r>
            <a:endParaRPr lang="en-US" sz="2400" dirty="0" smtClean="0">
              <a:latin typeface="Cambria"/>
            </a:endParaRPr>
          </a:p>
          <a:p>
            <a:pPr>
              <a:tabLst>
                <a:tab pos="502920" algn="l"/>
                <a:tab pos="3931920" algn="l"/>
              </a:tabLst>
            </a:pPr>
            <a:endParaRPr lang="en-US" sz="2400" dirty="0" smtClean="0">
              <a:latin typeface="Cambria"/>
            </a:endParaRPr>
          </a:p>
          <a:p>
            <a:pPr>
              <a:tabLst>
                <a:tab pos="502920" algn="l"/>
                <a:tab pos="3931920" algn="l"/>
              </a:tabLst>
            </a:pPr>
            <a:endParaRPr sz="2400" b="0" dirty="0">
              <a:latin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Hardware Pointers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3207" y="4318468"/>
            <a:ext cx="9809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PC:</a:t>
            </a:r>
          </a:p>
          <a:p>
            <a:r>
              <a:rPr lang="en-US" dirty="0" smtClean="0"/>
              <a:t>Program</a:t>
            </a:r>
          </a:p>
          <a:p>
            <a:r>
              <a:rPr lang="en-US" dirty="0" smtClean="0"/>
              <a:t>Counter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1175019" y="1994721"/>
            <a:ext cx="8293487" cy="4459705"/>
            <a:chOff x="1175019" y="1994721"/>
            <a:chExt cx="8293487" cy="4459705"/>
          </a:xfrm>
        </p:grpSpPr>
        <p:sp>
          <p:nvSpPr>
            <p:cNvPr id="48" name="object 13"/>
            <p:cNvSpPr/>
            <p:nvPr/>
          </p:nvSpPr>
          <p:spPr>
            <a:xfrm>
              <a:off x="6170218" y="4607129"/>
              <a:ext cx="45167" cy="45023"/>
            </a:xfrm>
            <a:custGeom>
              <a:avLst/>
              <a:gdLst/>
              <a:ahLst/>
              <a:cxnLst/>
              <a:rect l="l" t="t" r="r" b="b"/>
              <a:pathLst>
                <a:path w="46531" h="46531">
                  <a:moveTo>
                    <a:pt x="0" y="0"/>
                  </a:moveTo>
                  <a:lnTo>
                    <a:pt x="12" y="46531"/>
                  </a:lnTo>
                  <a:lnTo>
                    <a:pt x="46531" y="23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49" name="object 14"/>
            <p:cNvSpPr/>
            <p:nvPr/>
          </p:nvSpPr>
          <p:spPr>
            <a:xfrm>
              <a:off x="6170218" y="4607129"/>
              <a:ext cx="45167" cy="45023"/>
            </a:xfrm>
            <a:custGeom>
              <a:avLst/>
              <a:gdLst/>
              <a:ahLst/>
              <a:cxnLst/>
              <a:rect l="l" t="t" r="r" b="b"/>
              <a:pathLst>
                <a:path w="46531" h="46531">
                  <a:moveTo>
                    <a:pt x="0" y="0"/>
                  </a:moveTo>
                  <a:lnTo>
                    <a:pt x="12" y="46531"/>
                  </a:lnTo>
                  <a:lnTo>
                    <a:pt x="46531" y="23237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0" name="object 15"/>
            <p:cNvSpPr/>
            <p:nvPr/>
          </p:nvSpPr>
          <p:spPr>
            <a:xfrm>
              <a:off x="5970753" y="4629624"/>
              <a:ext cx="216407" cy="11"/>
            </a:xfrm>
            <a:custGeom>
              <a:avLst/>
              <a:gdLst/>
              <a:ahLst/>
              <a:cxnLst/>
              <a:rect l="l" t="t" r="r" b="b"/>
              <a:pathLst>
                <a:path w="222942" h="11">
                  <a:moveTo>
                    <a:pt x="205488" y="11"/>
                  </a:moveTo>
                  <a:lnTo>
                    <a:pt x="222942" y="0"/>
                  </a:ln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1" name="object 16"/>
            <p:cNvSpPr/>
            <p:nvPr/>
          </p:nvSpPr>
          <p:spPr>
            <a:xfrm>
              <a:off x="5084656" y="2700443"/>
              <a:ext cx="2022022" cy="2590796"/>
            </a:xfrm>
            <a:custGeom>
              <a:avLst/>
              <a:gdLst/>
              <a:ahLst/>
              <a:cxnLst/>
              <a:rect l="l" t="t" r="r" b="b"/>
              <a:pathLst>
                <a:path w="2083083" h="2677579">
                  <a:moveTo>
                    <a:pt x="1905598" y="2586127"/>
                  </a:moveTo>
                  <a:lnTo>
                    <a:pt x="1882029" y="2586127"/>
                  </a:lnTo>
                  <a:lnTo>
                    <a:pt x="1882029" y="2677579"/>
                  </a:lnTo>
                  <a:lnTo>
                    <a:pt x="2083083" y="2677579"/>
                  </a:lnTo>
                  <a:lnTo>
                    <a:pt x="2083083" y="2665771"/>
                  </a:lnTo>
                  <a:lnTo>
                    <a:pt x="1905598" y="2665771"/>
                  </a:lnTo>
                  <a:lnTo>
                    <a:pt x="1893825" y="2653999"/>
                  </a:lnTo>
                  <a:lnTo>
                    <a:pt x="1905598" y="2653999"/>
                  </a:lnTo>
                  <a:lnTo>
                    <a:pt x="1905598" y="2586127"/>
                  </a:lnTo>
                  <a:close/>
                </a:path>
                <a:path w="2083083" h="2677579">
                  <a:moveTo>
                    <a:pt x="1905598" y="2653999"/>
                  </a:moveTo>
                  <a:lnTo>
                    <a:pt x="1893825" y="2653999"/>
                  </a:lnTo>
                  <a:lnTo>
                    <a:pt x="1905598" y="2665771"/>
                  </a:lnTo>
                  <a:lnTo>
                    <a:pt x="1905598" y="2653999"/>
                  </a:lnTo>
                  <a:close/>
                </a:path>
                <a:path w="2083083" h="2677579">
                  <a:moveTo>
                    <a:pt x="2059503" y="2653999"/>
                  </a:moveTo>
                  <a:lnTo>
                    <a:pt x="1905598" y="2653999"/>
                  </a:lnTo>
                  <a:lnTo>
                    <a:pt x="1905598" y="2665771"/>
                  </a:lnTo>
                  <a:lnTo>
                    <a:pt x="2059503" y="2665771"/>
                  </a:lnTo>
                  <a:lnTo>
                    <a:pt x="2059503" y="2653999"/>
                  </a:lnTo>
                  <a:close/>
                </a:path>
                <a:path w="2083083" h="2677579">
                  <a:moveTo>
                    <a:pt x="2059503" y="11783"/>
                  </a:moveTo>
                  <a:lnTo>
                    <a:pt x="2059503" y="2665771"/>
                  </a:lnTo>
                  <a:lnTo>
                    <a:pt x="2071298" y="2653999"/>
                  </a:lnTo>
                  <a:lnTo>
                    <a:pt x="2083083" y="2653999"/>
                  </a:lnTo>
                  <a:lnTo>
                    <a:pt x="2083083" y="23567"/>
                  </a:lnTo>
                  <a:lnTo>
                    <a:pt x="2071298" y="23567"/>
                  </a:lnTo>
                  <a:lnTo>
                    <a:pt x="2059503" y="11783"/>
                  </a:lnTo>
                  <a:close/>
                </a:path>
                <a:path w="2083083" h="2677579">
                  <a:moveTo>
                    <a:pt x="2083083" y="2653999"/>
                  </a:moveTo>
                  <a:lnTo>
                    <a:pt x="2071298" y="2653999"/>
                  </a:lnTo>
                  <a:lnTo>
                    <a:pt x="2059503" y="2665771"/>
                  </a:lnTo>
                  <a:lnTo>
                    <a:pt x="2083083" y="2665771"/>
                  </a:lnTo>
                  <a:lnTo>
                    <a:pt x="2083083" y="2653999"/>
                  </a:lnTo>
                  <a:close/>
                </a:path>
                <a:path w="2083083" h="2677579">
                  <a:moveTo>
                    <a:pt x="2083083" y="0"/>
                  </a:moveTo>
                  <a:lnTo>
                    <a:pt x="0" y="0"/>
                  </a:lnTo>
                  <a:lnTo>
                    <a:pt x="0" y="23567"/>
                  </a:lnTo>
                  <a:lnTo>
                    <a:pt x="2059503" y="23567"/>
                  </a:lnTo>
                  <a:lnTo>
                    <a:pt x="2059503" y="11783"/>
                  </a:lnTo>
                  <a:lnTo>
                    <a:pt x="2083083" y="11783"/>
                  </a:lnTo>
                  <a:lnTo>
                    <a:pt x="2083083" y="0"/>
                  </a:lnTo>
                  <a:close/>
                </a:path>
                <a:path w="2083083" h="2677579">
                  <a:moveTo>
                    <a:pt x="2083083" y="11783"/>
                  </a:moveTo>
                  <a:lnTo>
                    <a:pt x="2059503" y="11783"/>
                  </a:lnTo>
                  <a:lnTo>
                    <a:pt x="2071298" y="23567"/>
                  </a:lnTo>
                  <a:lnTo>
                    <a:pt x="2083083" y="23567"/>
                  </a:lnTo>
                  <a:lnTo>
                    <a:pt x="2083083" y="11783"/>
                  </a:lnTo>
                  <a:close/>
                </a:path>
              </a:pathLst>
            </a:custGeom>
            <a:solidFill>
              <a:srgbClr val="EB2D2E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2" name="object 17"/>
            <p:cNvSpPr/>
            <p:nvPr/>
          </p:nvSpPr>
          <p:spPr>
            <a:xfrm>
              <a:off x="5084655" y="2700442"/>
              <a:ext cx="2022023" cy="2590797"/>
            </a:xfrm>
            <a:custGeom>
              <a:avLst/>
              <a:gdLst/>
              <a:ahLst/>
              <a:cxnLst/>
              <a:rect l="l" t="t" r="r" b="b"/>
              <a:pathLst>
                <a:path w="2083084" h="2677580">
                  <a:moveTo>
                    <a:pt x="1882029" y="2586128"/>
                  </a:moveTo>
                  <a:lnTo>
                    <a:pt x="1882029" y="2677580"/>
                  </a:lnTo>
                  <a:lnTo>
                    <a:pt x="2083084" y="2677580"/>
                  </a:lnTo>
                  <a:lnTo>
                    <a:pt x="2083084" y="0"/>
                  </a:lnTo>
                  <a:lnTo>
                    <a:pt x="0" y="0"/>
                  </a:lnTo>
                  <a:lnTo>
                    <a:pt x="0" y="23568"/>
                  </a:lnTo>
                  <a:lnTo>
                    <a:pt x="2071299" y="23568"/>
                  </a:lnTo>
                  <a:lnTo>
                    <a:pt x="2059504" y="2665773"/>
                  </a:lnTo>
                  <a:lnTo>
                    <a:pt x="1893826" y="2654000"/>
                  </a:lnTo>
                  <a:lnTo>
                    <a:pt x="1905599" y="2586128"/>
                  </a:lnTo>
                  <a:lnTo>
                    <a:pt x="1882029" y="2586128"/>
                  </a:lnTo>
                  <a:close/>
                </a:path>
              </a:pathLst>
            </a:custGeom>
            <a:ln w="3931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3" name="object 18"/>
            <p:cNvSpPr/>
            <p:nvPr/>
          </p:nvSpPr>
          <p:spPr>
            <a:xfrm>
              <a:off x="3191689" y="3056239"/>
              <a:ext cx="1496320" cy="3079839"/>
            </a:xfrm>
            <a:custGeom>
              <a:avLst/>
              <a:gdLst/>
              <a:ahLst/>
              <a:cxnLst/>
              <a:rect l="l" t="t" r="r" b="b"/>
              <a:pathLst>
                <a:path w="1541506" h="3183003">
                  <a:moveTo>
                    <a:pt x="0" y="3183003"/>
                  </a:moveTo>
                  <a:lnTo>
                    <a:pt x="0" y="0"/>
                  </a:lnTo>
                  <a:lnTo>
                    <a:pt x="1541506" y="0"/>
                  </a:lnTo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4" name="object 19"/>
            <p:cNvSpPr/>
            <p:nvPr/>
          </p:nvSpPr>
          <p:spPr>
            <a:xfrm>
              <a:off x="5074481" y="2547555"/>
              <a:ext cx="2827595" cy="3563595"/>
            </a:xfrm>
            <a:custGeom>
              <a:avLst/>
              <a:gdLst/>
              <a:ahLst/>
              <a:cxnLst/>
              <a:rect l="l" t="t" r="r" b="b"/>
              <a:pathLst>
                <a:path w="2912982" h="3682963">
                  <a:moveTo>
                    <a:pt x="0" y="0"/>
                  </a:moveTo>
                  <a:lnTo>
                    <a:pt x="2912982" y="605"/>
                  </a:lnTo>
                  <a:lnTo>
                    <a:pt x="2912982" y="3682963"/>
                  </a:lnTo>
                  <a:lnTo>
                    <a:pt x="2222666" y="3682963"/>
                  </a:lnTo>
                  <a:lnTo>
                    <a:pt x="2222666" y="3571200"/>
                  </a:lnTo>
                </a:path>
              </a:pathLst>
            </a:custGeom>
            <a:ln w="31432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5" name="object 20"/>
            <p:cNvSpPr/>
            <p:nvPr/>
          </p:nvSpPr>
          <p:spPr>
            <a:xfrm>
              <a:off x="5948697" y="5454356"/>
              <a:ext cx="279415" cy="443896"/>
            </a:xfrm>
            <a:custGeom>
              <a:avLst/>
              <a:gdLst/>
              <a:ahLst/>
              <a:cxnLst/>
              <a:rect l="l" t="t" r="r" b="b"/>
              <a:pathLst>
                <a:path w="287853" h="458765">
                  <a:moveTo>
                    <a:pt x="143915" y="0"/>
                  </a:moveTo>
                  <a:lnTo>
                    <a:pt x="98430" y="11694"/>
                  </a:lnTo>
                  <a:lnTo>
                    <a:pt x="58924" y="44257"/>
                  </a:lnTo>
                  <a:lnTo>
                    <a:pt x="34646" y="80102"/>
                  </a:lnTo>
                  <a:lnTo>
                    <a:pt x="16065" y="123966"/>
                  </a:lnTo>
                  <a:lnTo>
                    <a:pt x="4183" y="174256"/>
                  </a:lnTo>
                  <a:lnTo>
                    <a:pt x="0" y="229377"/>
                  </a:lnTo>
                  <a:lnTo>
                    <a:pt x="477" y="248189"/>
                  </a:lnTo>
                  <a:lnTo>
                    <a:pt x="7337" y="301878"/>
                  </a:lnTo>
                  <a:lnTo>
                    <a:pt x="21564" y="350205"/>
                  </a:lnTo>
                  <a:lnTo>
                    <a:pt x="42155" y="391576"/>
                  </a:lnTo>
                  <a:lnTo>
                    <a:pt x="68110" y="424396"/>
                  </a:lnTo>
                  <a:lnTo>
                    <a:pt x="109333" y="452098"/>
                  </a:lnTo>
                  <a:lnTo>
                    <a:pt x="143915" y="458765"/>
                  </a:lnTo>
                  <a:lnTo>
                    <a:pt x="155720" y="458005"/>
                  </a:lnTo>
                  <a:lnTo>
                    <a:pt x="199942" y="440738"/>
                  </a:lnTo>
                  <a:lnTo>
                    <a:pt x="228922" y="414504"/>
                  </a:lnTo>
                  <a:lnTo>
                    <a:pt x="253204" y="378657"/>
                  </a:lnTo>
                  <a:lnTo>
                    <a:pt x="271786" y="334790"/>
                  </a:lnTo>
                  <a:lnTo>
                    <a:pt x="283669" y="284499"/>
                  </a:lnTo>
                  <a:lnTo>
                    <a:pt x="287853" y="229377"/>
                  </a:lnTo>
                  <a:lnTo>
                    <a:pt x="287375" y="210565"/>
                  </a:lnTo>
                  <a:lnTo>
                    <a:pt x="280515" y="156877"/>
                  </a:lnTo>
                  <a:lnTo>
                    <a:pt x="266287" y="108552"/>
                  </a:lnTo>
                  <a:lnTo>
                    <a:pt x="245694" y="67184"/>
                  </a:lnTo>
                  <a:lnTo>
                    <a:pt x="219735" y="34366"/>
                  </a:lnTo>
                  <a:lnTo>
                    <a:pt x="178504" y="6666"/>
                  </a:lnTo>
                  <a:lnTo>
                    <a:pt x="1439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6" name="object 21"/>
            <p:cNvSpPr/>
            <p:nvPr/>
          </p:nvSpPr>
          <p:spPr>
            <a:xfrm>
              <a:off x="5948697" y="5454356"/>
              <a:ext cx="279413" cy="443897"/>
            </a:xfrm>
            <a:custGeom>
              <a:avLst/>
              <a:gdLst/>
              <a:ahLst/>
              <a:cxnLst/>
              <a:rect l="l" t="t" r="r" b="b"/>
              <a:pathLst>
                <a:path w="287851" h="458766">
                  <a:moveTo>
                    <a:pt x="143913" y="458766"/>
                  </a:moveTo>
                  <a:lnTo>
                    <a:pt x="189409" y="447070"/>
                  </a:lnTo>
                  <a:lnTo>
                    <a:pt x="228922" y="414504"/>
                  </a:lnTo>
                  <a:lnTo>
                    <a:pt x="253203" y="378657"/>
                  </a:lnTo>
                  <a:lnTo>
                    <a:pt x="271786" y="334790"/>
                  </a:lnTo>
                  <a:lnTo>
                    <a:pt x="283668" y="284499"/>
                  </a:lnTo>
                  <a:lnTo>
                    <a:pt x="287851" y="229377"/>
                  </a:lnTo>
                  <a:lnTo>
                    <a:pt x="287374" y="210565"/>
                  </a:lnTo>
                  <a:lnTo>
                    <a:pt x="280514" y="156877"/>
                  </a:lnTo>
                  <a:lnTo>
                    <a:pt x="266286" y="108552"/>
                  </a:lnTo>
                  <a:lnTo>
                    <a:pt x="245693" y="67184"/>
                  </a:lnTo>
                  <a:lnTo>
                    <a:pt x="219734" y="34366"/>
                  </a:lnTo>
                  <a:lnTo>
                    <a:pt x="178504" y="6666"/>
                  </a:lnTo>
                  <a:lnTo>
                    <a:pt x="143913" y="0"/>
                  </a:lnTo>
                  <a:lnTo>
                    <a:pt x="132111" y="760"/>
                  </a:lnTo>
                  <a:lnTo>
                    <a:pt x="87899" y="18026"/>
                  </a:lnTo>
                  <a:lnTo>
                    <a:pt x="58924" y="44257"/>
                  </a:lnTo>
                  <a:lnTo>
                    <a:pt x="34645" y="80102"/>
                  </a:lnTo>
                  <a:lnTo>
                    <a:pt x="16065" y="123966"/>
                  </a:lnTo>
                  <a:lnTo>
                    <a:pt x="4183" y="174256"/>
                  </a:lnTo>
                  <a:lnTo>
                    <a:pt x="0" y="229377"/>
                  </a:lnTo>
                  <a:lnTo>
                    <a:pt x="477" y="248189"/>
                  </a:lnTo>
                  <a:lnTo>
                    <a:pt x="7337" y="301878"/>
                  </a:lnTo>
                  <a:lnTo>
                    <a:pt x="21563" y="350205"/>
                  </a:lnTo>
                  <a:lnTo>
                    <a:pt x="42154" y="391576"/>
                  </a:lnTo>
                  <a:lnTo>
                    <a:pt x="68110" y="424396"/>
                  </a:lnTo>
                  <a:lnTo>
                    <a:pt x="109332" y="452098"/>
                  </a:lnTo>
                  <a:lnTo>
                    <a:pt x="143913" y="458766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7" name="object 22"/>
            <p:cNvSpPr txBox="1"/>
            <p:nvPr/>
          </p:nvSpPr>
          <p:spPr>
            <a:xfrm>
              <a:off x="5968245" y="5566916"/>
              <a:ext cx="239774" cy="227335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 marR="12700" indent="13335">
                <a:lnSpc>
                  <a:spcPct val="103299"/>
                </a:lnSpc>
              </a:pPr>
              <a:r>
                <a:rPr sz="700" spc="10" dirty="0" smtClean="0">
                  <a:latin typeface="Franklin Gothic Demi"/>
                  <a:cs typeface="Franklin Gothic Demi"/>
                </a:rPr>
                <a:t>Shift left</a:t>
              </a:r>
              <a:r>
                <a:rPr sz="700" spc="40" dirty="0" smtClean="0">
                  <a:latin typeface="Franklin Gothic Demi"/>
                  <a:cs typeface="Franklin Gothic Demi"/>
                </a:rPr>
                <a:t> </a:t>
              </a:r>
              <a:r>
                <a:rPr sz="700" spc="25" dirty="0" smtClean="0">
                  <a:latin typeface="Franklin Gothic Demi"/>
                  <a:cs typeface="Franklin Gothic Demi"/>
                </a:rPr>
                <a:t>2</a:t>
              </a:r>
              <a:endParaRPr sz="700">
                <a:latin typeface="Franklin Gothic Demi"/>
                <a:cs typeface="Franklin Gothic Demi"/>
              </a:endParaRPr>
            </a:p>
          </p:txBody>
        </p:sp>
        <p:sp>
          <p:nvSpPr>
            <p:cNvPr id="58" name="object 23"/>
            <p:cNvSpPr/>
            <p:nvPr/>
          </p:nvSpPr>
          <p:spPr>
            <a:xfrm>
              <a:off x="3192954" y="5554290"/>
              <a:ext cx="1722103" cy="581787"/>
            </a:xfrm>
            <a:custGeom>
              <a:avLst/>
              <a:gdLst/>
              <a:ahLst/>
              <a:cxnLst/>
              <a:rect l="l" t="t" r="r" b="b"/>
              <a:pathLst>
                <a:path w="1774107" h="601275">
                  <a:moveTo>
                    <a:pt x="1774107" y="0"/>
                  </a:moveTo>
                  <a:lnTo>
                    <a:pt x="1774107" y="601275"/>
                  </a:lnTo>
                  <a:lnTo>
                    <a:pt x="0" y="601275"/>
                  </a:lnTo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9" name="object 24"/>
            <p:cNvSpPr/>
            <p:nvPr/>
          </p:nvSpPr>
          <p:spPr>
            <a:xfrm>
              <a:off x="4841542" y="3190999"/>
              <a:ext cx="497375" cy="1216063"/>
            </a:xfrm>
            <a:custGeom>
              <a:avLst/>
              <a:gdLst/>
              <a:ahLst/>
              <a:cxnLst/>
              <a:rect l="l" t="t" r="r" b="b"/>
              <a:pathLst>
                <a:path w="512395" h="1256797">
                  <a:moveTo>
                    <a:pt x="0" y="1256797"/>
                  </a:moveTo>
                  <a:lnTo>
                    <a:pt x="0" y="722947"/>
                  </a:lnTo>
                  <a:lnTo>
                    <a:pt x="512395" y="722947"/>
                  </a:lnTo>
                  <a:lnTo>
                    <a:pt x="512395" y="0"/>
                  </a:lnTo>
                  <a:lnTo>
                    <a:pt x="208540" y="0"/>
                  </a:lnTo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0" name="object 25"/>
            <p:cNvSpPr/>
            <p:nvPr/>
          </p:nvSpPr>
          <p:spPr>
            <a:xfrm>
              <a:off x="2066726" y="2615670"/>
              <a:ext cx="2606028" cy="1235582"/>
            </a:xfrm>
            <a:custGeom>
              <a:avLst/>
              <a:gdLst/>
              <a:ahLst/>
              <a:cxnLst/>
              <a:rect l="l" t="t" r="r" b="b"/>
              <a:pathLst>
                <a:path w="2684724" h="1276970">
                  <a:moveTo>
                    <a:pt x="0" y="1276970"/>
                  </a:moveTo>
                  <a:lnTo>
                    <a:pt x="0" y="0"/>
                  </a:lnTo>
                  <a:lnTo>
                    <a:pt x="2684724" y="0"/>
                  </a:lnTo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1" name="object 26"/>
            <p:cNvSpPr/>
            <p:nvPr/>
          </p:nvSpPr>
          <p:spPr>
            <a:xfrm>
              <a:off x="3125574" y="4474824"/>
              <a:ext cx="355427" cy="0"/>
            </a:xfrm>
            <a:custGeom>
              <a:avLst/>
              <a:gdLst/>
              <a:ahLst/>
              <a:cxnLst/>
              <a:rect l="l" t="t" r="r" b="b"/>
              <a:pathLst>
                <a:path w="366160">
                  <a:moveTo>
                    <a:pt x="366160" y="0"/>
                  </a:move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2" name="object 27"/>
            <p:cNvSpPr/>
            <p:nvPr/>
          </p:nvSpPr>
          <p:spPr>
            <a:xfrm>
              <a:off x="1573223" y="3699693"/>
              <a:ext cx="169341" cy="472640"/>
            </a:xfrm>
            <a:custGeom>
              <a:avLst/>
              <a:gdLst/>
              <a:ahLst/>
              <a:cxnLst/>
              <a:rect l="l" t="t" r="r" b="b"/>
              <a:pathLst>
                <a:path w="174455" h="488472">
                  <a:moveTo>
                    <a:pt x="0" y="488472"/>
                  </a:moveTo>
                  <a:lnTo>
                    <a:pt x="174455" y="488472"/>
                  </a:lnTo>
                  <a:lnTo>
                    <a:pt x="174455" y="0"/>
                  </a:lnTo>
                  <a:lnTo>
                    <a:pt x="0" y="0"/>
                  </a:lnTo>
                  <a:lnTo>
                    <a:pt x="0" y="488472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3" name="object 28"/>
            <p:cNvSpPr txBox="1"/>
            <p:nvPr/>
          </p:nvSpPr>
          <p:spPr>
            <a:xfrm>
              <a:off x="1431359" y="3681676"/>
              <a:ext cx="140536" cy="117354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30" dirty="0" smtClean="0">
                  <a:latin typeface="Franklin Gothic Demi"/>
                  <a:cs typeface="Franklin Gothic Demi"/>
                </a:rPr>
                <a:t>PC</a:t>
              </a:r>
              <a:endParaRPr sz="700" dirty="0">
                <a:latin typeface="Franklin Gothic Demi"/>
                <a:cs typeface="Franklin Gothic Demi"/>
              </a:endParaRPr>
            </a:p>
          </p:txBody>
        </p:sp>
        <p:sp>
          <p:nvSpPr>
            <p:cNvPr id="64" name="object 29"/>
            <p:cNvSpPr/>
            <p:nvPr/>
          </p:nvSpPr>
          <p:spPr>
            <a:xfrm>
              <a:off x="1742888" y="3935681"/>
              <a:ext cx="201794" cy="0"/>
            </a:xfrm>
            <a:custGeom>
              <a:avLst/>
              <a:gdLst/>
              <a:ahLst/>
              <a:cxnLst/>
              <a:rect l="l" t="t" r="r" b="b"/>
              <a:pathLst>
                <a:path w="207888">
                  <a:moveTo>
                    <a:pt x="0" y="0"/>
                  </a:moveTo>
                  <a:lnTo>
                    <a:pt x="207888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5" name="object 30"/>
            <p:cNvSpPr/>
            <p:nvPr/>
          </p:nvSpPr>
          <p:spPr>
            <a:xfrm>
              <a:off x="2150837" y="4137209"/>
              <a:ext cx="97358" cy="0"/>
            </a:xfrm>
            <a:custGeom>
              <a:avLst/>
              <a:gdLst/>
              <a:ahLst/>
              <a:cxnLst/>
              <a:rect l="l" t="t" r="r" b="b"/>
              <a:pathLst>
                <a:path w="100298">
                  <a:moveTo>
                    <a:pt x="100298" y="0"/>
                  </a:move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6" name="object 31"/>
            <p:cNvSpPr/>
            <p:nvPr/>
          </p:nvSpPr>
          <p:spPr>
            <a:xfrm>
              <a:off x="1981562" y="3851791"/>
              <a:ext cx="168665" cy="571254"/>
            </a:xfrm>
            <a:custGeom>
              <a:avLst/>
              <a:gdLst/>
              <a:ahLst/>
              <a:cxnLst/>
              <a:rect l="l" t="t" r="r" b="b"/>
              <a:pathLst>
                <a:path w="173758" h="590389">
                  <a:moveTo>
                    <a:pt x="76994" y="0"/>
                  </a:moveTo>
                  <a:lnTo>
                    <a:pt x="37775" y="14637"/>
                  </a:lnTo>
                  <a:lnTo>
                    <a:pt x="10333" y="45184"/>
                  </a:lnTo>
                  <a:lnTo>
                    <a:pt x="0" y="86312"/>
                  </a:lnTo>
                  <a:lnTo>
                    <a:pt x="80" y="507825"/>
                  </a:lnTo>
                  <a:lnTo>
                    <a:pt x="11184" y="546153"/>
                  </a:lnTo>
                  <a:lnTo>
                    <a:pt x="38959" y="574878"/>
                  </a:lnTo>
                  <a:lnTo>
                    <a:pt x="80423" y="589457"/>
                  </a:lnTo>
                  <a:lnTo>
                    <a:pt x="96772" y="590389"/>
                  </a:lnTo>
                  <a:lnTo>
                    <a:pt x="110823" y="587605"/>
                  </a:lnTo>
                  <a:lnTo>
                    <a:pt x="146705" y="567066"/>
                  </a:lnTo>
                  <a:lnTo>
                    <a:pt x="169035" y="532397"/>
                  </a:lnTo>
                  <a:lnTo>
                    <a:pt x="173758" y="504067"/>
                  </a:lnTo>
                  <a:lnTo>
                    <a:pt x="173679" y="82569"/>
                  </a:lnTo>
                  <a:lnTo>
                    <a:pt x="162579" y="44237"/>
                  </a:lnTo>
                  <a:lnTo>
                    <a:pt x="134806" y="15511"/>
                  </a:lnTo>
                  <a:lnTo>
                    <a:pt x="93343" y="931"/>
                  </a:lnTo>
                  <a:lnTo>
                    <a:pt x="769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7" name="object 32"/>
            <p:cNvSpPr/>
            <p:nvPr/>
          </p:nvSpPr>
          <p:spPr>
            <a:xfrm>
              <a:off x="1981562" y="3851791"/>
              <a:ext cx="168665" cy="571254"/>
            </a:xfrm>
            <a:custGeom>
              <a:avLst/>
              <a:gdLst/>
              <a:ahLst/>
              <a:cxnLst/>
              <a:rect l="l" t="t" r="r" b="b"/>
              <a:pathLst>
                <a:path w="173758" h="590389">
                  <a:moveTo>
                    <a:pt x="0" y="86312"/>
                  </a:moveTo>
                  <a:lnTo>
                    <a:pt x="10333" y="45184"/>
                  </a:lnTo>
                  <a:lnTo>
                    <a:pt x="37775" y="14637"/>
                  </a:lnTo>
                  <a:lnTo>
                    <a:pt x="76994" y="0"/>
                  </a:lnTo>
                  <a:lnTo>
                    <a:pt x="93343" y="931"/>
                  </a:lnTo>
                  <a:lnTo>
                    <a:pt x="134806" y="15511"/>
                  </a:lnTo>
                  <a:lnTo>
                    <a:pt x="162579" y="44237"/>
                  </a:lnTo>
                  <a:lnTo>
                    <a:pt x="173679" y="82569"/>
                  </a:lnTo>
                  <a:lnTo>
                    <a:pt x="173758" y="504067"/>
                  </a:lnTo>
                  <a:lnTo>
                    <a:pt x="172545" y="518622"/>
                  </a:lnTo>
                  <a:lnTo>
                    <a:pt x="155918" y="556817"/>
                  </a:lnTo>
                  <a:lnTo>
                    <a:pt x="123960" y="582658"/>
                  </a:lnTo>
                  <a:lnTo>
                    <a:pt x="96772" y="590389"/>
                  </a:lnTo>
                  <a:lnTo>
                    <a:pt x="80423" y="589457"/>
                  </a:lnTo>
                  <a:lnTo>
                    <a:pt x="38959" y="574878"/>
                  </a:lnTo>
                  <a:lnTo>
                    <a:pt x="11184" y="546153"/>
                  </a:lnTo>
                  <a:lnTo>
                    <a:pt x="80" y="507825"/>
                  </a:lnTo>
                  <a:lnTo>
                    <a:pt x="0" y="86312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8" name="object 33"/>
            <p:cNvSpPr txBox="1"/>
            <p:nvPr/>
          </p:nvSpPr>
          <p:spPr>
            <a:xfrm>
              <a:off x="2003054" y="3992318"/>
              <a:ext cx="115264" cy="41043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23495">
                <a:lnSpc>
                  <a:spcPct val="100000"/>
                </a:lnSpc>
              </a:pPr>
              <a:r>
                <a:rPr sz="700" spc="40" dirty="0" smtClean="0">
                  <a:latin typeface="Franklin Gothic Demi"/>
                  <a:cs typeface="Franklin Gothic Demi"/>
                </a:rPr>
                <a:t>M</a:t>
              </a:r>
              <a:endParaRPr sz="700">
                <a:latin typeface="Franklin Gothic Demi"/>
                <a:cs typeface="Franklin Gothic Demi"/>
              </a:endParaRPr>
            </a:p>
            <a:p>
              <a:pPr marL="39370" marR="27940">
                <a:lnSpc>
                  <a:spcPts val="730"/>
                </a:lnSpc>
                <a:spcBef>
                  <a:spcPts val="5"/>
                </a:spcBef>
              </a:pPr>
              <a:r>
                <a:rPr sz="700" spc="15" dirty="0" smtClean="0">
                  <a:latin typeface="Franklin Gothic Demi"/>
                  <a:cs typeface="Franklin Gothic Demi"/>
                </a:rPr>
                <a:t>u</a:t>
              </a:r>
              <a:r>
                <a:rPr sz="700" spc="5" dirty="0" smtClean="0">
                  <a:latin typeface="Franklin Gothic Demi"/>
                  <a:cs typeface="Franklin Gothic Demi"/>
                </a:rPr>
                <a:t> </a:t>
              </a:r>
              <a:r>
                <a:rPr sz="700" spc="45" dirty="0" smtClean="0">
                  <a:latin typeface="Franklin Gothic Demi"/>
                  <a:cs typeface="Franklin Gothic Demi"/>
                </a:rPr>
                <a:t>x</a:t>
              </a:r>
              <a:endParaRPr sz="700">
                <a:latin typeface="Franklin Gothic Demi"/>
                <a:cs typeface="Franklin Gothic Demi"/>
              </a:endParaRPr>
            </a:p>
            <a:p>
              <a:pPr marL="12700">
                <a:lnSpc>
                  <a:spcPct val="100000"/>
                </a:lnSpc>
                <a:spcBef>
                  <a:spcPts val="70"/>
                </a:spcBef>
              </a:pPr>
              <a:r>
                <a:rPr sz="700" spc="25" dirty="0" smtClean="0">
                  <a:latin typeface="Franklin Gothic Book"/>
                  <a:cs typeface="Franklin Gothic Book"/>
                </a:rPr>
                <a:t>1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69" name="object 34"/>
            <p:cNvSpPr txBox="1"/>
            <p:nvPr/>
          </p:nvSpPr>
          <p:spPr>
            <a:xfrm>
              <a:off x="2003054" y="3879879"/>
              <a:ext cx="78897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5" dirty="0" smtClean="0">
                  <a:latin typeface="Franklin Gothic Book"/>
                  <a:cs typeface="Franklin Gothic Book"/>
                </a:rPr>
                <a:t>0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70" name="object 35"/>
            <p:cNvSpPr/>
            <p:nvPr/>
          </p:nvSpPr>
          <p:spPr>
            <a:xfrm>
              <a:off x="4999256" y="4880465"/>
              <a:ext cx="139840" cy="184760"/>
            </a:xfrm>
            <a:custGeom>
              <a:avLst/>
              <a:gdLst/>
              <a:ahLst/>
              <a:cxnLst/>
              <a:rect l="l" t="t" r="r" b="b"/>
              <a:pathLst>
                <a:path w="144063" h="190949">
                  <a:moveTo>
                    <a:pt x="144063" y="0"/>
                  </a:moveTo>
                  <a:lnTo>
                    <a:pt x="69460" y="0"/>
                  </a:lnTo>
                  <a:lnTo>
                    <a:pt x="69460" y="190949"/>
                  </a:lnTo>
                  <a:lnTo>
                    <a:pt x="0" y="190949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1" name="object 36"/>
            <p:cNvSpPr/>
            <p:nvPr/>
          </p:nvSpPr>
          <p:spPr>
            <a:xfrm>
              <a:off x="4542433" y="4340108"/>
              <a:ext cx="177352" cy="135236"/>
            </a:xfrm>
            <a:custGeom>
              <a:avLst/>
              <a:gdLst/>
              <a:ahLst/>
              <a:cxnLst/>
              <a:rect l="l" t="t" r="r" b="b"/>
              <a:pathLst>
                <a:path w="182708" h="139766">
                  <a:moveTo>
                    <a:pt x="182708" y="139766"/>
                  </a:moveTo>
                  <a:lnTo>
                    <a:pt x="0" y="139766"/>
                  </a:ln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2" name="object 37"/>
            <p:cNvSpPr/>
            <p:nvPr/>
          </p:nvSpPr>
          <p:spPr>
            <a:xfrm>
              <a:off x="4933364" y="4610380"/>
              <a:ext cx="205733" cy="0"/>
            </a:xfrm>
            <a:custGeom>
              <a:avLst/>
              <a:gdLst/>
              <a:ahLst/>
              <a:cxnLst/>
              <a:rect l="l" t="t" r="r" b="b"/>
              <a:pathLst>
                <a:path w="211946">
                  <a:moveTo>
                    <a:pt x="211946" y="0"/>
                  </a:move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3" name="object 38"/>
            <p:cNvSpPr/>
            <p:nvPr/>
          </p:nvSpPr>
          <p:spPr>
            <a:xfrm>
              <a:off x="5204014" y="3946564"/>
              <a:ext cx="774816" cy="1057800"/>
            </a:xfrm>
            <a:custGeom>
              <a:avLst/>
              <a:gdLst/>
              <a:ahLst/>
              <a:cxnLst/>
              <a:rect l="l" t="t" r="r" b="b"/>
              <a:pathLst>
                <a:path w="798214" h="1093233">
                  <a:moveTo>
                    <a:pt x="0" y="1093233"/>
                  </a:moveTo>
                  <a:lnTo>
                    <a:pt x="798214" y="1093233"/>
                  </a:lnTo>
                  <a:lnTo>
                    <a:pt x="798214" y="0"/>
                  </a:lnTo>
                  <a:lnTo>
                    <a:pt x="0" y="0"/>
                  </a:lnTo>
                  <a:lnTo>
                    <a:pt x="0" y="10932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4" name="object 39"/>
            <p:cNvSpPr/>
            <p:nvPr/>
          </p:nvSpPr>
          <p:spPr>
            <a:xfrm>
              <a:off x="5204014" y="3946565"/>
              <a:ext cx="774816" cy="1057800"/>
            </a:xfrm>
            <a:custGeom>
              <a:avLst/>
              <a:gdLst/>
              <a:ahLst/>
              <a:cxnLst/>
              <a:rect l="l" t="t" r="r" b="b"/>
              <a:pathLst>
                <a:path w="798214" h="1093233">
                  <a:moveTo>
                    <a:pt x="0" y="1093233"/>
                  </a:moveTo>
                  <a:lnTo>
                    <a:pt x="798214" y="1093233"/>
                  </a:lnTo>
                  <a:lnTo>
                    <a:pt x="798214" y="0"/>
                  </a:lnTo>
                  <a:lnTo>
                    <a:pt x="0" y="0"/>
                  </a:lnTo>
                  <a:lnTo>
                    <a:pt x="0" y="1093233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5" name="object 40"/>
            <p:cNvSpPr txBox="1"/>
            <p:nvPr/>
          </p:nvSpPr>
          <p:spPr>
            <a:xfrm>
              <a:off x="5231530" y="4437487"/>
              <a:ext cx="586800" cy="19047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93040">
                <a:lnSpc>
                  <a:spcPts val="780"/>
                </a:lnSpc>
              </a:pPr>
              <a:r>
                <a:rPr sz="700" spc="15" dirty="0" smtClean="0">
                  <a:latin typeface="Franklin Gothic Demi"/>
                  <a:cs typeface="Franklin Gothic Demi"/>
                </a:rPr>
                <a:t>Registers</a:t>
              </a:r>
              <a:endParaRPr sz="700">
                <a:latin typeface="Franklin Gothic Demi"/>
                <a:cs typeface="Franklin Gothic Demi"/>
              </a:endParaRPr>
            </a:p>
            <a:p>
              <a:pPr marL="12700">
                <a:lnSpc>
                  <a:spcPts val="655"/>
                </a:lnSpc>
              </a:pPr>
              <a:r>
                <a:rPr sz="700" spc="15" dirty="0" smtClean="0">
                  <a:latin typeface="Franklin Gothic Book"/>
                  <a:cs typeface="Franklin Gothic Book"/>
                </a:rPr>
                <a:t>Write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76" name="object 41"/>
            <p:cNvSpPr txBox="1"/>
            <p:nvPr/>
          </p:nvSpPr>
          <p:spPr>
            <a:xfrm>
              <a:off x="5231530" y="4523308"/>
              <a:ext cx="322987" cy="465115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 marR="12700">
                <a:lnSpc>
                  <a:spcPct val="174400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register</a:t>
              </a:r>
              <a:r>
                <a:rPr sz="700" spc="10" dirty="0" smtClean="0">
                  <a:latin typeface="Franklin Gothic Book"/>
                  <a:cs typeface="Franklin Gothic Book"/>
                </a:rPr>
                <a:t> </a:t>
              </a:r>
              <a:r>
                <a:rPr sz="700" spc="15" dirty="0" smtClean="0">
                  <a:latin typeface="Franklin Gothic Book"/>
                  <a:cs typeface="Franklin Gothic Book"/>
                </a:rPr>
                <a:t>Write</a:t>
              </a:r>
              <a:endParaRPr sz="700">
                <a:latin typeface="Franklin Gothic Book"/>
                <a:cs typeface="Franklin Gothic Book"/>
              </a:endParaRPr>
            </a:p>
            <a:p>
              <a:pPr marL="12700">
                <a:lnSpc>
                  <a:spcPts val="735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data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77" name="object 42"/>
            <p:cNvSpPr txBox="1"/>
            <p:nvPr/>
          </p:nvSpPr>
          <p:spPr>
            <a:xfrm>
              <a:off x="5714519" y="4206243"/>
              <a:ext cx="227447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Read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78" name="object 43"/>
            <p:cNvSpPr txBox="1"/>
            <p:nvPr/>
          </p:nvSpPr>
          <p:spPr>
            <a:xfrm>
              <a:off x="5231523" y="4330035"/>
              <a:ext cx="710077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register</a:t>
              </a:r>
              <a:r>
                <a:rPr sz="700" spc="40" dirty="0" smtClean="0">
                  <a:latin typeface="Franklin Gothic Book"/>
                  <a:cs typeface="Franklin Gothic Book"/>
                </a:rPr>
                <a:t> </a:t>
              </a:r>
              <a:r>
                <a:rPr sz="700" spc="25" dirty="0" smtClean="0">
                  <a:latin typeface="Franklin Gothic Book"/>
                  <a:cs typeface="Franklin Gothic Book"/>
                </a:rPr>
                <a:t>2 </a:t>
              </a:r>
              <a:r>
                <a:rPr sz="700" spc="50" dirty="0" smtClean="0">
                  <a:latin typeface="Franklin Gothic Book"/>
                  <a:cs typeface="Franklin Gothic Book"/>
                </a:rPr>
                <a:t> </a:t>
              </a:r>
              <a:r>
                <a:rPr sz="1050" spc="22" baseline="19841" dirty="0" smtClean="0">
                  <a:latin typeface="Franklin Gothic Book"/>
                  <a:cs typeface="Franklin Gothic Book"/>
                </a:rPr>
                <a:t>d</a:t>
              </a:r>
              <a:r>
                <a:rPr sz="1050" spc="30" baseline="19841" dirty="0" smtClean="0">
                  <a:latin typeface="Franklin Gothic Book"/>
                  <a:cs typeface="Franklin Gothic Book"/>
                </a:rPr>
                <a:t>a</a:t>
              </a:r>
              <a:r>
                <a:rPr sz="1050" spc="22" baseline="19841" dirty="0" smtClean="0">
                  <a:latin typeface="Franklin Gothic Book"/>
                  <a:cs typeface="Franklin Gothic Book"/>
                </a:rPr>
                <a:t>t</a:t>
              </a:r>
              <a:r>
                <a:rPr sz="1050" spc="30" baseline="19841" dirty="0" smtClean="0">
                  <a:latin typeface="Franklin Gothic Book"/>
                  <a:cs typeface="Franklin Gothic Book"/>
                </a:rPr>
                <a:t>a</a:t>
              </a:r>
              <a:r>
                <a:rPr sz="1050" spc="60" baseline="19841" dirty="0" smtClean="0">
                  <a:latin typeface="Franklin Gothic Book"/>
                  <a:cs typeface="Franklin Gothic Book"/>
                </a:rPr>
                <a:t> </a:t>
              </a:r>
              <a:r>
                <a:rPr sz="1050" spc="37" baseline="19841" dirty="0" smtClean="0">
                  <a:latin typeface="Franklin Gothic Book"/>
                  <a:cs typeface="Franklin Gothic Book"/>
                </a:rPr>
                <a:t>1</a:t>
              </a:r>
              <a:endParaRPr sz="1050" baseline="19841">
                <a:latin typeface="Franklin Gothic Book"/>
                <a:cs typeface="Franklin Gothic Book"/>
              </a:endParaRPr>
            </a:p>
          </p:txBody>
        </p:sp>
        <p:sp>
          <p:nvSpPr>
            <p:cNvPr id="79" name="object 44"/>
            <p:cNvSpPr txBox="1"/>
            <p:nvPr/>
          </p:nvSpPr>
          <p:spPr>
            <a:xfrm>
              <a:off x="5714519" y="4544543"/>
              <a:ext cx="227447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Read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80" name="object 45"/>
            <p:cNvSpPr txBox="1"/>
            <p:nvPr/>
          </p:nvSpPr>
          <p:spPr>
            <a:xfrm>
              <a:off x="5660331" y="4634567"/>
              <a:ext cx="281689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15" dirty="0" smtClean="0">
                  <a:latin typeface="Franklin Gothic Book"/>
                  <a:cs typeface="Franklin Gothic Book"/>
                </a:rPr>
                <a:t>d</a:t>
              </a:r>
              <a:r>
                <a:rPr sz="700" spc="20" dirty="0" smtClean="0">
                  <a:latin typeface="Franklin Gothic Book"/>
                  <a:cs typeface="Franklin Gothic Book"/>
                </a:rPr>
                <a:t>a</a:t>
              </a:r>
              <a:r>
                <a:rPr sz="700" spc="15" dirty="0" smtClean="0">
                  <a:latin typeface="Franklin Gothic Book"/>
                  <a:cs typeface="Franklin Gothic Book"/>
                </a:rPr>
                <a:t>t</a:t>
              </a:r>
              <a:r>
                <a:rPr sz="700" spc="20" dirty="0" smtClean="0">
                  <a:latin typeface="Franklin Gothic Book"/>
                  <a:cs typeface="Franklin Gothic Book"/>
                </a:rPr>
                <a:t>a</a:t>
              </a:r>
              <a:r>
                <a:rPr sz="700" spc="40" dirty="0" smtClean="0">
                  <a:latin typeface="Franklin Gothic Book"/>
                  <a:cs typeface="Franklin Gothic Book"/>
                </a:rPr>
                <a:t> </a:t>
              </a:r>
              <a:r>
                <a:rPr sz="700" spc="25" dirty="0" smtClean="0">
                  <a:latin typeface="Franklin Gothic Book"/>
                  <a:cs typeface="Franklin Gothic Book"/>
                </a:rPr>
                <a:t>2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81" name="object 46"/>
            <p:cNvSpPr txBox="1"/>
            <p:nvPr/>
          </p:nvSpPr>
          <p:spPr>
            <a:xfrm>
              <a:off x="5231523" y="3984186"/>
              <a:ext cx="404349" cy="19354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 marR="12700">
                <a:lnSpc>
                  <a:spcPts val="730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Read</a:t>
              </a:r>
              <a:r>
                <a:rPr sz="700" spc="10" dirty="0" smtClean="0">
                  <a:latin typeface="Franklin Gothic Book"/>
                  <a:cs typeface="Franklin Gothic Book"/>
                </a:rPr>
                <a:t> </a:t>
              </a:r>
              <a:r>
                <a:rPr sz="700" spc="20" dirty="0" smtClean="0">
                  <a:latin typeface="Franklin Gothic Book"/>
                  <a:cs typeface="Franklin Gothic Book"/>
                </a:rPr>
                <a:t>register</a:t>
              </a:r>
              <a:r>
                <a:rPr sz="700" spc="40" dirty="0" smtClean="0">
                  <a:latin typeface="Franklin Gothic Book"/>
                  <a:cs typeface="Franklin Gothic Book"/>
                </a:rPr>
                <a:t> </a:t>
              </a:r>
              <a:r>
                <a:rPr sz="700" spc="25" dirty="0" smtClean="0">
                  <a:latin typeface="Franklin Gothic Book"/>
                  <a:cs typeface="Franklin Gothic Book"/>
                </a:rPr>
                <a:t>1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82" name="object 47"/>
            <p:cNvSpPr txBox="1"/>
            <p:nvPr/>
          </p:nvSpPr>
          <p:spPr>
            <a:xfrm>
              <a:off x="5231523" y="4240010"/>
              <a:ext cx="227447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Read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83" name="object 48"/>
            <p:cNvSpPr/>
            <p:nvPr/>
          </p:nvSpPr>
          <p:spPr>
            <a:xfrm>
              <a:off x="4159169" y="4340306"/>
              <a:ext cx="972295" cy="0"/>
            </a:xfrm>
            <a:custGeom>
              <a:avLst/>
              <a:gdLst/>
              <a:ahLst/>
              <a:cxnLst/>
              <a:rect l="l" t="t" r="r" b="b"/>
              <a:pathLst>
                <a:path w="1001656">
                  <a:moveTo>
                    <a:pt x="0" y="0"/>
                  </a:moveTo>
                  <a:lnTo>
                    <a:pt x="1001656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4" name="object 49"/>
            <p:cNvSpPr/>
            <p:nvPr/>
          </p:nvSpPr>
          <p:spPr>
            <a:xfrm>
              <a:off x="4159169" y="4070232"/>
              <a:ext cx="976111" cy="0"/>
            </a:xfrm>
            <a:custGeom>
              <a:avLst/>
              <a:gdLst/>
              <a:ahLst/>
              <a:cxnLst/>
              <a:rect l="l" t="t" r="r" b="b"/>
              <a:pathLst>
                <a:path w="1005587">
                  <a:moveTo>
                    <a:pt x="0" y="0"/>
                  </a:moveTo>
                  <a:lnTo>
                    <a:pt x="1005587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5" name="object 50"/>
            <p:cNvSpPr/>
            <p:nvPr/>
          </p:nvSpPr>
          <p:spPr>
            <a:xfrm>
              <a:off x="4764710" y="4392393"/>
              <a:ext cx="168654" cy="571256"/>
            </a:xfrm>
            <a:custGeom>
              <a:avLst/>
              <a:gdLst/>
              <a:ahLst/>
              <a:cxnLst/>
              <a:rect l="l" t="t" r="r" b="b"/>
              <a:pathLst>
                <a:path w="173747" h="590391">
                  <a:moveTo>
                    <a:pt x="76985" y="0"/>
                  </a:moveTo>
                  <a:lnTo>
                    <a:pt x="37773" y="14643"/>
                  </a:lnTo>
                  <a:lnTo>
                    <a:pt x="10332" y="45198"/>
                  </a:lnTo>
                  <a:lnTo>
                    <a:pt x="0" y="86323"/>
                  </a:lnTo>
                  <a:lnTo>
                    <a:pt x="78" y="507808"/>
                  </a:lnTo>
                  <a:lnTo>
                    <a:pt x="11171" y="546143"/>
                  </a:lnTo>
                  <a:lnTo>
                    <a:pt x="38940" y="574874"/>
                  </a:lnTo>
                  <a:lnTo>
                    <a:pt x="80399" y="589458"/>
                  </a:lnTo>
                  <a:lnTo>
                    <a:pt x="96746" y="590391"/>
                  </a:lnTo>
                  <a:lnTo>
                    <a:pt x="110801" y="587610"/>
                  </a:lnTo>
                  <a:lnTo>
                    <a:pt x="146692" y="567079"/>
                  </a:lnTo>
                  <a:lnTo>
                    <a:pt x="169023" y="532416"/>
                  </a:lnTo>
                  <a:lnTo>
                    <a:pt x="173747" y="504089"/>
                  </a:lnTo>
                  <a:lnTo>
                    <a:pt x="173667" y="82574"/>
                  </a:lnTo>
                  <a:lnTo>
                    <a:pt x="162568" y="44247"/>
                  </a:lnTo>
                  <a:lnTo>
                    <a:pt x="134798" y="15517"/>
                  </a:lnTo>
                  <a:lnTo>
                    <a:pt x="93335" y="932"/>
                  </a:lnTo>
                  <a:lnTo>
                    <a:pt x="76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6" name="object 51"/>
            <p:cNvSpPr/>
            <p:nvPr/>
          </p:nvSpPr>
          <p:spPr>
            <a:xfrm>
              <a:off x="4764709" y="4392393"/>
              <a:ext cx="168654" cy="571256"/>
            </a:xfrm>
            <a:custGeom>
              <a:avLst/>
              <a:gdLst/>
              <a:ahLst/>
              <a:cxnLst/>
              <a:rect l="l" t="t" r="r" b="b"/>
              <a:pathLst>
                <a:path w="173747" h="590391">
                  <a:moveTo>
                    <a:pt x="0" y="86323"/>
                  </a:moveTo>
                  <a:lnTo>
                    <a:pt x="10332" y="45198"/>
                  </a:lnTo>
                  <a:lnTo>
                    <a:pt x="37773" y="14643"/>
                  </a:lnTo>
                  <a:lnTo>
                    <a:pt x="76985" y="0"/>
                  </a:lnTo>
                  <a:lnTo>
                    <a:pt x="93335" y="932"/>
                  </a:lnTo>
                  <a:lnTo>
                    <a:pt x="134798" y="15517"/>
                  </a:lnTo>
                  <a:lnTo>
                    <a:pt x="162568" y="44247"/>
                  </a:lnTo>
                  <a:lnTo>
                    <a:pt x="173667" y="82574"/>
                  </a:lnTo>
                  <a:lnTo>
                    <a:pt x="173747" y="504089"/>
                  </a:lnTo>
                  <a:lnTo>
                    <a:pt x="172533" y="518643"/>
                  </a:lnTo>
                  <a:lnTo>
                    <a:pt x="155905" y="556832"/>
                  </a:lnTo>
                  <a:lnTo>
                    <a:pt x="123942" y="582666"/>
                  </a:lnTo>
                  <a:lnTo>
                    <a:pt x="96746" y="590391"/>
                  </a:lnTo>
                  <a:lnTo>
                    <a:pt x="80399" y="589458"/>
                  </a:lnTo>
                  <a:lnTo>
                    <a:pt x="38940" y="574874"/>
                  </a:lnTo>
                  <a:lnTo>
                    <a:pt x="11171" y="546143"/>
                  </a:lnTo>
                  <a:lnTo>
                    <a:pt x="78" y="507808"/>
                  </a:lnTo>
                  <a:lnTo>
                    <a:pt x="0" y="86323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7" name="object 52"/>
            <p:cNvSpPr txBox="1"/>
            <p:nvPr/>
          </p:nvSpPr>
          <p:spPr>
            <a:xfrm>
              <a:off x="4318447" y="4635176"/>
              <a:ext cx="567692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Instruction   </a:t>
              </a:r>
              <a:r>
                <a:rPr sz="700" spc="-80" dirty="0" smtClean="0">
                  <a:latin typeface="Franklin Gothic Book"/>
                  <a:cs typeface="Franklin Gothic Book"/>
                </a:rPr>
                <a:t> </a:t>
              </a:r>
              <a:r>
                <a:rPr sz="1050" spc="22" baseline="7936" dirty="0" smtClean="0">
                  <a:latin typeface="Franklin Gothic Demi"/>
                  <a:cs typeface="Franklin Gothic Demi"/>
                </a:rPr>
                <a:t>u</a:t>
              </a:r>
              <a:endParaRPr sz="1050" baseline="7936">
                <a:latin typeface="Franklin Gothic Demi"/>
                <a:cs typeface="Franklin Gothic Demi"/>
              </a:endParaRPr>
            </a:p>
          </p:txBody>
        </p:sp>
        <p:sp>
          <p:nvSpPr>
            <p:cNvPr id="88" name="object 53"/>
            <p:cNvSpPr txBox="1"/>
            <p:nvPr/>
          </p:nvSpPr>
          <p:spPr>
            <a:xfrm>
              <a:off x="4318447" y="4725199"/>
              <a:ext cx="340862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10" dirty="0" smtClean="0">
                  <a:latin typeface="Franklin Gothic Book"/>
                  <a:cs typeface="Franklin Gothic Book"/>
                </a:rPr>
                <a:t>[15–11]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89" name="object 54"/>
            <p:cNvSpPr txBox="1"/>
            <p:nvPr/>
          </p:nvSpPr>
          <p:spPr>
            <a:xfrm>
              <a:off x="4796973" y="4532930"/>
              <a:ext cx="104168" cy="117354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40" dirty="0" smtClean="0">
                  <a:latin typeface="Franklin Gothic Demi"/>
                  <a:cs typeface="Franklin Gothic Demi"/>
                </a:rPr>
                <a:t>M</a:t>
              </a:r>
              <a:endParaRPr sz="700">
                <a:latin typeface="Franklin Gothic Demi"/>
                <a:cs typeface="Franklin Gothic Demi"/>
              </a:endParaRPr>
            </a:p>
          </p:txBody>
        </p:sp>
        <p:sp>
          <p:nvSpPr>
            <p:cNvPr id="90" name="object 55"/>
            <p:cNvSpPr txBox="1"/>
            <p:nvPr/>
          </p:nvSpPr>
          <p:spPr>
            <a:xfrm>
              <a:off x="4786198" y="4712977"/>
              <a:ext cx="99855" cy="230407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39370">
                <a:lnSpc>
                  <a:spcPct val="100000"/>
                </a:lnSpc>
              </a:pPr>
              <a:r>
                <a:rPr sz="700" spc="45" dirty="0" smtClean="0">
                  <a:latin typeface="Franklin Gothic Demi"/>
                  <a:cs typeface="Franklin Gothic Demi"/>
                </a:rPr>
                <a:t>x</a:t>
              </a:r>
              <a:endParaRPr sz="700">
                <a:latin typeface="Franklin Gothic Demi"/>
                <a:cs typeface="Franklin Gothic Demi"/>
              </a:endParaRPr>
            </a:p>
            <a:p>
              <a:pPr marL="12700">
                <a:lnSpc>
                  <a:spcPct val="100000"/>
                </a:lnSpc>
                <a:spcBef>
                  <a:spcPts val="75"/>
                </a:spcBef>
              </a:pPr>
              <a:r>
                <a:rPr sz="700" spc="25" dirty="0" smtClean="0">
                  <a:latin typeface="Franklin Gothic Book"/>
                  <a:cs typeface="Franklin Gothic Book"/>
                </a:rPr>
                <a:t>1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91" name="object 56"/>
            <p:cNvSpPr txBox="1"/>
            <p:nvPr/>
          </p:nvSpPr>
          <p:spPr>
            <a:xfrm>
              <a:off x="4786198" y="4420491"/>
              <a:ext cx="78897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5" dirty="0" smtClean="0">
                  <a:latin typeface="Franklin Gothic Book"/>
                  <a:cs typeface="Franklin Gothic Book"/>
                </a:rPr>
                <a:t>0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92" name="object 57"/>
            <p:cNvSpPr/>
            <p:nvPr/>
          </p:nvSpPr>
          <p:spPr>
            <a:xfrm>
              <a:off x="4830592" y="4982487"/>
              <a:ext cx="168665" cy="571263"/>
            </a:xfrm>
            <a:custGeom>
              <a:avLst/>
              <a:gdLst/>
              <a:ahLst/>
              <a:cxnLst/>
              <a:rect l="l" t="t" r="r" b="b"/>
              <a:pathLst>
                <a:path w="173758" h="590398">
                  <a:moveTo>
                    <a:pt x="76986" y="0"/>
                  </a:moveTo>
                  <a:lnTo>
                    <a:pt x="37771" y="14642"/>
                  </a:lnTo>
                  <a:lnTo>
                    <a:pt x="10331" y="45194"/>
                  </a:lnTo>
                  <a:lnTo>
                    <a:pt x="0" y="86322"/>
                  </a:lnTo>
                  <a:lnTo>
                    <a:pt x="80" y="507840"/>
                  </a:lnTo>
                  <a:lnTo>
                    <a:pt x="11190" y="546169"/>
                  </a:lnTo>
                  <a:lnTo>
                    <a:pt x="38966" y="574890"/>
                  </a:lnTo>
                  <a:lnTo>
                    <a:pt x="80431" y="589467"/>
                  </a:lnTo>
                  <a:lnTo>
                    <a:pt x="96781" y="590398"/>
                  </a:lnTo>
                  <a:lnTo>
                    <a:pt x="110830" y="587613"/>
                  </a:lnTo>
                  <a:lnTo>
                    <a:pt x="146708" y="567072"/>
                  </a:lnTo>
                  <a:lnTo>
                    <a:pt x="169035" y="532400"/>
                  </a:lnTo>
                  <a:lnTo>
                    <a:pt x="173758" y="504065"/>
                  </a:lnTo>
                  <a:lnTo>
                    <a:pt x="173678" y="82563"/>
                  </a:lnTo>
                  <a:lnTo>
                    <a:pt x="162573" y="44236"/>
                  </a:lnTo>
                  <a:lnTo>
                    <a:pt x="134799" y="15511"/>
                  </a:lnTo>
                  <a:lnTo>
                    <a:pt x="93335" y="931"/>
                  </a:lnTo>
                  <a:lnTo>
                    <a:pt x="769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3" name="object 58"/>
            <p:cNvSpPr/>
            <p:nvPr/>
          </p:nvSpPr>
          <p:spPr>
            <a:xfrm>
              <a:off x="4830593" y="4982487"/>
              <a:ext cx="168664" cy="571263"/>
            </a:xfrm>
            <a:custGeom>
              <a:avLst/>
              <a:gdLst/>
              <a:ahLst/>
              <a:cxnLst/>
              <a:rect l="l" t="t" r="r" b="b"/>
              <a:pathLst>
                <a:path w="173757" h="590398">
                  <a:moveTo>
                    <a:pt x="0" y="86322"/>
                  </a:moveTo>
                  <a:lnTo>
                    <a:pt x="10331" y="45194"/>
                  </a:lnTo>
                  <a:lnTo>
                    <a:pt x="37771" y="14642"/>
                  </a:lnTo>
                  <a:lnTo>
                    <a:pt x="76985" y="0"/>
                  </a:lnTo>
                  <a:lnTo>
                    <a:pt x="93334" y="931"/>
                  </a:lnTo>
                  <a:lnTo>
                    <a:pt x="134799" y="15511"/>
                  </a:lnTo>
                  <a:lnTo>
                    <a:pt x="162573" y="44236"/>
                  </a:lnTo>
                  <a:lnTo>
                    <a:pt x="173677" y="82564"/>
                  </a:lnTo>
                  <a:lnTo>
                    <a:pt x="173757" y="504065"/>
                  </a:lnTo>
                  <a:lnTo>
                    <a:pt x="172544" y="518623"/>
                  </a:lnTo>
                  <a:lnTo>
                    <a:pt x="155919" y="556822"/>
                  </a:lnTo>
                  <a:lnTo>
                    <a:pt x="123965" y="582665"/>
                  </a:lnTo>
                  <a:lnTo>
                    <a:pt x="96780" y="590398"/>
                  </a:lnTo>
                  <a:lnTo>
                    <a:pt x="80430" y="589467"/>
                  </a:lnTo>
                  <a:lnTo>
                    <a:pt x="38965" y="574890"/>
                  </a:lnTo>
                  <a:lnTo>
                    <a:pt x="11189" y="546168"/>
                  </a:lnTo>
                  <a:lnTo>
                    <a:pt x="80" y="507840"/>
                  </a:lnTo>
                  <a:lnTo>
                    <a:pt x="0" y="86322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4" name="object 59"/>
            <p:cNvSpPr txBox="1"/>
            <p:nvPr/>
          </p:nvSpPr>
          <p:spPr>
            <a:xfrm>
              <a:off x="4852090" y="5123016"/>
              <a:ext cx="115264" cy="41043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23495">
                <a:lnSpc>
                  <a:spcPct val="100000"/>
                </a:lnSpc>
              </a:pPr>
              <a:r>
                <a:rPr sz="700" spc="40" dirty="0" smtClean="0">
                  <a:latin typeface="Franklin Gothic Demi"/>
                  <a:cs typeface="Franklin Gothic Demi"/>
                </a:rPr>
                <a:t>M</a:t>
              </a:r>
              <a:endParaRPr sz="700">
                <a:latin typeface="Franklin Gothic Demi"/>
                <a:cs typeface="Franklin Gothic Demi"/>
              </a:endParaRPr>
            </a:p>
            <a:p>
              <a:pPr marL="39370" marR="27940">
                <a:lnSpc>
                  <a:spcPts val="730"/>
                </a:lnSpc>
                <a:spcBef>
                  <a:spcPts val="5"/>
                </a:spcBef>
              </a:pPr>
              <a:r>
                <a:rPr sz="700" spc="15" dirty="0" smtClean="0">
                  <a:latin typeface="Franklin Gothic Demi"/>
                  <a:cs typeface="Franklin Gothic Demi"/>
                </a:rPr>
                <a:t>u</a:t>
              </a:r>
              <a:r>
                <a:rPr sz="700" spc="5" dirty="0" smtClean="0">
                  <a:latin typeface="Franklin Gothic Demi"/>
                  <a:cs typeface="Franklin Gothic Demi"/>
                </a:rPr>
                <a:t> </a:t>
              </a:r>
              <a:r>
                <a:rPr sz="700" spc="45" dirty="0" smtClean="0">
                  <a:latin typeface="Franklin Gothic Demi"/>
                  <a:cs typeface="Franklin Gothic Demi"/>
                </a:rPr>
                <a:t>x</a:t>
              </a:r>
              <a:endParaRPr sz="700">
                <a:latin typeface="Franklin Gothic Demi"/>
                <a:cs typeface="Franklin Gothic Demi"/>
              </a:endParaRPr>
            </a:p>
            <a:p>
              <a:pPr marL="12700">
                <a:lnSpc>
                  <a:spcPct val="100000"/>
                </a:lnSpc>
                <a:spcBef>
                  <a:spcPts val="70"/>
                </a:spcBef>
              </a:pPr>
              <a:r>
                <a:rPr sz="700" spc="25" dirty="0" smtClean="0">
                  <a:latin typeface="Franklin Gothic Book"/>
                  <a:cs typeface="Franklin Gothic Book"/>
                </a:rPr>
                <a:t>1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95" name="object 60"/>
            <p:cNvSpPr txBox="1"/>
            <p:nvPr/>
          </p:nvSpPr>
          <p:spPr>
            <a:xfrm>
              <a:off x="4852090" y="5010576"/>
              <a:ext cx="78897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5" dirty="0" smtClean="0">
                  <a:latin typeface="Franklin Gothic Book"/>
                  <a:cs typeface="Franklin Gothic Book"/>
                </a:rPr>
                <a:t>0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96" name="object 61"/>
            <p:cNvSpPr/>
            <p:nvPr/>
          </p:nvSpPr>
          <p:spPr>
            <a:xfrm>
              <a:off x="4724003" y="5061754"/>
              <a:ext cx="61865" cy="1358399"/>
            </a:xfrm>
            <a:custGeom>
              <a:avLst/>
              <a:gdLst/>
              <a:ahLst/>
              <a:cxnLst/>
              <a:rect l="l" t="t" r="r" b="b"/>
              <a:pathLst>
                <a:path w="63733" h="1403901">
                  <a:moveTo>
                    <a:pt x="63733" y="0"/>
                  </a:moveTo>
                  <a:lnTo>
                    <a:pt x="0" y="0"/>
                  </a:lnTo>
                  <a:lnTo>
                    <a:pt x="0" y="1403901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7" name="object 62"/>
            <p:cNvSpPr/>
            <p:nvPr/>
          </p:nvSpPr>
          <p:spPr>
            <a:xfrm>
              <a:off x="6669403" y="4811886"/>
              <a:ext cx="84565" cy="0"/>
            </a:xfrm>
            <a:custGeom>
              <a:avLst/>
              <a:gdLst/>
              <a:ahLst/>
              <a:cxnLst/>
              <a:rect l="l" t="t" r="r" b="b"/>
              <a:pathLst>
                <a:path w="87119">
                  <a:moveTo>
                    <a:pt x="87119" y="0"/>
                  </a:move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8" name="object 63"/>
            <p:cNvSpPr/>
            <p:nvPr/>
          </p:nvSpPr>
          <p:spPr>
            <a:xfrm>
              <a:off x="6417304" y="4676892"/>
              <a:ext cx="336664" cy="21"/>
            </a:xfrm>
            <a:custGeom>
              <a:avLst/>
              <a:gdLst/>
              <a:ahLst/>
              <a:cxnLst/>
              <a:rect l="l" t="t" r="r" b="b"/>
              <a:pathLst>
                <a:path w="346831" h="22">
                  <a:moveTo>
                    <a:pt x="346831" y="22"/>
                  </a:moveTo>
                  <a:lnTo>
                    <a:pt x="346831" y="0"/>
                  </a:ln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9" name="object 64"/>
            <p:cNvSpPr txBox="1"/>
            <p:nvPr/>
          </p:nvSpPr>
          <p:spPr>
            <a:xfrm>
              <a:off x="6568311" y="4756809"/>
              <a:ext cx="78897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5" dirty="0" smtClean="0">
                  <a:latin typeface="Franklin Gothic Book"/>
                  <a:cs typeface="Franklin Gothic Book"/>
                </a:rPr>
                <a:t>4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100" name="object 65"/>
            <p:cNvSpPr/>
            <p:nvPr/>
          </p:nvSpPr>
          <p:spPr>
            <a:xfrm>
              <a:off x="5309761" y="5330323"/>
              <a:ext cx="338673" cy="717388"/>
            </a:xfrm>
            <a:custGeom>
              <a:avLst/>
              <a:gdLst/>
              <a:ahLst/>
              <a:cxnLst/>
              <a:rect l="l" t="t" r="r" b="b"/>
              <a:pathLst>
                <a:path w="348900" h="741418">
                  <a:moveTo>
                    <a:pt x="174456" y="0"/>
                  </a:moveTo>
                  <a:lnTo>
                    <a:pt x="132530" y="10773"/>
                  </a:lnTo>
                  <a:lnTo>
                    <a:pt x="94281" y="41378"/>
                  </a:lnTo>
                  <a:lnTo>
                    <a:pt x="60919" y="89238"/>
                  </a:lnTo>
                  <a:lnTo>
                    <a:pt x="41992" y="129458"/>
                  </a:lnTo>
                  <a:lnTo>
                    <a:pt x="26136" y="175439"/>
                  </a:lnTo>
                  <a:lnTo>
                    <a:pt x="13708" y="226418"/>
                  </a:lnTo>
                  <a:lnTo>
                    <a:pt x="5069" y="281631"/>
                  </a:lnTo>
                  <a:lnTo>
                    <a:pt x="578" y="340315"/>
                  </a:lnTo>
                  <a:lnTo>
                    <a:pt x="0" y="370720"/>
                  </a:lnTo>
                  <a:lnTo>
                    <a:pt x="578" y="401124"/>
                  </a:lnTo>
                  <a:lnTo>
                    <a:pt x="5069" y="459804"/>
                  </a:lnTo>
                  <a:lnTo>
                    <a:pt x="13708" y="515014"/>
                  </a:lnTo>
                  <a:lnTo>
                    <a:pt x="26136" y="565989"/>
                  </a:lnTo>
                  <a:lnTo>
                    <a:pt x="41992" y="611968"/>
                  </a:lnTo>
                  <a:lnTo>
                    <a:pt x="60919" y="652186"/>
                  </a:lnTo>
                  <a:lnTo>
                    <a:pt x="82557" y="685880"/>
                  </a:lnTo>
                  <a:lnTo>
                    <a:pt x="119312" y="722520"/>
                  </a:lnTo>
                  <a:lnTo>
                    <a:pt x="160147" y="740189"/>
                  </a:lnTo>
                  <a:lnTo>
                    <a:pt x="174456" y="741418"/>
                  </a:lnTo>
                  <a:lnTo>
                    <a:pt x="188763" y="740189"/>
                  </a:lnTo>
                  <a:lnTo>
                    <a:pt x="229594" y="722520"/>
                  </a:lnTo>
                  <a:lnTo>
                    <a:pt x="266346" y="685880"/>
                  </a:lnTo>
                  <a:lnTo>
                    <a:pt x="287982" y="652186"/>
                  </a:lnTo>
                  <a:lnTo>
                    <a:pt x="306908" y="611968"/>
                  </a:lnTo>
                  <a:lnTo>
                    <a:pt x="322765" y="565989"/>
                  </a:lnTo>
                  <a:lnTo>
                    <a:pt x="335192" y="515014"/>
                  </a:lnTo>
                  <a:lnTo>
                    <a:pt x="343830" y="459804"/>
                  </a:lnTo>
                  <a:lnTo>
                    <a:pt x="348322" y="401124"/>
                  </a:lnTo>
                  <a:lnTo>
                    <a:pt x="348900" y="370720"/>
                  </a:lnTo>
                  <a:lnTo>
                    <a:pt x="348322" y="340315"/>
                  </a:lnTo>
                  <a:lnTo>
                    <a:pt x="343830" y="281631"/>
                  </a:lnTo>
                  <a:lnTo>
                    <a:pt x="335192" y="226418"/>
                  </a:lnTo>
                  <a:lnTo>
                    <a:pt x="322765" y="175439"/>
                  </a:lnTo>
                  <a:lnTo>
                    <a:pt x="306908" y="129458"/>
                  </a:lnTo>
                  <a:lnTo>
                    <a:pt x="287982" y="89238"/>
                  </a:lnTo>
                  <a:lnTo>
                    <a:pt x="266346" y="55541"/>
                  </a:lnTo>
                  <a:lnTo>
                    <a:pt x="229594" y="18899"/>
                  </a:lnTo>
                  <a:lnTo>
                    <a:pt x="188763" y="1228"/>
                  </a:lnTo>
                  <a:lnTo>
                    <a:pt x="1744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1" name="object 66"/>
            <p:cNvSpPr/>
            <p:nvPr/>
          </p:nvSpPr>
          <p:spPr>
            <a:xfrm>
              <a:off x="5309760" y="5330324"/>
              <a:ext cx="338673" cy="717388"/>
            </a:xfrm>
            <a:custGeom>
              <a:avLst/>
              <a:gdLst/>
              <a:ahLst/>
              <a:cxnLst/>
              <a:rect l="l" t="t" r="r" b="b"/>
              <a:pathLst>
                <a:path w="348900" h="741418">
                  <a:moveTo>
                    <a:pt x="174456" y="741418"/>
                  </a:moveTo>
                  <a:lnTo>
                    <a:pt x="216377" y="730645"/>
                  </a:lnTo>
                  <a:lnTo>
                    <a:pt x="254623" y="700042"/>
                  </a:lnTo>
                  <a:lnTo>
                    <a:pt x="287982" y="652185"/>
                  </a:lnTo>
                  <a:lnTo>
                    <a:pt x="306908" y="611968"/>
                  </a:lnTo>
                  <a:lnTo>
                    <a:pt x="322765" y="565989"/>
                  </a:lnTo>
                  <a:lnTo>
                    <a:pt x="335192" y="515014"/>
                  </a:lnTo>
                  <a:lnTo>
                    <a:pt x="343830" y="459804"/>
                  </a:lnTo>
                  <a:lnTo>
                    <a:pt x="348322" y="401124"/>
                  </a:lnTo>
                  <a:lnTo>
                    <a:pt x="348900" y="370720"/>
                  </a:lnTo>
                  <a:lnTo>
                    <a:pt x="348322" y="340315"/>
                  </a:lnTo>
                  <a:lnTo>
                    <a:pt x="343830" y="281631"/>
                  </a:lnTo>
                  <a:lnTo>
                    <a:pt x="335192" y="226418"/>
                  </a:lnTo>
                  <a:lnTo>
                    <a:pt x="322765" y="175439"/>
                  </a:lnTo>
                  <a:lnTo>
                    <a:pt x="306908" y="129458"/>
                  </a:lnTo>
                  <a:lnTo>
                    <a:pt x="287982" y="89238"/>
                  </a:lnTo>
                  <a:lnTo>
                    <a:pt x="266346" y="55541"/>
                  </a:lnTo>
                  <a:lnTo>
                    <a:pt x="229594" y="18899"/>
                  </a:lnTo>
                  <a:lnTo>
                    <a:pt x="188763" y="1228"/>
                  </a:lnTo>
                  <a:lnTo>
                    <a:pt x="174456" y="0"/>
                  </a:lnTo>
                  <a:lnTo>
                    <a:pt x="160147" y="1228"/>
                  </a:lnTo>
                  <a:lnTo>
                    <a:pt x="119312" y="18899"/>
                  </a:lnTo>
                  <a:lnTo>
                    <a:pt x="82558" y="55541"/>
                  </a:lnTo>
                  <a:lnTo>
                    <a:pt x="60920" y="89238"/>
                  </a:lnTo>
                  <a:lnTo>
                    <a:pt x="41993" y="129458"/>
                  </a:lnTo>
                  <a:lnTo>
                    <a:pt x="26136" y="175439"/>
                  </a:lnTo>
                  <a:lnTo>
                    <a:pt x="13709" y="226418"/>
                  </a:lnTo>
                  <a:lnTo>
                    <a:pt x="5069" y="281631"/>
                  </a:lnTo>
                  <a:lnTo>
                    <a:pt x="578" y="340315"/>
                  </a:lnTo>
                  <a:lnTo>
                    <a:pt x="0" y="370720"/>
                  </a:lnTo>
                  <a:lnTo>
                    <a:pt x="578" y="401124"/>
                  </a:lnTo>
                  <a:lnTo>
                    <a:pt x="5069" y="459804"/>
                  </a:lnTo>
                  <a:lnTo>
                    <a:pt x="13709" y="515014"/>
                  </a:lnTo>
                  <a:lnTo>
                    <a:pt x="26136" y="565989"/>
                  </a:lnTo>
                  <a:lnTo>
                    <a:pt x="41993" y="611968"/>
                  </a:lnTo>
                  <a:lnTo>
                    <a:pt x="60920" y="652185"/>
                  </a:lnTo>
                  <a:lnTo>
                    <a:pt x="82558" y="685880"/>
                  </a:lnTo>
                  <a:lnTo>
                    <a:pt x="119312" y="722520"/>
                  </a:lnTo>
                  <a:lnTo>
                    <a:pt x="160147" y="740189"/>
                  </a:lnTo>
                  <a:lnTo>
                    <a:pt x="174456" y="741418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2" name="object 67"/>
            <p:cNvSpPr/>
            <p:nvPr/>
          </p:nvSpPr>
          <p:spPr>
            <a:xfrm>
              <a:off x="5714616" y="5630170"/>
              <a:ext cx="67734" cy="116954"/>
            </a:xfrm>
            <a:custGeom>
              <a:avLst/>
              <a:gdLst/>
              <a:ahLst/>
              <a:cxnLst/>
              <a:rect l="l" t="t" r="r" b="b"/>
              <a:pathLst>
                <a:path w="69779" h="120872">
                  <a:moveTo>
                    <a:pt x="69779" y="120872"/>
                  </a:moveTo>
                  <a:lnTo>
                    <a:pt x="0" y="0"/>
                  </a:lnTo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3" name="object 68"/>
            <p:cNvSpPr txBox="1"/>
            <p:nvPr/>
          </p:nvSpPr>
          <p:spPr>
            <a:xfrm>
              <a:off x="3749926" y="5021061"/>
              <a:ext cx="441949" cy="20767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Instruction</a:t>
              </a:r>
              <a:endParaRPr sz="700">
                <a:latin typeface="Franklin Gothic Book"/>
                <a:cs typeface="Franklin Gothic Book"/>
              </a:endParaRPr>
            </a:p>
            <a:p>
              <a:pPr marL="172720">
                <a:lnSpc>
                  <a:spcPts val="735"/>
                </a:lnSpc>
              </a:pPr>
              <a:r>
                <a:rPr sz="700" spc="10" dirty="0" smtClean="0">
                  <a:latin typeface="Franklin Gothic Book"/>
                  <a:cs typeface="Franklin Gothic Book"/>
                </a:rPr>
                <a:t>[15–0]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104" name="object 69"/>
            <p:cNvSpPr txBox="1"/>
            <p:nvPr/>
          </p:nvSpPr>
          <p:spPr>
            <a:xfrm>
              <a:off x="5327330" y="5579636"/>
              <a:ext cx="303262" cy="227335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 marR="12700" indent="52069">
                <a:lnSpc>
                  <a:spcPct val="103299"/>
                </a:lnSpc>
              </a:pPr>
              <a:r>
                <a:rPr sz="700" spc="15" dirty="0" smtClean="0">
                  <a:latin typeface="Franklin Gothic Demi"/>
                  <a:cs typeface="Franklin Gothic Demi"/>
                </a:rPr>
                <a:t>Sign</a:t>
              </a:r>
              <a:r>
                <a:rPr sz="700" spc="5" dirty="0" smtClean="0">
                  <a:latin typeface="Franklin Gothic Demi"/>
                  <a:cs typeface="Franklin Gothic Demi"/>
                </a:rPr>
                <a:t> </a:t>
              </a:r>
              <a:r>
                <a:rPr sz="700" spc="20" dirty="0" smtClean="0">
                  <a:latin typeface="Franklin Gothic Demi"/>
                  <a:cs typeface="Franklin Gothic Demi"/>
                </a:rPr>
                <a:t>extend</a:t>
              </a:r>
              <a:endParaRPr sz="700">
                <a:latin typeface="Franklin Gothic Demi"/>
                <a:cs typeface="Franklin Gothic Demi"/>
              </a:endParaRPr>
            </a:p>
          </p:txBody>
        </p:sp>
        <p:sp>
          <p:nvSpPr>
            <p:cNvPr id="105" name="object 70"/>
            <p:cNvSpPr txBox="1"/>
            <p:nvPr/>
          </p:nvSpPr>
          <p:spPr>
            <a:xfrm>
              <a:off x="5682145" y="5510500"/>
              <a:ext cx="133139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32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106" name="object 71"/>
            <p:cNvSpPr/>
            <p:nvPr/>
          </p:nvSpPr>
          <p:spPr>
            <a:xfrm>
              <a:off x="6219924" y="4946922"/>
              <a:ext cx="524835" cy="0"/>
            </a:xfrm>
            <a:custGeom>
              <a:avLst/>
              <a:gdLst/>
              <a:ahLst/>
              <a:cxnLst/>
              <a:rect l="l" t="t" r="r" b="b"/>
              <a:pathLst>
                <a:path w="540684">
                  <a:moveTo>
                    <a:pt x="540684" y="0"/>
                  </a:move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7" name="object 72"/>
            <p:cNvSpPr/>
            <p:nvPr/>
          </p:nvSpPr>
          <p:spPr>
            <a:xfrm>
              <a:off x="5827852" y="4946922"/>
              <a:ext cx="404788" cy="724610"/>
            </a:xfrm>
            <a:custGeom>
              <a:avLst/>
              <a:gdLst/>
              <a:ahLst/>
              <a:cxnLst/>
              <a:rect l="l" t="t" r="r" b="b"/>
              <a:pathLst>
                <a:path w="417012" h="748882">
                  <a:moveTo>
                    <a:pt x="0" y="748882"/>
                  </a:moveTo>
                  <a:lnTo>
                    <a:pt x="0" y="301077"/>
                  </a:lnTo>
                  <a:lnTo>
                    <a:pt x="417012" y="301077"/>
                  </a:lnTo>
                  <a:lnTo>
                    <a:pt x="417012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8" name="object 73"/>
            <p:cNvSpPr/>
            <p:nvPr/>
          </p:nvSpPr>
          <p:spPr>
            <a:xfrm>
              <a:off x="6230098" y="5085764"/>
              <a:ext cx="510835" cy="592061"/>
            </a:xfrm>
            <a:custGeom>
              <a:avLst/>
              <a:gdLst/>
              <a:ahLst/>
              <a:cxnLst/>
              <a:rect l="l" t="t" r="r" b="b"/>
              <a:pathLst>
                <a:path w="526261" h="611893">
                  <a:moveTo>
                    <a:pt x="526261" y="0"/>
                  </a:moveTo>
                  <a:lnTo>
                    <a:pt x="413652" y="0"/>
                  </a:lnTo>
                  <a:lnTo>
                    <a:pt x="413652" y="611893"/>
                  </a:lnTo>
                  <a:lnTo>
                    <a:pt x="0" y="611893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9" name="object 74"/>
            <p:cNvSpPr/>
            <p:nvPr/>
          </p:nvSpPr>
          <p:spPr>
            <a:xfrm>
              <a:off x="5648611" y="5677825"/>
              <a:ext cx="250945" cy="0"/>
            </a:xfrm>
            <a:custGeom>
              <a:avLst/>
              <a:gdLst/>
              <a:ahLst/>
              <a:cxnLst/>
              <a:rect l="l" t="t" r="r" b="b"/>
              <a:pathLst>
                <a:path w="258523">
                  <a:moveTo>
                    <a:pt x="258523" y="0"/>
                  </a:move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0" name="object 75"/>
            <p:cNvSpPr/>
            <p:nvPr/>
          </p:nvSpPr>
          <p:spPr>
            <a:xfrm>
              <a:off x="2150715" y="4670511"/>
              <a:ext cx="4379290" cy="1648336"/>
            </a:xfrm>
            <a:custGeom>
              <a:avLst/>
              <a:gdLst/>
              <a:ahLst/>
              <a:cxnLst/>
              <a:rect l="l" t="t" r="r" b="b"/>
              <a:pathLst>
                <a:path w="4511535" h="1703550">
                  <a:moveTo>
                    <a:pt x="4511535" y="0"/>
                  </a:moveTo>
                  <a:lnTo>
                    <a:pt x="4511535" y="1703550"/>
                  </a:lnTo>
                  <a:lnTo>
                    <a:pt x="0" y="1703550"/>
                  </a:lnTo>
                  <a:lnTo>
                    <a:pt x="0" y="146646"/>
                  </a:lnTo>
                  <a:lnTo>
                    <a:pt x="100424" y="146646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1" name="object 76"/>
            <p:cNvSpPr/>
            <p:nvPr/>
          </p:nvSpPr>
          <p:spPr>
            <a:xfrm>
              <a:off x="5121923" y="5630170"/>
              <a:ext cx="67735" cy="116954"/>
            </a:xfrm>
            <a:custGeom>
              <a:avLst/>
              <a:gdLst/>
              <a:ahLst/>
              <a:cxnLst/>
              <a:rect l="l" t="t" r="r" b="b"/>
              <a:pathLst>
                <a:path w="69780" h="120872">
                  <a:moveTo>
                    <a:pt x="69780" y="120872"/>
                  </a:moveTo>
                  <a:lnTo>
                    <a:pt x="0" y="0"/>
                  </a:lnTo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2" name="object 77"/>
            <p:cNvSpPr txBox="1"/>
            <p:nvPr/>
          </p:nvSpPr>
          <p:spPr>
            <a:xfrm>
              <a:off x="5089458" y="5510500"/>
              <a:ext cx="133139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16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113" name="object 78"/>
            <p:cNvSpPr/>
            <p:nvPr/>
          </p:nvSpPr>
          <p:spPr>
            <a:xfrm>
              <a:off x="4239851" y="5677825"/>
              <a:ext cx="1011117" cy="0"/>
            </a:xfrm>
            <a:custGeom>
              <a:avLst/>
              <a:gdLst/>
              <a:ahLst/>
              <a:cxnLst/>
              <a:rect l="l" t="t" r="r" b="b"/>
              <a:pathLst>
                <a:path w="1041650">
                  <a:moveTo>
                    <a:pt x="0" y="0"/>
                  </a:moveTo>
                  <a:lnTo>
                    <a:pt x="104165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4" name="object 79"/>
            <p:cNvSpPr/>
            <p:nvPr/>
          </p:nvSpPr>
          <p:spPr>
            <a:xfrm>
              <a:off x="3537242" y="3707048"/>
              <a:ext cx="621927" cy="1297317"/>
            </a:xfrm>
            <a:custGeom>
              <a:avLst/>
              <a:gdLst/>
              <a:ahLst/>
              <a:cxnLst/>
              <a:rect l="l" t="t" r="r" b="b"/>
              <a:pathLst>
                <a:path w="640708" h="1340773">
                  <a:moveTo>
                    <a:pt x="0" y="1340773"/>
                  </a:moveTo>
                  <a:lnTo>
                    <a:pt x="640708" y="1340773"/>
                  </a:lnTo>
                  <a:lnTo>
                    <a:pt x="640708" y="0"/>
                  </a:lnTo>
                  <a:lnTo>
                    <a:pt x="0" y="0"/>
                  </a:lnTo>
                  <a:lnTo>
                    <a:pt x="0" y="13407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5" name="object 80"/>
            <p:cNvSpPr/>
            <p:nvPr/>
          </p:nvSpPr>
          <p:spPr>
            <a:xfrm>
              <a:off x="3537241" y="3707048"/>
              <a:ext cx="621927" cy="1297317"/>
            </a:xfrm>
            <a:custGeom>
              <a:avLst/>
              <a:gdLst/>
              <a:ahLst/>
              <a:cxnLst/>
              <a:rect l="l" t="t" r="r" b="b"/>
              <a:pathLst>
                <a:path w="640708" h="1340773">
                  <a:moveTo>
                    <a:pt x="0" y="1340773"/>
                  </a:moveTo>
                  <a:lnTo>
                    <a:pt x="640708" y="1340773"/>
                  </a:lnTo>
                  <a:lnTo>
                    <a:pt x="640708" y="0"/>
                  </a:lnTo>
                  <a:lnTo>
                    <a:pt x="0" y="0"/>
                  </a:lnTo>
                  <a:lnTo>
                    <a:pt x="0" y="1340773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6" name="object 81"/>
            <p:cNvSpPr txBox="1"/>
            <p:nvPr/>
          </p:nvSpPr>
          <p:spPr>
            <a:xfrm>
              <a:off x="3593019" y="3984190"/>
              <a:ext cx="549200" cy="986757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227329" marR="12700" indent="-104775">
                <a:lnSpc>
                  <a:spcPts val="730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Instruction</a:t>
              </a:r>
              <a:r>
                <a:rPr sz="700" spc="10" dirty="0" smtClean="0">
                  <a:latin typeface="Franklin Gothic Book"/>
                  <a:cs typeface="Franklin Gothic Book"/>
                </a:rPr>
                <a:t> [25–21]</a:t>
              </a:r>
              <a:endParaRPr sz="700">
                <a:latin typeface="Franklin Gothic Book"/>
                <a:cs typeface="Franklin Gothic Book"/>
              </a:endParaRPr>
            </a:p>
            <a:p>
              <a:pPr>
                <a:lnSpc>
                  <a:spcPts val="700"/>
                </a:lnSpc>
                <a:spcBef>
                  <a:spcPts val="35"/>
                </a:spcBef>
              </a:pPr>
              <a:endParaRPr sz="700"/>
            </a:p>
            <a:p>
              <a:pPr marL="227329" marR="12700" indent="-104775">
                <a:lnSpc>
                  <a:spcPts val="730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Instruction</a:t>
              </a:r>
              <a:r>
                <a:rPr sz="700" spc="10" dirty="0" smtClean="0">
                  <a:latin typeface="Franklin Gothic Book"/>
                  <a:cs typeface="Franklin Gothic Book"/>
                </a:rPr>
                <a:t> [20–16]</a:t>
              </a:r>
              <a:endParaRPr sz="700">
                <a:latin typeface="Franklin Gothic Book"/>
                <a:cs typeface="Franklin Gothic Book"/>
              </a:endParaRPr>
            </a:p>
            <a:p>
              <a:pPr>
                <a:lnSpc>
                  <a:spcPts val="600"/>
                </a:lnSpc>
                <a:spcBef>
                  <a:spcPts val="19"/>
                </a:spcBef>
              </a:pPr>
              <a:endParaRPr sz="600"/>
            </a:p>
            <a:p>
              <a:pPr marL="123189">
                <a:lnSpc>
                  <a:spcPct val="100000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Instruction</a:t>
              </a:r>
              <a:endParaRPr sz="700">
                <a:latin typeface="Franklin Gothic Book"/>
                <a:cs typeface="Franklin Gothic Book"/>
              </a:endParaRPr>
            </a:p>
            <a:p>
              <a:pPr marL="283210">
                <a:lnSpc>
                  <a:spcPts val="735"/>
                </a:lnSpc>
              </a:pPr>
              <a:r>
                <a:rPr sz="700" spc="10" dirty="0" smtClean="0">
                  <a:latin typeface="Franklin Gothic Book"/>
                  <a:cs typeface="Franklin Gothic Book"/>
                </a:rPr>
                <a:t>[15–0]</a:t>
              </a:r>
              <a:endParaRPr sz="700">
                <a:latin typeface="Franklin Gothic Book"/>
                <a:cs typeface="Franklin Gothic Book"/>
              </a:endParaRPr>
            </a:p>
            <a:p>
              <a:pPr marL="77470" marR="100965" indent="-65405">
                <a:lnSpc>
                  <a:spcPct val="103299"/>
                </a:lnSpc>
                <a:spcBef>
                  <a:spcPts val="325"/>
                </a:spcBef>
              </a:pPr>
              <a:r>
                <a:rPr sz="700" spc="15" dirty="0" smtClean="0">
                  <a:latin typeface="Franklin Gothic Demi"/>
                  <a:cs typeface="Franklin Gothic Demi"/>
                </a:rPr>
                <a:t>Instruction register</a:t>
              </a:r>
              <a:endParaRPr sz="700">
                <a:latin typeface="Franklin Gothic Demi"/>
                <a:cs typeface="Franklin Gothic Demi"/>
              </a:endParaRPr>
            </a:p>
          </p:txBody>
        </p:sp>
        <p:sp>
          <p:nvSpPr>
            <p:cNvPr id="117" name="object 82"/>
            <p:cNvSpPr/>
            <p:nvPr/>
          </p:nvSpPr>
          <p:spPr>
            <a:xfrm>
              <a:off x="7401049" y="4752861"/>
              <a:ext cx="136446" cy="871071"/>
            </a:xfrm>
            <a:custGeom>
              <a:avLst/>
              <a:gdLst/>
              <a:ahLst/>
              <a:cxnLst/>
              <a:rect l="l" t="t" r="r" b="b"/>
              <a:pathLst>
                <a:path w="140566" h="900249">
                  <a:moveTo>
                    <a:pt x="140566" y="0"/>
                  </a:moveTo>
                  <a:lnTo>
                    <a:pt x="140566" y="900249"/>
                  </a:lnTo>
                  <a:lnTo>
                    <a:pt x="0" y="900249"/>
                  </a:lnTo>
                </a:path>
              </a:pathLst>
            </a:custGeom>
            <a:ln w="31432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8" name="object 83"/>
            <p:cNvSpPr/>
            <p:nvPr/>
          </p:nvSpPr>
          <p:spPr>
            <a:xfrm>
              <a:off x="7061787" y="5285621"/>
              <a:ext cx="338674" cy="717388"/>
            </a:xfrm>
            <a:custGeom>
              <a:avLst/>
              <a:gdLst/>
              <a:ahLst/>
              <a:cxnLst/>
              <a:rect l="l" t="t" r="r" b="b"/>
              <a:pathLst>
                <a:path w="348901" h="741418">
                  <a:moveTo>
                    <a:pt x="174457" y="0"/>
                  </a:moveTo>
                  <a:lnTo>
                    <a:pt x="132535" y="10773"/>
                  </a:lnTo>
                  <a:lnTo>
                    <a:pt x="94286" y="41376"/>
                  </a:lnTo>
                  <a:lnTo>
                    <a:pt x="60925" y="89234"/>
                  </a:lnTo>
                  <a:lnTo>
                    <a:pt x="41997" y="129454"/>
                  </a:lnTo>
                  <a:lnTo>
                    <a:pt x="26139" y="175434"/>
                  </a:lnTo>
                  <a:lnTo>
                    <a:pt x="13710" y="226413"/>
                  </a:lnTo>
                  <a:lnTo>
                    <a:pt x="5070" y="281627"/>
                  </a:lnTo>
                  <a:lnTo>
                    <a:pt x="578" y="340313"/>
                  </a:lnTo>
                  <a:lnTo>
                    <a:pt x="0" y="370720"/>
                  </a:lnTo>
                  <a:lnTo>
                    <a:pt x="578" y="401124"/>
                  </a:lnTo>
                  <a:lnTo>
                    <a:pt x="5070" y="459804"/>
                  </a:lnTo>
                  <a:lnTo>
                    <a:pt x="13710" y="515014"/>
                  </a:lnTo>
                  <a:lnTo>
                    <a:pt x="26139" y="565989"/>
                  </a:lnTo>
                  <a:lnTo>
                    <a:pt x="41997" y="611968"/>
                  </a:lnTo>
                  <a:lnTo>
                    <a:pt x="60925" y="652185"/>
                  </a:lnTo>
                  <a:lnTo>
                    <a:pt x="82563" y="685880"/>
                  </a:lnTo>
                  <a:lnTo>
                    <a:pt x="119317" y="722520"/>
                  </a:lnTo>
                  <a:lnTo>
                    <a:pt x="160149" y="740189"/>
                  </a:lnTo>
                  <a:lnTo>
                    <a:pt x="174457" y="741418"/>
                  </a:lnTo>
                  <a:lnTo>
                    <a:pt x="188764" y="740189"/>
                  </a:lnTo>
                  <a:lnTo>
                    <a:pt x="229594" y="722520"/>
                  </a:lnTo>
                  <a:lnTo>
                    <a:pt x="266346" y="685880"/>
                  </a:lnTo>
                  <a:lnTo>
                    <a:pt x="287983" y="652185"/>
                  </a:lnTo>
                  <a:lnTo>
                    <a:pt x="306909" y="611968"/>
                  </a:lnTo>
                  <a:lnTo>
                    <a:pt x="322765" y="565989"/>
                  </a:lnTo>
                  <a:lnTo>
                    <a:pt x="335193" y="515014"/>
                  </a:lnTo>
                  <a:lnTo>
                    <a:pt x="343832" y="459804"/>
                  </a:lnTo>
                  <a:lnTo>
                    <a:pt x="348323" y="401124"/>
                  </a:lnTo>
                  <a:lnTo>
                    <a:pt x="348901" y="370720"/>
                  </a:lnTo>
                  <a:lnTo>
                    <a:pt x="348323" y="340313"/>
                  </a:lnTo>
                  <a:lnTo>
                    <a:pt x="343832" y="281627"/>
                  </a:lnTo>
                  <a:lnTo>
                    <a:pt x="335193" y="226413"/>
                  </a:lnTo>
                  <a:lnTo>
                    <a:pt x="322765" y="175434"/>
                  </a:lnTo>
                  <a:lnTo>
                    <a:pt x="306909" y="129454"/>
                  </a:lnTo>
                  <a:lnTo>
                    <a:pt x="287983" y="89234"/>
                  </a:lnTo>
                  <a:lnTo>
                    <a:pt x="266346" y="55539"/>
                  </a:lnTo>
                  <a:lnTo>
                    <a:pt x="229594" y="18898"/>
                  </a:lnTo>
                  <a:lnTo>
                    <a:pt x="188764" y="1228"/>
                  </a:lnTo>
                  <a:lnTo>
                    <a:pt x="1744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9" name="object 84"/>
            <p:cNvSpPr/>
            <p:nvPr/>
          </p:nvSpPr>
          <p:spPr>
            <a:xfrm>
              <a:off x="7061787" y="5285621"/>
              <a:ext cx="338674" cy="717388"/>
            </a:xfrm>
            <a:custGeom>
              <a:avLst/>
              <a:gdLst/>
              <a:ahLst/>
              <a:cxnLst/>
              <a:rect l="l" t="t" r="r" b="b"/>
              <a:pathLst>
                <a:path w="348901" h="741418">
                  <a:moveTo>
                    <a:pt x="174457" y="741418"/>
                  </a:moveTo>
                  <a:lnTo>
                    <a:pt x="216378" y="730645"/>
                  </a:lnTo>
                  <a:lnTo>
                    <a:pt x="254624" y="700042"/>
                  </a:lnTo>
                  <a:lnTo>
                    <a:pt x="287983" y="652185"/>
                  </a:lnTo>
                  <a:lnTo>
                    <a:pt x="306909" y="611968"/>
                  </a:lnTo>
                  <a:lnTo>
                    <a:pt x="322765" y="565989"/>
                  </a:lnTo>
                  <a:lnTo>
                    <a:pt x="335193" y="515014"/>
                  </a:lnTo>
                  <a:lnTo>
                    <a:pt x="343832" y="459804"/>
                  </a:lnTo>
                  <a:lnTo>
                    <a:pt x="348323" y="401124"/>
                  </a:lnTo>
                  <a:lnTo>
                    <a:pt x="348901" y="370720"/>
                  </a:lnTo>
                  <a:lnTo>
                    <a:pt x="348323" y="340313"/>
                  </a:lnTo>
                  <a:lnTo>
                    <a:pt x="343832" y="281627"/>
                  </a:lnTo>
                  <a:lnTo>
                    <a:pt x="335193" y="226413"/>
                  </a:lnTo>
                  <a:lnTo>
                    <a:pt x="322765" y="175434"/>
                  </a:lnTo>
                  <a:lnTo>
                    <a:pt x="306909" y="129454"/>
                  </a:lnTo>
                  <a:lnTo>
                    <a:pt x="287983" y="89234"/>
                  </a:lnTo>
                  <a:lnTo>
                    <a:pt x="266346" y="55539"/>
                  </a:lnTo>
                  <a:lnTo>
                    <a:pt x="229594" y="18898"/>
                  </a:lnTo>
                  <a:lnTo>
                    <a:pt x="188764" y="1228"/>
                  </a:lnTo>
                  <a:lnTo>
                    <a:pt x="174457" y="0"/>
                  </a:lnTo>
                  <a:lnTo>
                    <a:pt x="160149" y="1228"/>
                  </a:lnTo>
                  <a:lnTo>
                    <a:pt x="119317" y="18898"/>
                  </a:lnTo>
                  <a:lnTo>
                    <a:pt x="82563" y="55539"/>
                  </a:lnTo>
                  <a:lnTo>
                    <a:pt x="60925" y="89234"/>
                  </a:lnTo>
                  <a:lnTo>
                    <a:pt x="41997" y="129454"/>
                  </a:lnTo>
                  <a:lnTo>
                    <a:pt x="26139" y="175434"/>
                  </a:lnTo>
                  <a:lnTo>
                    <a:pt x="13710" y="226413"/>
                  </a:lnTo>
                  <a:lnTo>
                    <a:pt x="5070" y="281627"/>
                  </a:lnTo>
                  <a:lnTo>
                    <a:pt x="578" y="340313"/>
                  </a:lnTo>
                  <a:lnTo>
                    <a:pt x="0" y="370720"/>
                  </a:lnTo>
                  <a:lnTo>
                    <a:pt x="578" y="401124"/>
                  </a:lnTo>
                  <a:lnTo>
                    <a:pt x="5070" y="459804"/>
                  </a:lnTo>
                  <a:lnTo>
                    <a:pt x="13710" y="515014"/>
                  </a:lnTo>
                  <a:lnTo>
                    <a:pt x="26139" y="565989"/>
                  </a:lnTo>
                  <a:lnTo>
                    <a:pt x="41997" y="611968"/>
                  </a:lnTo>
                  <a:lnTo>
                    <a:pt x="60925" y="652185"/>
                  </a:lnTo>
                  <a:lnTo>
                    <a:pt x="82563" y="685880"/>
                  </a:lnTo>
                  <a:lnTo>
                    <a:pt x="119317" y="722520"/>
                  </a:lnTo>
                  <a:lnTo>
                    <a:pt x="160149" y="740189"/>
                  </a:lnTo>
                  <a:lnTo>
                    <a:pt x="174457" y="741418"/>
                  </a:lnTo>
                  <a:close/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0" name="object 85"/>
            <p:cNvSpPr txBox="1"/>
            <p:nvPr/>
          </p:nvSpPr>
          <p:spPr>
            <a:xfrm>
              <a:off x="7137150" y="5538343"/>
              <a:ext cx="187381" cy="117354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5" dirty="0" smtClean="0">
                  <a:solidFill>
                    <a:srgbClr val="EB2D2E"/>
                  </a:solidFill>
                  <a:latin typeface="Franklin Gothic Demi"/>
                  <a:cs typeface="Franklin Gothic Demi"/>
                </a:rPr>
                <a:t>ALU</a:t>
              </a:r>
              <a:endParaRPr sz="700">
                <a:latin typeface="Franklin Gothic Demi"/>
                <a:cs typeface="Franklin Gothic Demi"/>
              </a:endParaRPr>
            </a:p>
          </p:txBody>
        </p:sp>
        <p:sp>
          <p:nvSpPr>
            <p:cNvPr id="121" name="object 86"/>
            <p:cNvSpPr txBox="1"/>
            <p:nvPr/>
          </p:nvSpPr>
          <p:spPr>
            <a:xfrm>
              <a:off x="7076641" y="5644957"/>
              <a:ext cx="308193" cy="117354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15" dirty="0" smtClean="0">
                  <a:solidFill>
                    <a:srgbClr val="EB2D2E"/>
                  </a:solidFill>
                  <a:latin typeface="Franklin Gothic Demi"/>
                  <a:cs typeface="Franklin Gothic Demi"/>
                </a:rPr>
                <a:t>control</a:t>
              </a:r>
              <a:endParaRPr sz="700">
                <a:latin typeface="Franklin Gothic Demi"/>
                <a:cs typeface="Franklin Gothic Demi"/>
              </a:endParaRPr>
            </a:p>
          </p:txBody>
        </p:sp>
        <p:sp>
          <p:nvSpPr>
            <p:cNvPr id="122" name="object 87"/>
            <p:cNvSpPr/>
            <p:nvPr/>
          </p:nvSpPr>
          <p:spPr>
            <a:xfrm>
              <a:off x="7039055" y="4708689"/>
              <a:ext cx="180768" cy="0"/>
            </a:xfrm>
            <a:custGeom>
              <a:avLst/>
              <a:gdLst/>
              <a:ahLst/>
              <a:cxnLst/>
              <a:rect l="l" t="t" r="r" b="b"/>
              <a:pathLst>
                <a:path w="186227">
                  <a:moveTo>
                    <a:pt x="186227" y="0"/>
                  </a:move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3" name="object 88"/>
            <p:cNvSpPr/>
            <p:nvPr/>
          </p:nvSpPr>
          <p:spPr>
            <a:xfrm>
              <a:off x="7255406" y="3985881"/>
              <a:ext cx="563767" cy="906064"/>
            </a:xfrm>
            <a:custGeom>
              <a:avLst/>
              <a:gdLst/>
              <a:ahLst/>
              <a:cxnLst/>
              <a:rect l="l" t="t" r="r" b="b"/>
              <a:pathLst>
                <a:path w="580792" h="936414">
                  <a:moveTo>
                    <a:pt x="0" y="0"/>
                  </a:moveTo>
                  <a:lnTo>
                    <a:pt x="0" y="378172"/>
                  </a:lnTo>
                  <a:lnTo>
                    <a:pt x="96046" y="468207"/>
                  </a:lnTo>
                  <a:lnTo>
                    <a:pt x="0" y="558252"/>
                  </a:lnTo>
                  <a:lnTo>
                    <a:pt x="0" y="936414"/>
                  </a:lnTo>
                  <a:lnTo>
                    <a:pt x="580792" y="649795"/>
                  </a:lnTo>
                  <a:lnTo>
                    <a:pt x="580792" y="286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4" name="object 89"/>
            <p:cNvSpPr/>
            <p:nvPr/>
          </p:nvSpPr>
          <p:spPr>
            <a:xfrm>
              <a:off x="7255405" y="3985881"/>
              <a:ext cx="563768" cy="906064"/>
            </a:xfrm>
            <a:custGeom>
              <a:avLst/>
              <a:gdLst/>
              <a:ahLst/>
              <a:cxnLst/>
              <a:rect l="l" t="t" r="r" b="b"/>
              <a:pathLst>
                <a:path w="580793" h="936414">
                  <a:moveTo>
                    <a:pt x="0" y="0"/>
                  </a:moveTo>
                  <a:lnTo>
                    <a:pt x="0" y="378172"/>
                  </a:lnTo>
                  <a:lnTo>
                    <a:pt x="96046" y="468207"/>
                  </a:lnTo>
                  <a:lnTo>
                    <a:pt x="0" y="558252"/>
                  </a:lnTo>
                  <a:lnTo>
                    <a:pt x="0" y="936414"/>
                  </a:lnTo>
                  <a:lnTo>
                    <a:pt x="580793" y="649795"/>
                  </a:lnTo>
                  <a:lnTo>
                    <a:pt x="580793" y="286630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5" name="object 90"/>
            <p:cNvSpPr/>
            <p:nvPr/>
          </p:nvSpPr>
          <p:spPr>
            <a:xfrm>
              <a:off x="7017773" y="4168286"/>
              <a:ext cx="197967" cy="0"/>
            </a:xfrm>
            <a:custGeom>
              <a:avLst/>
              <a:gdLst/>
              <a:ahLst/>
              <a:cxnLst/>
              <a:rect l="l" t="t" r="r" b="b"/>
              <a:pathLst>
                <a:path w="203945">
                  <a:moveTo>
                    <a:pt x="203945" y="0"/>
                  </a:move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6" name="object 91"/>
            <p:cNvSpPr txBox="1"/>
            <p:nvPr/>
          </p:nvSpPr>
          <p:spPr>
            <a:xfrm>
              <a:off x="7549034" y="4229880"/>
              <a:ext cx="249020" cy="38769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85090" marR="12700" indent="-22860">
                <a:lnSpc>
                  <a:spcPct val="137000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Zero</a:t>
              </a:r>
              <a:r>
                <a:rPr sz="700" spc="10" dirty="0" smtClean="0">
                  <a:latin typeface="Franklin Gothic Book"/>
                  <a:cs typeface="Franklin Gothic Book"/>
                </a:rPr>
                <a:t> </a:t>
              </a:r>
              <a:r>
                <a:rPr sz="700" spc="30" dirty="0" smtClean="0">
                  <a:latin typeface="Franklin Gothic Book"/>
                  <a:cs typeface="Franklin Gothic Book"/>
                </a:rPr>
                <a:t>ALU</a:t>
              </a:r>
              <a:endParaRPr sz="700">
                <a:latin typeface="Franklin Gothic Book"/>
                <a:cs typeface="Franklin Gothic Book"/>
              </a:endParaRPr>
            </a:p>
            <a:p>
              <a:pPr marL="12700">
                <a:lnSpc>
                  <a:spcPts val="735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result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127" name="object 92"/>
            <p:cNvSpPr txBox="1"/>
            <p:nvPr/>
          </p:nvSpPr>
          <p:spPr>
            <a:xfrm>
              <a:off x="7358695" y="4384113"/>
              <a:ext cx="187381" cy="117354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5" dirty="0" smtClean="0">
                  <a:latin typeface="Franklin Gothic Demi"/>
                  <a:cs typeface="Franklin Gothic Demi"/>
                </a:rPr>
                <a:t>ALU</a:t>
              </a:r>
              <a:endParaRPr sz="700">
                <a:latin typeface="Franklin Gothic Demi"/>
                <a:cs typeface="Franklin Gothic Demi"/>
              </a:endParaRPr>
            </a:p>
          </p:txBody>
        </p:sp>
        <p:sp>
          <p:nvSpPr>
            <p:cNvPr id="128" name="object 93"/>
            <p:cNvSpPr/>
            <p:nvPr/>
          </p:nvSpPr>
          <p:spPr>
            <a:xfrm>
              <a:off x="3613763" y="5291460"/>
              <a:ext cx="488177" cy="585470"/>
            </a:xfrm>
            <a:custGeom>
              <a:avLst/>
              <a:gdLst/>
              <a:ahLst/>
              <a:cxnLst/>
              <a:rect l="l" t="t" r="r" b="b"/>
              <a:pathLst>
                <a:path w="502919" h="605081">
                  <a:moveTo>
                    <a:pt x="0" y="605081"/>
                  </a:moveTo>
                  <a:lnTo>
                    <a:pt x="502919" y="605081"/>
                  </a:lnTo>
                  <a:lnTo>
                    <a:pt x="502919" y="0"/>
                  </a:lnTo>
                  <a:lnTo>
                    <a:pt x="0" y="0"/>
                  </a:lnTo>
                  <a:lnTo>
                    <a:pt x="0" y="605081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9" name="object 94"/>
            <p:cNvSpPr/>
            <p:nvPr/>
          </p:nvSpPr>
          <p:spPr>
            <a:xfrm>
              <a:off x="4094308" y="5473777"/>
              <a:ext cx="683671" cy="0"/>
            </a:xfrm>
            <a:custGeom>
              <a:avLst/>
              <a:gdLst/>
              <a:ahLst/>
              <a:cxnLst/>
              <a:rect l="l" t="t" r="r" b="b"/>
              <a:pathLst>
                <a:path w="704316">
                  <a:moveTo>
                    <a:pt x="704316" y="0"/>
                  </a:move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0" name="object 95"/>
            <p:cNvSpPr txBox="1"/>
            <p:nvPr/>
          </p:nvSpPr>
          <p:spPr>
            <a:xfrm>
              <a:off x="3682960" y="5407331"/>
              <a:ext cx="350108" cy="334244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 marR="12700" algn="ctr">
                <a:lnSpc>
                  <a:spcPct val="103299"/>
                </a:lnSpc>
              </a:pPr>
              <a:r>
                <a:rPr sz="700" spc="20" dirty="0" smtClean="0">
                  <a:latin typeface="Franklin Gothic Demi"/>
                  <a:cs typeface="Franklin Gothic Demi"/>
                </a:rPr>
                <a:t>Memory</a:t>
              </a:r>
              <a:r>
                <a:rPr sz="700" spc="10" dirty="0" smtClean="0">
                  <a:latin typeface="Franklin Gothic Demi"/>
                  <a:cs typeface="Franklin Gothic Demi"/>
                </a:rPr>
                <a:t> </a:t>
              </a:r>
              <a:r>
                <a:rPr sz="700" spc="15" dirty="0" smtClean="0">
                  <a:latin typeface="Franklin Gothic Demi"/>
                  <a:cs typeface="Franklin Gothic Demi"/>
                </a:rPr>
                <a:t>data</a:t>
              </a:r>
              <a:r>
                <a:rPr sz="700" spc="5" dirty="0" smtClean="0">
                  <a:latin typeface="Franklin Gothic Demi"/>
                  <a:cs typeface="Franklin Gothic Demi"/>
                </a:rPr>
                <a:t> </a:t>
              </a:r>
              <a:r>
                <a:rPr sz="700" spc="15" dirty="0" smtClean="0">
                  <a:latin typeface="Franklin Gothic Demi"/>
                  <a:cs typeface="Franklin Gothic Demi"/>
                </a:rPr>
                <a:t>register</a:t>
              </a:r>
              <a:endParaRPr sz="700">
                <a:latin typeface="Franklin Gothic Demi"/>
                <a:cs typeface="Franklin Gothic Demi"/>
              </a:endParaRPr>
            </a:p>
          </p:txBody>
        </p:sp>
        <p:sp>
          <p:nvSpPr>
            <p:cNvPr id="131" name="object 96"/>
            <p:cNvSpPr/>
            <p:nvPr/>
          </p:nvSpPr>
          <p:spPr>
            <a:xfrm>
              <a:off x="3308640" y="4477887"/>
              <a:ext cx="246407" cy="973250"/>
            </a:xfrm>
            <a:custGeom>
              <a:avLst/>
              <a:gdLst/>
              <a:ahLst/>
              <a:cxnLst/>
              <a:rect l="l" t="t" r="r" b="b"/>
              <a:pathLst>
                <a:path w="253848" h="1005851">
                  <a:moveTo>
                    <a:pt x="0" y="0"/>
                  </a:moveTo>
                  <a:lnTo>
                    <a:pt x="0" y="1005851"/>
                  </a:lnTo>
                  <a:lnTo>
                    <a:pt x="253848" y="1005851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2" name="object 97"/>
            <p:cNvSpPr/>
            <p:nvPr/>
          </p:nvSpPr>
          <p:spPr>
            <a:xfrm>
              <a:off x="4240506" y="4858070"/>
              <a:ext cx="0" cy="828768"/>
            </a:xfrm>
            <a:custGeom>
              <a:avLst/>
              <a:gdLst/>
              <a:ahLst/>
              <a:cxnLst/>
              <a:rect l="l" t="t" r="r" b="b"/>
              <a:pathLst>
                <a:path h="856529">
                  <a:moveTo>
                    <a:pt x="0" y="0"/>
                  </a:moveTo>
                  <a:lnTo>
                    <a:pt x="0" y="856529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3" name="object 98"/>
            <p:cNvSpPr/>
            <p:nvPr/>
          </p:nvSpPr>
          <p:spPr>
            <a:xfrm>
              <a:off x="6237732" y="4128129"/>
              <a:ext cx="175443" cy="292734"/>
            </a:xfrm>
            <a:custGeom>
              <a:avLst/>
              <a:gdLst/>
              <a:ahLst/>
              <a:cxnLst/>
              <a:rect l="l" t="t" r="r" b="b"/>
              <a:pathLst>
                <a:path w="180741" h="302540">
                  <a:moveTo>
                    <a:pt x="0" y="302540"/>
                  </a:moveTo>
                  <a:lnTo>
                    <a:pt x="180741" y="302540"/>
                  </a:lnTo>
                  <a:lnTo>
                    <a:pt x="180741" y="0"/>
                  </a:lnTo>
                  <a:lnTo>
                    <a:pt x="0" y="0"/>
                  </a:lnTo>
                  <a:lnTo>
                    <a:pt x="0" y="30254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4" name="object 99"/>
            <p:cNvSpPr/>
            <p:nvPr/>
          </p:nvSpPr>
          <p:spPr>
            <a:xfrm>
              <a:off x="6237732" y="4487387"/>
              <a:ext cx="175443" cy="292746"/>
            </a:xfrm>
            <a:custGeom>
              <a:avLst/>
              <a:gdLst/>
              <a:ahLst/>
              <a:cxnLst/>
              <a:rect l="l" t="t" r="r" b="b"/>
              <a:pathLst>
                <a:path w="180741" h="302552">
                  <a:moveTo>
                    <a:pt x="0" y="302552"/>
                  </a:moveTo>
                  <a:lnTo>
                    <a:pt x="180741" y="302552"/>
                  </a:lnTo>
                  <a:lnTo>
                    <a:pt x="180741" y="0"/>
                  </a:lnTo>
                  <a:lnTo>
                    <a:pt x="0" y="0"/>
                  </a:lnTo>
                  <a:lnTo>
                    <a:pt x="0" y="302552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5" name="object 100"/>
            <p:cNvSpPr txBox="1"/>
            <p:nvPr/>
          </p:nvSpPr>
          <p:spPr>
            <a:xfrm>
              <a:off x="6288031" y="4224590"/>
              <a:ext cx="82596" cy="117354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40" dirty="0" smtClean="0">
                  <a:latin typeface="Franklin Gothic Demi"/>
                  <a:cs typeface="Franklin Gothic Demi"/>
                </a:rPr>
                <a:t>A</a:t>
              </a:r>
              <a:endParaRPr sz="700">
                <a:latin typeface="Franklin Gothic Demi"/>
                <a:cs typeface="Franklin Gothic Demi"/>
              </a:endParaRPr>
            </a:p>
          </p:txBody>
        </p:sp>
        <p:sp>
          <p:nvSpPr>
            <p:cNvPr id="136" name="object 101"/>
            <p:cNvSpPr txBox="1"/>
            <p:nvPr/>
          </p:nvSpPr>
          <p:spPr>
            <a:xfrm>
              <a:off x="6287129" y="4566743"/>
              <a:ext cx="84445" cy="117354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5" dirty="0" smtClean="0">
                  <a:latin typeface="Franklin Gothic Demi"/>
                  <a:cs typeface="Franklin Gothic Demi"/>
                </a:rPr>
                <a:t>B</a:t>
              </a:r>
              <a:endParaRPr sz="700">
                <a:latin typeface="Franklin Gothic Demi"/>
                <a:cs typeface="Franklin Gothic Demi"/>
              </a:endParaRPr>
            </a:p>
          </p:txBody>
        </p:sp>
        <p:sp>
          <p:nvSpPr>
            <p:cNvPr id="137" name="object 102"/>
            <p:cNvSpPr/>
            <p:nvPr/>
          </p:nvSpPr>
          <p:spPr>
            <a:xfrm>
              <a:off x="6418246" y="4275133"/>
              <a:ext cx="378249" cy="101382"/>
            </a:xfrm>
            <a:custGeom>
              <a:avLst/>
              <a:gdLst/>
              <a:ahLst/>
              <a:cxnLst/>
              <a:rect l="l" t="t" r="r" b="b"/>
              <a:pathLst>
                <a:path w="389671" h="104778">
                  <a:moveTo>
                    <a:pt x="0" y="0"/>
                  </a:moveTo>
                  <a:lnTo>
                    <a:pt x="230508" y="0"/>
                  </a:lnTo>
                  <a:lnTo>
                    <a:pt x="230508" y="104778"/>
                  </a:lnTo>
                  <a:lnTo>
                    <a:pt x="389671" y="104778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8" name="object 103"/>
            <p:cNvSpPr/>
            <p:nvPr/>
          </p:nvSpPr>
          <p:spPr>
            <a:xfrm>
              <a:off x="6173746" y="4258952"/>
              <a:ext cx="45178" cy="45023"/>
            </a:xfrm>
            <a:custGeom>
              <a:avLst/>
              <a:gdLst/>
              <a:ahLst/>
              <a:cxnLst/>
              <a:rect l="l" t="t" r="r" b="b"/>
              <a:pathLst>
                <a:path w="46542" h="46531">
                  <a:moveTo>
                    <a:pt x="0" y="0"/>
                  </a:moveTo>
                  <a:lnTo>
                    <a:pt x="45" y="46531"/>
                  </a:lnTo>
                  <a:lnTo>
                    <a:pt x="46542" y="23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9" name="object 104"/>
            <p:cNvSpPr/>
            <p:nvPr/>
          </p:nvSpPr>
          <p:spPr>
            <a:xfrm>
              <a:off x="6173746" y="4258952"/>
              <a:ext cx="45178" cy="45023"/>
            </a:xfrm>
            <a:custGeom>
              <a:avLst/>
              <a:gdLst/>
              <a:ahLst/>
              <a:cxnLst/>
              <a:rect l="l" t="t" r="r" b="b"/>
              <a:pathLst>
                <a:path w="46542" h="46531">
                  <a:moveTo>
                    <a:pt x="0" y="0"/>
                  </a:moveTo>
                  <a:lnTo>
                    <a:pt x="45" y="46531"/>
                  </a:lnTo>
                  <a:lnTo>
                    <a:pt x="46542" y="23225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40" name="object 105"/>
            <p:cNvSpPr/>
            <p:nvPr/>
          </p:nvSpPr>
          <p:spPr>
            <a:xfrm>
              <a:off x="6783625" y="4356408"/>
              <a:ext cx="45168" cy="45023"/>
            </a:xfrm>
            <a:custGeom>
              <a:avLst/>
              <a:gdLst/>
              <a:ahLst/>
              <a:cxnLst/>
              <a:rect l="l" t="t" r="r" b="b"/>
              <a:pathLst>
                <a:path w="46532" h="46531">
                  <a:moveTo>
                    <a:pt x="0" y="0"/>
                  </a:moveTo>
                  <a:lnTo>
                    <a:pt x="34" y="46531"/>
                  </a:lnTo>
                  <a:lnTo>
                    <a:pt x="46532" y="23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41" name="object 106"/>
            <p:cNvSpPr/>
            <p:nvPr/>
          </p:nvSpPr>
          <p:spPr>
            <a:xfrm>
              <a:off x="6783625" y="4356408"/>
              <a:ext cx="45168" cy="45023"/>
            </a:xfrm>
            <a:custGeom>
              <a:avLst/>
              <a:gdLst/>
              <a:ahLst/>
              <a:cxnLst/>
              <a:rect l="l" t="t" r="r" b="b"/>
              <a:pathLst>
                <a:path w="46532" h="46531">
                  <a:moveTo>
                    <a:pt x="0" y="0"/>
                  </a:moveTo>
                  <a:lnTo>
                    <a:pt x="34" y="46531"/>
                  </a:lnTo>
                  <a:lnTo>
                    <a:pt x="46532" y="23237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42" name="object 107"/>
            <p:cNvSpPr/>
            <p:nvPr/>
          </p:nvSpPr>
          <p:spPr>
            <a:xfrm>
              <a:off x="7185231" y="4146366"/>
              <a:ext cx="45167" cy="45012"/>
            </a:xfrm>
            <a:custGeom>
              <a:avLst/>
              <a:gdLst/>
              <a:ahLst/>
              <a:cxnLst/>
              <a:rect l="l" t="t" r="r" b="b"/>
              <a:pathLst>
                <a:path w="46531" h="46520">
                  <a:moveTo>
                    <a:pt x="0" y="0"/>
                  </a:moveTo>
                  <a:lnTo>
                    <a:pt x="33" y="46520"/>
                  </a:lnTo>
                  <a:lnTo>
                    <a:pt x="46531" y="23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43" name="object 108"/>
            <p:cNvSpPr/>
            <p:nvPr/>
          </p:nvSpPr>
          <p:spPr>
            <a:xfrm>
              <a:off x="7185231" y="4146366"/>
              <a:ext cx="45167" cy="45012"/>
            </a:xfrm>
            <a:custGeom>
              <a:avLst/>
              <a:gdLst/>
              <a:ahLst/>
              <a:cxnLst/>
              <a:rect l="l" t="t" r="r" b="b"/>
              <a:pathLst>
                <a:path w="46531" h="46520">
                  <a:moveTo>
                    <a:pt x="0" y="0"/>
                  </a:moveTo>
                  <a:lnTo>
                    <a:pt x="33" y="46520"/>
                  </a:lnTo>
                  <a:lnTo>
                    <a:pt x="46531" y="23225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44" name="object 109"/>
            <p:cNvSpPr/>
            <p:nvPr/>
          </p:nvSpPr>
          <p:spPr>
            <a:xfrm>
              <a:off x="7188092" y="4689058"/>
              <a:ext cx="45167" cy="45023"/>
            </a:xfrm>
            <a:custGeom>
              <a:avLst/>
              <a:gdLst/>
              <a:ahLst/>
              <a:cxnLst/>
              <a:rect l="l" t="t" r="r" b="b"/>
              <a:pathLst>
                <a:path w="46531" h="46531">
                  <a:moveTo>
                    <a:pt x="0" y="0"/>
                  </a:moveTo>
                  <a:lnTo>
                    <a:pt x="35" y="46531"/>
                  </a:lnTo>
                  <a:lnTo>
                    <a:pt x="46531" y="23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45" name="object 110"/>
            <p:cNvSpPr/>
            <p:nvPr/>
          </p:nvSpPr>
          <p:spPr>
            <a:xfrm>
              <a:off x="7188092" y="4689058"/>
              <a:ext cx="45167" cy="45023"/>
            </a:xfrm>
            <a:custGeom>
              <a:avLst/>
              <a:gdLst/>
              <a:ahLst/>
              <a:cxnLst/>
              <a:rect l="l" t="t" r="r" b="b"/>
              <a:pathLst>
                <a:path w="46531" h="46531">
                  <a:moveTo>
                    <a:pt x="0" y="0"/>
                  </a:moveTo>
                  <a:lnTo>
                    <a:pt x="35" y="46531"/>
                  </a:lnTo>
                  <a:lnTo>
                    <a:pt x="46531" y="23237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46" name="object 111"/>
            <p:cNvSpPr/>
            <p:nvPr/>
          </p:nvSpPr>
          <p:spPr>
            <a:xfrm>
              <a:off x="7259599" y="3593787"/>
              <a:ext cx="45168" cy="45012"/>
            </a:xfrm>
            <a:custGeom>
              <a:avLst/>
              <a:gdLst/>
              <a:ahLst/>
              <a:cxnLst/>
              <a:rect l="l" t="t" r="r" b="b"/>
              <a:pathLst>
                <a:path w="46532" h="46520">
                  <a:moveTo>
                    <a:pt x="0" y="0"/>
                  </a:moveTo>
                  <a:lnTo>
                    <a:pt x="35" y="46520"/>
                  </a:lnTo>
                  <a:lnTo>
                    <a:pt x="46532" y="23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47" name="object 112"/>
            <p:cNvSpPr/>
            <p:nvPr/>
          </p:nvSpPr>
          <p:spPr>
            <a:xfrm>
              <a:off x="7259599" y="3593787"/>
              <a:ext cx="45168" cy="45012"/>
            </a:xfrm>
            <a:custGeom>
              <a:avLst/>
              <a:gdLst/>
              <a:ahLst/>
              <a:cxnLst/>
              <a:rect l="l" t="t" r="r" b="b"/>
              <a:pathLst>
                <a:path w="46532" h="46520">
                  <a:moveTo>
                    <a:pt x="0" y="0"/>
                  </a:moveTo>
                  <a:lnTo>
                    <a:pt x="35" y="46520"/>
                  </a:lnTo>
                  <a:lnTo>
                    <a:pt x="46532" y="23225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48" name="object 113"/>
            <p:cNvSpPr/>
            <p:nvPr/>
          </p:nvSpPr>
          <p:spPr>
            <a:xfrm>
              <a:off x="8144422" y="4456785"/>
              <a:ext cx="45168" cy="45012"/>
            </a:xfrm>
            <a:custGeom>
              <a:avLst/>
              <a:gdLst/>
              <a:ahLst/>
              <a:cxnLst/>
              <a:rect l="l" t="t" r="r" b="b"/>
              <a:pathLst>
                <a:path w="46532" h="46520">
                  <a:moveTo>
                    <a:pt x="0" y="0"/>
                  </a:moveTo>
                  <a:lnTo>
                    <a:pt x="34" y="46520"/>
                  </a:lnTo>
                  <a:lnTo>
                    <a:pt x="46532" y="232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49" name="object 114"/>
            <p:cNvSpPr/>
            <p:nvPr/>
          </p:nvSpPr>
          <p:spPr>
            <a:xfrm>
              <a:off x="8144422" y="4456785"/>
              <a:ext cx="45168" cy="45012"/>
            </a:xfrm>
            <a:custGeom>
              <a:avLst/>
              <a:gdLst/>
              <a:ahLst/>
              <a:cxnLst/>
              <a:rect l="l" t="t" r="r" b="b"/>
              <a:pathLst>
                <a:path w="46532" h="46520">
                  <a:moveTo>
                    <a:pt x="0" y="0"/>
                  </a:moveTo>
                  <a:lnTo>
                    <a:pt x="34" y="46520"/>
                  </a:lnTo>
                  <a:lnTo>
                    <a:pt x="46532" y="23214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50" name="object 115"/>
            <p:cNvSpPr/>
            <p:nvPr/>
          </p:nvSpPr>
          <p:spPr>
            <a:xfrm>
              <a:off x="9084876" y="3601452"/>
              <a:ext cx="45167" cy="45012"/>
            </a:xfrm>
            <a:custGeom>
              <a:avLst/>
              <a:gdLst/>
              <a:ahLst/>
              <a:cxnLst/>
              <a:rect l="l" t="t" r="r" b="b"/>
              <a:pathLst>
                <a:path w="46531" h="46520">
                  <a:moveTo>
                    <a:pt x="0" y="0"/>
                  </a:moveTo>
                  <a:lnTo>
                    <a:pt x="34" y="46520"/>
                  </a:lnTo>
                  <a:lnTo>
                    <a:pt x="46531" y="23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51" name="object 116"/>
            <p:cNvSpPr/>
            <p:nvPr/>
          </p:nvSpPr>
          <p:spPr>
            <a:xfrm>
              <a:off x="9084876" y="3601452"/>
              <a:ext cx="45167" cy="45012"/>
            </a:xfrm>
            <a:custGeom>
              <a:avLst/>
              <a:gdLst/>
              <a:ahLst/>
              <a:cxnLst/>
              <a:rect l="l" t="t" r="r" b="b"/>
              <a:pathLst>
                <a:path w="46531" h="46520">
                  <a:moveTo>
                    <a:pt x="0" y="0"/>
                  </a:moveTo>
                  <a:lnTo>
                    <a:pt x="34" y="46520"/>
                  </a:lnTo>
                  <a:lnTo>
                    <a:pt x="46531" y="23225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52" name="object 117"/>
            <p:cNvSpPr/>
            <p:nvPr/>
          </p:nvSpPr>
          <p:spPr>
            <a:xfrm>
              <a:off x="9087761" y="3413041"/>
              <a:ext cx="45177" cy="45012"/>
            </a:xfrm>
            <a:custGeom>
              <a:avLst/>
              <a:gdLst/>
              <a:ahLst/>
              <a:cxnLst/>
              <a:rect l="l" t="t" r="r" b="b"/>
              <a:pathLst>
                <a:path w="46541" h="46520">
                  <a:moveTo>
                    <a:pt x="0" y="0"/>
                  </a:moveTo>
                  <a:lnTo>
                    <a:pt x="34" y="46520"/>
                  </a:lnTo>
                  <a:lnTo>
                    <a:pt x="46541" y="23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53" name="object 118"/>
            <p:cNvSpPr/>
            <p:nvPr/>
          </p:nvSpPr>
          <p:spPr>
            <a:xfrm>
              <a:off x="9087761" y="3413041"/>
              <a:ext cx="45177" cy="45012"/>
            </a:xfrm>
            <a:custGeom>
              <a:avLst/>
              <a:gdLst/>
              <a:ahLst/>
              <a:cxnLst/>
              <a:rect l="l" t="t" r="r" b="b"/>
              <a:pathLst>
                <a:path w="46541" h="46520">
                  <a:moveTo>
                    <a:pt x="0" y="0"/>
                  </a:moveTo>
                  <a:lnTo>
                    <a:pt x="34" y="46520"/>
                  </a:lnTo>
                  <a:lnTo>
                    <a:pt x="46541" y="23225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54" name="object 119"/>
            <p:cNvSpPr/>
            <p:nvPr/>
          </p:nvSpPr>
          <p:spPr>
            <a:xfrm>
              <a:off x="9088702" y="3259446"/>
              <a:ext cx="45189" cy="45023"/>
            </a:xfrm>
            <a:custGeom>
              <a:avLst/>
              <a:gdLst/>
              <a:ahLst/>
              <a:cxnLst/>
              <a:rect l="l" t="t" r="r" b="b"/>
              <a:pathLst>
                <a:path w="46554" h="46531">
                  <a:moveTo>
                    <a:pt x="0" y="0"/>
                  </a:moveTo>
                  <a:lnTo>
                    <a:pt x="45" y="46531"/>
                  </a:lnTo>
                  <a:lnTo>
                    <a:pt x="46554" y="23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55" name="object 120"/>
            <p:cNvSpPr/>
            <p:nvPr/>
          </p:nvSpPr>
          <p:spPr>
            <a:xfrm>
              <a:off x="9088702" y="3259446"/>
              <a:ext cx="45189" cy="45023"/>
            </a:xfrm>
            <a:custGeom>
              <a:avLst/>
              <a:gdLst/>
              <a:ahLst/>
              <a:cxnLst/>
              <a:rect l="l" t="t" r="r" b="b"/>
              <a:pathLst>
                <a:path w="46554" h="46531">
                  <a:moveTo>
                    <a:pt x="0" y="0"/>
                  </a:moveTo>
                  <a:lnTo>
                    <a:pt x="45" y="46531"/>
                  </a:lnTo>
                  <a:lnTo>
                    <a:pt x="46554" y="23237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56" name="object 121"/>
            <p:cNvSpPr/>
            <p:nvPr/>
          </p:nvSpPr>
          <p:spPr>
            <a:xfrm>
              <a:off x="6782849" y="3945824"/>
              <a:ext cx="45180" cy="45012"/>
            </a:xfrm>
            <a:custGeom>
              <a:avLst/>
              <a:gdLst/>
              <a:ahLst/>
              <a:cxnLst/>
              <a:rect l="l" t="t" r="r" b="b"/>
              <a:pathLst>
                <a:path w="46544" h="46520">
                  <a:moveTo>
                    <a:pt x="0" y="0"/>
                  </a:moveTo>
                  <a:lnTo>
                    <a:pt x="46" y="46520"/>
                  </a:lnTo>
                  <a:lnTo>
                    <a:pt x="46544" y="23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57" name="object 122"/>
            <p:cNvSpPr/>
            <p:nvPr/>
          </p:nvSpPr>
          <p:spPr>
            <a:xfrm>
              <a:off x="6782849" y="3945824"/>
              <a:ext cx="45180" cy="45012"/>
            </a:xfrm>
            <a:custGeom>
              <a:avLst/>
              <a:gdLst/>
              <a:ahLst/>
              <a:cxnLst/>
              <a:rect l="l" t="t" r="r" b="b"/>
              <a:pathLst>
                <a:path w="46544" h="46520">
                  <a:moveTo>
                    <a:pt x="0" y="0"/>
                  </a:moveTo>
                  <a:lnTo>
                    <a:pt x="46" y="46520"/>
                  </a:lnTo>
                  <a:lnTo>
                    <a:pt x="46544" y="23225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58" name="object 123"/>
            <p:cNvSpPr/>
            <p:nvPr/>
          </p:nvSpPr>
          <p:spPr>
            <a:xfrm>
              <a:off x="6738236" y="4651997"/>
              <a:ext cx="45167" cy="45012"/>
            </a:xfrm>
            <a:custGeom>
              <a:avLst/>
              <a:gdLst/>
              <a:ahLst/>
              <a:cxnLst/>
              <a:rect l="l" t="t" r="r" b="b"/>
              <a:pathLst>
                <a:path w="46531" h="46520">
                  <a:moveTo>
                    <a:pt x="0" y="0"/>
                  </a:moveTo>
                  <a:lnTo>
                    <a:pt x="34" y="46520"/>
                  </a:lnTo>
                  <a:lnTo>
                    <a:pt x="46531" y="23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59" name="object 124"/>
            <p:cNvSpPr/>
            <p:nvPr/>
          </p:nvSpPr>
          <p:spPr>
            <a:xfrm>
              <a:off x="6738236" y="4651997"/>
              <a:ext cx="45167" cy="45012"/>
            </a:xfrm>
            <a:custGeom>
              <a:avLst/>
              <a:gdLst/>
              <a:ahLst/>
              <a:cxnLst/>
              <a:rect l="l" t="t" r="r" b="b"/>
              <a:pathLst>
                <a:path w="46531" h="46520">
                  <a:moveTo>
                    <a:pt x="0" y="0"/>
                  </a:moveTo>
                  <a:lnTo>
                    <a:pt x="34" y="46520"/>
                  </a:lnTo>
                  <a:lnTo>
                    <a:pt x="46531" y="23225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60" name="object 125"/>
            <p:cNvSpPr/>
            <p:nvPr/>
          </p:nvSpPr>
          <p:spPr>
            <a:xfrm>
              <a:off x="6737082" y="4789048"/>
              <a:ext cx="45180" cy="45012"/>
            </a:xfrm>
            <a:custGeom>
              <a:avLst/>
              <a:gdLst/>
              <a:ahLst/>
              <a:cxnLst/>
              <a:rect l="l" t="t" r="r" b="b"/>
              <a:pathLst>
                <a:path w="46544" h="46520">
                  <a:moveTo>
                    <a:pt x="0" y="0"/>
                  </a:moveTo>
                  <a:lnTo>
                    <a:pt x="46" y="46520"/>
                  </a:lnTo>
                  <a:lnTo>
                    <a:pt x="46544" y="23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61" name="object 126"/>
            <p:cNvSpPr/>
            <p:nvPr/>
          </p:nvSpPr>
          <p:spPr>
            <a:xfrm>
              <a:off x="6737082" y="4789048"/>
              <a:ext cx="45180" cy="45012"/>
            </a:xfrm>
            <a:custGeom>
              <a:avLst/>
              <a:gdLst/>
              <a:ahLst/>
              <a:cxnLst/>
              <a:rect l="l" t="t" r="r" b="b"/>
              <a:pathLst>
                <a:path w="46544" h="46520">
                  <a:moveTo>
                    <a:pt x="0" y="0"/>
                  </a:moveTo>
                  <a:lnTo>
                    <a:pt x="46" y="46520"/>
                  </a:lnTo>
                  <a:lnTo>
                    <a:pt x="46544" y="23237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62" name="object 127"/>
            <p:cNvSpPr/>
            <p:nvPr/>
          </p:nvSpPr>
          <p:spPr>
            <a:xfrm>
              <a:off x="6737082" y="4925909"/>
              <a:ext cx="45180" cy="45012"/>
            </a:xfrm>
            <a:custGeom>
              <a:avLst/>
              <a:gdLst/>
              <a:ahLst/>
              <a:cxnLst/>
              <a:rect l="l" t="t" r="r" b="b"/>
              <a:pathLst>
                <a:path w="46544" h="46520">
                  <a:moveTo>
                    <a:pt x="0" y="0"/>
                  </a:moveTo>
                  <a:lnTo>
                    <a:pt x="46" y="46520"/>
                  </a:lnTo>
                  <a:lnTo>
                    <a:pt x="46544" y="23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63" name="object 128"/>
            <p:cNvSpPr/>
            <p:nvPr/>
          </p:nvSpPr>
          <p:spPr>
            <a:xfrm>
              <a:off x="6737082" y="4925909"/>
              <a:ext cx="45180" cy="45012"/>
            </a:xfrm>
            <a:custGeom>
              <a:avLst/>
              <a:gdLst/>
              <a:ahLst/>
              <a:cxnLst/>
              <a:rect l="l" t="t" r="r" b="b"/>
              <a:pathLst>
                <a:path w="46544" h="46520">
                  <a:moveTo>
                    <a:pt x="0" y="0"/>
                  </a:moveTo>
                  <a:lnTo>
                    <a:pt x="46" y="46520"/>
                  </a:lnTo>
                  <a:lnTo>
                    <a:pt x="46544" y="23237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64" name="object 129"/>
            <p:cNvSpPr/>
            <p:nvPr/>
          </p:nvSpPr>
          <p:spPr>
            <a:xfrm>
              <a:off x="6737082" y="5065060"/>
              <a:ext cx="45180" cy="45012"/>
            </a:xfrm>
            <a:custGeom>
              <a:avLst/>
              <a:gdLst/>
              <a:ahLst/>
              <a:cxnLst/>
              <a:rect l="l" t="t" r="r" b="b"/>
              <a:pathLst>
                <a:path w="46544" h="46520">
                  <a:moveTo>
                    <a:pt x="0" y="0"/>
                  </a:moveTo>
                  <a:lnTo>
                    <a:pt x="46" y="46520"/>
                  </a:lnTo>
                  <a:lnTo>
                    <a:pt x="46544" y="23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65" name="object 130"/>
            <p:cNvSpPr/>
            <p:nvPr/>
          </p:nvSpPr>
          <p:spPr>
            <a:xfrm>
              <a:off x="6737082" y="5065060"/>
              <a:ext cx="45180" cy="45012"/>
            </a:xfrm>
            <a:custGeom>
              <a:avLst/>
              <a:gdLst/>
              <a:ahLst/>
              <a:cxnLst/>
              <a:rect l="l" t="t" r="r" b="b"/>
              <a:pathLst>
                <a:path w="46544" h="46520">
                  <a:moveTo>
                    <a:pt x="0" y="0"/>
                  </a:moveTo>
                  <a:lnTo>
                    <a:pt x="46" y="46520"/>
                  </a:lnTo>
                  <a:lnTo>
                    <a:pt x="46544" y="23225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66" name="object 131"/>
            <p:cNvSpPr/>
            <p:nvPr/>
          </p:nvSpPr>
          <p:spPr>
            <a:xfrm>
              <a:off x="6995029" y="5670272"/>
              <a:ext cx="45178" cy="45012"/>
            </a:xfrm>
            <a:custGeom>
              <a:avLst/>
              <a:gdLst/>
              <a:ahLst/>
              <a:cxnLst/>
              <a:rect l="l" t="t" r="r" b="b"/>
              <a:pathLst>
                <a:path w="46542" h="46520">
                  <a:moveTo>
                    <a:pt x="0" y="0"/>
                  </a:moveTo>
                  <a:lnTo>
                    <a:pt x="22" y="46520"/>
                  </a:lnTo>
                  <a:lnTo>
                    <a:pt x="46542" y="23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67" name="object 132"/>
            <p:cNvSpPr/>
            <p:nvPr/>
          </p:nvSpPr>
          <p:spPr>
            <a:xfrm>
              <a:off x="6995029" y="5670272"/>
              <a:ext cx="45178" cy="45012"/>
            </a:xfrm>
            <a:custGeom>
              <a:avLst/>
              <a:gdLst/>
              <a:ahLst/>
              <a:cxnLst/>
              <a:rect l="l" t="t" r="r" b="b"/>
              <a:pathLst>
                <a:path w="46542" h="46520">
                  <a:moveTo>
                    <a:pt x="0" y="0"/>
                  </a:moveTo>
                  <a:lnTo>
                    <a:pt x="22" y="46520"/>
                  </a:lnTo>
                  <a:lnTo>
                    <a:pt x="46542" y="23225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68" name="object 133"/>
            <p:cNvSpPr/>
            <p:nvPr/>
          </p:nvSpPr>
          <p:spPr>
            <a:xfrm>
              <a:off x="5974304" y="4281459"/>
              <a:ext cx="216395" cy="0"/>
            </a:xfrm>
            <a:custGeom>
              <a:avLst/>
              <a:gdLst/>
              <a:ahLst/>
              <a:cxnLst/>
              <a:rect l="l" t="t" r="r" b="b"/>
              <a:pathLst>
                <a:path w="222930">
                  <a:moveTo>
                    <a:pt x="205499" y="0"/>
                  </a:moveTo>
                  <a:lnTo>
                    <a:pt x="222930" y="0"/>
                  </a:ln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69" name="object 134"/>
            <p:cNvSpPr/>
            <p:nvPr/>
          </p:nvSpPr>
          <p:spPr>
            <a:xfrm>
              <a:off x="7821770" y="4477721"/>
              <a:ext cx="315119" cy="0"/>
            </a:xfrm>
            <a:custGeom>
              <a:avLst/>
              <a:gdLst/>
              <a:ahLst/>
              <a:cxnLst/>
              <a:rect l="l" t="t" r="r" b="b"/>
              <a:pathLst>
                <a:path w="324635">
                  <a:moveTo>
                    <a:pt x="0" y="0"/>
                  </a:moveTo>
                  <a:lnTo>
                    <a:pt x="3246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70" name="object 135"/>
            <p:cNvSpPr/>
            <p:nvPr/>
          </p:nvSpPr>
          <p:spPr>
            <a:xfrm>
              <a:off x="5064318" y="3038764"/>
              <a:ext cx="498785" cy="902447"/>
            </a:xfrm>
            <a:custGeom>
              <a:avLst/>
              <a:gdLst/>
              <a:ahLst/>
              <a:cxnLst/>
              <a:rect l="l" t="t" r="r" b="b"/>
              <a:pathLst>
                <a:path w="513847" h="932676">
                  <a:moveTo>
                    <a:pt x="513847" y="932676"/>
                  </a:moveTo>
                  <a:lnTo>
                    <a:pt x="513847" y="0"/>
                  </a:lnTo>
                  <a:lnTo>
                    <a:pt x="0" y="0"/>
                  </a:lnTo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71" name="object 136"/>
            <p:cNvSpPr/>
            <p:nvPr/>
          </p:nvSpPr>
          <p:spPr>
            <a:xfrm>
              <a:off x="5125972" y="2858725"/>
              <a:ext cx="1789505" cy="1023716"/>
            </a:xfrm>
            <a:custGeom>
              <a:avLst/>
              <a:gdLst/>
              <a:ahLst/>
              <a:cxnLst/>
              <a:rect l="l" t="t" r="r" b="b"/>
              <a:pathLst>
                <a:path w="1843544" h="1058007">
                  <a:moveTo>
                    <a:pt x="1843544" y="1058007"/>
                  </a:moveTo>
                  <a:lnTo>
                    <a:pt x="1843544" y="0"/>
                  </a:lnTo>
                  <a:lnTo>
                    <a:pt x="0" y="0"/>
                  </a:lnTo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72" name="object 137"/>
            <p:cNvSpPr/>
            <p:nvPr/>
          </p:nvSpPr>
          <p:spPr>
            <a:xfrm>
              <a:off x="5022502" y="2387457"/>
              <a:ext cx="4230983" cy="793400"/>
            </a:xfrm>
            <a:custGeom>
              <a:avLst/>
              <a:gdLst/>
              <a:ahLst/>
              <a:cxnLst/>
              <a:rect l="l" t="t" r="r" b="b"/>
              <a:pathLst>
                <a:path w="4358749" h="819976">
                  <a:moveTo>
                    <a:pt x="0" y="0"/>
                  </a:moveTo>
                  <a:lnTo>
                    <a:pt x="4358749" y="0"/>
                  </a:lnTo>
                  <a:lnTo>
                    <a:pt x="4358749" y="819976"/>
                  </a:lnTo>
                </a:path>
              </a:pathLst>
            </a:custGeom>
            <a:ln w="31432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73" name="object 138"/>
            <p:cNvSpPr/>
            <p:nvPr/>
          </p:nvSpPr>
          <p:spPr>
            <a:xfrm>
              <a:off x="2544875" y="2764775"/>
              <a:ext cx="2113778" cy="1179168"/>
            </a:xfrm>
            <a:custGeom>
              <a:avLst/>
              <a:gdLst/>
              <a:ahLst/>
              <a:cxnLst/>
              <a:rect l="l" t="t" r="r" b="b"/>
              <a:pathLst>
                <a:path w="2177609" h="1218666">
                  <a:moveTo>
                    <a:pt x="0" y="1218666"/>
                  </a:moveTo>
                  <a:lnTo>
                    <a:pt x="0" y="0"/>
                  </a:lnTo>
                  <a:lnTo>
                    <a:pt x="2177609" y="0"/>
                  </a:lnTo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74" name="object 139"/>
            <p:cNvSpPr/>
            <p:nvPr/>
          </p:nvSpPr>
          <p:spPr>
            <a:xfrm>
              <a:off x="2933941" y="2917020"/>
              <a:ext cx="1725587" cy="1029255"/>
            </a:xfrm>
            <a:custGeom>
              <a:avLst/>
              <a:gdLst/>
              <a:ahLst/>
              <a:cxnLst/>
              <a:rect l="l" t="t" r="r" b="b"/>
              <a:pathLst>
                <a:path w="1777696" h="1063732">
                  <a:moveTo>
                    <a:pt x="0" y="1063732"/>
                  </a:moveTo>
                  <a:lnTo>
                    <a:pt x="0" y="0"/>
                  </a:lnTo>
                  <a:lnTo>
                    <a:pt x="1777696" y="0"/>
                  </a:lnTo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75" name="object 140"/>
            <p:cNvSpPr/>
            <p:nvPr/>
          </p:nvSpPr>
          <p:spPr>
            <a:xfrm>
              <a:off x="3528576" y="2380257"/>
              <a:ext cx="1241436" cy="0"/>
            </a:xfrm>
            <a:custGeom>
              <a:avLst/>
              <a:gdLst/>
              <a:ahLst/>
              <a:cxnLst/>
              <a:rect l="l" t="t" r="r" b="b"/>
              <a:pathLst>
                <a:path w="1278925">
                  <a:moveTo>
                    <a:pt x="0" y="0"/>
                  </a:moveTo>
                  <a:lnTo>
                    <a:pt x="1278925" y="0"/>
                  </a:lnTo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76" name="object 141"/>
            <p:cNvSpPr/>
            <p:nvPr/>
          </p:nvSpPr>
          <p:spPr>
            <a:xfrm>
              <a:off x="2979375" y="2501613"/>
              <a:ext cx="1734019" cy="441"/>
            </a:xfrm>
            <a:custGeom>
              <a:avLst/>
              <a:gdLst/>
              <a:ahLst/>
              <a:cxnLst/>
              <a:rect l="l" t="t" r="r" b="b"/>
              <a:pathLst>
                <a:path w="1786383" h="456">
                  <a:moveTo>
                    <a:pt x="1786383" y="456"/>
                  </a:moveTo>
                  <a:lnTo>
                    <a:pt x="0" y="0"/>
                  </a:lnTo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77" name="object 142"/>
            <p:cNvSpPr txBox="1"/>
            <p:nvPr/>
          </p:nvSpPr>
          <p:spPr>
            <a:xfrm>
              <a:off x="4463849" y="2507400"/>
              <a:ext cx="169506" cy="10998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5" dirty="0" smtClean="0">
                  <a:solidFill>
                    <a:srgbClr val="EB2D2E"/>
                  </a:solidFill>
                  <a:latin typeface="Franklin Gothic Book"/>
                  <a:cs typeface="Franklin Gothic Book"/>
                </a:rPr>
                <a:t>IorD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178" name="object 143"/>
            <p:cNvSpPr txBox="1"/>
            <p:nvPr/>
          </p:nvSpPr>
          <p:spPr>
            <a:xfrm>
              <a:off x="4249300" y="2651726"/>
              <a:ext cx="384009" cy="10998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10" dirty="0" smtClean="0">
                  <a:solidFill>
                    <a:srgbClr val="EB2D2E"/>
                  </a:solidFill>
                  <a:latin typeface="Franklin Gothic Book"/>
                  <a:cs typeface="Franklin Gothic Book"/>
                </a:rPr>
                <a:t>MemRead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179" name="object 144"/>
            <p:cNvSpPr txBox="1"/>
            <p:nvPr/>
          </p:nvSpPr>
          <p:spPr>
            <a:xfrm>
              <a:off x="4249300" y="2803974"/>
              <a:ext cx="384009" cy="10998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10" dirty="0" smtClean="0">
                  <a:solidFill>
                    <a:srgbClr val="EB2D2E"/>
                  </a:solidFill>
                  <a:latin typeface="Franklin Gothic Book"/>
                  <a:cs typeface="Franklin Gothic Book"/>
                </a:rPr>
                <a:t>MemWrite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180" name="object 145"/>
            <p:cNvSpPr txBox="1"/>
            <p:nvPr/>
          </p:nvSpPr>
          <p:spPr>
            <a:xfrm>
              <a:off x="4222531" y="2951451"/>
              <a:ext cx="406815" cy="10998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10" dirty="0" smtClean="0">
                  <a:solidFill>
                    <a:srgbClr val="EB2D2E"/>
                  </a:solidFill>
                  <a:latin typeface="Franklin Gothic Book"/>
                  <a:cs typeface="Franklin Gothic Book"/>
                </a:rPr>
                <a:t>MemtoReg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181" name="object 146"/>
            <p:cNvSpPr txBox="1"/>
            <p:nvPr/>
          </p:nvSpPr>
          <p:spPr>
            <a:xfrm>
              <a:off x="4246221" y="2249395"/>
              <a:ext cx="485096" cy="10998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5" dirty="0" smtClean="0">
                  <a:solidFill>
                    <a:srgbClr val="EB2D2E"/>
                  </a:solidFill>
                  <a:latin typeface="Franklin Gothic Book"/>
                  <a:cs typeface="Franklin Gothic Book"/>
                </a:rPr>
                <a:t>PCWriteCond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182" name="object 147"/>
            <p:cNvSpPr txBox="1"/>
            <p:nvPr/>
          </p:nvSpPr>
          <p:spPr>
            <a:xfrm>
              <a:off x="4367237" y="2391330"/>
              <a:ext cx="302646" cy="10998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5" dirty="0" smtClean="0">
                  <a:solidFill>
                    <a:srgbClr val="EB2D2E"/>
                  </a:solidFill>
                  <a:latin typeface="Franklin Gothic Book"/>
                  <a:cs typeface="Franklin Gothic Book"/>
                </a:rPr>
                <a:t>PCWrite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183" name="object 148"/>
            <p:cNvSpPr txBox="1"/>
            <p:nvPr/>
          </p:nvSpPr>
          <p:spPr>
            <a:xfrm>
              <a:off x="4345855" y="3121263"/>
              <a:ext cx="278607" cy="10998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5" dirty="0" smtClean="0">
                  <a:solidFill>
                    <a:srgbClr val="EB2D2E"/>
                  </a:solidFill>
                  <a:latin typeface="Franklin Gothic Book"/>
                  <a:cs typeface="Franklin Gothic Book"/>
                </a:rPr>
                <a:t>IRWrite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184" name="object 149"/>
            <p:cNvSpPr txBox="1"/>
            <p:nvPr/>
          </p:nvSpPr>
          <p:spPr>
            <a:xfrm>
              <a:off x="5102846" y="2429348"/>
              <a:ext cx="260731" cy="10998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15" dirty="0" smtClean="0">
                  <a:solidFill>
                    <a:srgbClr val="EB2D2E"/>
                  </a:solidFill>
                  <a:latin typeface="Franklin Gothic Book"/>
                  <a:cs typeface="Franklin Gothic Book"/>
                </a:rPr>
                <a:t>ALUOp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185" name="object 150"/>
            <p:cNvSpPr txBox="1"/>
            <p:nvPr/>
          </p:nvSpPr>
          <p:spPr>
            <a:xfrm>
              <a:off x="5133354" y="2592825"/>
              <a:ext cx="329150" cy="10998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15" dirty="0" smtClean="0">
                  <a:solidFill>
                    <a:srgbClr val="EB2D2E"/>
                  </a:solidFill>
                  <a:latin typeface="Franklin Gothic Book"/>
                  <a:cs typeface="Franklin Gothic Book"/>
                </a:rPr>
                <a:t>ALUSrcB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186" name="object 151"/>
            <p:cNvSpPr txBox="1"/>
            <p:nvPr/>
          </p:nvSpPr>
          <p:spPr>
            <a:xfrm>
              <a:off x="5143520" y="2745931"/>
              <a:ext cx="342095" cy="27218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29209">
                <a:lnSpc>
                  <a:spcPct val="100000"/>
                </a:lnSpc>
              </a:pPr>
              <a:r>
                <a:rPr sz="650" spc="15" dirty="0" smtClean="0">
                  <a:solidFill>
                    <a:srgbClr val="EB2D2E"/>
                  </a:solidFill>
                  <a:latin typeface="Franklin Gothic Book"/>
                  <a:cs typeface="Franklin Gothic Book"/>
                </a:rPr>
                <a:t>ALUSrcA</a:t>
              </a:r>
              <a:endParaRPr sz="650">
                <a:latin typeface="Franklin Gothic Book"/>
                <a:cs typeface="Franklin Gothic Book"/>
              </a:endParaRPr>
            </a:p>
            <a:p>
              <a:pPr>
                <a:lnSpc>
                  <a:spcPts val="500"/>
                </a:lnSpc>
                <a:spcBef>
                  <a:spcPts val="39"/>
                </a:spcBef>
              </a:pPr>
              <a:endParaRPr sz="500"/>
            </a:p>
            <a:p>
              <a:pPr marL="12700">
                <a:lnSpc>
                  <a:spcPct val="100000"/>
                </a:lnSpc>
              </a:pPr>
              <a:r>
                <a:rPr sz="650" spc="5" dirty="0" smtClean="0">
                  <a:solidFill>
                    <a:srgbClr val="EB2D2E"/>
                  </a:solidFill>
                  <a:latin typeface="Franklin Gothic Book"/>
                  <a:cs typeface="Franklin Gothic Book"/>
                </a:rPr>
                <a:t>RegWrite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187" name="object 152"/>
            <p:cNvSpPr txBox="1"/>
            <p:nvPr/>
          </p:nvSpPr>
          <p:spPr>
            <a:xfrm>
              <a:off x="5133354" y="3080709"/>
              <a:ext cx="281689" cy="10998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15" dirty="0" smtClean="0">
                  <a:solidFill>
                    <a:srgbClr val="EB2D2E"/>
                  </a:solidFill>
                  <a:latin typeface="Franklin Gothic Book"/>
                  <a:cs typeface="Franklin Gothic Book"/>
                </a:rPr>
                <a:t>RegDst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188" name="object 153"/>
            <p:cNvSpPr txBox="1"/>
            <p:nvPr/>
          </p:nvSpPr>
          <p:spPr>
            <a:xfrm>
              <a:off x="5079829" y="2267777"/>
              <a:ext cx="367983" cy="10998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10" dirty="0" smtClean="0">
                  <a:solidFill>
                    <a:srgbClr val="EB2D2E"/>
                  </a:solidFill>
                  <a:latin typeface="Franklin Gothic Book"/>
                  <a:cs typeface="Franklin Gothic Book"/>
                </a:rPr>
                <a:t>PCSource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189" name="object 154"/>
            <p:cNvSpPr/>
            <p:nvPr/>
          </p:nvSpPr>
          <p:spPr>
            <a:xfrm>
              <a:off x="3513320" y="2177203"/>
              <a:ext cx="4480087" cy="2145429"/>
            </a:xfrm>
            <a:custGeom>
              <a:avLst/>
              <a:gdLst/>
              <a:ahLst/>
              <a:cxnLst/>
              <a:rect l="l" t="t" r="r" b="b"/>
              <a:pathLst>
                <a:path w="4615376" h="2217294">
                  <a:moveTo>
                    <a:pt x="4436142" y="2217294"/>
                  </a:moveTo>
                  <a:lnTo>
                    <a:pt x="4615376" y="2217294"/>
                  </a:lnTo>
                  <a:lnTo>
                    <a:pt x="4615376" y="0"/>
                  </a:lnTo>
                  <a:lnTo>
                    <a:pt x="120495" y="0"/>
                  </a:lnTo>
                  <a:lnTo>
                    <a:pt x="120495" y="104767"/>
                  </a:lnTo>
                  <a:lnTo>
                    <a:pt x="0" y="104767"/>
                  </a:lnTo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90" name="object 155"/>
            <p:cNvSpPr/>
            <p:nvPr/>
          </p:nvSpPr>
          <p:spPr>
            <a:xfrm>
              <a:off x="3262376" y="2228647"/>
              <a:ext cx="256314" cy="212127"/>
            </a:xfrm>
            <a:custGeom>
              <a:avLst/>
              <a:gdLst/>
              <a:ahLst/>
              <a:cxnLst/>
              <a:rect l="l" t="t" r="r" b="b"/>
              <a:pathLst>
                <a:path w="264054" h="219233">
                  <a:moveTo>
                    <a:pt x="105516" y="0"/>
                  </a:moveTo>
                  <a:lnTo>
                    <a:pt x="64402" y="8931"/>
                  </a:lnTo>
                  <a:lnTo>
                    <a:pt x="30867" y="32551"/>
                  </a:lnTo>
                  <a:lnTo>
                    <a:pt x="8277" y="67450"/>
                  </a:lnTo>
                  <a:lnTo>
                    <a:pt x="0" y="110220"/>
                  </a:lnTo>
                  <a:lnTo>
                    <a:pt x="1043" y="125023"/>
                  </a:lnTo>
                  <a:lnTo>
                    <a:pt x="14738" y="165263"/>
                  </a:lnTo>
                  <a:lnTo>
                    <a:pt x="41641" y="196534"/>
                  </a:lnTo>
                  <a:lnTo>
                    <a:pt x="78355" y="215342"/>
                  </a:lnTo>
                  <a:lnTo>
                    <a:pt x="106606" y="219233"/>
                  </a:lnTo>
                  <a:lnTo>
                    <a:pt x="264054" y="219233"/>
                  </a:lnTo>
                  <a:lnTo>
                    <a:pt x="264054" y="17"/>
                  </a:lnTo>
                  <a:lnTo>
                    <a:pt x="1055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91" name="object 156"/>
            <p:cNvSpPr/>
            <p:nvPr/>
          </p:nvSpPr>
          <p:spPr>
            <a:xfrm>
              <a:off x="3262376" y="2228647"/>
              <a:ext cx="256314" cy="212127"/>
            </a:xfrm>
            <a:custGeom>
              <a:avLst/>
              <a:gdLst/>
              <a:ahLst/>
              <a:cxnLst/>
              <a:rect l="l" t="t" r="r" b="b"/>
              <a:pathLst>
                <a:path w="264054" h="219233">
                  <a:moveTo>
                    <a:pt x="106606" y="219233"/>
                  </a:moveTo>
                  <a:lnTo>
                    <a:pt x="65237" y="210673"/>
                  </a:lnTo>
                  <a:lnTo>
                    <a:pt x="31415" y="187323"/>
                  </a:lnTo>
                  <a:lnTo>
                    <a:pt x="8537" y="152674"/>
                  </a:lnTo>
                  <a:lnTo>
                    <a:pt x="0" y="110220"/>
                  </a:lnTo>
                  <a:lnTo>
                    <a:pt x="961" y="95299"/>
                  </a:lnTo>
                  <a:lnTo>
                    <a:pt x="14383" y="54774"/>
                  </a:lnTo>
                  <a:lnTo>
                    <a:pt x="40995" y="23256"/>
                  </a:lnTo>
                  <a:lnTo>
                    <a:pt x="77431" y="4153"/>
                  </a:lnTo>
                  <a:lnTo>
                    <a:pt x="105516" y="0"/>
                  </a:lnTo>
                  <a:lnTo>
                    <a:pt x="264054" y="17"/>
                  </a:lnTo>
                  <a:lnTo>
                    <a:pt x="264054" y="219233"/>
                  </a:lnTo>
                  <a:lnTo>
                    <a:pt x="106606" y="219233"/>
                  </a:lnTo>
                  <a:close/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92" name="object 157"/>
            <p:cNvSpPr/>
            <p:nvPr/>
          </p:nvSpPr>
          <p:spPr>
            <a:xfrm>
              <a:off x="4657965" y="2217748"/>
              <a:ext cx="476195" cy="1112114"/>
            </a:xfrm>
            <a:custGeom>
              <a:avLst/>
              <a:gdLst/>
              <a:ahLst/>
              <a:cxnLst/>
              <a:rect l="l" t="t" r="r" b="b"/>
              <a:pathLst>
                <a:path w="490575" h="1149366">
                  <a:moveTo>
                    <a:pt x="245287" y="0"/>
                  </a:moveTo>
                  <a:lnTo>
                    <a:pt x="205500" y="9814"/>
                  </a:lnTo>
                  <a:lnTo>
                    <a:pt x="167758" y="37688"/>
                  </a:lnTo>
                  <a:lnTo>
                    <a:pt x="132564" y="81266"/>
                  </a:lnTo>
                  <a:lnTo>
                    <a:pt x="100424" y="138191"/>
                  </a:lnTo>
                  <a:lnTo>
                    <a:pt x="71843" y="206108"/>
                  </a:lnTo>
                  <a:lnTo>
                    <a:pt x="59045" y="243453"/>
                  </a:lnTo>
                  <a:lnTo>
                    <a:pt x="47326" y="282662"/>
                  </a:lnTo>
                  <a:lnTo>
                    <a:pt x="36749" y="323441"/>
                  </a:lnTo>
                  <a:lnTo>
                    <a:pt x="27378" y="365496"/>
                  </a:lnTo>
                  <a:lnTo>
                    <a:pt x="19275" y="408532"/>
                  </a:lnTo>
                  <a:lnTo>
                    <a:pt x="12504" y="452254"/>
                  </a:lnTo>
                  <a:lnTo>
                    <a:pt x="7128" y="496369"/>
                  </a:lnTo>
                  <a:lnTo>
                    <a:pt x="3210" y="540582"/>
                  </a:lnTo>
                  <a:lnTo>
                    <a:pt x="813" y="584599"/>
                  </a:lnTo>
                  <a:lnTo>
                    <a:pt x="0" y="628124"/>
                  </a:lnTo>
                  <a:lnTo>
                    <a:pt x="813" y="670872"/>
                  </a:lnTo>
                  <a:lnTo>
                    <a:pt x="3210" y="712669"/>
                  </a:lnTo>
                  <a:lnTo>
                    <a:pt x="7128" y="753381"/>
                  </a:lnTo>
                  <a:lnTo>
                    <a:pt x="12504" y="792872"/>
                  </a:lnTo>
                  <a:lnTo>
                    <a:pt x="19275" y="831010"/>
                  </a:lnTo>
                  <a:lnTo>
                    <a:pt x="36749" y="902687"/>
                  </a:lnTo>
                  <a:lnTo>
                    <a:pt x="59045" y="967338"/>
                  </a:lnTo>
                  <a:lnTo>
                    <a:pt x="85657" y="1023890"/>
                  </a:lnTo>
                  <a:lnTo>
                    <a:pt x="116080" y="1071269"/>
                  </a:lnTo>
                  <a:lnTo>
                    <a:pt x="149810" y="1108403"/>
                  </a:lnTo>
                  <a:lnTo>
                    <a:pt x="186342" y="1134217"/>
                  </a:lnTo>
                  <a:lnTo>
                    <a:pt x="225170" y="1147638"/>
                  </a:lnTo>
                  <a:lnTo>
                    <a:pt x="245287" y="1149366"/>
                  </a:lnTo>
                  <a:lnTo>
                    <a:pt x="265405" y="1147638"/>
                  </a:lnTo>
                  <a:lnTo>
                    <a:pt x="304233" y="1134217"/>
                  </a:lnTo>
                  <a:lnTo>
                    <a:pt x="340764" y="1108403"/>
                  </a:lnTo>
                  <a:lnTo>
                    <a:pt x="374494" y="1071269"/>
                  </a:lnTo>
                  <a:lnTo>
                    <a:pt x="404918" y="1023890"/>
                  </a:lnTo>
                  <a:lnTo>
                    <a:pt x="431530" y="967338"/>
                  </a:lnTo>
                  <a:lnTo>
                    <a:pt x="453825" y="902687"/>
                  </a:lnTo>
                  <a:lnTo>
                    <a:pt x="471299" y="831010"/>
                  </a:lnTo>
                  <a:lnTo>
                    <a:pt x="478070" y="792872"/>
                  </a:lnTo>
                  <a:lnTo>
                    <a:pt x="483446" y="753381"/>
                  </a:lnTo>
                  <a:lnTo>
                    <a:pt x="487365" y="712669"/>
                  </a:lnTo>
                  <a:lnTo>
                    <a:pt x="489762" y="670872"/>
                  </a:lnTo>
                  <a:lnTo>
                    <a:pt x="490575" y="628124"/>
                  </a:lnTo>
                  <a:lnTo>
                    <a:pt x="489762" y="584599"/>
                  </a:lnTo>
                  <a:lnTo>
                    <a:pt x="487365" y="540582"/>
                  </a:lnTo>
                  <a:lnTo>
                    <a:pt x="483446" y="496369"/>
                  </a:lnTo>
                  <a:lnTo>
                    <a:pt x="478070" y="452254"/>
                  </a:lnTo>
                  <a:lnTo>
                    <a:pt x="471299" y="408532"/>
                  </a:lnTo>
                  <a:lnTo>
                    <a:pt x="463196" y="365496"/>
                  </a:lnTo>
                  <a:lnTo>
                    <a:pt x="453825" y="323441"/>
                  </a:lnTo>
                  <a:lnTo>
                    <a:pt x="443249" y="282662"/>
                  </a:lnTo>
                  <a:lnTo>
                    <a:pt x="431530" y="243453"/>
                  </a:lnTo>
                  <a:lnTo>
                    <a:pt x="418732" y="206108"/>
                  </a:lnTo>
                  <a:lnTo>
                    <a:pt x="390151" y="138191"/>
                  </a:lnTo>
                  <a:lnTo>
                    <a:pt x="358011" y="81266"/>
                  </a:lnTo>
                  <a:lnTo>
                    <a:pt x="322817" y="37688"/>
                  </a:lnTo>
                  <a:lnTo>
                    <a:pt x="285074" y="9814"/>
                  </a:lnTo>
                  <a:lnTo>
                    <a:pt x="2452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93" name="object 158"/>
            <p:cNvSpPr/>
            <p:nvPr/>
          </p:nvSpPr>
          <p:spPr>
            <a:xfrm>
              <a:off x="4657965" y="2217748"/>
              <a:ext cx="476195" cy="1112114"/>
            </a:xfrm>
            <a:custGeom>
              <a:avLst/>
              <a:gdLst/>
              <a:ahLst/>
              <a:cxnLst/>
              <a:rect l="l" t="t" r="r" b="b"/>
              <a:pathLst>
                <a:path w="490575" h="1149366">
                  <a:moveTo>
                    <a:pt x="245287" y="1149366"/>
                  </a:moveTo>
                  <a:lnTo>
                    <a:pt x="285074" y="1142544"/>
                  </a:lnTo>
                  <a:lnTo>
                    <a:pt x="322817" y="1122792"/>
                  </a:lnTo>
                  <a:lnTo>
                    <a:pt x="358011" y="1091184"/>
                  </a:lnTo>
                  <a:lnTo>
                    <a:pt x="390151" y="1048793"/>
                  </a:lnTo>
                  <a:lnTo>
                    <a:pt x="418732" y="996694"/>
                  </a:lnTo>
                  <a:lnTo>
                    <a:pt x="443249" y="935958"/>
                  </a:lnTo>
                  <a:lnTo>
                    <a:pt x="463196" y="867660"/>
                  </a:lnTo>
                  <a:lnTo>
                    <a:pt x="478070" y="792872"/>
                  </a:lnTo>
                  <a:lnTo>
                    <a:pt x="483446" y="753381"/>
                  </a:lnTo>
                  <a:lnTo>
                    <a:pt x="487365" y="712669"/>
                  </a:lnTo>
                  <a:lnTo>
                    <a:pt x="489762" y="670872"/>
                  </a:lnTo>
                  <a:lnTo>
                    <a:pt x="490575" y="628124"/>
                  </a:lnTo>
                  <a:lnTo>
                    <a:pt x="489762" y="584599"/>
                  </a:lnTo>
                  <a:lnTo>
                    <a:pt x="487365" y="540582"/>
                  </a:lnTo>
                  <a:lnTo>
                    <a:pt x="483446" y="496369"/>
                  </a:lnTo>
                  <a:lnTo>
                    <a:pt x="478070" y="452254"/>
                  </a:lnTo>
                  <a:lnTo>
                    <a:pt x="471299" y="408532"/>
                  </a:lnTo>
                  <a:lnTo>
                    <a:pt x="463196" y="365496"/>
                  </a:lnTo>
                  <a:lnTo>
                    <a:pt x="453825" y="323441"/>
                  </a:lnTo>
                  <a:lnTo>
                    <a:pt x="443249" y="282662"/>
                  </a:lnTo>
                  <a:lnTo>
                    <a:pt x="431530" y="243453"/>
                  </a:lnTo>
                  <a:lnTo>
                    <a:pt x="418732" y="206108"/>
                  </a:lnTo>
                  <a:lnTo>
                    <a:pt x="390151" y="138191"/>
                  </a:lnTo>
                  <a:lnTo>
                    <a:pt x="358011" y="81266"/>
                  </a:lnTo>
                  <a:lnTo>
                    <a:pt x="322817" y="37688"/>
                  </a:lnTo>
                  <a:lnTo>
                    <a:pt x="285074" y="9814"/>
                  </a:lnTo>
                  <a:lnTo>
                    <a:pt x="245287" y="0"/>
                  </a:lnTo>
                  <a:lnTo>
                    <a:pt x="225170" y="2502"/>
                  </a:lnTo>
                  <a:lnTo>
                    <a:pt x="186342" y="21641"/>
                  </a:lnTo>
                  <a:lnTo>
                    <a:pt x="149810" y="57661"/>
                  </a:lnTo>
                  <a:lnTo>
                    <a:pt x="116080" y="108207"/>
                  </a:lnTo>
                  <a:lnTo>
                    <a:pt x="85657" y="170923"/>
                  </a:lnTo>
                  <a:lnTo>
                    <a:pt x="59045" y="243453"/>
                  </a:lnTo>
                  <a:lnTo>
                    <a:pt x="47326" y="282662"/>
                  </a:lnTo>
                  <a:lnTo>
                    <a:pt x="36749" y="323441"/>
                  </a:lnTo>
                  <a:lnTo>
                    <a:pt x="27378" y="365496"/>
                  </a:lnTo>
                  <a:lnTo>
                    <a:pt x="19275" y="408532"/>
                  </a:lnTo>
                  <a:lnTo>
                    <a:pt x="12504" y="452254"/>
                  </a:lnTo>
                  <a:lnTo>
                    <a:pt x="7128" y="496369"/>
                  </a:lnTo>
                  <a:lnTo>
                    <a:pt x="3210" y="540582"/>
                  </a:lnTo>
                  <a:lnTo>
                    <a:pt x="813" y="584599"/>
                  </a:lnTo>
                  <a:lnTo>
                    <a:pt x="0" y="628124"/>
                  </a:lnTo>
                  <a:lnTo>
                    <a:pt x="813" y="670872"/>
                  </a:lnTo>
                  <a:lnTo>
                    <a:pt x="3210" y="712669"/>
                  </a:lnTo>
                  <a:lnTo>
                    <a:pt x="7128" y="753381"/>
                  </a:lnTo>
                  <a:lnTo>
                    <a:pt x="12504" y="792872"/>
                  </a:lnTo>
                  <a:lnTo>
                    <a:pt x="19275" y="831010"/>
                  </a:lnTo>
                  <a:lnTo>
                    <a:pt x="36749" y="902687"/>
                  </a:lnTo>
                  <a:lnTo>
                    <a:pt x="59045" y="967338"/>
                  </a:lnTo>
                  <a:lnTo>
                    <a:pt x="85657" y="1023890"/>
                  </a:lnTo>
                  <a:lnTo>
                    <a:pt x="116080" y="1071269"/>
                  </a:lnTo>
                  <a:lnTo>
                    <a:pt x="149810" y="1108403"/>
                  </a:lnTo>
                  <a:lnTo>
                    <a:pt x="186342" y="1134217"/>
                  </a:lnTo>
                  <a:lnTo>
                    <a:pt x="225170" y="1147638"/>
                  </a:lnTo>
                  <a:lnTo>
                    <a:pt x="245287" y="1149366"/>
                  </a:lnTo>
                  <a:close/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94" name="object 159"/>
            <p:cNvSpPr txBox="1"/>
            <p:nvPr/>
          </p:nvSpPr>
          <p:spPr>
            <a:xfrm>
              <a:off x="4751576" y="2775777"/>
              <a:ext cx="289702" cy="109367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5" dirty="0" smtClean="0">
                  <a:solidFill>
                    <a:srgbClr val="EB2D2E"/>
                  </a:solidFill>
                  <a:latin typeface="Franklin Gothic Demi"/>
                  <a:cs typeface="Franklin Gothic Demi"/>
                </a:rPr>
                <a:t>Control</a:t>
              </a:r>
              <a:endParaRPr sz="650">
                <a:latin typeface="Franklin Gothic Demi"/>
                <a:cs typeface="Franklin Gothic Demi"/>
              </a:endParaRPr>
            </a:p>
          </p:txBody>
        </p:sp>
        <p:sp>
          <p:nvSpPr>
            <p:cNvPr id="195" name="object 160"/>
            <p:cNvSpPr txBox="1"/>
            <p:nvPr/>
          </p:nvSpPr>
          <p:spPr>
            <a:xfrm>
              <a:off x="4744263" y="2471978"/>
              <a:ext cx="304495" cy="10998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10" dirty="0" smtClean="0">
                  <a:solidFill>
                    <a:srgbClr val="EB2D2E"/>
                  </a:solidFill>
                  <a:latin typeface="Franklin Gothic Book"/>
                  <a:cs typeface="Franklin Gothic Book"/>
                </a:rPr>
                <a:t>Outputs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196" name="object 161"/>
            <p:cNvSpPr/>
            <p:nvPr/>
          </p:nvSpPr>
          <p:spPr>
            <a:xfrm>
              <a:off x="2728808" y="2326705"/>
              <a:ext cx="294972" cy="210394"/>
            </a:xfrm>
            <a:custGeom>
              <a:avLst/>
              <a:gdLst/>
              <a:ahLst/>
              <a:cxnLst/>
              <a:rect l="l" t="t" r="r" b="b"/>
              <a:pathLst>
                <a:path w="303879" h="217441">
                  <a:moveTo>
                    <a:pt x="246632" y="0"/>
                  </a:moveTo>
                  <a:lnTo>
                    <a:pt x="196146" y="924"/>
                  </a:lnTo>
                  <a:lnTo>
                    <a:pt x="147196" y="3667"/>
                  </a:lnTo>
                  <a:lnTo>
                    <a:pt x="95660" y="15152"/>
                  </a:lnTo>
                  <a:lnTo>
                    <a:pt x="54735" y="39148"/>
                  </a:lnTo>
                  <a:lnTo>
                    <a:pt x="25118" y="67456"/>
                  </a:lnTo>
                  <a:lnTo>
                    <a:pt x="2655" y="102471"/>
                  </a:lnTo>
                  <a:lnTo>
                    <a:pt x="0" y="109389"/>
                  </a:lnTo>
                  <a:lnTo>
                    <a:pt x="2606" y="116034"/>
                  </a:lnTo>
                  <a:lnTo>
                    <a:pt x="24388" y="149661"/>
                  </a:lnTo>
                  <a:lnTo>
                    <a:pt x="53452" y="177281"/>
                  </a:lnTo>
                  <a:lnTo>
                    <a:pt x="94284" y="201601"/>
                  </a:lnTo>
                  <a:lnTo>
                    <a:pt x="138646" y="214952"/>
                  </a:lnTo>
                  <a:lnTo>
                    <a:pt x="181190" y="217237"/>
                  </a:lnTo>
                  <a:lnTo>
                    <a:pt x="197647" y="217441"/>
                  </a:lnTo>
                  <a:lnTo>
                    <a:pt x="214402" y="217385"/>
                  </a:lnTo>
                  <a:lnTo>
                    <a:pt x="261393" y="215749"/>
                  </a:lnTo>
                  <a:lnTo>
                    <a:pt x="298499" y="208754"/>
                  </a:lnTo>
                  <a:lnTo>
                    <a:pt x="291583" y="196179"/>
                  </a:lnTo>
                  <a:lnTo>
                    <a:pt x="286272" y="185096"/>
                  </a:lnTo>
                  <a:lnTo>
                    <a:pt x="276191" y="142214"/>
                  </a:lnTo>
                  <a:lnTo>
                    <a:pt x="274422" y="112221"/>
                  </a:lnTo>
                  <a:lnTo>
                    <a:pt x="275302" y="94616"/>
                  </a:lnTo>
                  <a:lnTo>
                    <a:pt x="281825" y="47468"/>
                  </a:lnTo>
                  <a:lnTo>
                    <a:pt x="303879" y="298"/>
                  </a:lnTo>
                  <a:lnTo>
                    <a:pt x="295452" y="166"/>
                  </a:lnTo>
                  <a:lnTo>
                    <a:pt x="2466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97" name="object 162"/>
            <p:cNvSpPr/>
            <p:nvPr/>
          </p:nvSpPr>
          <p:spPr>
            <a:xfrm>
              <a:off x="2728808" y="2326659"/>
              <a:ext cx="294972" cy="210440"/>
            </a:xfrm>
            <a:custGeom>
              <a:avLst/>
              <a:gdLst/>
              <a:ahLst/>
              <a:cxnLst/>
              <a:rect l="l" t="t" r="r" b="b"/>
              <a:pathLst>
                <a:path w="303879" h="217489">
                  <a:moveTo>
                    <a:pt x="274422" y="112269"/>
                  </a:moveTo>
                  <a:lnTo>
                    <a:pt x="277526" y="154110"/>
                  </a:lnTo>
                  <a:lnTo>
                    <a:pt x="291583" y="196226"/>
                  </a:lnTo>
                  <a:lnTo>
                    <a:pt x="298499" y="208801"/>
                  </a:lnTo>
                  <a:lnTo>
                    <a:pt x="297556" y="210579"/>
                  </a:lnTo>
                  <a:lnTo>
                    <a:pt x="246780" y="216575"/>
                  </a:lnTo>
                  <a:lnTo>
                    <a:pt x="197647" y="217489"/>
                  </a:lnTo>
                  <a:lnTo>
                    <a:pt x="181190" y="217284"/>
                  </a:lnTo>
                  <a:lnTo>
                    <a:pt x="138646" y="214999"/>
                  </a:lnTo>
                  <a:lnTo>
                    <a:pt x="94284" y="201648"/>
                  </a:lnTo>
                  <a:lnTo>
                    <a:pt x="53452" y="177328"/>
                  </a:lnTo>
                  <a:lnTo>
                    <a:pt x="24388" y="149708"/>
                  </a:lnTo>
                  <a:lnTo>
                    <a:pt x="2606" y="116081"/>
                  </a:lnTo>
                  <a:lnTo>
                    <a:pt x="0" y="109436"/>
                  </a:lnTo>
                  <a:lnTo>
                    <a:pt x="2655" y="102518"/>
                  </a:lnTo>
                  <a:lnTo>
                    <a:pt x="25118" y="67503"/>
                  </a:lnTo>
                  <a:lnTo>
                    <a:pt x="54735" y="39195"/>
                  </a:lnTo>
                  <a:lnTo>
                    <a:pt x="95660" y="15199"/>
                  </a:lnTo>
                  <a:lnTo>
                    <a:pt x="133311" y="5176"/>
                  </a:lnTo>
                  <a:lnTo>
                    <a:pt x="179062" y="1643"/>
                  </a:lnTo>
                  <a:lnTo>
                    <a:pt x="230379" y="204"/>
                  </a:lnTo>
                  <a:lnTo>
                    <a:pt x="261714" y="0"/>
                  </a:lnTo>
                  <a:lnTo>
                    <a:pt x="275177" y="32"/>
                  </a:lnTo>
                  <a:lnTo>
                    <a:pt x="286572" y="113"/>
                  </a:lnTo>
                  <a:lnTo>
                    <a:pt x="295452" y="213"/>
                  </a:lnTo>
                  <a:lnTo>
                    <a:pt x="301371" y="300"/>
                  </a:lnTo>
                  <a:lnTo>
                    <a:pt x="303879" y="345"/>
                  </a:lnTo>
                  <a:lnTo>
                    <a:pt x="296181" y="13787"/>
                  </a:lnTo>
                  <a:lnTo>
                    <a:pt x="290079" y="25811"/>
                  </a:lnTo>
                  <a:lnTo>
                    <a:pt x="277450" y="69276"/>
                  </a:lnTo>
                  <a:lnTo>
                    <a:pt x="274510" y="110379"/>
                  </a:lnTo>
                  <a:lnTo>
                    <a:pt x="274422" y="112269"/>
                  </a:lnTo>
                  <a:close/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98" name="object 163"/>
            <p:cNvSpPr/>
            <p:nvPr/>
          </p:nvSpPr>
          <p:spPr>
            <a:xfrm>
              <a:off x="4159147" y="3393963"/>
              <a:ext cx="738480" cy="435093"/>
            </a:xfrm>
            <a:custGeom>
              <a:avLst/>
              <a:gdLst/>
              <a:ahLst/>
              <a:cxnLst/>
              <a:rect l="l" t="t" r="r" b="b"/>
              <a:pathLst>
                <a:path w="760780" h="449667">
                  <a:moveTo>
                    <a:pt x="0" y="449667"/>
                  </a:moveTo>
                  <a:lnTo>
                    <a:pt x="760140" y="449667"/>
                  </a:lnTo>
                  <a:lnTo>
                    <a:pt x="76078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99" name="object 164"/>
            <p:cNvSpPr txBox="1"/>
            <p:nvPr/>
          </p:nvSpPr>
          <p:spPr>
            <a:xfrm>
              <a:off x="4790584" y="3089497"/>
              <a:ext cx="212037" cy="175724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 marR="12700" indent="45720">
                <a:lnSpc>
                  <a:spcPts val="660"/>
                </a:lnSpc>
              </a:pPr>
              <a:r>
                <a:rPr sz="650" spc="15" dirty="0" smtClean="0">
                  <a:latin typeface="Franklin Gothic Book"/>
                  <a:cs typeface="Franklin Gothic Book"/>
                </a:rPr>
                <a:t>Op</a:t>
              </a:r>
              <a:r>
                <a:rPr sz="650" spc="5" dirty="0" smtClean="0">
                  <a:latin typeface="Franklin Gothic Book"/>
                  <a:cs typeface="Franklin Gothic Book"/>
                </a:rPr>
                <a:t> </a:t>
              </a:r>
              <a:r>
                <a:rPr sz="650" spc="-5" dirty="0" smtClean="0">
                  <a:latin typeface="Franklin Gothic Book"/>
                  <a:cs typeface="Franklin Gothic Book"/>
                </a:rPr>
                <a:t>[5–0]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200" name="object 165"/>
            <p:cNvSpPr/>
            <p:nvPr/>
          </p:nvSpPr>
          <p:spPr>
            <a:xfrm>
              <a:off x="1347019" y="1994721"/>
              <a:ext cx="8121487" cy="1460169"/>
            </a:xfrm>
            <a:custGeom>
              <a:avLst/>
              <a:gdLst/>
              <a:ahLst/>
              <a:cxnLst/>
              <a:rect l="l" t="t" r="r" b="b"/>
              <a:pathLst>
                <a:path w="8366738" h="1509080">
                  <a:moveTo>
                    <a:pt x="8177743" y="1509080"/>
                  </a:moveTo>
                  <a:lnTo>
                    <a:pt x="8366738" y="1509080"/>
                  </a:lnTo>
                  <a:lnTo>
                    <a:pt x="8366738" y="0"/>
                  </a:ln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01" name="object 166"/>
            <p:cNvSpPr/>
            <p:nvPr/>
          </p:nvSpPr>
          <p:spPr>
            <a:xfrm>
              <a:off x="1360433" y="1994721"/>
              <a:ext cx="169364" cy="1940960"/>
            </a:xfrm>
            <a:custGeom>
              <a:avLst/>
              <a:gdLst/>
              <a:ahLst/>
              <a:cxnLst/>
              <a:rect l="l" t="t" r="r" b="b"/>
              <a:pathLst>
                <a:path w="174478" h="2005976">
                  <a:moveTo>
                    <a:pt x="0" y="0"/>
                  </a:moveTo>
                  <a:lnTo>
                    <a:pt x="0" y="2005976"/>
                  </a:lnTo>
                  <a:lnTo>
                    <a:pt x="174478" y="2005976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02" name="object 167"/>
            <p:cNvSpPr txBox="1"/>
            <p:nvPr/>
          </p:nvSpPr>
          <p:spPr>
            <a:xfrm>
              <a:off x="3680003" y="3711358"/>
              <a:ext cx="441949" cy="20767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Instruction</a:t>
              </a:r>
              <a:endParaRPr sz="700">
                <a:latin typeface="Franklin Gothic Book"/>
                <a:cs typeface="Franklin Gothic Book"/>
              </a:endParaRPr>
            </a:p>
            <a:p>
              <a:pPr marL="142875">
                <a:lnSpc>
                  <a:spcPts val="735"/>
                </a:lnSpc>
              </a:pPr>
              <a:r>
                <a:rPr sz="700" spc="15" dirty="0" smtClean="0">
                  <a:latin typeface="Franklin Gothic Book"/>
                  <a:cs typeface="Franklin Gothic Book"/>
                </a:rPr>
                <a:t>[31-26]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203" name="object 168"/>
            <p:cNvSpPr/>
            <p:nvPr/>
          </p:nvSpPr>
          <p:spPr>
            <a:xfrm>
              <a:off x="1657389" y="2444767"/>
              <a:ext cx="1077897" cy="1242993"/>
            </a:xfrm>
            <a:custGeom>
              <a:avLst/>
              <a:gdLst/>
              <a:ahLst/>
              <a:cxnLst/>
              <a:rect l="l" t="t" r="r" b="b"/>
              <a:pathLst>
                <a:path w="1110447" h="1284629">
                  <a:moveTo>
                    <a:pt x="0" y="1284629"/>
                  </a:moveTo>
                  <a:lnTo>
                    <a:pt x="0" y="0"/>
                  </a:lnTo>
                  <a:lnTo>
                    <a:pt x="1110447" y="0"/>
                  </a:lnTo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04" name="object 169"/>
            <p:cNvSpPr/>
            <p:nvPr/>
          </p:nvSpPr>
          <p:spPr>
            <a:xfrm>
              <a:off x="3005061" y="2334713"/>
              <a:ext cx="257314" cy="52853"/>
            </a:xfrm>
            <a:custGeom>
              <a:avLst/>
              <a:gdLst/>
              <a:ahLst/>
              <a:cxnLst/>
              <a:rect l="l" t="t" r="r" b="b"/>
              <a:pathLst>
                <a:path w="265084" h="54623">
                  <a:moveTo>
                    <a:pt x="265084" y="0"/>
                  </a:moveTo>
                  <a:lnTo>
                    <a:pt x="146418" y="0"/>
                  </a:lnTo>
                  <a:lnTo>
                    <a:pt x="146418" y="54623"/>
                  </a:lnTo>
                  <a:lnTo>
                    <a:pt x="0" y="54623"/>
                  </a:lnTo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05" name="object 170"/>
            <p:cNvSpPr txBox="1"/>
            <p:nvPr/>
          </p:nvSpPr>
          <p:spPr>
            <a:xfrm>
              <a:off x="5072331" y="6065269"/>
              <a:ext cx="676792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10" dirty="0" smtClean="0">
                  <a:latin typeface="Franklin Gothic Book"/>
                  <a:cs typeface="Franklin Gothic Book"/>
                </a:rPr>
                <a:t>I</a:t>
              </a:r>
              <a:r>
                <a:rPr sz="700" spc="15" dirty="0" smtClean="0">
                  <a:latin typeface="Franklin Gothic Book"/>
                  <a:cs typeface="Franklin Gothic Book"/>
                </a:rPr>
                <a:t>n</a:t>
              </a:r>
              <a:r>
                <a:rPr sz="700" spc="55" dirty="0" smtClean="0">
                  <a:latin typeface="Franklin Gothic Book"/>
                  <a:cs typeface="Franklin Gothic Book"/>
                </a:rPr>
                <a:t>s</a:t>
              </a:r>
              <a:r>
                <a:rPr sz="700" spc="15" dirty="0" smtClean="0">
                  <a:latin typeface="Franklin Gothic Book"/>
                  <a:cs typeface="Franklin Gothic Book"/>
                </a:rPr>
                <a:t>t</a:t>
              </a:r>
              <a:r>
                <a:rPr sz="700" spc="0" dirty="0" smtClean="0">
                  <a:latin typeface="Franklin Gothic Book"/>
                  <a:cs typeface="Franklin Gothic Book"/>
                </a:rPr>
                <a:t>r</a:t>
              </a:r>
              <a:r>
                <a:rPr sz="700" spc="15" dirty="0" smtClean="0">
                  <a:latin typeface="Franklin Gothic Book"/>
                  <a:cs typeface="Franklin Gothic Book"/>
                </a:rPr>
                <a:t>u</a:t>
              </a:r>
              <a:r>
                <a:rPr sz="700" spc="20" dirty="0" smtClean="0">
                  <a:latin typeface="Franklin Gothic Book"/>
                  <a:cs typeface="Franklin Gothic Book"/>
                </a:rPr>
                <a:t>c</a:t>
              </a:r>
              <a:r>
                <a:rPr sz="700" spc="15" dirty="0" smtClean="0">
                  <a:latin typeface="Franklin Gothic Book"/>
                  <a:cs typeface="Franklin Gothic Book"/>
                </a:rPr>
                <a:t>t</a:t>
              </a:r>
              <a:r>
                <a:rPr sz="700" spc="10" dirty="0" smtClean="0">
                  <a:latin typeface="Franklin Gothic Book"/>
                  <a:cs typeface="Franklin Gothic Book"/>
                </a:rPr>
                <a:t>i</a:t>
              </a:r>
              <a:r>
                <a:rPr sz="700" spc="25" dirty="0" smtClean="0">
                  <a:latin typeface="Franklin Gothic Book"/>
                  <a:cs typeface="Franklin Gothic Book"/>
                </a:rPr>
                <a:t>o</a:t>
              </a:r>
              <a:r>
                <a:rPr sz="700" spc="15" dirty="0" smtClean="0">
                  <a:latin typeface="Franklin Gothic Book"/>
                  <a:cs typeface="Franklin Gothic Book"/>
                </a:rPr>
                <a:t>n</a:t>
              </a:r>
              <a:r>
                <a:rPr sz="700" spc="40" dirty="0" smtClean="0">
                  <a:latin typeface="Franklin Gothic Book"/>
                  <a:cs typeface="Franklin Gothic Book"/>
                </a:rPr>
                <a:t> </a:t>
              </a:r>
              <a:r>
                <a:rPr sz="700" spc="20" dirty="0" smtClean="0">
                  <a:latin typeface="Franklin Gothic Book"/>
                  <a:cs typeface="Franklin Gothic Book"/>
                </a:rPr>
                <a:t>[5</a:t>
              </a:r>
              <a:r>
                <a:rPr sz="700" spc="-50" dirty="0" smtClean="0">
                  <a:latin typeface="Franklin Gothic Book"/>
                  <a:cs typeface="Franklin Gothic Book"/>
                </a:rPr>
                <a:t>–</a:t>
              </a:r>
              <a:r>
                <a:rPr sz="700" spc="20" dirty="0" smtClean="0">
                  <a:latin typeface="Franklin Gothic Book"/>
                  <a:cs typeface="Franklin Gothic Book"/>
                </a:rPr>
                <a:t>0]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206" name="object 171"/>
            <p:cNvSpPr/>
            <p:nvPr/>
          </p:nvSpPr>
          <p:spPr>
            <a:xfrm>
              <a:off x="9152655" y="3160947"/>
              <a:ext cx="213332" cy="577102"/>
            </a:xfrm>
            <a:custGeom>
              <a:avLst/>
              <a:gdLst/>
              <a:ahLst/>
              <a:cxnLst/>
              <a:rect l="l" t="t" r="r" b="b"/>
              <a:pathLst>
                <a:path w="219774" h="596433">
                  <a:moveTo>
                    <a:pt x="113394" y="0"/>
                  </a:moveTo>
                  <a:lnTo>
                    <a:pt x="70038" y="8027"/>
                  </a:lnTo>
                  <a:lnTo>
                    <a:pt x="34795" y="30071"/>
                  </a:lnTo>
                  <a:lnTo>
                    <a:pt x="10548" y="62951"/>
                  </a:lnTo>
                  <a:lnTo>
                    <a:pt x="180" y="103487"/>
                  </a:lnTo>
                  <a:lnTo>
                    <a:pt x="0" y="486588"/>
                  </a:lnTo>
                  <a:lnTo>
                    <a:pt x="965" y="501217"/>
                  </a:lnTo>
                  <a:lnTo>
                    <a:pt x="14454" y="541106"/>
                  </a:lnTo>
                  <a:lnTo>
                    <a:pt x="41240" y="572406"/>
                  </a:lnTo>
                  <a:lnTo>
                    <a:pt x="77987" y="591784"/>
                  </a:lnTo>
                  <a:lnTo>
                    <a:pt x="106371" y="596433"/>
                  </a:lnTo>
                  <a:lnTo>
                    <a:pt x="121550" y="595510"/>
                  </a:lnTo>
                  <a:lnTo>
                    <a:pt x="162525" y="582457"/>
                  </a:lnTo>
                  <a:lnTo>
                    <a:pt x="194422" y="556448"/>
                  </a:lnTo>
                  <a:lnTo>
                    <a:pt x="214363" y="520665"/>
                  </a:lnTo>
                  <a:lnTo>
                    <a:pt x="219774" y="109833"/>
                  </a:lnTo>
                  <a:lnTo>
                    <a:pt x="218809" y="95204"/>
                  </a:lnTo>
                  <a:lnTo>
                    <a:pt x="205321" y="55315"/>
                  </a:lnTo>
                  <a:lnTo>
                    <a:pt x="178535" y="24018"/>
                  </a:lnTo>
                  <a:lnTo>
                    <a:pt x="141784" y="4645"/>
                  </a:lnTo>
                  <a:lnTo>
                    <a:pt x="1133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07" name="object 172"/>
            <p:cNvSpPr/>
            <p:nvPr/>
          </p:nvSpPr>
          <p:spPr>
            <a:xfrm>
              <a:off x="9152655" y="3160947"/>
              <a:ext cx="213332" cy="577102"/>
            </a:xfrm>
            <a:custGeom>
              <a:avLst/>
              <a:gdLst/>
              <a:ahLst/>
              <a:cxnLst/>
              <a:rect l="l" t="t" r="r" b="b"/>
              <a:pathLst>
                <a:path w="219774" h="596433">
                  <a:moveTo>
                    <a:pt x="219774" y="109833"/>
                  </a:moveTo>
                  <a:lnTo>
                    <a:pt x="211459" y="67821"/>
                  </a:lnTo>
                  <a:lnTo>
                    <a:pt x="188735" y="33290"/>
                  </a:lnTo>
                  <a:lnTo>
                    <a:pt x="154936" y="9572"/>
                  </a:lnTo>
                  <a:lnTo>
                    <a:pt x="113394" y="0"/>
                  </a:lnTo>
                  <a:lnTo>
                    <a:pt x="98218" y="922"/>
                  </a:lnTo>
                  <a:lnTo>
                    <a:pt x="57246" y="13975"/>
                  </a:lnTo>
                  <a:lnTo>
                    <a:pt x="25349" y="39984"/>
                  </a:lnTo>
                  <a:lnTo>
                    <a:pt x="5408" y="75769"/>
                  </a:lnTo>
                  <a:lnTo>
                    <a:pt x="0" y="486588"/>
                  </a:lnTo>
                  <a:lnTo>
                    <a:pt x="965" y="501217"/>
                  </a:lnTo>
                  <a:lnTo>
                    <a:pt x="14454" y="541106"/>
                  </a:lnTo>
                  <a:lnTo>
                    <a:pt x="41239" y="572406"/>
                  </a:lnTo>
                  <a:lnTo>
                    <a:pt x="77986" y="591784"/>
                  </a:lnTo>
                  <a:lnTo>
                    <a:pt x="106371" y="596433"/>
                  </a:lnTo>
                  <a:lnTo>
                    <a:pt x="121549" y="595510"/>
                  </a:lnTo>
                  <a:lnTo>
                    <a:pt x="162525" y="582457"/>
                  </a:lnTo>
                  <a:lnTo>
                    <a:pt x="194422" y="556448"/>
                  </a:lnTo>
                  <a:lnTo>
                    <a:pt x="214363" y="520665"/>
                  </a:lnTo>
                  <a:lnTo>
                    <a:pt x="219774" y="109833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08" name="object 173"/>
            <p:cNvSpPr txBox="1"/>
            <p:nvPr/>
          </p:nvSpPr>
          <p:spPr>
            <a:xfrm>
              <a:off x="9256323" y="3316459"/>
              <a:ext cx="96773" cy="109367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15" dirty="0" smtClean="0">
                  <a:latin typeface="Franklin Gothic Demi"/>
                  <a:cs typeface="Franklin Gothic Demi"/>
                </a:rPr>
                <a:t>M</a:t>
              </a:r>
              <a:endParaRPr sz="650">
                <a:latin typeface="Franklin Gothic Demi"/>
                <a:cs typeface="Franklin Gothic Demi"/>
              </a:endParaRPr>
            </a:p>
          </p:txBody>
        </p:sp>
        <p:sp>
          <p:nvSpPr>
            <p:cNvPr id="209" name="object 174"/>
            <p:cNvSpPr/>
            <p:nvPr/>
          </p:nvSpPr>
          <p:spPr>
            <a:xfrm>
              <a:off x="8082068" y="3282881"/>
              <a:ext cx="1008232" cy="1195635"/>
            </a:xfrm>
            <a:custGeom>
              <a:avLst/>
              <a:gdLst/>
              <a:ahLst/>
              <a:cxnLst/>
              <a:rect l="l" t="t" r="r" b="b"/>
              <a:pathLst>
                <a:path w="1038678" h="1235685">
                  <a:moveTo>
                    <a:pt x="0" y="1235685"/>
                  </a:moveTo>
                  <a:lnTo>
                    <a:pt x="0" y="0"/>
                  </a:lnTo>
                  <a:lnTo>
                    <a:pt x="1038678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10" name="object 175"/>
            <p:cNvSpPr/>
            <p:nvPr/>
          </p:nvSpPr>
          <p:spPr>
            <a:xfrm>
              <a:off x="8670767" y="3434143"/>
              <a:ext cx="416994" cy="1056219"/>
            </a:xfrm>
            <a:custGeom>
              <a:avLst/>
              <a:gdLst/>
              <a:ahLst/>
              <a:cxnLst/>
              <a:rect l="l" t="t" r="r" b="b"/>
              <a:pathLst>
                <a:path w="429586" h="1091599">
                  <a:moveTo>
                    <a:pt x="0" y="1091599"/>
                  </a:moveTo>
                  <a:lnTo>
                    <a:pt x="276595" y="1091599"/>
                  </a:lnTo>
                  <a:lnTo>
                    <a:pt x="276743" y="204379"/>
                  </a:lnTo>
                  <a:lnTo>
                    <a:pt x="276743" y="0"/>
                  </a:lnTo>
                  <a:lnTo>
                    <a:pt x="429586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11" name="object 176"/>
            <p:cNvSpPr/>
            <p:nvPr/>
          </p:nvSpPr>
          <p:spPr>
            <a:xfrm>
              <a:off x="7325493" y="3422395"/>
              <a:ext cx="251350" cy="399328"/>
            </a:xfrm>
            <a:custGeom>
              <a:avLst/>
              <a:gdLst/>
              <a:ahLst/>
              <a:cxnLst/>
              <a:rect l="l" t="t" r="r" b="b"/>
              <a:pathLst>
                <a:path w="258940" h="412704">
                  <a:moveTo>
                    <a:pt x="133970" y="0"/>
                  </a:moveTo>
                  <a:lnTo>
                    <a:pt x="89549" y="11118"/>
                  </a:lnTo>
                  <a:lnTo>
                    <a:pt x="51851" y="42133"/>
                  </a:lnTo>
                  <a:lnTo>
                    <a:pt x="29253" y="76202"/>
                  </a:lnTo>
                  <a:lnTo>
                    <a:pt x="12505" y="117780"/>
                  </a:lnTo>
                  <a:lnTo>
                    <a:pt x="2493" y="165291"/>
                  </a:lnTo>
                  <a:lnTo>
                    <a:pt x="0" y="199482"/>
                  </a:lnTo>
                  <a:lnTo>
                    <a:pt x="434" y="217699"/>
                  </a:lnTo>
                  <a:lnTo>
                    <a:pt x="6800" y="269196"/>
                  </a:lnTo>
                  <a:lnTo>
                    <a:pt x="20019" y="314900"/>
                  </a:lnTo>
                  <a:lnTo>
                    <a:pt x="39141" y="353441"/>
                  </a:lnTo>
                  <a:lnTo>
                    <a:pt x="63217" y="383451"/>
                  </a:lnTo>
                  <a:lnTo>
                    <a:pt x="101380" y="407830"/>
                  </a:lnTo>
                  <a:lnTo>
                    <a:pt x="129444" y="412704"/>
                  </a:lnTo>
                  <a:lnTo>
                    <a:pt x="140511" y="411961"/>
                  </a:lnTo>
                  <a:lnTo>
                    <a:pt x="181816" y="395130"/>
                  </a:lnTo>
                  <a:lnTo>
                    <a:pt x="216571" y="359014"/>
                  </a:lnTo>
                  <a:lnTo>
                    <a:pt x="236884" y="321587"/>
                  </a:lnTo>
                  <a:lnTo>
                    <a:pt x="251134" y="277105"/>
                  </a:lnTo>
                  <a:lnTo>
                    <a:pt x="258301" y="227190"/>
                  </a:lnTo>
                  <a:lnTo>
                    <a:pt x="258940" y="209626"/>
                  </a:lnTo>
                  <a:lnTo>
                    <a:pt x="258487" y="191700"/>
                  </a:lnTo>
                  <a:lnTo>
                    <a:pt x="251951" y="140857"/>
                  </a:lnTo>
                  <a:lnTo>
                    <a:pt x="238415" y="95578"/>
                  </a:lnTo>
                  <a:lnTo>
                    <a:pt x="218864" y="57356"/>
                  </a:lnTo>
                  <a:lnTo>
                    <a:pt x="194284" y="27689"/>
                  </a:lnTo>
                  <a:lnTo>
                    <a:pt x="155387" y="4024"/>
                  </a:lnTo>
                  <a:lnTo>
                    <a:pt x="1339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12" name="object 177"/>
            <p:cNvSpPr/>
            <p:nvPr/>
          </p:nvSpPr>
          <p:spPr>
            <a:xfrm>
              <a:off x="7325492" y="3422396"/>
              <a:ext cx="251350" cy="399328"/>
            </a:xfrm>
            <a:custGeom>
              <a:avLst/>
              <a:gdLst/>
              <a:ahLst/>
              <a:cxnLst/>
              <a:rect l="l" t="t" r="r" b="b"/>
              <a:pathLst>
                <a:path w="258940" h="412704">
                  <a:moveTo>
                    <a:pt x="129444" y="412704"/>
                  </a:moveTo>
                  <a:lnTo>
                    <a:pt x="172010" y="401296"/>
                  </a:lnTo>
                  <a:lnTo>
                    <a:pt x="208628" y="369640"/>
                  </a:lnTo>
                  <a:lnTo>
                    <a:pt x="230736" y="334927"/>
                  </a:lnTo>
                  <a:lnTo>
                    <a:pt x="247120" y="292616"/>
                  </a:lnTo>
                  <a:lnTo>
                    <a:pt x="256762" y="244331"/>
                  </a:lnTo>
                  <a:lnTo>
                    <a:pt x="258940" y="209626"/>
                  </a:lnTo>
                  <a:lnTo>
                    <a:pt x="258487" y="191700"/>
                  </a:lnTo>
                  <a:lnTo>
                    <a:pt x="251951" y="140857"/>
                  </a:lnTo>
                  <a:lnTo>
                    <a:pt x="238415" y="95578"/>
                  </a:lnTo>
                  <a:lnTo>
                    <a:pt x="218864" y="57356"/>
                  </a:lnTo>
                  <a:lnTo>
                    <a:pt x="194284" y="27689"/>
                  </a:lnTo>
                  <a:lnTo>
                    <a:pt x="155387" y="4024"/>
                  </a:lnTo>
                  <a:lnTo>
                    <a:pt x="133970" y="0"/>
                  </a:lnTo>
                  <a:lnTo>
                    <a:pt x="122350" y="709"/>
                  </a:lnTo>
                  <a:lnTo>
                    <a:pt x="79412" y="17153"/>
                  </a:lnTo>
                  <a:lnTo>
                    <a:pt x="43723" y="52557"/>
                  </a:lnTo>
                  <a:lnTo>
                    <a:pt x="22976" y="89305"/>
                  </a:lnTo>
                  <a:lnTo>
                    <a:pt x="8375" y="133036"/>
                  </a:lnTo>
                  <a:lnTo>
                    <a:pt x="806" y="182174"/>
                  </a:lnTo>
                  <a:lnTo>
                    <a:pt x="0" y="199482"/>
                  </a:lnTo>
                  <a:lnTo>
                    <a:pt x="434" y="217699"/>
                  </a:lnTo>
                  <a:lnTo>
                    <a:pt x="6800" y="269196"/>
                  </a:lnTo>
                  <a:lnTo>
                    <a:pt x="20019" y="314900"/>
                  </a:lnTo>
                  <a:lnTo>
                    <a:pt x="39141" y="353441"/>
                  </a:lnTo>
                  <a:lnTo>
                    <a:pt x="63217" y="383451"/>
                  </a:lnTo>
                  <a:lnTo>
                    <a:pt x="101380" y="407830"/>
                  </a:lnTo>
                  <a:lnTo>
                    <a:pt x="129444" y="412704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13" name="object 178"/>
            <p:cNvSpPr/>
            <p:nvPr/>
          </p:nvSpPr>
          <p:spPr>
            <a:xfrm>
              <a:off x="7576948" y="3621569"/>
              <a:ext cx="1535198" cy="0"/>
            </a:xfrm>
            <a:custGeom>
              <a:avLst/>
              <a:gdLst/>
              <a:ahLst/>
              <a:cxnLst/>
              <a:rect l="l" t="t" r="r" b="b"/>
              <a:pathLst>
                <a:path w="1581558">
                  <a:moveTo>
                    <a:pt x="0" y="0"/>
                  </a:moveTo>
                  <a:lnTo>
                    <a:pt x="1581558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14" name="object 179"/>
            <p:cNvSpPr/>
            <p:nvPr/>
          </p:nvSpPr>
          <p:spPr>
            <a:xfrm>
              <a:off x="7166546" y="3569046"/>
              <a:ext cx="60955" cy="105242"/>
            </a:xfrm>
            <a:custGeom>
              <a:avLst/>
              <a:gdLst/>
              <a:ahLst/>
              <a:cxnLst/>
              <a:rect l="l" t="t" r="r" b="b"/>
              <a:pathLst>
                <a:path w="62796" h="108767">
                  <a:moveTo>
                    <a:pt x="62796" y="108767"/>
                  </a:moveTo>
                  <a:lnTo>
                    <a:pt x="0" y="0"/>
                  </a:lnTo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15" name="object 180"/>
            <p:cNvSpPr/>
            <p:nvPr/>
          </p:nvSpPr>
          <p:spPr>
            <a:xfrm>
              <a:off x="7626409" y="3569046"/>
              <a:ext cx="60955" cy="105242"/>
            </a:xfrm>
            <a:custGeom>
              <a:avLst/>
              <a:gdLst/>
              <a:ahLst/>
              <a:cxnLst/>
              <a:rect l="l" t="t" r="r" b="b"/>
              <a:pathLst>
                <a:path w="62796" h="108767">
                  <a:moveTo>
                    <a:pt x="62796" y="108767"/>
                  </a:moveTo>
                  <a:lnTo>
                    <a:pt x="0" y="0"/>
                  </a:lnTo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16" name="object 181"/>
            <p:cNvSpPr/>
            <p:nvPr/>
          </p:nvSpPr>
          <p:spPr>
            <a:xfrm>
              <a:off x="6589885" y="3621856"/>
              <a:ext cx="1210283" cy="228424"/>
            </a:xfrm>
            <a:custGeom>
              <a:avLst/>
              <a:gdLst/>
              <a:ahLst/>
              <a:cxnLst/>
              <a:rect l="l" t="t" r="r" b="b"/>
              <a:pathLst>
                <a:path w="1246831" h="236075">
                  <a:moveTo>
                    <a:pt x="0" y="236075"/>
                  </a:moveTo>
                  <a:lnTo>
                    <a:pt x="1246831" y="236075"/>
                  </a:lnTo>
                  <a:lnTo>
                    <a:pt x="1246831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17" name="object 182"/>
            <p:cNvSpPr txBox="1"/>
            <p:nvPr/>
          </p:nvSpPr>
          <p:spPr>
            <a:xfrm>
              <a:off x="9168467" y="3373637"/>
              <a:ext cx="170739" cy="133329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5" dirty="0" smtClean="0">
                  <a:latin typeface="Franklin Gothic Book"/>
                  <a:cs typeface="Franklin Gothic Book"/>
                </a:rPr>
                <a:t>1 </a:t>
              </a:r>
              <a:r>
                <a:rPr sz="700" spc="35" dirty="0" smtClean="0">
                  <a:latin typeface="Franklin Gothic Book"/>
                  <a:cs typeface="Franklin Gothic Book"/>
                </a:rPr>
                <a:t> </a:t>
              </a:r>
              <a:r>
                <a:rPr sz="975" spc="0" baseline="-12820" dirty="0" smtClean="0">
                  <a:latin typeface="Franklin Gothic Demi"/>
                  <a:cs typeface="Franklin Gothic Demi"/>
                </a:rPr>
                <a:t>u</a:t>
              </a:r>
              <a:endParaRPr sz="975" baseline="-12820">
                <a:latin typeface="Franklin Gothic Demi"/>
                <a:cs typeface="Franklin Gothic Demi"/>
              </a:endParaRPr>
            </a:p>
          </p:txBody>
        </p:sp>
        <p:sp>
          <p:nvSpPr>
            <p:cNvPr id="218" name="object 183"/>
            <p:cNvSpPr txBox="1"/>
            <p:nvPr/>
          </p:nvSpPr>
          <p:spPr>
            <a:xfrm>
              <a:off x="9270140" y="3478476"/>
              <a:ext cx="69035" cy="109367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30" dirty="0" smtClean="0">
                  <a:latin typeface="Franklin Gothic Demi"/>
                  <a:cs typeface="Franklin Gothic Demi"/>
                </a:rPr>
                <a:t>x</a:t>
              </a:r>
              <a:endParaRPr sz="650">
                <a:latin typeface="Franklin Gothic Demi"/>
                <a:cs typeface="Franklin Gothic Demi"/>
              </a:endParaRPr>
            </a:p>
          </p:txBody>
        </p:sp>
        <p:sp>
          <p:nvSpPr>
            <p:cNvPr id="219" name="object 184"/>
            <p:cNvSpPr txBox="1"/>
            <p:nvPr/>
          </p:nvSpPr>
          <p:spPr>
            <a:xfrm>
              <a:off x="9171017" y="3232777"/>
              <a:ext cx="73966" cy="10998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10" dirty="0" smtClean="0">
                  <a:latin typeface="Franklin Gothic Book"/>
                  <a:cs typeface="Franklin Gothic Book"/>
                </a:rPr>
                <a:t>0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220" name="object 185"/>
            <p:cNvSpPr txBox="1"/>
            <p:nvPr/>
          </p:nvSpPr>
          <p:spPr>
            <a:xfrm>
              <a:off x="9171082" y="3579957"/>
              <a:ext cx="73966" cy="10998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10" dirty="0" smtClean="0">
                  <a:latin typeface="Franklin Gothic Book"/>
                  <a:cs typeface="Franklin Gothic Book"/>
                </a:rPr>
                <a:t>2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221" name="object 186"/>
            <p:cNvSpPr txBox="1"/>
            <p:nvPr/>
          </p:nvSpPr>
          <p:spPr>
            <a:xfrm>
              <a:off x="8367549" y="3405124"/>
              <a:ext cx="548584" cy="191084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10" dirty="0" smtClean="0">
                  <a:latin typeface="Franklin Gothic Book"/>
                  <a:cs typeface="Franklin Gothic Book"/>
                </a:rPr>
                <a:t>Jump</a:t>
              </a:r>
              <a:endParaRPr sz="650">
                <a:latin typeface="Franklin Gothic Book"/>
                <a:cs typeface="Franklin Gothic Book"/>
              </a:endParaRPr>
            </a:p>
            <a:p>
              <a:pPr marL="12700">
                <a:lnSpc>
                  <a:spcPts val="660"/>
                </a:lnSpc>
              </a:pPr>
              <a:r>
                <a:rPr sz="650" spc="15" dirty="0" smtClean="0">
                  <a:latin typeface="Franklin Gothic Book"/>
                  <a:cs typeface="Franklin Gothic Book"/>
                </a:rPr>
                <a:t>address</a:t>
              </a:r>
              <a:r>
                <a:rPr sz="650" spc="35" dirty="0" smtClean="0">
                  <a:latin typeface="Franklin Gothic Book"/>
                  <a:cs typeface="Franklin Gothic Book"/>
                </a:rPr>
                <a:t> </a:t>
              </a:r>
              <a:r>
                <a:rPr sz="650" spc="5" dirty="0" smtClean="0">
                  <a:latin typeface="Franklin Gothic Book"/>
                  <a:cs typeface="Franklin Gothic Book"/>
                </a:rPr>
                <a:t>[31-0]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222" name="object 187"/>
            <p:cNvSpPr txBox="1"/>
            <p:nvPr/>
          </p:nvSpPr>
          <p:spPr>
            <a:xfrm>
              <a:off x="4086418" y="3491491"/>
              <a:ext cx="731034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10" dirty="0" smtClean="0">
                  <a:latin typeface="Franklin Gothic Book"/>
                  <a:cs typeface="Franklin Gothic Book"/>
                </a:rPr>
                <a:t>I</a:t>
              </a:r>
              <a:r>
                <a:rPr sz="700" spc="15" dirty="0" smtClean="0">
                  <a:latin typeface="Franklin Gothic Book"/>
                  <a:cs typeface="Franklin Gothic Book"/>
                </a:rPr>
                <a:t>n</a:t>
              </a:r>
              <a:r>
                <a:rPr sz="700" spc="55" dirty="0" smtClean="0">
                  <a:latin typeface="Franklin Gothic Book"/>
                  <a:cs typeface="Franklin Gothic Book"/>
                </a:rPr>
                <a:t>s</a:t>
              </a:r>
              <a:r>
                <a:rPr sz="700" spc="15" dirty="0" smtClean="0">
                  <a:latin typeface="Franklin Gothic Book"/>
                  <a:cs typeface="Franklin Gothic Book"/>
                </a:rPr>
                <a:t>t</a:t>
              </a:r>
              <a:r>
                <a:rPr sz="700" spc="0" dirty="0" smtClean="0">
                  <a:latin typeface="Franklin Gothic Book"/>
                  <a:cs typeface="Franklin Gothic Book"/>
                </a:rPr>
                <a:t>r</a:t>
              </a:r>
              <a:r>
                <a:rPr sz="700" spc="15" dirty="0" smtClean="0">
                  <a:latin typeface="Franklin Gothic Book"/>
                  <a:cs typeface="Franklin Gothic Book"/>
                </a:rPr>
                <a:t>u</a:t>
              </a:r>
              <a:r>
                <a:rPr sz="700" spc="20" dirty="0" smtClean="0">
                  <a:latin typeface="Franklin Gothic Book"/>
                  <a:cs typeface="Franklin Gothic Book"/>
                </a:rPr>
                <a:t>c</a:t>
              </a:r>
              <a:r>
                <a:rPr sz="700" spc="15" dirty="0" smtClean="0">
                  <a:latin typeface="Franklin Gothic Book"/>
                  <a:cs typeface="Franklin Gothic Book"/>
                </a:rPr>
                <a:t>t</a:t>
              </a:r>
              <a:r>
                <a:rPr sz="700" spc="10" dirty="0" smtClean="0">
                  <a:latin typeface="Franklin Gothic Book"/>
                  <a:cs typeface="Franklin Gothic Book"/>
                </a:rPr>
                <a:t>i</a:t>
              </a:r>
              <a:r>
                <a:rPr sz="700" spc="25" dirty="0" smtClean="0">
                  <a:latin typeface="Franklin Gothic Book"/>
                  <a:cs typeface="Franklin Gothic Book"/>
                </a:rPr>
                <a:t>o</a:t>
              </a:r>
              <a:r>
                <a:rPr sz="700" spc="15" dirty="0" smtClean="0">
                  <a:latin typeface="Franklin Gothic Book"/>
                  <a:cs typeface="Franklin Gothic Book"/>
                </a:rPr>
                <a:t>n</a:t>
              </a:r>
              <a:r>
                <a:rPr sz="700" spc="40" dirty="0" smtClean="0">
                  <a:latin typeface="Franklin Gothic Book"/>
                  <a:cs typeface="Franklin Gothic Book"/>
                </a:rPr>
                <a:t> </a:t>
              </a:r>
              <a:r>
                <a:rPr sz="700" spc="20" dirty="0" smtClean="0">
                  <a:latin typeface="Franklin Gothic Book"/>
                  <a:cs typeface="Franklin Gothic Book"/>
                </a:rPr>
                <a:t>[25</a:t>
              </a:r>
              <a:r>
                <a:rPr sz="700" spc="-50" dirty="0" smtClean="0">
                  <a:latin typeface="Franklin Gothic Book"/>
                  <a:cs typeface="Franklin Gothic Book"/>
                </a:rPr>
                <a:t>–</a:t>
              </a:r>
              <a:r>
                <a:rPr sz="700" spc="20" dirty="0" smtClean="0">
                  <a:latin typeface="Franklin Gothic Book"/>
                  <a:cs typeface="Franklin Gothic Book"/>
                </a:rPr>
                <a:t>0]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223" name="object 188"/>
            <p:cNvSpPr txBox="1"/>
            <p:nvPr/>
          </p:nvSpPr>
          <p:spPr>
            <a:xfrm>
              <a:off x="7130697" y="3452734"/>
              <a:ext cx="133139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26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224" name="object 189"/>
            <p:cNvSpPr txBox="1"/>
            <p:nvPr/>
          </p:nvSpPr>
          <p:spPr>
            <a:xfrm>
              <a:off x="7353969" y="3452734"/>
              <a:ext cx="369832" cy="181254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R="12700" algn="r">
                <a:lnSpc>
                  <a:spcPts val="775"/>
                </a:lnSpc>
              </a:pPr>
              <a:r>
                <a:rPr sz="700" spc="20" dirty="0" smtClean="0">
                  <a:latin typeface="Franklin Gothic Book"/>
                  <a:cs typeface="Franklin Gothic Book"/>
                </a:rPr>
                <a:t>28</a:t>
              </a:r>
              <a:endParaRPr sz="700">
                <a:latin typeface="Franklin Gothic Book"/>
                <a:cs typeface="Franklin Gothic Book"/>
              </a:endParaRPr>
            </a:p>
            <a:p>
              <a:pPr marL="12700">
                <a:lnSpc>
                  <a:spcPts val="585"/>
                </a:lnSpc>
              </a:pPr>
              <a:r>
                <a:rPr sz="650" spc="5" dirty="0" smtClean="0">
                  <a:latin typeface="Franklin Gothic Demi"/>
                  <a:cs typeface="Franklin Gothic Demi"/>
                </a:rPr>
                <a:t>Shift</a:t>
              </a:r>
              <a:endParaRPr sz="650">
                <a:latin typeface="Franklin Gothic Demi"/>
                <a:cs typeface="Franklin Gothic Demi"/>
              </a:endParaRPr>
            </a:p>
          </p:txBody>
        </p:sp>
        <p:sp>
          <p:nvSpPr>
            <p:cNvPr id="225" name="object 190"/>
            <p:cNvSpPr txBox="1"/>
            <p:nvPr/>
          </p:nvSpPr>
          <p:spPr>
            <a:xfrm>
              <a:off x="7341779" y="3621760"/>
              <a:ext cx="218201" cy="109367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0" dirty="0" smtClean="0">
                  <a:latin typeface="Franklin Gothic Demi"/>
                  <a:cs typeface="Franklin Gothic Demi"/>
                </a:rPr>
                <a:t>left</a:t>
              </a:r>
              <a:r>
                <a:rPr sz="650" spc="35" dirty="0" smtClean="0">
                  <a:latin typeface="Franklin Gothic Demi"/>
                  <a:cs typeface="Franklin Gothic Demi"/>
                </a:rPr>
                <a:t> </a:t>
              </a:r>
              <a:r>
                <a:rPr sz="650" spc="10" dirty="0" smtClean="0">
                  <a:latin typeface="Franklin Gothic Demi"/>
                  <a:cs typeface="Franklin Gothic Demi"/>
                </a:rPr>
                <a:t>2</a:t>
              </a:r>
              <a:endParaRPr sz="650">
                <a:latin typeface="Franklin Gothic Demi"/>
                <a:cs typeface="Franklin Gothic Demi"/>
              </a:endParaRPr>
            </a:p>
          </p:txBody>
        </p:sp>
        <p:sp>
          <p:nvSpPr>
            <p:cNvPr id="226" name="object 191"/>
            <p:cNvSpPr txBox="1"/>
            <p:nvPr/>
          </p:nvSpPr>
          <p:spPr>
            <a:xfrm>
              <a:off x="7370845" y="3851194"/>
              <a:ext cx="406815" cy="10998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650" spc="15" dirty="0" smtClean="0">
                  <a:latin typeface="Franklin Gothic Book"/>
                  <a:cs typeface="Franklin Gothic Book"/>
                </a:rPr>
                <a:t>PC</a:t>
              </a:r>
              <a:r>
                <a:rPr sz="650" spc="35" dirty="0" smtClean="0">
                  <a:latin typeface="Franklin Gothic Book"/>
                  <a:cs typeface="Franklin Gothic Book"/>
                </a:rPr>
                <a:t> </a:t>
              </a:r>
              <a:r>
                <a:rPr sz="650" spc="5" dirty="0" smtClean="0">
                  <a:latin typeface="Franklin Gothic Book"/>
                  <a:cs typeface="Franklin Gothic Book"/>
                </a:rPr>
                <a:t>[31-28]</a:t>
              </a:r>
              <a:endParaRPr sz="650">
                <a:latin typeface="Franklin Gothic Book"/>
                <a:cs typeface="Franklin Gothic Book"/>
              </a:endParaRPr>
            </a:p>
          </p:txBody>
        </p:sp>
        <p:sp>
          <p:nvSpPr>
            <p:cNvPr id="227" name="object 192"/>
            <p:cNvSpPr/>
            <p:nvPr/>
          </p:nvSpPr>
          <p:spPr>
            <a:xfrm>
              <a:off x="3879309" y="3231355"/>
              <a:ext cx="877344" cy="468094"/>
            </a:xfrm>
            <a:custGeom>
              <a:avLst/>
              <a:gdLst/>
              <a:ahLst/>
              <a:cxnLst/>
              <a:rect l="l" t="t" r="r" b="b"/>
              <a:pathLst>
                <a:path w="903838" h="483774">
                  <a:moveTo>
                    <a:pt x="0" y="483774"/>
                  </a:moveTo>
                  <a:lnTo>
                    <a:pt x="0" y="0"/>
                  </a:lnTo>
                  <a:lnTo>
                    <a:pt x="903838" y="0"/>
                  </a:lnTo>
                </a:path>
              </a:pathLst>
            </a:custGeom>
            <a:ln w="15716">
              <a:solidFill>
                <a:srgbClr val="EB2D2E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28" name="object 193"/>
            <p:cNvSpPr/>
            <p:nvPr/>
          </p:nvSpPr>
          <p:spPr>
            <a:xfrm>
              <a:off x="4240506" y="5688421"/>
              <a:ext cx="2762312" cy="527661"/>
            </a:xfrm>
            <a:custGeom>
              <a:avLst/>
              <a:gdLst/>
              <a:ahLst/>
              <a:cxnLst/>
              <a:rect l="l" t="t" r="r" b="b"/>
              <a:pathLst>
                <a:path w="2845728" h="545336">
                  <a:moveTo>
                    <a:pt x="0" y="0"/>
                  </a:moveTo>
                  <a:lnTo>
                    <a:pt x="0" y="545336"/>
                  </a:lnTo>
                  <a:lnTo>
                    <a:pt x="2640352" y="545336"/>
                  </a:lnTo>
                  <a:lnTo>
                    <a:pt x="2641335" y="6880"/>
                  </a:lnTo>
                  <a:lnTo>
                    <a:pt x="2845728" y="688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29" name="object 194"/>
            <p:cNvSpPr/>
            <p:nvPr/>
          </p:nvSpPr>
          <p:spPr>
            <a:xfrm>
              <a:off x="4155974" y="4599221"/>
              <a:ext cx="559341" cy="256315"/>
            </a:xfrm>
            <a:custGeom>
              <a:avLst/>
              <a:gdLst/>
              <a:ahLst/>
              <a:cxnLst/>
              <a:rect l="l" t="t" r="r" b="b"/>
              <a:pathLst>
                <a:path w="576232" h="264901">
                  <a:moveTo>
                    <a:pt x="576232" y="264901"/>
                  </a:moveTo>
                  <a:lnTo>
                    <a:pt x="87085" y="264901"/>
                  </a:lnTo>
                  <a:lnTo>
                    <a:pt x="89119" y="331"/>
                  </a:ln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30" name="object 195"/>
            <p:cNvSpPr/>
            <p:nvPr/>
          </p:nvSpPr>
          <p:spPr>
            <a:xfrm>
              <a:off x="1843074" y="4339301"/>
              <a:ext cx="6827692" cy="2085918"/>
            </a:xfrm>
            <a:custGeom>
              <a:avLst/>
              <a:gdLst/>
              <a:ahLst/>
              <a:cxnLst/>
              <a:rect l="l" t="t" r="r" b="b"/>
              <a:pathLst>
                <a:path w="7033873" h="2155789">
                  <a:moveTo>
                    <a:pt x="6900531" y="156122"/>
                  </a:moveTo>
                  <a:lnTo>
                    <a:pt x="7033873" y="156122"/>
                  </a:lnTo>
                  <a:lnTo>
                    <a:pt x="7033873" y="2155789"/>
                  </a:lnTo>
                  <a:lnTo>
                    <a:pt x="0" y="2155789"/>
                  </a:lnTo>
                  <a:lnTo>
                    <a:pt x="708" y="0"/>
                  </a:lnTo>
                  <a:lnTo>
                    <a:pt x="83336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31" name="object 196"/>
            <p:cNvSpPr/>
            <p:nvPr/>
          </p:nvSpPr>
          <p:spPr>
            <a:xfrm>
              <a:off x="4301528" y="3606650"/>
              <a:ext cx="0" cy="740071"/>
            </a:xfrm>
            <a:custGeom>
              <a:avLst/>
              <a:gdLst/>
              <a:ahLst/>
              <a:cxnLst/>
              <a:rect l="l" t="t" r="r" b="b"/>
              <a:pathLst>
                <a:path h="764861">
                  <a:moveTo>
                    <a:pt x="0" y="764861"/>
                  </a:move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32" name="object 197"/>
            <p:cNvSpPr/>
            <p:nvPr/>
          </p:nvSpPr>
          <p:spPr>
            <a:xfrm>
              <a:off x="4372724" y="3621856"/>
              <a:ext cx="0" cy="451140"/>
            </a:xfrm>
            <a:custGeom>
              <a:avLst/>
              <a:gdLst/>
              <a:ahLst/>
              <a:cxnLst/>
              <a:rect l="l" t="t" r="r" b="b"/>
              <a:pathLst>
                <a:path h="466252">
                  <a:moveTo>
                    <a:pt x="0" y="466252"/>
                  </a:moveTo>
                  <a:lnTo>
                    <a:pt x="0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33" name="object 198"/>
            <p:cNvSpPr/>
            <p:nvPr/>
          </p:nvSpPr>
          <p:spPr>
            <a:xfrm>
              <a:off x="4240184" y="3616790"/>
              <a:ext cx="3048517" cy="982751"/>
            </a:xfrm>
            <a:custGeom>
              <a:avLst/>
              <a:gdLst/>
              <a:ahLst/>
              <a:cxnLst/>
              <a:rect l="l" t="t" r="r" b="b"/>
              <a:pathLst>
                <a:path w="3140575" h="1015670">
                  <a:moveTo>
                    <a:pt x="0" y="1015670"/>
                  </a:moveTo>
                  <a:lnTo>
                    <a:pt x="0" y="0"/>
                  </a:lnTo>
                  <a:lnTo>
                    <a:pt x="3140575" y="0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34" name="object 199"/>
            <p:cNvSpPr/>
            <p:nvPr/>
          </p:nvSpPr>
          <p:spPr>
            <a:xfrm>
              <a:off x="6804784" y="4559025"/>
              <a:ext cx="237055" cy="640823"/>
            </a:xfrm>
            <a:custGeom>
              <a:avLst/>
              <a:gdLst/>
              <a:ahLst/>
              <a:cxnLst/>
              <a:rect l="l" t="t" r="r" b="b"/>
              <a:pathLst>
                <a:path w="244214" h="662288">
                  <a:moveTo>
                    <a:pt x="130936" y="0"/>
                  </a:moveTo>
                  <a:lnTo>
                    <a:pt x="85547" y="6846"/>
                  </a:lnTo>
                  <a:lnTo>
                    <a:pt x="47919" y="26165"/>
                  </a:lnTo>
                  <a:lnTo>
                    <a:pt x="19955" y="55522"/>
                  </a:lnTo>
                  <a:lnTo>
                    <a:pt x="3561" y="92485"/>
                  </a:lnTo>
                  <a:lnTo>
                    <a:pt x="0" y="120151"/>
                  </a:lnTo>
                  <a:lnTo>
                    <a:pt x="87" y="542137"/>
                  </a:lnTo>
                  <a:lnTo>
                    <a:pt x="7528" y="582819"/>
                  </a:lnTo>
                  <a:lnTo>
                    <a:pt x="28318" y="618695"/>
                  </a:lnTo>
                  <a:lnTo>
                    <a:pt x="59683" y="645462"/>
                  </a:lnTo>
                  <a:lnTo>
                    <a:pt x="98919" y="660403"/>
                  </a:lnTo>
                  <a:lnTo>
                    <a:pt x="113280" y="662288"/>
                  </a:lnTo>
                  <a:lnTo>
                    <a:pt x="129154" y="661542"/>
                  </a:lnTo>
                  <a:lnTo>
                    <a:pt x="172166" y="650268"/>
                  </a:lnTo>
                  <a:lnTo>
                    <a:pt x="206784" y="627333"/>
                  </a:lnTo>
                  <a:lnTo>
                    <a:pt x="231103" y="595170"/>
                  </a:lnTo>
                  <a:lnTo>
                    <a:pt x="243217" y="556213"/>
                  </a:lnTo>
                  <a:lnTo>
                    <a:pt x="244214" y="542137"/>
                  </a:lnTo>
                  <a:lnTo>
                    <a:pt x="244127" y="120151"/>
                  </a:lnTo>
                  <a:lnTo>
                    <a:pt x="236686" y="79469"/>
                  </a:lnTo>
                  <a:lnTo>
                    <a:pt x="215892" y="43588"/>
                  </a:lnTo>
                  <a:lnTo>
                    <a:pt x="184527" y="16821"/>
                  </a:lnTo>
                  <a:lnTo>
                    <a:pt x="145295" y="1883"/>
                  </a:lnTo>
                  <a:lnTo>
                    <a:pt x="1309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35" name="object 200"/>
            <p:cNvSpPr/>
            <p:nvPr/>
          </p:nvSpPr>
          <p:spPr>
            <a:xfrm>
              <a:off x="6804772" y="4559025"/>
              <a:ext cx="237078" cy="640823"/>
            </a:xfrm>
            <a:custGeom>
              <a:avLst/>
              <a:gdLst/>
              <a:ahLst/>
              <a:cxnLst/>
              <a:rect l="l" t="t" r="r" b="b"/>
              <a:pathLst>
                <a:path w="244237" h="662288">
                  <a:moveTo>
                    <a:pt x="244237" y="121804"/>
                  </a:moveTo>
                  <a:lnTo>
                    <a:pt x="236704" y="79483"/>
                  </a:lnTo>
                  <a:lnTo>
                    <a:pt x="215904" y="43588"/>
                  </a:lnTo>
                  <a:lnTo>
                    <a:pt x="184539" y="16821"/>
                  </a:lnTo>
                  <a:lnTo>
                    <a:pt x="145306" y="1883"/>
                  </a:lnTo>
                  <a:lnTo>
                    <a:pt x="130948" y="0"/>
                  </a:lnTo>
                  <a:lnTo>
                    <a:pt x="115073" y="746"/>
                  </a:lnTo>
                  <a:lnTo>
                    <a:pt x="72059" y="12020"/>
                  </a:lnTo>
                  <a:lnTo>
                    <a:pt x="37441" y="34955"/>
                  </a:lnTo>
                  <a:lnTo>
                    <a:pt x="13122" y="67118"/>
                  </a:lnTo>
                  <a:lnTo>
                    <a:pt x="1008" y="106075"/>
                  </a:lnTo>
                  <a:lnTo>
                    <a:pt x="0" y="540485"/>
                  </a:lnTo>
                  <a:lnTo>
                    <a:pt x="870" y="555138"/>
                  </a:lnTo>
                  <a:lnTo>
                    <a:pt x="13123" y="595614"/>
                  </a:lnTo>
                  <a:lnTo>
                    <a:pt x="37743" y="628765"/>
                  </a:lnTo>
                  <a:lnTo>
                    <a:pt x="72031" y="651890"/>
                  </a:lnTo>
                  <a:lnTo>
                    <a:pt x="113291" y="662288"/>
                  </a:lnTo>
                  <a:lnTo>
                    <a:pt x="129165" y="661542"/>
                  </a:lnTo>
                  <a:lnTo>
                    <a:pt x="172177" y="650268"/>
                  </a:lnTo>
                  <a:lnTo>
                    <a:pt x="206795" y="627333"/>
                  </a:lnTo>
                  <a:lnTo>
                    <a:pt x="231114" y="595171"/>
                  </a:lnTo>
                  <a:lnTo>
                    <a:pt x="243229" y="556213"/>
                  </a:lnTo>
                  <a:lnTo>
                    <a:pt x="244237" y="121804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36" name="object 201"/>
            <p:cNvSpPr txBox="1"/>
            <p:nvPr/>
          </p:nvSpPr>
          <p:spPr>
            <a:xfrm>
              <a:off x="6826628" y="4734348"/>
              <a:ext cx="199092" cy="14070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050" spc="37" baseline="-15873" dirty="0" smtClean="0">
                  <a:latin typeface="Franklin Gothic Book"/>
                  <a:cs typeface="Franklin Gothic Book"/>
                </a:rPr>
                <a:t>1 </a:t>
              </a:r>
              <a:r>
                <a:rPr sz="1050" spc="-37" baseline="-15873" dirty="0" smtClean="0">
                  <a:latin typeface="Franklin Gothic Book"/>
                  <a:cs typeface="Franklin Gothic Book"/>
                </a:rPr>
                <a:t> </a:t>
              </a:r>
              <a:r>
                <a:rPr sz="700" spc="40" dirty="0" smtClean="0">
                  <a:latin typeface="Franklin Gothic Demi"/>
                  <a:cs typeface="Franklin Gothic Demi"/>
                </a:rPr>
                <a:t>M</a:t>
              </a:r>
              <a:endParaRPr sz="700">
                <a:latin typeface="Franklin Gothic Demi"/>
                <a:cs typeface="Franklin Gothic Demi"/>
              </a:endParaRPr>
            </a:p>
          </p:txBody>
        </p:sp>
        <p:sp>
          <p:nvSpPr>
            <p:cNvPr id="237" name="object 202"/>
            <p:cNvSpPr txBox="1"/>
            <p:nvPr/>
          </p:nvSpPr>
          <p:spPr>
            <a:xfrm>
              <a:off x="6826628" y="4824371"/>
              <a:ext cx="183683" cy="185555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R="12700" algn="r">
                <a:lnSpc>
                  <a:spcPts val="760"/>
                </a:lnSpc>
              </a:pPr>
              <a:r>
                <a:rPr sz="700" spc="15" dirty="0" smtClean="0">
                  <a:latin typeface="Franklin Gothic Demi"/>
                  <a:cs typeface="Franklin Gothic Demi"/>
                </a:rPr>
                <a:t>u</a:t>
              </a:r>
              <a:endParaRPr sz="700">
                <a:latin typeface="Franklin Gothic Demi"/>
                <a:cs typeface="Franklin Gothic Demi"/>
              </a:endParaRPr>
            </a:p>
            <a:p>
              <a:pPr marL="12700">
                <a:lnSpc>
                  <a:spcPts val="635"/>
                </a:lnSpc>
              </a:pPr>
              <a:r>
                <a:rPr sz="700" spc="25" dirty="0" smtClean="0">
                  <a:latin typeface="Franklin Gothic Book"/>
                  <a:cs typeface="Franklin Gothic Book"/>
                </a:rPr>
                <a:t>2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238" name="object 203"/>
            <p:cNvSpPr txBox="1"/>
            <p:nvPr/>
          </p:nvSpPr>
          <p:spPr>
            <a:xfrm>
              <a:off x="6936691" y="4914395"/>
              <a:ext cx="73966" cy="117354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45" dirty="0" smtClean="0">
                  <a:latin typeface="Franklin Gothic Demi"/>
                  <a:cs typeface="Franklin Gothic Demi"/>
                </a:rPr>
                <a:t>x</a:t>
              </a:r>
              <a:endParaRPr sz="700">
                <a:latin typeface="Franklin Gothic Demi"/>
                <a:cs typeface="Franklin Gothic Demi"/>
              </a:endParaRPr>
            </a:p>
          </p:txBody>
        </p:sp>
        <p:sp>
          <p:nvSpPr>
            <p:cNvPr id="239" name="object 204"/>
            <p:cNvSpPr txBox="1"/>
            <p:nvPr/>
          </p:nvSpPr>
          <p:spPr>
            <a:xfrm>
              <a:off x="6826628" y="4622043"/>
              <a:ext cx="78897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5" dirty="0" smtClean="0">
                  <a:latin typeface="Franklin Gothic Book"/>
                  <a:cs typeface="Franklin Gothic Book"/>
                </a:rPr>
                <a:t>0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240" name="object 205"/>
            <p:cNvSpPr txBox="1"/>
            <p:nvPr/>
          </p:nvSpPr>
          <p:spPr>
            <a:xfrm>
              <a:off x="6826628" y="5027167"/>
              <a:ext cx="78897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5" dirty="0" smtClean="0">
                  <a:latin typeface="Franklin Gothic Book"/>
                  <a:cs typeface="Franklin Gothic Book"/>
                </a:rPr>
                <a:t>3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241" name="object 206"/>
            <p:cNvSpPr/>
            <p:nvPr/>
          </p:nvSpPr>
          <p:spPr>
            <a:xfrm>
              <a:off x="6849108" y="3882981"/>
              <a:ext cx="168664" cy="571274"/>
            </a:xfrm>
            <a:custGeom>
              <a:avLst/>
              <a:gdLst/>
              <a:ahLst/>
              <a:cxnLst/>
              <a:rect l="l" t="t" r="r" b="b"/>
              <a:pathLst>
                <a:path w="173757" h="590410">
                  <a:moveTo>
                    <a:pt x="76977" y="0"/>
                  </a:moveTo>
                  <a:lnTo>
                    <a:pt x="37766" y="14648"/>
                  </a:lnTo>
                  <a:lnTo>
                    <a:pt x="10330" y="45204"/>
                  </a:lnTo>
                  <a:lnTo>
                    <a:pt x="0" y="86332"/>
                  </a:lnTo>
                  <a:lnTo>
                    <a:pt x="80" y="507850"/>
                  </a:lnTo>
                  <a:lnTo>
                    <a:pt x="11190" y="546178"/>
                  </a:lnTo>
                  <a:lnTo>
                    <a:pt x="38965" y="574901"/>
                  </a:lnTo>
                  <a:lnTo>
                    <a:pt x="80431" y="589478"/>
                  </a:lnTo>
                  <a:lnTo>
                    <a:pt x="96781" y="590410"/>
                  </a:lnTo>
                  <a:lnTo>
                    <a:pt x="110829" y="587626"/>
                  </a:lnTo>
                  <a:lnTo>
                    <a:pt x="146706" y="567086"/>
                  </a:lnTo>
                  <a:lnTo>
                    <a:pt x="169034" y="532412"/>
                  </a:lnTo>
                  <a:lnTo>
                    <a:pt x="173757" y="504076"/>
                  </a:lnTo>
                  <a:lnTo>
                    <a:pt x="173676" y="82559"/>
                  </a:lnTo>
                  <a:lnTo>
                    <a:pt x="162567" y="44235"/>
                  </a:lnTo>
                  <a:lnTo>
                    <a:pt x="134792" y="15511"/>
                  </a:lnTo>
                  <a:lnTo>
                    <a:pt x="93327" y="931"/>
                  </a:lnTo>
                  <a:lnTo>
                    <a:pt x="769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42" name="object 207"/>
            <p:cNvSpPr/>
            <p:nvPr/>
          </p:nvSpPr>
          <p:spPr>
            <a:xfrm>
              <a:off x="6849108" y="3882982"/>
              <a:ext cx="168665" cy="571274"/>
            </a:xfrm>
            <a:custGeom>
              <a:avLst/>
              <a:gdLst/>
              <a:ahLst/>
              <a:cxnLst/>
              <a:rect l="l" t="t" r="r" b="b"/>
              <a:pathLst>
                <a:path w="173758" h="590410">
                  <a:moveTo>
                    <a:pt x="0" y="86332"/>
                  </a:moveTo>
                  <a:lnTo>
                    <a:pt x="10330" y="45204"/>
                  </a:lnTo>
                  <a:lnTo>
                    <a:pt x="37766" y="14648"/>
                  </a:lnTo>
                  <a:lnTo>
                    <a:pt x="76977" y="0"/>
                  </a:lnTo>
                  <a:lnTo>
                    <a:pt x="93326" y="931"/>
                  </a:lnTo>
                  <a:lnTo>
                    <a:pt x="134792" y="15510"/>
                  </a:lnTo>
                  <a:lnTo>
                    <a:pt x="162568" y="44234"/>
                  </a:lnTo>
                  <a:lnTo>
                    <a:pt x="173678" y="82558"/>
                  </a:lnTo>
                  <a:lnTo>
                    <a:pt x="173758" y="504076"/>
                  </a:lnTo>
                  <a:lnTo>
                    <a:pt x="172545" y="518634"/>
                  </a:lnTo>
                  <a:lnTo>
                    <a:pt x="155918" y="556835"/>
                  </a:lnTo>
                  <a:lnTo>
                    <a:pt x="123965" y="582678"/>
                  </a:lnTo>
                  <a:lnTo>
                    <a:pt x="96781" y="590410"/>
                  </a:lnTo>
                  <a:lnTo>
                    <a:pt x="80432" y="589478"/>
                  </a:lnTo>
                  <a:lnTo>
                    <a:pt x="38966" y="574901"/>
                  </a:lnTo>
                  <a:lnTo>
                    <a:pt x="11190" y="546179"/>
                  </a:lnTo>
                  <a:lnTo>
                    <a:pt x="80" y="507851"/>
                  </a:lnTo>
                  <a:lnTo>
                    <a:pt x="0" y="86332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43" name="object 208"/>
            <p:cNvSpPr txBox="1"/>
            <p:nvPr/>
          </p:nvSpPr>
          <p:spPr>
            <a:xfrm>
              <a:off x="6870607" y="4023520"/>
              <a:ext cx="115264" cy="41043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23495">
                <a:lnSpc>
                  <a:spcPct val="100000"/>
                </a:lnSpc>
              </a:pPr>
              <a:r>
                <a:rPr sz="700" spc="40" dirty="0" smtClean="0">
                  <a:latin typeface="Franklin Gothic Demi"/>
                  <a:cs typeface="Franklin Gothic Demi"/>
                </a:rPr>
                <a:t>M</a:t>
              </a:r>
              <a:endParaRPr sz="700">
                <a:latin typeface="Franklin Gothic Demi"/>
                <a:cs typeface="Franklin Gothic Demi"/>
              </a:endParaRPr>
            </a:p>
            <a:p>
              <a:pPr marL="39370" marR="27940">
                <a:lnSpc>
                  <a:spcPts val="730"/>
                </a:lnSpc>
                <a:spcBef>
                  <a:spcPts val="5"/>
                </a:spcBef>
              </a:pPr>
              <a:r>
                <a:rPr sz="700" spc="15" dirty="0" smtClean="0">
                  <a:latin typeface="Franklin Gothic Demi"/>
                  <a:cs typeface="Franklin Gothic Demi"/>
                </a:rPr>
                <a:t>u</a:t>
              </a:r>
              <a:r>
                <a:rPr sz="700" spc="5" dirty="0" smtClean="0">
                  <a:latin typeface="Franklin Gothic Demi"/>
                  <a:cs typeface="Franklin Gothic Demi"/>
                </a:rPr>
                <a:t> </a:t>
              </a:r>
              <a:r>
                <a:rPr sz="700" spc="45" dirty="0" smtClean="0">
                  <a:latin typeface="Franklin Gothic Demi"/>
                  <a:cs typeface="Franklin Gothic Demi"/>
                </a:rPr>
                <a:t>x</a:t>
              </a:r>
              <a:endParaRPr sz="700">
                <a:latin typeface="Franklin Gothic Demi"/>
                <a:cs typeface="Franklin Gothic Demi"/>
              </a:endParaRPr>
            </a:p>
            <a:p>
              <a:pPr marL="12700">
                <a:lnSpc>
                  <a:spcPct val="100000"/>
                </a:lnSpc>
                <a:spcBef>
                  <a:spcPts val="70"/>
                </a:spcBef>
              </a:pPr>
              <a:r>
                <a:rPr sz="700" spc="25" dirty="0" smtClean="0">
                  <a:latin typeface="Franklin Gothic Book"/>
                  <a:cs typeface="Franklin Gothic Book"/>
                </a:rPr>
                <a:t>1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244" name="object 209"/>
            <p:cNvSpPr txBox="1"/>
            <p:nvPr/>
          </p:nvSpPr>
          <p:spPr>
            <a:xfrm>
              <a:off x="6870607" y="3911081"/>
              <a:ext cx="78897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5" dirty="0" smtClean="0">
                  <a:latin typeface="Franklin Gothic Book"/>
                  <a:cs typeface="Franklin Gothic Book"/>
                </a:rPr>
                <a:t>0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245" name="object 210"/>
            <p:cNvSpPr/>
            <p:nvPr/>
          </p:nvSpPr>
          <p:spPr>
            <a:xfrm>
              <a:off x="1843785" y="3464335"/>
              <a:ext cx="4964759" cy="501362"/>
            </a:xfrm>
            <a:custGeom>
              <a:avLst/>
              <a:gdLst/>
              <a:ahLst/>
              <a:cxnLst/>
              <a:rect l="l" t="t" r="r" b="b"/>
              <a:pathLst>
                <a:path w="5114684" h="518156">
                  <a:moveTo>
                    <a:pt x="5114684" y="518156"/>
                  </a:moveTo>
                  <a:lnTo>
                    <a:pt x="4900863" y="518156"/>
                  </a:lnTo>
                  <a:lnTo>
                    <a:pt x="4900863" y="0"/>
                  </a:lnTo>
                  <a:lnTo>
                    <a:pt x="0" y="0"/>
                  </a:lnTo>
                  <a:lnTo>
                    <a:pt x="0" y="487135"/>
                  </a:lnTo>
                </a:path>
              </a:pathLst>
            </a:custGeom>
            <a:ln w="31432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46" name="object 211"/>
            <p:cNvSpPr/>
            <p:nvPr/>
          </p:nvSpPr>
          <p:spPr>
            <a:xfrm>
              <a:off x="2285264" y="3946232"/>
              <a:ext cx="848231" cy="1057812"/>
            </a:xfrm>
            <a:custGeom>
              <a:avLst/>
              <a:gdLst/>
              <a:ahLst/>
              <a:cxnLst/>
              <a:rect l="l" t="t" r="r" b="b"/>
              <a:pathLst>
                <a:path w="873846" h="1093245">
                  <a:moveTo>
                    <a:pt x="0" y="1093245"/>
                  </a:moveTo>
                  <a:lnTo>
                    <a:pt x="873846" y="1093245"/>
                  </a:lnTo>
                  <a:lnTo>
                    <a:pt x="873846" y="0"/>
                  </a:lnTo>
                  <a:lnTo>
                    <a:pt x="0" y="0"/>
                  </a:lnTo>
                  <a:lnTo>
                    <a:pt x="0" y="1093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47" name="object 212"/>
            <p:cNvSpPr/>
            <p:nvPr/>
          </p:nvSpPr>
          <p:spPr>
            <a:xfrm>
              <a:off x="2285264" y="3946233"/>
              <a:ext cx="848231" cy="1057812"/>
            </a:xfrm>
            <a:custGeom>
              <a:avLst/>
              <a:gdLst/>
              <a:ahLst/>
              <a:cxnLst/>
              <a:rect l="l" t="t" r="r" b="b"/>
              <a:pathLst>
                <a:path w="873846" h="1093245">
                  <a:moveTo>
                    <a:pt x="0" y="1093245"/>
                  </a:moveTo>
                  <a:lnTo>
                    <a:pt x="873846" y="1093245"/>
                  </a:lnTo>
                  <a:lnTo>
                    <a:pt x="873846" y="0"/>
                  </a:lnTo>
                  <a:lnTo>
                    <a:pt x="0" y="0"/>
                  </a:lnTo>
                  <a:lnTo>
                    <a:pt x="0" y="1093245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48" name="object 213"/>
            <p:cNvSpPr/>
            <p:nvPr/>
          </p:nvSpPr>
          <p:spPr>
            <a:xfrm>
              <a:off x="1908713" y="3904670"/>
              <a:ext cx="62631" cy="62409"/>
            </a:xfrm>
            <a:custGeom>
              <a:avLst/>
              <a:gdLst/>
              <a:ahLst/>
              <a:cxnLst/>
              <a:rect l="l" t="t" r="r" b="b"/>
              <a:pathLst>
                <a:path w="64522" h="64499">
                  <a:moveTo>
                    <a:pt x="0" y="0"/>
                  </a:moveTo>
                  <a:lnTo>
                    <a:pt x="45" y="64499"/>
                  </a:lnTo>
                  <a:lnTo>
                    <a:pt x="64522" y="32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49" name="object 214"/>
            <p:cNvSpPr/>
            <p:nvPr/>
          </p:nvSpPr>
          <p:spPr>
            <a:xfrm>
              <a:off x="1910244" y="4308410"/>
              <a:ext cx="62619" cy="62409"/>
            </a:xfrm>
            <a:custGeom>
              <a:avLst/>
              <a:gdLst/>
              <a:ahLst/>
              <a:cxnLst/>
              <a:rect l="l" t="t" r="r" b="b"/>
              <a:pathLst>
                <a:path w="64510" h="64499">
                  <a:moveTo>
                    <a:pt x="0" y="0"/>
                  </a:moveTo>
                  <a:lnTo>
                    <a:pt x="34" y="64499"/>
                  </a:lnTo>
                  <a:lnTo>
                    <a:pt x="64510" y="32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50" name="object 215"/>
            <p:cNvSpPr/>
            <p:nvPr/>
          </p:nvSpPr>
          <p:spPr>
            <a:xfrm>
              <a:off x="2216687" y="4782865"/>
              <a:ext cx="62631" cy="62409"/>
            </a:xfrm>
            <a:custGeom>
              <a:avLst/>
              <a:gdLst/>
              <a:ahLst/>
              <a:cxnLst/>
              <a:rect l="l" t="t" r="r" b="b"/>
              <a:pathLst>
                <a:path w="64522" h="64499">
                  <a:moveTo>
                    <a:pt x="0" y="0"/>
                  </a:moveTo>
                  <a:lnTo>
                    <a:pt x="45" y="64499"/>
                  </a:lnTo>
                  <a:lnTo>
                    <a:pt x="64522" y="32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51" name="object 216"/>
            <p:cNvSpPr/>
            <p:nvPr/>
          </p:nvSpPr>
          <p:spPr>
            <a:xfrm>
              <a:off x="2216687" y="4107104"/>
              <a:ext cx="62631" cy="62419"/>
            </a:xfrm>
            <a:custGeom>
              <a:avLst/>
              <a:gdLst/>
              <a:ahLst/>
              <a:cxnLst/>
              <a:rect l="l" t="t" r="r" b="b"/>
              <a:pathLst>
                <a:path w="64522" h="64510">
                  <a:moveTo>
                    <a:pt x="0" y="0"/>
                  </a:moveTo>
                  <a:lnTo>
                    <a:pt x="45" y="64510"/>
                  </a:lnTo>
                  <a:lnTo>
                    <a:pt x="64522" y="32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52" name="object 217"/>
            <p:cNvSpPr/>
            <p:nvPr/>
          </p:nvSpPr>
          <p:spPr>
            <a:xfrm>
              <a:off x="3466456" y="4444685"/>
              <a:ext cx="62631" cy="62409"/>
            </a:xfrm>
            <a:custGeom>
              <a:avLst/>
              <a:gdLst/>
              <a:ahLst/>
              <a:cxnLst/>
              <a:rect l="l" t="t" r="r" b="b"/>
              <a:pathLst>
                <a:path w="64522" h="64499">
                  <a:moveTo>
                    <a:pt x="0" y="0"/>
                  </a:moveTo>
                  <a:lnTo>
                    <a:pt x="45" y="64499"/>
                  </a:lnTo>
                  <a:lnTo>
                    <a:pt x="64522" y="32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53" name="object 218"/>
            <p:cNvSpPr/>
            <p:nvPr/>
          </p:nvSpPr>
          <p:spPr>
            <a:xfrm>
              <a:off x="4693203" y="4445648"/>
              <a:ext cx="62631" cy="62398"/>
            </a:xfrm>
            <a:custGeom>
              <a:avLst/>
              <a:gdLst/>
              <a:ahLst/>
              <a:cxnLst/>
              <a:rect l="l" t="t" r="r" b="b"/>
              <a:pathLst>
                <a:path w="64522" h="64488">
                  <a:moveTo>
                    <a:pt x="0" y="0"/>
                  </a:moveTo>
                  <a:lnTo>
                    <a:pt x="45" y="64488"/>
                  </a:lnTo>
                  <a:lnTo>
                    <a:pt x="64522" y="32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54" name="object 219"/>
            <p:cNvSpPr/>
            <p:nvPr/>
          </p:nvSpPr>
          <p:spPr>
            <a:xfrm>
              <a:off x="5134471" y="4307581"/>
              <a:ext cx="62631" cy="62419"/>
            </a:xfrm>
            <a:custGeom>
              <a:avLst/>
              <a:gdLst/>
              <a:ahLst/>
              <a:cxnLst/>
              <a:rect l="l" t="t" r="r" b="b"/>
              <a:pathLst>
                <a:path w="64522" h="64510">
                  <a:moveTo>
                    <a:pt x="0" y="0"/>
                  </a:moveTo>
                  <a:lnTo>
                    <a:pt x="45" y="64510"/>
                  </a:lnTo>
                  <a:lnTo>
                    <a:pt x="64522" y="32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55" name="object 220"/>
            <p:cNvSpPr/>
            <p:nvPr/>
          </p:nvSpPr>
          <p:spPr>
            <a:xfrm>
              <a:off x="5134471" y="4579414"/>
              <a:ext cx="62631" cy="62409"/>
            </a:xfrm>
            <a:custGeom>
              <a:avLst/>
              <a:gdLst/>
              <a:ahLst/>
              <a:cxnLst/>
              <a:rect l="l" t="t" r="r" b="b"/>
              <a:pathLst>
                <a:path w="64522" h="64499">
                  <a:moveTo>
                    <a:pt x="0" y="0"/>
                  </a:moveTo>
                  <a:lnTo>
                    <a:pt x="45" y="64499"/>
                  </a:lnTo>
                  <a:lnTo>
                    <a:pt x="64522" y="32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56" name="object 221"/>
            <p:cNvSpPr/>
            <p:nvPr/>
          </p:nvSpPr>
          <p:spPr>
            <a:xfrm>
              <a:off x="5134471" y="4849332"/>
              <a:ext cx="62631" cy="62409"/>
            </a:xfrm>
            <a:custGeom>
              <a:avLst/>
              <a:gdLst/>
              <a:ahLst/>
              <a:cxnLst/>
              <a:rect l="l" t="t" r="r" b="b"/>
              <a:pathLst>
                <a:path w="64522" h="64499">
                  <a:moveTo>
                    <a:pt x="0" y="0"/>
                  </a:moveTo>
                  <a:lnTo>
                    <a:pt x="45" y="64499"/>
                  </a:lnTo>
                  <a:lnTo>
                    <a:pt x="64522" y="32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57" name="object 222"/>
            <p:cNvSpPr/>
            <p:nvPr/>
          </p:nvSpPr>
          <p:spPr>
            <a:xfrm>
              <a:off x="5132563" y="4038480"/>
              <a:ext cx="62630" cy="62409"/>
            </a:xfrm>
            <a:custGeom>
              <a:avLst/>
              <a:gdLst/>
              <a:ahLst/>
              <a:cxnLst/>
              <a:rect l="l" t="t" r="r" b="b"/>
              <a:pathLst>
                <a:path w="64521" h="64499">
                  <a:moveTo>
                    <a:pt x="0" y="0"/>
                  </a:moveTo>
                  <a:lnTo>
                    <a:pt x="45" y="64499"/>
                  </a:lnTo>
                  <a:lnTo>
                    <a:pt x="64521" y="32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58" name="object 223"/>
            <p:cNvSpPr/>
            <p:nvPr/>
          </p:nvSpPr>
          <p:spPr>
            <a:xfrm>
              <a:off x="4867726" y="3338688"/>
              <a:ext cx="62619" cy="62431"/>
            </a:xfrm>
            <a:custGeom>
              <a:avLst/>
              <a:gdLst/>
              <a:ahLst/>
              <a:cxnLst/>
              <a:rect l="l" t="t" r="r" b="b"/>
              <a:pathLst>
                <a:path w="64510" h="64522">
                  <a:moveTo>
                    <a:pt x="32209" y="0"/>
                  </a:moveTo>
                  <a:lnTo>
                    <a:pt x="0" y="64522"/>
                  </a:lnTo>
                  <a:lnTo>
                    <a:pt x="64510" y="64476"/>
                  </a:lnTo>
                  <a:lnTo>
                    <a:pt x="32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59" name="object 224"/>
            <p:cNvSpPr/>
            <p:nvPr/>
          </p:nvSpPr>
          <p:spPr>
            <a:xfrm>
              <a:off x="4693203" y="4822015"/>
              <a:ext cx="62631" cy="62419"/>
            </a:xfrm>
            <a:custGeom>
              <a:avLst/>
              <a:gdLst/>
              <a:ahLst/>
              <a:cxnLst/>
              <a:rect l="l" t="t" r="r" b="b"/>
              <a:pathLst>
                <a:path w="64522" h="64510">
                  <a:moveTo>
                    <a:pt x="0" y="0"/>
                  </a:moveTo>
                  <a:lnTo>
                    <a:pt x="45" y="64510"/>
                  </a:lnTo>
                  <a:lnTo>
                    <a:pt x="64522" y="32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60" name="object 225"/>
            <p:cNvSpPr/>
            <p:nvPr/>
          </p:nvSpPr>
          <p:spPr>
            <a:xfrm>
              <a:off x="4759373" y="5440741"/>
              <a:ext cx="62631" cy="62419"/>
            </a:xfrm>
            <a:custGeom>
              <a:avLst/>
              <a:gdLst/>
              <a:ahLst/>
              <a:cxnLst/>
              <a:rect l="l" t="t" r="r" b="b"/>
              <a:pathLst>
                <a:path w="64522" h="64510">
                  <a:moveTo>
                    <a:pt x="0" y="0"/>
                  </a:moveTo>
                  <a:lnTo>
                    <a:pt x="45" y="64510"/>
                  </a:lnTo>
                  <a:lnTo>
                    <a:pt x="64522" y="32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61" name="object 226"/>
            <p:cNvSpPr/>
            <p:nvPr/>
          </p:nvSpPr>
          <p:spPr>
            <a:xfrm>
              <a:off x="5239286" y="5645409"/>
              <a:ext cx="62631" cy="62409"/>
            </a:xfrm>
            <a:custGeom>
              <a:avLst/>
              <a:gdLst/>
              <a:ahLst/>
              <a:cxnLst/>
              <a:rect l="l" t="t" r="r" b="b"/>
              <a:pathLst>
                <a:path w="64522" h="64499">
                  <a:moveTo>
                    <a:pt x="0" y="0"/>
                  </a:moveTo>
                  <a:lnTo>
                    <a:pt x="57" y="64499"/>
                  </a:lnTo>
                  <a:lnTo>
                    <a:pt x="64522" y="32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62" name="object 227"/>
            <p:cNvSpPr/>
            <p:nvPr/>
          </p:nvSpPr>
          <p:spPr>
            <a:xfrm>
              <a:off x="5879131" y="5645409"/>
              <a:ext cx="62640" cy="62409"/>
            </a:xfrm>
            <a:custGeom>
              <a:avLst/>
              <a:gdLst/>
              <a:ahLst/>
              <a:cxnLst/>
              <a:rect l="l" t="t" r="r" b="b"/>
              <a:pathLst>
                <a:path w="64532" h="64499">
                  <a:moveTo>
                    <a:pt x="0" y="0"/>
                  </a:moveTo>
                  <a:lnTo>
                    <a:pt x="45" y="64499"/>
                  </a:lnTo>
                  <a:lnTo>
                    <a:pt x="64532" y="32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63" name="object 228"/>
            <p:cNvSpPr/>
            <p:nvPr/>
          </p:nvSpPr>
          <p:spPr>
            <a:xfrm>
              <a:off x="4762424" y="5028254"/>
              <a:ext cx="62631" cy="62419"/>
            </a:xfrm>
            <a:custGeom>
              <a:avLst/>
              <a:gdLst/>
              <a:ahLst/>
              <a:cxnLst/>
              <a:rect l="l" t="t" r="r" b="b"/>
              <a:pathLst>
                <a:path w="64522" h="64510">
                  <a:moveTo>
                    <a:pt x="0" y="0"/>
                  </a:moveTo>
                  <a:lnTo>
                    <a:pt x="45" y="64510"/>
                  </a:lnTo>
                  <a:lnTo>
                    <a:pt x="64522" y="32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64" name="object 229"/>
            <p:cNvSpPr/>
            <p:nvPr/>
          </p:nvSpPr>
          <p:spPr>
            <a:xfrm>
              <a:off x="3542101" y="5419772"/>
              <a:ext cx="62631" cy="62409"/>
            </a:xfrm>
            <a:custGeom>
              <a:avLst/>
              <a:gdLst/>
              <a:ahLst/>
              <a:cxnLst/>
              <a:rect l="l" t="t" r="r" b="b"/>
              <a:pathLst>
                <a:path w="64522" h="64499">
                  <a:moveTo>
                    <a:pt x="0" y="0"/>
                  </a:moveTo>
                  <a:lnTo>
                    <a:pt x="45" y="64499"/>
                  </a:lnTo>
                  <a:lnTo>
                    <a:pt x="64522" y="32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65" name="object 230"/>
            <p:cNvSpPr/>
            <p:nvPr/>
          </p:nvSpPr>
          <p:spPr>
            <a:xfrm>
              <a:off x="1503059" y="3905411"/>
              <a:ext cx="62631" cy="62419"/>
            </a:xfrm>
            <a:custGeom>
              <a:avLst/>
              <a:gdLst/>
              <a:ahLst/>
              <a:cxnLst/>
              <a:rect l="l" t="t" r="r" b="b"/>
              <a:pathLst>
                <a:path w="64522" h="64510">
                  <a:moveTo>
                    <a:pt x="0" y="0"/>
                  </a:moveTo>
                  <a:lnTo>
                    <a:pt x="45" y="64510"/>
                  </a:lnTo>
                  <a:lnTo>
                    <a:pt x="64522" y="32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66" name="object 231"/>
            <p:cNvSpPr/>
            <p:nvPr/>
          </p:nvSpPr>
          <p:spPr>
            <a:xfrm>
              <a:off x="1813927" y="3904535"/>
              <a:ext cx="60073" cy="62356"/>
            </a:xfrm>
            <a:custGeom>
              <a:avLst/>
              <a:gdLst/>
              <a:ahLst/>
              <a:cxnLst/>
              <a:rect l="l" t="t" r="r" b="b"/>
              <a:pathLst>
                <a:path w="61887" h="64445">
                  <a:moveTo>
                    <a:pt x="32630" y="0"/>
                  </a:moveTo>
                  <a:lnTo>
                    <a:pt x="18001" y="2913"/>
                  </a:lnTo>
                  <a:lnTo>
                    <a:pt x="6761" y="10862"/>
                  </a:lnTo>
                  <a:lnTo>
                    <a:pt x="0" y="22529"/>
                  </a:lnTo>
                  <a:lnTo>
                    <a:pt x="1444" y="39786"/>
                  </a:lnTo>
                  <a:lnTo>
                    <a:pt x="7222" y="52577"/>
                  </a:lnTo>
                  <a:lnTo>
                    <a:pt x="16341" y="60789"/>
                  </a:lnTo>
                  <a:lnTo>
                    <a:pt x="27812" y="64311"/>
                  </a:lnTo>
                  <a:lnTo>
                    <a:pt x="30759" y="64445"/>
                  </a:lnTo>
                  <a:lnTo>
                    <a:pt x="44612" y="61325"/>
                  </a:lnTo>
                  <a:lnTo>
                    <a:pt x="55466" y="52921"/>
                  </a:lnTo>
                  <a:lnTo>
                    <a:pt x="61887" y="40669"/>
                  </a:lnTo>
                  <a:lnTo>
                    <a:pt x="60156" y="23753"/>
                  </a:lnTo>
                  <a:lnTo>
                    <a:pt x="54017" y="11191"/>
                  </a:lnTo>
                  <a:lnTo>
                    <a:pt x="44499" y="3201"/>
                  </a:lnTo>
                  <a:lnTo>
                    <a:pt x="326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67" name="object 232"/>
            <p:cNvSpPr/>
            <p:nvPr/>
          </p:nvSpPr>
          <p:spPr>
            <a:xfrm>
              <a:off x="4268487" y="3588176"/>
              <a:ext cx="60076" cy="62357"/>
            </a:xfrm>
            <a:custGeom>
              <a:avLst/>
              <a:gdLst/>
              <a:ahLst/>
              <a:cxnLst/>
              <a:rect l="l" t="t" r="r" b="b"/>
              <a:pathLst>
                <a:path w="61890" h="64446">
                  <a:moveTo>
                    <a:pt x="32627" y="0"/>
                  </a:moveTo>
                  <a:lnTo>
                    <a:pt x="18004" y="2914"/>
                  </a:lnTo>
                  <a:lnTo>
                    <a:pt x="6763" y="10864"/>
                  </a:lnTo>
                  <a:lnTo>
                    <a:pt x="0" y="22532"/>
                  </a:lnTo>
                  <a:lnTo>
                    <a:pt x="1445" y="39786"/>
                  </a:lnTo>
                  <a:lnTo>
                    <a:pt x="7225" y="52576"/>
                  </a:lnTo>
                  <a:lnTo>
                    <a:pt x="16346" y="60788"/>
                  </a:lnTo>
                  <a:lnTo>
                    <a:pt x="27818" y="64311"/>
                  </a:lnTo>
                  <a:lnTo>
                    <a:pt x="30770" y="64446"/>
                  </a:lnTo>
                  <a:lnTo>
                    <a:pt x="44623" y="61325"/>
                  </a:lnTo>
                  <a:lnTo>
                    <a:pt x="55474" y="52918"/>
                  </a:lnTo>
                  <a:lnTo>
                    <a:pt x="61890" y="40663"/>
                  </a:lnTo>
                  <a:lnTo>
                    <a:pt x="60157" y="23747"/>
                  </a:lnTo>
                  <a:lnTo>
                    <a:pt x="54018" y="11186"/>
                  </a:lnTo>
                  <a:lnTo>
                    <a:pt x="44499" y="3197"/>
                  </a:lnTo>
                  <a:lnTo>
                    <a:pt x="32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68" name="object 233"/>
            <p:cNvSpPr/>
            <p:nvPr/>
          </p:nvSpPr>
          <p:spPr>
            <a:xfrm>
              <a:off x="4342860" y="3588177"/>
              <a:ext cx="60081" cy="62356"/>
            </a:xfrm>
            <a:custGeom>
              <a:avLst/>
              <a:gdLst/>
              <a:ahLst/>
              <a:cxnLst/>
              <a:rect l="l" t="t" r="r" b="b"/>
              <a:pathLst>
                <a:path w="61895" h="64445">
                  <a:moveTo>
                    <a:pt x="32638" y="0"/>
                  </a:moveTo>
                  <a:lnTo>
                    <a:pt x="18010" y="2912"/>
                  </a:lnTo>
                  <a:lnTo>
                    <a:pt x="6766" y="10859"/>
                  </a:lnTo>
                  <a:lnTo>
                    <a:pt x="0" y="22522"/>
                  </a:lnTo>
                  <a:lnTo>
                    <a:pt x="1443" y="39779"/>
                  </a:lnTo>
                  <a:lnTo>
                    <a:pt x="7220" y="52570"/>
                  </a:lnTo>
                  <a:lnTo>
                    <a:pt x="16338" y="60784"/>
                  </a:lnTo>
                  <a:lnTo>
                    <a:pt x="27807" y="64309"/>
                  </a:lnTo>
                  <a:lnTo>
                    <a:pt x="30767" y="64445"/>
                  </a:lnTo>
                  <a:lnTo>
                    <a:pt x="44620" y="61325"/>
                  </a:lnTo>
                  <a:lnTo>
                    <a:pt x="55475" y="52921"/>
                  </a:lnTo>
                  <a:lnTo>
                    <a:pt x="61895" y="40669"/>
                  </a:lnTo>
                  <a:lnTo>
                    <a:pt x="60164" y="23753"/>
                  </a:lnTo>
                  <a:lnTo>
                    <a:pt x="54026" y="11191"/>
                  </a:lnTo>
                  <a:lnTo>
                    <a:pt x="44507" y="3201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69" name="object 234"/>
            <p:cNvSpPr/>
            <p:nvPr/>
          </p:nvSpPr>
          <p:spPr>
            <a:xfrm>
              <a:off x="4345500" y="4036033"/>
              <a:ext cx="60073" cy="62356"/>
            </a:xfrm>
            <a:custGeom>
              <a:avLst/>
              <a:gdLst/>
              <a:ahLst/>
              <a:cxnLst/>
              <a:rect l="l" t="t" r="r" b="b"/>
              <a:pathLst>
                <a:path w="61887" h="64445">
                  <a:moveTo>
                    <a:pt x="32629" y="0"/>
                  </a:moveTo>
                  <a:lnTo>
                    <a:pt x="18002" y="2912"/>
                  </a:lnTo>
                  <a:lnTo>
                    <a:pt x="6762" y="10860"/>
                  </a:lnTo>
                  <a:lnTo>
                    <a:pt x="0" y="22528"/>
                  </a:lnTo>
                  <a:lnTo>
                    <a:pt x="1443" y="39789"/>
                  </a:lnTo>
                  <a:lnTo>
                    <a:pt x="7219" y="52580"/>
                  </a:lnTo>
                  <a:lnTo>
                    <a:pt x="16337" y="60790"/>
                  </a:lnTo>
                  <a:lnTo>
                    <a:pt x="27807" y="64310"/>
                  </a:lnTo>
                  <a:lnTo>
                    <a:pt x="30756" y="64445"/>
                  </a:lnTo>
                  <a:lnTo>
                    <a:pt x="44612" y="61326"/>
                  </a:lnTo>
                  <a:lnTo>
                    <a:pt x="55467" y="52924"/>
                  </a:lnTo>
                  <a:lnTo>
                    <a:pt x="61887" y="40672"/>
                  </a:lnTo>
                  <a:lnTo>
                    <a:pt x="60155" y="23755"/>
                  </a:lnTo>
                  <a:lnTo>
                    <a:pt x="54016" y="11192"/>
                  </a:lnTo>
                  <a:lnTo>
                    <a:pt x="44498" y="3201"/>
                  </a:lnTo>
                  <a:lnTo>
                    <a:pt x="326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70" name="object 235"/>
            <p:cNvSpPr/>
            <p:nvPr/>
          </p:nvSpPr>
          <p:spPr>
            <a:xfrm>
              <a:off x="4271128" y="4305963"/>
              <a:ext cx="60072" cy="62356"/>
            </a:xfrm>
            <a:custGeom>
              <a:avLst/>
              <a:gdLst/>
              <a:ahLst/>
              <a:cxnLst/>
              <a:rect l="l" t="t" r="r" b="b"/>
              <a:pathLst>
                <a:path w="61886" h="64445">
                  <a:moveTo>
                    <a:pt x="32632" y="0"/>
                  </a:moveTo>
                  <a:lnTo>
                    <a:pt x="18002" y="2914"/>
                  </a:lnTo>
                  <a:lnTo>
                    <a:pt x="6762" y="10866"/>
                  </a:lnTo>
                  <a:lnTo>
                    <a:pt x="0" y="22532"/>
                  </a:lnTo>
                  <a:lnTo>
                    <a:pt x="1444" y="39792"/>
                  </a:lnTo>
                  <a:lnTo>
                    <a:pt x="7222" y="52582"/>
                  </a:lnTo>
                  <a:lnTo>
                    <a:pt x="16341" y="60792"/>
                  </a:lnTo>
                  <a:lnTo>
                    <a:pt x="27813" y="64311"/>
                  </a:lnTo>
                  <a:lnTo>
                    <a:pt x="30758" y="64445"/>
                  </a:lnTo>
                  <a:lnTo>
                    <a:pt x="44611" y="61327"/>
                  </a:lnTo>
                  <a:lnTo>
                    <a:pt x="55466" y="52925"/>
                  </a:lnTo>
                  <a:lnTo>
                    <a:pt x="61886" y="40673"/>
                  </a:lnTo>
                  <a:lnTo>
                    <a:pt x="60156" y="23761"/>
                  </a:lnTo>
                  <a:lnTo>
                    <a:pt x="54018" y="11197"/>
                  </a:lnTo>
                  <a:lnTo>
                    <a:pt x="44501" y="3204"/>
                  </a:lnTo>
                  <a:lnTo>
                    <a:pt x="326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71" name="object 236"/>
            <p:cNvSpPr/>
            <p:nvPr/>
          </p:nvSpPr>
          <p:spPr>
            <a:xfrm>
              <a:off x="4511401" y="4312609"/>
              <a:ext cx="60077" cy="62357"/>
            </a:xfrm>
            <a:custGeom>
              <a:avLst/>
              <a:gdLst/>
              <a:ahLst/>
              <a:cxnLst/>
              <a:rect l="l" t="t" r="r" b="b"/>
              <a:pathLst>
                <a:path w="61891" h="64446">
                  <a:moveTo>
                    <a:pt x="32624" y="0"/>
                  </a:moveTo>
                  <a:lnTo>
                    <a:pt x="17999" y="2913"/>
                  </a:lnTo>
                  <a:lnTo>
                    <a:pt x="6761" y="10863"/>
                  </a:lnTo>
                  <a:lnTo>
                    <a:pt x="0" y="22533"/>
                  </a:lnTo>
                  <a:lnTo>
                    <a:pt x="1444" y="39787"/>
                  </a:lnTo>
                  <a:lnTo>
                    <a:pt x="7220" y="52576"/>
                  </a:lnTo>
                  <a:lnTo>
                    <a:pt x="16341" y="60788"/>
                  </a:lnTo>
                  <a:lnTo>
                    <a:pt x="27815" y="64311"/>
                  </a:lnTo>
                  <a:lnTo>
                    <a:pt x="30769" y="64446"/>
                  </a:lnTo>
                  <a:lnTo>
                    <a:pt x="44624" y="61324"/>
                  </a:lnTo>
                  <a:lnTo>
                    <a:pt x="55476" y="52916"/>
                  </a:lnTo>
                  <a:lnTo>
                    <a:pt x="61891" y="40662"/>
                  </a:lnTo>
                  <a:lnTo>
                    <a:pt x="60157" y="23746"/>
                  </a:lnTo>
                  <a:lnTo>
                    <a:pt x="54017" y="11185"/>
                  </a:lnTo>
                  <a:lnTo>
                    <a:pt x="44498" y="3196"/>
                  </a:lnTo>
                  <a:lnTo>
                    <a:pt x="32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72" name="object 237"/>
            <p:cNvSpPr/>
            <p:nvPr/>
          </p:nvSpPr>
          <p:spPr>
            <a:xfrm>
              <a:off x="4208197" y="4570187"/>
              <a:ext cx="60073" cy="62356"/>
            </a:xfrm>
            <a:custGeom>
              <a:avLst/>
              <a:gdLst/>
              <a:ahLst/>
              <a:cxnLst/>
              <a:rect l="l" t="t" r="r" b="b"/>
              <a:pathLst>
                <a:path w="61887" h="64445">
                  <a:moveTo>
                    <a:pt x="32630" y="0"/>
                  </a:moveTo>
                  <a:lnTo>
                    <a:pt x="18001" y="2913"/>
                  </a:lnTo>
                  <a:lnTo>
                    <a:pt x="6761" y="10862"/>
                  </a:lnTo>
                  <a:lnTo>
                    <a:pt x="0" y="22529"/>
                  </a:lnTo>
                  <a:lnTo>
                    <a:pt x="1444" y="39786"/>
                  </a:lnTo>
                  <a:lnTo>
                    <a:pt x="7222" y="52577"/>
                  </a:lnTo>
                  <a:lnTo>
                    <a:pt x="16341" y="60789"/>
                  </a:lnTo>
                  <a:lnTo>
                    <a:pt x="27812" y="64311"/>
                  </a:lnTo>
                  <a:lnTo>
                    <a:pt x="30759" y="64445"/>
                  </a:lnTo>
                  <a:lnTo>
                    <a:pt x="44612" y="61325"/>
                  </a:lnTo>
                  <a:lnTo>
                    <a:pt x="55466" y="52921"/>
                  </a:lnTo>
                  <a:lnTo>
                    <a:pt x="61887" y="40669"/>
                  </a:lnTo>
                  <a:lnTo>
                    <a:pt x="60156" y="23753"/>
                  </a:lnTo>
                  <a:lnTo>
                    <a:pt x="54017" y="11191"/>
                  </a:lnTo>
                  <a:lnTo>
                    <a:pt x="44499" y="3201"/>
                  </a:lnTo>
                  <a:lnTo>
                    <a:pt x="326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73" name="object 238"/>
            <p:cNvSpPr/>
            <p:nvPr/>
          </p:nvSpPr>
          <p:spPr>
            <a:xfrm>
              <a:off x="4210650" y="4824390"/>
              <a:ext cx="60072" cy="62356"/>
            </a:xfrm>
            <a:custGeom>
              <a:avLst/>
              <a:gdLst/>
              <a:ahLst/>
              <a:cxnLst/>
              <a:rect l="l" t="t" r="r" b="b"/>
              <a:pathLst>
                <a:path w="61886" h="64445">
                  <a:moveTo>
                    <a:pt x="32632" y="0"/>
                  </a:moveTo>
                  <a:lnTo>
                    <a:pt x="18002" y="2913"/>
                  </a:lnTo>
                  <a:lnTo>
                    <a:pt x="6762" y="10861"/>
                  </a:lnTo>
                  <a:lnTo>
                    <a:pt x="0" y="22527"/>
                  </a:lnTo>
                  <a:lnTo>
                    <a:pt x="1444" y="39789"/>
                  </a:lnTo>
                  <a:lnTo>
                    <a:pt x="7221" y="52580"/>
                  </a:lnTo>
                  <a:lnTo>
                    <a:pt x="16339" y="60790"/>
                  </a:lnTo>
                  <a:lnTo>
                    <a:pt x="27810" y="64310"/>
                  </a:lnTo>
                  <a:lnTo>
                    <a:pt x="30758" y="64445"/>
                  </a:lnTo>
                  <a:lnTo>
                    <a:pt x="44611" y="61327"/>
                  </a:lnTo>
                  <a:lnTo>
                    <a:pt x="55466" y="52926"/>
                  </a:lnTo>
                  <a:lnTo>
                    <a:pt x="61886" y="40673"/>
                  </a:lnTo>
                  <a:lnTo>
                    <a:pt x="60156" y="23756"/>
                  </a:lnTo>
                  <a:lnTo>
                    <a:pt x="54018" y="11193"/>
                  </a:lnTo>
                  <a:lnTo>
                    <a:pt x="44501" y="3202"/>
                  </a:lnTo>
                  <a:lnTo>
                    <a:pt x="326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74" name="object 239"/>
            <p:cNvSpPr/>
            <p:nvPr/>
          </p:nvSpPr>
          <p:spPr>
            <a:xfrm>
              <a:off x="4212937" y="5645118"/>
              <a:ext cx="60075" cy="62357"/>
            </a:xfrm>
            <a:custGeom>
              <a:avLst/>
              <a:gdLst/>
              <a:ahLst/>
              <a:cxnLst/>
              <a:rect l="l" t="t" r="r" b="b"/>
              <a:pathLst>
                <a:path w="61889" h="64446">
                  <a:moveTo>
                    <a:pt x="32629" y="0"/>
                  </a:moveTo>
                  <a:lnTo>
                    <a:pt x="18002" y="2914"/>
                  </a:lnTo>
                  <a:lnTo>
                    <a:pt x="6762" y="10866"/>
                  </a:lnTo>
                  <a:lnTo>
                    <a:pt x="0" y="22533"/>
                  </a:lnTo>
                  <a:lnTo>
                    <a:pt x="1443" y="39796"/>
                  </a:lnTo>
                  <a:lnTo>
                    <a:pt x="7219" y="52585"/>
                  </a:lnTo>
                  <a:lnTo>
                    <a:pt x="16340" y="60792"/>
                  </a:lnTo>
                  <a:lnTo>
                    <a:pt x="27814" y="64311"/>
                  </a:lnTo>
                  <a:lnTo>
                    <a:pt x="30768" y="64446"/>
                  </a:lnTo>
                  <a:lnTo>
                    <a:pt x="44618" y="61327"/>
                  </a:lnTo>
                  <a:lnTo>
                    <a:pt x="55472" y="52925"/>
                  </a:lnTo>
                  <a:lnTo>
                    <a:pt x="61889" y="40670"/>
                  </a:lnTo>
                  <a:lnTo>
                    <a:pt x="60155" y="23756"/>
                  </a:lnTo>
                  <a:lnTo>
                    <a:pt x="54014" y="11193"/>
                  </a:lnTo>
                  <a:lnTo>
                    <a:pt x="44495" y="3200"/>
                  </a:lnTo>
                  <a:lnTo>
                    <a:pt x="326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75" name="object 240"/>
            <p:cNvSpPr/>
            <p:nvPr/>
          </p:nvSpPr>
          <p:spPr>
            <a:xfrm>
              <a:off x="4694791" y="6392059"/>
              <a:ext cx="60069" cy="62367"/>
            </a:xfrm>
            <a:custGeom>
              <a:avLst/>
              <a:gdLst/>
              <a:ahLst/>
              <a:cxnLst/>
              <a:rect l="l" t="t" r="r" b="b"/>
              <a:pathLst>
                <a:path w="61883" h="64456">
                  <a:moveTo>
                    <a:pt x="32638" y="0"/>
                  </a:moveTo>
                  <a:lnTo>
                    <a:pt x="18005" y="2914"/>
                  </a:lnTo>
                  <a:lnTo>
                    <a:pt x="6763" y="10863"/>
                  </a:lnTo>
                  <a:lnTo>
                    <a:pt x="0" y="22526"/>
                  </a:lnTo>
                  <a:lnTo>
                    <a:pt x="1442" y="39787"/>
                  </a:lnTo>
                  <a:lnTo>
                    <a:pt x="7216" y="52581"/>
                  </a:lnTo>
                  <a:lnTo>
                    <a:pt x="16332" y="60796"/>
                  </a:lnTo>
                  <a:lnTo>
                    <a:pt x="27799" y="64320"/>
                  </a:lnTo>
                  <a:lnTo>
                    <a:pt x="30757" y="64456"/>
                  </a:lnTo>
                  <a:lnTo>
                    <a:pt x="44607" y="61337"/>
                  </a:lnTo>
                  <a:lnTo>
                    <a:pt x="55461" y="52934"/>
                  </a:lnTo>
                  <a:lnTo>
                    <a:pt x="61883" y="40680"/>
                  </a:lnTo>
                  <a:lnTo>
                    <a:pt x="60154" y="23766"/>
                  </a:lnTo>
                  <a:lnTo>
                    <a:pt x="54018" y="11201"/>
                  </a:lnTo>
                  <a:lnTo>
                    <a:pt x="44504" y="3206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76" name="object 241"/>
            <p:cNvSpPr/>
            <p:nvPr/>
          </p:nvSpPr>
          <p:spPr>
            <a:xfrm>
              <a:off x="5795732" y="5645118"/>
              <a:ext cx="60075" cy="62357"/>
            </a:xfrm>
            <a:custGeom>
              <a:avLst/>
              <a:gdLst/>
              <a:ahLst/>
              <a:cxnLst/>
              <a:rect l="l" t="t" r="r" b="b"/>
              <a:pathLst>
                <a:path w="61889" h="64446">
                  <a:moveTo>
                    <a:pt x="32628" y="0"/>
                  </a:moveTo>
                  <a:lnTo>
                    <a:pt x="18001" y="2915"/>
                  </a:lnTo>
                  <a:lnTo>
                    <a:pt x="6762" y="10866"/>
                  </a:lnTo>
                  <a:lnTo>
                    <a:pt x="0" y="22534"/>
                  </a:lnTo>
                  <a:lnTo>
                    <a:pt x="1443" y="39797"/>
                  </a:lnTo>
                  <a:lnTo>
                    <a:pt x="7219" y="52585"/>
                  </a:lnTo>
                  <a:lnTo>
                    <a:pt x="16340" y="60792"/>
                  </a:lnTo>
                  <a:lnTo>
                    <a:pt x="27815" y="64311"/>
                  </a:lnTo>
                  <a:lnTo>
                    <a:pt x="30768" y="64446"/>
                  </a:lnTo>
                  <a:lnTo>
                    <a:pt x="44624" y="61327"/>
                  </a:lnTo>
                  <a:lnTo>
                    <a:pt x="55475" y="52925"/>
                  </a:lnTo>
                  <a:lnTo>
                    <a:pt x="61889" y="40669"/>
                  </a:lnTo>
                  <a:lnTo>
                    <a:pt x="60156" y="23755"/>
                  </a:lnTo>
                  <a:lnTo>
                    <a:pt x="54017" y="11192"/>
                  </a:lnTo>
                  <a:lnTo>
                    <a:pt x="44499" y="3200"/>
                  </a:lnTo>
                  <a:lnTo>
                    <a:pt x="326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77" name="object 242"/>
            <p:cNvSpPr/>
            <p:nvPr/>
          </p:nvSpPr>
          <p:spPr>
            <a:xfrm>
              <a:off x="6499785" y="4646784"/>
              <a:ext cx="60075" cy="62357"/>
            </a:xfrm>
            <a:custGeom>
              <a:avLst/>
              <a:gdLst/>
              <a:ahLst/>
              <a:cxnLst/>
              <a:rect l="l" t="t" r="r" b="b"/>
              <a:pathLst>
                <a:path w="61889" h="64446">
                  <a:moveTo>
                    <a:pt x="32626" y="0"/>
                  </a:moveTo>
                  <a:lnTo>
                    <a:pt x="18005" y="2913"/>
                  </a:lnTo>
                  <a:lnTo>
                    <a:pt x="6765" y="10862"/>
                  </a:lnTo>
                  <a:lnTo>
                    <a:pt x="0" y="22531"/>
                  </a:lnTo>
                  <a:lnTo>
                    <a:pt x="1444" y="39790"/>
                  </a:lnTo>
                  <a:lnTo>
                    <a:pt x="7222" y="52579"/>
                  </a:lnTo>
                  <a:lnTo>
                    <a:pt x="16343" y="60789"/>
                  </a:lnTo>
                  <a:lnTo>
                    <a:pt x="27813" y="64311"/>
                  </a:lnTo>
                  <a:lnTo>
                    <a:pt x="30767" y="64446"/>
                  </a:lnTo>
                  <a:lnTo>
                    <a:pt x="44623" y="61326"/>
                  </a:lnTo>
                  <a:lnTo>
                    <a:pt x="55475" y="52921"/>
                  </a:lnTo>
                  <a:lnTo>
                    <a:pt x="61889" y="40666"/>
                  </a:lnTo>
                  <a:lnTo>
                    <a:pt x="60156" y="23749"/>
                  </a:lnTo>
                  <a:lnTo>
                    <a:pt x="54017" y="11186"/>
                  </a:lnTo>
                  <a:lnTo>
                    <a:pt x="44498" y="3197"/>
                  </a:lnTo>
                  <a:lnTo>
                    <a:pt x="326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78" name="object 243"/>
            <p:cNvSpPr/>
            <p:nvPr/>
          </p:nvSpPr>
          <p:spPr>
            <a:xfrm>
              <a:off x="6569960" y="3819497"/>
              <a:ext cx="60075" cy="62357"/>
            </a:xfrm>
            <a:custGeom>
              <a:avLst/>
              <a:gdLst/>
              <a:ahLst/>
              <a:cxnLst/>
              <a:rect l="l" t="t" r="r" b="b"/>
              <a:pathLst>
                <a:path w="61889" h="64446">
                  <a:moveTo>
                    <a:pt x="32629" y="0"/>
                  </a:moveTo>
                  <a:lnTo>
                    <a:pt x="18005" y="2913"/>
                  </a:lnTo>
                  <a:lnTo>
                    <a:pt x="6764" y="10863"/>
                  </a:lnTo>
                  <a:lnTo>
                    <a:pt x="0" y="22530"/>
                  </a:lnTo>
                  <a:lnTo>
                    <a:pt x="1445" y="39789"/>
                  </a:lnTo>
                  <a:lnTo>
                    <a:pt x="7224" y="52579"/>
                  </a:lnTo>
                  <a:lnTo>
                    <a:pt x="16345" y="60789"/>
                  </a:lnTo>
                  <a:lnTo>
                    <a:pt x="27816" y="64311"/>
                  </a:lnTo>
                  <a:lnTo>
                    <a:pt x="30769" y="64446"/>
                  </a:lnTo>
                  <a:lnTo>
                    <a:pt x="44622" y="61326"/>
                  </a:lnTo>
                  <a:lnTo>
                    <a:pt x="55473" y="52923"/>
                  </a:lnTo>
                  <a:lnTo>
                    <a:pt x="61889" y="40666"/>
                  </a:lnTo>
                  <a:lnTo>
                    <a:pt x="60157" y="23749"/>
                  </a:lnTo>
                  <a:lnTo>
                    <a:pt x="54019" y="11187"/>
                  </a:lnTo>
                  <a:lnTo>
                    <a:pt x="44501" y="3198"/>
                  </a:lnTo>
                  <a:lnTo>
                    <a:pt x="326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79" name="object 244"/>
            <p:cNvSpPr/>
            <p:nvPr/>
          </p:nvSpPr>
          <p:spPr>
            <a:xfrm>
              <a:off x="7772107" y="3592909"/>
              <a:ext cx="60068" cy="62357"/>
            </a:xfrm>
            <a:custGeom>
              <a:avLst/>
              <a:gdLst/>
              <a:ahLst/>
              <a:cxnLst/>
              <a:rect l="l" t="t" r="r" b="b"/>
              <a:pathLst>
                <a:path w="61882" h="64446">
                  <a:moveTo>
                    <a:pt x="32618" y="0"/>
                  </a:moveTo>
                  <a:lnTo>
                    <a:pt x="17996" y="2914"/>
                  </a:lnTo>
                  <a:lnTo>
                    <a:pt x="6759" y="10865"/>
                  </a:lnTo>
                  <a:lnTo>
                    <a:pt x="0" y="22538"/>
                  </a:lnTo>
                  <a:lnTo>
                    <a:pt x="1445" y="39797"/>
                  </a:lnTo>
                  <a:lnTo>
                    <a:pt x="7223" y="52586"/>
                  </a:lnTo>
                  <a:lnTo>
                    <a:pt x="16345" y="60794"/>
                  </a:lnTo>
                  <a:lnTo>
                    <a:pt x="27818" y="64312"/>
                  </a:lnTo>
                  <a:lnTo>
                    <a:pt x="30759" y="64446"/>
                  </a:lnTo>
                  <a:lnTo>
                    <a:pt x="44620" y="61326"/>
                  </a:lnTo>
                  <a:lnTo>
                    <a:pt x="55470" y="52921"/>
                  </a:lnTo>
                  <a:lnTo>
                    <a:pt x="61882" y="40666"/>
                  </a:lnTo>
                  <a:lnTo>
                    <a:pt x="60150" y="23749"/>
                  </a:lnTo>
                  <a:lnTo>
                    <a:pt x="54013" y="11186"/>
                  </a:lnTo>
                  <a:lnTo>
                    <a:pt x="44494" y="3197"/>
                  </a:lnTo>
                  <a:lnTo>
                    <a:pt x="326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80" name="object 245"/>
            <p:cNvSpPr/>
            <p:nvPr/>
          </p:nvSpPr>
          <p:spPr>
            <a:xfrm>
              <a:off x="8050329" y="4448111"/>
              <a:ext cx="60072" cy="62368"/>
            </a:xfrm>
            <a:custGeom>
              <a:avLst/>
              <a:gdLst/>
              <a:ahLst/>
              <a:cxnLst/>
              <a:rect l="l" t="t" r="r" b="b"/>
              <a:pathLst>
                <a:path w="61886" h="64457">
                  <a:moveTo>
                    <a:pt x="32631" y="0"/>
                  </a:moveTo>
                  <a:lnTo>
                    <a:pt x="18007" y="2914"/>
                  </a:lnTo>
                  <a:lnTo>
                    <a:pt x="6766" y="10864"/>
                  </a:lnTo>
                  <a:lnTo>
                    <a:pt x="0" y="22530"/>
                  </a:lnTo>
                  <a:lnTo>
                    <a:pt x="1442" y="39788"/>
                  </a:lnTo>
                  <a:lnTo>
                    <a:pt x="7218" y="52580"/>
                  </a:lnTo>
                  <a:lnTo>
                    <a:pt x="16335" y="60795"/>
                  </a:lnTo>
                  <a:lnTo>
                    <a:pt x="27802" y="64321"/>
                  </a:lnTo>
                  <a:lnTo>
                    <a:pt x="30766" y="64457"/>
                  </a:lnTo>
                  <a:lnTo>
                    <a:pt x="44619" y="61336"/>
                  </a:lnTo>
                  <a:lnTo>
                    <a:pt x="55470" y="52929"/>
                  </a:lnTo>
                  <a:lnTo>
                    <a:pt x="61886" y="40673"/>
                  </a:lnTo>
                  <a:lnTo>
                    <a:pt x="60154" y="23759"/>
                  </a:lnTo>
                  <a:lnTo>
                    <a:pt x="54017" y="11195"/>
                  </a:lnTo>
                  <a:lnTo>
                    <a:pt x="44501" y="3201"/>
                  </a:lnTo>
                  <a:lnTo>
                    <a:pt x="326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81" name="object 246"/>
            <p:cNvSpPr/>
            <p:nvPr/>
          </p:nvSpPr>
          <p:spPr>
            <a:xfrm>
              <a:off x="8641310" y="4457676"/>
              <a:ext cx="60087" cy="62347"/>
            </a:xfrm>
            <a:custGeom>
              <a:avLst/>
              <a:gdLst/>
              <a:ahLst/>
              <a:cxnLst/>
              <a:rect l="l" t="t" r="r" b="b"/>
              <a:pathLst>
                <a:path w="61902" h="64435">
                  <a:moveTo>
                    <a:pt x="32630" y="0"/>
                  </a:moveTo>
                  <a:lnTo>
                    <a:pt x="18005" y="2912"/>
                  </a:lnTo>
                  <a:lnTo>
                    <a:pt x="6764" y="10859"/>
                  </a:lnTo>
                  <a:lnTo>
                    <a:pt x="0" y="22526"/>
                  </a:lnTo>
                  <a:lnTo>
                    <a:pt x="1445" y="39781"/>
                  </a:lnTo>
                  <a:lnTo>
                    <a:pt x="7224" y="52569"/>
                  </a:lnTo>
                  <a:lnTo>
                    <a:pt x="16347" y="60778"/>
                  </a:lnTo>
                  <a:lnTo>
                    <a:pt x="27823" y="64300"/>
                  </a:lnTo>
                  <a:lnTo>
                    <a:pt x="30781" y="64435"/>
                  </a:lnTo>
                  <a:lnTo>
                    <a:pt x="44635" y="61315"/>
                  </a:lnTo>
                  <a:lnTo>
                    <a:pt x="55488" y="52910"/>
                  </a:lnTo>
                  <a:lnTo>
                    <a:pt x="61902" y="40655"/>
                  </a:lnTo>
                  <a:lnTo>
                    <a:pt x="60168" y="23737"/>
                  </a:lnTo>
                  <a:lnTo>
                    <a:pt x="54027" y="11178"/>
                  </a:lnTo>
                  <a:lnTo>
                    <a:pt x="44505" y="3193"/>
                  </a:lnTo>
                  <a:lnTo>
                    <a:pt x="326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82" name="object 247"/>
            <p:cNvSpPr/>
            <p:nvPr/>
          </p:nvSpPr>
          <p:spPr>
            <a:xfrm>
              <a:off x="8212522" y="4330562"/>
              <a:ext cx="374632" cy="292734"/>
            </a:xfrm>
            <a:custGeom>
              <a:avLst/>
              <a:gdLst/>
              <a:ahLst/>
              <a:cxnLst/>
              <a:rect l="l" t="t" r="r" b="b"/>
              <a:pathLst>
                <a:path w="385945" h="302540">
                  <a:moveTo>
                    <a:pt x="0" y="302540"/>
                  </a:moveTo>
                  <a:lnTo>
                    <a:pt x="385945" y="302540"/>
                  </a:lnTo>
                  <a:lnTo>
                    <a:pt x="385945" y="0"/>
                  </a:lnTo>
                  <a:lnTo>
                    <a:pt x="0" y="0"/>
                  </a:lnTo>
                  <a:lnTo>
                    <a:pt x="0" y="3025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83" name="object 248"/>
            <p:cNvSpPr/>
            <p:nvPr/>
          </p:nvSpPr>
          <p:spPr>
            <a:xfrm>
              <a:off x="8212522" y="4330562"/>
              <a:ext cx="374632" cy="292734"/>
            </a:xfrm>
            <a:custGeom>
              <a:avLst/>
              <a:gdLst/>
              <a:ahLst/>
              <a:cxnLst/>
              <a:rect l="l" t="t" r="r" b="b"/>
              <a:pathLst>
                <a:path w="385945" h="302540">
                  <a:moveTo>
                    <a:pt x="0" y="302540"/>
                  </a:moveTo>
                  <a:lnTo>
                    <a:pt x="385945" y="302540"/>
                  </a:lnTo>
                  <a:lnTo>
                    <a:pt x="385945" y="0"/>
                  </a:lnTo>
                  <a:lnTo>
                    <a:pt x="0" y="0"/>
                  </a:lnTo>
                  <a:lnTo>
                    <a:pt x="0" y="302540"/>
                  </a:lnTo>
                  <a:close/>
                </a:path>
              </a:pathLst>
            </a:custGeom>
            <a:ln w="15716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84" name="object 249"/>
            <p:cNvSpPr txBox="1"/>
            <p:nvPr/>
          </p:nvSpPr>
          <p:spPr>
            <a:xfrm>
              <a:off x="8245826" y="4414677"/>
              <a:ext cx="315590" cy="11796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5" dirty="0" smtClean="0">
                  <a:latin typeface="Franklin Gothic Book"/>
                  <a:cs typeface="Franklin Gothic Book"/>
                </a:rPr>
                <a:t>ALUOut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285" name="object 250"/>
            <p:cNvSpPr txBox="1"/>
            <p:nvPr/>
          </p:nvSpPr>
          <p:spPr>
            <a:xfrm>
              <a:off x="2531160" y="4280353"/>
              <a:ext cx="580636" cy="26727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00" spc="20" dirty="0" smtClean="0">
                  <a:latin typeface="Franklin Gothic Demi"/>
                  <a:cs typeface="Franklin Gothic Demi"/>
                </a:rPr>
                <a:t>Memory</a:t>
              </a:r>
              <a:endParaRPr sz="700">
                <a:latin typeface="Franklin Gothic Demi"/>
                <a:cs typeface="Franklin Gothic Demi"/>
              </a:endParaRPr>
            </a:p>
            <a:p>
              <a:pPr marL="190500">
                <a:lnSpc>
                  <a:spcPct val="100000"/>
                </a:lnSpc>
                <a:spcBef>
                  <a:spcPts val="375"/>
                </a:spcBef>
              </a:pPr>
              <a:r>
                <a:rPr sz="700" spc="25" dirty="0" smtClean="0">
                  <a:latin typeface="Franklin Gothic Book"/>
                  <a:cs typeface="Franklin Gothic Book"/>
                </a:rPr>
                <a:t>MemData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286" name="object 251"/>
            <p:cNvSpPr txBox="1"/>
            <p:nvPr/>
          </p:nvSpPr>
          <p:spPr>
            <a:xfrm>
              <a:off x="2312785" y="4726576"/>
              <a:ext cx="227447" cy="19354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 marR="12700">
                <a:lnSpc>
                  <a:spcPts val="730"/>
                </a:lnSpc>
              </a:pPr>
              <a:r>
                <a:rPr sz="700" spc="15" dirty="0" smtClean="0">
                  <a:latin typeface="Franklin Gothic Book"/>
                  <a:cs typeface="Franklin Gothic Book"/>
                </a:rPr>
                <a:t>Write data</a:t>
              </a:r>
              <a:endParaRPr sz="700">
                <a:latin typeface="Franklin Gothic Book"/>
                <a:cs typeface="Franklin Gothic Book"/>
              </a:endParaRPr>
            </a:p>
          </p:txBody>
        </p:sp>
        <p:sp>
          <p:nvSpPr>
            <p:cNvPr id="287" name="object 252"/>
            <p:cNvSpPr txBox="1"/>
            <p:nvPr/>
          </p:nvSpPr>
          <p:spPr>
            <a:xfrm>
              <a:off x="2303429" y="4074613"/>
              <a:ext cx="348875" cy="12411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12700">
                <a:lnSpc>
                  <a:spcPct val="100000"/>
                </a:lnSpc>
              </a:pPr>
              <a:r>
                <a:rPr sz="750" spc="10" dirty="0" smtClean="0">
                  <a:latin typeface="Franklin Gothic Book"/>
                  <a:cs typeface="Franklin Gothic Book"/>
                </a:rPr>
                <a:t>Address</a:t>
              </a:r>
              <a:endParaRPr sz="750">
                <a:latin typeface="Franklin Gothic Book"/>
                <a:cs typeface="Franklin Gothic Book"/>
              </a:endParaRPr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 flipV="1">
              <a:off x="1175019" y="4128129"/>
              <a:ext cx="348745" cy="37991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4" name="TextBox 383"/>
          <p:cNvSpPr txBox="1"/>
          <p:nvPr/>
        </p:nvSpPr>
        <p:spPr>
          <a:xfrm>
            <a:off x="411903" y="6625354"/>
            <a:ext cx="89956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PC or Program Counter is an address.   It is the address of a register holding the address of the next instruction to be executed.</a:t>
            </a:r>
          </a:p>
          <a:p>
            <a:r>
              <a:rPr lang="en-US" dirty="0" smtClean="0"/>
              <a:t>The program counter is the hardware equivalent </a:t>
            </a:r>
            <a:r>
              <a:rPr lang="en-US" smtClean="0"/>
              <a:t>of a </a:t>
            </a:r>
            <a:r>
              <a:rPr lang="en-US" dirty="0" smtClean="0"/>
              <a:t>pointer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078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Handles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0" y="1949942"/>
            <a:ext cx="880976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02920" algn="l"/>
                <a:tab pos="3931920" algn="l"/>
              </a:tabLst>
            </a:pPr>
            <a:r>
              <a:rPr lang="en-US" sz="2400" dirty="0" smtClean="0">
                <a:latin typeface="Cambria"/>
              </a:rPr>
              <a:t>A handle is a pointer to a pointer</a:t>
            </a:r>
          </a:p>
          <a:p>
            <a:pPr>
              <a:tabLst>
                <a:tab pos="502920" algn="l"/>
                <a:tab pos="3931920" algn="l"/>
              </a:tabLst>
            </a:pPr>
            <a:endParaRPr lang="en-US" sz="2400" b="0" dirty="0">
              <a:latin typeface="Cambria"/>
            </a:endParaRPr>
          </a:p>
          <a:p>
            <a:pPr>
              <a:tabLst>
                <a:tab pos="502920" algn="l"/>
                <a:tab pos="3931920" algn="l"/>
              </a:tabLst>
            </a:pPr>
            <a:r>
              <a:rPr lang="en-US" sz="2400" dirty="0" smtClean="0">
                <a:latin typeface="Cambria"/>
              </a:rPr>
              <a:t>Handle &lt;= &amp; &amp; (variable)</a:t>
            </a:r>
          </a:p>
          <a:p>
            <a:pPr>
              <a:tabLst>
                <a:tab pos="502920" algn="l"/>
                <a:tab pos="3931920" algn="l"/>
              </a:tabLst>
            </a:pPr>
            <a:endParaRPr lang="en-US" sz="2400" b="0" dirty="0" smtClean="0">
              <a:latin typeface="Cambria"/>
            </a:endParaRPr>
          </a:p>
          <a:p>
            <a:pPr>
              <a:tabLst>
                <a:tab pos="502920" algn="l"/>
                <a:tab pos="3931920" algn="l"/>
              </a:tabLst>
            </a:pPr>
            <a:r>
              <a:rPr lang="en-US" sz="2400" dirty="0" smtClean="0">
                <a:latin typeface="Cambria"/>
              </a:rPr>
              <a:t>To get the contents pointed by the handle, we need to dereference twice:  handle -&gt; pointer -&gt; </a:t>
            </a:r>
            <a:r>
              <a:rPr lang="en-US" sz="2400" dirty="0" smtClean="0">
                <a:latin typeface="Cambria"/>
              </a:rPr>
              <a:t>contents</a:t>
            </a:r>
          </a:p>
          <a:p>
            <a:pPr>
              <a:tabLst>
                <a:tab pos="502920" algn="l"/>
                <a:tab pos="3931920" algn="l"/>
              </a:tabLst>
            </a:pPr>
            <a:endParaRPr lang="en-US" sz="2400" dirty="0">
              <a:latin typeface="Cambria"/>
            </a:endParaRPr>
          </a:p>
          <a:p>
            <a:pPr>
              <a:tabLst>
                <a:tab pos="502920" algn="l"/>
                <a:tab pos="3931920" algn="l"/>
              </a:tabLst>
            </a:pPr>
            <a:r>
              <a:rPr lang="en-US" sz="2400" dirty="0">
                <a:latin typeface="Cambria"/>
              </a:rPr>
              <a:t>We dereference using the </a:t>
            </a:r>
            <a:r>
              <a:rPr lang="en-US" sz="2400" dirty="0" smtClean="0">
                <a:latin typeface="Cambria"/>
              </a:rPr>
              <a:t>** operator (twice)</a:t>
            </a:r>
            <a:endParaRPr lang="en-US" sz="2400" dirty="0">
              <a:latin typeface="Cambria"/>
            </a:endParaRPr>
          </a:p>
          <a:p>
            <a:pPr>
              <a:tabLst>
                <a:tab pos="502920" algn="l"/>
                <a:tab pos="3931920" algn="l"/>
              </a:tabLst>
            </a:pPr>
            <a:endParaRPr lang="en-US" sz="2400" dirty="0">
              <a:latin typeface="Cambria"/>
            </a:endParaRPr>
          </a:p>
          <a:p>
            <a:pPr>
              <a:tabLst>
                <a:tab pos="502920" algn="l"/>
                <a:tab pos="3931920" algn="l"/>
              </a:tabLst>
            </a:pPr>
            <a:r>
              <a:rPr lang="en-US" sz="2400" dirty="0">
                <a:latin typeface="Cambria"/>
              </a:rPr>
              <a:t>c</a:t>
            </a:r>
            <a:r>
              <a:rPr lang="en-US" sz="2400" dirty="0" smtClean="0">
                <a:latin typeface="Cambria"/>
              </a:rPr>
              <a:t>ontents &lt;= (((handle)))</a:t>
            </a:r>
          </a:p>
          <a:p>
            <a:pPr>
              <a:tabLst>
                <a:tab pos="502920" algn="l"/>
                <a:tab pos="3931920" algn="l"/>
              </a:tabLst>
            </a:pPr>
            <a:endParaRPr lang="en-US" sz="2400" dirty="0">
              <a:latin typeface="Cambria"/>
            </a:endParaRPr>
          </a:p>
          <a:p>
            <a:pPr>
              <a:tabLst>
                <a:tab pos="502920" algn="l"/>
                <a:tab pos="3931920" algn="l"/>
              </a:tabLst>
            </a:pPr>
            <a:r>
              <a:rPr lang="en-US" sz="2400" dirty="0" smtClean="0">
                <a:latin typeface="Cambria"/>
              </a:rPr>
              <a:t>See </a:t>
            </a:r>
            <a:r>
              <a:rPr lang="en-US" sz="2400" dirty="0" smtClean="0">
                <a:latin typeface="Cambria"/>
              </a:rPr>
              <a:t>the </a:t>
            </a:r>
            <a:r>
              <a:rPr lang="en-US" sz="2400" dirty="0" err="1" smtClean="0">
                <a:latin typeface="Cambria"/>
              </a:rPr>
              <a:t>mempractice</a:t>
            </a:r>
            <a:r>
              <a:rPr lang="en-US" sz="2400" dirty="0" smtClean="0">
                <a:latin typeface="Cambria"/>
              </a:rPr>
              <a:t> </a:t>
            </a:r>
            <a:r>
              <a:rPr lang="en-US" sz="2400" dirty="0" smtClean="0">
                <a:latin typeface="Cambria"/>
              </a:rPr>
              <a:t>tool in pointer mode</a:t>
            </a:r>
          </a:p>
          <a:p>
            <a:pPr>
              <a:tabLst>
                <a:tab pos="502920" algn="l"/>
                <a:tab pos="3931920" algn="l"/>
              </a:tabLst>
            </a:pPr>
            <a:endParaRPr lang="en-US" sz="2400" b="0" dirty="0">
              <a:latin typeface="Cambria"/>
            </a:endParaRPr>
          </a:p>
          <a:p>
            <a:pPr>
              <a:tabLst>
                <a:tab pos="502920" algn="l"/>
                <a:tab pos="3931920" algn="l"/>
              </a:tabLst>
            </a:pPr>
            <a:endParaRPr lang="en-US" sz="2400" b="0" dirty="0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4589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Structs inside structs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108960" algn="l"/>
              </a:tabLst>
            </a:pPr>
            <a:r>
              <a:rPr sz="2600" b="0" dirty="0" err="1">
                <a:latin typeface="Cambria"/>
              </a:rPr>
              <a:t>struct</a:t>
            </a:r>
            <a:r>
              <a:rPr sz="2600" b="0" dirty="0">
                <a:latin typeface="Cambria"/>
              </a:rPr>
              <a:t> reading {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b="0" dirty="0">
                <a:latin typeface="Cambria"/>
              </a:rPr>
              <a:t>	</a:t>
            </a:r>
            <a:r>
              <a:rPr sz="2600" b="0" dirty="0" err="1">
                <a:latin typeface="Cambria"/>
              </a:rPr>
              <a:t>struct</a:t>
            </a:r>
            <a:r>
              <a:rPr sz="2600" b="0" dirty="0">
                <a:latin typeface="Cambria"/>
              </a:rPr>
              <a:t> sample	sample ;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b="0" dirty="0">
                <a:latin typeface="Cambria"/>
              </a:rPr>
              <a:t>	uint8_t	</a:t>
            </a:r>
            <a:r>
              <a:rPr sz="2600" b="0" dirty="0" err="1">
                <a:latin typeface="Cambria"/>
              </a:rPr>
              <a:t>sensor_id</a:t>
            </a:r>
            <a:r>
              <a:rPr sz="2600" b="0" dirty="0">
                <a:latin typeface="Cambria"/>
              </a:rPr>
              <a:t> ;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b="0" dirty="0">
                <a:latin typeface="Cambria"/>
              </a:rPr>
              <a:t>} ;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b="0" dirty="0">
                <a:latin typeface="Cambria"/>
              </a:rPr>
              <a:t>Reach in with more dots: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b="0" dirty="0">
                <a:latin typeface="Cambria"/>
              </a:rPr>
              <a:t>	</a:t>
            </a:r>
            <a:r>
              <a:rPr sz="2600" b="0" dirty="0" err="1">
                <a:latin typeface="Cambria"/>
              </a:rPr>
              <a:t>my_reading.sample.psi</a:t>
            </a:r>
            <a:endParaRPr sz="2600" b="0" dirty="0">
              <a:latin typeface="Cambria"/>
            </a:endParaRPr>
          </a:p>
          <a:p>
            <a:pPr>
              <a:tabLst>
                <a:tab pos="548640" algn="l"/>
                <a:tab pos="3108960" algn="l"/>
              </a:tabLst>
            </a:pPr>
            <a:r>
              <a:rPr sz="26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b="0" dirty="0">
                <a:latin typeface="Cambria"/>
              </a:rPr>
              <a:t>Still one block of memory, still fixed </a:t>
            </a:r>
            <a:r>
              <a:rPr sz="2600" b="0" dirty="0" smtClean="0">
                <a:latin typeface="Cambria"/>
              </a:rPr>
              <a:t>offsets</a:t>
            </a:r>
            <a:endParaRPr lang="en-US" sz="2600" b="0" dirty="0" smtClean="0">
              <a:latin typeface="Cambria"/>
            </a:endParaRPr>
          </a:p>
          <a:p>
            <a:pPr>
              <a:tabLst>
                <a:tab pos="548640" algn="l"/>
                <a:tab pos="3108960" algn="l"/>
              </a:tabLst>
            </a:pPr>
            <a:endParaRPr lang="en-US" sz="2600" dirty="0">
              <a:latin typeface="Cambria"/>
            </a:endParaRPr>
          </a:p>
          <a:p>
            <a:pPr>
              <a:tabLst>
                <a:tab pos="548640" algn="l"/>
                <a:tab pos="3108960" algn="l"/>
              </a:tabLst>
            </a:pPr>
            <a:r>
              <a:rPr lang="en-US" sz="2600" dirty="0" smtClean="0">
                <a:latin typeface="Cambria"/>
              </a:rPr>
              <a:t>Build complex objects </a:t>
            </a:r>
            <a:r>
              <a:rPr lang="en-US" sz="2600" smtClean="0">
                <a:latin typeface="Cambria"/>
              </a:rPr>
              <a:t>through hierarchy</a:t>
            </a:r>
            <a:endParaRPr sz="2600" b="0">
              <a:latin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Passing a struct to a function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02920" algn="l"/>
                <a:tab pos="4937760" algn="l"/>
              </a:tabLst>
            </a:pPr>
            <a:r>
              <a:rPr sz="2400" b="0">
                <a:latin typeface="Cambria"/>
              </a:rPr>
              <a:t>By value copies </a:t>
            </a:r>
            <a:r>
              <a:rPr sz="2400" b="1">
                <a:latin typeface="Cambria"/>
              </a:rPr>
              <a:t>every byte</a:t>
            </a:r>
            <a:r>
              <a:rPr sz="2400" b="0">
                <a:latin typeface="Cambria"/>
              </a:rPr>
              <a:t>:</a:t>
            </a:r>
          </a:p>
          <a:p>
            <a:pPr>
              <a:tabLst>
                <a:tab pos="502920" algn="l"/>
                <a:tab pos="4937760" algn="l"/>
              </a:tabLst>
            </a:pPr>
            <a:r>
              <a:rPr sz="2400" b="0">
                <a:latin typeface="Cambria"/>
              </a:rPr>
              <a:t>	void show(struct sample s) ;</a:t>
            </a:r>
          </a:p>
          <a:p>
            <a:pPr>
              <a:tabLst>
                <a:tab pos="502920" algn="l"/>
                <a:tab pos="49377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02920" algn="l"/>
                <a:tab pos="4937760" algn="l"/>
              </a:tabLst>
            </a:pPr>
            <a:r>
              <a:rPr sz="2400" b="0">
                <a:latin typeface="Cambria"/>
              </a:rPr>
              <a:t>Pass a pointer or reference instead:</a:t>
            </a:r>
          </a:p>
          <a:p>
            <a:pPr>
              <a:tabLst>
                <a:tab pos="502920" algn="l"/>
                <a:tab pos="4937760" algn="l"/>
              </a:tabLst>
            </a:pPr>
            <a:r>
              <a:rPr sz="2400" b="0">
                <a:latin typeface="Cambria"/>
              </a:rPr>
              <a:t>	void show(const struct sample *s) ;</a:t>
            </a:r>
          </a:p>
          <a:p>
            <a:pPr>
              <a:tabLst>
                <a:tab pos="502920" algn="l"/>
                <a:tab pos="4937760" algn="l"/>
              </a:tabLst>
            </a:pPr>
            <a:r>
              <a:rPr sz="2400" b="0">
                <a:latin typeface="Cambria"/>
              </a:rPr>
              <a:t>	void show(const sample &amp;s) ;	C++</a:t>
            </a:r>
          </a:p>
          <a:p>
            <a:pPr>
              <a:tabLst>
                <a:tab pos="502920" algn="l"/>
                <a:tab pos="4937760" algn="l"/>
              </a:tabLst>
            </a:pPr>
            <a:r>
              <a:rPr sz="2400" b="0">
                <a:latin typeface="Cambria"/>
              </a:rPr>
              <a:t>	fn show(s : &amp;Sample) { ... }	Rust</a:t>
            </a:r>
          </a:p>
          <a:p>
            <a:pPr>
              <a:tabLst>
                <a:tab pos="502920" algn="l"/>
                <a:tab pos="49377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02920" algn="l"/>
                <a:tab pos="4937760" algn="l"/>
              </a:tabLst>
            </a:pPr>
            <a:r>
              <a:rPr sz="2400" b="0">
                <a:latin typeface="Cambria"/>
              </a:rPr>
              <a:t>In Rust, passing by value </a:t>
            </a:r>
            <a:r>
              <a:rPr sz="2400" b="1">
                <a:latin typeface="Cambria"/>
              </a:rPr>
              <a:t>moves</a:t>
            </a:r>
            <a:r>
              <a:rPr sz="2400" b="0">
                <a:latin typeface="Cambria"/>
              </a:rPr>
              <a:t> ownership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Many of the Same Thing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mbria"/>
              </a:rPr>
              <a:t>One sample is not enough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We want the last </a:t>
            </a:r>
            <a:r>
              <a:rPr sz="2800" b="1" dirty="0">
                <a:latin typeface="Cambria"/>
              </a:rPr>
              <a:t>100</a:t>
            </a:r>
            <a:r>
              <a:rPr sz="2800" b="0" dirty="0">
                <a:latin typeface="Cambria"/>
              </a:rPr>
              <a:t> samples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Copy and paste 100 variable definitions?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my_sample_1, my_sample_2, ... my_sample_100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There must be a better 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Array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mbria"/>
              </a:rPr>
              <a:t>An </a:t>
            </a:r>
            <a:r>
              <a:rPr sz="2800" b="1" dirty="0">
                <a:latin typeface="Cambria"/>
              </a:rPr>
              <a:t>array</a:t>
            </a:r>
            <a:r>
              <a:rPr sz="2800" b="0" dirty="0">
                <a:latin typeface="Cambria"/>
              </a:rPr>
              <a:t> is N variables of the </a:t>
            </a:r>
            <a:r>
              <a:rPr sz="2800" b="1" dirty="0">
                <a:latin typeface="Cambria"/>
              </a:rPr>
              <a:t>same</a:t>
            </a:r>
            <a:r>
              <a:rPr sz="2800" b="0" dirty="0">
                <a:latin typeface="Cambria"/>
              </a:rPr>
              <a:t> type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Stored </a:t>
            </a:r>
            <a:r>
              <a:rPr sz="2800" b="1" dirty="0">
                <a:latin typeface="Cambria"/>
              </a:rPr>
              <a:t>consecutively</a:t>
            </a:r>
            <a:r>
              <a:rPr sz="2800" b="0" dirty="0">
                <a:latin typeface="Cambria"/>
              </a:rPr>
              <a:t> in memory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One name, one base address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Individual elements selected by an </a:t>
            </a:r>
            <a:r>
              <a:rPr sz="2800" b="1" dirty="0">
                <a:latin typeface="Cambria"/>
              </a:rPr>
              <a:t>index</a:t>
            </a:r>
          </a:p>
          <a:p>
            <a:r>
              <a:rPr sz="2800" dirty="0">
                <a:latin typeface="Cambria"/>
              </a:rPr>
              <a:t> </a:t>
            </a:r>
          </a:p>
          <a:p>
            <a:r>
              <a:rPr sz="2800" b="0" dirty="0">
                <a:latin typeface="Cambria"/>
              </a:rPr>
              <a:t>The index starts at </a:t>
            </a:r>
            <a:r>
              <a:rPr sz="2800" b="1" dirty="0">
                <a:latin typeface="Cambria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Declaring arrays in C and C++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554480" algn="l"/>
              </a:tabLst>
            </a:pPr>
            <a:r>
              <a:rPr sz="2600" b="0">
                <a:latin typeface="Cambria"/>
              </a:rPr>
              <a:t>uint32_t	counts[100] ;</a:t>
            </a:r>
          </a:p>
          <a:p>
            <a:pPr>
              <a:tabLst>
                <a:tab pos="1554480" algn="l"/>
              </a:tabLst>
            </a:pPr>
            <a:r>
              <a:rPr sz="2600" b="0">
                <a:latin typeface="Cambria"/>
              </a:rPr>
              <a:t>float	psi[100] = { 0.0f } ;</a:t>
            </a:r>
          </a:p>
          <a:p>
            <a:pPr>
              <a:tabLst>
                <a:tab pos="155448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1554480" algn="l"/>
              </a:tabLst>
            </a:pPr>
            <a:r>
              <a:rPr sz="2600" b="0">
                <a:latin typeface="Cambria"/>
              </a:rPr>
              <a:t>The length is part of the declaration</a:t>
            </a:r>
          </a:p>
          <a:p>
            <a:pPr>
              <a:tabLst>
                <a:tab pos="155448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1554480" algn="l"/>
              </a:tabLst>
            </a:pPr>
            <a:r>
              <a:rPr sz="2600" b="0">
                <a:latin typeface="Cambria"/>
              </a:rPr>
              <a:t>C++ also offers a safer array:</a:t>
            </a:r>
          </a:p>
          <a:p>
            <a:pPr>
              <a:tabLst>
                <a:tab pos="1554480" algn="l"/>
              </a:tabLst>
            </a:pPr>
            <a:r>
              <a:rPr sz="2600" b="0">
                <a:latin typeface="Cambria"/>
              </a:rPr>
              <a:t>	#include &lt;array&gt;</a:t>
            </a:r>
          </a:p>
          <a:p>
            <a:pPr>
              <a:tabLst>
                <a:tab pos="1554480" algn="l"/>
              </a:tabLst>
            </a:pPr>
            <a:r>
              <a:rPr sz="2600" b="0">
                <a:latin typeface="Cambria"/>
              </a:rPr>
              <a:t>	std::array&lt;uint32_t,100&gt; counts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Declaring arrays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103120" algn="l"/>
              </a:tabLst>
            </a:pPr>
            <a:r>
              <a:rPr sz="2600" b="0">
                <a:latin typeface="Cambria"/>
              </a:rPr>
              <a:t>let counts : [u32 ; 100] = [0 ; 100] ;</a:t>
            </a:r>
          </a:p>
          <a:p>
            <a:pPr>
              <a:tabLst>
                <a:tab pos="210312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2103120" algn="l"/>
              </a:tabLst>
            </a:pPr>
            <a:r>
              <a:rPr sz="2600" b="0">
                <a:latin typeface="Cambria"/>
              </a:rPr>
              <a:t>let mut psi : [f32 ; 100] = [0.0 ; 100] ;</a:t>
            </a:r>
          </a:p>
          <a:p>
            <a:pPr>
              <a:tabLst>
                <a:tab pos="210312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2103120" algn="l"/>
              </a:tabLst>
            </a:pPr>
            <a:r>
              <a:rPr sz="2600" b="0">
                <a:latin typeface="Cambria"/>
              </a:rPr>
              <a:t>The type is	[ type ; length ]</a:t>
            </a:r>
          </a:p>
          <a:p>
            <a:pPr>
              <a:tabLst>
                <a:tab pos="210312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2103120" algn="l"/>
              </a:tabLst>
            </a:pPr>
            <a:r>
              <a:rPr sz="2600" b="0">
                <a:latin typeface="Cambria"/>
              </a:rPr>
              <a:t>The </a:t>
            </a:r>
            <a:r>
              <a:rPr sz="2600" b="1">
                <a:latin typeface="Cambria"/>
              </a:rPr>
              <a:t>length is part of the type</a:t>
            </a:r>
          </a:p>
          <a:p>
            <a:pPr>
              <a:tabLst>
                <a:tab pos="210312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2103120" algn="l"/>
              </a:tabLst>
            </a:pPr>
            <a:r>
              <a:rPr sz="2600" b="0">
                <a:latin typeface="Cambria"/>
              </a:rPr>
              <a:t>[0 ; 100] means "the value 0, one hundred times"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Indexing starts at zero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103120" algn="l"/>
              </a:tabLst>
            </a:pPr>
            <a:r>
              <a:rPr sz="2600" b="0">
                <a:latin typeface="Cambria"/>
              </a:rPr>
              <a:t>counts[0]	the </a:t>
            </a:r>
            <a:r>
              <a:rPr sz="2600" b="1">
                <a:latin typeface="Cambria"/>
              </a:rPr>
              <a:t>first</a:t>
            </a:r>
            <a:r>
              <a:rPr sz="2600" b="0">
                <a:latin typeface="Cambria"/>
              </a:rPr>
              <a:t> element</a:t>
            </a:r>
          </a:p>
          <a:p>
            <a:pPr>
              <a:tabLst>
                <a:tab pos="2103120" algn="l"/>
              </a:tabLst>
            </a:pPr>
            <a:r>
              <a:rPr sz="2600" b="0">
                <a:latin typeface="Cambria"/>
              </a:rPr>
              <a:t>counts[99]	the </a:t>
            </a:r>
            <a:r>
              <a:rPr sz="2600" b="1">
                <a:latin typeface="Cambria"/>
              </a:rPr>
              <a:t>last</a:t>
            </a:r>
            <a:r>
              <a:rPr sz="2600" b="0">
                <a:latin typeface="Cambria"/>
              </a:rPr>
              <a:t> element</a:t>
            </a:r>
          </a:p>
          <a:p>
            <a:pPr>
              <a:tabLst>
                <a:tab pos="2103120" algn="l"/>
              </a:tabLst>
            </a:pPr>
            <a:r>
              <a:rPr sz="2600" b="0">
                <a:latin typeface="Cambria"/>
              </a:rPr>
              <a:t>counts[100]	does </a:t>
            </a:r>
            <a:r>
              <a:rPr sz="2600" b="1">
                <a:latin typeface="Cambria"/>
              </a:rPr>
              <a:t>not</a:t>
            </a:r>
            <a:r>
              <a:rPr sz="2600" b="0">
                <a:latin typeface="Cambria"/>
              </a:rPr>
              <a:t> exist</a:t>
            </a:r>
          </a:p>
          <a:p>
            <a:pPr>
              <a:tabLst>
                <a:tab pos="210312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2103120" algn="l"/>
              </a:tabLst>
            </a:pPr>
            <a:r>
              <a:rPr sz="2600" b="0">
                <a:latin typeface="Cambria"/>
              </a:rPr>
              <a:t>Why zero?</a:t>
            </a:r>
          </a:p>
          <a:p>
            <a:pPr>
              <a:tabLst>
                <a:tab pos="210312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2103120" algn="l"/>
              </a:tabLst>
            </a:pPr>
            <a:r>
              <a:rPr sz="2600" b="0">
                <a:latin typeface="Cambria"/>
              </a:rPr>
              <a:t>Because the index is an </a:t>
            </a:r>
            <a:r>
              <a:rPr sz="2600" b="1">
                <a:latin typeface="Cambria"/>
              </a:rPr>
              <a:t>offset</a:t>
            </a:r>
            <a:r>
              <a:rPr sz="2600" b="0">
                <a:latin typeface="Cambria"/>
              </a:rPr>
              <a:t> from the base address</a:t>
            </a:r>
          </a:p>
          <a:p>
            <a:pPr>
              <a:tabLst>
                <a:tab pos="210312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2103120" algn="l"/>
              </a:tabLst>
            </a:pPr>
            <a:r>
              <a:rPr sz="2600" b="0">
                <a:latin typeface="Cambria"/>
              </a:rPr>
              <a:t>Element 0 is 0 elements away from the start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An array in memory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address of element i  =  base + i * sizeof(element)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For uint32_t, every element is 4 bytes apart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685800" y="3703320"/>
            <a:ext cx="1234440" cy="713232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Cambria"/>
              </a:rPr>
              <a:t>counts[0]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685800" y="4507992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Cambria"/>
              </a:rPr>
              <a:t>0x1F899BC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685800" y="3392424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000000"/>
                </a:solidFill>
                <a:latin typeface="Cambria"/>
              </a:rPr>
              <a:t>i = 0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920240" y="3703320"/>
            <a:ext cx="1234440" cy="713232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Cambria"/>
              </a:rPr>
              <a:t>counts[1]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1920240" y="4507992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Cambria"/>
              </a:rPr>
              <a:t>0x1F899C0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920240" y="3392424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000000"/>
                </a:solidFill>
                <a:latin typeface="Cambria"/>
              </a:rPr>
              <a:t>i = 1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3154680" y="3703320"/>
            <a:ext cx="1234440" cy="713232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Cambria"/>
              </a:rPr>
              <a:t>counts[2]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3154680" y="4507992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Cambria"/>
              </a:rPr>
              <a:t>0x1F899C4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3154680" y="3392424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000000"/>
                </a:solidFill>
                <a:latin typeface="Cambria"/>
              </a:rPr>
              <a:t>i = 2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4389120" y="3703320"/>
            <a:ext cx="1234440" cy="713232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Cambria"/>
              </a:rPr>
              <a:t>counts[3]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4389120" y="4507992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Cambria"/>
              </a:rPr>
              <a:t>0x1F899C8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4389120" y="3392424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000000"/>
                </a:solidFill>
                <a:latin typeface="Cambria"/>
              </a:rPr>
              <a:t>i = 3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5623560" y="3703320"/>
            <a:ext cx="1234440" cy="713232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Cambria"/>
              </a:rPr>
              <a:t>counts[4]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5623560" y="4507992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Cambria"/>
              </a:rPr>
              <a:t>0x1F899CC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5623560" y="3392424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000000"/>
                </a:solidFill>
                <a:latin typeface="Cambria"/>
              </a:rPr>
              <a:t>i = 4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6858000" y="3703320"/>
            <a:ext cx="1234440" cy="713232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Cambria"/>
              </a:rPr>
              <a:t>counts[5]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6858000" y="4507992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Cambria"/>
              </a:rPr>
              <a:t>0x1F899D0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6858000" y="3392424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000000"/>
                </a:solidFill>
                <a:latin typeface="Cambria"/>
              </a:rPr>
              <a:t>i = 5</a:t>
            </a:r>
          </a:p>
        </p:txBody>
      </p:sp>
      <p:sp>
        <p:nvSpPr>
          <p:cNvPr id="407" name="Up Arrow 406"/>
          <p:cNvSpPr/>
          <p:nvPr/>
        </p:nvSpPr>
        <p:spPr>
          <a:xfrm>
            <a:off x="603504" y="4837176"/>
            <a:ext cx="164592" cy="274320"/>
          </a:xfrm>
          <a:prstGeom prst="upArrow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TextBox 407"/>
          <p:cNvSpPr txBox="1"/>
          <p:nvPr/>
        </p:nvSpPr>
        <p:spPr>
          <a:xfrm>
            <a:off x="868680" y="4855464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mbria"/>
              </a:rPr>
              <a:t>&amp;counts[0]  =  base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685800" y="5559552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mbria"/>
              </a:rPr>
              <a:t>&amp;counts[3]  =  base + 3 * 4  =  0x1F899C8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How many elements?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Cambria"/>
              </a:rPr>
              <a:t>C:</a:t>
            </a:r>
          </a:p>
          <a:p>
            <a:r>
              <a:rPr sz="2800" b="0">
                <a:latin typeface="Cambria"/>
              </a:rPr>
              <a:t>	sizeof(counts) / sizeof(counts[0])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C++ (std::array or std::vector):</a:t>
            </a:r>
          </a:p>
          <a:p>
            <a:r>
              <a:rPr sz="2800" b="0">
                <a:latin typeface="Cambria"/>
              </a:rPr>
              <a:t>	counts.size()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Rust:</a:t>
            </a:r>
          </a:p>
          <a:p>
            <a:r>
              <a:rPr sz="2800" b="0">
                <a:latin typeface="Cambria"/>
              </a:rPr>
              <a:t>	counts.len()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Out of bounds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Cambria"/>
              </a:rPr>
              <a:t>C and C++:  </a:t>
            </a:r>
            <a:r>
              <a:rPr sz="2400" b="1">
                <a:latin typeface="Cambria"/>
              </a:rPr>
              <a:t>no checking</a:t>
            </a:r>
          </a:p>
          <a:p>
            <a:r>
              <a:rPr sz="2400" b="0">
                <a:latin typeface="Cambria"/>
              </a:rPr>
              <a:t>	counts[100] reads or writes memory that is not yours</a:t>
            </a:r>
          </a:p>
          <a:p>
            <a:r>
              <a:rPr sz="2400" b="0">
                <a:latin typeface="Cambria"/>
              </a:rPr>
              <a:t>	Undefined behavior - may crash, may silently corrupt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Rust:  </a:t>
            </a:r>
            <a:r>
              <a:rPr sz="2400" b="1">
                <a:latin typeface="Cambria"/>
              </a:rPr>
              <a:t>checked at run time</a:t>
            </a:r>
          </a:p>
          <a:p>
            <a:r>
              <a:rPr sz="2400" b="0">
                <a:latin typeface="Cambria"/>
              </a:rPr>
              <a:t>	the program panics with a clear message and stops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This single difference is a large part of why Rust exists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Walking an array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Cambria"/>
              </a:rPr>
              <a:t>C and C++:</a:t>
            </a:r>
          </a:p>
          <a:p>
            <a:r>
              <a:rPr sz="2400" b="0">
                <a:latin typeface="Cambria"/>
              </a:rPr>
              <a:t>	for (int i = 0 ; i &lt; 100 ; i++) {</a:t>
            </a:r>
          </a:p>
          <a:p>
            <a:r>
              <a:rPr sz="2400" b="0">
                <a:latin typeface="Cambria"/>
              </a:rPr>
              <a:t>		psi[i] = adc_to_psi(counts[i]) ;</a:t>
            </a:r>
          </a:p>
          <a:p>
            <a:r>
              <a:rPr sz="2400" b="0">
                <a:latin typeface="Cambria"/>
              </a:rPr>
              <a:t>	}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Rust:</a:t>
            </a:r>
          </a:p>
          <a:p>
            <a:r>
              <a:rPr sz="2400" b="0">
                <a:latin typeface="Cambria"/>
              </a:rPr>
              <a:t>	for i in 0..100 {</a:t>
            </a:r>
          </a:p>
          <a:p>
            <a:r>
              <a:rPr sz="2400" b="0">
                <a:latin typeface="Cambria"/>
              </a:rPr>
              <a:t>		psi[i] = adc_to_psi(counts[i]) ;</a:t>
            </a:r>
          </a:p>
          <a:p>
            <a:r>
              <a:rPr sz="2400" b="0">
                <a:latin typeface="Cambria"/>
              </a:rPr>
              <a:t>	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Arrays of structs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371600" algn="l"/>
              </a:tabLst>
            </a:pPr>
            <a:r>
              <a:rPr sz="2400" b="0">
                <a:latin typeface="Cambria"/>
              </a:rPr>
              <a:t>Put the two ideas together:</a:t>
            </a:r>
          </a:p>
          <a:p>
            <a:pPr>
              <a:tabLst>
                <a:tab pos="137160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371600" algn="l"/>
              </a:tabLst>
            </a:pPr>
            <a:r>
              <a:rPr sz="2400" b="0">
                <a:latin typeface="Cambria"/>
              </a:rPr>
              <a:t>C, C++:	struct sample history[100] ;</a:t>
            </a:r>
          </a:p>
          <a:p>
            <a:pPr>
              <a:tabLst>
                <a:tab pos="1371600" algn="l"/>
              </a:tabLst>
            </a:pPr>
            <a:r>
              <a:rPr sz="2400" b="0">
                <a:latin typeface="Cambria"/>
              </a:rPr>
              <a:t>	history[7].psi = 50.0f ;</a:t>
            </a:r>
          </a:p>
          <a:p>
            <a:pPr>
              <a:tabLst>
                <a:tab pos="137160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371600" algn="l"/>
              </a:tabLst>
            </a:pPr>
            <a:r>
              <a:rPr sz="2400" b="0">
                <a:latin typeface="Cambria"/>
              </a:rPr>
              <a:t>Rust:	let mut history : [Sample ; 100] ;</a:t>
            </a:r>
          </a:p>
          <a:p>
            <a:pPr>
              <a:tabLst>
                <a:tab pos="1371600" algn="l"/>
              </a:tabLst>
            </a:pPr>
            <a:r>
              <a:rPr sz="2400" b="0">
                <a:latin typeface="Cambria"/>
              </a:rPr>
              <a:t>	history[7].psi = 50.0 ;</a:t>
            </a:r>
          </a:p>
          <a:p>
            <a:pPr>
              <a:tabLst>
                <a:tab pos="137160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371600" algn="l"/>
              </a:tabLst>
            </a:pPr>
            <a:r>
              <a:rPr sz="2400" b="0">
                <a:latin typeface="Cambria"/>
              </a:rPr>
              <a:t>Elements are sizeof(struct sample) bytes apart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Two dimensions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931920" algn="l"/>
              </a:tabLst>
            </a:pPr>
            <a:r>
              <a:rPr sz="2400" b="0">
                <a:latin typeface="Cambria"/>
              </a:rPr>
              <a:t>uint8_t image[3][4] ;	3 rows of 4</a:t>
            </a:r>
          </a:p>
          <a:p>
            <a:pPr>
              <a:tabLst>
                <a:tab pos="39319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931920" algn="l"/>
              </a:tabLst>
            </a:pPr>
            <a:r>
              <a:rPr sz="2400" b="0">
                <a:latin typeface="Cambria"/>
              </a:rPr>
              <a:t>let image : [[u8 ; 4] ; 3] ;	Rust</a:t>
            </a:r>
          </a:p>
          <a:p>
            <a:pPr>
              <a:tabLst>
                <a:tab pos="39319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931920" algn="l"/>
              </a:tabLst>
            </a:pPr>
            <a:r>
              <a:rPr sz="2400" b="0">
                <a:latin typeface="Cambria"/>
              </a:rPr>
              <a:t>Stored one row after another (</a:t>
            </a:r>
            <a:r>
              <a:rPr sz="2400" b="1">
                <a:latin typeface="Cambria"/>
              </a:rPr>
              <a:t>row major</a:t>
            </a:r>
            <a:r>
              <a:rPr sz="2400" b="0">
                <a:latin typeface="Cambria"/>
              </a:rPr>
              <a:t>)</a:t>
            </a:r>
          </a:p>
          <a:p>
            <a:pPr>
              <a:tabLst>
                <a:tab pos="39319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931920" algn="l"/>
              </a:tabLst>
            </a:pPr>
            <a:r>
              <a:rPr sz="2400" b="0">
                <a:latin typeface="Cambria"/>
              </a:rPr>
              <a:t>image[1][2] is at base + (1*4 + 2) bytes</a:t>
            </a:r>
          </a:p>
          <a:p>
            <a:pPr>
              <a:tabLst>
                <a:tab pos="39319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931920" algn="l"/>
              </a:tabLst>
            </a:pPr>
            <a:r>
              <a:rPr sz="2400" b="0">
                <a:latin typeface="Cambria"/>
              </a:rPr>
              <a:t>It is still one flat block of memory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When the size is not known yet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097280" algn="l"/>
              </a:tabLst>
            </a:pPr>
            <a:r>
              <a:rPr sz="2400" b="0">
                <a:latin typeface="Cambria"/>
              </a:rPr>
              <a:t>C:	malloc / free  (later lecture)</a:t>
            </a:r>
          </a:p>
          <a:p>
            <a:pPr>
              <a:tabLst>
                <a:tab pos="109728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097280" algn="l"/>
              </a:tabLst>
            </a:pPr>
            <a:r>
              <a:rPr sz="2400" b="0">
                <a:latin typeface="Cambria"/>
              </a:rPr>
              <a:t>C++:	#include &lt;vector&gt;</a:t>
            </a:r>
          </a:p>
          <a:p>
            <a:pPr>
              <a:tabLst>
                <a:tab pos="1097280" algn="l"/>
              </a:tabLst>
            </a:pPr>
            <a:r>
              <a:rPr sz="2400" b="0">
                <a:latin typeface="Cambria"/>
              </a:rPr>
              <a:t>	std::vector&lt;uint32_t&gt; counts ;</a:t>
            </a:r>
          </a:p>
          <a:p>
            <a:pPr>
              <a:tabLst>
                <a:tab pos="1097280" algn="l"/>
              </a:tabLst>
            </a:pPr>
            <a:r>
              <a:rPr sz="2400" b="0">
                <a:latin typeface="Cambria"/>
              </a:rPr>
              <a:t>	counts.push_back(1456) ;</a:t>
            </a:r>
          </a:p>
          <a:p>
            <a:pPr>
              <a:tabLst>
                <a:tab pos="109728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097280" algn="l"/>
              </a:tabLst>
            </a:pPr>
            <a:r>
              <a:rPr sz="2400" b="0">
                <a:latin typeface="Cambria"/>
              </a:rPr>
              <a:t>Rust:	let mut counts : Vec&lt;u32&gt; = Vec::new() ;</a:t>
            </a:r>
          </a:p>
          <a:p>
            <a:pPr>
              <a:tabLst>
                <a:tab pos="1097280" algn="l"/>
              </a:tabLst>
            </a:pPr>
            <a:r>
              <a:rPr sz="2400" b="0">
                <a:latin typeface="Cambria"/>
              </a:rPr>
              <a:t>	counts.push(1456)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Now Let Us Look Inside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dirty="0">
                <a:latin typeface="Cambria"/>
              </a:rPr>
              <a:t>You can now describe </a:t>
            </a:r>
            <a:r>
              <a:rPr sz="2600" b="1" dirty="0">
                <a:latin typeface="Cambria"/>
              </a:rPr>
              <a:t>structures</a:t>
            </a:r>
            <a:r>
              <a:rPr sz="2600" b="0" dirty="0">
                <a:latin typeface="Cambria"/>
              </a:rPr>
              <a:t> of memory</a:t>
            </a:r>
          </a:p>
          <a:p>
            <a:r>
              <a:rPr sz="2600" dirty="0">
                <a:latin typeface="Cambria"/>
              </a:rPr>
              <a:t> </a:t>
            </a:r>
          </a:p>
          <a:p>
            <a:r>
              <a:rPr sz="2600" b="0" dirty="0">
                <a:latin typeface="Cambria"/>
              </a:rPr>
              <a:t>How do you </a:t>
            </a:r>
            <a:r>
              <a:rPr sz="2600" b="1" dirty="0">
                <a:latin typeface="Cambria"/>
              </a:rPr>
              <a:t>see</a:t>
            </a:r>
            <a:r>
              <a:rPr sz="2600" b="0" dirty="0">
                <a:latin typeface="Cambria"/>
              </a:rPr>
              <a:t> them while the program runs?</a:t>
            </a:r>
          </a:p>
          <a:p>
            <a:r>
              <a:rPr sz="2600" dirty="0">
                <a:latin typeface="Cambria"/>
              </a:rPr>
              <a:t> </a:t>
            </a:r>
          </a:p>
          <a:p>
            <a:r>
              <a:rPr sz="2600" b="0" dirty="0" err="1">
                <a:latin typeface="Cambria"/>
              </a:rPr>
              <a:t>printf</a:t>
            </a:r>
            <a:r>
              <a:rPr sz="2600" b="0" dirty="0">
                <a:latin typeface="Cambria"/>
              </a:rPr>
              <a:t> tells you what you decided to ask about</a:t>
            </a:r>
          </a:p>
          <a:p>
            <a:r>
              <a:rPr sz="2600" b="1" dirty="0">
                <a:latin typeface="Cambria"/>
              </a:rPr>
              <a:t>before</a:t>
            </a:r>
            <a:r>
              <a:rPr sz="2600" b="0" dirty="0">
                <a:latin typeface="Cambria"/>
              </a:rPr>
              <a:t> you knew what was wrong</a:t>
            </a:r>
          </a:p>
          <a:p>
            <a:r>
              <a:rPr sz="2600" dirty="0">
                <a:latin typeface="Cambria"/>
              </a:rPr>
              <a:t> </a:t>
            </a:r>
          </a:p>
          <a:p>
            <a:r>
              <a:rPr sz="2600" b="0" dirty="0">
                <a:latin typeface="Cambria"/>
              </a:rPr>
              <a:t>A </a:t>
            </a:r>
            <a:r>
              <a:rPr sz="2600" b="1" dirty="0">
                <a:latin typeface="Cambria"/>
              </a:rPr>
              <a:t>debugger</a:t>
            </a:r>
            <a:r>
              <a:rPr sz="2600" b="0" dirty="0">
                <a:latin typeface="Cambria"/>
              </a:rPr>
              <a:t> lets you stop and look at anything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a debugger does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latin typeface="Cambria"/>
              </a:rPr>
              <a:t>Loads your program but keeps </a:t>
            </a:r>
            <a:r>
              <a:rPr sz="2400" b="1" dirty="0">
                <a:latin typeface="Cambria"/>
              </a:rPr>
              <a:t>control</a:t>
            </a:r>
            <a:r>
              <a:rPr sz="2400" b="0" dirty="0">
                <a:latin typeface="Cambria"/>
              </a:rPr>
              <a:t> of it</a:t>
            </a:r>
          </a:p>
          <a:p>
            <a:r>
              <a:rPr sz="2400" dirty="0">
                <a:latin typeface="Cambria"/>
              </a:rPr>
              <a:t> </a:t>
            </a:r>
          </a:p>
          <a:p>
            <a:r>
              <a:rPr sz="2400" b="0" dirty="0">
                <a:latin typeface="Cambria"/>
              </a:rPr>
              <a:t>Stops it where you choose  (</a:t>
            </a:r>
            <a:r>
              <a:rPr sz="2400" b="1" dirty="0">
                <a:latin typeface="Cambria"/>
              </a:rPr>
              <a:t>breakpoints</a:t>
            </a:r>
            <a:r>
              <a:rPr sz="2400" b="0" dirty="0">
                <a:latin typeface="Cambria"/>
              </a:rPr>
              <a:t>)</a:t>
            </a:r>
          </a:p>
          <a:p>
            <a:r>
              <a:rPr sz="2400" dirty="0">
                <a:latin typeface="Cambria"/>
              </a:rPr>
              <a:t> </a:t>
            </a:r>
          </a:p>
          <a:p>
            <a:r>
              <a:rPr sz="2400" b="0" dirty="0">
                <a:latin typeface="Cambria"/>
              </a:rPr>
              <a:t>Reads the memory of the stopped program</a:t>
            </a:r>
          </a:p>
          <a:p>
            <a:r>
              <a:rPr sz="2400" dirty="0">
                <a:latin typeface="Cambria"/>
              </a:rPr>
              <a:t> </a:t>
            </a:r>
          </a:p>
          <a:p>
            <a:r>
              <a:rPr sz="2400" b="0" dirty="0">
                <a:latin typeface="Cambria"/>
              </a:rPr>
              <a:t>Uses the </a:t>
            </a:r>
            <a:r>
              <a:rPr sz="2400" b="1" dirty="0">
                <a:latin typeface="Cambria"/>
              </a:rPr>
              <a:t>symbol table</a:t>
            </a:r>
            <a:r>
              <a:rPr sz="2400" b="0" dirty="0">
                <a:latin typeface="Cambria"/>
              </a:rPr>
              <a:t> to turn addresses back into names</a:t>
            </a:r>
          </a:p>
          <a:p>
            <a:r>
              <a:rPr sz="2400" dirty="0">
                <a:latin typeface="Cambria"/>
              </a:rPr>
              <a:t> </a:t>
            </a:r>
          </a:p>
          <a:p>
            <a:r>
              <a:rPr sz="2400" b="0" dirty="0">
                <a:latin typeface="Cambria"/>
              </a:rPr>
              <a:t>Shows a variable as its </a:t>
            </a:r>
            <a:r>
              <a:rPr sz="2400" b="1" dirty="0">
                <a:latin typeface="Cambria"/>
              </a:rPr>
              <a:t>type</a:t>
            </a:r>
            <a:r>
              <a:rPr sz="2400" b="0" dirty="0">
                <a:latin typeface="Cambria"/>
              </a:rPr>
              <a:t>, not as raw bytes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Debug information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657600" algn="l"/>
              </a:tabLst>
            </a:pPr>
            <a:r>
              <a:rPr sz="2200" b="0">
                <a:latin typeface="Cambria"/>
              </a:rPr>
              <a:t>The symbol table and type descriptions are placed in the</a:t>
            </a:r>
          </a:p>
          <a:p>
            <a:pPr>
              <a:tabLst>
                <a:tab pos="548640" algn="l"/>
                <a:tab pos="3657600" algn="l"/>
              </a:tabLst>
            </a:pPr>
            <a:r>
              <a:rPr sz="2200" b="0">
                <a:latin typeface="Cambria"/>
              </a:rPr>
              <a:t>executable by the compiler.  The format is called </a:t>
            </a:r>
            <a:r>
              <a:rPr sz="2200" b="1">
                <a:latin typeface="Cambria"/>
              </a:rPr>
              <a:t>DWARF</a:t>
            </a:r>
          </a:p>
          <a:p>
            <a:pPr>
              <a:tabLst>
                <a:tab pos="548640" algn="l"/>
                <a:tab pos="365760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3657600" algn="l"/>
              </a:tabLst>
            </a:pPr>
            <a:r>
              <a:rPr sz="2200" b="0">
                <a:latin typeface="Cambria"/>
              </a:rPr>
              <a:t>You have to ask for it:</a:t>
            </a:r>
          </a:p>
          <a:p>
            <a:pPr>
              <a:tabLst>
                <a:tab pos="548640" algn="l"/>
                <a:tab pos="365760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3657600" algn="l"/>
              </a:tabLst>
            </a:pPr>
            <a:r>
              <a:rPr sz="2200" b="0">
                <a:latin typeface="Cambria"/>
              </a:rPr>
              <a:t>	gcc -g -O0 main.c	-o main</a:t>
            </a:r>
          </a:p>
          <a:p>
            <a:pPr>
              <a:tabLst>
                <a:tab pos="548640" algn="l"/>
                <a:tab pos="3657600" algn="l"/>
              </a:tabLst>
            </a:pPr>
            <a:r>
              <a:rPr sz="2200" b="0">
                <a:latin typeface="Cambria"/>
              </a:rPr>
              <a:t>	g++ -g -O0 main.cpp	-o main</a:t>
            </a:r>
          </a:p>
          <a:p>
            <a:pPr>
              <a:tabLst>
                <a:tab pos="548640" algn="l"/>
                <a:tab pos="3657600" algn="l"/>
              </a:tabLst>
            </a:pPr>
            <a:r>
              <a:rPr sz="2200" b="0">
                <a:latin typeface="Cambria"/>
              </a:rPr>
              <a:t>	cargo build	(dev profile has -g)</a:t>
            </a:r>
          </a:p>
          <a:p>
            <a:pPr>
              <a:tabLst>
                <a:tab pos="548640" algn="l"/>
                <a:tab pos="365760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3657600" algn="l"/>
              </a:tabLst>
            </a:pPr>
            <a:r>
              <a:rPr sz="2200" b="1">
                <a:latin typeface="Cambria"/>
              </a:rPr>
              <a:t>-O0</a:t>
            </a:r>
            <a:r>
              <a:rPr sz="2200" b="0">
                <a:latin typeface="Cambria"/>
              </a:rPr>
              <a:t> turns off optimization so the code matches your source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tools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latin typeface="Cambria"/>
              </a:rPr>
              <a:t>gdb</a:t>
            </a:r>
            <a:r>
              <a:rPr sz="2200" b="0">
                <a:latin typeface="Cambria"/>
              </a:rPr>
              <a:t>  -  GNU debugger, Linux and embedded targets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1">
                <a:latin typeface="Cambria"/>
              </a:rPr>
              <a:t>lldb</a:t>
            </a:r>
            <a:r>
              <a:rPr sz="2200" b="0">
                <a:latin typeface="Cambria"/>
              </a:rPr>
              <a:t>  -  LLVM debugger, the default on macOS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1">
                <a:latin typeface="Cambria"/>
              </a:rPr>
              <a:t>rust-gdb / rust-lldb</a:t>
            </a:r>
            <a:r>
              <a:rPr sz="2200" b="0">
                <a:latin typeface="Cambria"/>
              </a:rPr>
              <a:t>  -  add Rust pretty printers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1">
                <a:latin typeface="Cambria"/>
              </a:rPr>
              <a:t>VS Code</a:t>
            </a:r>
            <a:r>
              <a:rPr sz="2200" b="0">
                <a:latin typeface="Cambria"/>
              </a:rPr>
              <a:t>  -  a graphical front end for all of them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All of them do the same job with different spelling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Starting a session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	gcc -g -O0 main.c -o main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	gdb ./main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	(gdb) break main</a:t>
            </a:r>
          </a:p>
          <a:p>
            <a:r>
              <a:rPr sz="2600" b="0">
                <a:latin typeface="Cambria"/>
              </a:rPr>
              <a:t>	(gdb) run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The program stops at the first line of main</a:t>
            </a:r>
          </a:p>
          <a:p>
            <a:r>
              <a:rPr sz="2600" b="0">
                <a:latin typeface="Cambria"/>
              </a:rPr>
              <a:t>and hands control back to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Everyday gdb Commands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017520" algn="l"/>
              </a:tabLst>
            </a:pPr>
            <a:r>
              <a:rPr sz="2400" b="0">
                <a:latin typeface="Cambria"/>
              </a:rPr>
              <a:t>Controlling the program:</a:t>
            </a:r>
          </a:p>
          <a:p>
            <a:pPr>
              <a:tabLst>
                <a:tab pos="30175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017520" algn="l"/>
              </a:tabLst>
            </a:pPr>
            <a:r>
              <a:rPr sz="2400" b="0">
                <a:latin typeface="Cambria"/>
              </a:rPr>
              <a:t>break &lt;file:line&gt;	set a breakpoint</a:t>
            </a:r>
          </a:p>
          <a:p>
            <a:pPr>
              <a:tabLst>
                <a:tab pos="3017520" algn="l"/>
              </a:tabLst>
            </a:pPr>
            <a:r>
              <a:rPr sz="2400" b="0">
                <a:latin typeface="Cambria"/>
              </a:rPr>
              <a:t>run	start the program</a:t>
            </a:r>
          </a:p>
          <a:p>
            <a:pPr>
              <a:tabLst>
                <a:tab pos="3017520" algn="l"/>
              </a:tabLst>
            </a:pPr>
            <a:r>
              <a:rPr sz="2400" b="0">
                <a:latin typeface="Cambria"/>
              </a:rPr>
              <a:t>next	run one line, step </a:t>
            </a:r>
            <a:r>
              <a:rPr sz="2400" b="1">
                <a:latin typeface="Cambria"/>
              </a:rPr>
              <a:t>over</a:t>
            </a:r>
            <a:r>
              <a:rPr sz="2400" b="0">
                <a:latin typeface="Cambria"/>
              </a:rPr>
              <a:t> calls</a:t>
            </a:r>
          </a:p>
          <a:p>
            <a:pPr>
              <a:tabLst>
                <a:tab pos="3017520" algn="l"/>
              </a:tabLst>
            </a:pPr>
            <a:r>
              <a:rPr sz="2400" b="0">
                <a:latin typeface="Cambria"/>
              </a:rPr>
              <a:t>step	run one line, step </a:t>
            </a:r>
            <a:r>
              <a:rPr sz="2400" b="1">
                <a:latin typeface="Cambria"/>
              </a:rPr>
              <a:t>into</a:t>
            </a:r>
            <a:r>
              <a:rPr sz="2400" b="0">
                <a:latin typeface="Cambria"/>
              </a:rPr>
              <a:t> calls</a:t>
            </a:r>
          </a:p>
          <a:p>
            <a:pPr>
              <a:tabLst>
                <a:tab pos="3017520" algn="l"/>
              </a:tabLst>
            </a:pPr>
            <a:r>
              <a:rPr sz="2400" b="0">
                <a:latin typeface="Cambria"/>
              </a:rPr>
              <a:t>continue	run to the next breakpoint</a:t>
            </a:r>
          </a:p>
          <a:p>
            <a:pPr>
              <a:tabLst>
                <a:tab pos="3017520" algn="l"/>
              </a:tabLst>
            </a:pPr>
            <a:r>
              <a:rPr sz="2400" b="0">
                <a:latin typeface="Cambria"/>
              </a:rPr>
              <a:t>finish	run until this function returns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Everyday gdb Commands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017520" algn="l"/>
              </a:tabLst>
            </a:pPr>
            <a:r>
              <a:rPr sz="2400" b="0">
                <a:latin typeface="Cambria"/>
              </a:rPr>
              <a:t>Looking around:</a:t>
            </a:r>
          </a:p>
          <a:p>
            <a:pPr>
              <a:tabLst>
                <a:tab pos="30175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017520" algn="l"/>
              </a:tabLst>
            </a:pPr>
            <a:r>
              <a:rPr sz="2400" b="0">
                <a:latin typeface="Cambria"/>
              </a:rPr>
              <a:t>print &lt;expr&gt;	show a value</a:t>
            </a:r>
          </a:p>
          <a:p>
            <a:pPr>
              <a:tabLst>
                <a:tab pos="3017520" algn="l"/>
              </a:tabLst>
            </a:pPr>
            <a:r>
              <a:rPr sz="2400" b="0">
                <a:latin typeface="Cambria"/>
              </a:rPr>
              <a:t>info locals	show every local variable</a:t>
            </a:r>
          </a:p>
          <a:p>
            <a:pPr>
              <a:tabLst>
                <a:tab pos="3017520" algn="l"/>
              </a:tabLst>
            </a:pPr>
            <a:r>
              <a:rPr sz="2400" b="0">
                <a:latin typeface="Cambria"/>
              </a:rPr>
              <a:t>backtrace	show the call stack</a:t>
            </a:r>
          </a:p>
          <a:p>
            <a:pPr>
              <a:tabLst>
                <a:tab pos="3017520" algn="l"/>
              </a:tabLst>
            </a:pPr>
            <a:r>
              <a:rPr sz="2400" b="0">
                <a:latin typeface="Cambria"/>
              </a:rPr>
              <a:t>list	show the source</a:t>
            </a:r>
          </a:p>
          <a:p>
            <a:pPr>
              <a:tabLst>
                <a:tab pos="3017520" algn="l"/>
              </a:tabLst>
            </a:pPr>
            <a:r>
              <a:rPr sz="2400" b="0">
                <a:latin typeface="Cambria"/>
              </a:rPr>
              <a:t>quit	leave the debugger</a:t>
            </a:r>
          </a:p>
          <a:p>
            <a:pPr>
              <a:tabLst>
                <a:tab pos="30175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017520" algn="l"/>
              </a:tabLst>
            </a:pPr>
            <a:r>
              <a:rPr sz="2400" b="0">
                <a:latin typeface="Cambria"/>
              </a:rPr>
              <a:t>Short forms:  b  r  n  s  c  bt  p  l  q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Looking at a variable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Cambria"/>
              </a:rPr>
              <a:t>(gdb) </a:t>
            </a:r>
            <a:r>
              <a:rPr sz="2200" b="1">
                <a:latin typeface="Cambria"/>
              </a:rPr>
              <a:t>print</a:t>
            </a:r>
            <a:r>
              <a:rPr sz="2200" b="0">
                <a:latin typeface="Cambria"/>
              </a:rPr>
              <a:t> my_integer</a:t>
            </a:r>
          </a:p>
          <a:p>
            <a:r>
              <a:rPr sz="2200" b="0">
                <a:latin typeface="Cambria"/>
              </a:rPr>
              <a:t>$1 = 55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(gdb) </a:t>
            </a:r>
            <a:r>
              <a:rPr sz="2200" b="1">
                <a:latin typeface="Cambria"/>
              </a:rPr>
              <a:t>print/x</a:t>
            </a:r>
            <a:r>
              <a:rPr sz="2200" b="0">
                <a:latin typeface="Cambria"/>
              </a:rPr>
              <a:t> my_integer</a:t>
            </a:r>
          </a:p>
          <a:p>
            <a:r>
              <a:rPr sz="2200" b="0">
                <a:latin typeface="Cambria"/>
              </a:rPr>
              <a:t>$2 = 0x37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(gdb) </a:t>
            </a:r>
            <a:r>
              <a:rPr sz="2200" b="1">
                <a:latin typeface="Cambria"/>
              </a:rPr>
              <a:t>print</a:t>
            </a:r>
            <a:r>
              <a:rPr sz="2200" b="0">
                <a:latin typeface="Cambria"/>
              </a:rPr>
              <a:t> &amp;my_integer</a:t>
            </a:r>
          </a:p>
          <a:p>
            <a:r>
              <a:rPr sz="2200" b="0">
                <a:latin typeface="Cambria"/>
              </a:rPr>
              <a:t>$3 = (int64_t *) 0x7ffd1f899bc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Contents and address - the two ideas from lecture 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Looking at a struct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Cambria"/>
              </a:rPr>
              <a:t>(gdb) </a:t>
            </a:r>
            <a:r>
              <a:rPr sz="2000" b="1">
                <a:latin typeface="Cambria"/>
              </a:rPr>
              <a:t>print</a:t>
            </a:r>
            <a:r>
              <a:rPr sz="2000" b="0">
                <a:latin typeface="Cambria"/>
              </a:rPr>
              <a:t> my_sample</a:t>
            </a:r>
          </a:p>
          <a:p>
            <a:r>
              <a:rPr sz="2000" b="0">
                <a:latin typeface="Cambria"/>
              </a:rPr>
              <a:t>$1 = {adc_counts = 1456, psi = 50, timestamp_ms = 12345}</a:t>
            </a:r>
          </a:p>
          <a:p>
            <a:r>
              <a:rPr sz="2000">
                <a:latin typeface="Cambria"/>
              </a:rPr>
              <a:t> </a:t>
            </a:r>
          </a:p>
          <a:p>
            <a:r>
              <a:rPr sz="2000" b="0">
                <a:latin typeface="Cambria"/>
              </a:rPr>
              <a:t>(gdb) </a:t>
            </a:r>
            <a:r>
              <a:rPr sz="2000" b="1">
                <a:latin typeface="Cambria"/>
              </a:rPr>
              <a:t>print</a:t>
            </a:r>
            <a:r>
              <a:rPr sz="2000" b="0">
                <a:latin typeface="Cambria"/>
              </a:rPr>
              <a:t> my_sample.psi</a:t>
            </a:r>
          </a:p>
          <a:p>
            <a:r>
              <a:rPr sz="2000" b="0">
                <a:latin typeface="Cambria"/>
              </a:rPr>
              <a:t>$2 = 50</a:t>
            </a:r>
          </a:p>
          <a:p>
            <a:r>
              <a:rPr sz="2000">
                <a:latin typeface="Cambria"/>
              </a:rPr>
              <a:t> </a:t>
            </a:r>
          </a:p>
          <a:p>
            <a:r>
              <a:rPr sz="2000" b="0">
                <a:latin typeface="Cambria"/>
              </a:rPr>
              <a:t>One command prints the </a:t>
            </a:r>
            <a:r>
              <a:rPr sz="2000" b="1">
                <a:latin typeface="Cambria"/>
              </a:rPr>
              <a:t>whole structure</a:t>
            </a:r>
            <a:r>
              <a:rPr sz="2000" b="0">
                <a:latin typeface="Cambria"/>
              </a:rPr>
              <a:t>, with names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type is it?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Cambria"/>
              </a:rPr>
              <a:t>(gdb) </a:t>
            </a:r>
            <a:r>
              <a:rPr sz="2200" b="1">
                <a:latin typeface="Cambria"/>
              </a:rPr>
              <a:t>ptype</a:t>
            </a:r>
            <a:r>
              <a:rPr sz="2200" b="0">
                <a:latin typeface="Cambria"/>
              </a:rPr>
              <a:t> my_sample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type = struct sample {</a:t>
            </a:r>
          </a:p>
          <a:p>
            <a:r>
              <a:rPr sz="2200" b="0">
                <a:latin typeface="Cambria"/>
              </a:rPr>
              <a:t>    uint32_t adc_counts;</a:t>
            </a:r>
          </a:p>
          <a:p>
            <a:r>
              <a:rPr sz="2200" b="0">
                <a:latin typeface="Cambria"/>
              </a:rPr>
              <a:t>    float psi;</a:t>
            </a:r>
          </a:p>
          <a:p>
            <a:r>
              <a:rPr sz="2200" b="0">
                <a:latin typeface="Cambria"/>
              </a:rPr>
              <a:t>    uint64_t timestamp_ms;</a:t>
            </a:r>
          </a:p>
          <a:p>
            <a:r>
              <a:rPr sz="2200" b="0">
                <a:latin typeface="Cambria"/>
              </a:rPr>
              <a:t>}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The debugger knows this from the </a:t>
            </a:r>
            <a:r>
              <a:rPr sz="2200" b="1">
                <a:latin typeface="Cambria"/>
              </a:rPr>
              <a:t>DWARF</a:t>
            </a:r>
            <a:r>
              <a:rPr sz="2200" b="0">
                <a:latin typeface="Cambria"/>
              </a:rPr>
              <a:t>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Looking at an array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Cambria"/>
              </a:rPr>
              <a:t>(gdb) </a:t>
            </a:r>
            <a:r>
              <a:rPr sz="2200" b="1">
                <a:latin typeface="Cambria"/>
              </a:rPr>
              <a:t>print</a:t>
            </a:r>
            <a:r>
              <a:rPr sz="2200" b="0">
                <a:latin typeface="Cambria"/>
              </a:rPr>
              <a:t> counts</a:t>
            </a:r>
          </a:p>
          <a:p>
            <a:r>
              <a:rPr sz="2200" b="0">
                <a:latin typeface="Cambria"/>
              </a:rPr>
              <a:t>$1 = {1456, 1442, 1460, 0 &lt;repeats 97 times&gt;}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(gdb) </a:t>
            </a:r>
            <a:r>
              <a:rPr sz="2200" b="1">
                <a:latin typeface="Cambria"/>
              </a:rPr>
              <a:t>print</a:t>
            </a:r>
            <a:r>
              <a:rPr sz="2200" b="0">
                <a:latin typeface="Cambria"/>
              </a:rPr>
              <a:t> counts[7]</a:t>
            </a:r>
          </a:p>
          <a:p>
            <a:r>
              <a:rPr sz="2200" b="0">
                <a:latin typeface="Cambria"/>
              </a:rPr>
              <a:t>$2 = 0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One command prints </a:t>
            </a:r>
            <a:r>
              <a:rPr sz="2200" b="1">
                <a:latin typeface="Cambria"/>
              </a:rPr>
              <a:t>every element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Part of an array: the @ operator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</a:tabLst>
            </a:pPr>
            <a:r>
              <a:rPr sz="2400" b="0">
                <a:latin typeface="Cambria"/>
              </a:rPr>
              <a:t>(gdb) </a:t>
            </a:r>
            <a:r>
              <a:rPr sz="2400" b="1">
                <a:latin typeface="Cambria"/>
              </a:rPr>
              <a:t>print</a:t>
            </a:r>
            <a:r>
              <a:rPr sz="2400" b="0">
                <a:latin typeface="Cambria"/>
              </a:rPr>
              <a:t> counts[2]@4</a:t>
            </a:r>
          </a:p>
          <a:p>
            <a:pPr>
              <a:tabLst>
                <a:tab pos="548640" algn="l"/>
              </a:tabLst>
            </a:pPr>
            <a:r>
              <a:rPr sz="2400" b="0">
                <a:latin typeface="Cambria"/>
              </a:rPr>
              <a:t>$3 = {1460, 0, 0, 0}</a:t>
            </a:r>
          </a:p>
          <a:p>
            <a:pPr>
              <a:tabLst>
                <a:tab pos="5486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</a:tabLst>
            </a:pPr>
            <a:r>
              <a:rPr sz="2400" b="0">
                <a:latin typeface="Cambria"/>
              </a:rPr>
              <a:t>Four elements, starting at index 2</a:t>
            </a:r>
          </a:p>
          <a:p>
            <a:pPr>
              <a:tabLst>
                <a:tab pos="5486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</a:tabLst>
            </a:pPr>
            <a:r>
              <a:rPr sz="2400" b="0">
                <a:latin typeface="Cambria"/>
              </a:rPr>
              <a:t>Most useful when you have a pointer and a length:</a:t>
            </a:r>
          </a:p>
          <a:p>
            <a:pPr>
              <a:tabLst>
                <a:tab pos="5486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</a:tabLst>
            </a:pPr>
            <a:r>
              <a:rPr sz="2400" b="0">
                <a:latin typeface="Cambria"/>
              </a:rPr>
              <a:t>	(gdb) print *ptr@10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Looking at raw memory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640080" algn="l"/>
                <a:tab pos="1737360" algn="l"/>
              </a:tabLst>
            </a:pPr>
            <a:r>
              <a:rPr sz="2200" b="0">
                <a:latin typeface="Cambria"/>
              </a:rPr>
              <a:t>(gdb) </a:t>
            </a:r>
            <a:r>
              <a:rPr sz="2200" b="1">
                <a:latin typeface="Cambria"/>
              </a:rPr>
              <a:t>x/16xb</a:t>
            </a:r>
            <a:r>
              <a:rPr sz="2200" b="0">
                <a:latin typeface="Cambria"/>
              </a:rPr>
              <a:t> &amp;my_sample</a:t>
            </a:r>
          </a:p>
          <a:p>
            <a:pPr>
              <a:tabLst>
                <a:tab pos="640080" algn="l"/>
                <a:tab pos="17373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640080" algn="l"/>
                <a:tab pos="1737360" algn="l"/>
              </a:tabLst>
            </a:pPr>
            <a:r>
              <a:rPr sz="2200" b="0">
                <a:latin typeface="Cambria"/>
              </a:rPr>
              <a:t>	x	examine</a:t>
            </a:r>
          </a:p>
          <a:p>
            <a:pPr>
              <a:tabLst>
                <a:tab pos="640080" algn="l"/>
                <a:tab pos="1737360" algn="l"/>
              </a:tabLst>
            </a:pPr>
            <a:r>
              <a:rPr sz="2200" b="0">
                <a:latin typeface="Cambria"/>
              </a:rPr>
              <a:t>	16	how many</a:t>
            </a:r>
          </a:p>
          <a:p>
            <a:pPr>
              <a:tabLst>
                <a:tab pos="640080" algn="l"/>
                <a:tab pos="1737360" algn="l"/>
              </a:tabLst>
            </a:pPr>
            <a:r>
              <a:rPr sz="2200" b="0">
                <a:latin typeface="Cambria"/>
              </a:rPr>
              <a:t>	x	format: hex  (d, u, c, s, i)</a:t>
            </a:r>
          </a:p>
          <a:p>
            <a:pPr>
              <a:tabLst>
                <a:tab pos="640080" algn="l"/>
                <a:tab pos="1737360" algn="l"/>
              </a:tabLst>
            </a:pPr>
            <a:r>
              <a:rPr sz="2200" b="0">
                <a:latin typeface="Cambria"/>
              </a:rPr>
              <a:t>	b	size: byte  (h, w, g)</a:t>
            </a:r>
          </a:p>
          <a:p>
            <a:pPr>
              <a:tabLst>
                <a:tab pos="640080" algn="l"/>
                <a:tab pos="17373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640080" algn="l"/>
                <a:tab pos="1737360" algn="l"/>
              </a:tabLst>
            </a:pPr>
            <a:r>
              <a:rPr sz="2200" b="0">
                <a:latin typeface="Cambria"/>
              </a:rPr>
              <a:t>This is where you can </a:t>
            </a:r>
            <a:r>
              <a:rPr sz="2200" b="1">
                <a:latin typeface="Cambria"/>
              </a:rPr>
              <a:t>see the padding bytes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Who changed my variable?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Cambria"/>
              </a:rPr>
              <a:t>(gdb) </a:t>
            </a:r>
            <a:r>
              <a:rPr sz="2200" b="1">
                <a:latin typeface="Cambria"/>
              </a:rPr>
              <a:t>watch</a:t>
            </a:r>
            <a:r>
              <a:rPr sz="2200" b="0">
                <a:latin typeface="Cambria"/>
              </a:rPr>
              <a:t> psi[3]</a:t>
            </a:r>
          </a:p>
          <a:p>
            <a:r>
              <a:rPr sz="2200" b="0">
                <a:latin typeface="Cambria"/>
              </a:rPr>
              <a:t>(gdb) continue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Hardware watchpoint 2: psi[3]</a:t>
            </a:r>
          </a:p>
          <a:p>
            <a:r>
              <a:rPr sz="2200" b="0">
                <a:latin typeface="Cambria"/>
              </a:rPr>
              <a:t>Old value = 0</a:t>
            </a:r>
          </a:p>
          <a:p>
            <a:r>
              <a:rPr sz="2200" b="0">
                <a:latin typeface="Cambria"/>
              </a:rPr>
              <a:t>New value = 50</a:t>
            </a:r>
          </a:p>
          <a:p>
            <a:r>
              <a:rPr sz="2200" b="0">
                <a:latin typeface="Cambria"/>
              </a:rPr>
              <a:t>update_sample () at main.c:42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The hardest bug to find by reading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Debugging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Cambria"/>
              </a:rPr>
              <a:t>	cargo build</a:t>
            </a:r>
          </a:p>
          <a:p>
            <a:r>
              <a:rPr sz="2200" b="0">
                <a:latin typeface="Cambria"/>
              </a:rPr>
              <a:t>	rust-gdb  ./target/debug/myprog</a:t>
            </a:r>
          </a:p>
          <a:p>
            <a:r>
              <a:rPr sz="2200" b="0">
                <a:latin typeface="Cambria"/>
              </a:rPr>
              <a:t>	rust-lldb ./target/debug/myprog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The wrappers load </a:t>
            </a:r>
            <a:r>
              <a:rPr sz="2200" b="1">
                <a:latin typeface="Cambria"/>
              </a:rPr>
              <a:t>pretty printers</a:t>
            </a:r>
            <a:r>
              <a:rPr sz="2200" b="0">
                <a:latin typeface="Cambria"/>
              </a:rPr>
              <a:t>, so a Vec or a String</a:t>
            </a:r>
          </a:p>
          <a:p>
            <a:r>
              <a:rPr sz="2200" b="0">
                <a:latin typeface="Cambria"/>
              </a:rPr>
              <a:t>prints readably instead of as internal pointers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Rust symbol names include the crate:</a:t>
            </a:r>
          </a:p>
          <a:p>
            <a:r>
              <a:rPr sz="2200" b="0">
                <a:latin typeface="Cambria"/>
              </a:rPr>
              <a:t>	(gdb) break myprog::main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same ideas in lldb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120640" algn="l"/>
              </a:tabLst>
            </a:pPr>
            <a:r>
              <a:rPr sz="2200" b="0">
                <a:latin typeface="Cambria"/>
              </a:rPr>
              <a:t>lldb ./main</a:t>
            </a:r>
          </a:p>
          <a:p>
            <a:pPr>
              <a:tabLst>
                <a:tab pos="512064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120640" algn="l"/>
              </a:tabLst>
            </a:pPr>
            <a:r>
              <a:rPr sz="2200" b="0">
                <a:latin typeface="Cambria"/>
              </a:rPr>
              <a:t>(lldb) breakpoint set --name main	br s -n main</a:t>
            </a:r>
          </a:p>
          <a:p>
            <a:pPr>
              <a:tabLst>
                <a:tab pos="5120640" algn="l"/>
              </a:tabLst>
            </a:pPr>
            <a:r>
              <a:rPr sz="2200" b="0">
                <a:latin typeface="Cambria"/>
              </a:rPr>
              <a:t>(lldb) run</a:t>
            </a:r>
          </a:p>
          <a:p>
            <a:pPr>
              <a:tabLst>
                <a:tab pos="5120640" algn="l"/>
              </a:tabLst>
            </a:pPr>
            <a:r>
              <a:rPr sz="2200" b="0">
                <a:latin typeface="Cambria"/>
              </a:rPr>
              <a:t>(lldb) next  /  step  /  continue</a:t>
            </a:r>
          </a:p>
          <a:p>
            <a:pPr>
              <a:tabLst>
                <a:tab pos="5120640" algn="l"/>
              </a:tabLst>
            </a:pPr>
            <a:r>
              <a:rPr sz="2200" b="0">
                <a:latin typeface="Cambria"/>
              </a:rPr>
              <a:t>(lldb) frame variable	fr v</a:t>
            </a:r>
          </a:p>
          <a:p>
            <a:pPr>
              <a:tabLst>
                <a:tab pos="5120640" algn="l"/>
              </a:tabLst>
            </a:pPr>
            <a:r>
              <a:rPr sz="2200" b="0">
                <a:latin typeface="Cambria"/>
              </a:rPr>
              <a:t>(lldb) print my_sample</a:t>
            </a:r>
          </a:p>
          <a:p>
            <a:pPr>
              <a:tabLst>
                <a:tab pos="5120640" algn="l"/>
              </a:tabLst>
            </a:pPr>
            <a:r>
              <a:rPr sz="2200" b="0">
                <a:latin typeface="Cambria"/>
              </a:rPr>
              <a:t>(lldb) memory read -f x -s 1 -c 16 &amp;my_sample</a:t>
            </a:r>
          </a:p>
          <a:p>
            <a:pPr>
              <a:tabLst>
                <a:tab pos="512064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120640" algn="l"/>
              </a:tabLst>
            </a:pPr>
            <a:r>
              <a:rPr sz="2200" b="0">
                <a:latin typeface="Cambria"/>
              </a:rPr>
              <a:t>Different spelling, identical ideas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debugger in VS Code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Cambria"/>
              </a:rPr>
              <a:t>Install the </a:t>
            </a:r>
            <a:r>
              <a:rPr sz="2400" b="1">
                <a:latin typeface="Cambria"/>
              </a:rPr>
              <a:t>C/C++</a:t>
            </a:r>
            <a:r>
              <a:rPr sz="2400" b="0">
                <a:latin typeface="Cambria"/>
              </a:rPr>
              <a:t> or </a:t>
            </a:r>
            <a:r>
              <a:rPr sz="2400" b="1">
                <a:latin typeface="Cambria"/>
              </a:rPr>
              <a:t>CodeLLDB</a:t>
            </a:r>
            <a:r>
              <a:rPr sz="2400" b="0">
                <a:latin typeface="Cambria"/>
              </a:rPr>
              <a:t> extension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For Rust: </a:t>
            </a:r>
            <a:r>
              <a:rPr sz="2400" b="1">
                <a:latin typeface="Cambria"/>
              </a:rPr>
              <a:t>rust-analyzer</a:t>
            </a:r>
            <a:r>
              <a:rPr sz="2400" b="0">
                <a:latin typeface="Cambria"/>
              </a:rPr>
              <a:t> plus CodeLLDB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Click in the gutter to set a breakpoint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1">
                <a:latin typeface="Cambria"/>
              </a:rPr>
              <a:t>F5</a:t>
            </a:r>
            <a:r>
              <a:rPr sz="2400" b="0">
                <a:latin typeface="Cambria"/>
              </a:rPr>
              <a:t> start,   </a:t>
            </a:r>
            <a:r>
              <a:rPr sz="2400" b="1">
                <a:latin typeface="Cambria"/>
              </a:rPr>
              <a:t>F10</a:t>
            </a:r>
            <a:r>
              <a:rPr sz="2400" b="0">
                <a:latin typeface="Cambria"/>
              </a:rPr>
              <a:t> step over,   </a:t>
            </a:r>
            <a:r>
              <a:rPr sz="2400" b="1">
                <a:latin typeface="Cambria"/>
              </a:rPr>
              <a:t>F11</a:t>
            </a:r>
            <a:r>
              <a:rPr sz="2400" b="0">
                <a:latin typeface="Cambria"/>
              </a:rPr>
              <a:t> step into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VARIABLES pane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Cambria"/>
              </a:rPr>
              <a:t>Lists every local variable, updated as you step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Expand a </a:t>
            </a:r>
            <a:r>
              <a:rPr sz="2400" b="1">
                <a:latin typeface="Cambria"/>
              </a:rPr>
              <a:t>struct</a:t>
            </a:r>
            <a:r>
              <a:rPr sz="2400" b="0">
                <a:latin typeface="Cambria"/>
              </a:rPr>
              <a:t> to see its members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Expand an </a:t>
            </a:r>
            <a:r>
              <a:rPr sz="2400" b="1">
                <a:latin typeface="Cambria"/>
              </a:rPr>
              <a:t>array</a:t>
            </a:r>
            <a:r>
              <a:rPr sz="2400" b="0">
                <a:latin typeface="Cambria"/>
              </a:rPr>
              <a:t> to see its elements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Hover over a name in the source to see its value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It is gdb or lldb underneath - the ideas still apply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 method for using it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Cambria"/>
              </a:rPr>
              <a:t>1.  Reproduce the failure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2.  Set a breakpoint </a:t>
            </a:r>
            <a:r>
              <a:rPr sz="2200" b="1">
                <a:latin typeface="Cambria"/>
              </a:rPr>
              <a:t>before</a:t>
            </a:r>
            <a:r>
              <a:rPr sz="2200" b="0">
                <a:latin typeface="Cambria"/>
              </a:rPr>
              <a:t> the suspect line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3.  Look at the variables - are they what you expect?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4.  Step one line at a time and watch them change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5.  The first value that </a:t>
            </a:r>
            <a:r>
              <a:rPr sz="2200" b="1">
                <a:latin typeface="Cambria"/>
              </a:rPr>
              <a:t>surprises</a:t>
            </a:r>
            <a:r>
              <a:rPr sz="2200" b="0">
                <a:latin typeface="Cambria"/>
              </a:rPr>
              <a:t> you is near the bug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we can now describe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194560" algn="l"/>
              </a:tabLst>
            </a:pPr>
            <a:r>
              <a:rPr sz="2200" b="1">
                <a:latin typeface="Cambria"/>
              </a:rPr>
              <a:t>Variable</a:t>
            </a:r>
            <a:r>
              <a:rPr sz="2200" b="0">
                <a:latin typeface="Cambria"/>
              </a:rPr>
              <a:t>	one name, one value, one address</a:t>
            </a:r>
          </a:p>
          <a:p>
            <a:pPr>
              <a:tabLst>
                <a:tab pos="21945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2194560" algn="l"/>
              </a:tabLst>
            </a:pPr>
            <a:r>
              <a:rPr sz="2200" b="1">
                <a:latin typeface="Cambria"/>
              </a:rPr>
              <a:t>Struct</a:t>
            </a:r>
            <a:r>
              <a:rPr sz="2200" b="0">
                <a:latin typeface="Cambria"/>
              </a:rPr>
              <a:t>	different types, one block, fixed offsets</a:t>
            </a:r>
          </a:p>
          <a:p>
            <a:pPr>
              <a:tabLst>
                <a:tab pos="21945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2194560" algn="l"/>
              </a:tabLst>
            </a:pPr>
            <a:r>
              <a:rPr sz="2200" b="1">
                <a:latin typeface="Cambria"/>
              </a:rPr>
              <a:t>Array</a:t>
            </a:r>
            <a:r>
              <a:rPr sz="2200" b="0">
                <a:latin typeface="Cambria"/>
              </a:rPr>
              <a:t>	one type repeated, base + index * size</a:t>
            </a:r>
          </a:p>
          <a:p>
            <a:pPr>
              <a:tabLst>
                <a:tab pos="21945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2194560" algn="l"/>
              </a:tabLst>
            </a:pPr>
            <a:r>
              <a:rPr sz="2200" b="1">
                <a:latin typeface="Cambria"/>
              </a:rPr>
              <a:t>Debugger</a:t>
            </a:r>
            <a:r>
              <a:rPr sz="2200" b="0">
                <a:latin typeface="Cambria"/>
              </a:rPr>
              <a:t>	stop the program and look at all of it</a:t>
            </a:r>
          </a:p>
          <a:p>
            <a:pPr>
              <a:tabLst>
                <a:tab pos="21945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2194560" algn="l"/>
              </a:tabLst>
            </a:pPr>
            <a:r>
              <a:rPr sz="2200" b="0">
                <a:latin typeface="Cambria"/>
              </a:rPr>
              <a:t>Every one of these is still just </a:t>
            </a:r>
            <a:r>
              <a:rPr sz="2200" b="1">
                <a:latin typeface="Cambria"/>
              </a:rPr>
              <a:t>memory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Let's use the debugger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Exercise:  Using </a:t>
            </a:r>
            <a:r>
              <a:rPr sz="2800" b="1">
                <a:latin typeface="Cambria"/>
              </a:rPr>
              <a:t>structpractice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58383</TotalTime>
  <Words>3431</Words>
  <Application>Microsoft Office PowerPoint</Application>
  <PresentationFormat>Custom</PresentationFormat>
  <Paragraphs>847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62</vt:i4>
      </vt:variant>
    </vt:vector>
  </HeadingPairs>
  <TitlesOfParts>
    <vt:vector size="78" baseType="lpstr">
      <vt:lpstr>Arial Unicode MS</vt:lpstr>
      <vt:lpstr>ＭＳ Ｐゴシック</vt:lpstr>
      <vt:lpstr>Arial</vt:lpstr>
      <vt:lpstr>Calibri</vt:lpstr>
      <vt:lpstr>Cambria</vt:lpstr>
      <vt:lpstr>DejaVu Sans</vt:lpstr>
      <vt:lpstr>Franklin Gothic Book</vt:lpstr>
      <vt:lpstr>Franklin Gothic Demi</vt:lpstr>
      <vt:lpstr>OpenSymbol</vt:lpstr>
      <vt:lpstr>Osaka</vt:lpstr>
      <vt:lpstr>Symbol</vt:lpstr>
      <vt:lpstr>Times New Roman</vt:lpstr>
      <vt:lpstr>Wingdings</vt:lpstr>
      <vt:lpstr>Office Theme</vt:lpstr>
      <vt:lpstr>Theme1</vt:lpstr>
      <vt:lpstr>1_Theme1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</dc:title>
  <dc:subject/>
  <dc:creator>Bill Swartz</dc:creator>
  <dc:description/>
  <cp:lastModifiedBy>Bill Swartz</cp:lastModifiedBy>
  <cp:revision>569</cp:revision>
  <dcterms:created xsi:type="dcterms:W3CDTF">2013-08-28T11:36:20Z</dcterms:created>
  <dcterms:modified xsi:type="dcterms:W3CDTF">2026-10-26T18:44:48Z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2012-08-29T00:00:00Z</vt:filetime>
  </property>
  <property fmtid="{D5CDD505-2E9C-101B-9397-08002B2CF9AE}" pid="3" name="LastSaved">
    <vt:filetime>2013-08-28T00:00:00Z</vt:filetime>
  </property>
  <property fmtid="{D5CDD505-2E9C-101B-9397-08002B2CF9AE}" pid="4" name="Notes">
    <vt:i4>8</vt:i4>
  </property>
  <property fmtid="{D5CDD505-2E9C-101B-9397-08002B2CF9AE}" pid="5" name="PresentationFormat">
    <vt:lpwstr>Custom</vt:lpwstr>
  </property>
  <property fmtid="{D5CDD505-2E9C-101B-9397-08002B2CF9AE}" pid="6" name="Slides">
    <vt:i4>8</vt:i4>
  </property>
</Properties>
</file>