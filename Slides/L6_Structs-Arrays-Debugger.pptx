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6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314" r:id="rId11"/>
    <p:sldId id="310" r:id="rId12"/>
    <p:sldId id="263" r:id="rId13"/>
    <p:sldId id="264" r:id="rId14"/>
    <p:sldId id="311" r:id="rId15"/>
    <p:sldId id="313" r:id="rId16"/>
    <p:sldId id="312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315" r:id="rId27"/>
    <p:sldId id="274" r:id="rId28"/>
    <p:sldId id="316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This lecture extends the single-variable model from the last lecture to grouped data, then shows students how to see all of it in a debugger.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57715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Quick review. Ask the class: what is &amp;sum and what is sum? Re-establish the address-versus-contents distinction, because structs and arrays are built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96198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Use a concrete example the students can picture - a sensor reading. The point is that the three values have no relationship as far as the compiler is concerned.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03026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Let this look as tedious as it is. Ask what happens when a fourth field is added, or when you need a hundred readings.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955791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Definition slide. Stress "new type": after this definition the language has a type it did not have before, and you may declare as many variables of it as you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08320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Emphasize the semicolon after the closing brace - a classic C error. And stress that no storage exists yet; this is a blueprint.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95349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where storage is actually created. Connect back to lecture one: my_sample now has an address, and its contents are the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17440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where storage is actually created. Connect back to lecture one: my_sample now has an address, and its contents are the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50576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where storage is actually created. Connect back to lecture one: my_sample now has an address, and its contents are the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61148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Keep the class discussion to one line here - it is a forward reference to object-oriented programming, not the subject of this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72583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Point out the three syntactic differences: commas not semicolons, name-colon-type order, and no trailing semicolon. Naming convention is enforced by a compiler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2410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Point out the three syntactic differences: commas not semicolons, name-colon-type order, and no trailing semicolon. Naming convention is enforced by a compiler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51074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Point out the three syntactic differences: commas not semicolons, name-colon-type order, and no trailing semicolon. Naming convention is enforced by a compiler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167731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Designated initializers are C99 and C++20. They are worth the extra typing because they survive someone reordering the struct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02671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Designated initializers are C99 and C++20. They are worth the extra typing because they survive someone reordering the struct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469530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a real safety difference: in C an uninitialized member is whatever was in memory; in Rust the program will not compile.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516178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Reassure them: one operator, three languages. The dot is how a member name is turned into an offset from the base address - which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284873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key idea of the whole struct section. Member access is free at run time - it compiles to a load from a known offset, exactly like a plain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759025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Encourage them to write a five line program that prints sizeof and every offsetof. It makes the next two slides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47418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Tie this to the machine-size discussion from the last lecture. Misaligned access is slow on x86 and a fault on many embedded 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11394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Have them compute sizeof before you show the answer. On a microcontroller with 320 KB of RAM, a 24 byte struct in an array of 1000 is a real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9404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three members, same order of declaration reversed, 8 bytes saved. Have them check it with sizeof in their own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879306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Needed whenever the bytes must match something outside your program: a hardware register block, a file format, a network packet, or another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824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arrow is just sugar for dereference-then-dot. Rust removes the distinction with automatic dereferencing, which is one less thing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584024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arrow is just sugar for dereference-then-dot. Rust removes the distinction with automatic dereferencing, which is one less thing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125532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arrow is just sugar for dereference-then-dot. Rust removes the distinction with automatic dereferencing, which is one less thing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540834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Nesting does not add indirection - the inner struct is stored in place, not pointed to. That differs from Java or Python, where it would be a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167314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Ownership is a forward reference; one sentence is enough. The practical rule: pass big structs by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107562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Transition slide into arrays. Same rhetorical move as the start of the struct section: show the painful version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74286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Contrast with the struct: a struct is different types at different offsets; an array is one type repeated. Both are one block of memory with one base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129503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= { 0.0f } zero-fills the whole array, a useful C idiom. std::array knows its own length and can be passed to functions without decaying to a pointer.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601515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Because length is part of the type, a [u32; 100] and a [u32; 50] are different types. That is how Rust can check bounds so cheaply.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9352639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answers the question every first-year student asks. The answer is addresses, not tradition - which is why we did addresses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112645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Have them compute &amp;counts[7] on the board from the base address. This is the same arithmetic the compiler emits.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963793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 idiom works only where the real array is visible. Once it has been passed to a function it has decayed to a pointer and sizeof gives the pointer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606816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Worth dwelling on. A buffer overrun in C is the single most common security vulnerability in the history of the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692219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0..100 is exclusive of 100, which matches the C loop exactly. Mention that idiomatic Rust would iterate over the values rather than the indices.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016034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data structure they will actually use for a sensor log. Point out that the padding from earlier is now multiplied by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43611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Row major matters for performance: walking along a row is cache friendly, walking down a column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486631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forward reference only. The distinction to plant now: an array has a fixed size known at compile time; a vector grows at run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874898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Section transition. Acknowledge that printf debugging works; the argument is about efficiency, not purity.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5349062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fourth line is the payoff of lecture one: the debugger is doing the same name-to-address mapping the compiler did, only in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3577627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Explain why -O0 matters: with optimization on, variables live in registers, lines are reordered, and the debugger will report "value optimized out".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092806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Tell students which one your lab machines use so they install the right thing. On macOS, gdb needs code signing; lldb is the path of least resistance.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028640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Do this live. The moment the prompt returns with the program paused is when the idea lands for most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777894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Six commands run a whole debugging session. The only subtle pair is next versus step - over the call or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883649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Point out that every command has a short form, and that pressing Enter on a blank line repeats the last one - which is how you step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7032738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Explicitly connect print x to "contents" and print &amp;x to "address". The debugger is the first place students see both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6468714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One command prints the entire structure with its member names. Contrast with printf, where you would have to write a format string for every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481284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Ask the class where the debugger learned the member names. Answer: the -g debug information the compiler placed in the executable.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9122383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Note how gdb collapses runs of identical values. Students often think the array is truncated - it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6764315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answer to "I have a pointer, not an array". It is the single most useful gdb trick for embedded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8792385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Nice callback to the padding slide: dump the struct and count the wasted bytes. Students believe padding once they have seen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9873959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Watchpoints are the closer for the gdb section. They find memory corruption bugs that no amount of reading will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345123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If students run plain gdb on a Rust binary it still works, but the output is much harder to read. The wrapper is the whole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5697464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Give this to the macOS students. frame variable is the lldb equivalent of info locals, and it is the command they will use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733166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Most students will live here rather than at the gdb prompt. That is fine - but they should know what it is driving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2831305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Demonstrate expanding an array of structs. This is the moment students see that a struct really is a labeled block of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7557452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Debugging is a discipline, not a tool. The habit to teach: state what you believe is true, then let the debugger check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451375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Summary. The through line for the whole course: everything is memory, and a name is how we avoid typing an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37387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exercise, mirroring the mempractice exercise from the previous lecture. Have them set a breakpoint, print a struct, print an array of structs, and dump raw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58459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api-guidelines/issues/29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rust-lang.github.io/api-guidelines/naming.html#c-feature" TargetMode="External"/><Relationship Id="rId4" Type="http://schemas.openxmlformats.org/officeDocument/2006/relationships/hyperlink" Target="https://github.com/rust-lang/api-guidelines/issues/101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Structs and Arrays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We Left Off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A variable is a </a:t>
            </a:r>
            <a:r>
              <a:rPr sz="2800" b="1" dirty="0">
                <a:latin typeface="Cambria"/>
              </a:rPr>
              <a:t>symbolic name</a:t>
            </a:r>
            <a:r>
              <a:rPr sz="2800" b="0" dirty="0">
                <a:latin typeface="Cambria"/>
              </a:rPr>
              <a:t> for an address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</a:t>
            </a:r>
            <a:r>
              <a:rPr sz="2800" b="1" dirty="0">
                <a:latin typeface="Cambria"/>
              </a:rPr>
              <a:t>contents</a:t>
            </a:r>
            <a:r>
              <a:rPr sz="2800" b="0" dirty="0">
                <a:latin typeface="Cambria"/>
              </a:rPr>
              <a:t> of that address is the value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We used atomic types:</a:t>
            </a:r>
          </a:p>
          <a:p>
            <a:r>
              <a:rPr sz="2800" b="0" dirty="0">
                <a:latin typeface="Cambria"/>
              </a:rPr>
              <a:t>	i32, u8, f64, </a:t>
            </a:r>
            <a:r>
              <a:rPr sz="2800" b="0" dirty="0" err="1">
                <a:latin typeface="Cambria"/>
              </a:rPr>
              <a:t>bool</a:t>
            </a:r>
            <a:r>
              <a:rPr sz="2800" b="0" dirty="0">
                <a:latin typeface="Cambria"/>
              </a:rPr>
              <a:t>, char</a:t>
            </a:r>
          </a:p>
          <a:p>
            <a:r>
              <a:rPr sz="2800" b="0" dirty="0">
                <a:latin typeface="Cambria"/>
              </a:rPr>
              <a:t>	int32_t, uint8_t, double, </a:t>
            </a:r>
            <a:r>
              <a:rPr sz="2800" b="0" dirty="0" err="1">
                <a:latin typeface="Cambria"/>
              </a:rPr>
              <a:t>bool</a:t>
            </a:r>
            <a:r>
              <a:rPr sz="2800" b="0" dirty="0">
                <a:latin typeface="Cambria"/>
              </a:rPr>
              <a:t>, char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One name, one value, one location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Real Data Comes in Groups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A single pressure reading is really </a:t>
            </a:r>
            <a:r>
              <a:rPr sz="2800" b="1" dirty="0">
                <a:latin typeface="Cambria"/>
              </a:rPr>
              <a:t>three</a:t>
            </a:r>
            <a:r>
              <a:rPr sz="2800" b="0" dirty="0">
                <a:latin typeface="Cambria"/>
              </a:rPr>
              <a:t> numbers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	the raw ADC count from the sensor</a:t>
            </a:r>
          </a:p>
          <a:p>
            <a:r>
              <a:rPr sz="2800" b="0" dirty="0">
                <a:latin typeface="Cambria"/>
              </a:rPr>
              <a:t>	the pressure in psi we computed</a:t>
            </a:r>
          </a:p>
          <a:p>
            <a:r>
              <a:rPr sz="2800" b="0" dirty="0">
                <a:latin typeface="Cambria"/>
              </a:rPr>
              <a:t>	the time the sample was taken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They are three variables that belong together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language should let </a:t>
            </a:r>
            <a:r>
              <a:rPr lang="en-US" sz="2800" b="0" dirty="0" smtClean="0">
                <a:latin typeface="Cambria"/>
              </a:rPr>
              <a:t>allow to group them efficiently</a:t>
            </a:r>
            <a:endParaRPr sz="28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Loose Variables Do Not Scale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uint32_t	adc_counts_1 ;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float	psi_1 ;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uint64_t	timestamp_1 ;</a:t>
            </a:r>
          </a:p>
          <a:p>
            <a:pPr>
              <a:tabLst>
                <a:tab pos="155448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uint32_t	adc_counts_2 ;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float	psi_2 ;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uint64_t	timestamp_2 ;</a:t>
            </a:r>
          </a:p>
          <a:p>
            <a:pPr>
              <a:tabLst>
                <a:tab pos="155448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Nothing ties them together</a:t>
            </a:r>
          </a:p>
          <a:p>
            <a:pPr>
              <a:tabLst>
                <a:tab pos="1554480" algn="l"/>
              </a:tabLst>
            </a:pPr>
            <a:r>
              <a:rPr sz="2800" b="0">
                <a:latin typeface="Cambria"/>
              </a:rPr>
              <a:t>The compiler cannot help you keep them straight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Struct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A </a:t>
            </a:r>
            <a:r>
              <a:rPr sz="2800" b="1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groups variables into a </a:t>
            </a:r>
            <a:r>
              <a:rPr sz="2800" b="1" dirty="0">
                <a:latin typeface="Cambria"/>
              </a:rPr>
              <a:t>new </a:t>
            </a:r>
            <a:r>
              <a:rPr sz="2800" b="1" dirty="0" smtClean="0">
                <a:latin typeface="Cambria"/>
              </a:rPr>
              <a:t>type</a:t>
            </a:r>
            <a:r>
              <a:rPr lang="en-US" sz="2800" b="1" dirty="0" smtClean="0">
                <a:latin typeface="Cambria"/>
              </a:rPr>
              <a:t>  &lt;T&gt;</a:t>
            </a:r>
            <a:endParaRPr sz="2800" b="1" dirty="0">
              <a:latin typeface="Cambria"/>
            </a:endParaRP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grouped variables are called </a:t>
            </a:r>
            <a:r>
              <a:rPr sz="2800" b="1" dirty="0">
                <a:latin typeface="Cambria"/>
              </a:rPr>
              <a:t>members</a:t>
            </a:r>
            <a:r>
              <a:rPr sz="2800" b="0" dirty="0">
                <a:latin typeface="Cambria"/>
              </a:rPr>
              <a:t> or </a:t>
            </a:r>
            <a:r>
              <a:rPr sz="2800" b="1" dirty="0">
                <a:latin typeface="Cambria"/>
              </a:rPr>
              <a:t>fields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They are stored in one </a:t>
            </a:r>
            <a:r>
              <a:rPr sz="2800" b="1" dirty="0">
                <a:latin typeface="Cambria"/>
              </a:rPr>
              <a:t>consecutive block</a:t>
            </a:r>
            <a:r>
              <a:rPr sz="2800" b="0" dirty="0">
                <a:latin typeface="Cambria"/>
              </a:rPr>
              <a:t> of memory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One address locates the whole group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Same idea in C, C++, and </a:t>
            </a:r>
            <a:r>
              <a:rPr sz="2800" b="0" dirty="0" smtClean="0">
                <a:latin typeface="Cambria"/>
              </a:rPr>
              <a:t>Rust</a:t>
            </a:r>
            <a:endParaRPr lang="en-US" sz="2800" dirty="0">
              <a:latin typeface="Cambria"/>
            </a:endParaRPr>
          </a:p>
          <a:p>
            <a:endParaRPr lang="en-US" sz="2800" b="0" dirty="0" smtClean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Also known as a record</a:t>
            </a:r>
            <a:endParaRPr sz="28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Defining a struct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286000" algn="l"/>
              </a:tabLst>
            </a:pPr>
            <a:r>
              <a:rPr sz="2800" b="1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sample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	uint32_t	</a:t>
            </a:r>
            <a:r>
              <a:rPr sz="2800" b="0" dirty="0" err="1">
                <a:latin typeface="Cambria"/>
              </a:rPr>
              <a:t>adc_counts</a:t>
            </a:r>
            <a:r>
              <a:rPr sz="2800" b="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	float	psi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	uint64_t	</a:t>
            </a:r>
            <a:r>
              <a:rPr sz="2800" b="0" dirty="0" err="1">
                <a:latin typeface="Cambria"/>
              </a:rPr>
              <a:t>timestamp_ms</a:t>
            </a:r>
            <a:r>
              <a:rPr sz="2800" b="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}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This defines a </a:t>
            </a:r>
            <a:r>
              <a:rPr sz="2800" b="1" dirty="0">
                <a:latin typeface="Cambria"/>
              </a:rPr>
              <a:t>type</a:t>
            </a:r>
            <a:r>
              <a:rPr sz="2800" b="0" dirty="0">
                <a:latin typeface="Cambria"/>
              </a:rPr>
              <a:t>, not a variable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>
                <a:latin typeface="Cambria"/>
              </a:rPr>
              <a:t>No memory is allocated yet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Declaring the variable in C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sample </a:t>
            </a:r>
            <a:r>
              <a:rPr sz="2800" b="0" dirty="0" err="1">
                <a:latin typeface="Cambria"/>
              </a:rPr>
              <a:t>my_sample</a:t>
            </a:r>
            <a:r>
              <a:rPr sz="2800" b="0" dirty="0">
                <a:latin typeface="Cambria"/>
              </a:rPr>
              <a:t> ;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keyword </a:t>
            </a:r>
            <a:r>
              <a:rPr sz="2800" b="0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is </a:t>
            </a:r>
            <a:r>
              <a:rPr sz="2800" b="1" dirty="0">
                <a:latin typeface="Cambria"/>
              </a:rPr>
              <a:t>required</a:t>
            </a:r>
            <a:r>
              <a:rPr sz="2800" b="0" dirty="0">
                <a:latin typeface="Cambria"/>
              </a:rPr>
              <a:t> in C</a:t>
            </a:r>
          </a:p>
          <a:p>
            <a:r>
              <a:rPr sz="2800" dirty="0">
                <a:latin typeface="Cambria"/>
              </a:rPr>
              <a:t> </a:t>
            </a:r>
            <a:endParaRPr lang="en-US" sz="2800" dirty="0" smtClean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This is an instance of type </a:t>
            </a:r>
            <a:r>
              <a:rPr lang="en-US" sz="2800" b="1" dirty="0" err="1" smtClean="0">
                <a:latin typeface="Cambria"/>
              </a:rPr>
              <a:t>struct</a:t>
            </a:r>
            <a:r>
              <a:rPr lang="en-US" sz="2800" dirty="0" smtClean="0">
                <a:latin typeface="Cambria"/>
              </a:rPr>
              <a:t> sample</a:t>
            </a:r>
          </a:p>
          <a:p>
            <a:endParaRPr lang="en-US" sz="2800" dirty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&lt;T&gt; is &lt;</a:t>
            </a:r>
            <a:r>
              <a:rPr lang="en-US" sz="2800" dirty="0" err="1" smtClean="0">
                <a:latin typeface="Cambria"/>
              </a:rPr>
              <a:t>struct</a:t>
            </a:r>
            <a:r>
              <a:rPr lang="en-US" sz="2800" dirty="0" smtClean="0">
                <a:latin typeface="Cambria"/>
              </a:rPr>
              <a:t> sample&gt;</a:t>
            </a:r>
          </a:p>
          <a:p>
            <a:endParaRPr lang="en-US" sz="2800" dirty="0">
              <a:latin typeface="Cambria"/>
            </a:endParaRPr>
          </a:p>
          <a:p>
            <a:r>
              <a:rPr lang="en-US" sz="2800" dirty="0" err="1">
                <a:latin typeface="Cambria"/>
              </a:rPr>
              <a:t>s</a:t>
            </a:r>
            <a:r>
              <a:rPr lang="en-US" sz="2800" dirty="0" err="1" smtClean="0">
                <a:latin typeface="Cambria"/>
              </a:rPr>
              <a:t>truct</a:t>
            </a:r>
            <a:r>
              <a:rPr lang="en-US" sz="2800" dirty="0" smtClean="0">
                <a:latin typeface="Cambria"/>
              </a:rPr>
              <a:t> sample sample2 ;</a:t>
            </a:r>
          </a:p>
          <a:p>
            <a:endParaRPr lang="en-US" sz="2800" dirty="0">
              <a:latin typeface="Cambria"/>
            </a:endParaRPr>
          </a:p>
          <a:p>
            <a:r>
              <a:rPr lang="en-US" sz="2800" dirty="0">
                <a:latin typeface="Cambria"/>
              </a:rPr>
              <a:t>s</a:t>
            </a:r>
            <a:r>
              <a:rPr lang="en-US" sz="2800" dirty="0" smtClean="0">
                <a:latin typeface="Cambria"/>
              </a:rPr>
              <a:t>ample2 is a second instance of the same new type</a:t>
            </a:r>
            <a:endParaRPr sz="280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err="1" smtClean="0">
                <a:solidFill>
                  <a:schemeClr val="lt1"/>
                </a:solidFill>
                <a:latin typeface="Arial"/>
              </a:rPr>
              <a:t>Typedefs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286000" algn="l"/>
              </a:tabLst>
            </a:pPr>
            <a:r>
              <a:rPr lang="en-US" sz="2800" b="1" dirty="0" err="1">
                <a:latin typeface="Cambria"/>
              </a:rPr>
              <a:t>struct</a:t>
            </a:r>
            <a:r>
              <a:rPr lang="en-US" sz="2800" dirty="0">
                <a:latin typeface="Cambria"/>
              </a:rPr>
              <a:t> sample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uint32_t	</a:t>
            </a:r>
            <a:r>
              <a:rPr lang="en-US" sz="2800" dirty="0" err="1">
                <a:latin typeface="Cambria"/>
              </a:rPr>
              <a:t>adc_counts</a:t>
            </a:r>
            <a:r>
              <a:rPr lang="en-US" sz="28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float	psi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uint64_t	</a:t>
            </a:r>
            <a:r>
              <a:rPr lang="en-US" sz="2800" dirty="0" err="1">
                <a:latin typeface="Cambria"/>
              </a:rPr>
              <a:t>timestamp_ms</a:t>
            </a:r>
            <a:r>
              <a:rPr lang="en-US" sz="28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}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 err="1" smtClean="0">
                <a:latin typeface="Cambria"/>
              </a:rPr>
              <a:t>typedef</a:t>
            </a:r>
            <a:r>
              <a:rPr sz="2800" b="0" dirty="0" smtClean="0">
                <a:latin typeface="Cambria"/>
              </a:rPr>
              <a:t> </a:t>
            </a:r>
            <a:r>
              <a:rPr sz="2800" b="0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sample </a:t>
            </a:r>
            <a:r>
              <a:rPr sz="2800" b="0" dirty="0" err="1">
                <a:latin typeface="Cambria"/>
              </a:rPr>
              <a:t>sample_t</a:t>
            </a:r>
            <a:r>
              <a:rPr sz="2800" b="0" dirty="0">
                <a:latin typeface="Cambria"/>
              </a:rPr>
              <a:t> </a:t>
            </a:r>
            <a:r>
              <a:rPr sz="2800" b="0" dirty="0" smtClean="0">
                <a:latin typeface="Cambria"/>
              </a:rPr>
              <a:t>;</a:t>
            </a:r>
            <a:endParaRPr lang="en-US" sz="2800" b="0" dirty="0" smtClean="0">
              <a:latin typeface="Cambria"/>
            </a:endParaRPr>
          </a:p>
          <a:p>
            <a:pPr>
              <a:tabLst>
                <a:tab pos="548640" algn="l"/>
                <a:tab pos="2286000" algn="l"/>
              </a:tabLst>
            </a:pPr>
            <a:r>
              <a:rPr sz="2800" b="0" dirty="0" err="1" smtClean="0">
                <a:latin typeface="Cambria"/>
              </a:rPr>
              <a:t>sample_t</a:t>
            </a:r>
            <a:r>
              <a:rPr sz="2800" b="0" dirty="0" smtClean="0">
                <a:latin typeface="Cambria"/>
              </a:rPr>
              <a:t> </a:t>
            </a:r>
            <a:r>
              <a:rPr sz="2800" b="0" dirty="0" err="1">
                <a:latin typeface="Cambria"/>
              </a:rPr>
              <a:t>my_sample</a:t>
            </a:r>
            <a:r>
              <a:rPr sz="2800" b="0" dirty="0">
                <a:latin typeface="Cambria"/>
              </a:rPr>
              <a:t> ;</a:t>
            </a:r>
          </a:p>
          <a:p>
            <a:r>
              <a:rPr lang="en-US" sz="2800" dirty="0" err="1">
                <a:latin typeface="Cambria"/>
              </a:rPr>
              <a:t>s</a:t>
            </a:r>
            <a:r>
              <a:rPr lang="en-US" sz="2800" dirty="0" err="1" smtClean="0">
                <a:latin typeface="Cambria"/>
              </a:rPr>
              <a:t>ample_t</a:t>
            </a:r>
            <a:r>
              <a:rPr lang="en-US" sz="2800" dirty="0" smtClean="0">
                <a:latin typeface="Cambria"/>
              </a:rPr>
              <a:t> sample2 ;</a:t>
            </a:r>
            <a:r>
              <a:rPr sz="2800" dirty="0" smtClean="0">
                <a:latin typeface="Cambria"/>
              </a:rPr>
              <a:t> </a:t>
            </a:r>
            <a:endParaRPr lang="en-US" sz="2800" dirty="0" smtClean="0">
              <a:latin typeface="Cambria"/>
            </a:endParaRPr>
          </a:p>
          <a:p>
            <a:endParaRPr sz="2800" dirty="0">
              <a:latin typeface="Cambria"/>
            </a:endParaRPr>
          </a:p>
          <a:p>
            <a:r>
              <a:rPr sz="2800" b="0" dirty="0">
                <a:latin typeface="Cambria"/>
              </a:rPr>
              <a:t>Now memory exists: </a:t>
            </a:r>
            <a:r>
              <a:rPr sz="2800" b="0" dirty="0" err="1">
                <a:latin typeface="Cambria"/>
              </a:rPr>
              <a:t>sizeof</a:t>
            </a:r>
            <a:r>
              <a:rPr sz="2800" b="0" dirty="0">
                <a:latin typeface="Cambria"/>
              </a:rPr>
              <a:t>(</a:t>
            </a:r>
            <a:r>
              <a:rPr sz="2800" b="0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sample) bytes</a:t>
            </a:r>
          </a:p>
        </p:txBody>
      </p:sp>
    </p:spTree>
    <p:extLst>
      <p:ext uri="{BB962C8B-B14F-4D97-AF65-F5344CB8AC3E}">
        <p14:creationId xmlns:p14="http://schemas.microsoft.com/office/powerpoint/2010/main" val="2680201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Better </a:t>
            </a:r>
            <a:r>
              <a:rPr lang="en-US" sz="4000" b="1" dirty="0" err="1" smtClean="0">
                <a:solidFill>
                  <a:schemeClr val="lt1"/>
                </a:solidFill>
                <a:latin typeface="Arial"/>
              </a:rPr>
              <a:t>typedef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smtClean="0">
                <a:latin typeface="Cambria"/>
              </a:rPr>
              <a:t>Even better: </a:t>
            </a:r>
            <a:r>
              <a:rPr sz="2800" b="0" dirty="0" smtClean="0">
                <a:latin typeface="Cambria"/>
              </a:rPr>
              <a:t>  </a:t>
            </a:r>
            <a:r>
              <a:rPr lang="en-US" sz="2800" dirty="0">
                <a:latin typeface="Cambria"/>
              </a:rPr>
              <a:t>u</a:t>
            </a:r>
            <a:r>
              <a:rPr sz="2800" b="0" dirty="0" smtClean="0">
                <a:latin typeface="Cambria"/>
              </a:rPr>
              <a:t>se </a:t>
            </a:r>
            <a:r>
              <a:rPr sz="2800" b="1" dirty="0" err="1" smtClean="0">
                <a:latin typeface="Cambria"/>
              </a:rPr>
              <a:t>typedef</a:t>
            </a:r>
            <a:r>
              <a:rPr lang="en-US" sz="2800" b="0" dirty="0" smtClean="0">
                <a:latin typeface="Cambria"/>
              </a:rPr>
              <a:t> with the </a:t>
            </a:r>
            <a:r>
              <a:rPr lang="en-US" sz="2800" b="1" dirty="0" err="1" smtClean="0">
                <a:latin typeface="Cambria"/>
              </a:rPr>
              <a:t>struct</a:t>
            </a:r>
            <a:r>
              <a:rPr lang="en-US" sz="2800" b="0" dirty="0" smtClean="0">
                <a:latin typeface="Cambria"/>
              </a:rPr>
              <a:t> definition</a:t>
            </a:r>
            <a:r>
              <a:rPr sz="2800" b="0" dirty="0" smtClean="0">
                <a:latin typeface="Cambria"/>
              </a:rPr>
              <a:t>:</a:t>
            </a:r>
            <a:endParaRPr sz="2800" b="0" dirty="0">
              <a:latin typeface="Cambria"/>
            </a:endParaRP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lang="en-US" sz="2800" b="1" dirty="0" err="1" smtClean="0">
                <a:latin typeface="Cambria"/>
              </a:rPr>
              <a:t>typedef</a:t>
            </a:r>
            <a:r>
              <a:rPr lang="en-US" sz="2800" b="1" dirty="0" smtClean="0">
                <a:latin typeface="Cambria"/>
              </a:rPr>
              <a:t> </a:t>
            </a:r>
            <a:r>
              <a:rPr lang="en-US" sz="2800" b="1" dirty="0" err="1" smtClean="0">
                <a:latin typeface="Cambria"/>
              </a:rPr>
              <a:t>struct</a:t>
            </a:r>
            <a:r>
              <a:rPr lang="en-US" sz="2800" dirty="0" smtClean="0">
                <a:latin typeface="Cambria"/>
              </a:rPr>
              <a:t> </a:t>
            </a:r>
            <a:r>
              <a:rPr lang="en-US" sz="2800" dirty="0">
                <a:latin typeface="Cambria"/>
              </a:rPr>
              <a:t>sample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uint32_t	</a:t>
            </a:r>
            <a:r>
              <a:rPr lang="en-US" sz="2800" dirty="0" err="1">
                <a:latin typeface="Cambria"/>
              </a:rPr>
              <a:t>adc_counts</a:t>
            </a:r>
            <a:r>
              <a:rPr lang="en-US" sz="28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float	psi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	uint64_t	</a:t>
            </a:r>
            <a:r>
              <a:rPr lang="en-US" sz="2800" dirty="0" err="1">
                <a:latin typeface="Cambria"/>
              </a:rPr>
              <a:t>timestamp_ms</a:t>
            </a:r>
            <a:r>
              <a:rPr lang="en-US" sz="28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} </a:t>
            </a:r>
            <a:r>
              <a:rPr lang="en-US" sz="2800" dirty="0" err="1" smtClean="0">
                <a:latin typeface="Cambria"/>
              </a:rPr>
              <a:t>sample_t</a:t>
            </a:r>
            <a:r>
              <a:rPr lang="en-US" sz="2800" dirty="0" smtClean="0">
                <a:latin typeface="Cambria"/>
              </a:rPr>
              <a:t> ;</a:t>
            </a:r>
            <a:endParaRPr lang="en-US" sz="2800" dirty="0">
              <a:latin typeface="Cambria"/>
            </a:endParaRPr>
          </a:p>
          <a:p>
            <a:pPr>
              <a:tabLst>
                <a:tab pos="548640" algn="l"/>
                <a:tab pos="2286000" algn="l"/>
              </a:tabLst>
            </a:pPr>
            <a:r>
              <a:rPr lang="en-US" sz="2800" dirty="0">
                <a:latin typeface="Cambria"/>
              </a:rPr>
              <a:t> </a:t>
            </a:r>
          </a:p>
          <a:p>
            <a:r>
              <a:rPr lang="en-US" sz="2800" b="0" dirty="0" smtClean="0">
                <a:latin typeface="Cambria"/>
              </a:rPr>
              <a:t>Variable definitions again are:</a:t>
            </a:r>
            <a:endParaRPr lang="en-US" sz="2800" dirty="0" smtClean="0">
              <a:latin typeface="Cambria"/>
            </a:endParaRPr>
          </a:p>
          <a:p>
            <a:r>
              <a:rPr sz="2800" b="0" dirty="0" err="1" smtClean="0">
                <a:latin typeface="Cambria"/>
              </a:rPr>
              <a:t>sample_t</a:t>
            </a:r>
            <a:r>
              <a:rPr sz="2800" b="0" dirty="0" smtClean="0">
                <a:latin typeface="Cambria"/>
              </a:rPr>
              <a:t> </a:t>
            </a:r>
            <a:r>
              <a:rPr sz="2800" b="0" dirty="0" err="1">
                <a:latin typeface="Cambria"/>
              </a:rPr>
              <a:t>my_sample</a:t>
            </a:r>
            <a:r>
              <a:rPr sz="2800" b="0" dirty="0">
                <a:latin typeface="Cambria"/>
              </a:rPr>
              <a:t> </a:t>
            </a:r>
            <a:r>
              <a:rPr sz="2800" b="0" dirty="0" smtClean="0">
                <a:latin typeface="Cambria"/>
              </a:rPr>
              <a:t>;</a:t>
            </a:r>
            <a:endParaRPr lang="en-US" sz="2800" b="0" dirty="0" smtClean="0">
              <a:latin typeface="Cambria"/>
            </a:endParaRPr>
          </a:p>
          <a:p>
            <a:r>
              <a:rPr lang="en-US" sz="2800" dirty="0" err="1">
                <a:latin typeface="Cambria"/>
              </a:rPr>
              <a:t>s</a:t>
            </a:r>
            <a:r>
              <a:rPr lang="en-US" sz="2800" dirty="0" err="1" smtClean="0">
                <a:latin typeface="Cambria"/>
              </a:rPr>
              <a:t>ample_t</a:t>
            </a:r>
            <a:r>
              <a:rPr lang="en-US" sz="2800" dirty="0" smtClean="0">
                <a:latin typeface="Cambria"/>
              </a:rPr>
              <a:t> sample2 ;</a:t>
            </a:r>
            <a:r>
              <a:rPr sz="2800" dirty="0" smtClean="0">
                <a:latin typeface="Cambria"/>
              </a:rPr>
              <a:t> </a:t>
            </a:r>
            <a:endParaRPr sz="2800" dirty="0">
              <a:latin typeface="Cambria"/>
            </a:endParaRPr>
          </a:p>
          <a:p>
            <a:r>
              <a:rPr sz="2800" b="0" dirty="0">
                <a:latin typeface="Cambria"/>
              </a:rPr>
              <a:t>Now memory exists: </a:t>
            </a:r>
            <a:r>
              <a:rPr sz="2800" b="0" dirty="0" err="1" smtClean="0">
                <a:latin typeface="Cambria"/>
              </a:rPr>
              <a:t>sizeof</a:t>
            </a:r>
            <a:r>
              <a:rPr sz="2800" b="0" dirty="0" smtClean="0">
                <a:latin typeface="Cambria"/>
              </a:rPr>
              <a:t>(s</a:t>
            </a:r>
            <a:r>
              <a:rPr lang="en-US" sz="2800" b="0" dirty="0" smtClean="0">
                <a:latin typeface="Cambria"/>
              </a:rPr>
              <a:t>ample</a:t>
            </a:r>
            <a:r>
              <a:rPr sz="2800" b="0" dirty="0" smtClean="0">
                <a:latin typeface="Cambria"/>
              </a:rPr>
              <a:t>) </a:t>
            </a:r>
            <a:r>
              <a:rPr sz="2800" b="0" dirty="0">
                <a:latin typeface="Cambria"/>
              </a:rPr>
              <a:t>bytes</a:t>
            </a:r>
          </a:p>
        </p:txBody>
      </p:sp>
    </p:spTree>
    <p:extLst>
      <p:ext uri="{BB962C8B-B14F-4D97-AF65-F5344CB8AC3E}">
        <p14:creationId xmlns:p14="http://schemas.microsoft.com/office/powerpoint/2010/main" val="3318544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Defining a struct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0" y="1949942"/>
            <a:ext cx="897471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Same syntax as C:</a:t>
            </a:r>
          </a:p>
          <a:p>
            <a:r>
              <a:rPr sz="2800" dirty="0">
                <a:latin typeface="Cambria"/>
              </a:rPr>
              <a:t> </a:t>
            </a:r>
            <a:r>
              <a:rPr lang="en-US" sz="2800" dirty="0" smtClean="0">
                <a:latin typeface="Cambria"/>
              </a:rPr>
              <a:t>	</a:t>
            </a:r>
            <a:r>
              <a:rPr sz="2800" b="0" dirty="0" err="1" smtClean="0">
                <a:latin typeface="Cambria"/>
              </a:rPr>
              <a:t>struct</a:t>
            </a:r>
            <a:r>
              <a:rPr sz="2800" b="0" dirty="0" smtClean="0">
                <a:latin typeface="Cambria"/>
              </a:rPr>
              <a:t> </a:t>
            </a:r>
            <a:r>
              <a:rPr sz="2800" b="0" dirty="0">
                <a:latin typeface="Cambria"/>
              </a:rPr>
              <a:t>sample { ... } ;</a:t>
            </a:r>
          </a:p>
          <a:p>
            <a:r>
              <a:rPr sz="2800" b="0" dirty="0">
                <a:latin typeface="Cambria"/>
              </a:rPr>
              <a:t>	</a:t>
            </a:r>
            <a:r>
              <a:rPr lang="en-US" sz="2800" b="0" strike="sngStrike" dirty="0" err="1" smtClean="0">
                <a:latin typeface="Cambria"/>
              </a:rPr>
              <a:t>struct</a:t>
            </a:r>
            <a:r>
              <a:rPr lang="en-US" sz="2800" b="0" dirty="0" smtClean="0">
                <a:latin typeface="Cambria"/>
              </a:rPr>
              <a:t> </a:t>
            </a:r>
            <a:r>
              <a:rPr sz="2800" b="0" dirty="0" smtClean="0">
                <a:latin typeface="Cambria"/>
              </a:rPr>
              <a:t>sample </a:t>
            </a:r>
            <a:r>
              <a:rPr sz="2800" b="0" dirty="0" err="1">
                <a:latin typeface="Cambria"/>
              </a:rPr>
              <a:t>my_sample</a:t>
            </a:r>
            <a:r>
              <a:rPr sz="2800" b="0" dirty="0">
                <a:latin typeface="Cambria"/>
              </a:rPr>
              <a:t> ;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</a:t>
            </a:r>
            <a:r>
              <a:rPr sz="2800" b="0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keyword is </a:t>
            </a:r>
            <a:r>
              <a:rPr sz="2800" b="1" dirty="0">
                <a:latin typeface="Cambria"/>
              </a:rPr>
              <a:t>not required</a:t>
            </a:r>
            <a:r>
              <a:rPr sz="2800" b="0" dirty="0">
                <a:latin typeface="Cambria"/>
              </a:rPr>
              <a:t> when declaring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C++ also has </a:t>
            </a:r>
            <a:r>
              <a:rPr sz="2800" b="1" dirty="0">
                <a:latin typeface="Cambria"/>
              </a:rPr>
              <a:t>class</a:t>
            </a:r>
          </a:p>
          <a:p>
            <a:r>
              <a:rPr sz="2800" b="0" dirty="0">
                <a:latin typeface="Cambria"/>
              </a:rPr>
              <a:t>	</a:t>
            </a:r>
            <a:r>
              <a:rPr sz="2800" b="0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members are </a:t>
            </a:r>
            <a:r>
              <a:rPr sz="2800" b="1" dirty="0">
                <a:latin typeface="Cambria"/>
              </a:rPr>
              <a:t>public</a:t>
            </a:r>
            <a:r>
              <a:rPr sz="2800" b="0" dirty="0">
                <a:latin typeface="Cambria"/>
              </a:rPr>
              <a:t> by default</a:t>
            </a:r>
          </a:p>
          <a:p>
            <a:r>
              <a:rPr sz="2800" b="0" dirty="0">
                <a:latin typeface="Cambria"/>
              </a:rPr>
              <a:t>	class members are </a:t>
            </a:r>
            <a:r>
              <a:rPr sz="2800" b="1" dirty="0">
                <a:latin typeface="Cambria"/>
              </a:rPr>
              <a:t>private</a:t>
            </a:r>
            <a:r>
              <a:rPr sz="2800" b="0" dirty="0">
                <a:latin typeface="Cambria"/>
              </a:rPr>
              <a:t> by </a:t>
            </a:r>
            <a:r>
              <a:rPr sz="2800" b="0" dirty="0" smtClean="0">
                <a:latin typeface="Cambria"/>
              </a:rPr>
              <a:t>default</a:t>
            </a:r>
            <a:endParaRPr lang="en-US" sz="2800" b="0" dirty="0" smtClean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Otherwise functionally equivalent</a:t>
            </a:r>
            <a:endParaRPr sz="28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Defining a struct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 err="1">
                <a:latin typeface="Cambria"/>
              </a:rPr>
              <a:t>struct</a:t>
            </a:r>
            <a:r>
              <a:rPr sz="2800" b="0" dirty="0">
                <a:latin typeface="Cambria"/>
              </a:rPr>
              <a:t> Sample {</a:t>
            </a:r>
          </a:p>
          <a:p>
            <a:r>
              <a:rPr sz="2800" b="0" dirty="0">
                <a:latin typeface="Cambria"/>
              </a:rPr>
              <a:t>	</a:t>
            </a:r>
            <a:r>
              <a:rPr sz="2800" b="0" dirty="0" err="1">
                <a:latin typeface="Cambria"/>
              </a:rPr>
              <a:t>adc_counts</a:t>
            </a:r>
            <a:r>
              <a:rPr sz="2800" b="0" dirty="0">
                <a:latin typeface="Cambria"/>
              </a:rPr>
              <a:t> : u32,</a:t>
            </a:r>
          </a:p>
          <a:p>
            <a:r>
              <a:rPr sz="2800" b="0" dirty="0">
                <a:latin typeface="Cambria"/>
              </a:rPr>
              <a:t>	psi : f32,</a:t>
            </a:r>
          </a:p>
          <a:p>
            <a:r>
              <a:rPr sz="2800" b="0" dirty="0">
                <a:latin typeface="Cambria"/>
              </a:rPr>
              <a:t>	</a:t>
            </a:r>
            <a:r>
              <a:rPr sz="2800" b="0" dirty="0" err="1">
                <a:latin typeface="Cambria"/>
              </a:rPr>
              <a:t>timestamp_ms</a:t>
            </a:r>
            <a:r>
              <a:rPr sz="2800" b="0" dirty="0">
                <a:latin typeface="Cambria"/>
              </a:rPr>
              <a:t> : u64,</a:t>
            </a:r>
          </a:p>
          <a:p>
            <a:r>
              <a:rPr sz="2800" b="0" dirty="0">
                <a:latin typeface="Cambria"/>
              </a:rPr>
              <a:t>}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 smtClean="0">
                <a:latin typeface="Cambria"/>
              </a:rPr>
              <a:t>Fields </a:t>
            </a:r>
            <a:r>
              <a:rPr sz="2800" b="0" dirty="0">
                <a:latin typeface="Cambria"/>
              </a:rPr>
              <a:t>are separated by </a:t>
            </a:r>
            <a:r>
              <a:rPr sz="2800" b="1" dirty="0">
                <a:latin typeface="Cambria"/>
              </a:rPr>
              <a:t>commas</a:t>
            </a:r>
          </a:p>
          <a:p>
            <a:r>
              <a:rPr sz="2800" b="0" dirty="0">
                <a:latin typeface="Cambria"/>
              </a:rPr>
              <a:t>No semicolon after the closing </a:t>
            </a:r>
            <a:r>
              <a:rPr sz="2800" b="0" dirty="0" smtClean="0">
                <a:latin typeface="Cambria"/>
              </a:rPr>
              <a:t>brace</a:t>
            </a:r>
            <a:endParaRPr lang="en-US" sz="2800" b="0" dirty="0" smtClean="0">
              <a:latin typeface="Cambria"/>
            </a:endParaRPr>
          </a:p>
          <a:p>
            <a:r>
              <a:rPr lang="en-US" sz="2800" dirty="0">
                <a:latin typeface="Cambria"/>
              </a:rPr>
              <a:t>Type names are </a:t>
            </a:r>
            <a:r>
              <a:rPr lang="en-US" sz="2800" b="1" dirty="0" err="1">
                <a:latin typeface="Cambria"/>
              </a:rPr>
              <a:t>CamelCase</a:t>
            </a:r>
            <a:r>
              <a:rPr lang="en-US" sz="2800" dirty="0">
                <a:latin typeface="Cambria"/>
              </a:rPr>
              <a:t>, fields are </a:t>
            </a:r>
            <a:r>
              <a:rPr lang="en-US" sz="2800" b="1" dirty="0" err="1">
                <a:latin typeface="Cambria"/>
              </a:rPr>
              <a:t>snake_case</a:t>
            </a:r>
            <a:endParaRPr lang="en-US" sz="2800" b="1" dirty="0">
              <a:latin typeface="Cambria"/>
            </a:endParaRPr>
          </a:p>
          <a:p>
            <a:endParaRPr sz="28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Programming Case Styles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251099" y="1893987"/>
            <a:ext cx="955548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Cambria"/>
              </a:rPr>
              <a:t>Case Style	Format /Rule		Example		Common Use</a:t>
            </a:r>
          </a:p>
          <a:p>
            <a:r>
              <a:rPr lang="en-US" sz="1600" b="1" dirty="0" smtClean="0">
                <a:latin typeface="Cambria"/>
              </a:rPr>
              <a:t>Camel </a:t>
            </a:r>
            <a:r>
              <a:rPr lang="en-US" sz="1600" b="1" dirty="0">
                <a:latin typeface="Cambria"/>
              </a:rPr>
              <a:t>Case </a:t>
            </a:r>
            <a:r>
              <a:rPr lang="en-US" sz="1600" dirty="0" smtClean="0">
                <a:latin typeface="Cambria"/>
              </a:rPr>
              <a:t>	</a:t>
            </a:r>
            <a:r>
              <a:rPr lang="en-US" sz="1600" dirty="0">
                <a:latin typeface="Cambria"/>
              </a:rPr>
              <a:t>First letter lowercase, next </a:t>
            </a:r>
            <a:r>
              <a:rPr lang="en-US" sz="1600" dirty="0" smtClean="0">
                <a:latin typeface="Cambria"/>
              </a:rPr>
              <a:t>	</a:t>
            </a:r>
            <a:r>
              <a:rPr lang="en-US" sz="1600" b="1" dirty="0">
                <a:latin typeface="Cambria"/>
              </a:rPr>
              <a:t> </a:t>
            </a:r>
            <a:r>
              <a:rPr lang="en-US" sz="1600" b="1" dirty="0" err="1">
                <a:latin typeface="Cambria"/>
              </a:rPr>
              <a:t>userId</a:t>
            </a:r>
            <a:r>
              <a:rPr lang="en-US" sz="1600" b="1" dirty="0">
                <a:latin typeface="Cambria"/>
              </a:rPr>
              <a:t> </a:t>
            </a:r>
            <a:r>
              <a:rPr lang="en-US" sz="1600" dirty="0" smtClean="0">
                <a:latin typeface="Cambria"/>
              </a:rPr>
              <a:t>			Variables </a:t>
            </a:r>
            <a:r>
              <a:rPr lang="en-US" sz="1600" dirty="0">
                <a:latin typeface="Cambria"/>
              </a:rPr>
              <a:t>and functions</a:t>
            </a:r>
            <a:endParaRPr lang="en-US" sz="1600" dirty="0" smtClean="0">
              <a:latin typeface="Cambria"/>
            </a:endParaRPr>
          </a:p>
          <a:p>
            <a:r>
              <a:rPr lang="en-US" sz="1600" dirty="0" smtClean="0">
                <a:latin typeface="Cambria"/>
              </a:rPr>
              <a:t>(</a:t>
            </a:r>
            <a:r>
              <a:rPr lang="en-US" sz="1600" dirty="0" err="1">
                <a:latin typeface="Cambria"/>
              </a:rPr>
              <a:t>camelCase</a:t>
            </a:r>
            <a:r>
              <a:rPr lang="en-US" sz="1600" dirty="0" smtClean="0">
                <a:latin typeface="Cambria"/>
              </a:rPr>
              <a:t>)	 words </a:t>
            </a:r>
            <a:r>
              <a:rPr lang="en-US" sz="1600" dirty="0">
                <a:latin typeface="Cambria"/>
              </a:rPr>
              <a:t>capitalized, no </a:t>
            </a:r>
            <a:r>
              <a:rPr lang="en-US" sz="1600" dirty="0" smtClean="0">
                <a:latin typeface="Cambria"/>
              </a:rPr>
              <a:t>spaces 				in </a:t>
            </a:r>
            <a:r>
              <a:rPr lang="en-US" sz="1600" dirty="0">
                <a:latin typeface="Cambria"/>
              </a:rPr>
              <a:t>JavaScript, Java, C</a:t>
            </a:r>
            <a:r>
              <a:rPr lang="en-US" sz="1600" dirty="0" smtClean="0">
                <a:latin typeface="Cambria"/>
              </a:rPr>
              <a:t>#</a:t>
            </a:r>
          </a:p>
          <a:p>
            <a:endParaRPr lang="en-US" sz="1600" b="1" dirty="0">
              <a:latin typeface="Cambria"/>
            </a:endParaRPr>
          </a:p>
          <a:p>
            <a:r>
              <a:rPr lang="en-US" sz="1600" b="1" dirty="0" smtClean="0">
                <a:latin typeface="Cambria"/>
              </a:rPr>
              <a:t>Upper Camel </a:t>
            </a:r>
            <a:r>
              <a:rPr lang="en-US" sz="1600" b="1" dirty="0">
                <a:latin typeface="Cambria"/>
              </a:rPr>
              <a:t>Case </a:t>
            </a:r>
            <a:r>
              <a:rPr lang="en-US" sz="1600" dirty="0">
                <a:latin typeface="Cambria"/>
              </a:rPr>
              <a:t>	</a:t>
            </a:r>
            <a:r>
              <a:rPr lang="en-US" sz="1600" dirty="0" smtClean="0">
                <a:latin typeface="Cambria"/>
              </a:rPr>
              <a:t>Every word capitalized</a:t>
            </a:r>
            <a:r>
              <a:rPr lang="en-US" sz="1600" dirty="0">
                <a:latin typeface="Cambria"/>
              </a:rPr>
              <a:t>	 </a:t>
            </a:r>
            <a:r>
              <a:rPr lang="en-US" sz="1600" b="1" dirty="0" err="1" smtClean="0">
                <a:latin typeface="Cambria"/>
              </a:rPr>
              <a:t>UserId</a:t>
            </a:r>
            <a:r>
              <a:rPr lang="en-US" sz="1600" dirty="0" smtClean="0">
                <a:latin typeface="Cambria"/>
              </a:rPr>
              <a:t> </a:t>
            </a:r>
            <a:r>
              <a:rPr lang="en-US" sz="1600" dirty="0">
                <a:latin typeface="Cambria"/>
              </a:rPr>
              <a:t>			</a:t>
            </a:r>
            <a:r>
              <a:rPr lang="en-US" sz="1600" dirty="0" smtClean="0">
                <a:latin typeface="Cambria"/>
              </a:rPr>
              <a:t>Types in Rust</a:t>
            </a:r>
            <a:endParaRPr lang="en-US" sz="1600" dirty="0">
              <a:latin typeface="Cambria"/>
            </a:endParaRPr>
          </a:p>
          <a:p>
            <a:r>
              <a:rPr lang="en-US" sz="1600" dirty="0" smtClean="0">
                <a:latin typeface="Cambria"/>
              </a:rPr>
              <a:t>(</a:t>
            </a:r>
            <a:r>
              <a:rPr lang="en-US" sz="1600" dirty="0" err="1" smtClean="0">
                <a:latin typeface="Cambria"/>
              </a:rPr>
              <a:t>UpperCamelCase</a:t>
            </a:r>
            <a:r>
              <a:rPr lang="en-US" sz="1600" dirty="0">
                <a:latin typeface="Cambria"/>
              </a:rPr>
              <a:t>)	 </a:t>
            </a:r>
            <a:r>
              <a:rPr lang="en-US" sz="1600" dirty="0" smtClean="0">
                <a:latin typeface="Cambria"/>
              </a:rPr>
              <a:t>no </a:t>
            </a:r>
            <a:r>
              <a:rPr lang="en-US" sz="1600" dirty="0">
                <a:latin typeface="Cambria"/>
              </a:rPr>
              <a:t>spaces 				</a:t>
            </a:r>
          </a:p>
          <a:p>
            <a:endParaRPr lang="en-US" sz="1600" dirty="0" smtClean="0">
              <a:latin typeface="Cambria"/>
            </a:endParaRPr>
          </a:p>
          <a:p>
            <a:r>
              <a:rPr lang="en-US" sz="1600" b="1" dirty="0" smtClean="0">
                <a:latin typeface="Cambria"/>
              </a:rPr>
              <a:t>Pascal Case</a:t>
            </a:r>
            <a:r>
              <a:rPr lang="en-US" sz="1600" dirty="0" smtClean="0">
                <a:latin typeface="Cambria"/>
              </a:rPr>
              <a:t>	</a:t>
            </a:r>
            <a:r>
              <a:rPr lang="en-US" sz="1600" dirty="0">
                <a:latin typeface="Cambria"/>
              </a:rPr>
              <a:t> Every word starts with a </a:t>
            </a:r>
            <a:r>
              <a:rPr lang="en-US" sz="1600" dirty="0" smtClean="0">
                <a:latin typeface="Cambria"/>
              </a:rPr>
              <a:t>	</a:t>
            </a:r>
            <a:r>
              <a:rPr lang="en-US" sz="1600" dirty="0">
                <a:latin typeface="Cambria"/>
              </a:rPr>
              <a:t> </a:t>
            </a:r>
            <a:r>
              <a:rPr lang="en-US" sz="1600" b="1" dirty="0" err="1" smtClean="0">
                <a:latin typeface="Cambria"/>
              </a:rPr>
              <a:t>UserId</a:t>
            </a:r>
            <a:r>
              <a:rPr lang="en-US" sz="1600" dirty="0" smtClean="0">
                <a:latin typeface="Cambria"/>
              </a:rPr>
              <a:t>			Classes and </a:t>
            </a:r>
            <a:r>
              <a:rPr lang="en-US" sz="1600" dirty="0">
                <a:latin typeface="Cambria"/>
              </a:rPr>
              <a:t>types in C</a:t>
            </a:r>
            <a:r>
              <a:rPr lang="en-US" sz="1600" dirty="0" smtClean="0">
                <a:latin typeface="Cambria"/>
              </a:rPr>
              <a:t>#,</a:t>
            </a:r>
          </a:p>
          <a:p>
            <a:r>
              <a:rPr lang="en-US" sz="1600" dirty="0" smtClean="0">
                <a:latin typeface="Cambria"/>
              </a:rPr>
              <a:t>(</a:t>
            </a:r>
            <a:r>
              <a:rPr lang="en-US" sz="1600" dirty="0" err="1">
                <a:latin typeface="Cambria"/>
              </a:rPr>
              <a:t>PascalCase</a:t>
            </a:r>
            <a:r>
              <a:rPr lang="en-US" sz="1600" dirty="0" smtClean="0">
                <a:latin typeface="Cambria"/>
              </a:rPr>
              <a:t>)</a:t>
            </a:r>
            <a:r>
              <a:rPr lang="en-US" sz="1600" dirty="0">
                <a:latin typeface="Cambria"/>
              </a:rPr>
              <a:t> </a:t>
            </a:r>
            <a:r>
              <a:rPr lang="en-US" sz="1600" dirty="0" smtClean="0">
                <a:latin typeface="Cambria"/>
              </a:rPr>
              <a:t>	capital </a:t>
            </a:r>
            <a:r>
              <a:rPr lang="en-US" sz="1600" dirty="0">
                <a:latin typeface="Cambria"/>
              </a:rPr>
              <a:t>letter, no </a:t>
            </a:r>
            <a:r>
              <a:rPr lang="en-US" sz="1600" dirty="0" smtClean="0">
                <a:latin typeface="Cambria"/>
              </a:rPr>
              <a:t>spaces				Java</a:t>
            </a:r>
            <a:r>
              <a:rPr lang="en-US" sz="1600" dirty="0">
                <a:latin typeface="Cambria"/>
              </a:rPr>
              <a:t>, </a:t>
            </a:r>
            <a:r>
              <a:rPr lang="en-US" sz="1600" dirty="0" err="1">
                <a:latin typeface="Cambria"/>
              </a:rPr>
              <a:t>TypeScript</a:t>
            </a:r>
            <a:endParaRPr lang="en-US" sz="1600" dirty="0">
              <a:latin typeface="Cambria"/>
            </a:endParaRPr>
          </a:p>
          <a:p>
            <a:endParaRPr lang="en-US" sz="1600" dirty="0" smtClean="0">
              <a:latin typeface="Cambria"/>
            </a:endParaRPr>
          </a:p>
          <a:p>
            <a:r>
              <a:rPr lang="en-US" sz="1600" b="1" dirty="0" smtClean="0">
                <a:latin typeface="Cambria"/>
              </a:rPr>
              <a:t>Snake Case</a:t>
            </a:r>
            <a:r>
              <a:rPr lang="en-US" sz="1600" dirty="0" smtClean="0">
                <a:latin typeface="Cambria"/>
              </a:rPr>
              <a:t>	All </a:t>
            </a:r>
            <a:r>
              <a:rPr lang="en-US" sz="1600" dirty="0">
                <a:latin typeface="Cambria"/>
              </a:rPr>
              <a:t>lowercase, words </a:t>
            </a:r>
            <a:r>
              <a:rPr lang="en-US" sz="1600" dirty="0" smtClean="0">
                <a:latin typeface="Cambria"/>
              </a:rPr>
              <a:t>		</a:t>
            </a:r>
            <a:r>
              <a:rPr lang="en-US" sz="1600" dirty="0">
                <a:latin typeface="Cambria"/>
              </a:rPr>
              <a:t> </a:t>
            </a:r>
            <a:r>
              <a:rPr lang="en-US" sz="1600" b="1" dirty="0" err="1" smtClean="0">
                <a:latin typeface="Cambria"/>
              </a:rPr>
              <a:t>user_id</a:t>
            </a:r>
            <a:r>
              <a:rPr lang="en-US" sz="1600" dirty="0" smtClean="0">
                <a:latin typeface="Cambria"/>
              </a:rPr>
              <a:t>			Variables </a:t>
            </a:r>
            <a:r>
              <a:rPr lang="en-US" sz="1600" dirty="0">
                <a:latin typeface="Cambria"/>
              </a:rPr>
              <a:t>and functions </a:t>
            </a:r>
            <a:r>
              <a:rPr lang="en-US" sz="1600" dirty="0" smtClean="0">
                <a:latin typeface="Cambria"/>
              </a:rPr>
              <a:t>(</a:t>
            </a:r>
            <a:r>
              <a:rPr lang="en-US" sz="1600" dirty="0" err="1" smtClean="0">
                <a:latin typeface="Cambria"/>
              </a:rPr>
              <a:t>snake_case</a:t>
            </a:r>
            <a:r>
              <a:rPr lang="en-US" sz="1600" dirty="0" smtClean="0">
                <a:latin typeface="Cambria"/>
              </a:rPr>
              <a:t>) 	separated </a:t>
            </a:r>
            <a:r>
              <a:rPr lang="en-US" sz="1600" dirty="0">
                <a:latin typeface="Cambria"/>
              </a:rPr>
              <a:t>by underscores </a:t>
            </a:r>
            <a:r>
              <a:rPr lang="en-US" sz="1600" dirty="0" smtClean="0">
                <a:latin typeface="Cambria"/>
              </a:rPr>
              <a:t>(_)				</a:t>
            </a:r>
            <a:r>
              <a:rPr lang="en-US" sz="1600" dirty="0">
                <a:latin typeface="Cambria"/>
              </a:rPr>
              <a:t>in Python, Ruby</a:t>
            </a:r>
          </a:p>
          <a:p>
            <a:endParaRPr lang="en-US" sz="1600" dirty="0" smtClean="0">
              <a:latin typeface="Cambria"/>
            </a:endParaRPr>
          </a:p>
          <a:p>
            <a:r>
              <a:rPr lang="en-US" sz="1600" b="1" dirty="0" smtClean="0">
                <a:latin typeface="Cambria"/>
              </a:rPr>
              <a:t>Screaming </a:t>
            </a:r>
            <a:r>
              <a:rPr lang="en-US" sz="1600" b="1" dirty="0">
                <a:latin typeface="Cambria"/>
              </a:rPr>
              <a:t>Snake </a:t>
            </a:r>
            <a:r>
              <a:rPr lang="en-US" sz="1600" b="1" dirty="0" smtClean="0">
                <a:latin typeface="Cambria"/>
              </a:rPr>
              <a:t>	</a:t>
            </a:r>
            <a:r>
              <a:rPr lang="en-US" sz="1600" dirty="0" smtClean="0">
                <a:latin typeface="Cambria"/>
              </a:rPr>
              <a:t>All </a:t>
            </a:r>
            <a:r>
              <a:rPr lang="en-US" sz="1600" dirty="0">
                <a:latin typeface="Cambria"/>
              </a:rPr>
              <a:t>uppercase, </a:t>
            </a:r>
            <a:r>
              <a:rPr lang="en-US" sz="1600" dirty="0" smtClean="0">
                <a:latin typeface="Cambria"/>
              </a:rPr>
              <a:t>words		</a:t>
            </a:r>
            <a:r>
              <a:rPr lang="en-US" sz="1600" b="1" dirty="0" smtClean="0">
                <a:latin typeface="Cambria"/>
              </a:rPr>
              <a:t>USER_ID</a:t>
            </a:r>
            <a:r>
              <a:rPr lang="en-US" sz="1600" dirty="0" smtClean="0">
                <a:latin typeface="Cambria"/>
              </a:rPr>
              <a:t>			Constants </a:t>
            </a:r>
            <a:r>
              <a:rPr lang="en-US" sz="1600" dirty="0">
                <a:latin typeface="Cambria"/>
              </a:rPr>
              <a:t>in Python, </a:t>
            </a:r>
            <a:endParaRPr lang="en-US" sz="1600" dirty="0" smtClean="0">
              <a:latin typeface="Cambria"/>
            </a:endParaRPr>
          </a:p>
          <a:p>
            <a:r>
              <a:rPr lang="en-US" sz="1600" dirty="0" smtClean="0">
                <a:latin typeface="Cambria"/>
              </a:rPr>
              <a:t>(</a:t>
            </a:r>
            <a:r>
              <a:rPr lang="en-US" sz="1600" dirty="0">
                <a:latin typeface="Cambria"/>
              </a:rPr>
              <a:t>SCREAMING_SNAKE</a:t>
            </a:r>
            <a:r>
              <a:rPr lang="en-US" sz="1600" dirty="0" smtClean="0">
                <a:latin typeface="Cambria"/>
              </a:rPr>
              <a:t>) separated </a:t>
            </a:r>
            <a:r>
              <a:rPr lang="en-US" sz="1600" dirty="0">
                <a:latin typeface="Cambria"/>
              </a:rPr>
              <a:t>by underscores </a:t>
            </a:r>
            <a:r>
              <a:rPr lang="en-US" sz="1600" dirty="0" smtClean="0">
                <a:latin typeface="Cambria"/>
              </a:rPr>
              <a:t>(_)</a:t>
            </a:r>
            <a:r>
              <a:rPr lang="en-US" sz="1600" dirty="0">
                <a:latin typeface="Cambria"/>
              </a:rPr>
              <a:t>	</a:t>
            </a:r>
            <a:r>
              <a:rPr lang="en-US" sz="1600" dirty="0" smtClean="0">
                <a:latin typeface="Cambria"/>
              </a:rPr>
              <a:t>			Java, macros C, C++</a:t>
            </a:r>
            <a:r>
              <a:rPr lang="en-US" sz="1600" dirty="0">
                <a:latin typeface="Cambria"/>
              </a:rPr>
              <a:t>	</a:t>
            </a:r>
            <a:endParaRPr lang="en-US" sz="1600" b="1" dirty="0">
              <a:latin typeface="Cambria"/>
            </a:endParaRPr>
          </a:p>
          <a:p>
            <a:r>
              <a:rPr lang="en-US" sz="1600" dirty="0" smtClean="0">
                <a:latin typeface="Cambria"/>
              </a:rPr>
              <a:t>	</a:t>
            </a:r>
          </a:p>
          <a:p>
            <a:r>
              <a:rPr lang="en-US" sz="1600" b="1" dirty="0" smtClean="0">
                <a:latin typeface="Cambria"/>
              </a:rPr>
              <a:t>Kebab Case	</a:t>
            </a:r>
            <a:r>
              <a:rPr lang="en-US" sz="1600" dirty="0" smtClean="0">
                <a:latin typeface="Cambria"/>
              </a:rPr>
              <a:t>All </a:t>
            </a:r>
            <a:r>
              <a:rPr lang="en-US" sz="1600" dirty="0">
                <a:latin typeface="Cambria"/>
              </a:rPr>
              <a:t>lowercase, </a:t>
            </a:r>
            <a:r>
              <a:rPr lang="en-US" sz="1600" dirty="0" smtClean="0">
                <a:latin typeface="Cambria"/>
              </a:rPr>
              <a:t>words		</a:t>
            </a:r>
            <a:r>
              <a:rPr lang="en-US" sz="1600" b="1" dirty="0" smtClean="0">
                <a:latin typeface="Cambria"/>
              </a:rPr>
              <a:t>user-id</a:t>
            </a:r>
            <a:r>
              <a:rPr lang="en-US" sz="1600" dirty="0" smtClean="0">
                <a:latin typeface="Cambria"/>
              </a:rPr>
              <a:t> 			URLs</a:t>
            </a:r>
            <a:r>
              <a:rPr lang="en-US" sz="1600" dirty="0">
                <a:latin typeface="Cambria"/>
              </a:rPr>
              <a:t>, CSS classes</a:t>
            </a:r>
            <a:r>
              <a:rPr lang="en-US" sz="1600" dirty="0" smtClean="0">
                <a:latin typeface="Cambria"/>
              </a:rPr>
              <a:t>,</a:t>
            </a:r>
            <a:endParaRPr lang="en-US" sz="1600" b="1" dirty="0" smtClean="0">
              <a:latin typeface="Cambria"/>
            </a:endParaRPr>
          </a:p>
          <a:p>
            <a:r>
              <a:rPr lang="en-US" sz="1600" dirty="0" smtClean="0">
                <a:latin typeface="Cambria"/>
              </a:rPr>
              <a:t>(</a:t>
            </a:r>
            <a:r>
              <a:rPr lang="en-US" sz="1600" dirty="0">
                <a:latin typeface="Cambria"/>
              </a:rPr>
              <a:t>kebab-case</a:t>
            </a:r>
            <a:r>
              <a:rPr lang="en-US" sz="1600" dirty="0" smtClean="0">
                <a:latin typeface="Cambria"/>
              </a:rPr>
              <a:t>) 	separated </a:t>
            </a:r>
            <a:r>
              <a:rPr lang="en-US" sz="1600" dirty="0">
                <a:latin typeface="Cambria"/>
              </a:rPr>
              <a:t>by hyphens </a:t>
            </a:r>
            <a:r>
              <a:rPr lang="en-US" sz="1600" dirty="0" smtClean="0">
                <a:latin typeface="Cambria"/>
              </a:rPr>
              <a:t>(-)				HTML elements</a:t>
            </a:r>
            <a:endParaRPr sz="2400" dirty="0">
              <a:latin typeface="Cambria"/>
            </a:endParaRPr>
          </a:p>
          <a:p>
            <a:endParaRPr sz="28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205930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Defining a struct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610186" y="1909748"/>
            <a:ext cx="8135334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latin typeface="Cambria"/>
              </a:rPr>
              <a:t>struct</a:t>
            </a:r>
            <a:r>
              <a:rPr b="0" dirty="0">
                <a:latin typeface="Cambria"/>
              </a:rPr>
              <a:t> Sample {</a:t>
            </a:r>
          </a:p>
          <a:p>
            <a:r>
              <a:rPr b="0" dirty="0">
                <a:latin typeface="Cambria"/>
              </a:rPr>
              <a:t>	</a:t>
            </a:r>
            <a:r>
              <a:rPr b="0" dirty="0" err="1">
                <a:latin typeface="Cambria"/>
              </a:rPr>
              <a:t>adc_counts</a:t>
            </a:r>
            <a:r>
              <a:rPr b="0" dirty="0">
                <a:latin typeface="Cambria"/>
              </a:rPr>
              <a:t> : u32,</a:t>
            </a:r>
          </a:p>
          <a:p>
            <a:r>
              <a:rPr b="0" dirty="0">
                <a:latin typeface="Cambria"/>
              </a:rPr>
              <a:t>	psi : f32,</a:t>
            </a:r>
          </a:p>
          <a:p>
            <a:r>
              <a:rPr b="0" dirty="0">
                <a:latin typeface="Cambria"/>
              </a:rPr>
              <a:t>	</a:t>
            </a:r>
            <a:r>
              <a:rPr b="0" dirty="0" err="1">
                <a:latin typeface="Cambria"/>
              </a:rPr>
              <a:t>timestamp_ms</a:t>
            </a:r>
            <a:r>
              <a:rPr b="0" dirty="0">
                <a:latin typeface="Cambria"/>
              </a:rPr>
              <a:t> : u64,</a:t>
            </a:r>
          </a:p>
          <a:p>
            <a:r>
              <a:rPr b="0" dirty="0" smtClean="0">
                <a:latin typeface="Cambria"/>
              </a:rPr>
              <a:t>}</a:t>
            </a:r>
            <a:endParaRPr dirty="0">
              <a:latin typeface="Cambria"/>
            </a:endParaRPr>
          </a:p>
          <a:p>
            <a:r>
              <a:rPr b="0" dirty="0" smtClean="0">
                <a:latin typeface="Cambria"/>
              </a:rPr>
              <a:t>Fields </a:t>
            </a:r>
            <a:r>
              <a:rPr b="0" dirty="0">
                <a:latin typeface="Cambria"/>
              </a:rPr>
              <a:t>are separated by </a:t>
            </a:r>
            <a:r>
              <a:rPr b="1" dirty="0">
                <a:latin typeface="Cambria"/>
              </a:rPr>
              <a:t>commas</a:t>
            </a:r>
          </a:p>
          <a:p>
            <a:r>
              <a:rPr b="0" dirty="0">
                <a:latin typeface="Cambria"/>
              </a:rPr>
              <a:t>No semicolon after the closing </a:t>
            </a:r>
            <a:r>
              <a:rPr b="0" dirty="0" smtClean="0">
                <a:latin typeface="Cambria"/>
              </a:rPr>
              <a:t>brace</a:t>
            </a:r>
            <a:endParaRPr lang="en-US" b="0" dirty="0" smtClean="0">
              <a:latin typeface="Cambria"/>
            </a:endParaRPr>
          </a:p>
          <a:p>
            <a:r>
              <a:rPr lang="en-US" dirty="0">
                <a:latin typeface="Cambria"/>
              </a:rPr>
              <a:t>Type names are </a:t>
            </a:r>
            <a:r>
              <a:rPr lang="en-US" b="1" dirty="0" err="1">
                <a:latin typeface="Cambria"/>
              </a:rPr>
              <a:t>CamelCase</a:t>
            </a:r>
            <a:r>
              <a:rPr lang="en-US" dirty="0">
                <a:latin typeface="Cambria"/>
              </a:rPr>
              <a:t>, fields are </a:t>
            </a:r>
            <a:r>
              <a:rPr lang="en-US" b="1" dirty="0" err="1" smtClean="0">
                <a:latin typeface="Cambria"/>
              </a:rPr>
              <a:t>snake_case</a:t>
            </a:r>
            <a:endParaRPr lang="en-US" b="1" dirty="0" smtClean="0">
              <a:latin typeface="Cambria"/>
            </a:endParaRPr>
          </a:p>
          <a:p>
            <a:endParaRPr lang="en-US" sz="2800" b="1" dirty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You can turn if off for a specific </a:t>
            </a:r>
            <a:r>
              <a:rPr lang="en-US" sz="2800" dirty="0" err="1" smtClean="0">
                <a:latin typeface="Cambria"/>
              </a:rPr>
              <a:t>struct</a:t>
            </a:r>
            <a:r>
              <a:rPr lang="en-US" sz="2800" dirty="0" smtClean="0">
                <a:latin typeface="Cambria"/>
              </a:rPr>
              <a:t> by using </a:t>
            </a:r>
            <a:r>
              <a:rPr lang="en-US" sz="2800" b="1" dirty="0" smtClean="0">
                <a:latin typeface="Cambria"/>
              </a:rPr>
              <a:t>#[allow(</a:t>
            </a:r>
            <a:r>
              <a:rPr lang="en-US" sz="2800" b="1" dirty="0" err="1" smtClean="0">
                <a:latin typeface="Cambria"/>
              </a:rPr>
              <a:t>non_camel_case_types</a:t>
            </a:r>
            <a:r>
              <a:rPr lang="en-US" sz="2800" b="1" dirty="0" smtClean="0">
                <a:latin typeface="Cambria"/>
              </a:rPr>
              <a:t>)] </a:t>
            </a:r>
          </a:p>
          <a:p>
            <a:endParaRPr lang="en-US" sz="2800" b="1" dirty="0" smtClean="0">
              <a:latin typeface="Cambria"/>
            </a:endParaRPr>
          </a:p>
          <a:p>
            <a:r>
              <a:rPr lang="en-US" sz="2800" dirty="0" smtClean="0">
                <a:latin typeface="Cambria"/>
              </a:rPr>
              <a:t>Not recommended to turn off the standard</a:t>
            </a:r>
          </a:p>
          <a:p>
            <a:r>
              <a:rPr lang="en-US" sz="2800" dirty="0">
                <a:latin typeface="Cambria"/>
              </a:rPr>
              <a:t>M</a:t>
            </a:r>
            <a:r>
              <a:rPr lang="en-US" sz="2800" dirty="0" smtClean="0">
                <a:latin typeface="Cambria"/>
              </a:rPr>
              <a:t>akes it easier to read others code</a:t>
            </a:r>
            <a:endParaRPr lang="en-US" sz="2800" dirty="0">
              <a:latin typeface="Cambria"/>
            </a:endParaRPr>
          </a:p>
          <a:p>
            <a:endParaRPr sz="28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44956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Rust Programming Guidelines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047386"/>
              </p:ext>
            </p:extLst>
          </p:nvPr>
        </p:nvGraphicFramePr>
        <p:xfrm>
          <a:off x="1680972" y="2609288"/>
          <a:ext cx="7754430" cy="4932360"/>
        </p:xfrm>
        <a:graphic>
          <a:graphicData uri="http://schemas.openxmlformats.org/drawingml/2006/table">
            <a:tbl>
              <a:tblPr/>
              <a:tblGrid>
                <a:gridCol w="3877215"/>
                <a:gridCol w="3877215"/>
              </a:tblGrid>
              <a:tr h="266614">
                <a:tc>
                  <a:txBody>
                    <a:bodyPr/>
                    <a:lstStyle/>
                    <a:p>
                      <a:r>
                        <a:rPr lang="en-US" sz="1300" dirty="0"/>
                        <a:t>Item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Convention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Crates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>
                          <a:hlinkClick r:id="rId3"/>
                        </a:rPr>
                        <a:t>unclear</a:t>
                      </a:r>
                      <a:endParaRPr lang="en-US" sz="1300"/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 dirty="0"/>
                        <a:t>Modules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Types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UpperCamelCase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Traits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UpperCamelCase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Enum variants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UpperCamelCase</a:t>
                      </a:r>
                      <a:endParaRPr lang="en-US" sz="1300" dirty="0"/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Functions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Methods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General constructors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new or </a:t>
                      </a:r>
                      <a:r>
                        <a:rPr lang="en-US" sz="1300" dirty="0" err="1"/>
                        <a:t>with_more_details</a:t>
                      </a:r>
                      <a:endParaRPr lang="en-US" sz="1300" dirty="0"/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Conversion constructors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from_some_other_type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Macros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snake_case!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Local variables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Statics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SCREAMING_SNAKE_CASE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Constants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SCREAMING_SNAKE_CASE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66575">
                <a:tc>
                  <a:txBody>
                    <a:bodyPr/>
                    <a:lstStyle/>
                    <a:p>
                      <a:r>
                        <a:rPr lang="en-US" sz="1300"/>
                        <a:t>Type parameters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concise UpperCamelCase, usually single uppercase letter: T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66575">
                <a:tc>
                  <a:txBody>
                    <a:bodyPr/>
                    <a:lstStyle/>
                    <a:p>
                      <a:r>
                        <a:rPr lang="en-US" sz="1300"/>
                        <a:t>Lifetimes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short lowercase, usually a single letter: 'a, 'de, 'src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66614">
                <a:tc>
                  <a:txBody>
                    <a:bodyPr/>
                    <a:lstStyle/>
                    <a:p>
                      <a:r>
                        <a:rPr lang="en-US" sz="1300"/>
                        <a:t>Features</a:t>
                      </a:r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hlinkClick r:id="rId4"/>
                        </a:rPr>
                        <a:t>unclear</a:t>
                      </a:r>
                      <a:r>
                        <a:rPr lang="en-US" sz="1300" dirty="0"/>
                        <a:t> but see </a:t>
                      </a:r>
                      <a:r>
                        <a:rPr lang="en-US" sz="1300" dirty="0">
                          <a:hlinkClick r:id="rId5"/>
                        </a:rPr>
                        <a:t>C-FEATURE</a:t>
                      </a:r>
                      <a:endParaRPr lang="en-US" sz="1300" dirty="0"/>
                    </a:p>
                  </a:txBody>
                  <a:tcPr marL="66654" marR="66654" marT="33327" marB="333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502920" y="1714320"/>
            <a:ext cx="91937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general, Rust tends to use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UpperCamelCase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for "type-level" constructs (types and traits) and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snake_case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for "value-level" constructs. More precisely</a:t>
            </a:r>
            <a:r>
              <a:rPr kumimoji="0" lang="en-US" sz="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455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Giving it a value: C and C++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0" y="1949942"/>
            <a:ext cx="8974719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926080" algn="l"/>
              </a:tabLst>
            </a:pPr>
            <a:r>
              <a:rPr sz="2600" b="0" dirty="0" err="1">
                <a:latin typeface="Cambria"/>
              </a:rPr>
              <a:t>struct</a:t>
            </a:r>
            <a:r>
              <a:rPr sz="2600" b="0" dirty="0">
                <a:latin typeface="Cambria"/>
              </a:rPr>
              <a:t> sample </a:t>
            </a:r>
            <a:r>
              <a:rPr sz="2600" b="0" dirty="0" err="1">
                <a:latin typeface="Cambria"/>
              </a:rPr>
              <a:t>my_sample</a:t>
            </a:r>
            <a:r>
              <a:rPr sz="2600" b="0" dirty="0">
                <a:latin typeface="Cambria"/>
              </a:rPr>
              <a:t> = { 1456, 50.0f, 12345 } ;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>
                <a:latin typeface="Cambria"/>
              </a:rPr>
              <a:t>Order matters!  Better, name the members: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 err="1">
                <a:latin typeface="Cambria"/>
              </a:rPr>
              <a:t>struct</a:t>
            </a:r>
            <a:r>
              <a:rPr sz="2600" b="0" dirty="0">
                <a:latin typeface="Cambria"/>
              </a:rPr>
              <a:t> sample </a:t>
            </a:r>
            <a:r>
              <a:rPr sz="2600" b="0" dirty="0" err="1">
                <a:latin typeface="Cambria"/>
              </a:rPr>
              <a:t>my_sample</a:t>
            </a:r>
            <a:r>
              <a:rPr sz="2600" b="0" dirty="0">
                <a:latin typeface="Cambria"/>
              </a:rPr>
              <a:t> = {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>
                <a:latin typeface="Cambria"/>
              </a:rPr>
              <a:t>	.</a:t>
            </a:r>
            <a:r>
              <a:rPr sz="2600" b="0" dirty="0" err="1">
                <a:latin typeface="Cambria"/>
              </a:rPr>
              <a:t>adc_counts</a:t>
            </a:r>
            <a:r>
              <a:rPr sz="2600" b="0" dirty="0">
                <a:latin typeface="Cambria"/>
              </a:rPr>
              <a:t>	= 1456,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>
                <a:latin typeface="Cambria"/>
              </a:rPr>
              <a:t>	.psi	= 50.0f,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>
                <a:latin typeface="Cambria"/>
              </a:rPr>
              <a:t>	.</a:t>
            </a:r>
            <a:r>
              <a:rPr sz="2600" b="0" dirty="0" err="1">
                <a:latin typeface="Cambria"/>
              </a:rPr>
              <a:t>timestamp_ms</a:t>
            </a:r>
            <a:r>
              <a:rPr sz="2600" b="0" dirty="0">
                <a:latin typeface="Cambria"/>
              </a:rPr>
              <a:t>	= 12345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 dirty="0">
                <a:latin typeface="Cambria"/>
              </a:rPr>
              <a:t>} </a:t>
            </a:r>
            <a:r>
              <a:rPr sz="2600" b="0" dirty="0" smtClean="0">
                <a:latin typeface="Cambria"/>
              </a:rPr>
              <a:t>;</a:t>
            </a:r>
            <a:endParaRPr lang="en-US" sz="2600" dirty="0">
              <a:latin typeface="Cambria"/>
            </a:endParaRPr>
          </a:p>
          <a:p>
            <a:pPr>
              <a:tabLst>
                <a:tab pos="548640" algn="l"/>
                <a:tab pos="2926080" algn="l"/>
              </a:tabLst>
            </a:pPr>
            <a:endParaRPr lang="en-US" sz="2600" dirty="0" smtClean="0">
              <a:latin typeface="Cambria"/>
            </a:endParaRPr>
          </a:p>
          <a:p>
            <a:pPr>
              <a:tabLst>
                <a:tab pos="548640" algn="l"/>
                <a:tab pos="2926080" algn="l"/>
              </a:tabLst>
            </a:pPr>
            <a:r>
              <a:rPr lang="en-US" sz="2600" dirty="0" smtClean="0">
                <a:latin typeface="Cambria"/>
              </a:rPr>
              <a:t>But we still need this definition for the type to precede it:</a:t>
            </a:r>
            <a:endParaRPr lang="en-US" sz="2600" dirty="0">
              <a:latin typeface="Cambria"/>
            </a:endParaRPr>
          </a:p>
          <a:p>
            <a:r>
              <a:rPr lang="en-US" sz="1600" b="1" dirty="0" err="1">
                <a:latin typeface="Cambria"/>
              </a:rPr>
              <a:t>typedef</a:t>
            </a:r>
            <a:r>
              <a:rPr lang="en-US" sz="1600" b="1" dirty="0">
                <a:latin typeface="Cambria"/>
              </a:rPr>
              <a:t> </a:t>
            </a:r>
            <a:r>
              <a:rPr lang="en-US" sz="1600" b="1" dirty="0" err="1">
                <a:latin typeface="Cambria"/>
              </a:rPr>
              <a:t>struct</a:t>
            </a:r>
            <a:r>
              <a:rPr lang="en-US" sz="1600" dirty="0">
                <a:latin typeface="Cambria"/>
              </a:rPr>
              <a:t> sample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1600" dirty="0">
                <a:latin typeface="Cambria"/>
              </a:rPr>
              <a:t>	uint32_t	</a:t>
            </a:r>
            <a:r>
              <a:rPr lang="en-US" sz="1600" dirty="0" err="1">
                <a:latin typeface="Cambria"/>
              </a:rPr>
              <a:t>adc_counts</a:t>
            </a:r>
            <a:r>
              <a:rPr lang="en-US" sz="16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1600" dirty="0">
                <a:latin typeface="Cambria"/>
              </a:rPr>
              <a:t>	float	psi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1600" dirty="0">
                <a:latin typeface="Cambria"/>
              </a:rPr>
              <a:t>	uint64_t	</a:t>
            </a:r>
            <a:r>
              <a:rPr lang="en-US" sz="1600" dirty="0" err="1">
                <a:latin typeface="Cambria"/>
              </a:rPr>
              <a:t>timestamp_ms</a:t>
            </a:r>
            <a:r>
              <a:rPr lang="en-US" sz="16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lang="en-US" sz="1600" dirty="0">
                <a:latin typeface="Cambria"/>
              </a:rPr>
              <a:t>} </a:t>
            </a:r>
            <a:r>
              <a:rPr lang="en-US" sz="1600" dirty="0" err="1">
                <a:latin typeface="Cambria"/>
              </a:rPr>
              <a:t>sample_t</a:t>
            </a:r>
            <a:r>
              <a:rPr lang="en-US" sz="160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2926080" algn="l"/>
              </a:tabLst>
            </a:pPr>
            <a:endParaRPr sz="26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Giving it a value: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let my_sample = Sample {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	adc_counts	: 1456,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	psi	: 50.0,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	timestamp_ms	: 12345,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} ;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1">
                <a:latin typeface="Cambria"/>
              </a:rPr>
              <a:t>Every</a:t>
            </a:r>
            <a:r>
              <a:rPr sz="2800" b="0">
                <a:latin typeface="Cambria"/>
              </a:rPr>
              <a:t> field must be given a value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The compiler will not let you forget one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800" b="0">
                <a:latin typeface="Cambria"/>
              </a:rPr>
              <a:t>Use </a:t>
            </a:r>
            <a:r>
              <a:rPr sz="2800" b="1">
                <a:latin typeface="Cambria"/>
              </a:rPr>
              <a:t>let mut</a:t>
            </a:r>
            <a:r>
              <a:rPr sz="2800" b="0">
                <a:latin typeface="Cambria"/>
              </a:rPr>
              <a:t> if you intend to change it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Reaching a Member: the dot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C and C++:</a:t>
            </a:r>
          </a:p>
          <a:p>
            <a:r>
              <a:rPr sz="2800" b="0">
                <a:latin typeface="Cambria"/>
              </a:rPr>
              <a:t>	my_sample.psi = 50.0f ;</a:t>
            </a:r>
          </a:p>
          <a:p>
            <a:r>
              <a:rPr sz="2800" b="0">
                <a:latin typeface="Cambria"/>
              </a:rPr>
              <a:t>	printf("%f\n", my_sample.psi) ;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Rust:</a:t>
            </a:r>
          </a:p>
          <a:p>
            <a:r>
              <a:rPr sz="2800" b="0">
                <a:latin typeface="Cambria"/>
              </a:rPr>
              <a:t>	my_sample.psi = 50.0 ;</a:t>
            </a:r>
          </a:p>
          <a:p>
            <a:r>
              <a:rPr sz="2800" b="0">
                <a:latin typeface="Cambria"/>
              </a:rPr>
              <a:t>	println!("{}", my_sample.psi) ;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The </a:t>
            </a:r>
            <a:r>
              <a:rPr sz="2800" b="1">
                <a:latin typeface="Cambria"/>
              </a:rPr>
              <a:t>dot operator</a:t>
            </a:r>
            <a:r>
              <a:rPr sz="2800" b="0">
                <a:latin typeface="Cambria"/>
              </a:rPr>
              <a:t> is the same in all three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struct in 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The struct has </a:t>
            </a:r>
            <a:r>
              <a:rPr sz="2600" b="1">
                <a:latin typeface="Cambria"/>
              </a:rPr>
              <a:t>one base address</a:t>
            </a:r>
            <a:r>
              <a:rPr sz="2600" b="0">
                <a:latin typeface="Cambria"/>
              </a:rPr>
              <a:t> :   &amp;my_sample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Each member sits at a fixed </a:t>
            </a:r>
            <a:r>
              <a:rPr sz="2600" b="1">
                <a:latin typeface="Cambria"/>
              </a:rPr>
              <a:t>offset</a:t>
            </a:r>
            <a:r>
              <a:rPr sz="2600" b="0">
                <a:latin typeface="Cambria"/>
              </a:rPr>
              <a:t> from that base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address of member = base address + offset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1005840" y="5074920"/>
            <a:ext cx="1828800" cy="841248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Cambria"/>
              </a:rPr>
              <a:t>adc_counts</a:t>
            </a:r>
          </a:p>
          <a:p>
            <a:pPr algn="ctr"/>
            <a:r>
              <a:rPr sz="1100" i="1">
                <a:solidFill>
                  <a:srgbClr val="000000"/>
                </a:solidFill>
                <a:latin typeface="Cambria"/>
              </a:rPr>
              <a:t>4 bytes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594360" y="59893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Cambria"/>
              </a:rPr>
              <a:t>offset 0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2834640" y="5074920"/>
            <a:ext cx="1828800" cy="841248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Cambria"/>
              </a:rPr>
              <a:t>psi</a:t>
            </a:r>
          </a:p>
          <a:p>
            <a:pPr algn="ctr"/>
            <a:r>
              <a:rPr sz="1100" i="1">
                <a:solidFill>
                  <a:srgbClr val="000000"/>
                </a:solidFill>
                <a:latin typeface="Cambria"/>
              </a:rPr>
              <a:t>4 bytes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423160" y="59893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Cambria"/>
              </a:rPr>
              <a:t>offset 4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663440" y="5074920"/>
            <a:ext cx="3657600" cy="841248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Cambria"/>
              </a:rPr>
              <a:t>timestamp_ms</a:t>
            </a:r>
          </a:p>
          <a:p>
            <a:pPr algn="ctr"/>
            <a:r>
              <a:rPr sz="1100" i="1">
                <a:solidFill>
                  <a:srgbClr val="000000"/>
                </a:solidFill>
                <a:latin typeface="Cambria"/>
              </a:rPr>
              <a:t>8 bytes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4251960" y="59893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Cambria"/>
              </a:rPr>
              <a:t>offset 8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7909560" y="5989320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Cambria"/>
              </a:rPr>
              <a:t>offset 16</a:t>
            </a:r>
          </a:p>
        </p:txBody>
      </p:sp>
      <p:sp>
        <p:nvSpPr>
          <p:cNvPr id="396" name="Up Arrow 395"/>
          <p:cNvSpPr/>
          <p:nvPr/>
        </p:nvSpPr>
        <p:spPr>
          <a:xfrm>
            <a:off x="923544" y="6355080"/>
            <a:ext cx="164592" cy="274320"/>
          </a:xfrm>
          <a:prstGeom prst="up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TextBox 396"/>
          <p:cNvSpPr txBox="1"/>
          <p:nvPr/>
        </p:nvSpPr>
        <p:spPr>
          <a:xfrm>
            <a:off x="1188720" y="6373368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mbria"/>
              </a:rPr>
              <a:t>&amp;my_sample   (base address)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Size and Offset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The compiler knows every offset at </a:t>
            </a:r>
            <a:r>
              <a:rPr sz="2800" b="1">
                <a:latin typeface="Cambria"/>
              </a:rPr>
              <a:t>compile time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C and C++:</a:t>
            </a:r>
          </a:p>
          <a:p>
            <a:r>
              <a:rPr sz="2800" b="0">
                <a:latin typeface="Cambria"/>
              </a:rPr>
              <a:t>	sizeof(struct sample)</a:t>
            </a:r>
          </a:p>
          <a:p>
            <a:r>
              <a:rPr sz="2800" b="0">
                <a:latin typeface="Cambria"/>
              </a:rPr>
              <a:t>	#include &lt;stddef.h&gt;</a:t>
            </a:r>
          </a:p>
          <a:p>
            <a:r>
              <a:rPr sz="2800" b="0">
                <a:latin typeface="Cambria"/>
              </a:rPr>
              <a:t>	offsetof(struct sample, psi)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Rust:</a:t>
            </a:r>
          </a:p>
          <a:p>
            <a:r>
              <a:rPr sz="2800" b="0">
                <a:latin typeface="Cambria"/>
              </a:rPr>
              <a:t>	std::mem::size_of::&lt;Sample&gt;()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Print these in your own program - do not guess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Padding and Alignment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dirty="0">
                <a:latin typeface="Cambria"/>
              </a:rPr>
              <a:t>Hardware reads memory fastest on </a:t>
            </a:r>
            <a:r>
              <a:rPr sz="2600" b="1" dirty="0">
                <a:latin typeface="Cambria"/>
              </a:rPr>
              <a:t>natural boundaries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>
                <a:latin typeface="Cambria"/>
              </a:rPr>
              <a:t>	a 4 byte value wants an address divisible by 4</a:t>
            </a:r>
          </a:p>
          <a:p>
            <a:r>
              <a:rPr sz="2600" b="0" dirty="0">
                <a:latin typeface="Cambria"/>
              </a:rPr>
              <a:t>	an 8 byte value wants an address divisible by 8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>
                <a:latin typeface="Cambria"/>
              </a:rPr>
              <a:t>The compiler inserts </a:t>
            </a:r>
            <a:r>
              <a:rPr sz="2600" b="1" dirty="0">
                <a:latin typeface="Cambria"/>
              </a:rPr>
              <a:t>padding bytes</a:t>
            </a:r>
            <a:r>
              <a:rPr sz="2600" b="0" dirty="0">
                <a:latin typeface="Cambria"/>
              </a:rPr>
              <a:t> to make this true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>
                <a:latin typeface="Cambria"/>
              </a:rPr>
              <a:t>So </a:t>
            </a:r>
            <a:r>
              <a:rPr sz="2600" b="0" dirty="0" err="1">
                <a:latin typeface="Cambria"/>
              </a:rPr>
              <a:t>sizeof</a:t>
            </a:r>
            <a:r>
              <a:rPr sz="2600" b="0" dirty="0">
                <a:latin typeface="Cambria"/>
              </a:rPr>
              <a:t>(</a:t>
            </a:r>
            <a:r>
              <a:rPr sz="2600" b="0" dirty="0" err="1">
                <a:latin typeface="Cambria"/>
              </a:rPr>
              <a:t>struct</a:t>
            </a:r>
            <a:r>
              <a:rPr sz="2600" b="0" dirty="0">
                <a:latin typeface="Cambria"/>
              </a:rPr>
              <a:t>) can be </a:t>
            </a:r>
            <a:r>
              <a:rPr sz="2600" b="1" dirty="0">
                <a:latin typeface="Cambria"/>
              </a:rPr>
              <a:t>larger</a:t>
            </a:r>
            <a:r>
              <a:rPr sz="2600" b="0" dirty="0">
                <a:latin typeface="Cambria"/>
              </a:rPr>
              <a:t> than the sum of its </a:t>
            </a:r>
            <a:r>
              <a:rPr sz="2600" b="0" dirty="0" smtClean="0">
                <a:latin typeface="Cambria"/>
              </a:rPr>
              <a:t>parts</a:t>
            </a:r>
            <a:endParaRPr lang="en-US" sz="2600" b="0" dirty="0" smtClean="0">
              <a:latin typeface="Cambria"/>
            </a:endParaRPr>
          </a:p>
          <a:p>
            <a:endParaRPr lang="en-US" sz="2600" dirty="0">
              <a:latin typeface="Cambria"/>
            </a:endParaRPr>
          </a:p>
          <a:p>
            <a:r>
              <a:rPr lang="en-US" sz="2600" b="0" dirty="0" smtClean="0">
                <a:latin typeface="Cambria"/>
              </a:rPr>
              <a:t>Let’s look at </a:t>
            </a:r>
            <a:r>
              <a:rPr lang="en-US" sz="2600" b="0" dirty="0" err="1" smtClean="0">
                <a:latin typeface="Cambria"/>
              </a:rPr>
              <a:t>mempractice</a:t>
            </a:r>
            <a:r>
              <a:rPr lang="en-US" sz="2600" b="0" dirty="0" smtClean="0">
                <a:latin typeface="Cambria"/>
              </a:rPr>
              <a:t> again</a:t>
            </a:r>
            <a:endParaRPr sz="26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Padding Costs Real 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struct bad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uint8_t	flag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uint64_t	stamp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uint8_t	id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} ;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1005840" y="4892040"/>
            <a:ext cx="329184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mbria"/>
              </a:rPr>
              <a:t>flag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594360" y="560527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offset 0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1335024" y="4892040"/>
            <a:ext cx="2304288" cy="640080"/>
          </a:xfrm>
          <a:prstGeom prst="rect">
            <a:avLst/>
          </a:prstGeom>
          <a:solidFill>
            <a:srgbClr val="D9D9D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mbria"/>
              </a:rPr>
              <a:t>pad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3639312" y="4892040"/>
            <a:ext cx="2633472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mbria"/>
              </a:rPr>
              <a:t>stamp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3227832" y="560527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offset 8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6272784" y="4892040"/>
            <a:ext cx="329184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mbria"/>
              </a:rPr>
              <a:t>id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5861304" y="5605272"/>
            <a:ext cx="822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offset 16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601968" y="4892040"/>
            <a:ext cx="2304288" cy="640080"/>
          </a:xfrm>
          <a:prstGeom prst="rect">
            <a:avLst/>
          </a:prstGeom>
          <a:solidFill>
            <a:srgbClr val="D9D9D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>
                <a:solidFill>
                  <a:srgbClr val="000000"/>
                </a:solidFill>
                <a:latin typeface="Cambria"/>
              </a:rPr>
              <a:t>pad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1005840" y="600760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Cambria"/>
              </a:rPr>
              <a:t>sizeof is 24 bytes:  10 of data,  14 of padding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Order Your Members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1111438" y="1965451"/>
            <a:ext cx="1191630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Rule of thumb: declare members </a:t>
            </a:r>
            <a:r>
              <a:rPr sz="2600" b="1">
                <a:latin typeface="Cambria"/>
              </a:rPr>
              <a:t>largest to smallest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struct good {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uint64_t	stamp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uint8_t	flag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	uint8_t	id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} ;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286000" algn="l"/>
              </a:tabLst>
            </a:pPr>
            <a:r>
              <a:rPr sz="2600" b="0">
                <a:latin typeface="Cambria"/>
              </a:rPr>
              <a:t>sizeof is now </a:t>
            </a:r>
            <a:r>
              <a:rPr sz="2600" b="1">
                <a:latin typeface="Cambria"/>
              </a:rPr>
              <a:t>16</a:t>
            </a:r>
            <a:r>
              <a:rPr sz="2600" b="0">
                <a:latin typeface="Cambria"/>
              </a:rPr>
              <a:t> bytes, not 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4910" y="6165072"/>
            <a:ext cx="329184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 dirty="0">
                <a:solidFill>
                  <a:srgbClr val="000000"/>
                </a:solidFill>
                <a:latin typeface="Cambria"/>
              </a:rPr>
              <a:t>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1111438" y="6165072"/>
            <a:ext cx="2633472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 dirty="0">
                <a:solidFill>
                  <a:srgbClr val="000000"/>
                </a:solidFill>
                <a:latin typeface="Cambria"/>
              </a:rPr>
              <a:t>stamp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74094" y="6165072"/>
            <a:ext cx="329184" cy="6400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200" b="0" dirty="0">
                <a:solidFill>
                  <a:srgbClr val="000000"/>
                </a:solidFill>
                <a:latin typeface="Cambria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3430" y="6924368"/>
            <a:ext cx="740664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>
                <a:solidFill>
                  <a:srgbClr val="000000"/>
                </a:solidFill>
                <a:latin typeface="Cambria"/>
              </a:rPr>
              <a:t>offset </a:t>
            </a:r>
            <a:endParaRPr lang="en-US" sz="1100" b="0" i="0" dirty="0" smtClean="0">
              <a:solidFill>
                <a:srgbClr val="000000"/>
              </a:solidFill>
              <a:latin typeface="Cambria"/>
            </a:endParaRPr>
          </a:p>
          <a:p>
            <a:pPr algn="ctr"/>
            <a:r>
              <a:rPr lang="en-US" sz="1100" dirty="0">
                <a:solidFill>
                  <a:srgbClr val="000000"/>
                </a:solidFill>
                <a:latin typeface="Cambria"/>
              </a:rPr>
              <a:t>8</a:t>
            </a:r>
            <a:endParaRPr sz="1100" b="0" i="0" dirty="0">
              <a:solidFill>
                <a:srgbClr val="000000"/>
              </a:solidFill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Controlling the Layout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C and C++ (compiler specific):</a:t>
            </a:r>
          </a:p>
          <a:p>
            <a:r>
              <a:rPr sz="2600" b="0">
                <a:latin typeface="Cambria"/>
              </a:rPr>
              <a:t>	#pragma pack(1)</a:t>
            </a:r>
          </a:p>
          <a:p>
            <a:r>
              <a:rPr sz="2600" b="0">
                <a:latin typeface="Cambria"/>
              </a:rPr>
              <a:t>	__attribute__((packed))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Rust:</a:t>
            </a:r>
          </a:p>
          <a:p>
            <a:r>
              <a:rPr sz="2600" b="0">
                <a:latin typeface="Cambria"/>
              </a:rPr>
              <a:t>	#[repr(C)]</a:t>
            </a:r>
          </a:p>
          <a:p>
            <a:r>
              <a:rPr sz="2600" b="0">
                <a:latin typeface="Cambria"/>
              </a:rPr>
              <a:t>	struct Sample { ... }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Rust may </a:t>
            </a:r>
            <a:r>
              <a:rPr sz="2600" b="1">
                <a:latin typeface="Cambria"/>
              </a:rPr>
              <a:t>reorder</a:t>
            </a:r>
            <a:r>
              <a:rPr sz="2600" b="0">
                <a:latin typeface="Cambria"/>
              </a:rPr>
              <a:t> fields unless you say #[repr(C)]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Pointers to structs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C and C++: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	struct sample *p = &amp;my_sample ;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	p-&gt;psi = 50.0f ;	same as (*p).psi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Rust: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	let p = &amp;my_sample ;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	p.psi	Rust dereferences for you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02920" algn="l"/>
                <a:tab pos="3931920" algn="l"/>
              </a:tabLst>
            </a:pPr>
            <a:r>
              <a:rPr sz="2400" b="0">
                <a:latin typeface="Cambria"/>
              </a:rPr>
              <a:t>There is </a:t>
            </a:r>
            <a:r>
              <a:rPr sz="2400" b="1">
                <a:latin typeface="Cambria"/>
              </a:rPr>
              <a:t>no -&gt; operator</a:t>
            </a:r>
            <a:r>
              <a:rPr sz="2400" b="0">
                <a:latin typeface="Cambria"/>
              </a:rPr>
              <a:t> in Rust</a:t>
            </a:r>
          </a:p>
        </p:txBody>
      </p:sp>
    </p:spTree>
    <p:extLst>
      <p:ext uri="{BB962C8B-B14F-4D97-AF65-F5344CB8AC3E}">
        <p14:creationId xmlns:p14="http://schemas.microsoft.com/office/powerpoint/2010/main" val="2196214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Pointers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0" y="1949942"/>
            <a:ext cx="8809765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Pointers are variables that are interpreted as addresses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b="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It is an indirection to the memory of interest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We use ( variable ) to denote the contents of an address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A pointer is the address of the contents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pointer to a variable &lt;= &amp; ( variable)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If we wish to get the contents pointed by the pointer, we dereference the pointer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err="1" smtClean="0">
                <a:latin typeface="Cambria"/>
              </a:rPr>
              <a:t>contents_pointed_to</a:t>
            </a:r>
            <a:r>
              <a:rPr lang="en-US" sz="2400" dirty="0" smtClean="0">
                <a:latin typeface="Cambria"/>
              </a:rPr>
              <a:t> &lt;= ((pointer))  </a:t>
            </a:r>
            <a:endParaRPr sz="2400" b="0" dirty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Handles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0" y="1949942"/>
            <a:ext cx="880976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A handle is a pointer to a pointer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b="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Handle &lt;= &amp; &amp; (variable)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b="0" dirty="0" smtClean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To get the contents pointed by the handle, we need to dereference twice:  handle -&gt; pointer -&gt; contents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>
                <a:latin typeface="Cambria"/>
              </a:rPr>
              <a:t>c</a:t>
            </a:r>
            <a:r>
              <a:rPr lang="en-US" sz="2400" dirty="0" smtClean="0">
                <a:latin typeface="Cambria"/>
              </a:rPr>
              <a:t>ontents &lt;= (((handle)))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r>
              <a:rPr lang="en-US" sz="2400" dirty="0" smtClean="0">
                <a:latin typeface="Cambria"/>
              </a:rPr>
              <a:t>See </a:t>
            </a:r>
            <a:r>
              <a:rPr lang="en-US" sz="2400" dirty="0" err="1" smtClean="0">
                <a:latin typeface="Cambria"/>
              </a:rPr>
              <a:t>mempractice</a:t>
            </a:r>
            <a:r>
              <a:rPr lang="en-US" sz="2400" dirty="0" smtClean="0">
                <a:latin typeface="Cambria"/>
              </a:rPr>
              <a:t> tool in pointer mode</a:t>
            </a:r>
          </a:p>
          <a:p>
            <a:pPr>
              <a:tabLst>
                <a:tab pos="502920" algn="l"/>
                <a:tab pos="3931920" algn="l"/>
              </a:tabLst>
            </a:pPr>
            <a:endParaRPr lang="en-US" sz="2400" b="0" dirty="0">
              <a:latin typeface="Cambria"/>
            </a:endParaRPr>
          </a:p>
          <a:p>
            <a:pPr>
              <a:tabLst>
                <a:tab pos="502920" algn="l"/>
                <a:tab pos="3931920" algn="l"/>
              </a:tabLst>
            </a:pPr>
            <a:endParaRPr lang="en-US" sz="24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145899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Structs inside structs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108960" algn="l"/>
              </a:tabLst>
            </a:pPr>
            <a:r>
              <a:rPr sz="2600" b="0" dirty="0" err="1">
                <a:latin typeface="Cambria"/>
              </a:rPr>
              <a:t>struct</a:t>
            </a:r>
            <a:r>
              <a:rPr sz="2600" b="0" dirty="0">
                <a:latin typeface="Cambria"/>
              </a:rPr>
              <a:t> reading {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	</a:t>
            </a:r>
            <a:r>
              <a:rPr sz="2600" b="0" dirty="0" err="1">
                <a:latin typeface="Cambria"/>
              </a:rPr>
              <a:t>struct</a:t>
            </a:r>
            <a:r>
              <a:rPr sz="2600" b="0" dirty="0">
                <a:latin typeface="Cambria"/>
              </a:rPr>
              <a:t> sample	sample ;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	uint8_t	</a:t>
            </a:r>
            <a:r>
              <a:rPr sz="2600" b="0" dirty="0" err="1">
                <a:latin typeface="Cambria"/>
              </a:rPr>
              <a:t>sensor_id</a:t>
            </a:r>
            <a:r>
              <a:rPr sz="2600" b="0" dirty="0">
                <a:latin typeface="Cambria"/>
              </a:rPr>
              <a:t> ;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} ;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Reach in with more dots: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	</a:t>
            </a:r>
            <a:r>
              <a:rPr sz="2600" b="0" dirty="0" err="1">
                <a:latin typeface="Cambria"/>
              </a:rPr>
              <a:t>my_reading.sample.psi</a:t>
            </a:r>
            <a:endParaRPr sz="2600" b="0" dirty="0">
              <a:latin typeface="Cambria"/>
            </a:endParaRPr>
          </a:p>
          <a:p>
            <a:pPr>
              <a:tabLst>
                <a:tab pos="548640" algn="l"/>
                <a:tab pos="310896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3108960" algn="l"/>
              </a:tabLst>
            </a:pPr>
            <a:r>
              <a:rPr sz="2600" b="0" dirty="0">
                <a:latin typeface="Cambria"/>
              </a:rPr>
              <a:t>Still one block of memory, still fixed </a:t>
            </a:r>
            <a:r>
              <a:rPr sz="2600" b="0" dirty="0" smtClean="0">
                <a:latin typeface="Cambria"/>
              </a:rPr>
              <a:t>offsets</a:t>
            </a:r>
            <a:endParaRPr lang="en-US" sz="2600" b="0" dirty="0" smtClean="0">
              <a:latin typeface="Cambria"/>
            </a:endParaRPr>
          </a:p>
          <a:p>
            <a:pPr>
              <a:tabLst>
                <a:tab pos="548640" algn="l"/>
                <a:tab pos="3108960" algn="l"/>
              </a:tabLst>
            </a:pPr>
            <a:endParaRPr lang="en-US" sz="2600" dirty="0">
              <a:latin typeface="Cambria"/>
            </a:endParaRPr>
          </a:p>
          <a:p>
            <a:pPr>
              <a:tabLst>
                <a:tab pos="548640" algn="l"/>
                <a:tab pos="3108960" algn="l"/>
              </a:tabLst>
            </a:pPr>
            <a:r>
              <a:rPr lang="en-US" sz="2600" dirty="0" smtClean="0">
                <a:latin typeface="Cambria"/>
              </a:rPr>
              <a:t>Build complex objects </a:t>
            </a:r>
            <a:r>
              <a:rPr lang="en-US" sz="2600" smtClean="0">
                <a:latin typeface="Cambria"/>
              </a:rPr>
              <a:t>through hierarchy</a:t>
            </a:r>
            <a:endParaRPr sz="2600" b="0">
              <a:latin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Passing a struct to a function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By value copies </a:t>
            </a:r>
            <a:r>
              <a:rPr sz="2400" b="1">
                <a:latin typeface="Cambria"/>
              </a:rPr>
              <a:t>every byte</a:t>
            </a:r>
            <a:r>
              <a:rPr sz="2400" b="0">
                <a:latin typeface="Cambria"/>
              </a:rPr>
              <a:t>: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	void show(struct sample s) ;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Pass a pointer or reference instead: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	void show(const struct sample *s) ;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	void show(const sample &amp;s) ;	C++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	fn show(s : &amp;Sample) { ... }	Rust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02920" algn="l"/>
                <a:tab pos="4937760" algn="l"/>
              </a:tabLst>
            </a:pPr>
            <a:r>
              <a:rPr sz="2400" b="0">
                <a:latin typeface="Cambria"/>
              </a:rPr>
              <a:t>In Rust, passing by value </a:t>
            </a:r>
            <a:r>
              <a:rPr sz="2400" b="1">
                <a:latin typeface="Cambria"/>
              </a:rPr>
              <a:t>moves</a:t>
            </a:r>
            <a:r>
              <a:rPr sz="2400" b="0">
                <a:latin typeface="Cambria"/>
              </a:rPr>
              <a:t> ownership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Many of the Same Thing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One sample is not enough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We want the last </a:t>
            </a:r>
            <a:r>
              <a:rPr sz="2800" b="1" dirty="0">
                <a:latin typeface="Cambria"/>
              </a:rPr>
              <a:t>100</a:t>
            </a:r>
            <a:r>
              <a:rPr sz="2800" b="0" dirty="0">
                <a:latin typeface="Cambria"/>
              </a:rPr>
              <a:t> samples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Copy and paste 100 variable definitions?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my_sample_1, my_sample_2, ... my_sample_100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There must be a better 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Array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latin typeface="Cambria"/>
              </a:rPr>
              <a:t>An </a:t>
            </a:r>
            <a:r>
              <a:rPr sz="2800" b="1" dirty="0">
                <a:latin typeface="Cambria"/>
              </a:rPr>
              <a:t>array</a:t>
            </a:r>
            <a:r>
              <a:rPr sz="2800" b="0" dirty="0">
                <a:latin typeface="Cambria"/>
              </a:rPr>
              <a:t> is N variables of the </a:t>
            </a:r>
            <a:r>
              <a:rPr sz="2800" b="1" dirty="0">
                <a:latin typeface="Cambria"/>
              </a:rPr>
              <a:t>same</a:t>
            </a:r>
            <a:r>
              <a:rPr sz="2800" b="0" dirty="0">
                <a:latin typeface="Cambria"/>
              </a:rPr>
              <a:t> type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Stored </a:t>
            </a:r>
            <a:r>
              <a:rPr sz="2800" b="1" dirty="0">
                <a:latin typeface="Cambria"/>
              </a:rPr>
              <a:t>consecutively</a:t>
            </a:r>
            <a:r>
              <a:rPr sz="2800" b="0" dirty="0">
                <a:latin typeface="Cambria"/>
              </a:rPr>
              <a:t> in memory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One name, one base address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Individual elements selected by an </a:t>
            </a:r>
            <a:r>
              <a:rPr sz="2800" b="1" dirty="0">
                <a:latin typeface="Cambria"/>
              </a:rPr>
              <a:t>index</a:t>
            </a:r>
          </a:p>
          <a:p>
            <a:r>
              <a:rPr sz="2800" dirty="0">
                <a:latin typeface="Cambria"/>
              </a:rPr>
              <a:t> </a:t>
            </a:r>
          </a:p>
          <a:p>
            <a:r>
              <a:rPr sz="2800" b="0" dirty="0">
                <a:latin typeface="Cambria"/>
              </a:rPr>
              <a:t>The index starts at </a:t>
            </a:r>
            <a:r>
              <a:rPr sz="2800" b="1" dirty="0">
                <a:latin typeface="Cambria"/>
              </a:rPr>
              <a:t>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Declaring arrays in C and C++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uint32_t	counts[100] ;</a:t>
            </a:r>
          </a:p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float	psi[100] = { 0.0f } ;</a:t>
            </a:r>
          </a:p>
          <a:p>
            <a:pPr>
              <a:tabLst>
                <a:tab pos="15544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The length is part of the declaration</a:t>
            </a:r>
          </a:p>
          <a:p>
            <a:pPr>
              <a:tabLst>
                <a:tab pos="15544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C++ also offers a safer array:</a:t>
            </a:r>
          </a:p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	#include &lt;array&gt;</a:t>
            </a:r>
          </a:p>
          <a:p>
            <a:pPr>
              <a:tabLst>
                <a:tab pos="1554480" algn="l"/>
              </a:tabLst>
            </a:pPr>
            <a:r>
              <a:rPr sz="2600" b="0">
                <a:latin typeface="Cambria"/>
              </a:rPr>
              <a:t>	std::array&lt;uint32_t,100&gt; counts ;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Declaring arrays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let counts : [u32 ; 100] = [0 ; 100] ;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let mut psi : [f32 ; 100] = [0.0 ; 100] ;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The type is	[ type ; length ]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length is part of the type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[0 ; 100] means "the value 0, one hundred times"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Indexing starts at zero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counts[0]	the </a:t>
            </a:r>
            <a:r>
              <a:rPr sz="2600" b="1">
                <a:latin typeface="Cambria"/>
              </a:rPr>
              <a:t>first</a:t>
            </a:r>
            <a:r>
              <a:rPr sz="2600" b="0">
                <a:latin typeface="Cambria"/>
              </a:rPr>
              <a:t> element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counts[99]	the </a:t>
            </a:r>
            <a:r>
              <a:rPr sz="2600" b="1">
                <a:latin typeface="Cambria"/>
              </a:rPr>
              <a:t>last</a:t>
            </a:r>
            <a:r>
              <a:rPr sz="2600" b="0">
                <a:latin typeface="Cambria"/>
              </a:rPr>
              <a:t> element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counts[100]	does </a:t>
            </a:r>
            <a:r>
              <a:rPr sz="2600" b="1">
                <a:latin typeface="Cambria"/>
              </a:rPr>
              <a:t>not</a:t>
            </a:r>
            <a:r>
              <a:rPr sz="2600" b="0">
                <a:latin typeface="Cambria"/>
              </a:rPr>
              <a:t> exist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Why zero?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Because the index is an </a:t>
            </a:r>
            <a:r>
              <a:rPr sz="2600" b="1">
                <a:latin typeface="Cambria"/>
              </a:rPr>
              <a:t>offset</a:t>
            </a:r>
            <a:r>
              <a:rPr sz="2600" b="0">
                <a:latin typeface="Cambria"/>
              </a:rPr>
              <a:t> from the base address</a:t>
            </a:r>
          </a:p>
          <a:p>
            <a:pPr>
              <a:tabLst>
                <a:tab pos="21031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600" b="0">
                <a:latin typeface="Cambria"/>
              </a:rPr>
              <a:t>Element 0 is 0 elements away from the start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An array in 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address of element i  =  base + i * sizeof(element)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For uint32_t, every element is 4 bytes apart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68580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counts[0]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68580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0x1F899BC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68580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192024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counts[1]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192024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0x1F899C0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92024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1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315468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counts[2]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15468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0x1F899C4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15468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2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438912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counts[3]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38912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0x1F899C8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38912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3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562356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counts[4]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62356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0x1F899CC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562356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4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858000" y="3703320"/>
            <a:ext cx="1234440" cy="713232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Cambria"/>
              </a:rPr>
              <a:t>counts[5]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6858000" y="45079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Cambria"/>
              </a:rPr>
              <a:t>0x1F899D0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6858000" y="339242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000000"/>
                </a:solidFill>
                <a:latin typeface="Cambria"/>
              </a:rPr>
              <a:t>i = 5</a:t>
            </a:r>
          </a:p>
        </p:txBody>
      </p:sp>
      <p:sp>
        <p:nvSpPr>
          <p:cNvPr id="407" name="Up Arrow 406"/>
          <p:cNvSpPr/>
          <p:nvPr/>
        </p:nvSpPr>
        <p:spPr>
          <a:xfrm>
            <a:off x="603504" y="4837176"/>
            <a:ext cx="164592" cy="274320"/>
          </a:xfrm>
          <a:prstGeom prst="up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407"/>
          <p:cNvSpPr txBox="1"/>
          <p:nvPr/>
        </p:nvSpPr>
        <p:spPr>
          <a:xfrm>
            <a:off x="868680" y="4855464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mbria"/>
              </a:rPr>
              <a:t>&amp;counts[0]  =  base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85800" y="5559552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ambria"/>
              </a:rPr>
              <a:t>&amp;counts[3]  =  base + 3 * 4  =  0x1F899C8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How many elements?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latin typeface="Cambria"/>
              </a:rPr>
              <a:t>C:</a:t>
            </a:r>
          </a:p>
          <a:p>
            <a:r>
              <a:rPr sz="2800" b="0">
                <a:latin typeface="Cambria"/>
              </a:rPr>
              <a:t>	sizeof(counts) / sizeof(counts[0])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C++ (std::array or std::vector):</a:t>
            </a:r>
          </a:p>
          <a:p>
            <a:r>
              <a:rPr sz="2800" b="0">
                <a:latin typeface="Cambria"/>
              </a:rPr>
              <a:t>	counts.size()</a:t>
            </a:r>
          </a:p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Rust:</a:t>
            </a:r>
          </a:p>
          <a:p>
            <a:r>
              <a:rPr sz="2800" b="0">
                <a:latin typeface="Cambria"/>
              </a:rPr>
              <a:t>	counts.len()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 of bounds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C and C++:  </a:t>
            </a:r>
            <a:r>
              <a:rPr sz="2400" b="1">
                <a:latin typeface="Cambria"/>
              </a:rPr>
              <a:t>no checking</a:t>
            </a:r>
          </a:p>
          <a:p>
            <a:r>
              <a:rPr sz="2400" b="0">
                <a:latin typeface="Cambria"/>
              </a:rPr>
              <a:t>	counts[100] reads or writes memory that is not yours</a:t>
            </a:r>
          </a:p>
          <a:p>
            <a:r>
              <a:rPr sz="2400" b="0">
                <a:latin typeface="Cambria"/>
              </a:rPr>
              <a:t>	Undefined behavior - may crash, may silently corrupt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Rust:  </a:t>
            </a:r>
            <a:r>
              <a:rPr sz="2400" b="1">
                <a:latin typeface="Cambria"/>
              </a:rPr>
              <a:t>checked at run time</a:t>
            </a:r>
          </a:p>
          <a:p>
            <a:r>
              <a:rPr sz="2400" b="0">
                <a:latin typeface="Cambria"/>
              </a:rPr>
              <a:t>	the program panics with a clear message and stops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This single difference is a large part of why Rust exists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Walking an array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C and C++:</a:t>
            </a:r>
          </a:p>
          <a:p>
            <a:r>
              <a:rPr sz="2400" b="0">
                <a:latin typeface="Cambria"/>
              </a:rPr>
              <a:t>	for (int i = 0 ; i &lt; 100 ; i++) {</a:t>
            </a:r>
          </a:p>
          <a:p>
            <a:r>
              <a:rPr sz="2400" b="0">
                <a:latin typeface="Cambria"/>
              </a:rPr>
              <a:t>		psi[i] = adc_to_psi(counts[i]) ;</a:t>
            </a:r>
          </a:p>
          <a:p>
            <a:r>
              <a:rPr sz="2400" b="0">
                <a:latin typeface="Cambria"/>
              </a:rPr>
              <a:t>	}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Rust:</a:t>
            </a:r>
          </a:p>
          <a:p>
            <a:r>
              <a:rPr sz="2400" b="0">
                <a:latin typeface="Cambria"/>
              </a:rPr>
              <a:t>	for i in 0..100 {</a:t>
            </a:r>
          </a:p>
          <a:p>
            <a:r>
              <a:rPr sz="2400" b="0">
                <a:latin typeface="Cambria"/>
              </a:rPr>
              <a:t>		psi[i] = adc_to_psi(counts[i]) ;</a:t>
            </a:r>
          </a:p>
          <a:p>
            <a:r>
              <a:rPr sz="2400" b="0">
                <a:latin typeface="Cambria"/>
              </a:rPr>
              <a:t>	}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Arrays of structs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Put the two ideas together:</a:t>
            </a:r>
          </a:p>
          <a:p>
            <a:pPr>
              <a:tabLst>
                <a:tab pos="1371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C, C++:	struct sample history[100] ;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	history[7].psi = 50.0f ;</a:t>
            </a:r>
          </a:p>
          <a:p>
            <a:pPr>
              <a:tabLst>
                <a:tab pos="1371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Rust:	let mut history : [Sample ; 100] ;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	history[7].psi = 50.0 ;</a:t>
            </a:r>
          </a:p>
          <a:p>
            <a:pPr>
              <a:tabLst>
                <a:tab pos="1371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Elements are sizeof(struct sample) bytes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Two dimensions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931920" algn="l"/>
              </a:tabLst>
            </a:pPr>
            <a:r>
              <a:rPr sz="2400" b="0">
                <a:latin typeface="Cambria"/>
              </a:rPr>
              <a:t>uint8_t image[3][4] ;	3 rows of 4</a:t>
            </a:r>
          </a:p>
          <a:p>
            <a:pPr>
              <a:tabLst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931920" algn="l"/>
              </a:tabLst>
            </a:pPr>
            <a:r>
              <a:rPr sz="2400" b="0">
                <a:latin typeface="Cambria"/>
              </a:rPr>
              <a:t>let image : [[u8 ; 4] ; 3] ;	Rust</a:t>
            </a:r>
          </a:p>
          <a:p>
            <a:pPr>
              <a:tabLst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931920" algn="l"/>
              </a:tabLst>
            </a:pPr>
            <a:r>
              <a:rPr sz="2400" b="0">
                <a:latin typeface="Cambria"/>
              </a:rPr>
              <a:t>Stored one row after another (</a:t>
            </a:r>
            <a:r>
              <a:rPr sz="2400" b="1">
                <a:latin typeface="Cambria"/>
              </a:rPr>
              <a:t>row major</a:t>
            </a:r>
            <a:r>
              <a:rPr sz="2400" b="0">
                <a:latin typeface="Cambria"/>
              </a:rPr>
              <a:t>)</a:t>
            </a:r>
          </a:p>
          <a:p>
            <a:pPr>
              <a:tabLst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931920" algn="l"/>
              </a:tabLst>
            </a:pPr>
            <a:r>
              <a:rPr sz="2400" b="0">
                <a:latin typeface="Cambria"/>
              </a:rPr>
              <a:t>image[1][2] is at base + (1*4 + 2) bytes</a:t>
            </a:r>
          </a:p>
          <a:p>
            <a:pPr>
              <a:tabLst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931920" algn="l"/>
              </a:tabLst>
            </a:pPr>
            <a:r>
              <a:rPr sz="2400" b="0">
                <a:latin typeface="Cambria"/>
              </a:rPr>
              <a:t>It is still one flat block of memory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When the size is not known yet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C:	malloc / free  (later lecture)</a:t>
            </a:r>
          </a:p>
          <a:p>
            <a:pPr>
              <a:tabLst>
                <a:tab pos="10972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C++:	#include &lt;vector&gt;</a:t>
            </a:r>
          </a:p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	std::vector&lt;uint32_t&gt; counts ;</a:t>
            </a:r>
          </a:p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	counts.push_back(1456) ;</a:t>
            </a:r>
          </a:p>
          <a:p>
            <a:pPr>
              <a:tabLst>
                <a:tab pos="10972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Rust:	let mut counts : Vec&lt;u32&gt; = Vec::new() ;</a:t>
            </a:r>
          </a:p>
          <a:p>
            <a:pPr>
              <a:tabLst>
                <a:tab pos="1097280" algn="l"/>
              </a:tabLst>
            </a:pPr>
            <a:r>
              <a:rPr sz="2400" b="0">
                <a:latin typeface="Cambria"/>
              </a:rPr>
              <a:t>	counts.push(1456) ;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Now Let Us Look Inside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dirty="0">
                <a:latin typeface="Cambria"/>
              </a:rPr>
              <a:t>You can now describe </a:t>
            </a:r>
            <a:r>
              <a:rPr sz="2600" b="1" dirty="0">
                <a:latin typeface="Cambria"/>
              </a:rPr>
              <a:t>structures</a:t>
            </a:r>
            <a:r>
              <a:rPr sz="2600" b="0" dirty="0">
                <a:latin typeface="Cambria"/>
              </a:rPr>
              <a:t> of memory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>
                <a:latin typeface="Cambria"/>
              </a:rPr>
              <a:t>How do you </a:t>
            </a:r>
            <a:r>
              <a:rPr sz="2600" b="1" dirty="0">
                <a:latin typeface="Cambria"/>
              </a:rPr>
              <a:t>see</a:t>
            </a:r>
            <a:r>
              <a:rPr sz="2600" b="0" dirty="0">
                <a:latin typeface="Cambria"/>
              </a:rPr>
              <a:t> them while the program runs?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 err="1">
                <a:latin typeface="Cambria"/>
              </a:rPr>
              <a:t>printf</a:t>
            </a:r>
            <a:r>
              <a:rPr sz="2600" b="0" dirty="0">
                <a:latin typeface="Cambria"/>
              </a:rPr>
              <a:t> tells you what you decided to ask about</a:t>
            </a:r>
          </a:p>
          <a:p>
            <a:r>
              <a:rPr sz="2600" b="1" dirty="0">
                <a:latin typeface="Cambria"/>
              </a:rPr>
              <a:t>before</a:t>
            </a:r>
            <a:r>
              <a:rPr sz="2600" b="0" dirty="0">
                <a:latin typeface="Cambria"/>
              </a:rPr>
              <a:t> you knew what was wrong</a:t>
            </a:r>
          </a:p>
          <a:p>
            <a:r>
              <a:rPr sz="2600" dirty="0">
                <a:latin typeface="Cambria"/>
              </a:rPr>
              <a:t> </a:t>
            </a:r>
          </a:p>
          <a:p>
            <a:r>
              <a:rPr sz="2600" b="0" dirty="0">
                <a:latin typeface="Cambria"/>
              </a:rPr>
              <a:t>A </a:t>
            </a:r>
            <a:r>
              <a:rPr sz="2600" b="1" dirty="0">
                <a:latin typeface="Cambria"/>
              </a:rPr>
              <a:t>debugger</a:t>
            </a:r>
            <a:r>
              <a:rPr sz="2600" b="0" dirty="0">
                <a:latin typeface="Cambria"/>
              </a:rPr>
              <a:t> lets you stop and look at anything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a debugger does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dirty="0">
                <a:latin typeface="Cambria"/>
              </a:rPr>
              <a:t>Loads your program but keeps </a:t>
            </a:r>
            <a:r>
              <a:rPr sz="2400" b="1" dirty="0">
                <a:latin typeface="Cambria"/>
              </a:rPr>
              <a:t>control</a:t>
            </a:r>
            <a:r>
              <a:rPr sz="2400" b="0" dirty="0">
                <a:latin typeface="Cambria"/>
              </a:rPr>
              <a:t> of it</a:t>
            </a:r>
          </a:p>
          <a:p>
            <a:r>
              <a:rPr sz="2400" dirty="0">
                <a:latin typeface="Cambria"/>
              </a:rPr>
              <a:t> </a:t>
            </a:r>
          </a:p>
          <a:p>
            <a:r>
              <a:rPr sz="2400" b="0" dirty="0">
                <a:latin typeface="Cambria"/>
              </a:rPr>
              <a:t>Stops it where you choose  (</a:t>
            </a:r>
            <a:r>
              <a:rPr sz="2400" b="1" dirty="0">
                <a:latin typeface="Cambria"/>
              </a:rPr>
              <a:t>breakpoints</a:t>
            </a:r>
            <a:r>
              <a:rPr sz="2400" b="0" dirty="0">
                <a:latin typeface="Cambria"/>
              </a:rPr>
              <a:t>)</a:t>
            </a:r>
          </a:p>
          <a:p>
            <a:r>
              <a:rPr sz="2400" dirty="0">
                <a:latin typeface="Cambria"/>
              </a:rPr>
              <a:t> </a:t>
            </a:r>
          </a:p>
          <a:p>
            <a:r>
              <a:rPr sz="2400" b="0" dirty="0">
                <a:latin typeface="Cambria"/>
              </a:rPr>
              <a:t>Reads the memory of the stopped program</a:t>
            </a:r>
          </a:p>
          <a:p>
            <a:r>
              <a:rPr sz="2400" dirty="0">
                <a:latin typeface="Cambria"/>
              </a:rPr>
              <a:t> </a:t>
            </a:r>
          </a:p>
          <a:p>
            <a:r>
              <a:rPr sz="2400" b="0" dirty="0">
                <a:latin typeface="Cambria"/>
              </a:rPr>
              <a:t>Uses the </a:t>
            </a:r>
            <a:r>
              <a:rPr sz="2400" b="1" dirty="0">
                <a:latin typeface="Cambria"/>
              </a:rPr>
              <a:t>symbol table</a:t>
            </a:r>
            <a:r>
              <a:rPr sz="2400" b="0" dirty="0">
                <a:latin typeface="Cambria"/>
              </a:rPr>
              <a:t> to turn addresses back into names</a:t>
            </a:r>
          </a:p>
          <a:p>
            <a:r>
              <a:rPr sz="2400" dirty="0">
                <a:latin typeface="Cambria"/>
              </a:rPr>
              <a:t> </a:t>
            </a:r>
          </a:p>
          <a:p>
            <a:r>
              <a:rPr sz="2400" b="0" dirty="0">
                <a:latin typeface="Cambria"/>
              </a:rPr>
              <a:t>Shows a variable as its </a:t>
            </a:r>
            <a:r>
              <a:rPr sz="2400" b="1" dirty="0">
                <a:latin typeface="Cambria"/>
              </a:rPr>
              <a:t>type</a:t>
            </a:r>
            <a:r>
              <a:rPr sz="2400" b="0" dirty="0">
                <a:latin typeface="Cambria"/>
              </a:rPr>
              <a:t>, not as raw bytes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Debug information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The symbol table and type descriptions are placed in the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executable by the compiler.  The format is called </a:t>
            </a:r>
            <a:r>
              <a:rPr sz="2200" b="1">
                <a:latin typeface="Cambria"/>
              </a:rPr>
              <a:t>DWARF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You have to ask for it: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	gcc -g -O0 main.c	-o main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	g++ -g -O0 main.cpp	-o main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0">
                <a:latin typeface="Cambria"/>
              </a:rPr>
              <a:t>	cargo build	(dev profile has -g)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3657600" algn="l"/>
              </a:tabLst>
            </a:pPr>
            <a:r>
              <a:rPr sz="2200" b="1">
                <a:latin typeface="Cambria"/>
              </a:rPr>
              <a:t>-O0</a:t>
            </a:r>
            <a:r>
              <a:rPr sz="2200" b="0">
                <a:latin typeface="Cambria"/>
              </a:rPr>
              <a:t> turns off optimization so the code matches your source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tools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latin typeface="Cambria"/>
              </a:rPr>
              <a:t>gdb</a:t>
            </a:r>
            <a:r>
              <a:rPr sz="2200" b="0">
                <a:latin typeface="Cambria"/>
              </a:rPr>
              <a:t>  -  GNU debugger, Linux and embedded targets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1">
                <a:latin typeface="Cambria"/>
              </a:rPr>
              <a:t>lldb</a:t>
            </a:r>
            <a:r>
              <a:rPr sz="2200" b="0">
                <a:latin typeface="Cambria"/>
              </a:rPr>
              <a:t>  -  LLVM debugger, the default on macOS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1">
                <a:latin typeface="Cambria"/>
              </a:rPr>
              <a:t>rust-gdb / rust-lldb</a:t>
            </a:r>
            <a:r>
              <a:rPr sz="2200" b="0">
                <a:latin typeface="Cambria"/>
              </a:rPr>
              <a:t>  -  add Rust pretty printers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1">
                <a:latin typeface="Cambria"/>
              </a:rPr>
              <a:t>VS Code</a:t>
            </a:r>
            <a:r>
              <a:rPr sz="2200" b="0">
                <a:latin typeface="Cambria"/>
              </a:rPr>
              <a:t>  -  a graphical front end for all of them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All of them do the same job with different spelling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Starting a session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latin typeface="Cambria"/>
              </a:rPr>
              <a:t>	gcc -g -O0 main.c -o main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gdb ./main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	(gdb) break main</a:t>
            </a:r>
          </a:p>
          <a:p>
            <a:r>
              <a:rPr sz="2600" b="0">
                <a:latin typeface="Cambria"/>
              </a:rPr>
              <a:t>	(gdb) run</a:t>
            </a:r>
          </a:p>
          <a:p>
            <a:r>
              <a:rPr sz="2600">
                <a:latin typeface="Cambria"/>
              </a:rPr>
              <a:t> </a:t>
            </a:r>
          </a:p>
          <a:p>
            <a:r>
              <a:rPr sz="2600" b="0">
                <a:latin typeface="Cambria"/>
              </a:rPr>
              <a:t>The program stops at the first line of main</a:t>
            </a:r>
          </a:p>
          <a:p>
            <a:r>
              <a:rPr sz="2600" b="0">
                <a:latin typeface="Cambria"/>
              </a:rPr>
              <a:t>and hands control back to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Everyday gdb Commands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Controlling the program:</a:t>
            </a:r>
          </a:p>
          <a:p>
            <a:pPr>
              <a:tabLst>
                <a:tab pos="30175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break &lt;file:line&gt;	set a breakpoint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run	start the program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next	run one line, step </a:t>
            </a:r>
            <a:r>
              <a:rPr sz="2400" b="1">
                <a:latin typeface="Cambria"/>
              </a:rPr>
              <a:t>over</a:t>
            </a:r>
            <a:r>
              <a:rPr sz="2400" b="0">
                <a:latin typeface="Cambria"/>
              </a:rPr>
              <a:t> calls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step	run one line, step </a:t>
            </a:r>
            <a:r>
              <a:rPr sz="2400" b="1">
                <a:latin typeface="Cambria"/>
              </a:rPr>
              <a:t>into</a:t>
            </a:r>
            <a:r>
              <a:rPr sz="2400" b="0">
                <a:latin typeface="Cambria"/>
              </a:rPr>
              <a:t> calls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continue	run to the next breakpoint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finish	run until this function returns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Everyday gdb Commands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Looking around:</a:t>
            </a:r>
          </a:p>
          <a:p>
            <a:pPr>
              <a:tabLst>
                <a:tab pos="30175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print &lt;expr&gt;	show a value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info locals	show every local variable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backtrace	show the call stack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list	show the source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quit	leave the debugger</a:t>
            </a:r>
          </a:p>
          <a:p>
            <a:pPr>
              <a:tabLst>
                <a:tab pos="30175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017520" algn="l"/>
              </a:tabLst>
            </a:pPr>
            <a:r>
              <a:rPr sz="2400" b="0">
                <a:latin typeface="Cambria"/>
              </a:rPr>
              <a:t>Short forms:  b  r  n  s  c  bt  p  l  q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Looking at a variable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print</a:t>
            </a:r>
            <a:r>
              <a:rPr sz="2200" b="0">
                <a:latin typeface="Cambria"/>
              </a:rPr>
              <a:t> my_integer</a:t>
            </a:r>
          </a:p>
          <a:p>
            <a:r>
              <a:rPr sz="2200" b="0">
                <a:latin typeface="Cambria"/>
              </a:rPr>
              <a:t>$1 = 55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print/x</a:t>
            </a:r>
            <a:r>
              <a:rPr sz="2200" b="0">
                <a:latin typeface="Cambria"/>
              </a:rPr>
              <a:t> my_integer</a:t>
            </a:r>
          </a:p>
          <a:p>
            <a:r>
              <a:rPr sz="2200" b="0">
                <a:latin typeface="Cambria"/>
              </a:rPr>
              <a:t>$2 = 0x37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print</a:t>
            </a:r>
            <a:r>
              <a:rPr sz="2200" b="0">
                <a:latin typeface="Cambria"/>
              </a:rPr>
              <a:t> &amp;my_integer</a:t>
            </a:r>
          </a:p>
          <a:p>
            <a:r>
              <a:rPr sz="2200" b="0">
                <a:latin typeface="Cambria"/>
              </a:rPr>
              <a:t>$3 = (int64_t *) 0x7ffd1f899bc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Contents and address - the two ideas from lecture 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Looking at a struct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latin typeface="Cambria"/>
              </a:rPr>
              <a:t>(gdb) </a:t>
            </a:r>
            <a:r>
              <a:rPr sz="2000" b="1">
                <a:latin typeface="Cambria"/>
              </a:rPr>
              <a:t>print</a:t>
            </a:r>
            <a:r>
              <a:rPr sz="2000" b="0">
                <a:latin typeface="Cambria"/>
              </a:rPr>
              <a:t> my_sample</a:t>
            </a:r>
          </a:p>
          <a:p>
            <a:r>
              <a:rPr sz="2000" b="0">
                <a:latin typeface="Cambria"/>
              </a:rPr>
              <a:t>$1 = {adc_counts = 1456, psi = 50, timestamp_ms = 12345}</a:t>
            </a:r>
          </a:p>
          <a:p>
            <a:r>
              <a:rPr sz="2000">
                <a:latin typeface="Cambria"/>
              </a:rPr>
              <a:t> </a:t>
            </a:r>
          </a:p>
          <a:p>
            <a:r>
              <a:rPr sz="2000" b="0">
                <a:latin typeface="Cambria"/>
              </a:rPr>
              <a:t>(gdb) </a:t>
            </a:r>
            <a:r>
              <a:rPr sz="2000" b="1">
                <a:latin typeface="Cambria"/>
              </a:rPr>
              <a:t>print</a:t>
            </a:r>
            <a:r>
              <a:rPr sz="2000" b="0">
                <a:latin typeface="Cambria"/>
              </a:rPr>
              <a:t> my_sample.psi</a:t>
            </a:r>
          </a:p>
          <a:p>
            <a:r>
              <a:rPr sz="2000" b="0">
                <a:latin typeface="Cambria"/>
              </a:rPr>
              <a:t>$2 = 50</a:t>
            </a:r>
          </a:p>
          <a:p>
            <a:r>
              <a:rPr sz="2000">
                <a:latin typeface="Cambria"/>
              </a:rPr>
              <a:t> </a:t>
            </a:r>
          </a:p>
          <a:p>
            <a:r>
              <a:rPr sz="2000" b="0">
                <a:latin typeface="Cambria"/>
              </a:rPr>
              <a:t>One command prints the </a:t>
            </a:r>
            <a:r>
              <a:rPr sz="2000" b="1">
                <a:latin typeface="Cambria"/>
              </a:rPr>
              <a:t>whole structure</a:t>
            </a:r>
            <a:r>
              <a:rPr sz="2000" b="0">
                <a:latin typeface="Cambria"/>
              </a:rPr>
              <a:t>, with names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type is it?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ptype</a:t>
            </a:r>
            <a:r>
              <a:rPr sz="2200" b="0">
                <a:latin typeface="Cambria"/>
              </a:rPr>
              <a:t> my_sample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type = struct sample {</a:t>
            </a:r>
          </a:p>
          <a:p>
            <a:r>
              <a:rPr sz="2200" b="0">
                <a:latin typeface="Cambria"/>
              </a:rPr>
              <a:t>    uint32_t adc_counts;</a:t>
            </a:r>
          </a:p>
          <a:p>
            <a:r>
              <a:rPr sz="2200" b="0">
                <a:latin typeface="Cambria"/>
              </a:rPr>
              <a:t>    float psi;</a:t>
            </a:r>
          </a:p>
          <a:p>
            <a:r>
              <a:rPr sz="2200" b="0">
                <a:latin typeface="Cambria"/>
              </a:rPr>
              <a:t>    uint64_t timestamp_ms;</a:t>
            </a:r>
          </a:p>
          <a:p>
            <a:r>
              <a:rPr sz="2200" b="0">
                <a:latin typeface="Cambria"/>
              </a:rPr>
              <a:t>}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The debugger knows this from the </a:t>
            </a:r>
            <a:r>
              <a:rPr sz="2200" b="1">
                <a:latin typeface="Cambria"/>
              </a:rPr>
              <a:t>DWARF</a:t>
            </a:r>
            <a:r>
              <a:rPr sz="2200" b="0">
                <a:latin typeface="Cambria"/>
              </a:rPr>
              <a:t>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Looking at an array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print</a:t>
            </a:r>
            <a:r>
              <a:rPr sz="2200" b="0">
                <a:latin typeface="Cambria"/>
              </a:rPr>
              <a:t> counts</a:t>
            </a:r>
          </a:p>
          <a:p>
            <a:r>
              <a:rPr sz="2200" b="0">
                <a:latin typeface="Cambria"/>
              </a:rPr>
              <a:t>$1 = {1456, 1442, 1460, 0 &lt;repeats 97 times&gt;}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print</a:t>
            </a:r>
            <a:r>
              <a:rPr sz="2200" b="0">
                <a:latin typeface="Cambria"/>
              </a:rPr>
              <a:t> counts[7]</a:t>
            </a:r>
          </a:p>
          <a:p>
            <a:r>
              <a:rPr sz="2200" b="0">
                <a:latin typeface="Cambria"/>
              </a:rPr>
              <a:t>$2 = 0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One command prints </a:t>
            </a:r>
            <a:r>
              <a:rPr sz="2200" b="1">
                <a:latin typeface="Cambria"/>
              </a:rPr>
              <a:t>every element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Part of an array: the @ operator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</a:tabLst>
            </a:pPr>
            <a:r>
              <a:rPr sz="2400" b="0">
                <a:latin typeface="Cambria"/>
              </a:rPr>
              <a:t>(gdb) </a:t>
            </a:r>
            <a:r>
              <a:rPr sz="2400" b="1">
                <a:latin typeface="Cambria"/>
              </a:rPr>
              <a:t>print</a:t>
            </a:r>
            <a:r>
              <a:rPr sz="2400" b="0">
                <a:latin typeface="Cambria"/>
              </a:rPr>
              <a:t> counts[2]@4</a:t>
            </a:r>
          </a:p>
          <a:p>
            <a:pPr>
              <a:tabLst>
                <a:tab pos="548640" algn="l"/>
              </a:tabLst>
            </a:pPr>
            <a:r>
              <a:rPr sz="2400" b="0">
                <a:latin typeface="Cambria"/>
              </a:rPr>
              <a:t>$3 = {1460, 0, 0, 0}</a:t>
            </a:r>
          </a:p>
          <a:p>
            <a:pPr>
              <a:tabLst>
                <a:tab pos="548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400" b="0">
                <a:latin typeface="Cambria"/>
              </a:rPr>
              <a:t>Four elements, starting at index 2</a:t>
            </a:r>
          </a:p>
          <a:p>
            <a:pPr>
              <a:tabLst>
                <a:tab pos="548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400" b="0">
                <a:latin typeface="Cambria"/>
              </a:rPr>
              <a:t>Most useful when you have a pointer and a length:</a:t>
            </a:r>
          </a:p>
          <a:p>
            <a:pPr>
              <a:tabLst>
                <a:tab pos="548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</a:tabLst>
            </a:pPr>
            <a:r>
              <a:rPr sz="2400" b="0">
                <a:latin typeface="Cambria"/>
              </a:rPr>
              <a:t>	(gdb) print *ptr@10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Looking at raw memory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x/16xb</a:t>
            </a:r>
            <a:r>
              <a:rPr sz="2200" b="0">
                <a:latin typeface="Cambria"/>
              </a:rPr>
              <a:t> &amp;my_sample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	x	examine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	16	how many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	x	format: hex  (d, u, c, s, i)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	b	size: byte  (h, w, g)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640080" algn="l"/>
                <a:tab pos="1737360" algn="l"/>
              </a:tabLst>
            </a:pPr>
            <a:r>
              <a:rPr sz="2200" b="0">
                <a:latin typeface="Cambria"/>
              </a:rPr>
              <a:t>This is where you can </a:t>
            </a:r>
            <a:r>
              <a:rPr sz="2200" b="1">
                <a:latin typeface="Cambria"/>
              </a:rPr>
              <a:t>see the padding bytes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Who changed my variable?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(gdb) </a:t>
            </a:r>
            <a:r>
              <a:rPr sz="2200" b="1">
                <a:latin typeface="Cambria"/>
              </a:rPr>
              <a:t>watch</a:t>
            </a:r>
            <a:r>
              <a:rPr sz="2200" b="0">
                <a:latin typeface="Cambria"/>
              </a:rPr>
              <a:t> psi[3]</a:t>
            </a:r>
          </a:p>
          <a:p>
            <a:r>
              <a:rPr sz="2200" b="0">
                <a:latin typeface="Cambria"/>
              </a:rPr>
              <a:t>(gdb) continue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Hardware watchpoint 2: psi[3]</a:t>
            </a:r>
          </a:p>
          <a:p>
            <a:r>
              <a:rPr sz="2200" b="0">
                <a:latin typeface="Cambria"/>
              </a:rPr>
              <a:t>Old value = 0</a:t>
            </a:r>
          </a:p>
          <a:p>
            <a:r>
              <a:rPr sz="2200" b="0">
                <a:latin typeface="Cambria"/>
              </a:rPr>
              <a:t>New value = 50</a:t>
            </a:r>
          </a:p>
          <a:p>
            <a:r>
              <a:rPr sz="2200" b="0">
                <a:latin typeface="Cambria"/>
              </a:rPr>
              <a:t>update_sample () at main.c:42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The hardest bug to find by reading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Debugging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	cargo build</a:t>
            </a:r>
          </a:p>
          <a:p>
            <a:r>
              <a:rPr sz="2200" b="0">
                <a:latin typeface="Cambria"/>
              </a:rPr>
              <a:t>	rust-gdb  ./target/debug/myprog</a:t>
            </a:r>
          </a:p>
          <a:p>
            <a:r>
              <a:rPr sz="2200" b="0">
                <a:latin typeface="Cambria"/>
              </a:rPr>
              <a:t>	rust-lldb ./target/debug/myprog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The wrappers load </a:t>
            </a:r>
            <a:r>
              <a:rPr sz="2200" b="1">
                <a:latin typeface="Cambria"/>
              </a:rPr>
              <a:t>pretty printers</a:t>
            </a:r>
            <a:r>
              <a:rPr sz="2200" b="0">
                <a:latin typeface="Cambria"/>
              </a:rPr>
              <a:t>, so a Vec or a String</a:t>
            </a:r>
          </a:p>
          <a:p>
            <a:r>
              <a:rPr sz="2200" b="0">
                <a:latin typeface="Cambria"/>
              </a:rPr>
              <a:t>prints readably instead of as internal pointers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Rust symbol names include the crate:</a:t>
            </a:r>
          </a:p>
          <a:p>
            <a:r>
              <a:rPr sz="2200" b="0">
                <a:latin typeface="Cambria"/>
              </a:rPr>
              <a:t>	(gdb) break myprog::main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same ideas in lldb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lldb ./main</a:t>
            </a:r>
          </a:p>
          <a:p>
            <a:pPr>
              <a:tabLst>
                <a:tab pos="51206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breakpoint set --name main	br s -n main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run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next  /  step  /  continue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frame variable	fr v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print my_sample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(lldb) memory read -f x -s 1 -c 16 &amp;my_sample</a:t>
            </a:r>
          </a:p>
          <a:p>
            <a:pPr>
              <a:tabLst>
                <a:tab pos="512064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120640" algn="l"/>
              </a:tabLst>
            </a:pPr>
            <a:r>
              <a:rPr sz="2200" b="0">
                <a:latin typeface="Cambria"/>
              </a:rPr>
              <a:t>Different spelling, identical ideas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debugger in VS Code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Install the </a:t>
            </a:r>
            <a:r>
              <a:rPr sz="2400" b="1">
                <a:latin typeface="Cambria"/>
              </a:rPr>
              <a:t>C/C++</a:t>
            </a:r>
            <a:r>
              <a:rPr sz="2400" b="0">
                <a:latin typeface="Cambria"/>
              </a:rPr>
              <a:t> or </a:t>
            </a:r>
            <a:r>
              <a:rPr sz="2400" b="1">
                <a:latin typeface="Cambria"/>
              </a:rPr>
              <a:t>CodeLLDB</a:t>
            </a:r>
            <a:r>
              <a:rPr sz="2400" b="0">
                <a:latin typeface="Cambria"/>
              </a:rPr>
              <a:t> extension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For Rust: </a:t>
            </a:r>
            <a:r>
              <a:rPr sz="2400" b="1">
                <a:latin typeface="Cambria"/>
              </a:rPr>
              <a:t>rust-analyzer</a:t>
            </a:r>
            <a:r>
              <a:rPr sz="2400" b="0">
                <a:latin typeface="Cambria"/>
              </a:rPr>
              <a:t> plus CodeLLDB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Click in the gutter to set a breakpoint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1">
                <a:latin typeface="Cambria"/>
              </a:rPr>
              <a:t>F5</a:t>
            </a:r>
            <a:r>
              <a:rPr sz="2400" b="0">
                <a:latin typeface="Cambria"/>
              </a:rPr>
              <a:t> start,   </a:t>
            </a:r>
            <a:r>
              <a:rPr sz="2400" b="1">
                <a:latin typeface="Cambria"/>
              </a:rPr>
              <a:t>F10</a:t>
            </a:r>
            <a:r>
              <a:rPr sz="2400" b="0">
                <a:latin typeface="Cambria"/>
              </a:rPr>
              <a:t> step over,   </a:t>
            </a:r>
            <a:r>
              <a:rPr sz="2400" b="1">
                <a:latin typeface="Cambria"/>
              </a:rPr>
              <a:t>F11</a:t>
            </a:r>
            <a:r>
              <a:rPr sz="2400" b="0">
                <a:latin typeface="Cambria"/>
              </a:rPr>
              <a:t> step into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VARIABLES pane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latin typeface="Cambria"/>
              </a:rPr>
              <a:t>Lists every local variable, updated as you step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Expand a </a:t>
            </a:r>
            <a:r>
              <a:rPr sz="2400" b="1">
                <a:latin typeface="Cambria"/>
              </a:rPr>
              <a:t>struct</a:t>
            </a:r>
            <a:r>
              <a:rPr sz="2400" b="0">
                <a:latin typeface="Cambria"/>
              </a:rPr>
              <a:t> to see its members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Expand an </a:t>
            </a:r>
            <a:r>
              <a:rPr sz="2400" b="1">
                <a:latin typeface="Cambria"/>
              </a:rPr>
              <a:t>array</a:t>
            </a:r>
            <a:r>
              <a:rPr sz="2400" b="0">
                <a:latin typeface="Cambria"/>
              </a:rPr>
              <a:t> to see its elements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Hover over a name in the source to see its value</a:t>
            </a:r>
          </a:p>
          <a:p>
            <a:r>
              <a:rPr sz="2400">
                <a:latin typeface="Cambria"/>
              </a:rPr>
              <a:t> </a:t>
            </a:r>
          </a:p>
          <a:p>
            <a:r>
              <a:rPr sz="2400" b="0">
                <a:latin typeface="Cambria"/>
              </a:rPr>
              <a:t>It is gdb or lldb underneath - the ideas still apply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method for using it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Cambria"/>
              </a:rPr>
              <a:t>1.  Reproduce the failure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2.  Set a breakpoint </a:t>
            </a:r>
            <a:r>
              <a:rPr sz="2200" b="1">
                <a:latin typeface="Cambria"/>
              </a:rPr>
              <a:t>before</a:t>
            </a:r>
            <a:r>
              <a:rPr sz="2200" b="0">
                <a:latin typeface="Cambria"/>
              </a:rPr>
              <a:t> the suspect line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3.  Look at the variables - are they what you expect?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4.  Step one line at a time and watch them change</a:t>
            </a:r>
          </a:p>
          <a:p>
            <a:r>
              <a:rPr sz="2200">
                <a:latin typeface="Cambria"/>
              </a:rPr>
              <a:t> </a:t>
            </a:r>
          </a:p>
          <a:p>
            <a:r>
              <a:rPr sz="2200" b="0">
                <a:latin typeface="Cambria"/>
              </a:rPr>
              <a:t>5.  The first value that </a:t>
            </a:r>
            <a:r>
              <a:rPr sz="2200" b="1">
                <a:latin typeface="Cambria"/>
              </a:rPr>
              <a:t>surprises</a:t>
            </a:r>
            <a:r>
              <a:rPr sz="2200" b="0">
                <a:latin typeface="Cambria"/>
              </a:rPr>
              <a:t> you is near the bug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we can now describe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94560" algn="l"/>
              </a:tabLst>
            </a:pPr>
            <a:r>
              <a:rPr sz="2200" b="1">
                <a:latin typeface="Cambria"/>
              </a:rPr>
              <a:t>Variable</a:t>
            </a:r>
            <a:r>
              <a:rPr sz="2200" b="0">
                <a:latin typeface="Cambria"/>
              </a:rPr>
              <a:t>	one name, one value, one address</a:t>
            </a:r>
          </a:p>
          <a:p>
            <a:pPr>
              <a:tabLst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</a:tabLst>
            </a:pPr>
            <a:r>
              <a:rPr sz="2200" b="1">
                <a:latin typeface="Cambria"/>
              </a:rPr>
              <a:t>Struct</a:t>
            </a:r>
            <a:r>
              <a:rPr sz="2200" b="0">
                <a:latin typeface="Cambria"/>
              </a:rPr>
              <a:t>	different types, one block, fixed offsets</a:t>
            </a:r>
          </a:p>
          <a:p>
            <a:pPr>
              <a:tabLst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</a:tabLst>
            </a:pPr>
            <a:r>
              <a:rPr sz="2200" b="1">
                <a:latin typeface="Cambria"/>
              </a:rPr>
              <a:t>Array</a:t>
            </a:r>
            <a:r>
              <a:rPr sz="2200" b="0">
                <a:latin typeface="Cambria"/>
              </a:rPr>
              <a:t>	one type repeated, base + index * size</a:t>
            </a:r>
          </a:p>
          <a:p>
            <a:pPr>
              <a:tabLst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</a:tabLst>
            </a:pPr>
            <a:r>
              <a:rPr sz="2200" b="1">
                <a:latin typeface="Cambria"/>
              </a:rPr>
              <a:t>Debugger</a:t>
            </a:r>
            <a:r>
              <a:rPr sz="2200" b="0">
                <a:latin typeface="Cambria"/>
              </a:rPr>
              <a:t>	stop the program and look at all of it</a:t>
            </a:r>
          </a:p>
          <a:p>
            <a:pPr>
              <a:tabLst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</a:tabLst>
            </a:pPr>
            <a:r>
              <a:rPr sz="2200" b="0">
                <a:latin typeface="Cambria"/>
              </a:rPr>
              <a:t>Every one of these is still just </a:t>
            </a:r>
            <a:r>
              <a:rPr sz="2200" b="1">
                <a:latin typeface="Cambria"/>
              </a:rPr>
              <a:t>memory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use the debugger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mbria"/>
              </a:rPr>
              <a:t> </a:t>
            </a:r>
          </a:p>
          <a:p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structpractice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58368</TotalTime>
  <Words>3225</Words>
  <Application>Microsoft Office PowerPoint</Application>
  <PresentationFormat>Custom</PresentationFormat>
  <Paragraphs>740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61</vt:i4>
      </vt:variant>
    </vt:vector>
  </HeadingPairs>
  <TitlesOfParts>
    <vt:vector size="75" baseType="lpstr">
      <vt:lpstr>Arial Unicode MS</vt:lpstr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564</cp:revision>
  <dcterms:created xsi:type="dcterms:W3CDTF">2013-08-28T11:36:20Z</dcterms:created>
  <dcterms:modified xsi:type="dcterms:W3CDTF">2026-09-23T02:38:12Z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